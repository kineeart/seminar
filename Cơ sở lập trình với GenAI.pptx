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embeddedFontLst>
    <p:embeddedFont>
      <p:font typeface="MiSans" charset="-122" pitchFamily="34"/>
      <p:regular r:id="rId19"/>
    </p:embeddedFont>
    <p:embeddedFont>
      <p:font typeface="Liter" charset="-122" pitchFamily="34"/>
      <p:regular r:id="rId20"/>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font" Target="fonts/font1.fntdata"/><Relationship Id="rId20"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pic>
        <p:nvPicPr>
          <p:cNvPr id="2" name="Image 0" descr="https://kimi-web-img.moonshot.cn/img/t4.ftcdn.net/4ac9ffd3dab3f1f2760839d33dfe82ce06ea7032.jpg">    </p:cNvPr>
          <p:cNvPicPr>
            <a:picLocks noChangeAspect="1"/>
          </p:cNvPicPr>
          <p:nvPr/>
        </p:nvPicPr>
        <p:blipFill>
          <a:blip r:embed="rId1">
            <a:alphaModFix amt="30000"/>
          </a:blip>
          <a:srcRect l="769" r="769" t="0" b="0"/>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0F172A">
                  <a:alpha val="95000"/>
                </a:srgbClr>
              </a:gs>
              <a:gs pos="50000">
                <a:srgbClr val="0F172A">
                  <a:alpha val="85000"/>
                </a:srgbClr>
              </a:gs>
              <a:gs pos="100000">
                <a:srgbClr val="3B82F6">
                  <a:alpha val="20000"/>
                </a:srgbClr>
              </a:gs>
            </a:gsLst>
            <a:lin ang="2700000" scaled="1"/>
          </a:gradFill>
          <a:ln/>
        </p:spPr>
      </p:sp>
      <p:sp>
        <p:nvSpPr>
          <p:cNvPr id="4" name="Shape 1"/>
          <p:cNvSpPr/>
          <p:nvPr/>
        </p:nvSpPr>
        <p:spPr>
          <a:xfrm>
            <a:off x="4933236" y="674370"/>
            <a:ext cx="2322195" cy="426720"/>
          </a:xfrm>
          <a:custGeom>
            <a:avLst/>
            <a:gdLst/>
            <a:ahLst/>
            <a:cxnLst/>
            <a:rect l="l" t="t" r="r" b="b"/>
            <a:pathLst>
              <a:path w="2322195" h="426720">
                <a:moveTo>
                  <a:pt x="213360" y="0"/>
                </a:moveTo>
                <a:lnTo>
                  <a:pt x="2108835" y="0"/>
                </a:lnTo>
                <a:cubicBezTo>
                  <a:pt x="2226670" y="0"/>
                  <a:pt x="2322195" y="95525"/>
                  <a:pt x="2322195" y="213360"/>
                </a:cubicBezTo>
                <a:lnTo>
                  <a:pt x="2322195" y="213360"/>
                </a:lnTo>
                <a:cubicBezTo>
                  <a:pt x="2322195" y="331195"/>
                  <a:pt x="2226670" y="426720"/>
                  <a:pt x="2108835" y="426720"/>
                </a:cubicBezTo>
                <a:lnTo>
                  <a:pt x="213360" y="426720"/>
                </a:lnTo>
                <a:cubicBezTo>
                  <a:pt x="95603" y="426720"/>
                  <a:pt x="0" y="331117"/>
                  <a:pt x="0" y="213360"/>
                </a:cubicBezTo>
                <a:lnTo>
                  <a:pt x="0" y="213360"/>
                </a:lnTo>
                <a:cubicBezTo>
                  <a:pt x="0" y="95603"/>
                  <a:pt x="95603" y="0"/>
                  <a:pt x="213360" y="0"/>
                </a:cubicBezTo>
                <a:close/>
              </a:path>
            </a:pathLst>
          </a:custGeom>
          <a:solidFill>
            <a:srgbClr val="3B82F6">
              <a:alpha val="20000"/>
            </a:srgbClr>
          </a:solidFill>
          <a:ln w="10160">
            <a:solidFill>
              <a:srgbClr val="3B82F6">
                <a:alpha val="40000"/>
              </a:srgbClr>
            </a:solidFill>
            <a:prstDash val="solid"/>
          </a:ln>
        </p:spPr>
      </p:sp>
      <p:sp>
        <p:nvSpPr>
          <p:cNvPr id="5" name="Text 2"/>
          <p:cNvSpPr/>
          <p:nvPr/>
        </p:nvSpPr>
        <p:spPr>
          <a:xfrm>
            <a:off x="5122783" y="777240"/>
            <a:ext cx="1946196" cy="220980"/>
          </a:xfrm>
          <a:prstGeom prst="rect">
            <a:avLst/>
          </a:prstGeom>
          <a:noFill/>
          <a:ln/>
        </p:spPr>
        <p:txBody>
          <a:bodyPr wrap="square" lIns="0" tIns="0" rIns="0" bIns="0" rtlCol="0" anchor="ctr"/>
          <a:lstStyle/>
          <a:p>
            <a:pPr algn="ctr">
              <a:lnSpc>
                <a:spcPct val="130000"/>
              </a:lnSpc>
            </a:pPr>
            <a:r>
              <a:rPr lang="en-US" sz="1350" b="1" spc="68" kern="0" dirty="0">
                <a:solidFill>
                  <a:srgbClr val="3B82F6"/>
                </a:solidFill>
                <a:latin typeface="MiSans" pitchFamily="34" charset="0"/>
                <a:ea typeface="MiSans" pitchFamily="34" charset="-122"/>
                <a:cs typeface="MiSans" pitchFamily="34" charset="-120"/>
              </a:rPr>
              <a:t>BÁO CÁO TỔNG HỢP</a:t>
            </a:r>
            <a:endParaRPr lang="en-US" sz="1600" dirty="0"/>
          </a:p>
        </p:txBody>
      </p:sp>
      <p:sp>
        <p:nvSpPr>
          <p:cNvPr id="6" name="Text 3"/>
          <p:cNvSpPr/>
          <p:nvPr/>
        </p:nvSpPr>
        <p:spPr>
          <a:xfrm>
            <a:off x="3787497" y="1333500"/>
            <a:ext cx="4619625" cy="1714500"/>
          </a:xfrm>
          <a:prstGeom prst="rect">
            <a:avLst/>
          </a:prstGeom>
          <a:noFill/>
          <a:ln/>
        </p:spPr>
        <p:txBody>
          <a:bodyPr wrap="square" lIns="0" tIns="0" rIns="0" bIns="0" rtlCol="0" anchor="ctr"/>
          <a:lstStyle/>
          <a:p>
            <a:pPr algn="ctr">
              <a:lnSpc>
                <a:spcPct val="100000"/>
              </a:lnSpc>
            </a:pPr>
            <a:r>
              <a:rPr lang="en-US" sz="5400" b="1" dirty="0">
                <a:solidFill>
                  <a:srgbClr val="F8FAFC"/>
                </a:solidFill>
                <a:latin typeface="Liter" pitchFamily="34" charset="0"/>
                <a:ea typeface="Liter" pitchFamily="34" charset="-122"/>
                <a:cs typeface="Liter" pitchFamily="34" charset="-120"/>
              </a:rPr>
              <a:t>Cơ sở lập trình</a:t>
            </a:r>
            <a:endParaRPr lang="en-US" sz="1600" dirty="0"/>
          </a:p>
          <a:p>
            <a:pPr algn="ctr">
              <a:lnSpc>
                <a:spcPct val="100000"/>
              </a:lnSpc>
            </a:pPr>
            <a:r>
              <a:rPr lang="en-US" sz="5400" b="1" dirty="0">
                <a:solidFill>
                  <a:srgbClr val="F8FAFC"/>
                </a:solidFill>
                <a:latin typeface="Liter" pitchFamily="34" charset="0"/>
                <a:ea typeface="Liter" pitchFamily="34" charset="-122"/>
                <a:cs typeface="Liter" pitchFamily="34" charset="-120"/>
              </a:rPr>
              <a:t>với </a:t>
            </a:r>
            <a:pPr algn="ctr">
              <a:lnSpc>
                <a:spcPct val="100000"/>
              </a:lnSpc>
            </a:pPr>
            <a:r>
              <a:rPr lang="en-US" sz="5400" b="1" dirty="0">
                <a:solidFill>
                  <a:srgbClr val="3B82F6"/>
                </a:solidFill>
                <a:latin typeface="Liter" pitchFamily="34" charset="0"/>
                <a:ea typeface="Liter" pitchFamily="34" charset="-122"/>
                <a:cs typeface="Liter" pitchFamily="34" charset="-120"/>
              </a:rPr>
              <a:t>GenAI</a:t>
            </a:r>
            <a:endParaRPr lang="en-US" sz="1600" dirty="0"/>
          </a:p>
        </p:txBody>
      </p:sp>
      <p:sp>
        <p:nvSpPr>
          <p:cNvPr id="7" name="Shape 4"/>
          <p:cNvSpPr/>
          <p:nvPr/>
        </p:nvSpPr>
        <p:spPr>
          <a:xfrm>
            <a:off x="5486281" y="3276600"/>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gradFill rotWithShape="1" flip="none">
            <a:gsLst>
              <a:gs pos="0">
                <a:srgbClr val="3B82F6"/>
              </a:gs>
              <a:gs pos="100000">
                <a:srgbClr val="8B5CF6"/>
              </a:gs>
            </a:gsLst>
            <a:lin ang="0" scaled="1"/>
          </a:gradFill>
          <a:ln/>
        </p:spPr>
      </p:sp>
      <p:sp>
        <p:nvSpPr>
          <p:cNvPr id="8" name="Text 5"/>
          <p:cNvSpPr/>
          <p:nvPr/>
        </p:nvSpPr>
        <p:spPr>
          <a:xfrm>
            <a:off x="3901797" y="3619500"/>
            <a:ext cx="4391025" cy="304800"/>
          </a:xfrm>
          <a:prstGeom prst="rect">
            <a:avLst/>
          </a:prstGeom>
          <a:noFill/>
          <a:ln/>
        </p:spPr>
        <p:txBody>
          <a:bodyPr wrap="square" lIns="0" tIns="0" rIns="0" bIns="0" rtlCol="0" anchor="ctr"/>
          <a:lstStyle/>
          <a:p>
            <a:pPr algn="ctr">
              <a:lnSpc>
                <a:spcPct val="110000"/>
              </a:lnSpc>
            </a:pPr>
            <a:r>
              <a:rPr lang="en-US" sz="1800" dirty="0">
                <a:solidFill>
                  <a:srgbClr val="F8FAFC">
                    <a:alpha val="80000"/>
                  </a:srgbClr>
                </a:solidFill>
                <a:latin typeface="MiSans" pitchFamily="34" charset="0"/>
                <a:ea typeface="MiSans" pitchFamily="34" charset="-122"/>
                <a:cs typeface="MiSans" pitchFamily="34" charset="-120"/>
              </a:rPr>
              <a:t>Lớp DCT122C3</a:t>
            </a:r>
            <a:endParaRPr lang="en-US" sz="1600" dirty="0"/>
          </a:p>
        </p:txBody>
      </p:sp>
      <p:sp>
        <p:nvSpPr>
          <p:cNvPr id="9" name="Shape 6"/>
          <p:cNvSpPr/>
          <p:nvPr/>
        </p:nvSpPr>
        <p:spPr>
          <a:xfrm>
            <a:off x="1223010" y="4689991"/>
            <a:ext cx="2255520" cy="807720"/>
          </a:xfrm>
          <a:custGeom>
            <a:avLst/>
            <a:gdLst/>
            <a:ahLst/>
            <a:cxnLst/>
            <a:rect l="l" t="t" r="r" b="b"/>
            <a:pathLst>
              <a:path w="2255520" h="807720">
                <a:moveTo>
                  <a:pt x="114300" y="0"/>
                </a:moveTo>
                <a:lnTo>
                  <a:pt x="2141220" y="0"/>
                </a:lnTo>
                <a:cubicBezTo>
                  <a:pt x="2204346" y="0"/>
                  <a:pt x="2255520" y="51174"/>
                  <a:pt x="2255520" y="114300"/>
                </a:cubicBezTo>
                <a:lnTo>
                  <a:pt x="2255520" y="693420"/>
                </a:lnTo>
                <a:cubicBezTo>
                  <a:pt x="2255520" y="756546"/>
                  <a:pt x="2204346" y="807720"/>
                  <a:pt x="2141220" y="807720"/>
                </a:cubicBezTo>
                <a:lnTo>
                  <a:pt x="114300" y="807720"/>
                </a:lnTo>
                <a:cubicBezTo>
                  <a:pt x="51216" y="807720"/>
                  <a:pt x="0" y="756504"/>
                  <a:pt x="0" y="693420"/>
                </a:cubicBezTo>
                <a:lnTo>
                  <a:pt x="0" y="114300"/>
                </a:lnTo>
                <a:cubicBezTo>
                  <a:pt x="0" y="51216"/>
                  <a:pt x="51216" y="0"/>
                  <a:pt x="114300" y="0"/>
                </a:cubicBezTo>
                <a:close/>
              </a:path>
            </a:pathLst>
          </a:custGeom>
          <a:solidFill>
            <a:srgbClr val="1E293B">
              <a:alpha val="60000"/>
            </a:srgbClr>
          </a:solidFill>
          <a:ln w="10160">
            <a:solidFill>
              <a:srgbClr val="3B82F6">
                <a:alpha val="20000"/>
              </a:srgbClr>
            </a:solidFill>
            <a:prstDash val="solid"/>
          </a:ln>
        </p:spPr>
      </p:sp>
      <p:sp>
        <p:nvSpPr>
          <p:cNvPr id="10" name="Text 7"/>
          <p:cNvSpPr/>
          <p:nvPr/>
        </p:nvSpPr>
        <p:spPr>
          <a:xfrm>
            <a:off x="1336358" y="4846201"/>
            <a:ext cx="2028825" cy="266700"/>
          </a:xfrm>
          <a:prstGeom prst="rect">
            <a:avLst/>
          </a:prstGeom>
          <a:noFill/>
          <a:ln/>
        </p:spPr>
        <p:txBody>
          <a:bodyPr wrap="square" lIns="0" tIns="0" rIns="0" bIns="0" rtlCol="0" anchor="ctr"/>
          <a:lstStyle/>
          <a:p>
            <a:pPr algn="ctr">
              <a:lnSpc>
                <a:spcPct val="130000"/>
              </a:lnSpc>
            </a:pPr>
            <a:r>
              <a:rPr lang="en-US" sz="1350" b="1" dirty="0">
                <a:solidFill>
                  <a:srgbClr val="3B82F6"/>
                </a:solidFill>
                <a:latin typeface="MiSans" pitchFamily="34" charset="0"/>
                <a:ea typeface="MiSans" pitchFamily="34" charset="-122"/>
                <a:cs typeface="MiSans" pitchFamily="34" charset="-120"/>
              </a:rPr>
              <a:t>Phạm Nhật Phương</a:t>
            </a:r>
            <a:endParaRPr lang="en-US" sz="1600" dirty="0"/>
          </a:p>
        </p:txBody>
      </p:sp>
      <p:sp>
        <p:nvSpPr>
          <p:cNvPr id="11" name="Text 8"/>
          <p:cNvSpPr/>
          <p:nvPr/>
        </p:nvSpPr>
        <p:spPr>
          <a:xfrm>
            <a:off x="1345883" y="5151001"/>
            <a:ext cx="2009775" cy="190500"/>
          </a:xfrm>
          <a:prstGeom prst="rect">
            <a:avLst/>
          </a:prstGeom>
          <a:noFill/>
          <a:ln/>
        </p:spPr>
        <p:txBody>
          <a:bodyPr wrap="square" lIns="0" tIns="0" rIns="0" bIns="0" rtlCol="0" anchor="ctr"/>
          <a:lstStyle/>
          <a:p>
            <a:pPr algn="ctr">
              <a:lnSpc>
                <a:spcPct val="120000"/>
              </a:lnSpc>
            </a:pPr>
            <a:r>
              <a:rPr lang="en-US" sz="1050" dirty="0">
                <a:solidFill>
                  <a:srgbClr val="F8FAFC">
                    <a:alpha val="60000"/>
                  </a:srgbClr>
                </a:solidFill>
                <a:latin typeface="MiSans" pitchFamily="34" charset="0"/>
                <a:ea typeface="MiSans" pitchFamily="34" charset="-122"/>
                <a:cs typeface="MiSans" pitchFamily="34" charset="-120"/>
              </a:rPr>
              <a:t>3122411162</a:t>
            </a:r>
            <a:endParaRPr lang="en-US" sz="1600" dirty="0"/>
          </a:p>
        </p:txBody>
      </p:sp>
      <p:sp>
        <p:nvSpPr>
          <p:cNvPr id="12" name="Shape 9"/>
          <p:cNvSpPr/>
          <p:nvPr/>
        </p:nvSpPr>
        <p:spPr>
          <a:xfrm>
            <a:off x="3718560" y="4689991"/>
            <a:ext cx="2255520" cy="807720"/>
          </a:xfrm>
          <a:custGeom>
            <a:avLst/>
            <a:gdLst/>
            <a:ahLst/>
            <a:cxnLst/>
            <a:rect l="l" t="t" r="r" b="b"/>
            <a:pathLst>
              <a:path w="2255520" h="807720">
                <a:moveTo>
                  <a:pt x="114300" y="0"/>
                </a:moveTo>
                <a:lnTo>
                  <a:pt x="2141220" y="0"/>
                </a:lnTo>
                <a:cubicBezTo>
                  <a:pt x="2204346" y="0"/>
                  <a:pt x="2255520" y="51174"/>
                  <a:pt x="2255520" y="114300"/>
                </a:cubicBezTo>
                <a:lnTo>
                  <a:pt x="2255520" y="693420"/>
                </a:lnTo>
                <a:cubicBezTo>
                  <a:pt x="2255520" y="756546"/>
                  <a:pt x="2204346" y="807720"/>
                  <a:pt x="2141220" y="807720"/>
                </a:cubicBezTo>
                <a:lnTo>
                  <a:pt x="114300" y="807720"/>
                </a:lnTo>
                <a:cubicBezTo>
                  <a:pt x="51216" y="807720"/>
                  <a:pt x="0" y="756504"/>
                  <a:pt x="0" y="693420"/>
                </a:cubicBezTo>
                <a:lnTo>
                  <a:pt x="0" y="114300"/>
                </a:lnTo>
                <a:cubicBezTo>
                  <a:pt x="0" y="51216"/>
                  <a:pt x="51216" y="0"/>
                  <a:pt x="114300" y="0"/>
                </a:cubicBezTo>
                <a:close/>
              </a:path>
            </a:pathLst>
          </a:custGeom>
          <a:solidFill>
            <a:srgbClr val="1E293B">
              <a:alpha val="60000"/>
            </a:srgbClr>
          </a:solidFill>
          <a:ln w="10160">
            <a:solidFill>
              <a:srgbClr val="8B5CF6">
                <a:alpha val="20000"/>
              </a:srgbClr>
            </a:solidFill>
            <a:prstDash val="solid"/>
          </a:ln>
        </p:spPr>
      </p:sp>
      <p:sp>
        <p:nvSpPr>
          <p:cNvPr id="13" name="Text 10"/>
          <p:cNvSpPr/>
          <p:nvPr/>
        </p:nvSpPr>
        <p:spPr>
          <a:xfrm>
            <a:off x="3831908" y="4846201"/>
            <a:ext cx="2028825" cy="266700"/>
          </a:xfrm>
          <a:prstGeom prst="rect">
            <a:avLst/>
          </a:prstGeom>
          <a:noFill/>
          <a:ln/>
        </p:spPr>
        <p:txBody>
          <a:bodyPr wrap="square" lIns="0" tIns="0" rIns="0" bIns="0" rtlCol="0" anchor="ctr"/>
          <a:lstStyle/>
          <a:p>
            <a:pPr algn="ctr">
              <a:lnSpc>
                <a:spcPct val="130000"/>
              </a:lnSpc>
            </a:pPr>
            <a:r>
              <a:rPr lang="en-US" sz="1350" b="1" dirty="0">
                <a:solidFill>
                  <a:srgbClr val="8B5CF6"/>
                </a:solidFill>
                <a:latin typeface="MiSans" pitchFamily="34" charset="0"/>
                <a:ea typeface="MiSans" pitchFamily="34" charset="-122"/>
                <a:cs typeface="MiSans" pitchFamily="34" charset="-120"/>
              </a:rPr>
              <a:t>Nguyễn Minh Kiên</a:t>
            </a:r>
            <a:endParaRPr lang="en-US" sz="1600" dirty="0"/>
          </a:p>
        </p:txBody>
      </p:sp>
      <p:sp>
        <p:nvSpPr>
          <p:cNvPr id="14" name="Text 11"/>
          <p:cNvSpPr/>
          <p:nvPr/>
        </p:nvSpPr>
        <p:spPr>
          <a:xfrm>
            <a:off x="3841433" y="5151001"/>
            <a:ext cx="2009775" cy="190500"/>
          </a:xfrm>
          <a:prstGeom prst="rect">
            <a:avLst/>
          </a:prstGeom>
          <a:noFill/>
          <a:ln/>
        </p:spPr>
        <p:txBody>
          <a:bodyPr wrap="square" lIns="0" tIns="0" rIns="0" bIns="0" rtlCol="0" anchor="ctr"/>
          <a:lstStyle/>
          <a:p>
            <a:pPr algn="ctr">
              <a:lnSpc>
                <a:spcPct val="120000"/>
              </a:lnSpc>
            </a:pPr>
            <a:r>
              <a:rPr lang="en-US" sz="1050" dirty="0">
                <a:solidFill>
                  <a:srgbClr val="F8FAFC">
                    <a:alpha val="60000"/>
                  </a:srgbClr>
                </a:solidFill>
                <a:latin typeface="MiSans" pitchFamily="34" charset="0"/>
                <a:ea typeface="MiSans" pitchFamily="34" charset="-122"/>
                <a:cs typeface="MiSans" pitchFamily="34" charset="-120"/>
              </a:rPr>
              <a:t>3122411103</a:t>
            </a:r>
            <a:endParaRPr lang="en-US" sz="1600" dirty="0"/>
          </a:p>
        </p:txBody>
      </p:sp>
      <p:sp>
        <p:nvSpPr>
          <p:cNvPr id="15" name="Shape 12"/>
          <p:cNvSpPr/>
          <p:nvPr/>
        </p:nvSpPr>
        <p:spPr>
          <a:xfrm>
            <a:off x="6214110" y="4689991"/>
            <a:ext cx="2255520" cy="807720"/>
          </a:xfrm>
          <a:custGeom>
            <a:avLst/>
            <a:gdLst/>
            <a:ahLst/>
            <a:cxnLst/>
            <a:rect l="l" t="t" r="r" b="b"/>
            <a:pathLst>
              <a:path w="2255520" h="807720">
                <a:moveTo>
                  <a:pt x="114300" y="0"/>
                </a:moveTo>
                <a:lnTo>
                  <a:pt x="2141220" y="0"/>
                </a:lnTo>
                <a:cubicBezTo>
                  <a:pt x="2204346" y="0"/>
                  <a:pt x="2255520" y="51174"/>
                  <a:pt x="2255520" y="114300"/>
                </a:cubicBezTo>
                <a:lnTo>
                  <a:pt x="2255520" y="693420"/>
                </a:lnTo>
                <a:cubicBezTo>
                  <a:pt x="2255520" y="756546"/>
                  <a:pt x="2204346" y="807720"/>
                  <a:pt x="2141220" y="807720"/>
                </a:cubicBezTo>
                <a:lnTo>
                  <a:pt x="114300" y="807720"/>
                </a:lnTo>
                <a:cubicBezTo>
                  <a:pt x="51216" y="807720"/>
                  <a:pt x="0" y="756504"/>
                  <a:pt x="0" y="693420"/>
                </a:cubicBezTo>
                <a:lnTo>
                  <a:pt x="0" y="114300"/>
                </a:lnTo>
                <a:cubicBezTo>
                  <a:pt x="0" y="51216"/>
                  <a:pt x="51216" y="0"/>
                  <a:pt x="114300" y="0"/>
                </a:cubicBezTo>
                <a:close/>
              </a:path>
            </a:pathLst>
          </a:custGeom>
          <a:solidFill>
            <a:srgbClr val="1E293B">
              <a:alpha val="60000"/>
            </a:srgbClr>
          </a:solidFill>
          <a:ln w="10160">
            <a:solidFill>
              <a:srgbClr val="10B981">
                <a:alpha val="20000"/>
              </a:srgbClr>
            </a:solidFill>
            <a:prstDash val="solid"/>
          </a:ln>
        </p:spPr>
      </p:sp>
      <p:sp>
        <p:nvSpPr>
          <p:cNvPr id="16" name="Text 13"/>
          <p:cNvSpPr/>
          <p:nvPr/>
        </p:nvSpPr>
        <p:spPr>
          <a:xfrm>
            <a:off x="6327457" y="4846201"/>
            <a:ext cx="2028825" cy="266700"/>
          </a:xfrm>
          <a:prstGeom prst="rect">
            <a:avLst/>
          </a:prstGeom>
          <a:noFill/>
          <a:ln/>
        </p:spPr>
        <p:txBody>
          <a:bodyPr wrap="square" lIns="0" tIns="0" rIns="0" bIns="0" rtlCol="0" anchor="ctr"/>
          <a:lstStyle/>
          <a:p>
            <a:pPr algn="ctr">
              <a:lnSpc>
                <a:spcPct val="130000"/>
              </a:lnSpc>
            </a:pPr>
            <a:r>
              <a:rPr lang="en-US" sz="1350" b="1" dirty="0">
                <a:solidFill>
                  <a:srgbClr val="10B981"/>
                </a:solidFill>
                <a:latin typeface="MiSans" pitchFamily="34" charset="0"/>
                <a:ea typeface="MiSans" pitchFamily="34" charset="-122"/>
                <a:cs typeface="MiSans" pitchFamily="34" charset="-120"/>
              </a:rPr>
              <a:t>Lê Nhựt Huy</a:t>
            </a:r>
            <a:endParaRPr lang="en-US" sz="1600" dirty="0"/>
          </a:p>
        </p:txBody>
      </p:sp>
      <p:sp>
        <p:nvSpPr>
          <p:cNvPr id="17" name="Text 14"/>
          <p:cNvSpPr/>
          <p:nvPr/>
        </p:nvSpPr>
        <p:spPr>
          <a:xfrm>
            <a:off x="6336982" y="5151001"/>
            <a:ext cx="2009775" cy="190500"/>
          </a:xfrm>
          <a:prstGeom prst="rect">
            <a:avLst/>
          </a:prstGeom>
          <a:noFill/>
          <a:ln/>
        </p:spPr>
        <p:txBody>
          <a:bodyPr wrap="square" lIns="0" tIns="0" rIns="0" bIns="0" rtlCol="0" anchor="ctr"/>
          <a:lstStyle/>
          <a:p>
            <a:pPr algn="ctr">
              <a:lnSpc>
                <a:spcPct val="120000"/>
              </a:lnSpc>
            </a:pPr>
            <a:r>
              <a:rPr lang="en-US" sz="1050" dirty="0">
                <a:solidFill>
                  <a:srgbClr val="F8FAFC">
                    <a:alpha val="60000"/>
                  </a:srgbClr>
                </a:solidFill>
                <a:latin typeface="MiSans" pitchFamily="34" charset="0"/>
                <a:ea typeface="MiSans" pitchFamily="34" charset="-122"/>
                <a:cs typeface="MiSans" pitchFamily="34" charset="-120"/>
              </a:rPr>
              <a:t>3122411063</a:t>
            </a:r>
            <a:endParaRPr lang="en-US" sz="1600" dirty="0"/>
          </a:p>
        </p:txBody>
      </p:sp>
      <p:sp>
        <p:nvSpPr>
          <p:cNvPr id="18" name="Shape 15"/>
          <p:cNvSpPr/>
          <p:nvPr/>
        </p:nvSpPr>
        <p:spPr>
          <a:xfrm>
            <a:off x="8709660" y="4689991"/>
            <a:ext cx="2255520" cy="807720"/>
          </a:xfrm>
          <a:custGeom>
            <a:avLst/>
            <a:gdLst/>
            <a:ahLst/>
            <a:cxnLst/>
            <a:rect l="l" t="t" r="r" b="b"/>
            <a:pathLst>
              <a:path w="2255520" h="807720">
                <a:moveTo>
                  <a:pt x="114300" y="0"/>
                </a:moveTo>
                <a:lnTo>
                  <a:pt x="2141220" y="0"/>
                </a:lnTo>
                <a:cubicBezTo>
                  <a:pt x="2204346" y="0"/>
                  <a:pt x="2255520" y="51174"/>
                  <a:pt x="2255520" y="114300"/>
                </a:cubicBezTo>
                <a:lnTo>
                  <a:pt x="2255520" y="693420"/>
                </a:lnTo>
                <a:cubicBezTo>
                  <a:pt x="2255520" y="756546"/>
                  <a:pt x="2204346" y="807720"/>
                  <a:pt x="2141220" y="807720"/>
                </a:cubicBezTo>
                <a:lnTo>
                  <a:pt x="114300" y="807720"/>
                </a:lnTo>
                <a:cubicBezTo>
                  <a:pt x="51216" y="807720"/>
                  <a:pt x="0" y="756504"/>
                  <a:pt x="0" y="693420"/>
                </a:cubicBezTo>
                <a:lnTo>
                  <a:pt x="0" y="114300"/>
                </a:lnTo>
                <a:cubicBezTo>
                  <a:pt x="0" y="51216"/>
                  <a:pt x="51216" y="0"/>
                  <a:pt x="114300" y="0"/>
                </a:cubicBezTo>
                <a:close/>
              </a:path>
            </a:pathLst>
          </a:custGeom>
          <a:solidFill>
            <a:srgbClr val="1E293B">
              <a:alpha val="60000"/>
            </a:srgbClr>
          </a:solidFill>
          <a:ln w="10160">
            <a:solidFill>
              <a:srgbClr val="3B82F6">
                <a:alpha val="20000"/>
              </a:srgbClr>
            </a:solidFill>
            <a:prstDash val="solid"/>
          </a:ln>
        </p:spPr>
      </p:sp>
      <p:sp>
        <p:nvSpPr>
          <p:cNvPr id="19" name="Text 16"/>
          <p:cNvSpPr/>
          <p:nvPr/>
        </p:nvSpPr>
        <p:spPr>
          <a:xfrm>
            <a:off x="8823007" y="4846201"/>
            <a:ext cx="2028825" cy="266700"/>
          </a:xfrm>
          <a:prstGeom prst="rect">
            <a:avLst/>
          </a:prstGeom>
          <a:noFill/>
          <a:ln/>
        </p:spPr>
        <p:txBody>
          <a:bodyPr wrap="square" lIns="0" tIns="0" rIns="0" bIns="0" rtlCol="0" anchor="ctr"/>
          <a:lstStyle/>
          <a:p>
            <a:pPr algn="ctr">
              <a:lnSpc>
                <a:spcPct val="130000"/>
              </a:lnSpc>
            </a:pPr>
            <a:r>
              <a:rPr lang="en-US" sz="1350" b="1" dirty="0">
                <a:solidFill>
                  <a:srgbClr val="3B82F6"/>
                </a:solidFill>
                <a:latin typeface="MiSans" pitchFamily="34" charset="0"/>
                <a:ea typeface="MiSans" pitchFamily="34" charset="-122"/>
                <a:cs typeface="MiSans" pitchFamily="34" charset="-120"/>
              </a:rPr>
              <a:t>Phạm Nguyễn Thế Hào</a:t>
            </a:r>
            <a:endParaRPr lang="en-US" sz="1600" dirty="0"/>
          </a:p>
        </p:txBody>
      </p:sp>
      <p:sp>
        <p:nvSpPr>
          <p:cNvPr id="20" name="Text 17"/>
          <p:cNvSpPr/>
          <p:nvPr/>
        </p:nvSpPr>
        <p:spPr>
          <a:xfrm>
            <a:off x="8832532" y="5151001"/>
            <a:ext cx="2009775" cy="190500"/>
          </a:xfrm>
          <a:prstGeom prst="rect">
            <a:avLst/>
          </a:prstGeom>
          <a:noFill/>
          <a:ln/>
        </p:spPr>
        <p:txBody>
          <a:bodyPr wrap="square" lIns="0" tIns="0" rIns="0" bIns="0" rtlCol="0" anchor="ctr"/>
          <a:lstStyle/>
          <a:p>
            <a:pPr algn="ctr">
              <a:lnSpc>
                <a:spcPct val="120000"/>
              </a:lnSpc>
            </a:pPr>
            <a:r>
              <a:rPr lang="en-US" sz="1050" dirty="0">
                <a:solidFill>
                  <a:srgbClr val="F8FAFC">
                    <a:alpha val="60000"/>
                  </a:srgbClr>
                </a:solidFill>
                <a:latin typeface="MiSans" pitchFamily="34" charset="0"/>
                <a:ea typeface="MiSans" pitchFamily="34" charset="-122"/>
                <a:cs typeface="MiSans" pitchFamily="34" charset="-120"/>
              </a:rPr>
              <a:t>3122411048</a:t>
            </a:r>
            <a:endParaRPr lang="en-US" sz="1600" dirty="0"/>
          </a:p>
        </p:txBody>
      </p:sp>
      <p:sp>
        <p:nvSpPr>
          <p:cNvPr id="21" name="Text 18"/>
          <p:cNvSpPr/>
          <p:nvPr/>
        </p:nvSpPr>
        <p:spPr>
          <a:xfrm>
            <a:off x="4549259" y="5958721"/>
            <a:ext cx="3095625" cy="228600"/>
          </a:xfrm>
          <a:prstGeom prst="rect">
            <a:avLst/>
          </a:prstGeom>
          <a:noFill/>
          <a:ln/>
        </p:spPr>
        <p:txBody>
          <a:bodyPr wrap="square" lIns="0" tIns="0" rIns="0" bIns="0" rtlCol="0" anchor="ctr"/>
          <a:lstStyle/>
          <a:p>
            <a:pPr algn="ctr">
              <a:lnSpc>
                <a:spcPct val="130000"/>
              </a:lnSpc>
            </a:pPr>
            <a:r>
              <a:rPr lang="en-US" sz="1200" dirty="0">
                <a:solidFill>
                  <a:srgbClr val="F8FAFC">
                    <a:alpha val="50000"/>
                  </a:srgbClr>
                </a:solidFill>
                <a:latin typeface="MiSans" pitchFamily="34" charset="0"/>
                <a:ea typeface="MiSans" pitchFamily="34" charset="-122"/>
                <a:cs typeface="MiSans" pitchFamily="34" charset="-120"/>
              </a:rPr>
              <a:t>Thành phố Hồ Chí Minh, tháng 3 năm 2026</a:t>
            </a:r>
            <a:endParaRPr lang="en-US" sz="1600" dirty="0"/>
          </a:p>
        </p:txBody>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84810" y="384810"/>
            <a:ext cx="988695" cy="312420"/>
          </a:xfrm>
          <a:custGeom>
            <a:avLst/>
            <a:gdLst/>
            <a:ahLst/>
            <a:cxnLst/>
            <a:rect l="l" t="t" r="r" b="b"/>
            <a:pathLst>
              <a:path w="988695" h="312420">
                <a:moveTo>
                  <a:pt x="156210" y="0"/>
                </a:moveTo>
                <a:lnTo>
                  <a:pt x="832485" y="0"/>
                </a:lnTo>
                <a:cubicBezTo>
                  <a:pt x="918700" y="0"/>
                  <a:pt x="988695" y="69995"/>
                  <a:pt x="988695" y="156210"/>
                </a:cubicBezTo>
                <a:lnTo>
                  <a:pt x="988695" y="156210"/>
                </a:lnTo>
                <a:cubicBezTo>
                  <a:pt x="988695" y="242425"/>
                  <a:pt x="918700" y="312420"/>
                  <a:pt x="832485" y="312420"/>
                </a:cubicBezTo>
                <a:lnTo>
                  <a:pt x="156210" y="312420"/>
                </a:lnTo>
                <a:cubicBezTo>
                  <a:pt x="69938" y="312420"/>
                  <a:pt x="0" y="242482"/>
                  <a:pt x="0" y="156210"/>
                </a:cubicBezTo>
                <a:lnTo>
                  <a:pt x="0" y="156210"/>
                </a:lnTo>
                <a:cubicBezTo>
                  <a:pt x="0" y="69938"/>
                  <a:pt x="69938" y="0"/>
                  <a:pt x="156210" y="0"/>
                </a:cubicBezTo>
                <a:close/>
              </a:path>
            </a:pathLst>
          </a:custGeom>
          <a:solidFill>
            <a:srgbClr val="3B82F6">
              <a:alpha val="20000"/>
            </a:srgbClr>
          </a:solidFill>
          <a:ln w="10160">
            <a:solidFill>
              <a:srgbClr val="3B82F6">
                <a:alpha val="40000"/>
              </a:srgbClr>
            </a:solidFill>
            <a:prstDash val="solid"/>
          </a:ln>
        </p:spPr>
      </p:sp>
      <p:sp>
        <p:nvSpPr>
          <p:cNvPr id="3" name="Text 1"/>
          <p:cNvSpPr/>
          <p:nvPr/>
        </p:nvSpPr>
        <p:spPr>
          <a:xfrm>
            <a:off x="541020" y="434340"/>
            <a:ext cx="748665" cy="205740"/>
          </a:xfrm>
          <a:prstGeom prst="rect">
            <a:avLst/>
          </a:prstGeom>
          <a:noFill/>
          <a:ln/>
        </p:spPr>
        <p:txBody>
          <a:bodyPr wrap="square" lIns="0" tIns="0" rIns="0" bIns="0" rtlCol="0" anchor="ctr"/>
          <a:lstStyle/>
          <a:p>
            <a:pPr>
              <a:lnSpc>
                <a:spcPct val="130000"/>
              </a:lnSpc>
            </a:pPr>
            <a:r>
              <a:rPr lang="en-US" sz="1200" b="1" spc="60" kern="0" dirty="0">
                <a:solidFill>
                  <a:srgbClr val="3B82F6"/>
                </a:solidFill>
                <a:latin typeface="MiSans" pitchFamily="34" charset="0"/>
                <a:ea typeface="MiSans" pitchFamily="34" charset="-122"/>
                <a:cs typeface="MiSans" pitchFamily="34" charset="-120"/>
              </a:rPr>
              <a:t>AGENDA</a:t>
            </a:r>
            <a:endParaRPr lang="en-US" sz="1600" dirty="0"/>
          </a:p>
        </p:txBody>
      </p:sp>
      <p:sp>
        <p:nvSpPr>
          <p:cNvPr id="4" name="Text 2"/>
          <p:cNvSpPr/>
          <p:nvPr/>
        </p:nvSpPr>
        <p:spPr>
          <a:xfrm>
            <a:off x="381000" y="853440"/>
            <a:ext cx="11658600" cy="457200"/>
          </a:xfrm>
          <a:prstGeom prst="rect">
            <a:avLst/>
          </a:prstGeom>
          <a:noFill/>
          <a:ln/>
        </p:spPr>
        <p:txBody>
          <a:bodyPr wrap="square" lIns="0" tIns="0" rIns="0" bIns="0" rtlCol="0" anchor="ctr"/>
          <a:lstStyle/>
          <a:p>
            <a:pPr>
              <a:lnSpc>
                <a:spcPct val="80000"/>
              </a:lnSpc>
            </a:pPr>
            <a:r>
              <a:rPr lang="en-US" sz="3600" b="1" dirty="0">
                <a:solidFill>
                  <a:srgbClr val="F8FAFC"/>
                </a:solidFill>
                <a:latin typeface="Liter" pitchFamily="34" charset="0"/>
                <a:ea typeface="Liter" pitchFamily="34" charset="-122"/>
                <a:cs typeface="Liter" pitchFamily="34" charset="-120"/>
              </a:rPr>
              <a:t>Mục lục</a:t>
            </a:r>
            <a:endParaRPr lang="en-US" sz="1600" dirty="0"/>
          </a:p>
        </p:txBody>
      </p:sp>
      <p:sp>
        <p:nvSpPr>
          <p:cNvPr id="5" name="Shape 3"/>
          <p:cNvSpPr/>
          <p:nvPr/>
        </p:nvSpPr>
        <p:spPr>
          <a:xfrm>
            <a:off x="381000" y="146304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gradFill rotWithShape="1" flip="none">
            <a:gsLst>
              <a:gs pos="0">
                <a:srgbClr val="3B82F6"/>
              </a:gs>
              <a:gs pos="100000">
                <a:srgbClr val="8B5CF6"/>
              </a:gs>
            </a:gsLst>
            <a:lin ang="0" scaled="1"/>
          </a:gradFill>
          <a:ln/>
        </p:spPr>
      </p:sp>
      <p:sp>
        <p:nvSpPr>
          <p:cNvPr id="6" name="Shape 4"/>
          <p:cNvSpPr/>
          <p:nvPr/>
        </p:nvSpPr>
        <p:spPr>
          <a:xfrm>
            <a:off x="384810" y="1809750"/>
            <a:ext cx="3674745" cy="2360295"/>
          </a:xfrm>
          <a:custGeom>
            <a:avLst/>
            <a:gdLst/>
            <a:ahLst/>
            <a:cxnLst/>
            <a:rect l="l" t="t" r="r" b="b"/>
            <a:pathLst>
              <a:path w="3674745" h="2360295">
                <a:moveTo>
                  <a:pt x="152404" y="0"/>
                </a:moveTo>
                <a:lnTo>
                  <a:pt x="3522341" y="0"/>
                </a:lnTo>
                <a:cubicBezTo>
                  <a:pt x="3606511" y="0"/>
                  <a:pt x="3674745" y="68234"/>
                  <a:pt x="3674745" y="152404"/>
                </a:cubicBezTo>
                <a:lnTo>
                  <a:pt x="3674745" y="2207891"/>
                </a:lnTo>
                <a:cubicBezTo>
                  <a:pt x="3674745" y="2292061"/>
                  <a:pt x="3606511" y="2360295"/>
                  <a:pt x="3522341" y="2360295"/>
                </a:cubicBezTo>
                <a:lnTo>
                  <a:pt x="152404" y="2360295"/>
                </a:lnTo>
                <a:cubicBezTo>
                  <a:pt x="68234" y="2360295"/>
                  <a:pt x="0" y="2292061"/>
                  <a:pt x="0" y="2207891"/>
                </a:cubicBezTo>
                <a:lnTo>
                  <a:pt x="0" y="152404"/>
                </a:lnTo>
                <a:cubicBezTo>
                  <a:pt x="0" y="68290"/>
                  <a:pt x="68290" y="0"/>
                  <a:pt x="152404" y="0"/>
                </a:cubicBezTo>
                <a:close/>
              </a:path>
            </a:pathLst>
          </a:custGeom>
          <a:gradFill rotWithShape="1" flip="none">
            <a:gsLst>
              <a:gs pos="0">
                <a:srgbClr val="1E293B"/>
              </a:gs>
              <a:gs pos="100000">
                <a:srgbClr val="1E293B">
                  <a:alpha val="50000"/>
                </a:srgbClr>
              </a:gs>
            </a:gsLst>
            <a:lin ang="2700000" scaled="1"/>
          </a:gradFill>
          <a:ln w="10160">
            <a:solidFill>
              <a:srgbClr val="3B82F6">
                <a:alpha val="30196"/>
              </a:srgbClr>
            </a:solidFill>
            <a:prstDash val="solid"/>
          </a:ln>
        </p:spPr>
      </p:sp>
      <p:sp>
        <p:nvSpPr>
          <p:cNvPr id="7" name="Shape 5"/>
          <p:cNvSpPr/>
          <p:nvPr/>
        </p:nvSpPr>
        <p:spPr>
          <a:xfrm>
            <a:off x="617220" y="2042160"/>
            <a:ext cx="533400" cy="533400"/>
          </a:xfrm>
          <a:custGeom>
            <a:avLst/>
            <a:gdLst/>
            <a:ahLst/>
            <a:cxnLst/>
            <a:rect l="l" t="t" r="r" b="b"/>
            <a:pathLst>
              <a:path w="533400" h="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gradFill rotWithShape="1" flip="none">
            <a:gsLst>
              <a:gs pos="0">
                <a:srgbClr val="3B82F6"/>
              </a:gs>
              <a:gs pos="100000">
                <a:srgbClr val="3B82F6">
                  <a:alpha val="60000"/>
                </a:srgbClr>
              </a:gs>
            </a:gsLst>
            <a:lin ang="2700000" scaled="1"/>
          </a:gradFill>
          <a:ln/>
        </p:spPr>
      </p:sp>
      <p:sp>
        <p:nvSpPr>
          <p:cNvPr id="8" name="Text 6"/>
          <p:cNvSpPr/>
          <p:nvPr/>
        </p:nvSpPr>
        <p:spPr>
          <a:xfrm>
            <a:off x="560070" y="2042160"/>
            <a:ext cx="647700" cy="5334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MiSans" pitchFamily="34" charset="0"/>
                <a:ea typeface="MiSans" pitchFamily="34" charset="-122"/>
                <a:cs typeface="MiSans" pitchFamily="34" charset="-120"/>
              </a:rPr>
              <a:t>01</a:t>
            </a:r>
            <a:endParaRPr lang="en-US" sz="1600" dirty="0"/>
          </a:p>
        </p:txBody>
      </p:sp>
      <p:sp>
        <p:nvSpPr>
          <p:cNvPr id="9" name="Text 7"/>
          <p:cNvSpPr/>
          <p:nvPr/>
        </p:nvSpPr>
        <p:spPr>
          <a:xfrm>
            <a:off x="1303020" y="2118360"/>
            <a:ext cx="2552700" cy="266700"/>
          </a:xfrm>
          <a:prstGeom prst="rect">
            <a:avLst/>
          </a:prstGeom>
          <a:noFill/>
          <a:ln/>
        </p:spPr>
        <p:txBody>
          <a:bodyPr wrap="square" lIns="0" tIns="0" rIns="0" bIns="0" rtlCol="0" anchor="ctr"/>
          <a:lstStyle/>
          <a:p>
            <a:pPr>
              <a:lnSpc>
                <a:spcPct val="120000"/>
              </a:lnSpc>
            </a:pPr>
            <a:r>
              <a:rPr lang="en-US" sz="1500" b="1" dirty="0">
                <a:solidFill>
                  <a:srgbClr val="F8FAFC"/>
                </a:solidFill>
                <a:latin typeface="Liter" pitchFamily="34" charset="0"/>
                <a:ea typeface="Liter" pitchFamily="34" charset="-122"/>
                <a:cs typeface="Liter" pitchFamily="34" charset="-120"/>
              </a:rPr>
              <a:t>Tổng quan GenAI trong SDLC</a:t>
            </a:r>
            <a:endParaRPr lang="en-US" sz="1600" dirty="0"/>
          </a:p>
        </p:txBody>
      </p:sp>
      <p:sp>
        <p:nvSpPr>
          <p:cNvPr id="10" name="Text 8"/>
          <p:cNvSpPr/>
          <p:nvPr/>
        </p:nvSpPr>
        <p:spPr>
          <a:xfrm>
            <a:off x="617220" y="2727960"/>
            <a:ext cx="3286125" cy="495300"/>
          </a:xfrm>
          <a:prstGeom prst="rect">
            <a:avLst/>
          </a:prstGeom>
          <a:noFill/>
          <a:ln/>
        </p:spPr>
        <p:txBody>
          <a:bodyPr wrap="square" lIns="0" tIns="0" rIns="0" bIns="0" rtlCol="0" anchor="ctr"/>
          <a:lstStyle/>
          <a:p>
            <a:pPr>
              <a:lnSpc>
                <a:spcPct val="140000"/>
              </a:lnSpc>
            </a:pPr>
            <a:r>
              <a:rPr lang="en-US" sz="1200" dirty="0">
                <a:solidFill>
                  <a:srgbClr val="F8FAFC">
                    <a:alpha val="60000"/>
                  </a:srgbClr>
                </a:solidFill>
                <a:latin typeface="MiSans" pitchFamily="34" charset="0"/>
                <a:ea typeface="MiSans" pitchFamily="34" charset="-122"/>
                <a:cs typeface="MiSans" pitchFamily="34" charset="-120"/>
              </a:rPr>
              <a:t>Vai trò của GenAI trong chu kỳ phát triển phần mềm</a:t>
            </a:r>
            <a:endParaRPr lang="en-US" sz="1600" dirty="0"/>
          </a:p>
        </p:txBody>
      </p:sp>
      <p:sp>
        <p:nvSpPr>
          <p:cNvPr id="11" name="Shape 9"/>
          <p:cNvSpPr/>
          <p:nvPr/>
        </p:nvSpPr>
        <p:spPr>
          <a:xfrm>
            <a:off x="4258270" y="1809750"/>
            <a:ext cx="3674745" cy="2360295"/>
          </a:xfrm>
          <a:custGeom>
            <a:avLst/>
            <a:gdLst/>
            <a:ahLst/>
            <a:cxnLst/>
            <a:rect l="l" t="t" r="r" b="b"/>
            <a:pathLst>
              <a:path w="3674745" h="2360295">
                <a:moveTo>
                  <a:pt x="152404" y="0"/>
                </a:moveTo>
                <a:lnTo>
                  <a:pt x="3522341" y="0"/>
                </a:lnTo>
                <a:cubicBezTo>
                  <a:pt x="3606511" y="0"/>
                  <a:pt x="3674745" y="68234"/>
                  <a:pt x="3674745" y="152404"/>
                </a:cubicBezTo>
                <a:lnTo>
                  <a:pt x="3674745" y="2207891"/>
                </a:lnTo>
                <a:cubicBezTo>
                  <a:pt x="3674745" y="2292061"/>
                  <a:pt x="3606511" y="2360295"/>
                  <a:pt x="3522341" y="2360295"/>
                </a:cubicBezTo>
                <a:lnTo>
                  <a:pt x="152404" y="2360295"/>
                </a:lnTo>
                <a:cubicBezTo>
                  <a:pt x="68234" y="2360295"/>
                  <a:pt x="0" y="2292061"/>
                  <a:pt x="0" y="2207891"/>
                </a:cubicBezTo>
                <a:lnTo>
                  <a:pt x="0" y="152404"/>
                </a:lnTo>
                <a:cubicBezTo>
                  <a:pt x="0" y="68290"/>
                  <a:pt x="68290" y="0"/>
                  <a:pt x="152404" y="0"/>
                </a:cubicBezTo>
                <a:close/>
              </a:path>
            </a:pathLst>
          </a:custGeom>
          <a:gradFill rotWithShape="1" flip="none">
            <a:gsLst>
              <a:gs pos="0">
                <a:srgbClr val="1E293B"/>
              </a:gs>
              <a:gs pos="100000">
                <a:srgbClr val="1E293B">
                  <a:alpha val="50000"/>
                </a:srgbClr>
              </a:gs>
            </a:gsLst>
            <a:lin ang="2700000" scaled="1"/>
          </a:gradFill>
          <a:ln w="10160">
            <a:solidFill>
              <a:srgbClr val="8B5CF6">
                <a:alpha val="30196"/>
              </a:srgbClr>
            </a:solidFill>
            <a:prstDash val="solid"/>
          </a:ln>
        </p:spPr>
      </p:sp>
      <p:sp>
        <p:nvSpPr>
          <p:cNvPr id="12" name="Shape 10"/>
          <p:cNvSpPr/>
          <p:nvPr/>
        </p:nvSpPr>
        <p:spPr>
          <a:xfrm>
            <a:off x="4490680" y="2042160"/>
            <a:ext cx="533400" cy="533400"/>
          </a:xfrm>
          <a:custGeom>
            <a:avLst/>
            <a:gdLst/>
            <a:ahLst/>
            <a:cxnLst/>
            <a:rect l="l" t="t" r="r" b="b"/>
            <a:pathLst>
              <a:path w="533400" h="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gradFill rotWithShape="1" flip="none">
            <a:gsLst>
              <a:gs pos="0">
                <a:srgbClr val="8B5CF6"/>
              </a:gs>
              <a:gs pos="100000">
                <a:srgbClr val="8B5CF6">
                  <a:alpha val="60000"/>
                </a:srgbClr>
              </a:gs>
            </a:gsLst>
            <a:lin ang="2700000" scaled="1"/>
          </a:gradFill>
          <a:ln/>
        </p:spPr>
      </p:sp>
      <p:sp>
        <p:nvSpPr>
          <p:cNvPr id="13" name="Text 11"/>
          <p:cNvSpPr/>
          <p:nvPr/>
        </p:nvSpPr>
        <p:spPr>
          <a:xfrm>
            <a:off x="4433530" y="2042160"/>
            <a:ext cx="647700" cy="5334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MiSans" pitchFamily="34" charset="0"/>
                <a:ea typeface="MiSans" pitchFamily="34" charset="-122"/>
                <a:cs typeface="MiSans" pitchFamily="34" charset="-120"/>
              </a:rPr>
              <a:t>02</a:t>
            </a:r>
            <a:endParaRPr lang="en-US" sz="1600" dirty="0"/>
          </a:p>
        </p:txBody>
      </p:sp>
      <p:sp>
        <p:nvSpPr>
          <p:cNvPr id="14" name="Text 12"/>
          <p:cNvSpPr/>
          <p:nvPr/>
        </p:nvSpPr>
        <p:spPr>
          <a:xfrm>
            <a:off x="5176481" y="2118360"/>
            <a:ext cx="2133600" cy="266700"/>
          </a:xfrm>
          <a:prstGeom prst="rect">
            <a:avLst/>
          </a:prstGeom>
          <a:noFill/>
          <a:ln/>
        </p:spPr>
        <p:txBody>
          <a:bodyPr wrap="square" lIns="0" tIns="0" rIns="0" bIns="0" rtlCol="0" anchor="ctr"/>
          <a:lstStyle/>
          <a:p>
            <a:pPr>
              <a:lnSpc>
                <a:spcPct val="120000"/>
              </a:lnSpc>
            </a:pPr>
            <a:r>
              <a:rPr lang="en-US" sz="1500" b="1" dirty="0">
                <a:solidFill>
                  <a:srgbClr val="F8FAFC"/>
                </a:solidFill>
                <a:latin typeface="Liter" pitchFamily="34" charset="0"/>
                <a:ea typeface="Liter" pitchFamily="34" charset="-122"/>
                <a:cs typeface="Liter" pitchFamily="34" charset="-120"/>
              </a:rPr>
              <a:t>Làm việc với API OpenAI</a:t>
            </a:r>
            <a:endParaRPr lang="en-US" sz="1600" dirty="0"/>
          </a:p>
        </p:txBody>
      </p:sp>
      <p:sp>
        <p:nvSpPr>
          <p:cNvPr id="15" name="Text 13"/>
          <p:cNvSpPr/>
          <p:nvPr/>
        </p:nvSpPr>
        <p:spPr>
          <a:xfrm>
            <a:off x="4490680" y="2727960"/>
            <a:ext cx="3286125" cy="247650"/>
          </a:xfrm>
          <a:prstGeom prst="rect">
            <a:avLst/>
          </a:prstGeom>
          <a:noFill/>
          <a:ln/>
        </p:spPr>
        <p:txBody>
          <a:bodyPr wrap="square" lIns="0" tIns="0" rIns="0" bIns="0" rtlCol="0" anchor="ctr"/>
          <a:lstStyle/>
          <a:p>
            <a:pPr>
              <a:lnSpc>
                <a:spcPct val="140000"/>
              </a:lnSpc>
            </a:pPr>
            <a:r>
              <a:rPr lang="en-US" sz="1200" dirty="0">
                <a:solidFill>
                  <a:srgbClr val="F8FAFC">
                    <a:alpha val="60000"/>
                  </a:srgbClr>
                </a:solidFill>
                <a:latin typeface="MiSans" pitchFamily="34" charset="0"/>
                <a:ea typeface="MiSans" pitchFamily="34" charset="-122"/>
                <a:cs typeface="MiSans" pitchFamily="34" charset="-120"/>
              </a:rPr>
              <a:t>Tích hợp AI vào ứng dụng qua API</a:t>
            </a:r>
            <a:endParaRPr lang="en-US" sz="1600" dirty="0"/>
          </a:p>
        </p:txBody>
      </p:sp>
      <p:sp>
        <p:nvSpPr>
          <p:cNvPr id="16" name="Shape 14"/>
          <p:cNvSpPr/>
          <p:nvPr/>
        </p:nvSpPr>
        <p:spPr>
          <a:xfrm>
            <a:off x="8131731" y="1809750"/>
            <a:ext cx="3674745" cy="2360295"/>
          </a:xfrm>
          <a:custGeom>
            <a:avLst/>
            <a:gdLst/>
            <a:ahLst/>
            <a:cxnLst/>
            <a:rect l="l" t="t" r="r" b="b"/>
            <a:pathLst>
              <a:path w="3674745" h="2360295">
                <a:moveTo>
                  <a:pt x="152404" y="0"/>
                </a:moveTo>
                <a:lnTo>
                  <a:pt x="3522341" y="0"/>
                </a:lnTo>
                <a:cubicBezTo>
                  <a:pt x="3606511" y="0"/>
                  <a:pt x="3674745" y="68234"/>
                  <a:pt x="3674745" y="152404"/>
                </a:cubicBezTo>
                <a:lnTo>
                  <a:pt x="3674745" y="2207891"/>
                </a:lnTo>
                <a:cubicBezTo>
                  <a:pt x="3674745" y="2292061"/>
                  <a:pt x="3606511" y="2360295"/>
                  <a:pt x="3522341" y="2360295"/>
                </a:cubicBezTo>
                <a:lnTo>
                  <a:pt x="152404" y="2360295"/>
                </a:lnTo>
                <a:cubicBezTo>
                  <a:pt x="68234" y="2360295"/>
                  <a:pt x="0" y="2292061"/>
                  <a:pt x="0" y="2207891"/>
                </a:cubicBezTo>
                <a:lnTo>
                  <a:pt x="0" y="152404"/>
                </a:lnTo>
                <a:cubicBezTo>
                  <a:pt x="0" y="68290"/>
                  <a:pt x="68290" y="0"/>
                  <a:pt x="152404" y="0"/>
                </a:cubicBezTo>
                <a:close/>
              </a:path>
            </a:pathLst>
          </a:custGeom>
          <a:gradFill rotWithShape="1" flip="none">
            <a:gsLst>
              <a:gs pos="0">
                <a:srgbClr val="1E293B"/>
              </a:gs>
              <a:gs pos="100000">
                <a:srgbClr val="1E293B">
                  <a:alpha val="50000"/>
                </a:srgbClr>
              </a:gs>
            </a:gsLst>
            <a:lin ang="2700000" scaled="1"/>
          </a:gradFill>
          <a:ln w="10160">
            <a:solidFill>
              <a:srgbClr val="10B981">
                <a:alpha val="30196"/>
              </a:srgbClr>
            </a:solidFill>
            <a:prstDash val="solid"/>
          </a:ln>
        </p:spPr>
      </p:sp>
      <p:sp>
        <p:nvSpPr>
          <p:cNvPr id="17" name="Shape 15"/>
          <p:cNvSpPr/>
          <p:nvPr/>
        </p:nvSpPr>
        <p:spPr>
          <a:xfrm>
            <a:off x="8364141" y="2042160"/>
            <a:ext cx="533400" cy="533400"/>
          </a:xfrm>
          <a:custGeom>
            <a:avLst/>
            <a:gdLst/>
            <a:ahLst/>
            <a:cxnLst/>
            <a:rect l="l" t="t" r="r" b="b"/>
            <a:pathLst>
              <a:path w="533400" h="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gradFill rotWithShape="1" flip="none">
            <a:gsLst>
              <a:gs pos="0">
                <a:srgbClr val="10B981"/>
              </a:gs>
              <a:gs pos="100000">
                <a:srgbClr val="10B981">
                  <a:alpha val="60000"/>
                </a:srgbClr>
              </a:gs>
            </a:gsLst>
            <a:lin ang="2700000" scaled="1"/>
          </a:gradFill>
          <a:ln/>
        </p:spPr>
      </p:sp>
      <p:sp>
        <p:nvSpPr>
          <p:cNvPr id="18" name="Text 16"/>
          <p:cNvSpPr/>
          <p:nvPr/>
        </p:nvSpPr>
        <p:spPr>
          <a:xfrm>
            <a:off x="8306991" y="2042160"/>
            <a:ext cx="647700" cy="5334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MiSans" pitchFamily="34" charset="0"/>
                <a:ea typeface="MiSans" pitchFamily="34" charset="-122"/>
                <a:cs typeface="MiSans" pitchFamily="34" charset="-120"/>
              </a:rPr>
              <a:t>03</a:t>
            </a:r>
            <a:endParaRPr lang="en-US" sz="1600" dirty="0"/>
          </a:p>
        </p:txBody>
      </p:sp>
      <p:sp>
        <p:nvSpPr>
          <p:cNvPr id="19" name="Text 17"/>
          <p:cNvSpPr/>
          <p:nvPr/>
        </p:nvSpPr>
        <p:spPr>
          <a:xfrm>
            <a:off x="9049941" y="2118360"/>
            <a:ext cx="1343025" cy="266700"/>
          </a:xfrm>
          <a:prstGeom prst="rect">
            <a:avLst/>
          </a:prstGeom>
          <a:noFill/>
          <a:ln/>
        </p:spPr>
        <p:txBody>
          <a:bodyPr wrap="square" lIns="0" tIns="0" rIns="0" bIns="0" rtlCol="0" anchor="ctr"/>
          <a:lstStyle/>
          <a:p>
            <a:pPr>
              <a:lnSpc>
                <a:spcPct val="120000"/>
              </a:lnSpc>
            </a:pPr>
            <a:r>
              <a:rPr lang="en-US" sz="1500" b="1" dirty="0">
                <a:solidFill>
                  <a:srgbClr val="F8FAFC"/>
                </a:solidFill>
                <a:latin typeface="Liter" pitchFamily="34" charset="0"/>
                <a:ea typeface="Liter" pitchFamily="34" charset="-122"/>
                <a:cs typeface="Liter" pitchFamily="34" charset="-120"/>
              </a:rPr>
              <a:t>GitHub Copilot</a:t>
            </a:r>
            <a:endParaRPr lang="en-US" sz="1600" dirty="0"/>
          </a:p>
        </p:txBody>
      </p:sp>
      <p:sp>
        <p:nvSpPr>
          <p:cNvPr id="20" name="Text 18"/>
          <p:cNvSpPr/>
          <p:nvPr/>
        </p:nvSpPr>
        <p:spPr>
          <a:xfrm>
            <a:off x="8364141" y="2727960"/>
            <a:ext cx="3286125" cy="247650"/>
          </a:xfrm>
          <a:prstGeom prst="rect">
            <a:avLst/>
          </a:prstGeom>
          <a:noFill/>
          <a:ln/>
        </p:spPr>
        <p:txBody>
          <a:bodyPr wrap="square" lIns="0" tIns="0" rIns="0" bIns="0" rtlCol="0" anchor="ctr"/>
          <a:lstStyle/>
          <a:p>
            <a:pPr>
              <a:lnSpc>
                <a:spcPct val="140000"/>
              </a:lnSpc>
            </a:pPr>
            <a:r>
              <a:rPr lang="en-US" sz="1200" dirty="0">
                <a:solidFill>
                  <a:srgbClr val="F8FAFC">
                    <a:alpha val="60000"/>
                  </a:srgbClr>
                </a:solidFill>
                <a:latin typeface="MiSans" pitchFamily="34" charset="0"/>
                <a:ea typeface="MiSans" pitchFamily="34" charset="-122"/>
                <a:cs typeface="MiSans" pitchFamily="34" charset="-120"/>
              </a:rPr>
              <a:t>Kiến trúc và ứng dụng trong IDE</a:t>
            </a:r>
            <a:endParaRPr lang="en-US" sz="1600" dirty="0"/>
          </a:p>
        </p:txBody>
      </p:sp>
      <p:sp>
        <p:nvSpPr>
          <p:cNvPr id="21" name="Shape 19"/>
          <p:cNvSpPr/>
          <p:nvPr/>
        </p:nvSpPr>
        <p:spPr>
          <a:xfrm>
            <a:off x="384810" y="4364355"/>
            <a:ext cx="3674745" cy="2112645"/>
          </a:xfrm>
          <a:custGeom>
            <a:avLst/>
            <a:gdLst/>
            <a:ahLst/>
            <a:cxnLst/>
            <a:rect l="l" t="t" r="r" b="b"/>
            <a:pathLst>
              <a:path w="3674745" h="2112645">
                <a:moveTo>
                  <a:pt x="152406" y="0"/>
                </a:moveTo>
                <a:lnTo>
                  <a:pt x="3522339" y="0"/>
                </a:lnTo>
                <a:cubicBezTo>
                  <a:pt x="3606510" y="0"/>
                  <a:pt x="3674745" y="68235"/>
                  <a:pt x="3674745" y="152406"/>
                </a:cubicBezTo>
                <a:lnTo>
                  <a:pt x="3674745" y="1960239"/>
                </a:lnTo>
                <a:cubicBezTo>
                  <a:pt x="3674745" y="2044410"/>
                  <a:pt x="3606510" y="2112645"/>
                  <a:pt x="3522339" y="2112645"/>
                </a:cubicBezTo>
                <a:lnTo>
                  <a:pt x="152406" y="2112645"/>
                </a:lnTo>
                <a:cubicBezTo>
                  <a:pt x="68235" y="2112645"/>
                  <a:pt x="0" y="2044410"/>
                  <a:pt x="0" y="1960239"/>
                </a:cubicBezTo>
                <a:lnTo>
                  <a:pt x="0" y="152406"/>
                </a:lnTo>
                <a:cubicBezTo>
                  <a:pt x="0" y="68291"/>
                  <a:pt x="68291" y="0"/>
                  <a:pt x="152406" y="0"/>
                </a:cubicBezTo>
                <a:close/>
              </a:path>
            </a:pathLst>
          </a:custGeom>
          <a:gradFill rotWithShape="1" flip="none">
            <a:gsLst>
              <a:gs pos="0">
                <a:srgbClr val="1E293B"/>
              </a:gs>
              <a:gs pos="100000">
                <a:srgbClr val="1E293B">
                  <a:alpha val="50000"/>
                </a:srgbClr>
              </a:gs>
            </a:gsLst>
            <a:lin ang="2700000" scaled="1"/>
          </a:gradFill>
          <a:ln w="10160">
            <a:solidFill>
              <a:srgbClr val="3B82F6">
                <a:alpha val="30196"/>
              </a:srgbClr>
            </a:solidFill>
            <a:prstDash val="solid"/>
          </a:ln>
        </p:spPr>
      </p:sp>
      <p:sp>
        <p:nvSpPr>
          <p:cNvPr id="22" name="Shape 20"/>
          <p:cNvSpPr/>
          <p:nvPr/>
        </p:nvSpPr>
        <p:spPr>
          <a:xfrm>
            <a:off x="617220" y="4596765"/>
            <a:ext cx="533400" cy="533400"/>
          </a:xfrm>
          <a:custGeom>
            <a:avLst/>
            <a:gdLst/>
            <a:ahLst/>
            <a:cxnLst/>
            <a:rect l="l" t="t" r="r" b="b"/>
            <a:pathLst>
              <a:path w="533400" h="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gradFill rotWithShape="1" flip="none">
            <a:gsLst>
              <a:gs pos="0">
                <a:srgbClr val="3B82F6"/>
              </a:gs>
              <a:gs pos="100000">
                <a:srgbClr val="3B82F6">
                  <a:alpha val="60000"/>
                </a:srgbClr>
              </a:gs>
            </a:gsLst>
            <a:lin ang="2700000" scaled="1"/>
          </a:gradFill>
          <a:ln/>
        </p:spPr>
      </p:sp>
      <p:sp>
        <p:nvSpPr>
          <p:cNvPr id="23" name="Text 21"/>
          <p:cNvSpPr/>
          <p:nvPr/>
        </p:nvSpPr>
        <p:spPr>
          <a:xfrm>
            <a:off x="560070" y="4596765"/>
            <a:ext cx="647700" cy="5334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MiSans" pitchFamily="34" charset="0"/>
                <a:ea typeface="MiSans" pitchFamily="34" charset="-122"/>
                <a:cs typeface="MiSans" pitchFamily="34" charset="-120"/>
              </a:rPr>
              <a:t>04</a:t>
            </a:r>
            <a:endParaRPr lang="en-US" sz="1600" dirty="0"/>
          </a:p>
        </p:txBody>
      </p:sp>
      <p:sp>
        <p:nvSpPr>
          <p:cNvPr id="24" name="Text 22"/>
          <p:cNvSpPr/>
          <p:nvPr/>
        </p:nvSpPr>
        <p:spPr>
          <a:xfrm>
            <a:off x="1303020" y="4672965"/>
            <a:ext cx="1762125" cy="266700"/>
          </a:xfrm>
          <a:prstGeom prst="rect">
            <a:avLst/>
          </a:prstGeom>
          <a:noFill/>
          <a:ln/>
        </p:spPr>
        <p:txBody>
          <a:bodyPr wrap="square" lIns="0" tIns="0" rIns="0" bIns="0" rtlCol="0" anchor="ctr"/>
          <a:lstStyle/>
          <a:p>
            <a:pPr>
              <a:lnSpc>
                <a:spcPct val="120000"/>
              </a:lnSpc>
            </a:pPr>
            <a:r>
              <a:rPr lang="en-US" sz="1500" b="1" dirty="0">
                <a:solidFill>
                  <a:srgbClr val="F8FAFC"/>
                </a:solidFill>
                <a:latin typeface="Liter" pitchFamily="34" charset="0"/>
                <a:ea typeface="Liter" pitchFamily="34" charset="-122"/>
                <a:cs typeface="Liter" pitchFamily="34" charset="-120"/>
              </a:rPr>
              <a:t>Prompt Engineering</a:t>
            </a:r>
            <a:endParaRPr lang="en-US" sz="1600" dirty="0"/>
          </a:p>
        </p:txBody>
      </p:sp>
      <p:sp>
        <p:nvSpPr>
          <p:cNvPr id="25" name="Text 23"/>
          <p:cNvSpPr/>
          <p:nvPr/>
        </p:nvSpPr>
        <p:spPr>
          <a:xfrm>
            <a:off x="617220" y="5282565"/>
            <a:ext cx="3286125" cy="247650"/>
          </a:xfrm>
          <a:prstGeom prst="rect">
            <a:avLst/>
          </a:prstGeom>
          <a:noFill/>
          <a:ln/>
        </p:spPr>
        <p:txBody>
          <a:bodyPr wrap="square" lIns="0" tIns="0" rIns="0" bIns="0" rtlCol="0" anchor="ctr"/>
          <a:lstStyle/>
          <a:p>
            <a:pPr>
              <a:lnSpc>
                <a:spcPct val="140000"/>
              </a:lnSpc>
            </a:pPr>
            <a:r>
              <a:rPr lang="en-US" sz="1200" dirty="0">
                <a:solidFill>
                  <a:srgbClr val="F8FAFC">
                    <a:alpha val="60000"/>
                  </a:srgbClr>
                </a:solidFill>
                <a:latin typeface="MiSans" pitchFamily="34" charset="0"/>
                <a:ea typeface="MiSans" pitchFamily="34" charset="-122"/>
                <a:cs typeface="MiSans" pitchFamily="34" charset="-120"/>
              </a:rPr>
              <a:t>Phương pháp tốt nhất để tương tác với AI</a:t>
            </a:r>
            <a:endParaRPr lang="en-US" sz="1600" dirty="0"/>
          </a:p>
        </p:txBody>
      </p:sp>
      <p:sp>
        <p:nvSpPr>
          <p:cNvPr id="26" name="Shape 24"/>
          <p:cNvSpPr/>
          <p:nvPr/>
        </p:nvSpPr>
        <p:spPr>
          <a:xfrm>
            <a:off x="4258270" y="4364355"/>
            <a:ext cx="3674745" cy="2112645"/>
          </a:xfrm>
          <a:custGeom>
            <a:avLst/>
            <a:gdLst/>
            <a:ahLst/>
            <a:cxnLst/>
            <a:rect l="l" t="t" r="r" b="b"/>
            <a:pathLst>
              <a:path w="3674745" h="2112645">
                <a:moveTo>
                  <a:pt x="152406" y="0"/>
                </a:moveTo>
                <a:lnTo>
                  <a:pt x="3522339" y="0"/>
                </a:lnTo>
                <a:cubicBezTo>
                  <a:pt x="3606510" y="0"/>
                  <a:pt x="3674745" y="68235"/>
                  <a:pt x="3674745" y="152406"/>
                </a:cubicBezTo>
                <a:lnTo>
                  <a:pt x="3674745" y="1960239"/>
                </a:lnTo>
                <a:cubicBezTo>
                  <a:pt x="3674745" y="2044410"/>
                  <a:pt x="3606510" y="2112645"/>
                  <a:pt x="3522339" y="2112645"/>
                </a:cubicBezTo>
                <a:lnTo>
                  <a:pt x="152406" y="2112645"/>
                </a:lnTo>
                <a:cubicBezTo>
                  <a:pt x="68235" y="2112645"/>
                  <a:pt x="0" y="2044410"/>
                  <a:pt x="0" y="1960239"/>
                </a:cubicBezTo>
                <a:lnTo>
                  <a:pt x="0" y="152406"/>
                </a:lnTo>
                <a:cubicBezTo>
                  <a:pt x="0" y="68291"/>
                  <a:pt x="68291" y="0"/>
                  <a:pt x="152406" y="0"/>
                </a:cubicBezTo>
                <a:close/>
              </a:path>
            </a:pathLst>
          </a:custGeom>
          <a:gradFill rotWithShape="1" flip="none">
            <a:gsLst>
              <a:gs pos="0">
                <a:srgbClr val="1E293B"/>
              </a:gs>
              <a:gs pos="100000">
                <a:srgbClr val="1E293B">
                  <a:alpha val="50000"/>
                </a:srgbClr>
              </a:gs>
            </a:gsLst>
            <a:lin ang="2700000" scaled="1"/>
          </a:gradFill>
          <a:ln w="10160">
            <a:solidFill>
              <a:srgbClr val="8B5CF6">
                <a:alpha val="30196"/>
              </a:srgbClr>
            </a:solidFill>
            <a:prstDash val="solid"/>
          </a:ln>
        </p:spPr>
      </p:sp>
      <p:sp>
        <p:nvSpPr>
          <p:cNvPr id="27" name="Shape 25"/>
          <p:cNvSpPr/>
          <p:nvPr/>
        </p:nvSpPr>
        <p:spPr>
          <a:xfrm>
            <a:off x="4490680" y="4596765"/>
            <a:ext cx="533400" cy="533400"/>
          </a:xfrm>
          <a:custGeom>
            <a:avLst/>
            <a:gdLst/>
            <a:ahLst/>
            <a:cxnLst/>
            <a:rect l="l" t="t" r="r" b="b"/>
            <a:pathLst>
              <a:path w="533400" h="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gradFill rotWithShape="1" flip="none">
            <a:gsLst>
              <a:gs pos="0">
                <a:srgbClr val="8B5CF6"/>
              </a:gs>
              <a:gs pos="100000">
                <a:srgbClr val="8B5CF6">
                  <a:alpha val="60000"/>
                </a:srgbClr>
              </a:gs>
            </a:gsLst>
            <a:lin ang="2700000" scaled="1"/>
          </a:gradFill>
          <a:ln/>
        </p:spPr>
      </p:sp>
      <p:sp>
        <p:nvSpPr>
          <p:cNvPr id="28" name="Text 26"/>
          <p:cNvSpPr/>
          <p:nvPr/>
        </p:nvSpPr>
        <p:spPr>
          <a:xfrm>
            <a:off x="4433530" y="4596765"/>
            <a:ext cx="647700" cy="5334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MiSans" pitchFamily="34" charset="0"/>
                <a:ea typeface="MiSans" pitchFamily="34" charset="-122"/>
                <a:cs typeface="MiSans" pitchFamily="34" charset="-120"/>
              </a:rPr>
              <a:t>05</a:t>
            </a:r>
            <a:endParaRPr lang="en-US" sz="1600" dirty="0"/>
          </a:p>
        </p:txBody>
      </p:sp>
      <p:sp>
        <p:nvSpPr>
          <p:cNvPr id="29" name="Text 27"/>
          <p:cNvSpPr/>
          <p:nvPr/>
        </p:nvSpPr>
        <p:spPr>
          <a:xfrm>
            <a:off x="5176481" y="4672965"/>
            <a:ext cx="1619250" cy="266700"/>
          </a:xfrm>
          <a:prstGeom prst="rect">
            <a:avLst/>
          </a:prstGeom>
          <a:noFill/>
          <a:ln/>
        </p:spPr>
        <p:txBody>
          <a:bodyPr wrap="square" lIns="0" tIns="0" rIns="0" bIns="0" rtlCol="0" anchor="ctr"/>
          <a:lstStyle/>
          <a:p>
            <a:pPr>
              <a:lnSpc>
                <a:spcPct val="120000"/>
              </a:lnSpc>
            </a:pPr>
            <a:r>
              <a:rPr lang="en-US" sz="1500" b="1" dirty="0">
                <a:solidFill>
                  <a:srgbClr val="F8FAFC"/>
                </a:solidFill>
                <a:latin typeface="Liter" pitchFamily="34" charset="0"/>
                <a:ea typeface="Liter" pitchFamily="34" charset="-122"/>
                <a:cs typeface="Liter" pitchFamily="34" charset="-120"/>
              </a:rPr>
              <a:t>Lab thực hành 2-5</a:t>
            </a:r>
            <a:endParaRPr lang="en-US" sz="1600" dirty="0"/>
          </a:p>
        </p:txBody>
      </p:sp>
      <p:sp>
        <p:nvSpPr>
          <p:cNvPr id="30" name="Text 28"/>
          <p:cNvSpPr/>
          <p:nvPr/>
        </p:nvSpPr>
        <p:spPr>
          <a:xfrm>
            <a:off x="4490680" y="5282565"/>
            <a:ext cx="3286125" cy="247650"/>
          </a:xfrm>
          <a:prstGeom prst="rect">
            <a:avLst/>
          </a:prstGeom>
          <a:noFill/>
          <a:ln/>
        </p:spPr>
        <p:txBody>
          <a:bodyPr wrap="square" lIns="0" tIns="0" rIns="0" bIns="0" rtlCol="0" anchor="ctr"/>
          <a:lstStyle/>
          <a:p>
            <a:pPr>
              <a:lnSpc>
                <a:spcPct val="140000"/>
              </a:lnSpc>
            </a:pPr>
            <a:r>
              <a:rPr lang="en-US" sz="1200" dirty="0">
                <a:solidFill>
                  <a:srgbClr val="F8FAFC">
                    <a:alpha val="60000"/>
                  </a:srgbClr>
                </a:solidFill>
                <a:latin typeface="MiSans" pitchFamily="34" charset="0"/>
                <a:ea typeface="MiSans" pitchFamily="34" charset="-122"/>
                <a:cs typeface="MiSans" pitchFamily="34" charset="-120"/>
              </a:rPr>
              <a:t>Các bài lab từ cơ bản đến nâng cao</a:t>
            </a:r>
            <a:endParaRPr lang="en-US" sz="1600" dirty="0"/>
          </a:p>
        </p:txBody>
      </p:sp>
      <p:sp>
        <p:nvSpPr>
          <p:cNvPr id="31" name="Shape 29"/>
          <p:cNvSpPr/>
          <p:nvPr/>
        </p:nvSpPr>
        <p:spPr>
          <a:xfrm>
            <a:off x="8131731" y="4364355"/>
            <a:ext cx="3674745" cy="2112645"/>
          </a:xfrm>
          <a:custGeom>
            <a:avLst/>
            <a:gdLst/>
            <a:ahLst/>
            <a:cxnLst/>
            <a:rect l="l" t="t" r="r" b="b"/>
            <a:pathLst>
              <a:path w="3674745" h="2112645">
                <a:moveTo>
                  <a:pt x="152406" y="0"/>
                </a:moveTo>
                <a:lnTo>
                  <a:pt x="3522339" y="0"/>
                </a:lnTo>
                <a:cubicBezTo>
                  <a:pt x="3606510" y="0"/>
                  <a:pt x="3674745" y="68235"/>
                  <a:pt x="3674745" y="152406"/>
                </a:cubicBezTo>
                <a:lnTo>
                  <a:pt x="3674745" y="1960239"/>
                </a:lnTo>
                <a:cubicBezTo>
                  <a:pt x="3674745" y="2044410"/>
                  <a:pt x="3606510" y="2112645"/>
                  <a:pt x="3522339" y="2112645"/>
                </a:cubicBezTo>
                <a:lnTo>
                  <a:pt x="152406" y="2112645"/>
                </a:lnTo>
                <a:cubicBezTo>
                  <a:pt x="68235" y="2112645"/>
                  <a:pt x="0" y="2044410"/>
                  <a:pt x="0" y="1960239"/>
                </a:cubicBezTo>
                <a:lnTo>
                  <a:pt x="0" y="152406"/>
                </a:lnTo>
                <a:cubicBezTo>
                  <a:pt x="0" y="68291"/>
                  <a:pt x="68291" y="0"/>
                  <a:pt x="152406" y="0"/>
                </a:cubicBezTo>
                <a:close/>
              </a:path>
            </a:pathLst>
          </a:custGeom>
          <a:gradFill rotWithShape="1" flip="none">
            <a:gsLst>
              <a:gs pos="0">
                <a:srgbClr val="1E293B"/>
              </a:gs>
              <a:gs pos="100000">
                <a:srgbClr val="1E293B">
                  <a:alpha val="50000"/>
                </a:srgbClr>
              </a:gs>
            </a:gsLst>
            <a:lin ang="2700000" scaled="1"/>
          </a:gradFill>
          <a:ln w="10160">
            <a:solidFill>
              <a:srgbClr val="10B981">
                <a:alpha val="30196"/>
              </a:srgbClr>
            </a:solidFill>
            <a:prstDash val="solid"/>
          </a:ln>
        </p:spPr>
      </p:sp>
      <p:sp>
        <p:nvSpPr>
          <p:cNvPr id="32" name="Shape 30"/>
          <p:cNvSpPr/>
          <p:nvPr/>
        </p:nvSpPr>
        <p:spPr>
          <a:xfrm>
            <a:off x="8364141" y="4596765"/>
            <a:ext cx="533400" cy="533400"/>
          </a:xfrm>
          <a:custGeom>
            <a:avLst/>
            <a:gdLst/>
            <a:ahLst/>
            <a:cxnLst/>
            <a:rect l="l" t="t" r="r" b="b"/>
            <a:pathLst>
              <a:path w="533400" h="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gradFill rotWithShape="1" flip="none">
            <a:gsLst>
              <a:gs pos="0">
                <a:srgbClr val="10B981"/>
              </a:gs>
              <a:gs pos="100000">
                <a:srgbClr val="10B981">
                  <a:alpha val="60000"/>
                </a:srgbClr>
              </a:gs>
            </a:gsLst>
            <a:lin ang="2700000" scaled="1"/>
          </a:gradFill>
          <a:ln/>
        </p:spPr>
      </p:sp>
      <p:sp>
        <p:nvSpPr>
          <p:cNvPr id="33" name="Text 31"/>
          <p:cNvSpPr/>
          <p:nvPr/>
        </p:nvSpPr>
        <p:spPr>
          <a:xfrm>
            <a:off x="8306991" y="4596765"/>
            <a:ext cx="647700" cy="5334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MiSans" pitchFamily="34" charset="0"/>
                <a:ea typeface="MiSans" pitchFamily="34" charset="-122"/>
                <a:cs typeface="MiSans" pitchFamily="34" charset="-120"/>
              </a:rPr>
              <a:t>06</a:t>
            </a:r>
            <a:endParaRPr lang="en-US" sz="1600" dirty="0"/>
          </a:p>
        </p:txBody>
      </p:sp>
      <p:sp>
        <p:nvSpPr>
          <p:cNvPr id="34" name="Text 32"/>
          <p:cNvSpPr/>
          <p:nvPr/>
        </p:nvSpPr>
        <p:spPr>
          <a:xfrm>
            <a:off x="9049941" y="4672965"/>
            <a:ext cx="771525" cy="266700"/>
          </a:xfrm>
          <a:prstGeom prst="rect">
            <a:avLst/>
          </a:prstGeom>
          <a:noFill/>
          <a:ln/>
        </p:spPr>
        <p:txBody>
          <a:bodyPr wrap="square" lIns="0" tIns="0" rIns="0" bIns="0" rtlCol="0" anchor="ctr"/>
          <a:lstStyle/>
          <a:p>
            <a:pPr>
              <a:lnSpc>
                <a:spcPct val="120000"/>
              </a:lnSpc>
            </a:pPr>
            <a:r>
              <a:rPr lang="en-US" sz="1500" b="1" dirty="0">
                <a:solidFill>
                  <a:srgbClr val="F8FAFC"/>
                </a:solidFill>
                <a:latin typeface="Liter" pitchFamily="34" charset="0"/>
                <a:ea typeface="Liter" pitchFamily="34" charset="-122"/>
                <a:cs typeface="Liter" pitchFamily="34" charset="-120"/>
              </a:rPr>
              <a:t>Kết luận</a:t>
            </a:r>
            <a:endParaRPr lang="en-US" sz="1600" dirty="0"/>
          </a:p>
        </p:txBody>
      </p:sp>
      <p:sp>
        <p:nvSpPr>
          <p:cNvPr id="35" name="Text 33"/>
          <p:cNvSpPr/>
          <p:nvPr/>
        </p:nvSpPr>
        <p:spPr>
          <a:xfrm>
            <a:off x="8364141" y="5282565"/>
            <a:ext cx="3286125" cy="247650"/>
          </a:xfrm>
          <a:prstGeom prst="rect">
            <a:avLst/>
          </a:prstGeom>
          <a:noFill/>
          <a:ln/>
        </p:spPr>
        <p:txBody>
          <a:bodyPr wrap="square" lIns="0" tIns="0" rIns="0" bIns="0" rtlCol="0" anchor="ctr"/>
          <a:lstStyle/>
          <a:p>
            <a:pPr>
              <a:lnSpc>
                <a:spcPct val="140000"/>
              </a:lnSpc>
            </a:pPr>
            <a:r>
              <a:rPr lang="en-US" sz="1200" dirty="0">
                <a:solidFill>
                  <a:srgbClr val="F8FAFC">
                    <a:alpha val="60000"/>
                  </a:srgbClr>
                </a:solidFill>
                <a:latin typeface="MiSans" pitchFamily="34" charset="0"/>
                <a:ea typeface="MiSans" pitchFamily="34" charset="-122"/>
                <a:cs typeface="MiSans" pitchFamily="34" charset="-120"/>
              </a:rPr>
              <a:t>Bài học và phương pháp luận</a:t>
            </a:r>
            <a:endParaRPr lang="en-US" sz="1600" dirty="0"/>
          </a:p>
        </p:txBody>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84810" y="384810"/>
            <a:ext cx="1141095" cy="312420"/>
          </a:xfrm>
          <a:custGeom>
            <a:avLst/>
            <a:gdLst/>
            <a:ahLst/>
            <a:cxnLst/>
            <a:rect l="l" t="t" r="r" b="b"/>
            <a:pathLst>
              <a:path w="1141095" h="312420">
                <a:moveTo>
                  <a:pt x="156210" y="0"/>
                </a:moveTo>
                <a:lnTo>
                  <a:pt x="984885" y="0"/>
                </a:lnTo>
                <a:cubicBezTo>
                  <a:pt x="1071100" y="0"/>
                  <a:pt x="1141095" y="69995"/>
                  <a:pt x="1141095" y="156210"/>
                </a:cubicBezTo>
                <a:lnTo>
                  <a:pt x="1141095" y="156210"/>
                </a:lnTo>
                <a:cubicBezTo>
                  <a:pt x="1141095" y="242425"/>
                  <a:pt x="1071100" y="312420"/>
                  <a:pt x="984885" y="312420"/>
                </a:cubicBezTo>
                <a:lnTo>
                  <a:pt x="156210" y="312420"/>
                </a:lnTo>
                <a:cubicBezTo>
                  <a:pt x="69938" y="312420"/>
                  <a:pt x="0" y="242482"/>
                  <a:pt x="0" y="156210"/>
                </a:cubicBezTo>
                <a:lnTo>
                  <a:pt x="0" y="156210"/>
                </a:lnTo>
                <a:cubicBezTo>
                  <a:pt x="0" y="69938"/>
                  <a:pt x="69938" y="0"/>
                  <a:pt x="156210" y="0"/>
                </a:cubicBezTo>
                <a:close/>
              </a:path>
            </a:pathLst>
          </a:custGeom>
          <a:solidFill>
            <a:srgbClr val="3B82F6">
              <a:alpha val="20000"/>
            </a:srgbClr>
          </a:solidFill>
          <a:ln w="10160">
            <a:solidFill>
              <a:srgbClr val="3B82F6">
                <a:alpha val="40000"/>
              </a:srgbClr>
            </a:solidFill>
            <a:prstDash val="solid"/>
          </a:ln>
        </p:spPr>
      </p:sp>
      <p:sp>
        <p:nvSpPr>
          <p:cNvPr id="3" name="Text 1"/>
          <p:cNvSpPr/>
          <p:nvPr/>
        </p:nvSpPr>
        <p:spPr>
          <a:xfrm>
            <a:off x="541020" y="434340"/>
            <a:ext cx="907613" cy="205740"/>
          </a:xfrm>
          <a:prstGeom prst="rect">
            <a:avLst/>
          </a:prstGeom>
          <a:noFill/>
          <a:ln/>
        </p:spPr>
        <p:txBody>
          <a:bodyPr wrap="square" lIns="0" tIns="0" rIns="0" bIns="0" rtlCol="0" anchor="ctr"/>
          <a:lstStyle/>
          <a:p>
            <a:pPr>
              <a:lnSpc>
                <a:spcPct val="130000"/>
              </a:lnSpc>
            </a:pPr>
            <a:r>
              <a:rPr lang="en-US" sz="1200" b="1" spc="60" kern="0" dirty="0">
                <a:solidFill>
                  <a:srgbClr val="3B82F6"/>
                </a:solidFill>
                <a:latin typeface="MiSans" pitchFamily="34" charset="0"/>
                <a:ea typeface="MiSans" pitchFamily="34" charset="-122"/>
                <a:cs typeface="MiSans" pitchFamily="34" charset="-120"/>
              </a:rPr>
              <a:t>CHƯƠNG 1</a:t>
            </a:r>
            <a:endParaRPr lang="en-US" sz="1600" dirty="0"/>
          </a:p>
        </p:txBody>
      </p:sp>
      <p:sp>
        <p:nvSpPr>
          <p:cNvPr id="4" name="Text 2"/>
          <p:cNvSpPr/>
          <p:nvPr/>
        </p:nvSpPr>
        <p:spPr>
          <a:xfrm>
            <a:off x="381000" y="815340"/>
            <a:ext cx="11601450" cy="381000"/>
          </a:xfrm>
          <a:prstGeom prst="rect">
            <a:avLst/>
          </a:prstGeom>
          <a:noFill/>
          <a:ln/>
        </p:spPr>
        <p:txBody>
          <a:bodyPr wrap="square" lIns="0" tIns="0" rIns="0" bIns="0" rtlCol="0" anchor="ctr"/>
          <a:lstStyle/>
          <a:p>
            <a:pPr>
              <a:lnSpc>
                <a:spcPct val="90000"/>
              </a:lnSpc>
            </a:pPr>
            <a:r>
              <a:rPr lang="en-US" sz="2700" b="1" dirty="0">
                <a:solidFill>
                  <a:srgbClr val="F8FAFC"/>
                </a:solidFill>
                <a:latin typeface="Liter" pitchFamily="34" charset="0"/>
                <a:ea typeface="Liter" pitchFamily="34" charset="-122"/>
                <a:cs typeface="Liter" pitchFamily="34" charset="-120"/>
              </a:rPr>
              <a:t>GenAI trong Chu kỳ Phát triển Phần mềm</a:t>
            </a:r>
            <a:endParaRPr lang="en-US" sz="1600" dirty="0"/>
          </a:p>
        </p:txBody>
      </p:sp>
      <p:sp>
        <p:nvSpPr>
          <p:cNvPr id="5" name="Text 3"/>
          <p:cNvSpPr/>
          <p:nvPr/>
        </p:nvSpPr>
        <p:spPr>
          <a:xfrm>
            <a:off x="381000" y="1272540"/>
            <a:ext cx="11525250" cy="266700"/>
          </a:xfrm>
          <a:prstGeom prst="rect">
            <a:avLst/>
          </a:prstGeom>
          <a:noFill/>
          <a:ln/>
        </p:spPr>
        <p:txBody>
          <a:bodyPr wrap="square" lIns="0" tIns="0" rIns="0" bIns="0" rtlCol="0" anchor="ctr"/>
          <a:lstStyle/>
          <a:p>
            <a:pPr>
              <a:lnSpc>
                <a:spcPct val="120000"/>
              </a:lnSpc>
            </a:pPr>
            <a:r>
              <a:rPr lang="en-US" sz="1500" dirty="0">
                <a:solidFill>
                  <a:srgbClr val="F8FAFC">
                    <a:alpha val="70000"/>
                  </a:srgbClr>
                </a:solidFill>
                <a:latin typeface="MiSans" pitchFamily="34" charset="0"/>
                <a:ea typeface="MiSans" pitchFamily="34" charset="-122"/>
                <a:cs typeface="MiSans" pitchFamily="34" charset="-120"/>
              </a:rPr>
              <a:t>Từ tự động hóa đến hỗ trợ xuyên suốt SDLC</a:t>
            </a:r>
            <a:endParaRPr lang="en-US" sz="1600" dirty="0"/>
          </a:p>
        </p:txBody>
      </p:sp>
      <p:sp>
        <p:nvSpPr>
          <p:cNvPr id="6" name="Shape 4"/>
          <p:cNvSpPr/>
          <p:nvPr/>
        </p:nvSpPr>
        <p:spPr>
          <a:xfrm>
            <a:off x="384810" y="1771650"/>
            <a:ext cx="6151245" cy="3684270"/>
          </a:xfrm>
          <a:custGeom>
            <a:avLst/>
            <a:gdLst/>
            <a:ahLst/>
            <a:cxnLst/>
            <a:rect l="l" t="t" r="r" b="b"/>
            <a:pathLst>
              <a:path w="6151245" h="3684270">
                <a:moveTo>
                  <a:pt x="152418" y="0"/>
                </a:moveTo>
                <a:lnTo>
                  <a:pt x="5998827" y="0"/>
                </a:lnTo>
                <a:cubicBezTo>
                  <a:pt x="6083005" y="0"/>
                  <a:pt x="6151245" y="68240"/>
                  <a:pt x="6151245" y="152418"/>
                </a:cubicBezTo>
                <a:lnTo>
                  <a:pt x="6151245" y="3531852"/>
                </a:lnTo>
                <a:cubicBezTo>
                  <a:pt x="6151245" y="3616030"/>
                  <a:pt x="6083005" y="3684270"/>
                  <a:pt x="5998827" y="3684270"/>
                </a:cubicBezTo>
                <a:lnTo>
                  <a:pt x="152418" y="3684270"/>
                </a:lnTo>
                <a:cubicBezTo>
                  <a:pt x="68240" y="3684270"/>
                  <a:pt x="0" y="3616030"/>
                  <a:pt x="0" y="3531852"/>
                </a:cubicBezTo>
                <a:lnTo>
                  <a:pt x="0" y="152418"/>
                </a:lnTo>
                <a:cubicBezTo>
                  <a:pt x="0" y="68296"/>
                  <a:pt x="68296" y="0"/>
                  <a:pt x="152418" y="0"/>
                </a:cubicBezTo>
                <a:close/>
              </a:path>
            </a:pathLst>
          </a:custGeom>
          <a:gradFill rotWithShape="1" flip="none">
            <a:gsLst>
              <a:gs pos="0">
                <a:srgbClr val="1E293B"/>
              </a:gs>
              <a:gs pos="100000">
                <a:srgbClr val="1E293B">
                  <a:alpha val="50000"/>
                </a:srgbClr>
              </a:gs>
            </a:gsLst>
            <a:lin ang="2700000" scaled="1"/>
          </a:gradFill>
          <a:ln w="10160">
            <a:solidFill>
              <a:srgbClr val="3B82F6">
                <a:alpha val="30196"/>
              </a:srgbClr>
            </a:solidFill>
            <a:prstDash val="solid"/>
          </a:ln>
        </p:spPr>
      </p:sp>
      <p:sp>
        <p:nvSpPr>
          <p:cNvPr id="7" name="Shape 5"/>
          <p:cNvSpPr/>
          <p:nvPr/>
        </p:nvSpPr>
        <p:spPr>
          <a:xfrm>
            <a:off x="636270" y="1985010"/>
            <a:ext cx="171450" cy="228600"/>
          </a:xfrm>
          <a:custGeom>
            <a:avLst/>
            <a:gdLst/>
            <a:ahLst/>
            <a:cxnLst/>
            <a:rect l="l" t="t" r="r" b="b"/>
            <a:pathLst>
              <a:path w="171450" h="228600">
                <a:moveTo>
                  <a:pt x="130775" y="171450"/>
                </a:moveTo>
                <a:cubicBezTo>
                  <a:pt x="134035" y="161493"/>
                  <a:pt x="140553" y="152474"/>
                  <a:pt x="147920" y="144706"/>
                </a:cubicBezTo>
                <a:cubicBezTo>
                  <a:pt x="162520" y="129347"/>
                  <a:pt x="171450" y="108585"/>
                  <a:pt x="171450" y="85725"/>
                </a:cubicBezTo>
                <a:cubicBezTo>
                  <a:pt x="171450" y="38398"/>
                  <a:pt x="133052" y="0"/>
                  <a:pt x="85725" y="0"/>
                </a:cubicBezTo>
                <a:cubicBezTo>
                  <a:pt x="38398" y="0"/>
                  <a:pt x="0" y="38398"/>
                  <a:pt x="0" y="85725"/>
                </a:cubicBezTo>
                <a:cubicBezTo>
                  <a:pt x="0" y="108585"/>
                  <a:pt x="8930" y="129347"/>
                  <a:pt x="23530" y="144706"/>
                </a:cubicBezTo>
                <a:cubicBezTo>
                  <a:pt x="30897" y="152474"/>
                  <a:pt x="37460" y="161493"/>
                  <a:pt x="40675" y="171450"/>
                </a:cubicBezTo>
                <a:lnTo>
                  <a:pt x="130731" y="171450"/>
                </a:lnTo>
                <a:close/>
                <a:moveTo>
                  <a:pt x="128588" y="192881"/>
                </a:moveTo>
                <a:lnTo>
                  <a:pt x="42863" y="192881"/>
                </a:lnTo>
                <a:lnTo>
                  <a:pt x="42863" y="200025"/>
                </a:lnTo>
                <a:cubicBezTo>
                  <a:pt x="42863" y="219760"/>
                  <a:pt x="58847" y="235744"/>
                  <a:pt x="78581" y="235744"/>
                </a:cubicBezTo>
                <a:lnTo>
                  <a:pt x="92869" y="235744"/>
                </a:lnTo>
                <a:cubicBezTo>
                  <a:pt x="112603" y="235744"/>
                  <a:pt x="128588" y="219760"/>
                  <a:pt x="128588" y="200025"/>
                </a:cubicBezTo>
                <a:lnTo>
                  <a:pt x="128588" y="192881"/>
                </a:lnTo>
                <a:close/>
                <a:moveTo>
                  <a:pt x="82153" y="50006"/>
                </a:moveTo>
                <a:cubicBezTo>
                  <a:pt x="64383" y="50006"/>
                  <a:pt x="50006" y="64383"/>
                  <a:pt x="50006" y="82153"/>
                </a:cubicBezTo>
                <a:cubicBezTo>
                  <a:pt x="50006" y="88091"/>
                  <a:pt x="45229" y="92869"/>
                  <a:pt x="39291" y="92869"/>
                </a:cubicBezTo>
                <a:cubicBezTo>
                  <a:pt x="33352" y="92869"/>
                  <a:pt x="28575" y="88091"/>
                  <a:pt x="28575" y="82153"/>
                </a:cubicBezTo>
                <a:cubicBezTo>
                  <a:pt x="28575" y="52551"/>
                  <a:pt x="52551" y="28575"/>
                  <a:pt x="82153" y="28575"/>
                </a:cubicBezTo>
                <a:cubicBezTo>
                  <a:pt x="88091" y="28575"/>
                  <a:pt x="92869" y="33352"/>
                  <a:pt x="92869" y="39291"/>
                </a:cubicBezTo>
                <a:cubicBezTo>
                  <a:pt x="92869" y="45229"/>
                  <a:pt x="88091" y="50006"/>
                  <a:pt x="82153" y="50006"/>
                </a:cubicBezTo>
                <a:close/>
              </a:path>
            </a:pathLst>
          </a:custGeom>
          <a:solidFill>
            <a:srgbClr val="3B82F6"/>
          </a:solidFill>
          <a:ln/>
        </p:spPr>
      </p:sp>
      <p:sp>
        <p:nvSpPr>
          <p:cNvPr id="8" name="Text 6"/>
          <p:cNvSpPr/>
          <p:nvPr/>
        </p:nvSpPr>
        <p:spPr>
          <a:xfrm>
            <a:off x="864870" y="1965960"/>
            <a:ext cx="5572125" cy="266700"/>
          </a:xfrm>
          <a:prstGeom prst="rect">
            <a:avLst/>
          </a:prstGeom>
          <a:noFill/>
          <a:ln/>
        </p:spPr>
        <p:txBody>
          <a:bodyPr wrap="square" lIns="0" tIns="0" rIns="0" bIns="0" rtlCol="0" anchor="ctr"/>
          <a:lstStyle/>
          <a:p>
            <a:pPr>
              <a:lnSpc>
                <a:spcPct val="120000"/>
              </a:lnSpc>
            </a:pPr>
            <a:r>
              <a:rPr lang="en-US" sz="1500" b="1" dirty="0">
                <a:solidFill>
                  <a:srgbClr val="3B82F6"/>
                </a:solidFill>
                <a:latin typeface="Liter" pitchFamily="34" charset="0"/>
                <a:ea typeface="Liter" pitchFamily="34" charset="-122"/>
                <a:cs typeface="Liter" pitchFamily="34" charset="-120"/>
              </a:rPr>
              <a:t>Phân tích theo ba mức</a:t>
            </a:r>
            <a:endParaRPr lang="en-US" sz="1600" dirty="0"/>
          </a:p>
        </p:txBody>
      </p:sp>
      <p:sp>
        <p:nvSpPr>
          <p:cNvPr id="9" name="Shape 7"/>
          <p:cNvSpPr/>
          <p:nvPr/>
        </p:nvSpPr>
        <p:spPr>
          <a:xfrm>
            <a:off x="579120" y="2385060"/>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gradFill rotWithShape="1" flip="none">
            <a:gsLst>
              <a:gs pos="0">
                <a:srgbClr val="3B82F6"/>
              </a:gs>
              <a:gs pos="100000">
                <a:srgbClr val="3B82F6">
                  <a:alpha val="60000"/>
                </a:srgbClr>
              </a:gs>
            </a:gsLst>
            <a:lin ang="2700000" scaled="1"/>
          </a:gradFill>
          <a:ln/>
        </p:spPr>
      </p:sp>
      <p:sp>
        <p:nvSpPr>
          <p:cNvPr id="10" name="Text 8"/>
          <p:cNvSpPr/>
          <p:nvPr/>
        </p:nvSpPr>
        <p:spPr>
          <a:xfrm>
            <a:off x="536257" y="2385060"/>
            <a:ext cx="542925" cy="457200"/>
          </a:xfrm>
          <a:prstGeom prst="rect">
            <a:avLst/>
          </a:prstGeom>
          <a:noFill/>
          <a:ln/>
        </p:spPr>
        <p:txBody>
          <a:bodyPr wrap="square" lIns="0" tIns="0" rIns="0" bIns="0" rtlCol="0" anchor="ctr"/>
          <a:lstStyle/>
          <a:p>
            <a:pPr algn="ctr">
              <a:lnSpc>
                <a:spcPct val="130000"/>
              </a:lnSpc>
            </a:pPr>
            <a:r>
              <a:rPr lang="en-US" sz="1350" b="1" dirty="0">
                <a:solidFill>
                  <a:srgbClr val="FFFFFF"/>
                </a:solidFill>
                <a:latin typeface="MiSans" pitchFamily="34" charset="0"/>
                <a:ea typeface="MiSans" pitchFamily="34" charset="-122"/>
                <a:cs typeface="MiSans" pitchFamily="34" charset="-120"/>
              </a:rPr>
              <a:t>Ý</a:t>
            </a:r>
            <a:endParaRPr lang="en-US" sz="1600" dirty="0"/>
          </a:p>
        </p:txBody>
      </p:sp>
      <p:sp>
        <p:nvSpPr>
          <p:cNvPr id="11" name="Text 9"/>
          <p:cNvSpPr/>
          <p:nvPr/>
        </p:nvSpPr>
        <p:spPr>
          <a:xfrm>
            <a:off x="1188720" y="2385060"/>
            <a:ext cx="5238750" cy="266700"/>
          </a:xfrm>
          <a:prstGeom prst="rect">
            <a:avLst/>
          </a:prstGeom>
          <a:noFill/>
          <a:ln/>
        </p:spPr>
        <p:txBody>
          <a:bodyPr wrap="square" lIns="0" tIns="0" rIns="0" bIns="0" rtlCol="0" anchor="ctr"/>
          <a:lstStyle/>
          <a:p>
            <a:pPr>
              <a:lnSpc>
                <a:spcPct val="130000"/>
              </a:lnSpc>
            </a:pPr>
            <a:r>
              <a:rPr lang="en-US" sz="1350" b="1" dirty="0">
                <a:solidFill>
                  <a:srgbClr val="F8FAFC"/>
                </a:solidFill>
                <a:latin typeface="MiSans" pitchFamily="34" charset="0"/>
                <a:ea typeface="MiSans" pitchFamily="34" charset="-122"/>
                <a:cs typeface="MiSans" pitchFamily="34" charset="-120"/>
              </a:rPr>
              <a:t>Mức Ý tưởng</a:t>
            </a:r>
            <a:endParaRPr lang="en-US" sz="1600" dirty="0"/>
          </a:p>
        </p:txBody>
      </p:sp>
      <p:sp>
        <p:nvSpPr>
          <p:cNvPr id="12" name="Text 10"/>
          <p:cNvSpPr/>
          <p:nvPr/>
        </p:nvSpPr>
        <p:spPr>
          <a:xfrm>
            <a:off x="1188720" y="2689860"/>
            <a:ext cx="5229225" cy="742950"/>
          </a:xfrm>
          <a:prstGeom prst="rect">
            <a:avLst/>
          </a:prstGeom>
          <a:noFill/>
          <a:ln/>
        </p:spPr>
        <p:txBody>
          <a:bodyPr wrap="square" lIns="0" tIns="0" rIns="0" bIns="0" rtlCol="0" anchor="ctr"/>
          <a:lstStyle/>
          <a:p>
            <a:pPr>
              <a:lnSpc>
                <a:spcPct val="140000"/>
              </a:lnSpc>
            </a:pPr>
            <a:r>
              <a:rPr lang="en-US" sz="1200" dirty="0">
                <a:solidFill>
                  <a:srgbClr val="F8FAFC">
                    <a:alpha val="70000"/>
                  </a:srgbClr>
                </a:solidFill>
                <a:latin typeface="MiSans" pitchFamily="34" charset="0"/>
                <a:ea typeface="MiSans" pitchFamily="34" charset="-122"/>
                <a:cs typeface="MiSans" pitchFamily="34" charset="-120"/>
              </a:rPr>
              <a:t>GenAI là </a:t>
            </a:r>
            <a:pPr>
              <a:lnSpc>
                <a:spcPct val="140000"/>
              </a:lnSpc>
            </a:pPr>
            <a:r>
              <a:rPr lang="en-US" sz="1200" b="1" dirty="0">
                <a:solidFill>
                  <a:srgbClr val="3B82F6"/>
                </a:solidFill>
                <a:highlight>
                  <a:srgbClr val="3B82F6">
                    <a:alpha val="20000"/>
                  </a:srgbClr>
                </a:highlight>
                <a:latin typeface="MiSans" pitchFamily="34" charset="0"/>
                <a:ea typeface="MiSans" pitchFamily="34" charset="-122"/>
                <a:cs typeface="MiSans" pitchFamily="34" charset="-120"/>
              </a:rPr>
              <a:t>bộ tăng cường năng suất </a:t>
            </a:r>
            <a:pPr>
              <a:lnSpc>
                <a:spcPct val="140000"/>
              </a:lnSpc>
            </a:pPr>
            <a:r>
              <a:rPr lang="en-US" sz="1200" dirty="0">
                <a:solidFill>
                  <a:srgbClr val="F8FAFC">
                    <a:alpha val="70000"/>
                  </a:srgbClr>
                </a:solidFill>
                <a:latin typeface="MiSans" pitchFamily="34" charset="0"/>
                <a:ea typeface="MiSans" pitchFamily="34" charset="-122"/>
                <a:cs typeface="MiSans" pitchFamily="34" charset="-120"/>
              </a:rPr>
              <a:t>cho lập trình viên, không phải sự thay thế hoàn toàn. Giá trị cốt lõi là rút ngắn thờigian xử lý tri thức và tăng tốc độ lặp lại công việc có cấu trúc.</a:t>
            </a:r>
            <a:endParaRPr lang="en-US" sz="1600" dirty="0"/>
          </a:p>
        </p:txBody>
      </p:sp>
      <p:sp>
        <p:nvSpPr>
          <p:cNvPr id="13" name="Shape 11"/>
          <p:cNvSpPr/>
          <p:nvPr/>
        </p:nvSpPr>
        <p:spPr>
          <a:xfrm>
            <a:off x="579120" y="3547110"/>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gradFill rotWithShape="1" flip="none">
            <a:gsLst>
              <a:gs pos="0">
                <a:srgbClr val="8B5CF6"/>
              </a:gs>
              <a:gs pos="100000">
                <a:srgbClr val="8B5CF6">
                  <a:alpha val="60000"/>
                </a:srgbClr>
              </a:gs>
            </a:gsLst>
            <a:lin ang="2700000" scaled="1"/>
          </a:gradFill>
          <a:ln/>
        </p:spPr>
      </p:sp>
      <p:sp>
        <p:nvSpPr>
          <p:cNvPr id="14" name="Text 12"/>
          <p:cNvSpPr/>
          <p:nvPr/>
        </p:nvSpPr>
        <p:spPr>
          <a:xfrm>
            <a:off x="536257" y="3547110"/>
            <a:ext cx="542925" cy="457200"/>
          </a:xfrm>
          <a:prstGeom prst="rect">
            <a:avLst/>
          </a:prstGeom>
          <a:noFill/>
          <a:ln/>
        </p:spPr>
        <p:txBody>
          <a:bodyPr wrap="square" lIns="0" tIns="0" rIns="0" bIns="0" rtlCol="0" anchor="ctr"/>
          <a:lstStyle/>
          <a:p>
            <a:pPr algn="ctr">
              <a:lnSpc>
                <a:spcPct val="130000"/>
              </a:lnSpc>
            </a:pPr>
            <a:r>
              <a:rPr lang="en-US" sz="1350" b="1" dirty="0">
                <a:solidFill>
                  <a:srgbClr val="FFFFFF"/>
                </a:solidFill>
                <a:latin typeface="MiSans" pitchFamily="34" charset="0"/>
                <a:ea typeface="MiSans" pitchFamily="34" charset="-122"/>
                <a:cs typeface="MiSans" pitchFamily="34" charset="-120"/>
              </a:rPr>
              <a:t>L</a:t>
            </a:r>
            <a:endParaRPr lang="en-US" sz="1600" dirty="0"/>
          </a:p>
        </p:txBody>
      </p:sp>
      <p:sp>
        <p:nvSpPr>
          <p:cNvPr id="15" name="Text 13"/>
          <p:cNvSpPr/>
          <p:nvPr/>
        </p:nvSpPr>
        <p:spPr>
          <a:xfrm>
            <a:off x="1188720" y="3547110"/>
            <a:ext cx="5238750" cy="266700"/>
          </a:xfrm>
          <a:prstGeom prst="rect">
            <a:avLst/>
          </a:prstGeom>
          <a:noFill/>
          <a:ln/>
        </p:spPr>
        <p:txBody>
          <a:bodyPr wrap="square" lIns="0" tIns="0" rIns="0" bIns="0" rtlCol="0" anchor="ctr"/>
          <a:lstStyle/>
          <a:p>
            <a:pPr>
              <a:lnSpc>
                <a:spcPct val="130000"/>
              </a:lnSpc>
            </a:pPr>
            <a:r>
              <a:rPr lang="en-US" sz="1350" b="1" dirty="0">
                <a:solidFill>
                  <a:srgbClr val="F8FAFC"/>
                </a:solidFill>
                <a:latin typeface="MiSans" pitchFamily="34" charset="0"/>
                <a:ea typeface="MiSans" pitchFamily="34" charset="-122"/>
                <a:cs typeface="MiSans" pitchFamily="34" charset="-120"/>
              </a:rPr>
              <a:t>Mức Luận lý</a:t>
            </a:r>
            <a:endParaRPr lang="en-US" sz="1600" dirty="0"/>
          </a:p>
        </p:txBody>
      </p:sp>
      <p:sp>
        <p:nvSpPr>
          <p:cNvPr id="16" name="Text 14"/>
          <p:cNvSpPr/>
          <p:nvPr/>
        </p:nvSpPr>
        <p:spPr>
          <a:xfrm>
            <a:off x="1188720" y="3851910"/>
            <a:ext cx="5229225" cy="495300"/>
          </a:xfrm>
          <a:prstGeom prst="rect">
            <a:avLst/>
          </a:prstGeom>
          <a:noFill/>
          <a:ln/>
        </p:spPr>
        <p:txBody>
          <a:bodyPr wrap="square" lIns="0" tIns="0" rIns="0" bIns="0" rtlCol="0" anchor="ctr"/>
          <a:lstStyle/>
          <a:p>
            <a:pPr>
              <a:lnSpc>
                <a:spcPct val="140000"/>
              </a:lnSpc>
            </a:pPr>
            <a:r>
              <a:rPr lang="en-US" sz="1200" dirty="0">
                <a:solidFill>
                  <a:srgbClr val="F8FAFC">
                    <a:alpha val="70000"/>
                  </a:srgbClr>
                </a:solidFill>
                <a:latin typeface="MiSans" pitchFamily="34" charset="0"/>
                <a:ea typeface="MiSans" pitchFamily="34" charset="-122"/>
                <a:cs typeface="MiSans" pitchFamily="34" charset="-120"/>
              </a:rPr>
              <a:t>GenAI tham gia quy trình theo </a:t>
            </a:r>
            <a:pPr>
              <a:lnSpc>
                <a:spcPct val="140000"/>
              </a:lnSpc>
            </a:pPr>
            <a:r>
              <a:rPr lang="en-US" sz="1200" b="1" dirty="0">
                <a:solidFill>
                  <a:srgbClr val="8B5CF6"/>
                </a:solidFill>
                <a:highlight>
                  <a:srgbClr val="8B5CF6">
                    <a:alpha val="20000"/>
                  </a:srgbClr>
                </a:highlight>
                <a:latin typeface="MiSans" pitchFamily="34" charset="0"/>
                <a:ea typeface="MiSans" pitchFamily="34" charset="-122"/>
                <a:cs typeface="MiSans" pitchFamily="34" charset="-120"/>
              </a:rPr>
              <a:t>vòng lặp yêu cầu → prompt → sinh kết quả → đánh giá → hiệu chỉnh</a:t>
            </a:r>
            <a:endParaRPr lang="en-US" sz="1600" dirty="0"/>
          </a:p>
        </p:txBody>
      </p:sp>
      <p:sp>
        <p:nvSpPr>
          <p:cNvPr id="17" name="Shape 15"/>
          <p:cNvSpPr/>
          <p:nvPr/>
        </p:nvSpPr>
        <p:spPr>
          <a:xfrm>
            <a:off x="579120" y="4461510"/>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gradFill rotWithShape="1" flip="none">
            <a:gsLst>
              <a:gs pos="0">
                <a:srgbClr val="10B981"/>
              </a:gs>
              <a:gs pos="100000">
                <a:srgbClr val="10B981">
                  <a:alpha val="60000"/>
                </a:srgbClr>
              </a:gs>
            </a:gsLst>
            <a:lin ang="2700000" scaled="1"/>
          </a:gradFill>
          <a:ln/>
        </p:spPr>
      </p:sp>
      <p:sp>
        <p:nvSpPr>
          <p:cNvPr id="18" name="Text 16"/>
          <p:cNvSpPr/>
          <p:nvPr/>
        </p:nvSpPr>
        <p:spPr>
          <a:xfrm>
            <a:off x="536257" y="4461510"/>
            <a:ext cx="542925" cy="457200"/>
          </a:xfrm>
          <a:prstGeom prst="rect">
            <a:avLst/>
          </a:prstGeom>
          <a:noFill/>
          <a:ln/>
        </p:spPr>
        <p:txBody>
          <a:bodyPr wrap="square" lIns="0" tIns="0" rIns="0" bIns="0" rtlCol="0" anchor="ctr"/>
          <a:lstStyle/>
          <a:p>
            <a:pPr algn="ctr">
              <a:lnSpc>
                <a:spcPct val="130000"/>
              </a:lnSpc>
            </a:pPr>
            <a:r>
              <a:rPr lang="en-US" sz="1350" b="1" dirty="0">
                <a:solidFill>
                  <a:srgbClr val="FFFFFF"/>
                </a:solidFill>
                <a:latin typeface="MiSans" pitchFamily="34" charset="0"/>
                <a:ea typeface="MiSans" pitchFamily="34" charset="-122"/>
                <a:cs typeface="MiSans" pitchFamily="34" charset="-120"/>
              </a:rPr>
              <a:t>V</a:t>
            </a:r>
            <a:endParaRPr lang="en-US" sz="1600" dirty="0"/>
          </a:p>
        </p:txBody>
      </p:sp>
      <p:sp>
        <p:nvSpPr>
          <p:cNvPr id="19" name="Text 17"/>
          <p:cNvSpPr/>
          <p:nvPr/>
        </p:nvSpPr>
        <p:spPr>
          <a:xfrm>
            <a:off x="1188720" y="4461510"/>
            <a:ext cx="5238750" cy="266700"/>
          </a:xfrm>
          <a:prstGeom prst="rect">
            <a:avLst/>
          </a:prstGeom>
          <a:noFill/>
          <a:ln/>
        </p:spPr>
        <p:txBody>
          <a:bodyPr wrap="square" lIns="0" tIns="0" rIns="0" bIns="0" rtlCol="0" anchor="ctr"/>
          <a:lstStyle/>
          <a:p>
            <a:pPr>
              <a:lnSpc>
                <a:spcPct val="130000"/>
              </a:lnSpc>
            </a:pPr>
            <a:r>
              <a:rPr lang="en-US" sz="1350" b="1" dirty="0">
                <a:solidFill>
                  <a:srgbClr val="F8FAFC"/>
                </a:solidFill>
                <a:latin typeface="MiSans" pitchFamily="34" charset="0"/>
                <a:ea typeface="MiSans" pitchFamily="34" charset="-122"/>
                <a:cs typeface="MiSans" pitchFamily="34" charset="-120"/>
              </a:rPr>
              <a:t>Mức Vật lý</a:t>
            </a:r>
            <a:endParaRPr lang="en-US" sz="1600" dirty="0"/>
          </a:p>
        </p:txBody>
      </p:sp>
      <p:sp>
        <p:nvSpPr>
          <p:cNvPr id="20" name="Text 18"/>
          <p:cNvSpPr/>
          <p:nvPr/>
        </p:nvSpPr>
        <p:spPr>
          <a:xfrm>
            <a:off x="1188720" y="4766311"/>
            <a:ext cx="5229225" cy="495300"/>
          </a:xfrm>
          <a:prstGeom prst="rect">
            <a:avLst/>
          </a:prstGeom>
          <a:noFill/>
          <a:ln/>
        </p:spPr>
        <p:txBody>
          <a:bodyPr wrap="square" lIns="0" tIns="0" rIns="0" bIns="0" rtlCol="0" anchor="ctr"/>
          <a:lstStyle/>
          <a:p>
            <a:pPr>
              <a:lnSpc>
                <a:spcPct val="140000"/>
              </a:lnSpc>
            </a:pPr>
            <a:r>
              <a:rPr lang="en-US" sz="1200" dirty="0">
                <a:solidFill>
                  <a:srgbClr val="F8FAFC">
                    <a:alpha val="70000"/>
                  </a:srgbClr>
                </a:solidFill>
                <a:latin typeface="MiSans" pitchFamily="34" charset="0"/>
                <a:ea typeface="MiSans" pitchFamily="34" charset="-122"/>
                <a:cs typeface="MiSans" pitchFamily="34" charset="-120"/>
              </a:rPr>
              <a:t>Sự tham gia được hiện thực bằng </a:t>
            </a:r>
            <a:pPr>
              <a:lnSpc>
                <a:spcPct val="140000"/>
              </a:lnSpc>
            </a:pPr>
            <a:r>
              <a:rPr lang="en-US" sz="1200" b="1" dirty="0">
                <a:solidFill>
                  <a:srgbClr val="10B981"/>
                </a:solidFill>
                <a:highlight>
                  <a:srgbClr val="10B981">
                    <a:alpha val="20000"/>
                  </a:srgbClr>
                </a:highlight>
                <a:latin typeface="MiSans" pitchFamily="34" charset="0"/>
                <a:ea typeface="MiSans" pitchFamily="34" charset="-122"/>
                <a:cs typeface="MiSans" pitchFamily="34" charset="-120"/>
              </a:rPr>
              <a:t>chat tool, API và plugin IDE </a:t>
            </a:r>
            <a:pPr>
              <a:lnSpc>
                <a:spcPct val="140000"/>
              </a:lnSpc>
            </a:pPr>
            <a:r>
              <a:rPr lang="en-US" sz="1200" dirty="0">
                <a:solidFill>
                  <a:srgbClr val="F8FAFC">
                    <a:alpha val="70000"/>
                  </a:srgbClr>
                </a:solidFill>
                <a:latin typeface="MiSans" pitchFamily="34" charset="0"/>
                <a:ea typeface="MiSans" pitchFamily="34" charset="-122"/>
                <a:cs typeface="MiSans" pitchFamily="34" charset="-120"/>
              </a:rPr>
              <a:t>như GitHub Copilot</a:t>
            </a:r>
            <a:endParaRPr lang="en-US" sz="1600" dirty="0"/>
          </a:p>
        </p:txBody>
      </p:sp>
      <p:sp>
        <p:nvSpPr>
          <p:cNvPr id="21" name="Shape 19"/>
          <p:cNvSpPr/>
          <p:nvPr/>
        </p:nvSpPr>
        <p:spPr>
          <a:xfrm>
            <a:off x="6774180" y="1771650"/>
            <a:ext cx="5036820" cy="4703445"/>
          </a:xfrm>
          <a:custGeom>
            <a:avLst/>
            <a:gdLst/>
            <a:ahLst/>
            <a:cxnLst/>
            <a:rect l="l" t="t" r="r" b="b"/>
            <a:pathLst>
              <a:path w="5036820" h="4703445">
                <a:moveTo>
                  <a:pt x="152392" y="0"/>
                </a:moveTo>
                <a:lnTo>
                  <a:pt x="4884428" y="0"/>
                </a:lnTo>
                <a:cubicBezTo>
                  <a:pt x="4968592" y="0"/>
                  <a:pt x="5036820" y="68228"/>
                  <a:pt x="5036820" y="152392"/>
                </a:cubicBezTo>
                <a:lnTo>
                  <a:pt x="5036820" y="4551053"/>
                </a:lnTo>
                <a:cubicBezTo>
                  <a:pt x="5036820" y="4635217"/>
                  <a:pt x="4968592" y="4703445"/>
                  <a:pt x="4884428" y="4703445"/>
                </a:cubicBezTo>
                <a:lnTo>
                  <a:pt x="152392" y="4703445"/>
                </a:lnTo>
                <a:cubicBezTo>
                  <a:pt x="68228" y="4703445"/>
                  <a:pt x="0" y="4635217"/>
                  <a:pt x="0" y="4551053"/>
                </a:cubicBezTo>
                <a:lnTo>
                  <a:pt x="0" y="152392"/>
                </a:lnTo>
                <a:cubicBezTo>
                  <a:pt x="0" y="68284"/>
                  <a:pt x="68284" y="0"/>
                  <a:pt x="152392" y="0"/>
                </a:cubicBezTo>
                <a:close/>
              </a:path>
            </a:pathLst>
          </a:custGeom>
          <a:gradFill rotWithShape="1" flip="none">
            <a:gsLst>
              <a:gs pos="0">
                <a:srgbClr val="1E293B"/>
              </a:gs>
              <a:gs pos="100000">
                <a:srgbClr val="1E293B">
                  <a:alpha val="50000"/>
                </a:srgbClr>
              </a:gs>
            </a:gsLst>
            <a:lin ang="2700000" scaled="1"/>
          </a:gradFill>
          <a:ln w="10160">
            <a:solidFill>
              <a:srgbClr val="8B5CF6">
                <a:alpha val="30196"/>
              </a:srgbClr>
            </a:solidFill>
            <a:prstDash val="solid"/>
          </a:ln>
        </p:spPr>
      </p:sp>
      <p:sp>
        <p:nvSpPr>
          <p:cNvPr id="22" name="Shape 20"/>
          <p:cNvSpPr/>
          <p:nvPr/>
        </p:nvSpPr>
        <p:spPr>
          <a:xfrm>
            <a:off x="7011353" y="1985010"/>
            <a:ext cx="200025" cy="228600"/>
          </a:xfrm>
          <a:custGeom>
            <a:avLst/>
            <a:gdLst/>
            <a:ahLst/>
            <a:cxnLst/>
            <a:rect l="l" t="t" r="r" b="b"/>
            <a:pathLst>
              <a:path w="200025" h="228600">
                <a:moveTo>
                  <a:pt x="35719" y="46434"/>
                </a:moveTo>
                <a:cubicBezTo>
                  <a:pt x="41633" y="46434"/>
                  <a:pt x="46434" y="41633"/>
                  <a:pt x="46434" y="35719"/>
                </a:cubicBezTo>
                <a:cubicBezTo>
                  <a:pt x="46434" y="29805"/>
                  <a:pt x="41633" y="25003"/>
                  <a:pt x="35719" y="25003"/>
                </a:cubicBezTo>
                <a:cubicBezTo>
                  <a:pt x="29805" y="25003"/>
                  <a:pt x="25003" y="29805"/>
                  <a:pt x="25003" y="35719"/>
                </a:cubicBezTo>
                <a:cubicBezTo>
                  <a:pt x="25003" y="41633"/>
                  <a:pt x="29805" y="46434"/>
                  <a:pt x="35719" y="46434"/>
                </a:cubicBezTo>
                <a:close/>
                <a:moveTo>
                  <a:pt x="71438" y="35719"/>
                </a:moveTo>
                <a:cubicBezTo>
                  <a:pt x="71438" y="50363"/>
                  <a:pt x="62642" y="62954"/>
                  <a:pt x="50006" y="68446"/>
                </a:cubicBezTo>
                <a:lnTo>
                  <a:pt x="50006" y="100013"/>
                </a:lnTo>
                <a:lnTo>
                  <a:pt x="128588" y="100013"/>
                </a:lnTo>
                <a:cubicBezTo>
                  <a:pt x="140419" y="100013"/>
                  <a:pt x="150019" y="90413"/>
                  <a:pt x="150019" y="78581"/>
                </a:cubicBezTo>
                <a:lnTo>
                  <a:pt x="150019" y="68446"/>
                </a:lnTo>
                <a:cubicBezTo>
                  <a:pt x="137383" y="62954"/>
                  <a:pt x="128588" y="50363"/>
                  <a:pt x="128588" y="35719"/>
                </a:cubicBezTo>
                <a:cubicBezTo>
                  <a:pt x="128588" y="15984"/>
                  <a:pt x="144572" y="0"/>
                  <a:pt x="164306" y="0"/>
                </a:cubicBezTo>
                <a:cubicBezTo>
                  <a:pt x="184041" y="0"/>
                  <a:pt x="200025" y="15984"/>
                  <a:pt x="200025" y="35719"/>
                </a:cubicBezTo>
                <a:cubicBezTo>
                  <a:pt x="200025" y="50363"/>
                  <a:pt x="191229" y="62954"/>
                  <a:pt x="178594" y="68446"/>
                </a:cubicBezTo>
                <a:lnTo>
                  <a:pt x="178594" y="78581"/>
                </a:lnTo>
                <a:cubicBezTo>
                  <a:pt x="178594" y="106219"/>
                  <a:pt x="156225" y="128588"/>
                  <a:pt x="128588" y="128588"/>
                </a:cubicBezTo>
                <a:lnTo>
                  <a:pt x="50006" y="128588"/>
                </a:lnTo>
                <a:lnTo>
                  <a:pt x="50006" y="160154"/>
                </a:lnTo>
                <a:cubicBezTo>
                  <a:pt x="62642" y="165646"/>
                  <a:pt x="71438" y="178237"/>
                  <a:pt x="71438" y="192881"/>
                </a:cubicBezTo>
                <a:cubicBezTo>
                  <a:pt x="71438" y="212616"/>
                  <a:pt x="55453" y="228600"/>
                  <a:pt x="35719" y="228600"/>
                </a:cubicBezTo>
                <a:cubicBezTo>
                  <a:pt x="15984" y="228600"/>
                  <a:pt x="0" y="212616"/>
                  <a:pt x="0" y="192881"/>
                </a:cubicBezTo>
                <a:cubicBezTo>
                  <a:pt x="0" y="178237"/>
                  <a:pt x="8796" y="165646"/>
                  <a:pt x="21431" y="160154"/>
                </a:cubicBezTo>
                <a:lnTo>
                  <a:pt x="21431" y="68491"/>
                </a:lnTo>
                <a:cubicBezTo>
                  <a:pt x="8796" y="62954"/>
                  <a:pt x="0" y="50363"/>
                  <a:pt x="0" y="35719"/>
                </a:cubicBezTo>
                <a:cubicBezTo>
                  <a:pt x="0" y="15984"/>
                  <a:pt x="15984" y="0"/>
                  <a:pt x="35719" y="0"/>
                </a:cubicBezTo>
                <a:cubicBezTo>
                  <a:pt x="55453" y="0"/>
                  <a:pt x="71438" y="15984"/>
                  <a:pt x="71438" y="35719"/>
                </a:cubicBezTo>
                <a:close/>
                <a:moveTo>
                  <a:pt x="175022" y="35719"/>
                </a:moveTo>
                <a:cubicBezTo>
                  <a:pt x="175022" y="29805"/>
                  <a:pt x="170220" y="25003"/>
                  <a:pt x="164306" y="25003"/>
                </a:cubicBezTo>
                <a:cubicBezTo>
                  <a:pt x="158392" y="25003"/>
                  <a:pt x="153591" y="29805"/>
                  <a:pt x="153591" y="35719"/>
                </a:cubicBezTo>
                <a:cubicBezTo>
                  <a:pt x="153591" y="41633"/>
                  <a:pt x="158392" y="46434"/>
                  <a:pt x="164306" y="46434"/>
                </a:cubicBezTo>
                <a:cubicBezTo>
                  <a:pt x="170220" y="46434"/>
                  <a:pt x="175022" y="41633"/>
                  <a:pt x="175022" y="35719"/>
                </a:cubicBezTo>
                <a:close/>
                <a:moveTo>
                  <a:pt x="35719" y="203597"/>
                </a:moveTo>
                <a:cubicBezTo>
                  <a:pt x="41633" y="203597"/>
                  <a:pt x="46434" y="198795"/>
                  <a:pt x="46434" y="192881"/>
                </a:cubicBezTo>
                <a:cubicBezTo>
                  <a:pt x="46434" y="186967"/>
                  <a:pt x="41633" y="182166"/>
                  <a:pt x="35719" y="182166"/>
                </a:cubicBezTo>
                <a:cubicBezTo>
                  <a:pt x="29805" y="182166"/>
                  <a:pt x="25003" y="186967"/>
                  <a:pt x="25003" y="192881"/>
                </a:cubicBezTo>
                <a:cubicBezTo>
                  <a:pt x="25003" y="198795"/>
                  <a:pt x="29805" y="203597"/>
                  <a:pt x="35719" y="203597"/>
                </a:cubicBezTo>
                <a:close/>
              </a:path>
            </a:pathLst>
          </a:custGeom>
          <a:solidFill>
            <a:srgbClr val="8B5CF6"/>
          </a:solidFill>
          <a:ln/>
        </p:spPr>
      </p:sp>
      <p:sp>
        <p:nvSpPr>
          <p:cNvPr id="23" name="Text 21"/>
          <p:cNvSpPr/>
          <p:nvPr/>
        </p:nvSpPr>
        <p:spPr>
          <a:xfrm>
            <a:off x="7254240" y="1965960"/>
            <a:ext cx="4457700" cy="266700"/>
          </a:xfrm>
          <a:prstGeom prst="rect">
            <a:avLst/>
          </a:prstGeom>
          <a:noFill/>
          <a:ln/>
        </p:spPr>
        <p:txBody>
          <a:bodyPr wrap="square" lIns="0" tIns="0" rIns="0" bIns="0" rtlCol="0" anchor="ctr"/>
          <a:lstStyle/>
          <a:p>
            <a:pPr>
              <a:lnSpc>
                <a:spcPct val="120000"/>
              </a:lnSpc>
            </a:pPr>
            <a:r>
              <a:rPr lang="en-US" sz="1500" b="1" dirty="0">
                <a:solidFill>
                  <a:srgbClr val="8B5CF6"/>
                </a:solidFill>
                <a:latin typeface="Liter" pitchFamily="34" charset="0"/>
                <a:ea typeface="Liter" pitchFamily="34" charset="-122"/>
                <a:cs typeface="Liter" pitchFamily="34" charset="-120"/>
              </a:rPr>
              <a:t>Giai đoạn SDLC</a:t>
            </a:r>
            <a:endParaRPr lang="en-US" sz="1600" dirty="0"/>
          </a:p>
        </p:txBody>
      </p:sp>
      <p:sp>
        <p:nvSpPr>
          <p:cNvPr id="24" name="Shape 22"/>
          <p:cNvSpPr/>
          <p:nvPr/>
        </p:nvSpPr>
        <p:spPr>
          <a:xfrm>
            <a:off x="6968490" y="2385060"/>
            <a:ext cx="4648200" cy="533400"/>
          </a:xfrm>
          <a:custGeom>
            <a:avLst/>
            <a:gdLst/>
            <a:ahLst/>
            <a:cxnLst/>
            <a:rect l="l" t="t" r="r" b="b"/>
            <a:pathLst>
              <a:path w="4648200" h="533400">
                <a:moveTo>
                  <a:pt x="76202" y="0"/>
                </a:moveTo>
                <a:lnTo>
                  <a:pt x="4571998" y="0"/>
                </a:lnTo>
                <a:cubicBezTo>
                  <a:pt x="4614083" y="0"/>
                  <a:pt x="4648200" y="34117"/>
                  <a:pt x="4648200" y="76202"/>
                </a:cubicBezTo>
                <a:lnTo>
                  <a:pt x="4648200" y="457198"/>
                </a:lnTo>
                <a:cubicBezTo>
                  <a:pt x="4648200" y="499283"/>
                  <a:pt x="4614083" y="533400"/>
                  <a:pt x="4571998" y="533400"/>
                </a:cubicBezTo>
                <a:lnTo>
                  <a:pt x="76202" y="533400"/>
                </a:lnTo>
                <a:cubicBezTo>
                  <a:pt x="34117" y="533400"/>
                  <a:pt x="0" y="499283"/>
                  <a:pt x="0" y="457198"/>
                </a:cubicBezTo>
                <a:lnTo>
                  <a:pt x="0" y="76202"/>
                </a:lnTo>
                <a:cubicBezTo>
                  <a:pt x="0" y="34145"/>
                  <a:pt x="34145" y="0"/>
                  <a:pt x="76202" y="0"/>
                </a:cubicBezTo>
                <a:close/>
              </a:path>
            </a:pathLst>
          </a:custGeom>
          <a:solidFill>
            <a:srgbClr val="0F172A">
              <a:alpha val="50196"/>
            </a:srgbClr>
          </a:solidFill>
          <a:ln/>
        </p:spPr>
      </p:sp>
      <p:sp>
        <p:nvSpPr>
          <p:cNvPr id="25" name="Shape 23"/>
          <p:cNvSpPr/>
          <p:nvPr/>
        </p:nvSpPr>
        <p:spPr>
          <a:xfrm>
            <a:off x="7082790" y="249936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3B82F6">
              <a:alpha val="20000"/>
            </a:srgbClr>
          </a:solidFill>
          <a:ln/>
        </p:spPr>
      </p:sp>
      <p:sp>
        <p:nvSpPr>
          <p:cNvPr id="26" name="Shape 24"/>
          <p:cNvSpPr/>
          <p:nvPr/>
        </p:nvSpPr>
        <p:spPr>
          <a:xfrm>
            <a:off x="7178040" y="2575560"/>
            <a:ext cx="114300" cy="152400"/>
          </a:xfrm>
          <a:custGeom>
            <a:avLst/>
            <a:gdLst/>
            <a:ahLst/>
            <a:cxnLst/>
            <a:rect l="l" t="t" r="r" b="b"/>
            <a:pathLst>
              <a:path w="114300" h="152400">
                <a:moveTo>
                  <a:pt x="92690" y="9525"/>
                </a:moveTo>
                <a:lnTo>
                  <a:pt x="95250" y="9525"/>
                </a:lnTo>
                <a:cubicBezTo>
                  <a:pt x="105757" y="9525"/>
                  <a:pt x="114300" y="18068"/>
                  <a:pt x="114300" y="28575"/>
                </a:cubicBezTo>
                <a:lnTo>
                  <a:pt x="114300" y="133350"/>
                </a:lnTo>
                <a:cubicBezTo>
                  <a:pt x="114300" y="143857"/>
                  <a:pt x="105757" y="152400"/>
                  <a:pt x="95250" y="152400"/>
                </a:cubicBezTo>
                <a:lnTo>
                  <a:pt x="19050" y="152400"/>
                </a:lnTo>
                <a:cubicBezTo>
                  <a:pt x="8543" y="152400"/>
                  <a:pt x="0" y="143857"/>
                  <a:pt x="0" y="133350"/>
                </a:cubicBezTo>
                <a:lnTo>
                  <a:pt x="0" y="28575"/>
                </a:lnTo>
                <a:cubicBezTo>
                  <a:pt x="0" y="18068"/>
                  <a:pt x="8543" y="9525"/>
                  <a:pt x="19050" y="9525"/>
                </a:cubicBezTo>
                <a:lnTo>
                  <a:pt x="21610" y="9525"/>
                </a:lnTo>
                <a:cubicBezTo>
                  <a:pt x="24884" y="3840"/>
                  <a:pt x="31046" y="0"/>
                  <a:pt x="38100" y="0"/>
                </a:cubicBezTo>
                <a:lnTo>
                  <a:pt x="76200" y="0"/>
                </a:lnTo>
                <a:cubicBezTo>
                  <a:pt x="83254" y="0"/>
                  <a:pt x="89416" y="3840"/>
                  <a:pt x="92690" y="9525"/>
                </a:cubicBezTo>
                <a:close/>
                <a:moveTo>
                  <a:pt x="73819" y="33338"/>
                </a:moveTo>
                <a:cubicBezTo>
                  <a:pt x="77778" y="33338"/>
                  <a:pt x="80962" y="30153"/>
                  <a:pt x="80962" y="26194"/>
                </a:cubicBezTo>
                <a:cubicBezTo>
                  <a:pt x="80962" y="22235"/>
                  <a:pt x="77778" y="19050"/>
                  <a:pt x="73819" y="19050"/>
                </a:cubicBezTo>
                <a:lnTo>
                  <a:pt x="40481" y="19050"/>
                </a:lnTo>
                <a:cubicBezTo>
                  <a:pt x="36522" y="19050"/>
                  <a:pt x="33338" y="22235"/>
                  <a:pt x="33338" y="26194"/>
                </a:cubicBezTo>
                <a:cubicBezTo>
                  <a:pt x="33338" y="30153"/>
                  <a:pt x="36522" y="33338"/>
                  <a:pt x="40481" y="33338"/>
                </a:cubicBezTo>
                <a:lnTo>
                  <a:pt x="73819" y="33338"/>
                </a:lnTo>
                <a:close/>
                <a:moveTo>
                  <a:pt x="38100" y="76200"/>
                </a:moveTo>
                <a:cubicBezTo>
                  <a:pt x="38100" y="70943"/>
                  <a:pt x="33832" y="66675"/>
                  <a:pt x="28575" y="66675"/>
                </a:cubicBezTo>
                <a:cubicBezTo>
                  <a:pt x="23318" y="66675"/>
                  <a:pt x="19050" y="70943"/>
                  <a:pt x="19050" y="76200"/>
                </a:cubicBezTo>
                <a:cubicBezTo>
                  <a:pt x="19050" y="81457"/>
                  <a:pt x="23318" y="85725"/>
                  <a:pt x="28575" y="85725"/>
                </a:cubicBezTo>
                <a:cubicBezTo>
                  <a:pt x="33832" y="85725"/>
                  <a:pt x="38100" y="81457"/>
                  <a:pt x="38100" y="76200"/>
                </a:cubicBezTo>
                <a:close/>
                <a:moveTo>
                  <a:pt x="47625" y="76200"/>
                </a:moveTo>
                <a:cubicBezTo>
                  <a:pt x="47625" y="80159"/>
                  <a:pt x="50810" y="83344"/>
                  <a:pt x="54769" y="83344"/>
                </a:cubicBezTo>
                <a:lnTo>
                  <a:pt x="88106" y="83344"/>
                </a:lnTo>
                <a:cubicBezTo>
                  <a:pt x="92065" y="83344"/>
                  <a:pt x="95250" y="80159"/>
                  <a:pt x="95250" y="76200"/>
                </a:cubicBezTo>
                <a:cubicBezTo>
                  <a:pt x="95250" y="72241"/>
                  <a:pt x="92065" y="69056"/>
                  <a:pt x="88106" y="69056"/>
                </a:cubicBezTo>
                <a:lnTo>
                  <a:pt x="54769" y="69056"/>
                </a:lnTo>
                <a:cubicBezTo>
                  <a:pt x="50810" y="69056"/>
                  <a:pt x="47625" y="72241"/>
                  <a:pt x="47625" y="76200"/>
                </a:cubicBezTo>
                <a:close/>
                <a:moveTo>
                  <a:pt x="47625" y="114300"/>
                </a:moveTo>
                <a:cubicBezTo>
                  <a:pt x="47625" y="118259"/>
                  <a:pt x="50810" y="121444"/>
                  <a:pt x="54769" y="121444"/>
                </a:cubicBezTo>
                <a:lnTo>
                  <a:pt x="88106" y="121444"/>
                </a:lnTo>
                <a:cubicBezTo>
                  <a:pt x="92065" y="121444"/>
                  <a:pt x="95250" y="118259"/>
                  <a:pt x="95250" y="114300"/>
                </a:cubicBezTo>
                <a:cubicBezTo>
                  <a:pt x="95250" y="110341"/>
                  <a:pt x="92065" y="107156"/>
                  <a:pt x="88106" y="107156"/>
                </a:cubicBezTo>
                <a:lnTo>
                  <a:pt x="54769" y="107156"/>
                </a:lnTo>
                <a:cubicBezTo>
                  <a:pt x="50810" y="107156"/>
                  <a:pt x="47625" y="110341"/>
                  <a:pt x="47625" y="114300"/>
                </a:cubicBezTo>
                <a:close/>
                <a:moveTo>
                  <a:pt x="28575" y="123825"/>
                </a:moveTo>
                <a:cubicBezTo>
                  <a:pt x="33832" y="123825"/>
                  <a:pt x="38100" y="119557"/>
                  <a:pt x="38100" y="114300"/>
                </a:cubicBezTo>
                <a:cubicBezTo>
                  <a:pt x="38100" y="109043"/>
                  <a:pt x="33832" y="104775"/>
                  <a:pt x="28575" y="104775"/>
                </a:cubicBezTo>
                <a:cubicBezTo>
                  <a:pt x="23318" y="104775"/>
                  <a:pt x="19050" y="109043"/>
                  <a:pt x="19050" y="114300"/>
                </a:cubicBezTo>
                <a:cubicBezTo>
                  <a:pt x="19050" y="119557"/>
                  <a:pt x="23318" y="123825"/>
                  <a:pt x="28575" y="123825"/>
                </a:cubicBezTo>
                <a:close/>
              </a:path>
            </a:pathLst>
          </a:custGeom>
          <a:solidFill>
            <a:srgbClr val="3B82F6"/>
          </a:solidFill>
          <a:ln/>
        </p:spPr>
      </p:sp>
      <p:sp>
        <p:nvSpPr>
          <p:cNvPr id="27" name="Text 25"/>
          <p:cNvSpPr/>
          <p:nvPr/>
        </p:nvSpPr>
        <p:spPr>
          <a:xfrm>
            <a:off x="7501890" y="2537460"/>
            <a:ext cx="1314450" cy="228600"/>
          </a:xfrm>
          <a:prstGeom prst="rect">
            <a:avLst/>
          </a:prstGeom>
          <a:noFill/>
          <a:ln/>
        </p:spPr>
        <p:txBody>
          <a:bodyPr wrap="square" lIns="0" tIns="0" rIns="0" bIns="0" rtlCol="0" anchor="ctr"/>
          <a:lstStyle/>
          <a:p>
            <a:pPr>
              <a:lnSpc>
                <a:spcPct val="130000"/>
              </a:lnSpc>
            </a:pPr>
            <a:r>
              <a:rPr lang="en-US" sz="1200" dirty="0">
                <a:solidFill>
                  <a:srgbClr val="F8FAFC"/>
                </a:solidFill>
                <a:latin typeface="MiSans" pitchFamily="34" charset="0"/>
                <a:ea typeface="MiSans" pitchFamily="34" charset="-122"/>
                <a:cs typeface="MiSans" pitchFamily="34" charset="-120"/>
              </a:rPr>
              <a:t>Phân tích yêu cầu</a:t>
            </a:r>
            <a:endParaRPr lang="en-US" sz="1600" dirty="0"/>
          </a:p>
        </p:txBody>
      </p:sp>
      <p:sp>
        <p:nvSpPr>
          <p:cNvPr id="28" name="Shape 26"/>
          <p:cNvSpPr/>
          <p:nvPr/>
        </p:nvSpPr>
        <p:spPr>
          <a:xfrm>
            <a:off x="6968490" y="3032760"/>
            <a:ext cx="4648200" cy="533400"/>
          </a:xfrm>
          <a:custGeom>
            <a:avLst/>
            <a:gdLst/>
            <a:ahLst/>
            <a:cxnLst/>
            <a:rect l="l" t="t" r="r" b="b"/>
            <a:pathLst>
              <a:path w="4648200" h="533400">
                <a:moveTo>
                  <a:pt x="76202" y="0"/>
                </a:moveTo>
                <a:lnTo>
                  <a:pt x="4571998" y="0"/>
                </a:lnTo>
                <a:cubicBezTo>
                  <a:pt x="4614083" y="0"/>
                  <a:pt x="4648200" y="34117"/>
                  <a:pt x="4648200" y="76202"/>
                </a:cubicBezTo>
                <a:lnTo>
                  <a:pt x="4648200" y="457198"/>
                </a:lnTo>
                <a:cubicBezTo>
                  <a:pt x="4648200" y="499283"/>
                  <a:pt x="4614083" y="533400"/>
                  <a:pt x="4571998" y="533400"/>
                </a:cubicBezTo>
                <a:lnTo>
                  <a:pt x="76202" y="533400"/>
                </a:lnTo>
                <a:cubicBezTo>
                  <a:pt x="34117" y="533400"/>
                  <a:pt x="0" y="499283"/>
                  <a:pt x="0" y="457198"/>
                </a:cubicBezTo>
                <a:lnTo>
                  <a:pt x="0" y="76202"/>
                </a:lnTo>
                <a:cubicBezTo>
                  <a:pt x="0" y="34145"/>
                  <a:pt x="34145" y="0"/>
                  <a:pt x="76202" y="0"/>
                </a:cubicBezTo>
                <a:close/>
              </a:path>
            </a:pathLst>
          </a:custGeom>
          <a:solidFill>
            <a:srgbClr val="0F172A">
              <a:alpha val="50196"/>
            </a:srgbClr>
          </a:solidFill>
          <a:ln/>
        </p:spPr>
      </p:sp>
      <p:sp>
        <p:nvSpPr>
          <p:cNvPr id="29" name="Shape 27"/>
          <p:cNvSpPr/>
          <p:nvPr/>
        </p:nvSpPr>
        <p:spPr>
          <a:xfrm>
            <a:off x="7082790" y="314706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8B5CF6">
              <a:alpha val="20000"/>
            </a:srgbClr>
          </a:solidFill>
          <a:ln/>
        </p:spPr>
      </p:sp>
      <p:sp>
        <p:nvSpPr>
          <p:cNvPr id="30" name="Shape 28"/>
          <p:cNvSpPr/>
          <p:nvPr/>
        </p:nvSpPr>
        <p:spPr>
          <a:xfrm>
            <a:off x="7158990" y="3223260"/>
            <a:ext cx="152400" cy="152400"/>
          </a:xfrm>
          <a:custGeom>
            <a:avLst/>
            <a:gdLst/>
            <a:ahLst/>
            <a:cxnLst/>
            <a:rect l="l" t="t" r="r" b="b"/>
            <a:pathLst>
              <a:path w="152400" h="152400">
                <a:moveTo>
                  <a:pt x="29557" y="76230"/>
                </a:moveTo>
                <a:lnTo>
                  <a:pt x="50215" y="40541"/>
                </a:lnTo>
                <a:cubicBezTo>
                  <a:pt x="48548" y="36909"/>
                  <a:pt x="47595" y="32861"/>
                  <a:pt x="47595" y="28575"/>
                </a:cubicBezTo>
                <a:cubicBezTo>
                  <a:pt x="47595" y="12799"/>
                  <a:pt x="60394" y="0"/>
                  <a:pt x="76170" y="0"/>
                </a:cubicBezTo>
                <a:cubicBezTo>
                  <a:pt x="91946" y="0"/>
                  <a:pt x="104745" y="12799"/>
                  <a:pt x="104745" y="28575"/>
                </a:cubicBezTo>
                <a:cubicBezTo>
                  <a:pt x="104745" y="32831"/>
                  <a:pt x="103822" y="36880"/>
                  <a:pt x="102126" y="40541"/>
                </a:cubicBezTo>
                <a:lnTo>
                  <a:pt x="115342" y="63371"/>
                </a:lnTo>
                <a:cubicBezTo>
                  <a:pt x="108466" y="71110"/>
                  <a:pt x="99358" y="76795"/>
                  <a:pt x="89029" y="79385"/>
                </a:cubicBezTo>
                <a:lnTo>
                  <a:pt x="76200" y="57120"/>
                </a:lnTo>
                <a:lnTo>
                  <a:pt x="55930" y="92125"/>
                </a:lnTo>
                <a:cubicBezTo>
                  <a:pt x="62329" y="94149"/>
                  <a:pt x="69116" y="95250"/>
                  <a:pt x="76200" y="95250"/>
                </a:cubicBezTo>
                <a:cubicBezTo>
                  <a:pt x="97244" y="95250"/>
                  <a:pt x="116026" y="85517"/>
                  <a:pt x="128260" y="70247"/>
                </a:cubicBezTo>
                <a:cubicBezTo>
                  <a:pt x="131564" y="66139"/>
                  <a:pt x="137547" y="65484"/>
                  <a:pt x="141655" y="68759"/>
                </a:cubicBezTo>
                <a:cubicBezTo>
                  <a:pt x="145762" y="72033"/>
                  <a:pt x="146417" y="78045"/>
                  <a:pt x="143143" y="82153"/>
                </a:cubicBezTo>
                <a:cubicBezTo>
                  <a:pt x="127456" y="101739"/>
                  <a:pt x="103287" y="114300"/>
                  <a:pt x="76230" y="114300"/>
                </a:cubicBezTo>
                <a:cubicBezTo>
                  <a:pt x="65693" y="114300"/>
                  <a:pt x="55572" y="112395"/>
                  <a:pt x="46256" y="108912"/>
                </a:cubicBezTo>
                <a:lnTo>
                  <a:pt x="29379" y="138023"/>
                </a:lnTo>
                <a:cubicBezTo>
                  <a:pt x="27980" y="140434"/>
                  <a:pt x="25896" y="142399"/>
                  <a:pt x="23396" y="143649"/>
                </a:cubicBezTo>
                <a:lnTo>
                  <a:pt x="6906" y="151894"/>
                </a:lnTo>
                <a:cubicBezTo>
                  <a:pt x="5417" y="152638"/>
                  <a:pt x="3661" y="152549"/>
                  <a:pt x="2262" y="151686"/>
                </a:cubicBezTo>
                <a:cubicBezTo>
                  <a:pt x="863" y="150822"/>
                  <a:pt x="0" y="149275"/>
                  <a:pt x="0" y="147638"/>
                </a:cubicBezTo>
                <a:lnTo>
                  <a:pt x="0" y="131147"/>
                </a:lnTo>
                <a:cubicBezTo>
                  <a:pt x="0" y="128647"/>
                  <a:pt x="655" y="126176"/>
                  <a:pt x="1935" y="123974"/>
                </a:cubicBezTo>
                <a:lnTo>
                  <a:pt x="19794" y="93107"/>
                </a:lnTo>
                <a:cubicBezTo>
                  <a:pt x="15984" y="89773"/>
                  <a:pt x="12472" y="86112"/>
                  <a:pt x="9287" y="82153"/>
                </a:cubicBezTo>
                <a:cubicBezTo>
                  <a:pt x="5983" y="78045"/>
                  <a:pt x="6668" y="72063"/>
                  <a:pt x="10775" y="68759"/>
                </a:cubicBezTo>
                <a:cubicBezTo>
                  <a:pt x="14883" y="65455"/>
                  <a:pt x="20866" y="66139"/>
                  <a:pt x="24170" y="70247"/>
                </a:cubicBezTo>
                <a:cubicBezTo>
                  <a:pt x="25866" y="72360"/>
                  <a:pt x="27682" y="74355"/>
                  <a:pt x="29587" y="76230"/>
                </a:cubicBezTo>
                <a:close/>
                <a:moveTo>
                  <a:pt x="113437" y="121414"/>
                </a:moveTo>
                <a:cubicBezTo>
                  <a:pt x="123111" y="117544"/>
                  <a:pt x="132011" y="112187"/>
                  <a:pt x="139898" y="105668"/>
                </a:cubicBezTo>
                <a:lnTo>
                  <a:pt x="150495" y="123974"/>
                </a:lnTo>
                <a:cubicBezTo>
                  <a:pt x="151745" y="126147"/>
                  <a:pt x="152430" y="128617"/>
                  <a:pt x="152430" y="131147"/>
                </a:cubicBezTo>
                <a:lnTo>
                  <a:pt x="152430" y="147638"/>
                </a:lnTo>
                <a:cubicBezTo>
                  <a:pt x="152430" y="149275"/>
                  <a:pt x="151567" y="150822"/>
                  <a:pt x="150168" y="151686"/>
                </a:cubicBezTo>
                <a:cubicBezTo>
                  <a:pt x="148769" y="152549"/>
                  <a:pt x="147012" y="152638"/>
                  <a:pt x="145524" y="151894"/>
                </a:cubicBezTo>
                <a:lnTo>
                  <a:pt x="129034" y="143649"/>
                </a:lnTo>
                <a:cubicBezTo>
                  <a:pt x="126534" y="142399"/>
                  <a:pt x="124450" y="140434"/>
                  <a:pt x="123051" y="138023"/>
                </a:cubicBezTo>
                <a:lnTo>
                  <a:pt x="113437" y="121414"/>
                </a:lnTo>
                <a:close/>
                <a:moveTo>
                  <a:pt x="76200" y="38100"/>
                </a:moveTo>
                <a:cubicBezTo>
                  <a:pt x="81457" y="38100"/>
                  <a:pt x="85725" y="33832"/>
                  <a:pt x="85725" y="28575"/>
                </a:cubicBezTo>
                <a:cubicBezTo>
                  <a:pt x="85725" y="23318"/>
                  <a:pt x="81457" y="19050"/>
                  <a:pt x="76200" y="19050"/>
                </a:cubicBezTo>
                <a:cubicBezTo>
                  <a:pt x="70943" y="19050"/>
                  <a:pt x="66675" y="23318"/>
                  <a:pt x="66675" y="28575"/>
                </a:cubicBezTo>
                <a:cubicBezTo>
                  <a:pt x="66675" y="33832"/>
                  <a:pt x="70943" y="38100"/>
                  <a:pt x="76200" y="38100"/>
                </a:cubicBezTo>
                <a:close/>
              </a:path>
            </a:pathLst>
          </a:custGeom>
          <a:solidFill>
            <a:srgbClr val="8B5CF6"/>
          </a:solidFill>
          <a:ln/>
        </p:spPr>
      </p:sp>
      <p:sp>
        <p:nvSpPr>
          <p:cNvPr id="31" name="Text 29"/>
          <p:cNvSpPr/>
          <p:nvPr/>
        </p:nvSpPr>
        <p:spPr>
          <a:xfrm>
            <a:off x="7501890" y="3185160"/>
            <a:ext cx="1285875" cy="228600"/>
          </a:xfrm>
          <a:prstGeom prst="rect">
            <a:avLst/>
          </a:prstGeom>
          <a:noFill/>
          <a:ln/>
        </p:spPr>
        <p:txBody>
          <a:bodyPr wrap="square" lIns="0" tIns="0" rIns="0" bIns="0" rtlCol="0" anchor="ctr"/>
          <a:lstStyle/>
          <a:p>
            <a:pPr>
              <a:lnSpc>
                <a:spcPct val="130000"/>
              </a:lnSpc>
            </a:pPr>
            <a:r>
              <a:rPr lang="en-US" sz="1200" dirty="0">
                <a:solidFill>
                  <a:srgbClr val="F8FAFC"/>
                </a:solidFill>
                <a:latin typeface="MiSans" pitchFamily="34" charset="0"/>
                <a:ea typeface="MiSans" pitchFamily="34" charset="-122"/>
                <a:cs typeface="MiSans" pitchFamily="34" charset="-120"/>
              </a:rPr>
              <a:t>Thiết kế kiến trúc</a:t>
            </a:r>
            <a:endParaRPr lang="en-US" sz="1600" dirty="0"/>
          </a:p>
        </p:txBody>
      </p:sp>
      <p:sp>
        <p:nvSpPr>
          <p:cNvPr id="32" name="Shape 30"/>
          <p:cNvSpPr/>
          <p:nvPr/>
        </p:nvSpPr>
        <p:spPr>
          <a:xfrm>
            <a:off x="6968490" y="3680460"/>
            <a:ext cx="4648200" cy="533400"/>
          </a:xfrm>
          <a:custGeom>
            <a:avLst/>
            <a:gdLst/>
            <a:ahLst/>
            <a:cxnLst/>
            <a:rect l="l" t="t" r="r" b="b"/>
            <a:pathLst>
              <a:path w="4648200" h="533400">
                <a:moveTo>
                  <a:pt x="76202" y="0"/>
                </a:moveTo>
                <a:lnTo>
                  <a:pt x="4571998" y="0"/>
                </a:lnTo>
                <a:cubicBezTo>
                  <a:pt x="4614083" y="0"/>
                  <a:pt x="4648200" y="34117"/>
                  <a:pt x="4648200" y="76202"/>
                </a:cubicBezTo>
                <a:lnTo>
                  <a:pt x="4648200" y="457198"/>
                </a:lnTo>
                <a:cubicBezTo>
                  <a:pt x="4648200" y="499283"/>
                  <a:pt x="4614083" y="533400"/>
                  <a:pt x="4571998" y="533400"/>
                </a:cubicBezTo>
                <a:lnTo>
                  <a:pt x="76202" y="533400"/>
                </a:lnTo>
                <a:cubicBezTo>
                  <a:pt x="34117" y="533400"/>
                  <a:pt x="0" y="499283"/>
                  <a:pt x="0" y="457198"/>
                </a:cubicBezTo>
                <a:lnTo>
                  <a:pt x="0" y="76202"/>
                </a:lnTo>
                <a:cubicBezTo>
                  <a:pt x="0" y="34145"/>
                  <a:pt x="34145" y="0"/>
                  <a:pt x="76202" y="0"/>
                </a:cubicBezTo>
                <a:close/>
              </a:path>
            </a:pathLst>
          </a:custGeom>
          <a:solidFill>
            <a:srgbClr val="0F172A">
              <a:alpha val="50196"/>
            </a:srgbClr>
          </a:solidFill>
          <a:ln/>
        </p:spPr>
      </p:sp>
      <p:sp>
        <p:nvSpPr>
          <p:cNvPr id="33" name="Shape 31"/>
          <p:cNvSpPr/>
          <p:nvPr/>
        </p:nvSpPr>
        <p:spPr>
          <a:xfrm>
            <a:off x="7082790" y="379476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10B981">
              <a:alpha val="20000"/>
            </a:srgbClr>
          </a:solidFill>
          <a:ln/>
        </p:spPr>
      </p:sp>
      <p:sp>
        <p:nvSpPr>
          <p:cNvPr id="34" name="Shape 32"/>
          <p:cNvSpPr/>
          <p:nvPr/>
        </p:nvSpPr>
        <p:spPr>
          <a:xfrm>
            <a:off x="7139940" y="3870960"/>
            <a:ext cx="190500" cy="152400"/>
          </a:xfrm>
          <a:custGeom>
            <a:avLst/>
            <a:gdLst/>
            <a:ahLst/>
            <a:cxnLst/>
            <a:rect l="l" t="t" r="r" b="b"/>
            <a:pathLst>
              <a:path w="190500" h="152400">
                <a:moveTo>
                  <a:pt x="19050" y="28575"/>
                </a:moveTo>
                <a:cubicBezTo>
                  <a:pt x="19050" y="18068"/>
                  <a:pt x="27593" y="9525"/>
                  <a:pt x="38100" y="9525"/>
                </a:cubicBezTo>
                <a:lnTo>
                  <a:pt x="152400" y="9525"/>
                </a:lnTo>
                <a:cubicBezTo>
                  <a:pt x="162907" y="9525"/>
                  <a:pt x="171450" y="18068"/>
                  <a:pt x="171450" y="28575"/>
                </a:cubicBezTo>
                <a:lnTo>
                  <a:pt x="171450" y="100013"/>
                </a:lnTo>
                <a:lnTo>
                  <a:pt x="152400" y="100013"/>
                </a:lnTo>
                <a:lnTo>
                  <a:pt x="152400" y="28575"/>
                </a:lnTo>
                <a:lnTo>
                  <a:pt x="38100" y="28575"/>
                </a:lnTo>
                <a:lnTo>
                  <a:pt x="38100" y="100013"/>
                </a:lnTo>
                <a:lnTo>
                  <a:pt x="19050" y="100013"/>
                </a:lnTo>
                <a:lnTo>
                  <a:pt x="19050" y="28575"/>
                </a:lnTo>
                <a:close/>
                <a:moveTo>
                  <a:pt x="0" y="120015"/>
                </a:moveTo>
                <a:cubicBezTo>
                  <a:pt x="0" y="116860"/>
                  <a:pt x="2560" y="114300"/>
                  <a:pt x="5715" y="114300"/>
                </a:cubicBezTo>
                <a:lnTo>
                  <a:pt x="184785" y="114300"/>
                </a:lnTo>
                <a:cubicBezTo>
                  <a:pt x="187940" y="114300"/>
                  <a:pt x="190500" y="116860"/>
                  <a:pt x="190500" y="120015"/>
                </a:cubicBezTo>
                <a:cubicBezTo>
                  <a:pt x="190500" y="132636"/>
                  <a:pt x="180261" y="142875"/>
                  <a:pt x="167640" y="142875"/>
                </a:cubicBezTo>
                <a:lnTo>
                  <a:pt x="22860" y="142875"/>
                </a:lnTo>
                <a:cubicBezTo>
                  <a:pt x="10239" y="142875"/>
                  <a:pt x="0" y="132636"/>
                  <a:pt x="0" y="120015"/>
                </a:cubicBezTo>
                <a:close/>
                <a:moveTo>
                  <a:pt x="83641" y="62210"/>
                </a:moveTo>
                <a:lnTo>
                  <a:pt x="74414" y="71438"/>
                </a:lnTo>
                <a:lnTo>
                  <a:pt x="83641" y="80665"/>
                </a:lnTo>
                <a:cubicBezTo>
                  <a:pt x="86439" y="83463"/>
                  <a:pt x="86439" y="87987"/>
                  <a:pt x="83641" y="90755"/>
                </a:cubicBezTo>
                <a:cubicBezTo>
                  <a:pt x="80843" y="93524"/>
                  <a:pt x="76319" y="93553"/>
                  <a:pt x="73551" y="90755"/>
                </a:cubicBezTo>
                <a:lnTo>
                  <a:pt x="59263" y="76468"/>
                </a:lnTo>
                <a:cubicBezTo>
                  <a:pt x="56465" y="73670"/>
                  <a:pt x="56465" y="69146"/>
                  <a:pt x="59263" y="66377"/>
                </a:cubicBezTo>
                <a:lnTo>
                  <a:pt x="73551" y="52090"/>
                </a:lnTo>
                <a:cubicBezTo>
                  <a:pt x="76349" y="49292"/>
                  <a:pt x="80873" y="49292"/>
                  <a:pt x="83641" y="52090"/>
                </a:cubicBezTo>
                <a:cubicBezTo>
                  <a:pt x="86410" y="54888"/>
                  <a:pt x="86439" y="59412"/>
                  <a:pt x="83641" y="62180"/>
                </a:cubicBezTo>
                <a:close/>
                <a:moveTo>
                  <a:pt x="116979" y="52090"/>
                </a:moveTo>
                <a:lnTo>
                  <a:pt x="131266" y="66377"/>
                </a:lnTo>
                <a:cubicBezTo>
                  <a:pt x="134064" y="69175"/>
                  <a:pt x="134064" y="73700"/>
                  <a:pt x="131266" y="76468"/>
                </a:cubicBezTo>
                <a:lnTo>
                  <a:pt x="116979" y="90755"/>
                </a:lnTo>
                <a:cubicBezTo>
                  <a:pt x="114181" y="93553"/>
                  <a:pt x="109657" y="93553"/>
                  <a:pt x="106888" y="90755"/>
                </a:cubicBezTo>
                <a:cubicBezTo>
                  <a:pt x="104120" y="87957"/>
                  <a:pt x="104090" y="83433"/>
                  <a:pt x="106888" y="80665"/>
                </a:cubicBezTo>
                <a:lnTo>
                  <a:pt x="116116" y="71438"/>
                </a:lnTo>
                <a:lnTo>
                  <a:pt x="106888" y="62210"/>
                </a:lnTo>
                <a:cubicBezTo>
                  <a:pt x="104090" y="59412"/>
                  <a:pt x="104090" y="54888"/>
                  <a:pt x="106888" y="52120"/>
                </a:cubicBezTo>
                <a:cubicBezTo>
                  <a:pt x="109686" y="49351"/>
                  <a:pt x="114211" y="49322"/>
                  <a:pt x="116979" y="52120"/>
                </a:cubicBezTo>
                <a:close/>
              </a:path>
            </a:pathLst>
          </a:custGeom>
          <a:solidFill>
            <a:srgbClr val="10B981"/>
          </a:solidFill>
          <a:ln/>
        </p:spPr>
      </p:sp>
      <p:sp>
        <p:nvSpPr>
          <p:cNvPr id="35" name="Text 33"/>
          <p:cNvSpPr/>
          <p:nvPr/>
        </p:nvSpPr>
        <p:spPr>
          <a:xfrm>
            <a:off x="7501890" y="3832860"/>
            <a:ext cx="1762125" cy="228600"/>
          </a:xfrm>
          <a:prstGeom prst="rect">
            <a:avLst/>
          </a:prstGeom>
          <a:noFill/>
          <a:ln/>
        </p:spPr>
        <p:txBody>
          <a:bodyPr wrap="square" lIns="0" tIns="0" rIns="0" bIns="0" rtlCol="0" anchor="ctr"/>
          <a:lstStyle/>
          <a:p>
            <a:pPr>
              <a:lnSpc>
                <a:spcPct val="130000"/>
              </a:lnSpc>
            </a:pPr>
            <a:r>
              <a:rPr lang="en-US" sz="1200" dirty="0">
                <a:solidFill>
                  <a:srgbClr val="F8FAFC"/>
                </a:solidFill>
                <a:latin typeface="MiSans" pitchFamily="34" charset="0"/>
                <a:ea typeface="MiSans" pitchFamily="34" charset="-122"/>
                <a:cs typeface="MiSans" pitchFamily="34" charset="-120"/>
              </a:rPr>
              <a:t>Lập trình &amp; Code review</a:t>
            </a:r>
            <a:endParaRPr lang="en-US" sz="1600" dirty="0"/>
          </a:p>
        </p:txBody>
      </p:sp>
      <p:sp>
        <p:nvSpPr>
          <p:cNvPr id="36" name="Shape 34"/>
          <p:cNvSpPr/>
          <p:nvPr/>
        </p:nvSpPr>
        <p:spPr>
          <a:xfrm>
            <a:off x="6968490" y="4328160"/>
            <a:ext cx="4648200" cy="533400"/>
          </a:xfrm>
          <a:custGeom>
            <a:avLst/>
            <a:gdLst/>
            <a:ahLst/>
            <a:cxnLst/>
            <a:rect l="l" t="t" r="r" b="b"/>
            <a:pathLst>
              <a:path w="4648200" h="533400">
                <a:moveTo>
                  <a:pt x="76202" y="0"/>
                </a:moveTo>
                <a:lnTo>
                  <a:pt x="4571998" y="0"/>
                </a:lnTo>
                <a:cubicBezTo>
                  <a:pt x="4614083" y="0"/>
                  <a:pt x="4648200" y="34117"/>
                  <a:pt x="4648200" y="76202"/>
                </a:cubicBezTo>
                <a:lnTo>
                  <a:pt x="4648200" y="457198"/>
                </a:lnTo>
                <a:cubicBezTo>
                  <a:pt x="4648200" y="499283"/>
                  <a:pt x="4614083" y="533400"/>
                  <a:pt x="4571998" y="533400"/>
                </a:cubicBezTo>
                <a:lnTo>
                  <a:pt x="76202" y="533400"/>
                </a:lnTo>
                <a:cubicBezTo>
                  <a:pt x="34117" y="533400"/>
                  <a:pt x="0" y="499283"/>
                  <a:pt x="0" y="457198"/>
                </a:cubicBezTo>
                <a:lnTo>
                  <a:pt x="0" y="76202"/>
                </a:lnTo>
                <a:cubicBezTo>
                  <a:pt x="0" y="34145"/>
                  <a:pt x="34145" y="0"/>
                  <a:pt x="76202" y="0"/>
                </a:cubicBezTo>
                <a:close/>
              </a:path>
            </a:pathLst>
          </a:custGeom>
          <a:solidFill>
            <a:srgbClr val="0F172A">
              <a:alpha val="50196"/>
            </a:srgbClr>
          </a:solidFill>
          <a:ln/>
        </p:spPr>
      </p:sp>
      <p:sp>
        <p:nvSpPr>
          <p:cNvPr id="37" name="Shape 35"/>
          <p:cNvSpPr/>
          <p:nvPr/>
        </p:nvSpPr>
        <p:spPr>
          <a:xfrm>
            <a:off x="7082790" y="444246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3B82F6">
              <a:alpha val="20000"/>
            </a:srgbClr>
          </a:solidFill>
          <a:ln/>
        </p:spPr>
      </p:sp>
      <p:sp>
        <p:nvSpPr>
          <p:cNvPr id="38" name="Shape 36"/>
          <p:cNvSpPr/>
          <p:nvPr/>
        </p:nvSpPr>
        <p:spPr>
          <a:xfrm>
            <a:off x="7158990" y="4518660"/>
            <a:ext cx="152400" cy="152400"/>
          </a:xfrm>
          <a:custGeom>
            <a:avLst/>
            <a:gdLst/>
            <a:ahLst/>
            <a:cxnLst/>
            <a:rect l="l" t="t" r="r" b="b"/>
            <a:pathLst>
              <a:path w="152400" h="152400">
                <a:moveTo>
                  <a:pt x="101977" y="2798"/>
                </a:moveTo>
                <a:cubicBezTo>
                  <a:pt x="98256" y="-923"/>
                  <a:pt x="92214" y="-923"/>
                  <a:pt x="88493" y="2798"/>
                </a:cubicBezTo>
                <a:cubicBezTo>
                  <a:pt x="84773" y="6519"/>
                  <a:pt x="84773" y="12561"/>
                  <a:pt x="88493" y="16282"/>
                </a:cubicBezTo>
                <a:lnTo>
                  <a:pt x="91291" y="19050"/>
                </a:lnTo>
                <a:lnTo>
                  <a:pt x="8364" y="101977"/>
                </a:lnTo>
                <a:cubicBezTo>
                  <a:pt x="3006" y="107335"/>
                  <a:pt x="0" y="114598"/>
                  <a:pt x="0" y="122188"/>
                </a:cubicBezTo>
                <a:lnTo>
                  <a:pt x="0" y="123825"/>
                </a:lnTo>
                <a:cubicBezTo>
                  <a:pt x="0" y="139601"/>
                  <a:pt x="12799" y="152400"/>
                  <a:pt x="28575" y="152400"/>
                </a:cubicBezTo>
                <a:lnTo>
                  <a:pt x="30212" y="152400"/>
                </a:lnTo>
                <a:cubicBezTo>
                  <a:pt x="37802" y="152400"/>
                  <a:pt x="45065" y="149394"/>
                  <a:pt x="50423" y="144036"/>
                </a:cubicBezTo>
                <a:lnTo>
                  <a:pt x="133350" y="61109"/>
                </a:lnTo>
                <a:lnTo>
                  <a:pt x="136148" y="63907"/>
                </a:lnTo>
                <a:cubicBezTo>
                  <a:pt x="139869" y="67627"/>
                  <a:pt x="145911" y="67627"/>
                  <a:pt x="149632" y="63907"/>
                </a:cubicBezTo>
                <a:cubicBezTo>
                  <a:pt x="153353" y="60186"/>
                  <a:pt x="153353" y="54144"/>
                  <a:pt x="149632" y="50423"/>
                </a:cubicBezTo>
                <a:lnTo>
                  <a:pt x="102007" y="2798"/>
                </a:lnTo>
                <a:close/>
                <a:moveTo>
                  <a:pt x="61109" y="76200"/>
                </a:moveTo>
                <a:lnTo>
                  <a:pt x="104775" y="32534"/>
                </a:lnTo>
                <a:lnTo>
                  <a:pt x="119866" y="47625"/>
                </a:lnTo>
                <a:lnTo>
                  <a:pt x="91291" y="76200"/>
                </a:lnTo>
                <a:lnTo>
                  <a:pt x="61079" y="76200"/>
                </a:lnTo>
                <a:close/>
              </a:path>
            </a:pathLst>
          </a:custGeom>
          <a:solidFill>
            <a:srgbClr val="3B82F6"/>
          </a:solidFill>
          <a:ln/>
        </p:spPr>
      </p:sp>
      <p:sp>
        <p:nvSpPr>
          <p:cNvPr id="39" name="Text 37"/>
          <p:cNvSpPr/>
          <p:nvPr/>
        </p:nvSpPr>
        <p:spPr>
          <a:xfrm>
            <a:off x="7501890" y="4480560"/>
            <a:ext cx="1371600" cy="228600"/>
          </a:xfrm>
          <a:prstGeom prst="rect">
            <a:avLst/>
          </a:prstGeom>
          <a:noFill/>
          <a:ln/>
        </p:spPr>
        <p:txBody>
          <a:bodyPr wrap="square" lIns="0" tIns="0" rIns="0" bIns="0" rtlCol="0" anchor="ctr"/>
          <a:lstStyle/>
          <a:p>
            <a:pPr>
              <a:lnSpc>
                <a:spcPct val="130000"/>
              </a:lnSpc>
            </a:pPr>
            <a:r>
              <a:rPr lang="en-US" sz="1200" dirty="0">
                <a:solidFill>
                  <a:srgbClr val="F8FAFC"/>
                </a:solidFill>
                <a:latin typeface="MiSans" pitchFamily="34" charset="0"/>
                <a:ea typeface="MiSans" pitchFamily="34" charset="-122"/>
                <a:cs typeface="MiSans" pitchFamily="34" charset="-120"/>
              </a:rPr>
              <a:t>Kiểm thử &amp; Debug</a:t>
            </a:r>
            <a:endParaRPr lang="en-US" sz="1600" dirty="0"/>
          </a:p>
        </p:txBody>
      </p:sp>
      <p:sp>
        <p:nvSpPr>
          <p:cNvPr id="40" name="Shape 38"/>
          <p:cNvSpPr/>
          <p:nvPr/>
        </p:nvSpPr>
        <p:spPr>
          <a:xfrm>
            <a:off x="6968490" y="4975861"/>
            <a:ext cx="4648200" cy="533400"/>
          </a:xfrm>
          <a:custGeom>
            <a:avLst/>
            <a:gdLst/>
            <a:ahLst/>
            <a:cxnLst/>
            <a:rect l="l" t="t" r="r" b="b"/>
            <a:pathLst>
              <a:path w="4648200" h="533400">
                <a:moveTo>
                  <a:pt x="76202" y="0"/>
                </a:moveTo>
                <a:lnTo>
                  <a:pt x="4571998" y="0"/>
                </a:lnTo>
                <a:cubicBezTo>
                  <a:pt x="4614083" y="0"/>
                  <a:pt x="4648200" y="34117"/>
                  <a:pt x="4648200" y="76202"/>
                </a:cubicBezTo>
                <a:lnTo>
                  <a:pt x="4648200" y="457198"/>
                </a:lnTo>
                <a:cubicBezTo>
                  <a:pt x="4648200" y="499283"/>
                  <a:pt x="4614083" y="533400"/>
                  <a:pt x="4571998" y="533400"/>
                </a:cubicBezTo>
                <a:lnTo>
                  <a:pt x="76202" y="533400"/>
                </a:lnTo>
                <a:cubicBezTo>
                  <a:pt x="34117" y="533400"/>
                  <a:pt x="0" y="499283"/>
                  <a:pt x="0" y="457198"/>
                </a:cubicBezTo>
                <a:lnTo>
                  <a:pt x="0" y="76202"/>
                </a:lnTo>
                <a:cubicBezTo>
                  <a:pt x="0" y="34145"/>
                  <a:pt x="34145" y="0"/>
                  <a:pt x="76202" y="0"/>
                </a:cubicBezTo>
                <a:close/>
              </a:path>
            </a:pathLst>
          </a:custGeom>
          <a:solidFill>
            <a:srgbClr val="0F172A">
              <a:alpha val="50196"/>
            </a:srgbClr>
          </a:solidFill>
          <a:ln/>
        </p:spPr>
      </p:sp>
      <p:sp>
        <p:nvSpPr>
          <p:cNvPr id="41" name="Shape 39"/>
          <p:cNvSpPr/>
          <p:nvPr/>
        </p:nvSpPr>
        <p:spPr>
          <a:xfrm>
            <a:off x="7082790" y="5090161"/>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8B5CF6">
              <a:alpha val="20000"/>
            </a:srgbClr>
          </a:solidFill>
          <a:ln/>
        </p:spPr>
      </p:sp>
      <p:sp>
        <p:nvSpPr>
          <p:cNvPr id="42" name="Shape 40"/>
          <p:cNvSpPr/>
          <p:nvPr/>
        </p:nvSpPr>
        <p:spPr>
          <a:xfrm>
            <a:off x="7168515" y="5166361"/>
            <a:ext cx="133350" cy="152400"/>
          </a:xfrm>
          <a:custGeom>
            <a:avLst/>
            <a:gdLst/>
            <a:ahLst/>
            <a:cxnLst/>
            <a:rect l="l" t="t" r="r" b="b"/>
            <a:pathLst>
              <a:path w="133350" h="152400">
                <a:moveTo>
                  <a:pt x="114300" y="152400"/>
                </a:moveTo>
                <a:lnTo>
                  <a:pt x="28575" y="152400"/>
                </a:lnTo>
                <a:cubicBezTo>
                  <a:pt x="12799" y="152400"/>
                  <a:pt x="0" y="139601"/>
                  <a:pt x="0" y="123825"/>
                </a:cubicBezTo>
                <a:lnTo>
                  <a:pt x="0" y="28575"/>
                </a:lnTo>
                <a:cubicBezTo>
                  <a:pt x="0" y="12799"/>
                  <a:pt x="12799" y="0"/>
                  <a:pt x="28575" y="0"/>
                </a:cubicBezTo>
                <a:lnTo>
                  <a:pt x="119062" y="0"/>
                </a:lnTo>
                <a:cubicBezTo>
                  <a:pt x="126950" y="0"/>
                  <a:pt x="133350" y="6400"/>
                  <a:pt x="133350" y="14288"/>
                </a:cubicBezTo>
                <a:lnTo>
                  <a:pt x="133350" y="100013"/>
                </a:lnTo>
                <a:cubicBezTo>
                  <a:pt x="133350" y="106234"/>
                  <a:pt x="129361" y="111532"/>
                  <a:pt x="123825" y="113496"/>
                </a:cubicBezTo>
                <a:lnTo>
                  <a:pt x="123825" y="133350"/>
                </a:lnTo>
                <a:cubicBezTo>
                  <a:pt x="129094" y="133350"/>
                  <a:pt x="133350" y="137606"/>
                  <a:pt x="133350" y="142875"/>
                </a:cubicBezTo>
                <a:cubicBezTo>
                  <a:pt x="133350" y="148144"/>
                  <a:pt x="129094" y="152400"/>
                  <a:pt x="123825" y="152400"/>
                </a:cubicBezTo>
                <a:lnTo>
                  <a:pt x="114300" y="152400"/>
                </a:lnTo>
                <a:close/>
                <a:moveTo>
                  <a:pt x="28575" y="114300"/>
                </a:moveTo>
                <a:cubicBezTo>
                  <a:pt x="23306" y="114300"/>
                  <a:pt x="19050" y="118556"/>
                  <a:pt x="19050" y="123825"/>
                </a:cubicBezTo>
                <a:cubicBezTo>
                  <a:pt x="19050" y="129094"/>
                  <a:pt x="23306" y="133350"/>
                  <a:pt x="28575" y="133350"/>
                </a:cubicBezTo>
                <a:lnTo>
                  <a:pt x="104775" y="133350"/>
                </a:lnTo>
                <a:lnTo>
                  <a:pt x="104775" y="114300"/>
                </a:lnTo>
                <a:lnTo>
                  <a:pt x="28575" y="114300"/>
                </a:lnTo>
                <a:close/>
                <a:moveTo>
                  <a:pt x="38100" y="45244"/>
                </a:moveTo>
                <a:cubicBezTo>
                  <a:pt x="38100" y="49203"/>
                  <a:pt x="41285" y="52388"/>
                  <a:pt x="45244" y="52388"/>
                </a:cubicBezTo>
                <a:lnTo>
                  <a:pt x="97631" y="52388"/>
                </a:lnTo>
                <a:cubicBezTo>
                  <a:pt x="101590" y="52388"/>
                  <a:pt x="104775" y="49203"/>
                  <a:pt x="104775" y="45244"/>
                </a:cubicBezTo>
                <a:cubicBezTo>
                  <a:pt x="104775" y="41285"/>
                  <a:pt x="101590" y="38100"/>
                  <a:pt x="97631" y="38100"/>
                </a:cubicBezTo>
                <a:lnTo>
                  <a:pt x="45244" y="38100"/>
                </a:lnTo>
                <a:cubicBezTo>
                  <a:pt x="41285" y="38100"/>
                  <a:pt x="38100" y="41285"/>
                  <a:pt x="38100" y="45244"/>
                </a:cubicBezTo>
                <a:close/>
                <a:moveTo>
                  <a:pt x="45244" y="66675"/>
                </a:moveTo>
                <a:cubicBezTo>
                  <a:pt x="41285" y="66675"/>
                  <a:pt x="38100" y="69860"/>
                  <a:pt x="38100" y="73819"/>
                </a:cubicBezTo>
                <a:cubicBezTo>
                  <a:pt x="38100" y="77778"/>
                  <a:pt x="41285" y="80962"/>
                  <a:pt x="45244" y="80962"/>
                </a:cubicBezTo>
                <a:lnTo>
                  <a:pt x="97631" y="80962"/>
                </a:lnTo>
                <a:cubicBezTo>
                  <a:pt x="101590" y="80962"/>
                  <a:pt x="104775" y="77778"/>
                  <a:pt x="104775" y="73819"/>
                </a:cubicBezTo>
                <a:cubicBezTo>
                  <a:pt x="104775" y="69860"/>
                  <a:pt x="101590" y="66675"/>
                  <a:pt x="97631" y="66675"/>
                </a:cubicBezTo>
                <a:lnTo>
                  <a:pt x="45244" y="66675"/>
                </a:lnTo>
                <a:close/>
              </a:path>
            </a:pathLst>
          </a:custGeom>
          <a:solidFill>
            <a:srgbClr val="8B5CF6"/>
          </a:solidFill>
          <a:ln/>
        </p:spPr>
      </p:sp>
      <p:sp>
        <p:nvSpPr>
          <p:cNvPr id="43" name="Text 41"/>
          <p:cNvSpPr/>
          <p:nvPr/>
        </p:nvSpPr>
        <p:spPr>
          <a:xfrm>
            <a:off x="7501890" y="5128261"/>
            <a:ext cx="876300" cy="228600"/>
          </a:xfrm>
          <a:prstGeom prst="rect">
            <a:avLst/>
          </a:prstGeom>
          <a:noFill/>
          <a:ln/>
        </p:spPr>
        <p:txBody>
          <a:bodyPr wrap="square" lIns="0" tIns="0" rIns="0" bIns="0" rtlCol="0" anchor="ctr"/>
          <a:lstStyle/>
          <a:p>
            <a:pPr>
              <a:lnSpc>
                <a:spcPct val="130000"/>
              </a:lnSpc>
            </a:pPr>
            <a:r>
              <a:rPr lang="en-US" sz="1200" dirty="0">
                <a:solidFill>
                  <a:srgbClr val="F8FAFC"/>
                </a:solidFill>
                <a:latin typeface="MiSans" pitchFamily="34" charset="0"/>
                <a:ea typeface="MiSans" pitchFamily="34" charset="-122"/>
                <a:cs typeface="MiSans" pitchFamily="34" charset="-120"/>
              </a:rPr>
              <a:t>Tài liệu hóa</a:t>
            </a:r>
            <a:endParaRPr lang="en-US" sz="1600" dirty="0"/>
          </a:p>
        </p:txBody>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27934" y="327934"/>
            <a:ext cx="996789" cy="266243"/>
          </a:xfrm>
          <a:custGeom>
            <a:avLst/>
            <a:gdLst/>
            <a:ahLst/>
            <a:cxnLst/>
            <a:rect l="l" t="t" r="r" b="b"/>
            <a:pathLst>
              <a:path w="996789" h="266243">
                <a:moveTo>
                  <a:pt x="133122" y="0"/>
                </a:moveTo>
                <a:lnTo>
                  <a:pt x="863668" y="0"/>
                </a:lnTo>
                <a:cubicBezTo>
                  <a:pt x="937189" y="0"/>
                  <a:pt x="996789" y="59601"/>
                  <a:pt x="996789" y="133122"/>
                </a:cubicBezTo>
                <a:lnTo>
                  <a:pt x="996789" y="133122"/>
                </a:lnTo>
                <a:cubicBezTo>
                  <a:pt x="996789" y="206643"/>
                  <a:pt x="937189" y="266243"/>
                  <a:pt x="863668" y="266243"/>
                </a:cubicBezTo>
                <a:lnTo>
                  <a:pt x="133122" y="266243"/>
                </a:lnTo>
                <a:cubicBezTo>
                  <a:pt x="59650" y="266243"/>
                  <a:pt x="0" y="206594"/>
                  <a:pt x="0" y="133122"/>
                </a:cubicBezTo>
                <a:lnTo>
                  <a:pt x="0" y="133122"/>
                </a:lnTo>
                <a:cubicBezTo>
                  <a:pt x="0" y="59650"/>
                  <a:pt x="59650" y="0"/>
                  <a:pt x="133122" y="0"/>
                </a:cubicBezTo>
                <a:close/>
              </a:path>
            </a:pathLst>
          </a:custGeom>
          <a:solidFill>
            <a:srgbClr val="8B5CF6">
              <a:alpha val="20000"/>
            </a:srgbClr>
          </a:solidFill>
          <a:ln w="10160">
            <a:solidFill>
              <a:srgbClr val="8B5CF6">
                <a:alpha val="40000"/>
              </a:srgbClr>
            </a:solidFill>
            <a:prstDash val="solid"/>
          </a:ln>
        </p:spPr>
      </p:sp>
      <p:sp>
        <p:nvSpPr>
          <p:cNvPr id="3" name="Text 1"/>
          <p:cNvSpPr/>
          <p:nvPr/>
        </p:nvSpPr>
        <p:spPr>
          <a:xfrm>
            <a:off x="461056" y="370144"/>
            <a:ext cx="795382" cy="175331"/>
          </a:xfrm>
          <a:prstGeom prst="rect">
            <a:avLst/>
          </a:prstGeom>
          <a:noFill/>
          <a:ln/>
        </p:spPr>
        <p:txBody>
          <a:bodyPr wrap="square" lIns="0" tIns="0" rIns="0" bIns="0" rtlCol="0" anchor="ctr"/>
          <a:lstStyle/>
          <a:p>
            <a:pPr>
              <a:lnSpc>
                <a:spcPct val="130000"/>
              </a:lnSpc>
            </a:pPr>
            <a:r>
              <a:rPr lang="en-US" sz="1023" b="1" spc="51" kern="0" dirty="0">
                <a:solidFill>
                  <a:srgbClr val="8B5CF6"/>
                </a:solidFill>
                <a:latin typeface="MiSans" pitchFamily="34" charset="0"/>
                <a:ea typeface="MiSans" pitchFamily="34" charset="-122"/>
                <a:cs typeface="MiSans" pitchFamily="34" charset="-120"/>
              </a:rPr>
              <a:t>CHƯƠNG 2</a:t>
            </a:r>
            <a:endParaRPr lang="en-US" sz="1600" dirty="0"/>
          </a:p>
        </p:txBody>
      </p:sp>
      <p:sp>
        <p:nvSpPr>
          <p:cNvPr id="4" name="Text 2"/>
          <p:cNvSpPr/>
          <p:nvPr/>
        </p:nvSpPr>
        <p:spPr>
          <a:xfrm>
            <a:off x="324687" y="694831"/>
            <a:ext cx="11688735" cy="324687"/>
          </a:xfrm>
          <a:prstGeom prst="rect">
            <a:avLst/>
          </a:prstGeom>
          <a:noFill/>
          <a:ln/>
        </p:spPr>
        <p:txBody>
          <a:bodyPr wrap="square" lIns="0" tIns="0" rIns="0" bIns="0" rtlCol="0" anchor="ctr"/>
          <a:lstStyle/>
          <a:p>
            <a:pPr>
              <a:lnSpc>
                <a:spcPct val="90000"/>
              </a:lnSpc>
            </a:pPr>
            <a:r>
              <a:rPr lang="en-US" sz="2301" b="1" dirty="0">
                <a:solidFill>
                  <a:srgbClr val="F8FAFC"/>
                </a:solidFill>
                <a:latin typeface="Liter" pitchFamily="34" charset="0"/>
                <a:ea typeface="Liter" pitchFamily="34" charset="-122"/>
                <a:cs typeface="Liter" pitchFamily="34" charset="-120"/>
              </a:rPr>
              <a:t>Làm việc với API OpenAI</a:t>
            </a:r>
            <a:endParaRPr lang="en-US" sz="1600" dirty="0"/>
          </a:p>
        </p:txBody>
      </p:sp>
      <p:sp>
        <p:nvSpPr>
          <p:cNvPr id="5" name="Text 3"/>
          <p:cNvSpPr/>
          <p:nvPr/>
        </p:nvSpPr>
        <p:spPr>
          <a:xfrm>
            <a:off x="324687" y="1084456"/>
            <a:ext cx="11623798" cy="227281"/>
          </a:xfrm>
          <a:prstGeom prst="rect">
            <a:avLst/>
          </a:prstGeom>
          <a:noFill/>
          <a:ln/>
        </p:spPr>
        <p:txBody>
          <a:bodyPr wrap="square" lIns="0" tIns="0" rIns="0" bIns="0" rtlCol="0" anchor="ctr"/>
          <a:lstStyle/>
          <a:p>
            <a:pPr>
              <a:lnSpc>
                <a:spcPct val="120000"/>
              </a:lnSpc>
            </a:pPr>
            <a:r>
              <a:rPr lang="en-US" sz="1278" dirty="0">
                <a:solidFill>
                  <a:srgbClr val="F8FAFC">
                    <a:alpha val="70000"/>
                  </a:srgbClr>
                </a:solidFill>
                <a:latin typeface="MiSans" pitchFamily="34" charset="0"/>
                <a:ea typeface="MiSans" pitchFamily="34" charset="-122"/>
                <a:cs typeface="MiSans" pitchFamily="34" charset="-120"/>
              </a:rPr>
              <a:t>Từ hỏi đáp thủ công đến tự động hóa có lập trình</a:t>
            </a:r>
            <a:endParaRPr lang="en-US" sz="1600" dirty="0"/>
          </a:p>
        </p:txBody>
      </p:sp>
      <p:sp>
        <p:nvSpPr>
          <p:cNvPr id="6" name="Shape 4"/>
          <p:cNvSpPr/>
          <p:nvPr/>
        </p:nvSpPr>
        <p:spPr>
          <a:xfrm>
            <a:off x="327934" y="1509796"/>
            <a:ext cx="5672283" cy="5347596"/>
          </a:xfrm>
          <a:custGeom>
            <a:avLst/>
            <a:gdLst/>
            <a:ahLst/>
            <a:cxnLst/>
            <a:rect l="l" t="t" r="r" b="b"/>
            <a:pathLst>
              <a:path w="5672283" h="5347596">
                <a:moveTo>
                  <a:pt x="129893" y="0"/>
                </a:moveTo>
                <a:lnTo>
                  <a:pt x="5542390" y="0"/>
                </a:lnTo>
                <a:cubicBezTo>
                  <a:pt x="5614128" y="0"/>
                  <a:pt x="5672283" y="58155"/>
                  <a:pt x="5672283" y="129893"/>
                </a:cubicBezTo>
                <a:lnTo>
                  <a:pt x="5672283" y="5217703"/>
                </a:lnTo>
                <a:cubicBezTo>
                  <a:pt x="5672283" y="5289441"/>
                  <a:pt x="5614128" y="5347596"/>
                  <a:pt x="5542390" y="5347596"/>
                </a:cubicBezTo>
                <a:lnTo>
                  <a:pt x="129893" y="5347596"/>
                </a:lnTo>
                <a:cubicBezTo>
                  <a:pt x="58155" y="5347596"/>
                  <a:pt x="0" y="5289441"/>
                  <a:pt x="0" y="5217703"/>
                </a:cubicBezTo>
                <a:lnTo>
                  <a:pt x="0" y="129893"/>
                </a:lnTo>
                <a:cubicBezTo>
                  <a:pt x="0" y="58155"/>
                  <a:pt x="58155" y="0"/>
                  <a:pt x="129893" y="0"/>
                </a:cubicBezTo>
                <a:close/>
              </a:path>
            </a:pathLst>
          </a:custGeom>
          <a:gradFill rotWithShape="1" flip="none">
            <a:gsLst>
              <a:gs pos="0">
                <a:srgbClr val="1E293B"/>
              </a:gs>
              <a:gs pos="100000">
                <a:srgbClr val="1E293B">
                  <a:alpha val="50000"/>
                </a:srgbClr>
              </a:gs>
            </a:gsLst>
            <a:lin ang="2700000" scaled="1"/>
          </a:gradFill>
          <a:ln w="10160">
            <a:solidFill>
              <a:srgbClr val="3B82F6">
                <a:alpha val="30196"/>
              </a:srgbClr>
            </a:solidFill>
            <a:prstDash val="solid"/>
          </a:ln>
        </p:spPr>
      </p:sp>
      <p:sp>
        <p:nvSpPr>
          <p:cNvPr id="7" name="Shape 5"/>
          <p:cNvSpPr/>
          <p:nvPr/>
        </p:nvSpPr>
        <p:spPr>
          <a:xfrm>
            <a:off x="517876" y="1691621"/>
            <a:ext cx="194812" cy="194812"/>
          </a:xfrm>
          <a:custGeom>
            <a:avLst/>
            <a:gdLst/>
            <a:ahLst/>
            <a:cxnLst/>
            <a:rect l="l" t="t" r="r" b="b"/>
            <a:pathLst>
              <a:path w="194812" h="194812">
                <a:moveTo>
                  <a:pt x="88465" y="1979"/>
                </a:moveTo>
                <a:cubicBezTo>
                  <a:pt x="94134" y="-647"/>
                  <a:pt x="100678" y="-647"/>
                  <a:pt x="106348" y="1979"/>
                </a:cubicBezTo>
                <a:lnTo>
                  <a:pt x="189523" y="40408"/>
                </a:lnTo>
                <a:cubicBezTo>
                  <a:pt x="192758" y="41892"/>
                  <a:pt x="194812" y="45126"/>
                  <a:pt x="194812" y="48703"/>
                </a:cubicBezTo>
                <a:cubicBezTo>
                  <a:pt x="194812" y="52280"/>
                  <a:pt x="192758" y="55514"/>
                  <a:pt x="189523" y="56998"/>
                </a:cubicBezTo>
                <a:lnTo>
                  <a:pt x="106348" y="95428"/>
                </a:lnTo>
                <a:cubicBezTo>
                  <a:pt x="100678" y="98053"/>
                  <a:pt x="94134" y="98053"/>
                  <a:pt x="88465" y="95428"/>
                </a:cubicBezTo>
                <a:lnTo>
                  <a:pt x="5289" y="56998"/>
                </a:lnTo>
                <a:cubicBezTo>
                  <a:pt x="2055" y="55476"/>
                  <a:pt x="0" y="52242"/>
                  <a:pt x="0" y="48703"/>
                </a:cubicBezTo>
                <a:cubicBezTo>
                  <a:pt x="0" y="45164"/>
                  <a:pt x="2055" y="41892"/>
                  <a:pt x="5289" y="40408"/>
                </a:cubicBezTo>
                <a:lnTo>
                  <a:pt x="88465" y="1979"/>
                </a:lnTo>
                <a:close/>
                <a:moveTo>
                  <a:pt x="18302" y="83100"/>
                </a:moveTo>
                <a:lnTo>
                  <a:pt x="80817" y="111979"/>
                </a:lnTo>
                <a:cubicBezTo>
                  <a:pt x="91356" y="116849"/>
                  <a:pt x="103494" y="116849"/>
                  <a:pt x="114034" y="111979"/>
                </a:cubicBezTo>
                <a:lnTo>
                  <a:pt x="176549" y="83100"/>
                </a:lnTo>
                <a:lnTo>
                  <a:pt x="189523" y="89111"/>
                </a:lnTo>
                <a:cubicBezTo>
                  <a:pt x="192758" y="90595"/>
                  <a:pt x="194812" y="93829"/>
                  <a:pt x="194812" y="97406"/>
                </a:cubicBezTo>
                <a:cubicBezTo>
                  <a:pt x="194812" y="100983"/>
                  <a:pt x="192758" y="104217"/>
                  <a:pt x="189523" y="105701"/>
                </a:cubicBezTo>
                <a:lnTo>
                  <a:pt x="106348" y="144131"/>
                </a:lnTo>
                <a:cubicBezTo>
                  <a:pt x="100678" y="146756"/>
                  <a:pt x="94134" y="146756"/>
                  <a:pt x="88465" y="144131"/>
                </a:cubicBezTo>
                <a:lnTo>
                  <a:pt x="5289" y="105701"/>
                </a:lnTo>
                <a:cubicBezTo>
                  <a:pt x="2055" y="104179"/>
                  <a:pt x="0" y="100945"/>
                  <a:pt x="0" y="97406"/>
                </a:cubicBezTo>
                <a:cubicBezTo>
                  <a:pt x="0" y="93868"/>
                  <a:pt x="2055" y="90595"/>
                  <a:pt x="5289" y="89111"/>
                </a:cubicBezTo>
                <a:lnTo>
                  <a:pt x="18264" y="83100"/>
                </a:lnTo>
                <a:close/>
                <a:moveTo>
                  <a:pt x="5289" y="137814"/>
                </a:moveTo>
                <a:lnTo>
                  <a:pt x="18264" y="131803"/>
                </a:lnTo>
                <a:lnTo>
                  <a:pt x="80779" y="160682"/>
                </a:lnTo>
                <a:cubicBezTo>
                  <a:pt x="91318" y="165552"/>
                  <a:pt x="103456" y="165552"/>
                  <a:pt x="113996" y="160682"/>
                </a:cubicBezTo>
                <a:lnTo>
                  <a:pt x="176511" y="131803"/>
                </a:lnTo>
                <a:lnTo>
                  <a:pt x="189485" y="137814"/>
                </a:lnTo>
                <a:cubicBezTo>
                  <a:pt x="192720" y="139298"/>
                  <a:pt x="194774" y="142533"/>
                  <a:pt x="194774" y="146109"/>
                </a:cubicBezTo>
                <a:cubicBezTo>
                  <a:pt x="194774" y="149686"/>
                  <a:pt x="192720" y="152920"/>
                  <a:pt x="189485" y="154404"/>
                </a:cubicBezTo>
                <a:lnTo>
                  <a:pt x="106310" y="192834"/>
                </a:lnTo>
                <a:cubicBezTo>
                  <a:pt x="100640" y="195459"/>
                  <a:pt x="94096" y="195459"/>
                  <a:pt x="88426" y="192834"/>
                </a:cubicBezTo>
                <a:lnTo>
                  <a:pt x="5289" y="154404"/>
                </a:lnTo>
                <a:cubicBezTo>
                  <a:pt x="2055" y="152882"/>
                  <a:pt x="0" y="149648"/>
                  <a:pt x="0" y="146109"/>
                </a:cubicBezTo>
                <a:cubicBezTo>
                  <a:pt x="0" y="142571"/>
                  <a:pt x="2055" y="139298"/>
                  <a:pt x="5289" y="137814"/>
                </a:cubicBezTo>
                <a:close/>
              </a:path>
            </a:pathLst>
          </a:custGeom>
          <a:solidFill>
            <a:srgbClr val="3B82F6"/>
          </a:solidFill>
          <a:ln/>
        </p:spPr>
      </p:sp>
      <p:sp>
        <p:nvSpPr>
          <p:cNvPr id="8" name="Text 6"/>
          <p:cNvSpPr/>
          <p:nvPr/>
        </p:nvSpPr>
        <p:spPr>
          <a:xfrm>
            <a:off x="737040" y="1675387"/>
            <a:ext cx="5178759" cy="227281"/>
          </a:xfrm>
          <a:prstGeom prst="rect">
            <a:avLst/>
          </a:prstGeom>
          <a:noFill/>
          <a:ln/>
        </p:spPr>
        <p:txBody>
          <a:bodyPr wrap="square" lIns="0" tIns="0" rIns="0" bIns="0" rtlCol="0" anchor="ctr"/>
          <a:lstStyle/>
          <a:p>
            <a:pPr>
              <a:lnSpc>
                <a:spcPct val="120000"/>
              </a:lnSpc>
            </a:pPr>
            <a:r>
              <a:rPr lang="en-US" sz="1278" b="1" dirty="0">
                <a:solidFill>
                  <a:srgbClr val="3B82F6"/>
                </a:solidFill>
                <a:latin typeface="Liter" pitchFamily="34" charset="0"/>
                <a:ea typeface="Liter" pitchFamily="34" charset="-122"/>
                <a:cs typeface="Liter" pitchFamily="34" charset="-120"/>
              </a:rPr>
              <a:t>Phân tích ba mức</a:t>
            </a:r>
            <a:endParaRPr lang="en-US" sz="1600" dirty="0"/>
          </a:p>
        </p:txBody>
      </p:sp>
      <p:sp>
        <p:nvSpPr>
          <p:cNvPr id="9" name="Shape 7"/>
          <p:cNvSpPr/>
          <p:nvPr/>
        </p:nvSpPr>
        <p:spPr>
          <a:xfrm>
            <a:off x="509759" y="2032542"/>
            <a:ext cx="5324868" cy="974061"/>
          </a:xfrm>
          <a:custGeom>
            <a:avLst/>
            <a:gdLst/>
            <a:ahLst/>
            <a:cxnLst/>
            <a:rect l="l" t="t" r="r" b="b"/>
            <a:pathLst>
              <a:path w="5324868" h="974061">
                <a:moveTo>
                  <a:pt x="32469" y="0"/>
                </a:moveTo>
                <a:lnTo>
                  <a:pt x="5227462" y="0"/>
                </a:lnTo>
                <a:cubicBezTo>
                  <a:pt x="5281258" y="0"/>
                  <a:pt x="5324868" y="43610"/>
                  <a:pt x="5324868" y="97406"/>
                </a:cubicBezTo>
                <a:lnTo>
                  <a:pt x="5324868" y="876655"/>
                </a:lnTo>
                <a:cubicBezTo>
                  <a:pt x="5324868" y="930451"/>
                  <a:pt x="5281258" y="974061"/>
                  <a:pt x="5227462" y="974061"/>
                </a:cubicBezTo>
                <a:lnTo>
                  <a:pt x="32469" y="974061"/>
                </a:lnTo>
                <a:cubicBezTo>
                  <a:pt x="14537" y="974061"/>
                  <a:pt x="0" y="959525"/>
                  <a:pt x="0" y="941593"/>
                </a:cubicBezTo>
                <a:lnTo>
                  <a:pt x="0" y="32469"/>
                </a:lnTo>
                <a:cubicBezTo>
                  <a:pt x="0" y="14549"/>
                  <a:pt x="14549" y="0"/>
                  <a:pt x="32469" y="0"/>
                </a:cubicBezTo>
                <a:close/>
              </a:path>
            </a:pathLst>
          </a:custGeom>
          <a:solidFill>
            <a:srgbClr val="0F172A">
              <a:alpha val="50196"/>
            </a:srgbClr>
          </a:solidFill>
          <a:ln/>
        </p:spPr>
      </p:sp>
      <p:sp>
        <p:nvSpPr>
          <p:cNvPr id="10" name="Shape 8"/>
          <p:cNvSpPr/>
          <p:nvPr/>
        </p:nvSpPr>
        <p:spPr>
          <a:xfrm>
            <a:off x="509759" y="2032542"/>
            <a:ext cx="32469" cy="974061"/>
          </a:xfrm>
          <a:custGeom>
            <a:avLst/>
            <a:gdLst/>
            <a:ahLst/>
            <a:cxnLst/>
            <a:rect l="l" t="t" r="r" b="b"/>
            <a:pathLst>
              <a:path w="32469" h="974061">
                <a:moveTo>
                  <a:pt x="32469" y="0"/>
                </a:moveTo>
                <a:lnTo>
                  <a:pt x="32469" y="0"/>
                </a:lnTo>
                <a:lnTo>
                  <a:pt x="32469" y="974061"/>
                </a:lnTo>
                <a:lnTo>
                  <a:pt x="32469" y="974061"/>
                </a:lnTo>
                <a:cubicBezTo>
                  <a:pt x="14537" y="974061"/>
                  <a:pt x="0" y="959525"/>
                  <a:pt x="0" y="941593"/>
                </a:cubicBezTo>
                <a:lnTo>
                  <a:pt x="0" y="32469"/>
                </a:lnTo>
                <a:cubicBezTo>
                  <a:pt x="0" y="14549"/>
                  <a:pt x="14549" y="0"/>
                  <a:pt x="32469" y="0"/>
                </a:cubicBezTo>
                <a:close/>
              </a:path>
            </a:pathLst>
          </a:custGeom>
          <a:solidFill>
            <a:srgbClr val="3B82F6"/>
          </a:solidFill>
          <a:ln/>
        </p:spPr>
      </p:sp>
      <p:sp>
        <p:nvSpPr>
          <p:cNvPr id="11" name="Text 9"/>
          <p:cNvSpPr/>
          <p:nvPr/>
        </p:nvSpPr>
        <p:spPr>
          <a:xfrm>
            <a:off x="655868" y="2162417"/>
            <a:ext cx="5121939" cy="227281"/>
          </a:xfrm>
          <a:prstGeom prst="rect">
            <a:avLst/>
          </a:prstGeom>
          <a:noFill/>
          <a:ln/>
        </p:spPr>
        <p:txBody>
          <a:bodyPr wrap="square" lIns="0" tIns="0" rIns="0" bIns="0" rtlCol="0" anchor="ctr"/>
          <a:lstStyle/>
          <a:p>
            <a:pPr>
              <a:lnSpc>
                <a:spcPct val="130000"/>
              </a:lnSpc>
            </a:pPr>
            <a:r>
              <a:rPr lang="en-US" sz="1150" b="1" dirty="0">
                <a:solidFill>
                  <a:srgbClr val="3B82F6"/>
                </a:solidFill>
                <a:latin typeface="MiSans" pitchFamily="34" charset="0"/>
                <a:ea typeface="MiSans" pitchFamily="34" charset="-122"/>
                <a:cs typeface="MiSans" pitchFamily="34" charset="-120"/>
              </a:rPr>
              <a:t>Ý tưởng</a:t>
            </a:r>
            <a:endParaRPr lang="en-US" sz="1600" dirty="0"/>
          </a:p>
        </p:txBody>
      </p:sp>
      <p:sp>
        <p:nvSpPr>
          <p:cNvPr id="12" name="Text 10"/>
          <p:cNvSpPr/>
          <p:nvPr/>
        </p:nvSpPr>
        <p:spPr>
          <a:xfrm>
            <a:off x="655868" y="2454636"/>
            <a:ext cx="5113822" cy="422093"/>
          </a:xfrm>
          <a:prstGeom prst="rect">
            <a:avLst/>
          </a:prstGeom>
          <a:noFill/>
          <a:ln/>
        </p:spPr>
        <p:txBody>
          <a:bodyPr wrap="square" lIns="0" tIns="0" rIns="0" bIns="0" rtlCol="0" anchor="ctr"/>
          <a:lstStyle/>
          <a:p>
            <a:pPr>
              <a:lnSpc>
                <a:spcPct val="140000"/>
              </a:lnSpc>
            </a:pPr>
            <a:r>
              <a:rPr lang="en-US" sz="1023" dirty="0">
                <a:solidFill>
                  <a:srgbClr val="F8FAFC">
                    <a:alpha val="80000"/>
                  </a:srgbClr>
                </a:solidFill>
                <a:latin typeface="MiSans" pitchFamily="34" charset="0"/>
                <a:ea typeface="MiSans" pitchFamily="34" charset="-122"/>
                <a:cs typeface="MiSans" pitchFamily="34" charset="-120"/>
              </a:rPr>
              <a:t>API biến AI thành </a:t>
            </a:r>
            <a:pPr>
              <a:lnSpc>
                <a:spcPct val="140000"/>
              </a:lnSpc>
            </a:pPr>
            <a:r>
              <a:rPr lang="en-US" sz="1023" b="1" dirty="0">
                <a:solidFill>
                  <a:srgbClr val="3B82F6"/>
                </a:solidFill>
                <a:highlight>
                  <a:srgbClr val="3B82F6">
                    <a:alpha val="20000"/>
                  </a:srgbClr>
                </a:highlight>
                <a:latin typeface="MiSans" pitchFamily="34" charset="0"/>
                <a:ea typeface="MiSans" pitchFamily="34" charset="-122"/>
                <a:cs typeface="MiSans" pitchFamily="34" charset="-120"/>
              </a:rPr>
              <a:t>tài nguyên có thể lập trình và tái sử dụng </a:t>
            </a:r>
            <a:pPr>
              <a:lnSpc>
                <a:spcPct val="140000"/>
              </a:lnSpc>
            </a:pPr>
            <a:r>
              <a:rPr lang="en-US" sz="1023" dirty="0">
                <a:solidFill>
                  <a:srgbClr val="F8FAFC">
                    <a:alpha val="80000"/>
                  </a:srgbClr>
                </a:solidFill>
                <a:latin typeface="MiSans" pitchFamily="34" charset="0"/>
                <a:ea typeface="MiSans" pitchFamily="34" charset="-122"/>
                <a:cs typeface="MiSans" pitchFamily="34" charset="-120"/>
              </a:rPr>
              <a:t>, cho phép tích hợp vào script và ứng dụng</a:t>
            </a:r>
            <a:endParaRPr lang="en-US" sz="1600" dirty="0"/>
          </a:p>
        </p:txBody>
      </p:sp>
      <p:sp>
        <p:nvSpPr>
          <p:cNvPr id="13" name="Shape 11"/>
          <p:cNvSpPr/>
          <p:nvPr/>
        </p:nvSpPr>
        <p:spPr>
          <a:xfrm>
            <a:off x="509759" y="3104010"/>
            <a:ext cx="5324868" cy="974061"/>
          </a:xfrm>
          <a:custGeom>
            <a:avLst/>
            <a:gdLst/>
            <a:ahLst/>
            <a:cxnLst/>
            <a:rect l="l" t="t" r="r" b="b"/>
            <a:pathLst>
              <a:path w="5324868" h="974061">
                <a:moveTo>
                  <a:pt x="32469" y="0"/>
                </a:moveTo>
                <a:lnTo>
                  <a:pt x="5227462" y="0"/>
                </a:lnTo>
                <a:cubicBezTo>
                  <a:pt x="5281258" y="0"/>
                  <a:pt x="5324868" y="43610"/>
                  <a:pt x="5324868" y="97406"/>
                </a:cubicBezTo>
                <a:lnTo>
                  <a:pt x="5324868" y="876655"/>
                </a:lnTo>
                <a:cubicBezTo>
                  <a:pt x="5324868" y="930451"/>
                  <a:pt x="5281258" y="974061"/>
                  <a:pt x="5227462" y="974061"/>
                </a:cubicBezTo>
                <a:lnTo>
                  <a:pt x="32469" y="974061"/>
                </a:lnTo>
                <a:cubicBezTo>
                  <a:pt x="14537" y="974061"/>
                  <a:pt x="0" y="959525"/>
                  <a:pt x="0" y="941593"/>
                </a:cubicBezTo>
                <a:lnTo>
                  <a:pt x="0" y="32469"/>
                </a:lnTo>
                <a:cubicBezTo>
                  <a:pt x="0" y="14549"/>
                  <a:pt x="14549" y="0"/>
                  <a:pt x="32469" y="0"/>
                </a:cubicBezTo>
                <a:close/>
              </a:path>
            </a:pathLst>
          </a:custGeom>
          <a:solidFill>
            <a:srgbClr val="0F172A">
              <a:alpha val="50196"/>
            </a:srgbClr>
          </a:solidFill>
          <a:ln/>
        </p:spPr>
      </p:sp>
      <p:sp>
        <p:nvSpPr>
          <p:cNvPr id="14" name="Shape 12"/>
          <p:cNvSpPr/>
          <p:nvPr/>
        </p:nvSpPr>
        <p:spPr>
          <a:xfrm>
            <a:off x="509759" y="3104010"/>
            <a:ext cx="32469" cy="974061"/>
          </a:xfrm>
          <a:custGeom>
            <a:avLst/>
            <a:gdLst/>
            <a:ahLst/>
            <a:cxnLst/>
            <a:rect l="l" t="t" r="r" b="b"/>
            <a:pathLst>
              <a:path w="32469" h="974061">
                <a:moveTo>
                  <a:pt x="32469" y="0"/>
                </a:moveTo>
                <a:lnTo>
                  <a:pt x="32469" y="0"/>
                </a:lnTo>
                <a:lnTo>
                  <a:pt x="32469" y="974061"/>
                </a:lnTo>
                <a:lnTo>
                  <a:pt x="32469" y="974061"/>
                </a:lnTo>
                <a:cubicBezTo>
                  <a:pt x="14537" y="974061"/>
                  <a:pt x="0" y="959525"/>
                  <a:pt x="0" y="941593"/>
                </a:cubicBezTo>
                <a:lnTo>
                  <a:pt x="0" y="32469"/>
                </a:lnTo>
                <a:cubicBezTo>
                  <a:pt x="0" y="14549"/>
                  <a:pt x="14549" y="0"/>
                  <a:pt x="32469" y="0"/>
                </a:cubicBezTo>
                <a:close/>
              </a:path>
            </a:pathLst>
          </a:custGeom>
          <a:solidFill>
            <a:srgbClr val="8B5CF6"/>
          </a:solidFill>
          <a:ln/>
        </p:spPr>
      </p:sp>
      <p:sp>
        <p:nvSpPr>
          <p:cNvPr id="15" name="Text 13"/>
          <p:cNvSpPr/>
          <p:nvPr/>
        </p:nvSpPr>
        <p:spPr>
          <a:xfrm>
            <a:off x="655868" y="3233885"/>
            <a:ext cx="5121939" cy="227281"/>
          </a:xfrm>
          <a:prstGeom prst="rect">
            <a:avLst/>
          </a:prstGeom>
          <a:noFill/>
          <a:ln/>
        </p:spPr>
        <p:txBody>
          <a:bodyPr wrap="square" lIns="0" tIns="0" rIns="0" bIns="0" rtlCol="0" anchor="ctr"/>
          <a:lstStyle/>
          <a:p>
            <a:pPr>
              <a:lnSpc>
                <a:spcPct val="130000"/>
              </a:lnSpc>
            </a:pPr>
            <a:r>
              <a:rPr lang="en-US" sz="1150" b="1" dirty="0">
                <a:solidFill>
                  <a:srgbClr val="8B5CF6"/>
                </a:solidFill>
                <a:latin typeface="MiSans" pitchFamily="34" charset="0"/>
                <a:ea typeface="MiSans" pitchFamily="34" charset="-122"/>
                <a:cs typeface="MiSans" pitchFamily="34" charset="-120"/>
              </a:rPr>
              <a:t>Luận lý</a:t>
            </a:r>
            <a:endParaRPr lang="en-US" sz="1600" dirty="0"/>
          </a:p>
        </p:txBody>
      </p:sp>
      <p:sp>
        <p:nvSpPr>
          <p:cNvPr id="16" name="Text 14"/>
          <p:cNvSpPr/>
          <p:nvPr/>
        </p:nvSpPr>
        <p:spPr>
          <a:xfrm>
            <a:off x="655868" y="3526103"/>
            <a:ext cx="5113822" cy="422093"/>
          </a:xfrm>
          <a:prstGeom prst="rect">
            <a:avLst/>
          </a:prstGeom>
          <a:noFill/>
          <a:ln/>
        </p:spPr>
        <p:txBody>
          <a:bodyPr wrap="square" lIns="0" tIns="0" rIns="0" bIns="0" rtlCol="0" anchor="ctr"/>
          <a:lstStyle/>
          <a:p>
            <a:pPr>
              <a:lnSpc>
                <a:spcPct val="140000"/>
              </a:lnSpc>
            </a:pPr>
            <a:r>
              <a:rPr lang="en-US" sz="1023" dirty="0">
                <a:solidFill>
                  <a:srgbClr val="F8FAFC">
                    <a:alpha val="80000"/>
                  </a:srgbClr>
                </a:solidFill>
                <a:latin typeface="MiSans" pitchFamily="34" charset="0"/>
                <a:ea typeface="MiSans" pitchFamily="34" charset="-122"/>
                <a:cs typeface="MiSans" pitchFamily="34" charset="-120"/>
              </a:rPr>
              <a:t>Tổ chức request theo cấu trúc: </a:t>
            </a:r>
            <a:pPr>
              <a:lnSpc>
                <a:spcPct val="140000"/>
              </a:lnSpc>
            </a:pPr>
            <a:r>
              <a:rPr lang="en-US" sz="1023" b="1" dirty="0">
                <a:solidFill>
                  <a:srgbClr val="8B5CF6"/>
                </a:solidFill>
                <a:highlight>
                  <a:srgbClr val="8B5CF6">
                    <a:alpha val="20000"/>
                  </a:srgbClr>
                </a:highlight>
                <a:latin typeface="MiSans" pitchFamily="34" charset="0"/>
                <a:ea typeface="MiSans" pitchFamily="34" charset="-122"/>
                <a:cs typeface="MiSans" pitchFamily="34" charset="-120"/>
              </a:rPr>
              <a:t>model, messages, temperature, max_tokens </a:t>
            </a:r>
            <a:pPr>
              <a:lnSpc>
                <a:spcPct val="140000"/>
              </a:lnSpc>
            </a:pPr>
            <a:r>
              <a:rPr lang="en-US" sz="1023" dirty="0">
                <a:solidFill>
                  <a:srgbClr val="F8FAFC">
                    <a:alpha val="80000"/>
                  </a:srgbClr>
                </a:solidFill>
                <a:latin typeface="MiSans" pitchFamily="34" charset="0"/>
                <a:ea typeface="MiSans" pitchFamily="34" charset="-122"/>
                <a:cs typeface="MiSans" pitchFamily="34" charset="-120"/>
              </a:rPr>
              <a:t>. Tách đầu vào, tham số và cách đọc đầu ra</a:t>
            </a:r>
            <a:endParaRPr lang="en-US" sz="1600" dirty="0"/>
          </a:p>
        </p:txBody>
      </p:sp>
      <p:sp>
        <p:nvSpPr>
          <p:cNvPr id="17" name="Shape 15"/>
          <p:cNvSpPr/>
          <p:nvPr/>
        </p:nvSpPr>
        <p:spPr>
          <a:xfrm>
            <a:off x="509759" y="4175477"/>
            <a:ext cx="5324868" cy="974061"/>
          </a:xfrm>
          <a:custGeom>
            <a:avLst/>
            <a:gdLst/>
            <a:ahLst/>
            <a:cxnLst/>
            <a:rect l="l" t="t" r="r" b="b"/>
            <a:pathLst>
              <a:path w="5324868" h="974061">
                <a:moveTo>
                  <a:pt x="32469" y="0"/>
                </a:moveTo>
                <a:lnTo>
                  <a:pt x="5227462" y="0"/>
                </a:lnTo>
                <a:cubicBezTo>
                  <a:pt x="5281258" y="0"/>
                  <a:pt x="5324868" y="43610"/>
                  <a:pt x="5324868" y="97406"/>
                </a:cubicBezTo>
                <a:lnTo>
                  <a:pt x="5324868" y="876655"/>
                </a:lnTo>
                <a:cubicBezTo>
                  <a:pt x="5324868" y="930451"/>
                  <a:pt x="5281258" y="974061"/>
                  <a:pt x="5227462" y="974061"/>
                </a:cubicBezTo>
                <a:lnTo>
                  <a:pt x="32469" y="974061"/>
                </a:lnTo>
                <a:cubicBezTo>
                  <a:pt x="14537" y="974061"/>
                  <a:pt x="0" y="959525"/>
                  <a:pt x="0" y="941593"/>
                </a:cubicBezTo>
                <a:lnTo>
                  <a:pt x="0" y="32469"/>
                </a:lnTo>
                <a:cubicBezTo>
                  <a:pt x="0" y="14549"/>
                  <a:pt x="14549" y="0"/>
                  <a:pt x="32469" y="0"/>
                </a:cubicBezTo>
                <a:close/>
              </a:path>
            </a:pathLst>
          </a:custGeom>
          <a:solidFill>
            <a:srgbClr val="0F172A">
              <a:alpha val="50196"/>
            </a:srgbClr>
          </a:solidFill>
          <a:ln/>
        </p:spPr>
      </p:sp>
      <p:sp>
        <p:nvSpPr>
          <p:cNvPr id="18" name="Shape 16"/>
          <p:cNvSpPr/>
          <p:nvPr/>
        </p:nvSpPr>
        <p:spPr>
          <a:xfrm>
            <a:off x="509759" y="4175477"/>
            <a:ext cx="32469" cy="974061"/>
          </a:xfrm>
          <a:custGeom>
            <a:avLst/>
            <a:gdLst/>
            <a:ahLst/>
            <a:cxnLst/>
            <a:rect l="l" t="t" r="r" b="b"/>
            <a:pathLst>
              <a:path w="32469" h="974061">
                <a:moveTo>
                  <a:pt x="32469" y="0"/>
                </a:moveTo>
                <a:lnTo>
                  <a:pt x="32469" y="0"/>
                </a:lnTo>
                <a:lnTo>
                  <a:pt x="32469" y="974061"/>
                </a:lnTo>
                <a:lnTo>
                  <a:pt x="32469" y="974061"/>
                </a:lnTo>
                <a:cubicBezTo>
                  <a:pt x="14537" y="974061"/>
                  <a:pt x="0" y="959525"/>
                  <a:pt x="0" y="941593"/>
                </a:cubicBezTo>
                <a:lnTo>
                  <a:pt x="0" y="32469"/>
                </a:lnTo>
                <a:cubicBezTo>
                  <a:pt x="0" y="14549"/>
                  <a:pt x="14549" y="0"/>
                  <a:pt x="32469" y="0"/>
                </a:cubicBezTo>
                <a:close/>
              </a:path>
            </a:pathLst>
          </a:custGeom>
          <a:solidFill>
            <a:srgbClr val="10B981"/>
          </a:solidFill>
          <a:ln/>
        </p:spPr>
      </p:sp>
      <p:sp>
        <p:nvSpPr>
          <p:cNvPr id="19" name="Text 17"/>
          <p:cNvSpPr/>
          <p:nvPr/>
        </p:nvSpPr>
        <p:spPr>
          <a:xfrm>
            <a:off x="655868" y="4305352"/>
            <a:ext cx="5121939" cy="227281"/>
          </a:xfrm>
          <a:prstGeom prst="rect">
            <a:avLst/>
          </a:prstGeom>
          <a:noFill/>
          <a:ln/>
        </p:spPr>
        <p:txBody>
          <a:bodyPr wrap="square" lIns="0" tIns="0" rIns="0" bIns="0" rtlCol="0" anchor="ctr"/>
          <a:lstStyle/>
          <a:p>
            <a:pPr>
              <a:lnSpc>
                <a:spcPct val="130000"/>
              </a:lnSpc>
            </a:pPr>
            <a:r>
              <a:rPr lang="en-US" sz="1150" b="1" dirty="0">
                <a:solidFill>
                  <a:srgbClr val="10B981"/>
                </a:solidFill>
                <a:latin typeface="MiSans" pitchFamily="34" charset="0"/>
                <a:ea typeface="MiSans" pitchFamily="34" charset="-122"/>
                <a:cs typeface="MiSans" pitchFamily="34" charset="-120"/>
              </a:rPr>
              <a:t>Vật lý</a:t>
            </a:r>
            <a:endParaRPr lang="en-US" sz="1600" dirty="0"/>
          </a:p>
        </p:txBody>
      </p:sp>
      <p:sp>
        <p:nvSpPr>
          <p:cNvPr id="20" name="Text 18"/>
          <p:cNvSpPr/>
          <p:nvPr/>
        </p:nvSpPr>
        <p:spPr>
          <a:xfrm>
            <a:off x="655868" y="4597570"/>
            <a:ext cx="5113822" cy="422093"/>
          </a:xfrm>
          <a:prstGeom prst="rect">
            <a:avLst/>
          </a:prstGeom>
          <a:noFill/>
          <a:ln/>
        </p:spPr>
        <p:txBody>
          <a:bodyPr wrap="square" lIns="0" tIns="0" rIns="0" bIns="0" rtlCol="0" anchor="ctr"/>
          <a:lstStyle/>
          <a:p>
            <a:pPr>
              <a:lnSpc>
                <a:spcPct val="140000"/>
              </a:lnSpc>
            </a:pPr>
            <a:r>
              <a:rPr lang="en-US" sz="1023" dirty="0">
                <a:solidFill>
                  <a:srgbClr val="F8FAFC">
                    <a:alpha val="80000"/>
                  </a:srgbClr>
                </a:solidFill>
                <a:latin typeface="MiSans" pitchFamily="34" charset="0"/>
                <a:ea typeface="MiSans" pitchFamily="34" charset="-122"/>
                <a:cs typeface="MiSans" pitchFamily="34" charset="-120"/>
              </a:rPr>
              <a:t>Code trong script Python, API key trong </a:t>
            </a:r>
            <a:pPr>
              <a:lnSpc>
                <a:spcPct val="140000"/>
              </a:lnSpc>
            </a:pPr>
            <a:r>
              <a:rPr lang="en-US" sz="1023" b="1" dirty="0">
                <a:solidFill>
                  <a:srgbClr val="10B981"/>
                </a:solidFill>
                <a:highlight>
                  <a:srgbClr val="10B981">
                    <a:alpha val="20000"/>
                  </a:srgbClr>
                </a:highlight>
                <a:latin typeface="MiSans" pitchFamily="34" charset="0"/>
                <a:ea typeface="MiSans" pitchFamily="34" charset="-122"/>
                <a:cs typeface="MiSans" pitchFamily="34" charset="-120"/>
              </a:rPr>
              <a:t>biến môi trường </a:t>
            </a:r>
            <a:pPr>
              <a:lnSpc>
                <a:spcPct val="140000"/>
              </a:lnSpc>
            </a:pPr>
            <a:r>
              <a:rPr lang="en-US" sz="1023" dirty="0">
                <a:solidFill>
                  <a:srgbClr val="F8FAFC">
                    <a:alpha val="80000"/>
                  </a:srgbClr>
                </a:solidFill>
                <a:latin typeface="MiSans" pitchFamily="34" charset="0"/>
                <a:ea typeface="MiSans" pitchFamily="34" charset="-122"/>
                <a:cs typeface="MiSans" pitchFamily="34" charset="-120"/>
              </a:rPr>
              <a:t>, client gọi endpoint và in kết quả</a:t>
            </a:r>
            <a:endParaRPr lang="en-US" sz="1600" dirty="0"/>
          </a:p>
        </p:txBody>
      </p:sp>
      <p:sp>
        <p:nvSpPr>
          <p:cNvPr id="21" name="Shape 19"/>
          <p:cNvSpPr/>
          <p:nvPr/>
        </p:nvSpPr>
        <p:spPr>
          <a:xfrm>
            <a:off x="6197465" y="1509796"/>
            <a:ext cx="5672283" cy="3058552"/>
          </a:xfrm>
          <a:custGeom>
            <a:avLst/>
            <a:gdLst/>
            <a:ahLst/>
            <a:cxnLst/>
            <a:rect l="l" t="t" r="r" b="b"/>
            <a:pathLst>
              <a:path w="5672283" h="3058552">
                <a:moveTo>
                  <a:pt x="129866" y="0"/>
                </a:moveTo>
                <a:lnTo>
                  <a:pt x="5542417" y="0"/>
                </a:lnTo>
                <a:cubicBezTo>
                  <a:pt x="5614140" y="0"/>
                  <a:pt x="5672283" y="58143"/>
                  <a:pt x="5672283" y="129866"/>
                </a:cubicBezTo>
                <a:lnTo>
                  <a:pt x="5672283" y="2928686"/>
                </a:lnTo>
                <a:cubicBezTo>
                  <a:pt x="5672283" y="3000409"/>
                  <a:pt x="5614140" y="3058552"/>
                  <a:pt x="5542417" y="3058552"/>
                </a:cubicBezTo>
                <a:lnTo>
                  <a:pt x="129866" y="3058552"/>
                </a:lnTo>
                <a:cubicBezTo>
                  <a:pt x="58143" y="3058552"/>
                  <a:pt x="0" y="3000409"/>
                  <a:pt x="0" y="2928686"/>
                </a:cubicBezTo>
                <a:lnTo>
                  <a:pt x="0" y="129866"/>
                </a:lnTo>
                <a:cubicBezTo>
                  <a:pt x="0" y="58143"/>
                  <a:pt x="58143" y="0"/>
                  <a:pt x="129866" y="0"/>
                </a:cubicBezTo>
                <a:close/>
              </a:path>
            </a:pathLst>
          </a:custGeom>
          <a:gradFill rotWithShape="1" flip="none">
            <a:gsLst>
              <a:gs pos="0">
                <a:srgbClr val="1E293B"/>
              </a:gs>
              <a:gs pos="100000">
                <a:srgbClr val="1E293B">
                  <a:alpha val="50000"/>
                </a:srgbClr>
              </a:gs>
            </a:gsLst>
            <a:lin ang="2700000" scaled="1"/>
          </a:gradFill>
          <a:ln w="10160">
            <a:solidFill>
              <a:srgbClr val="8B5CF6">
                <a:alpha val="30196"/>
              </a:srgbClr>
            </a:solidFill>
            <a:prstDash val="solid"/>
          </a:ln>
        </p:spPr>
      </p:sp>
      <p:sp>
        <p:nvSpPr>
          <p:cNvPr id="22" name="Shape 20"/>
          <p:cNvSpPr/>
          <p:nvPr/>
        </p:nvSpPr>
        <p:spPr>
          <a:xfrm>
            <a:off x="6387407" y="1691621"/>
            <a:ext cx="194812" cy="194812"/>
          </a:xfrm>
          <a:custGeom>
            <a:avLst/>
            <a:gdLst/>
            <a:ahLst/>
            <a:cxnLst/>
            <a:rect l="l" t="t" r="r" b="b"/>
            <a:pathLst>
              <a:path w="194812" h="194812">
                <a:moveTo>
                  <a:pt x="191236" y="57302"/>
                </a:moveTo>
                <a:lnTo>
                  <a:pt x="154708" y="93829"/>
                </a:lnTo>
                <a:cubicBezTo>
                  <a:pt x="151208" y="97330"/>
                  <a:pt x="145995" y="98357"/>
                  <a:pt x="141429" y="96455"/>
                </a:cubicBezTo>
                <a:cubicBezTo>
                  <a:pt x="136863" y="94552"/>
                  <a:pt x="133933" y="90139"/>
                  <a:pt x="133933" y="85230"/>
                </a:cubicBezTo>
                <a:lnTo>
                  <a:pt x="133933" y="60879"/>
                </a:lnTo>
                <a:lnTo>
                  <a:pt x="12176" y="60879"/>
                </a:lnTo>
                <a:cubicBezTo>
                  <a:pt x="5441" y="60879"/>
                  <a:pt x="0" y="55438"/>
                  <a:pt x="0" y="48703"/>
                </a:cubicBezTo>
                <a:cubicBezTo>
                  <a:pt x="0" y="41968"/>
                  <a:pt x="5441" y="36527"/>
                  <a:pt x="12176" y="36527"/>
                </a:cubicBezTo>
                <a:lnTo>
                  <a:pt x="133933" y="36527"/>
                </a:lnTo>
                <a:lnTo>
                  <a:pt x="133933" y="12176"/>
                </a:lnTo>
                <a:cubicBezTo>
                  <a:pt x="133933" y="7267"/>
                  <a:pt x="136901" y="2816"/>
                  <a:pt x="141467" y="913"/>
                </a:cubicBezTo>
                <a:cubicBezTo>
                  <a:pt x="146033" y="-989"/>
                  <a:pt x="151246" y="76"/>
                  <a:pt x="154746" y="3539"/>
                </a:cubicBezTo>
                <a:lnTo>
                  <a:pt x="191274" y="40066"/>
                </a:lnTo>
                <a:cubicBezTo>
                  <a:pt x="196030" y="44822"/>
                  <a:pt x="196030" y="52546"/>
                  <a:pt x="191274" y="57302"/>
                </a:cubicBezTo>
                <a:close/>
                <a:moveTo>
                  <a:pt x="40066" y="191236"/>
                </a:moveTo>
                <a:lnTo>
                  <a:pt x="3539" y="154708"/>
                </a:lnTo>
                <a:cubicBezTo>
                  <a:pt x="-1218" y="149952"/>
                  <a:pt x="-1218" y="142228"/>
                  <a:pt x="3539" y="137472"/>
                </a:cubicBezTo>
                <a:lnTo>
                  <a:pt x="40066" y="100945"/>
                </a:lnTo>
                <a:cubicBezTo>
                  <a:pt x="43566" y="97444"/>
                  <a:pt x="48779" y="96417"/>
                  <a:pt x="53345" y="98319"/>
                </a:cubicBezTo>
                <a:cubicBezTo>
                  <a:pt x="57911" y="100222"/>
                  <a:pt x="60879" y="104674"/>
                  <a:pt x="60879" y="109582"/>
                </a:cubicBezTo>
                <a:lnTo>
                  <a:pt x="60879" y="133933"/>
                </a:lnTo>
                <a:lnTo>
                  <a:pt x="182636" y="133933"/>
                </a:lnTo>
                <a:cubicBezTo>
                  <a:pt x="189371" y="133933"/>
                  <a:pt x="194812" y="139374"/>
                  <a:pt x="194812" y="146109"/>
                </a:cubicBezTo>
                <a:cubicBezTo>
                  <a:pt x="194812" y="152844"/>
                  <a:pt x="189371" y="158285"/>
                  <a:pt x="182636" y="158285"/>
                </a:cubicBezTo>
                <a:lnTo>
                  <a:pt x="60879" y="158285"/>
                </a:lnTo>
                <a:lnTo>
                  <a:pt x="60879" y="182636"/>
                </a:lnTo>
                <a:cubicBezTo>
                  <a:pt x="60879" y="187545"/>
                  <a:pt x="57911" y="191997"/>
                  <a:pt x="53345" y="193899"/>
                </a:cubicBezTo>
                <a:cubicBezTo>
                  <a:pt x="48779" y="195802"/>
                  <a:pt x="43566" y="194736"/>
                  <a:pt x="40066" y="191274"/>
                </a:cubicBezTo>
                <a:close/>
              </a:path>
            </a:pathLst>
          </a:custGeom>
          <a:solidFill>
            <a:srgbClr val="8B5CF6"/>
          </a:solidFill>
          <a:ln/>
        </p:spPr>
      </p:sp>
      <p:sp>
        <p:nvSpPr>
          <p:cNvPr id="23" name="Text 21"/>
          <p:cNvSpPr/>
          <p:nvPr/>
        </p:nvSpPr>
        <p:spPr>
          <a:xfrm>
            <a:off x="6606571" y="1675387"/>
            <a:ext cx="5178759" cy="227281"/>
          </a:xfrm>
          <a:prstGeom prst="rect">
            <a:avLst/>
          </a:prstGeom>
          <a:noFill/>
          <a:ln/>
        </p:spPr>
        <p:txBody>
          <a:bodyPr wrap="square" lIns="0" tIns="0" rIns="0" bIns="0" rtlCol="0" anchor="ctr"/>
          <a:lstStyle/>
          <a:p>
            <a:pPr>
              <a:lnSpc>
                <a:spcPct val="120000"/>
              </a:lnSpc>
            </a:pPr>
            <a:r>
              <a:rPr lang="en-US" sz="1278" b="1" dirty="0">
                <a:solidFill>
                  <a:srgbClr val="8B5CF6"/>
                </a:solidFill>
                <a:latin typeface="Liter" pitchFamily="34" charset="0"/>
                <a:ea typeface="Liter" pitchFamily="34" charset="-122"/>
                <a:cs typeface="Liter" pitchFamily="34" charset="-120"/>
              </a:rPr>
              <a:t>Luồng gọi API</a:t>
            </a:r>
            <a:endParaRPr lang="en-US" sz="1600" dirty="0"/>
          </a:p>
        </p:txBody>
      </p:sp>
      <p:sp>
        <p:nvSpPr>
          <p:cNvPr id="24" name="Shape 22"/>
          <p:cNvSpPr/>
          <p:nvPr/>
        </p:nvSpPr>
        <p:spPr>
          <a:xfrm>
            <a:off x="6363055" y="2146183"/>
            <a:ext cx="324687" cy="324687"/>
          </a:xfrm>
          <a:custGeom>
            <a:avLst/>
            <a:gdLst/>
            <a:ahLst/>
            <a:cxnLst/>
            <a:rect l="l" t="t" r="r" b="b"/>
            <a:pathLst>
              <a:path w="324687" h="324687">
                <a:moveTo>
                  <a:pt x="64937" y="0"/>
                </a:moveTo>
                <a:lnTo>
                  <a:pt x="259750" y="0"/>
                </a:lnTo>
                <a:cubicBezTo>
                  <a:pt x="295614" y="0"/>
                  <a:pt x="324687" y="29073"/>
                  <a:pt x="324687" y="64937"/>
                </a:cubicBezTo>
                <a:lnTo>
                  <a:pt x="324687" y="259750"/>
                </a:lnTo>
                <a:cubicBezTo>
                  <a:pt x="324687" y="295614"/>
                  <a:pt x="295614" y="324687"/>
                  <a:pt x="259750" y="324687"/>
                </a:cubicBezTo>
                <a:lnTo>
                  <a:pt x="64937" y="324687"/>
                </a:lnTo>
                <a:cubicBezTo>
                  <a:pt x="29073" y="324687"/>
                  <a:pt x="0" y="295614"/>
                  <a:pt x="0" y="259750"/>
                </a:cubicBezTo>
                <a:lnTo>
                  <a:pt x="0" y="64937"/>
                </a:lnTo>
                <a:cubicBezTo>
                  <a:pt x="0" y="29097"/>
                  <a:pt x="29097" y="0"/>
                  <a:pt x="64937" y="0"/>
                </a:cubicBezTo>
                <a:close/>
              </a:path>
            </a:pathLst>
          </a:custGeom>
          <a:solidFill>
            <a:srgbClr val="3B82F6">
              <a:alpha val="20000"/>
            </a:srgbClr>
          </a:solidFill>
          <a:ln/>
        </p:spPr>
      </p:sp>
      <p:sp>
        <p:nvSpPr>
          <p:cNvPr id="25" name="Text 23"/>
          <p:cNvSpPr/>
          <p:nvPr/>
        </p:nvSpPr>
        <p:spPr>
          <a:xfrm>
            <a:off x="6499830" y="2211120"/>
            <a:ext cx="113640" cy="194812"/>
          </a:xfrm>
          <a:prstGeom prst="rect">
            <a:avLst/>
          </a:prstGeom>
          <a:noFill/>
          <a:ln/>
        </p:spPr>
        <p:txBody>
          <a:bodyPr wrap="square" lIns="0" tIns="0" rIns="0" bIns="0" rtlCol="0" anchor="ctr"/>
          <a:lstStyle/>
          <a:p>
            <a:pPr>
              <a:lnSpc>
                <a:spcPct val="130000"/>
              </a:lnSpc>
            </a:pPr>
            <a:r>
              <a:rPr lang="en-US" sz="1023" b="1" dirty="0">
                <a:solidFill>
                  <a:srgbClr val="3B82F6"/>
                </a:solidFill>
                <a:latin typeface="MiSans" pitchFamily="34" charset="0"/>
                <a:ea typeface="MiSans" pitchFamily="34" charset="-122"/>
                <a:cs typeface="MiSans" pitchFamily="34" charset="-120"/>
              </a:rPr>
              <a:t>1</a:t>
            </a:r>
            <a:endParaRPr lang="en-US" sz="1600" dirty="0"/>
          </a:p>
        </p:txBody>
      </p:sp>
      <p:sp>
        <p:nvSpPr>
          <p:cNvPr id="26" name="Shape 24"/>
          <p:cNvSpPr/>
          <p:nvPr/>
        </p:nvSpPr>
        <p:spPr>
          <a:xfrm>
            <a:off x="6785149" y="2032542"/>
            <a:ext cx="4919009" cy="551968"/>
          </a:xfrm>
          <a:custGeom>
            <a:avLst/>
            <a:gdLst/>
            <a:ahLst/>
            <a:cxnLst/>
            <a:rect l="l" t="t" r="r" b="b"/>
            <a:pathLst>
              <a:path w="4919009" h="551968">
                <a:moveTo>
                  <a:pt x="64939" y="0"/>
                </a:moveTo>
                <a:lnTo>
                  <a:pt x="4854070" y="0"/>
                </a:lnTo>
                <a:cubicBezTo>
                  <a:pt x="4889935" y="0"/>
                  <a:pt x="4919009" y="29074"/>
                  <a:pt x="4919009" y="64939"/>
                </a:cubicBezTo>
                <a:lnTo>
                  <a:pt x="4919009" y="487029"/>
                </a:lnTo>
                <a:cubicBezTo>
                  <a:pt x="4919009" y="522894"/>
                  <a:pt x="4889935" y="551968"/>
                  <a:pt x="4854070" y="551968"/>
                </a:cubicBezTo>
                <a:lnTo>
                  <a:pt x="64939" y="551968"/>
                </a:lnTo>
                <a:cubicBezTo>
                  <a:pt x="29074" y="551968"/>
                  <a:pt x="0" y="522894"/>
                  <a:pt x="0" y="487029"/>
                </a:cubicBezTo>
                <a:lnTo>
                  <a:pt x="0" y="64939"/>
                </a:lnTo>
                <a:cubicBezTo>
                  <a:pt x="0" y="29074"/>
                  <a:pt x="29074" y="0"/>
                  <a:pt x="64939" y="0"/>
                </a:cubicBezTo>
                <a:close/>
              </a:path>
            </a:pathLst>
          </a:custGeom>
          <a:solidFill>
            <a:srgbClr val="0F172A">
              <a:alpha val="50196"/>
            </a:srgbClr>
          </a:solidFill>
          <a:ln/>
        </p:spPr>
      </p:sp>
      <p:sp>
        <p:nvSpPr>
          <p:cNvPr id="27" name="Text 25"/>
          <p:cNvSpPr/>
          <p:nvPr/>
        </p:nvSpPr>
        <p:spPr>
          <a:xfrm>
            <a:off x="6882555" y="2129948"/>
            <a:ext cx="4789134" cy="194812"/>
          </a:xfrm>
          <a:prstGeom prst="rect">
            <a:avLst/>
          </a:prstGeom>
          <a:noFill/>
          <a:ln/>
        </p:spPr>
        <p:txBody>
          <a:bodyPr wrap="square" lIns="0" tIns="0" rIns="0" bIns="0" rtlCol="0" anchor="ctr"/>
          <a:lstStyle/>
          <a:p>
            <a:pPr>
              <a:lnSpc>
                <a:spcPct val="130000"/>
              </a:lnSpc>
            </a:pPr>
            <a:r>
              <a:rPr lang="en-US" sz="1023" b="1" dirty="0">
                <a:solidFill>
                  <a:srgbClr val="F8FAFC"/>
                </a:solidFill>
                <a:latin typeface="MiSans" pitchFamily="34" charset="0"/>
                <a:ea typeface="MiSans" pitchFamily="34" charset="-122"/>
                <a:cs typeface="MiSans" pitchFamily="34" charset="-120"/>
              </a:rPr>
              <a:t>Tạo Request</a:t>
            </a:r>
            <a:endParaRPr lang="en-US" sz="1600" dirty="0"/>
          </a:p>
        </p:txBody>
      </p:sp>
      <p:sp>
        <p:nvSpPr>
          <p:cNvPr id="28" name="Text 26"/>
          <p:cNvSpPr/>
          <p:nvPr/>
        </p:nvSpPr>
        <p:spPr>
          <a:xfrm>
            <a:off x="6882555" y="2324761"/>
            <a:ext cx="4781017" cy="162344"/>
          </a:xfrm>
          <a:prstGeom prst="rect">
            <a:avLst/>
          </a:prstGeom>
          <a:noFill/>
          <a:ln/>
        </p:spPr>
        <p:txBody>
          <a:bodyPr wrap="square" lIns="0" tIns="0" rIns="0" bIns="0" rtlCol="0" anchor="ctr"/>
          <a:lstStyle/>
          <a:p>
            <a:pPr>
              <a:lnSpc>
                <a:spcPct val="120000"/>
              </a:lnSpc>
            </a:pPr>
            <a:r>
              <a:rPr lang="en-US" sz="895" dirty="0">
                <a:solidFill>
                  <a:srgbClr val="F8FAFC">
                    <a:alpha val="60000"/>
                  </a:srgbClr>
                </a:solidFill>
                <a:latin typeface="MiSans" pitchFamily="34" charset="0"/>
                <a:ea typeface="MiSans" pitchFamily="34" charset="-122"/>
                <a:cs typeface="MiSans" pitchFamily="34" charset="-120"/>
              </a:rPr>
              <a:t>Model + Messages + Parameters</a:t>
            </a:r>
            <a:endParaRPr lang="en-US" sz="1600" dirty="0"/>
          </a:p>
        </p:txBody>
      </p:sp>
      <p:sp>
        <p:nvSpPr>
          <p:cNvPr id="29" name="Shape 27"/>
          <p:cNvSpPr/>
          <p:nvPr/>
        </p:nvSpPr>
        <p:spPr>
          <a:xfrm>
            <a:off x="8970698" y="2681917"/>
            <a:ext cx="121758" cy="162344"/>
          </a:xfrm>
          <a:custGeom>
            <a:avLst/>
            <a:gdLst/>
            <a:ahLst/>
            <a:cxnLst/>
            <a:rect l="l" t="t" r="r" b="b"/>
            <a:pathLst>
              <a:path w="121758" h="162344">
                <a:moveTo>
                  <a:pt x="53713" y="159363"/>
                </a:moveTo>
                <a:cubicBezTo>
                  <a:pt x="57676" y="163326"/>
                  <a:pt x="64113" y="163326"/>
                  <a:pt x="68076" y="159363"/>
                </a:cubicBezTo>
                <a:lnTo>
                  <a:pt x="118809" y="108631"/>
                </a:lnTo>
                <a:cubicBezTo>
                  <a:pt x="122772" y="104667"/>
                  <a:pt x="122772" y="98231"/>
                  <a:pt x="118809" y="94267"/>
                </a:cubicBezTo>
                <a:cubicBezTo>
                  <a:pt x="114845" y="90304"/>
                  <a:pt x="108409" y="90304"/>
                  <a:pt x="104445" y="94267"/>
                </a:cubicBezTo>
                <a:lnTo>
                  <a:pt x="71025" y="127687"/>
                </a:lnTo>
                <a:lnTo>
                  <a:pt x="71025" y="10146"/>
                </a:lnTo>
                <a:cubicBezTo>
                  <a:pt x="71025" y="4534"/>
                  <a:pt x="66491" y="0"/>
                  <a:pt x="60879" y="0"/>
                </a:cubicBezTo>
                <a:cubicBezTo>
                  <a:pt x="55267" y="0"/>
                  <a:pt x="50732" y="4534"/>
                  <a:pt x="50732" y="10146"/>
                </a:cubicBezTo>
                <a:lnTo>
                  <a:pt x="50732" y="127687"/>
                </a:lnTo>
                <a:lnTo>
                  <a:pt x="17312" y="94267"/>
                </a:lnTo>
                <a:cubicBezTo>
                  <a:pt x="13349" y="90304"/>
                  <a:pt x="6912" y="90304"/>
                  <a:pt x="2949" y="94267"/>
                </a:cubicBezTo>
                <a:cubicBezTo>
                  <a:pt x="-1015" y="98231"/>
                  <a:pt x="-1015" y="104667"/>
                  <a:pt x="2949" y="108631"/>
                </a:cubicBezTo>
                <a:lnTo>
                  <a:pt x="53681" y="159363"/>
                </a:lnTo>
                <a:close/>
              </a:path>
            </a:pathLst>
          </a:custGeom>
          <a:solidFill>
            <a:srgbClr val="8B5CF6"/>
          </a:solidFill>
          <a:ln/>
        </p:spPr>
      </p:sp>
      <p:sp>
        <p:nvSpPr>
          <p:cNvPr id="30" name="Shape 28"/>
          <p:cNvSpPr/>
          <p:nvPr/>
        </p:nvSpPr>
        <p:spPr>
          <a:xfrm>
            <a:off x="6363055" y="3055307"/>
            <a:ext cx="324687" cy="324687"/>
          </a:xfrm>
          <a:custGeom>
            <a:avLst/>
            <a:gdLst/>
            <a:ahLst/>
            <a:cxnLst/>
            <a:rect l="l" t="t" r="r" b="b"/>
            <a:pathLst>
              <a:path w="324687" h="324687">
                <a:moveTo>
                  <a:pt x="64937" y="0"/>
                </a:moveTo>
                <a:lnTo>
                  <a:pt x="259750" y="0"/>
                </a:lnTo>
                <a:cubicBezTo>
                  <a:pt x="295614" y="0"/>
                  <a:pt x="324687" y="29073"/>
                  <a:pt x="324687" y="64937"/>
                </a:cubicBezTo>
                <a:lnTo>
                  <a:pt x="324687" y="259750"/>
                </a:lnTo>
                <a:cubicBezTo>
                  <a:pt x="324687" y="295614"/>
                  <a:pt x="295614" y="324687"/>
                  <a:pt x="259750" y="324687"/>
                </a:cubicBezTo>
                <a:lnTo>
                  <a:pt x="64937" y="324687"/>
                </a:lnTo>
                <a:cubicBezTo>
                  <a:pt x="29073" y="324687"/>
                  <a:pt x="0" y="295614"/>
                  <a:pt x="0" y="259750"/>
                </a:cubicBezTo>
                <a:lnTo>
                  <a:pt x="0" y="64937"/>
                </a:lnTo>
                <a:cubicBezTo>
                  <a:pt x="0" y="29097"/>
                  <a:pt x="29097" y="0"/>
                  <a:pt x="64937" y="0"/>
                </a:cubicBezTo>
                <a:close/>
              </a:path>
            </a:pathLst>
          </a:custGeom>
          <a:solidFill>
            <a:srgbClr val="8B5CF6">
              <a:alpha val="20000"/>
            </a:srgbClr>
          </a:solidFill>
          <a:ln/>
        </p:spPr>
      </p:sp>
      <p:sp>
        <p:nvSpPr>
          <p:cNvPr id="31" name="Text 29"/>
          <p:cNvSpPr/>
          <p:nvPr/>
        </p:nvSpPr>
        <p:spPr>
          <a:xfrm>
            <a:off x="6488872" y="3120244"/>
            <a:ext cx="137992" cy="194812"/>
          </a:xfrm>
          <a:prstGeom prst="rect">
            <a:avLst/>
          </a:prstGeom>
          <a:noFill/>
          <a:ln/>
        </p:spPr>
        <p:txBody>
          <a:bodyPr wrap="square" lIns="0" tIns="0" rIns="0" bIns="0" rtlCol="0" anchor="ctr"/>
          <a:lstStyle/>
          <a:p>
            <a:pPr>
              <a:lnSpc>
                <a:spcPct val="130000"/>
              </a:lnSpc>
            </a:pPr>
            <a:r>
              <a:rPr lang="en-US" sz="1023" b="1" dirty="0">
                <a:solidFill>
                  <a:srgbClr val="8B5CF6"/>
                </a:solidFill>
                <a:latin typeface="MiSans" pitchFamily="34" charset="0"/>
                <a:ea typeface="MiSans" pitchFamily="34" charset="-122"/>
                <a:cs typeface="MiSans" pitchFamily="34" charset="-120"/>
              </a:rPr>
              <a:t>2</a:t>
            </a:r>
            <a:endParaRPr lang="en-US" sz="1600" dirty="0"/>
          </a:p>
        </p:txBody>
      </p:sp>
      <p:sp>
        <p:nvSpPr>
          <p:cNvPr id="32" name="Shape 30"/>
          <p:cNvSpPr/>
          <p:nvPr/>
        </p:nvSpPr>
        <p:spPr>
          <a:xfrm>
            <a:off x="6785149" y="2941666"/>
            <a:ext cx="4919009" cy="551968"/>
          </a:xfrm>
          <a:custGeom>
            <a:avLst/>
            <a:gdLst/>
            <a:ahLst/>
            <a:cxnLst/>
            <a:rect l="l" t="t" r="r" b="b"/>
            <a:pathLst>
              <a:path w="4919009" h="551968">
                <a:moveTo>
                  <a:pt x="64939" y="0"/>
                </a:moveTo>
                <a:lnTo>
                  <a:pt x="4854070" y="0"/>
                </a:lnTo>
                <a:cubicBezTo>
                  <a:pt x="4889935" y="0"/>
                  <a:pt x="4919009" y="29074"/>
                  <a:pt x="4919009" y="64939"/>
                </a:cubicBezTo>
                <a:lnTo>
                  <a:pt x="4919009" y="487029"/>
                </a:lnTo>
                <a:cubicBezTo>
                  <a:pt x="4919009" y="522894"/>
                  <a:pt x="4889935" y="551968"/>
                  <a:pt x="4854070" y="551968"/>
                </a:cubicBezTo>
                <a:lnTo>
                  <a:pt x="64939" y="551968"/>
                </a:lnTo>
                <a:cubicBezTo>
                  <a:pt x="29074" y="551968"/>
                  <a:pt x="0" y="522894"/>
                  <a:pt x="0" y="487029"/>
                </a:cubicBezTo>
                <a:lnTo>
                  <a:pt x="0" y="64939"/>
                </a:lnTo>
                <a:cubicBezTo>
                  <a:pt x="0" y="29074"/>
                  <a:pt x="29074" y="0"/>
                  <a:pt x="64939" y="0"/>
                </a:cubicBezTo>
                <a:close/>
              </a:path>
            </a:pathLst>
          </a:custGeom>
          <a:solidFill>
            <a:srgbClr val="0F172A">
              <a:alpha val="50196"/>
            </a:srgbClr>
          </a:solidFill>
          <a:ln/>
        </p:spPr>
      </p:sp>
      <p:sp>
        <p:nvSpPr>
          <p:cNvPr id="33" name="Text 31"/>
          <p:cNvSpPr/>
          <p:nvPr/>
        </p:nvSpPr>
        <p:spPr>
          <a:xfrm>
            <a:off x="6882555" y="3039072"/>
            <a:ext cx="4789134" cy="194812"/>
          </a:xfrm>
          <a:prstGeom prst="rect">
            <a:avLst/>
          </a:prstGeom>
          <a:noFill/>
          <a:ln/>
        </p:spPr>
        <p:txBody>
          <a:bodyPr wrap="square" lIns="0" tIns="0" rIns="0" bIns="0" rtlCol="0" anchor="ctr"/>
          <a:lstStyle/>
          <a:p>
            <a:pPr>
              <a:lnSpc>
                <a:spcPct val="130000"/>
              </a:lnSpc>
            </a:pPr>
            <a:r>
              <a:rPr lang="en-US" sz="1023" b="1" dirty="0">
                <a:solidFill>
                  <a:srgbClr val="F8FAFC"/>
                </a:solidFill>
                <a:latin typeface="MiSans" pitchFamily="34" charset="0"/>
                <a:ea typeface="MiSans" pitchFamily="34" charset="-122"/>
                <a:cs typeface="MiSans" pitchFamily="34" charset="-120"/>
              </a:rPr>
              <a:t>Gửi đến OpenAI</a:t>
            </a:r>
            <a:endParaRPr lang="en-US" sz="1600" dirty="0"/>
          </a:p>
        </p:txBody>
      </p:sp>
      <p:sp>
        <p:nvSpPr>
          <p:cNvPr id="34" name="Text 32"/>
          <p:cNvSpPr/>
          <p:nvPr/>
        </p:nvSpPr>
        <p:spPr>
          <a:xfrm>
            <a:off x="6882555" y="3233885"/>
            <a:ext cx="4781017" cy="162344"/>
          </a:xfrm>
          <a:prstGeom prst="rect">
            <a:avLst/>
          </a:prstGeom>
          <a:noFill/>
          <a:ln/>
        </p:spPr>
        <p:txBody>
          <a:bodyPr wrap="square" lIns="0" tIns="0" rIns="0" bIns="0" rtlCol="0" anchor="ctr"/>
          <a:lstStyle/>
          <a:p>
            <a:pPr>
              <a:lnSpc>
                <a:spcPct val="120000"/>
              </a:lnSpc>
            </a:pPr>
            <a:r>
              <a:rPr lang="en-US" sz="895" dirty="0">
                <a:solidFill>
                  <a:srgbClr val="F8FAFC">
                    <a:alpha val="60000"/>
                  </a:srgbClr>
                </a:solidFill>
                <a:latin typeface="MiSans" pitchFamily="34" charset="0"/>
                <a:ea typeface="MiSans" pitchFamily="34" charset="-122"/>
                <a:cs typeface="MiSans" pitchFamily="34" charset="-120"/>
              </a:rPr>
              <a:t>HTTP POST /v1/chat/completions</a:t>
            </a:r>
            <a:endParaRPr lang="en-US" sz="1600" dirty="0"/>
          </a:p>
        </p:txBody>
      </p:sp>
      <p:sp>
        <p:nvSpPr>
          <p:cNvPr id="35" name="Shape 33"/>
          <p:cNvSpPr/>
          <p:nvPr/>
        </p:nvSpPr>
        <p:spPr>
          <a:xfrm>
            <a:off x="8970698" y="3591040"/>
            <a:ext cx="121758" cy="162344"/>
          </a:xfrm>
          <a:custGeom>
            <a:avLst/>
            <a:gdLst/>
            <a:ahLst/>
            <a:cxnLst/>
            <a:rect l="l" t="t" r="r" b="b"/>
            <a:pathLst>
              <a:path w="121758" h="162344">
                <a:moveTo>
                  <a:pt x="53713" y="159363"/>
                </a:moveTo>
                <a:cubicBezTo>
                  <a:pt x="57676" y="163326"/>
                  <a:pt x="64113" y="163326"/>
                  <a:pt x="68076" y="159363"/>
                </a:cubicBezTo>
                <a:lnTo>
                  <a:pt x="118809" y="108631"/>
                </a:lnTo>
                <a:cubicBezTo>
                  <a:pt x="122772" y="104667"/>
                  <a:pt x="122772" y="98231"/>
                  <a:pt x="118809" y="94267"/>
                </a:cubicBezTo>
                <a:cubicBezTo>
                  <a:pt x="114845" y="90304"/>
                  <a:pt x="108409" y="90304"/>
                  <a:pt x="104445" y="94267"/>
                </a:cubicBezTo>
                <a:lnTo>
                  <a:pt x="71025" y="127687"/>
                </a:lnTo>
                <a:lnTo>
                  <a:pt x="71025" y="10146"/>
                </a:lnTo>
                <a:cubicBezTo>
                  <a:pt x="71025" y="4534"/>
                  <a:pt x="66491" y="0"/>
                  <a:pt x="60879" y="0"/>
                </a:cubicBezTo>
                <a:cubicBezTo>
                  <a:pt x="55267" y="0"/>
                  <a:pt x="50732" y="4534"/>
                  <a:pt x="50732" y="10146"/>
                </a:cubicBezTo>
                <a:lnTo>
                  <a:pt x="50732" y="127687"/>
                </a:lnTo>
                <a:lnTo>
                  <a:pt x="17312" y="94267"/>
                </a:lnTo>
                <a:cubicBezTo>
                  <a:pt x="13349" y="90304"/>
                  <a:pt x="6912" y="90304"/>
                  <a:pt x="2949" y="94267"/>
                </a:cubicBezTo>
                <a:cubicBezTo>
                  <a:pt x="-1015" y="98231"/>
                  <a:pt x="-1015" y="104667"/>
                  <a:pt x="2949" y="108631"/>
                </a:cubicBezTo>
                <a:lnTo>
                  <a:pt x="53681" y="159363"/>
                </a:lnTo>
                <a:close/>
              </a:path>
            </a:pathLst>
          </a:custGeom>
          <a:solidFill>
            <a:srgbClr val="8B5CF6"/>
          </a:solidFill>
          <a:ln/>
        </p:spPr>
      </p:sp>
      <p:sp>
        <p:nvSpPr>
          <p:cNvPr id="36" name="Shape 34"/>
          <p:cNvSpPr/>
          <p:nvPr/>
        </p:nvSpPr>
        <p:spPr>
          <a:xfrm>
            <a:off x="6363055" y="3964430"/>
            <a:ext cx="324687" cy="324687"/>
          </a:xfrm>
          <a:custGeom>
            <a:avLst/>
            <a:gdLst/>
            <a:ahLst/>
            <a:cxnLst/>
            <a:rect l="l" t="t" r="r" b="b"/>
            <a:pathLst>
              <a:path w="324687" h="324687">
                <a:moveTo>
                  <a:pt x="64937" y="0"/>
                </a:moveTo>
                <a:lnTo>
                  <a:pt x="259750" y="0"/>
                </a:lnTo>
                <a:cubicBezTo>
                  <a:pt x="295614" y="0"/>
                  <a:pt x="324687" y="29073"/>
                  <a:pt x="324687" y="64937"/>
                </a:cubicBezTo>
                <a:lnTo>
                  <a:pt x="324687" y="259750"/>
                </a:lnTo>
                <a:cubicBezTo>
                  <a:pt x="324687" y="295614"/>
                  <a:pt x="295614" y="324687"/>
                  <a:pt x="259750" y="324687"/>
                </a:cubicBezTo>
                <a:lnTo>
                  <a:pt x="64937" y="324687"/>
                </a:lnTo>
                <a:cubicBezTo>
                  <a:pt x="29073" y="324687"/>
                  <a:pt x="0" y="295614"/>
                  <a:pt x="0" y="259750"/>
                </a:cubicBezTo>
                <a:lnTo>
                  <a:pt x="0" y="64937"/>
                </a:lnTo>
                <a:cubicBezTo>
                  <a:pt x="0" y="29097"/>
                  <a:pt x="29097" y="0"/>
                  <a:pt x="64937" y="0"/>
                </a:cubicBezTo>
                <a:close/>
              </a:path>
            </a:pathLst>
          </a:custGeom>
          <a:solidFill>
            <a:srgbClr val="10B981">
              <a:alpha val="20000"/>
            </a:srgbClr>
          </a:solidFill>
          <a:ln/>
        </p:spPr>
      </p:sp>
      <p:sp>
        <p:nvSpPr>
          <p:cNvPr id="37" name="Text 35"/>
          <p:cNvSpPr/>
          <p:nvPr/>
        </p:nvSpPr>
        <p:spPr>
          <a:xfrm>
            <a:off x="6487146" y="4029368"/>
            <a:ext cx="137992" cy="194812"/>
          </a:xfrm>
          <a:prstGeom prst="rect">
            <a:avLst/>
          </a:prstGeom>
          <a:noFill/>
          <a:ln/>
        </p:spPr>
        <p:txBody>
          <a:bodyPr wrap="square" lIns="0" tIns="0" rIns="0" bIns="0" rtlCol="0" anchor="ctr"/>
          <a:lstStyle/>
          <a:p>
            <a:pPr>
              <a:lnSpc>
                <a:spcPct val="130000"/>
              </a:lnSpc>
            </a:pPr>
            <a:r>
              <a:rPr lang="en-US" sz="1023" b="1" dirty="0">
                <a:solidFill>
                  <a:srgbClr val="10B981"/>
                </a:solidFill>
                <a:latin typeface="MiSans" pitchFamily="34" charset="0"/>
                <a:ea typeface="MiSans" pitchFamily="34" charset="-122"/>
                <a:cs typeface="MiSans" pitchFamily="34" charset="-120"/>
              </a:rPr>
              <a:t>3</a:t>
            </a:r>
            <a:endParaRPr lang="en-US" sz="1600" dirty="0"/>
          </a:p>
        </p:txBody>
      </p:sp>
      <p:sp>
        <p:nvSpPr>
          <p:cNvPr id="38" name="Shape 36"/>
          <p:cNvSpPr/>
          <p:nvPr/>
        </p:nvSpPr>
        <p:spPr>
          <a:xfrm>
            <a:off x="6785149" y="3850790"/>
            <a:ext cx="4919009" cy="551968"/>
          </a:xfrm>
          <a:custGeom>
            <a:avLst/>
            <a:gdLst/>
            <a:ahLst/>
            <a:cxnLst/>
            <a:rect l="l" t="t" r="r" b="b"/>
            <a:pathLst>
              <a:path w="4919009" h="551968">
                <a:moveTo>
                  <a:pt x="64939" y="0"/>
                </a:moveTo>
                <a:lnTo>
                  <a:pt x="4854070" y="0"/>
                </a:lnTo>
                <a:cubicBezTo>
                  <a:pt x="4889935" y="0"/>
                  <a:pt x="4919009" y="29074"/>
                  <a:pt x="4919009" y="64939"/>
                </a:cubicBezTo>
                <a:lnTo>
                  <a:pt x="4919009" y="487029"/>
                </a:lnTo>
                <a:cubicBezTo>
                  <a:pt x="4919009" y="522894"/>
                  <a:pt x="4889935" y="551968"/>
                  <a:pt x="4854070" y="551968"/>
                </a:cubicBezTo>
                <a:lnTo>
                  <a:pt x="64939" y="551968"/>
                </a:lnTo>
                <a:cubicBezTo>
                  <a:pt x="29074" y="551968"/>
                  <a:pt x="0" y="522894"/>
                  <a:pt x="0" y="487029"/>
                </a:cubicBezTo>
                <a:lnTo>
                  <a:pt x="0" y="64939"/>
                </a:lnTo>
                <a:cubicBezTo>
                  <a:pt x="0" y="29074"/>
                  <a:pt x="29074" y="0"/>
                  <a:pt x="64939" y="0"/>
                </a:cubicBezTo>
                <a:close/>
              </a:path>
            </a:pathLst>
          </a:custGeom>
          <a:solidFill>
            <a:srgbClr val="0F172A">
              <a:alpha val="50196"/>
            </a:srgbClr>
          </a:solidFill>
          <a:ln/>
        </p:spPr>
      </p:sp>
      <p:sp>
        <p:nvSpPr>
          <p:cNvPr id="39" name="Text 37"/>
          <p:cNvSpPr/>
          <p:nvPr/>
        </p:nvSpPr>
        <p:spPr>
          <a:xfrm>
            <a:off x="6882555" y="3948196"/>
            <a:ext cx="4789134" cy="194812"/>
          </a:xfrm>
          <a:prstGeom prst="rect">
            <a:avLst/>
          </a:prstGeom>
          <a:noFill/>
          <a:ln/>
        </p:spPr>
        <p:txBody>
          <a:bodyPr wrap="square" lIns="0" tIns="0" rIns="0" bIns="0" rtlCol="0" anchor="ctr"/>
          <a:lstStyle/>
          <a:p>
            <a:pPr>
              <a:lnSpc>
                <a:spcPct val="130000"/>
              </a:lnSpc>
            </a:pPr>
            <a:r>
              <a:rPr lang="en-US" sz="1023" b="1" dirty="0">
                <a:solidFill>
                  <a:srgbClr val="F8FAFC"/>
                </a:solidFill>
                <a:latin typeface="MiSans" pitchFamily="34" charset="0"/>
                <a:ea typeface="MiSans" pitchFamily="34" charset="-122"/>
                <a:cs typeface="MiSans" pitchFamily="34" charset="-120"/>
              </a:rPr>
              <a:t>Nhận Response</a:t>
            </a:r>
            <a:endParaRPr lang="en-US" sz="1600" dirty="0"/>
          </a:p>
        </p:txBody>
      </p:sp>
      <p:sp>
        <p:nvSpPr>
          <p:cNvPr id="40" name="Text 38"/>
          <p:cNvSpPr/>
          <p:nvPr/>
        </p:nvSpPr>
        <p:spPr>
          <a:xfrm>
            <a:off x="6882555" y="4143008"/>
            <a:ext cx="4781017" cy="162344"/>
          </a:xfrm>
          <a:prstGeom prst="rect">
            <a:avLst/>
          </a:prstGeom>
          <a:noFill/>
          <a:ln/>
        </p:spPr>
        <p:txBody>
          <a:bodyPr wrap="square" lIns="0" tIns="0" rIns="0" bIns="0" rtlCol="0" anchor="ctr"/>
          <a:lstStyle/>
          <a:p>
            <a:pPr>
              <a:lnSpc>
                <a:spcPct val="120000"/>
              </a:lnSpc>
            </a:pPr>
            <a:r>
              <a:rPr lang="en-US" sz="895" dirty="0">
                <a:solidFill>
                  <a:srgbClr val="F8FAFC">
                    <a:alpha val="60000"/>
                  </a:srgbClr>
                </a:solidFill>
                <a:latin typeface="MiSans" pitchFamily="34" charset="0"/>
                <a:ea typeface="MiSans" pitchFamily="34" charset="-122"/>
                <a:cs typeface="MiSans" pitchFamily="34" charset="-120"/>
              </a:rPr>
              <a:t>Content + Usage + Choices</a:t>
            </a:r>
            <a:endParaRPr lang="en-US" sz="1600" dirty="0"/>
          </a:p>
        </p:txBody>
      </p:sp>
      <p:sp>
        <p:nvSpPr>
          <p:cNvPr id="41" name="Shape 39"/>
          <p:cNvSpPr/>
          <p:nvPr/>
        </p:nvSpPr>
        <p:spPr>
          <a:xfrm>
            <a:off x="6197465" y="4704715"/>
            <a:ext cx="5672283" cy="2149428"/>
          </a:xfrm>
          <a:custGeom>
            <a:avLst/>
            <a:gdLst/>
            <a:ahLst/>
            <a:cxnLst/>
            <a:rect l="l" t="t" r="r" b="b"/>
            <a:pathLst>
              <a:path w="5672283" h="2149428">
                <a:moveTo>
                  <a:pt x="129868" y="0"/>
                </a:moveTo>
                <a:lnTo>
                  <a:pt x="5542415" y="0"/>
                </a:lnTo>
                <a:cubicBezTo>
                  <a:pt x="5614139" y="0"/>
                  <a:pt x="5672283" y="58144"/>
                  <a:pt x="5672283" y="129868"/>
                </a:cubicBezTo>
                <a:lnTo>
                  <a:pt x="5672283" y="2019560"/>
                </a:lnTo>
                <a:cubicBezTo>
                  <a:pt x="5672283" y="2091284"/>
                  <a:pt x="5614139" y="2149428"/>
                  <a:pt x="5542415" y="2149428"/>
                </a:cubicBezTo>
                <a:lnTo>
                  <a:pt x="129868" y="2149428"/>
                </a:lnTo>
                <a:cubicBezTo>
                  <a:pt x="58144" y="2149428"/>
                  <a:pt x="0" y="2091284"/>
                  <a:pt x="0" y="2019560"/>
                </a:cubicBezTo>
                <a:lnTo>
                  <a:pt x="0" y="129868"/>
                </a:lnTo>
                <a:cubicBezTo>
                  <a:pt x="0" y="58192"/>
                  <a:pt x="58192" y="0"/>
                  <a:pt x="129868" y="0"/>
                </a:cubicBezTo>
                <a:close/>
              </a:path>
            </a:pathLst>
          </a:custGeom>
          <a:gradFill rotWithShape="1" flip="none">
            <a:gsLst>
              <a:gs pos="0">
                <a:srgbClr val="1E293B"/>
              </a:gs>
              <a:gs pos="100000">
                <a:srgbClr val="1E293B">
                  <a:alpha val="50000"/>
                </a:srgbClr>
              </a:gs>
            </a:gsLst>
            <a:lin ang="2700000" scaled="1"/>
          </a:gradFill>
          <a:ln w="10160">
            <a:solidFill>
              <a:srgbClr val="10B981">
                <a:alpha val="30196"/>
              </a:srgbClr>
            </a:solidFill>
            <a:prstDash val="solid"/>
          </a:ln>
        </p:spPr>
      </p:sp>
      <p:sp>
        <p:nvSpPr>
          <p:cNvPr id="42" name="Shape 40"/>
          <p:cNvSpPr/>
          <p:nvPr/>
        </p:nvSpPr>
        <p:spPr>
          <a:xfrm>
            <a:off x="6383348" y="4910892"/>
            <a:ext cx="146109" cy="146109"/>
          </a:xfrm>
          <a:custGeom>
            <a:avLst/>
            <a:gdLst/>
            <a:ahLst/>
            <a:cxnLst/>
            <a:rect l="l" t="t" r="r" b="b"/>
            <a:pathLst>
              <a:path w="146109" h="146109">
                <a:moveTo>
                  <a:pt x="95884" y="100450"/>
                </a:moveTo>
                <a:cubicBezTo>
                  <a:pt x="123622" y="100450"/>
                  <a:pt x="146109" y="77963"/>
                  <a:pt x="146109" y="50225"/>
                </a:cubicBezTo>
                <a:cubicBezTo>
                  <a:pt x="146109" y="22487"/>
                  <a:pt x="123622" y="0"/>
                  <a:pt x="95884" y="0"/>
                </a:cubicBezTo>
                <a:cubicBezTo>
                  <a:pt x="68146" y="0"/>
                  <a:pt x="45659" y="22487"/>
                  <a:pt x="45659" y="50225"/>
                </a:cubicBezTo>
                <a:cubicBezTo>
                  <a:pt x="45659" y="55561"/>
                  <a:pt x="46487" y="60727"/>
                  <a:pt x="48028" y="65549"/>
                </a:cubicBezTo>
                <a:lnTo>
                  <a:pt x="1998" y="111579"/>
                </a:lnTo>
                <a:cubicBezTo>
                  <a:pt x="713" y="112864"/>
                  <a:pt x="0" y="114604"/>
                  <a:pt x="0" y="116431"/>
                </a:cubicBezTo>
                <a:lnTo>
                  <a:pt x="0" y="139260"/>
                </a:lnTo>
                <a:cubicBezTo>
                  <a:pt x="0" y="143056"/>
                  <a:pt x="3053" y="146109"/>
                  <a:pt x="6849" y="146109"/>
                </a:cubicBezTo>
                <a:lnTo>
                  <a:pt x="29678" y="146109"/>
                </a:lnTo>
                <a:cubicBezTo>
                  <a:pt x="33474" y="146109"/>
                  <a:pt x="36527" y="143056"/>
                  <a:pt x="36527" y="139260"/>
                </a:cubicBezTo>
                <a:lnTo>
                  <a:pt x="36527" y="127846"/>
                </a:lnTo>
                <a:lnTo>
                  <a:pt x="47942" y="127846"/>
                </a:lnTo>
                <a:cubicBezTo>
                  <a:pt x="51737" y="127846"/>
                  <a:pt x="54791" y="124792"/>
                  <a:pt x="54791" y="120997"/>
                </a:cubicBezTo>
                <a:lnTo>
                  <a:pt x="54791" y="109582"/>
                </a:lnTo>
                <a:lnTo>
                  <a:pt x="66206" y="109582"/>
                </a:lnTo>
                <a:cubicBezTo>
                  <a:pt x="68032" y="109582"/>
                  <a:pt x="69773" y="108868"/>
                  <a:pt x="71057" y="107584"/>
                </a:cubicBezTo>
                <a:lnTo>
                  <a:pt x="80560" y="98081"/>
                </a:lnTo>
                <a:cubicBezTo>
                  <a:pt x="85383" y="99622"/>
                  <a:pt x="90548" y="100450"/>
                  <a:pt x="95884" y="100450"/>
                </a:cubicBezTo>
                <a:close/>
                <a:moveTo>
                  <a:pt x="107299" y="27395"/>
                </a:moveTo>
                <a:cubicBezTo>
                  <a:pt x="113599" y="27395"/>
                  <a:pt x="118714" y="32510"/>
                  <a:pt x="118714" y="38810"/>
                </a:cubicBezTo>
                <a:cubicBezTo>
                  <a:pt x="118714" y="45110"/>
                  <a:pt x="113599" y="50225"/>
                  <a:pt x="107299" y="50225"/>
                </a:cubicBezTo>
                <a:cubicBezTo>
                  <a:pt x="100999" y="50225"/>
                  <a:pt x="95884" y="45110"/>
                  <a:pt x="95884" y="38810"/>
                </a:cubicBezTo>
                <a:cubicBezTo>
                  <a:pt x="95884" y="32510"/>
                  <a:pt x="100999" y="27395"/>
                  <a:pt x="107299" y="27395"/>
                </a:cubicBezTo>
                <a:close/>
              </a:path>
            </a:pathLst>
          </a:custGeom>
          <a:solidFill>
            <a:srgbClr val="10B981"/>
          </a:solidFill>
          <a:ln/>
        </p:spPr>
      </p:sp>
      <p:sp>
        <p:nvSpPr>
          <p:cNvPr id="43" name="Text 41"/>
          <p:cNvSpPr/>
          <p:nvPr/>
        </p:nvSpPr>
        <p:spPr>
          <a:xfrm>
            <a:off x="6549750" y="4870306"/>
            <a:ext cx="5227462" cy="227281"/>
          </a:xfrm>
          <a:prstGeom prst="rect">
            <a:avLst/>
          </a:prstGeom>
          <a:noFill/>
          <a:ln/>
        </p:spPr>
        <p:txBody>
          <a:bodyPr wrap="square" lIns="0" tIns="0" rIns="0" bIns="0" rtlCol="0" anchor="ctr"/>
          <a:lstStyle/>
          <a:p>
            <a:pPr>
              <a:lnSpc>
                <a:spcPct val="130000"/>
              </a:lnSpc>
            </a:pPr>
            <a:r>
              <a:rPr lang="en-US" sz="1150" b="1" dirty="0">
                <a:solidFill>
                  <a:srgbClr val="10B981"/>
                </a:solidFill>
                <a:latin typeface="Liter" pitchFamily="34" charset="0"/>
                <a:ea typeface="Liter" pitchFamily="34" charset="-122"/>
                <a:cs typeface="Liter" pitchFamily="34" charset="-120"/>
              </a:rPr>
              <a:t>Cấu trúc Request</a:t>
            </a:r>
            <a:endParaRPr lang="en-US" sz="1600" dirty="0"/>
          </a:p>
        </p:txBody>
      </p:sp>
      <p:sp>
        <p:nvSpPr>
          <p:cNvPr id="44" name="Shape 42"/>
          <p:cNvSpPr/>
          <p:nvPr/>
        </p:nvSpPr>
        <p:spPr>
          <a:xfrm>
            <a:off x="6363055" y="5194993"/>
            <a:ext cx="5341103" cy="1493561"/>
          </a:xfrm>
          <a:custGeom>
            <a:avLst/>
            <a:gdLst/>
            <a:ahLst/>
            <a:cxnLst/>
            <a:rect l="l" t="t" r="r" b="b"/>
            <a:pathLst>
              <a:path w="5341103" h="1493561">
                <a:moveTo>
                  <a:pt x="64940" y="0"/>
                </a:moveTo>
                <a:lnTo>
                  <a:pt x="5276163" y="0"/>
                </a:lnTo>
                <a:cubicBezTo>
                  <a:pt x="5312028" y="0"/>
                  <a:pt x="5341103" y="29075"/>
                  <a:pt x="5341103" y="64940"/>
                </a:cubicBezTo>
                <a:lnTo>
                  <a:pt x="5341103" y="1428621"/>
                </a:lnTo>
                <a:cubicBezTo>
                  <a:pt x="5341103" y="1464486"/>
                  <a:pt x="5312028" y="1493561"/>
                  <a:pt x="5276163" y="1493561"/>
                </a:cubicBezTo>
                <a:lnTo>
                  <a:pt x="64940" y="1493561"/>
                </a:lnTo>
                <a:cubicBezTo>
                  <a:pt x="29075" y="1493561"/>
                  <a:pt x="0" y="1464486"/>
                  <a:pt x="0" y="1428621"/>
                </a:cubicBezTo>
                <a:lnTo>
                  <a:pt x="0" y="64940"/>
                </a:lnTo>
                <a:cubicBezTo>
                  <a:pt x="0" y="29099"/>
                  <a:pt x="29099" y="0"/>
                  <a:pt x="64940" y="0"/>
                </a:cubicBezTo>
                <a:close/>
              </a:path>
            </a:pathLst>
          </a:custGeom>
          <a:solidFill>
            <a:srgbClr val="0F172A"/>
          </a:solidFill>
          <a:ln/>
        </p:spPr>
      </p:sp>
      <p:sp>
        <p:nvSpPr>
          <p:cNvPr id="45" name="Text 43"/>
          <p:cNvSpPr/>
          <p:nvPr/>
        </p:nvSpPr>
        <p:spPr>
          <a:xfrm>
            <a:off x="6460461" y="5292399"/>
            <a:ext cx="5203111" cy="162344"/>
          </a:xfrm>
          <a:prstGeom prst="rect">
            <a:avLst/>
          </a:prstGeom>
          <a:noFill/>
          <a:ln/>
        </p:spPr>
        <p:txBody>
          <a:bodyPr wrap="square" lIns="0" tIns="0" rIns="0" bIns="0" rtlCol="0" anchor="ctr"/>
          <a:lstStyle/>
          <a:p>
            <a:pPr>
              <a:lnSpc>
                <a:spcPct val="120000"/>
              </a:lnSpc>
            </a:pPr>
            <a:r>
              <a:rPr lang="en-US" sz="895" dirty="0">
                <a:solidFill>
                  <a:srgbClr val="8B5CF6"/>
                </a:solidFill>
                <a:latin typeface="MiSans" pitchFamily="34" charset="0"/>
                <a:ea typeface="MiSans" pitchFamily="34" charset="-122"/>
                <a:cs typeface="MiSans" pitchFamily="34" charset="-120"/>
              </a:rPr>
              <a:t>model:</a:t>
            </a:r>
            <a:endParaRPr lang="en-US" sz="1600" dirty="0"/>
          </a:p>
        </p:txBody>
      </p:sp>
      <p:sp>
        <p:nvSpPr>
          <p:cNvPr id="46" name="Text 44"/>
          <p:cNvSpPr/>
          <p:nvPr/>
        </p:nvSpPr>
        <p:spPr>
          <a:xfrm>
            <a:off x="6590336" y="5454743"/>
            <a:ext cx="5073236" cy="162344"/>
          </a:xfrm>
          <a:prstGeom prst="rect">
            <a:avLst/>
          </a:prstGeom>
          <a:noFill/>
          <a:ln/>
        </p:spPr>
        <p:txBody>
          <a:bodyPr wrap="square" lIns="0" tIns="0" rIns="0" bIns="0" rtlCol="0" anchor="ctr"/>
          <a:lstStyle/>
          <a:p>
            <a:pPr>
              <a:lnSpc>
                <a:spcPct val="120000"/>
              </a:lnSpc>
            </a:pPr>
            <a:r>
              <a:rPr lang="en-US" sz="895" dirty="0">
                <a:solidFill>
                  <a:srgbClr val="10B981"/>
                </a:solidFill>
                <a:latin typeface="MiSans" pitchFamily="34" charset="0"/>
                <a:ea typeface="MiSans" pitchFamily="34" charset="-122"/>
                <a:cs typeface="MiSans" pitchFamily="34" charset="-120"/>
              </a:rPr>
              <a:t>"gpt-4o"</a:t>
            </a:r>
            <a:endParaRPr lang="en-US" sz="1600" dirty="0"/>
          </a:p>
        </p:txBody>
      </p:sp>
      <p:sp>
        <p:nvSpPr>
          <p:cNvPr id="47" name="Text 45"/>
          <p:cNvSpPr/>
          <p:nvPr/>
        </p:nvSpPr>
        <p:spPr>
          <a:xfrm>
            <a:off x="6460461" y="5617087"/>
            <a:ext cx="5203111" cy="162344"/>
          </a:xfrm>
          <a:prstGeom prst="rect">
            <a:avLst/>
          </a:prstGeom>
          <a:noFill/>
          <a:ln/>
        </p:spPr>
        <p:txBody>
          <a:bodyPr wrap="square" lIns="0" tIns="0" rIns="0" bIns="0" rtlCol="0" anchor="ctr"/>
          <a:lstStyle/>
          <a:p>
            <a:pPr>
              <a:lnSpc>
                <a:spcPct val="120000"/>
              </a:lnSpc>
            </a:pPr>
            <a:r>
              <a:rPr lang="en-US" sz="895" dirty="0">
                <a:solidFill>
                  <a:srgbClr val="8B5CF6"/>
                </a:solidFill>
                <a:latin typeface="MiSans" pitchFamily="34" charset="0"/>
                <a:ea typeface="MiSans" pitchFamily="34" charset="-122"/>
                <a:cs typeface="MiSans" pitchFamily="34" charset="-120"/>
              </a:rPr>
              <a:t>messages:</a:t>
            </a:r>
            <a:endParaRPr lang="en-US" sz="1600" dirty="0"/>
          </a:p>
        </p:txBody>
      </p:sp>
      <p:sp>
        <p:nvSpPr>
          <p:cNvPr id="48" name="Text 46"/>
          <p:cNvSpPr/>
          <p:nvPr/>
        </p:nvSpPr>
        <p:spPr>
          <a:xfrm>
            <a:off x="6590336" y="5779430"/>
            <a:ext cx="5073236" cy="162344"/>
          </a:xfrm>
          <a:prstGeom prst="rect">
            <a:avLst/>
          </a:prstGeom>
          <a:noFill/>
          <a:ln/>
        </p:spPr>
        <p:txBody>
          <a:bodyPr wrap="square" lIns="0" tIns="0" rIns="0" bIns="0" rtlCol="0" anchor="ctr"/>
          <a:lstStyle/>
          <a:p>
            <a:pPr>
              <a:lnSpc>
                <a:spcPct val="120000"/>
              </a:lnSpc>
            </a:pPr>
            <a:r>
              <a:rPr lang="en-US" sz="895" dirty="0">
                <a:solidFill>
                  <a:srgbClr val="F8FAFC">
                    <a:alpha val="60000"/>
                  </a:srgbClr>
                </a:solidFill>
                <a:latin typeface="MiSans" pitchFamily="34" charset="0"/>
                <a:ea typeface="MiSans" pitchFamily="34" charset="-122"/>
                <a:cs typeface="MiSans" pitchFamily="34" charset="-120"/>
              </a:rPr>
              <a:t>[system, user]</a:t>
            </a:r>
            <a:endParaRPr lang="en-US" sz="1600" dirty="0"/>
          </a:p>
        </p:txBody>
      </p:sp>
      <p:sp>
        <p:nvSpPr>
          <p:cNvPr id="49" name="Text 47"/>
          <p:cNvSpPr/>
          <p:nvPr/>
        </p:nvSpPr>
        <p:spPr>
          <a:xfrm>
            <a:off x="6460461" y="5941774"/>
            <a:ext cx="5203111" cy="162344"/>
          </a:xfrm>
          <a:prstGeom prst="rect">
            <a:avLst/>
          </a:prstGeom>
          <a:noFill/>
          <a:ln/>
        </p:spPr>
        <p:txBody>
          <a:bodyPr wrap="square" lIns="0" tIns="0" rIns="0" bIns="0" rtlCol="0" anchor="ctr"/>
          <a:lstStyle/>
          <a:p>
            <a:pPr>
              <a:lnSpc>
                <a:spcPct val="120000"/>
              </a:lnSpc>
            </a:pPr>
            <a:r>
              <a:rPr lang="en-US" sz="895" dirty="0">
                <a:solidFill>
                  <a:srgbClr val="8B5CF6"/>
                </a:solidFill>
                <a:latin typeface="MiSans" pitchFamily="34" charset="0"/>
                <a:ea typeface="MiSans" pitchFamily="34" charset="-122"/>
                <a:cs typeface="MiSans" pitchFamily="34" charset="-120"/>
              </a:rPr>
              <a:t>temperature:</a:t>
            </a:r>
            <a:endParaRPr lang="en-US" sz="1600" dirty="0"/>
          </a:p>
        </p:txBody>
      </p:sp>
      <p:sp>
        <p:nvSpPr>
          <p:cNvPr id="50" name="Text 48"/>
          <p:cNvSpPr/>
          <p:nvPr/>
        </p:nvSpPr>
        <p:spPr>
          <a:xfrm>
            <a:off x="6590336" y="6104117"/>
            <a:ext cx="5073236" cy="162344"/>
          </a:xfrm>
          <a:prstGeom prst="rect">
            <a:avLst/>
          </a:prstGeom>
          <a:noFill/>
          <a:ln/>
        </p:spPr>
        <p:txBody>
          <a:bodyPr wrap="square" lIns="0" tIns="0" rIns="0" bIns="0" rtlCol="0" anchor="ctr"/>
          <a:lstStyle/>
          <a:p>
            <a:pPr>
              <a:lnSpc>
                <a:spcPct val="120000"/>
              </a:lnSpc>
            </a:pPr>
            <a:r>
              <a:rPr lang="en-US" sz="895" dirty="0">
                <a:solidFill>
                  <a:srgbClr val="F8FAFC">
                    <a:alpha val="60000"/>
                  </a:srgbClr>
                </a:solidFill>
                <a:latin typeface="MiSans" pitchFamily="34" charset="0"/>
                <a:ea typeface="MiSans" pitchFamily="34" charset="-122"/>
                <a:cs typeface="MiSans" pitchFamily="34" charset="-120"/>
              </a:rPr>
              <a:t>0.2 (0-1)</a:t>
            </a:r>
            <a:endParaRPr lang="en-US" sz="1600" dirty="0"/>
          </a:p>
        </p:txBody>
      </p:sp>
      <p:sp>
        <p:nvSpPr>
          <p:cNvPr id="51" name="Text 49"/>
          <p:cNvSpPr/>
          <p:nvPr/>
        </p:nvSpPr>
        <p:spPr>
          <a:xfrm>
            <a:off x="6460461" y="6266461"/>
            <a:ext cx="5203111" cy="162344"/>
          </a:xfrm>
          <a:prstGeom prst="rect">
            <a:avLst/>
          </a:prstGeom>
          <a:noFill/>
          <a:ln/>
        </p:spPr>
        <p:txBody>
          <a:bodyPr wrap="square" lIns="0" tIns="0" rIns="0" bIns="0" rtlCol="0" anchor="ctr"/>
          <a:lstStyle/>
          <a:p>
            <a:pPr>
              <a:lnSpc>
                <a:spcPct val="120000"/>
              </a:lnSpc>
            </a:pPr>
            <a:r>
              <a:rPr lang="en-US" sz="895" dirty="0">
                <a:solidFill>
                  <a:srgbClr val="8B5CF6"/>
                </a:solidFill>
                <a:latin typeface="MiSans" pitchFamily="34" charset="0"/>
                <a:ea typeface="MiSans" pitchFamily="34" charset="-122"/>
                <a:cs typeface="MiSans" pitchFamily="34" charset="-120"/>
              </a:rPr>
              <a:t>max_tokens:</a:t>
            </a:r>
            <a:endParaRPr lang="en-US" sz="1600" dirty="0"/>
          </a:p>
        </p:txBody>
      </p:sp>
      <p:sp>
        <p:nvSpPr>
          <p:cNvPr id="52" name="Text 50"/>
          <p:cNvSpPr/>
          <p:nvPr/>
        </p:nvSpPr>
        <p:spPr>
          <a:xfrm>
            <a:off x="6590336" y="6428804"/>
            <a:ext cx="5073236" cy="162344"/>
          </a:xfrm>
          <a:prstGeom prst="rect">
            <a:avLst/>
          </a:prstGeom>
          <a:noFill/>
          <a:ln/>
        </p:spPr>
        <p:txBody>
          <a:bodyPr wrap="square" lIns="0" tIns="0" rIns="0" bIns="0" rtlCol="0" anchor="ctr"/>
          <a:lstStyle/>
          <a:p>
            <a:pPr>
              <a:lnSpc>
                <a:spcPct val="120000"/>
              </a:lnSpc>
            </a:pPr>
            <a:r>
              <a:rPr lang="en-US" sz="895" dirty="0">
                <a:solidFill>
                  <a:srgbClr val="F8FAFC">
                    <a:alpha val="60000"/>
                  </a:srgbClr>
                </a:solidFill>
                <a:latin typeface="MiSans" pitchFamily="34" charset="0"/>
                <a:ea typeface="MiSans" pitchFamily="34" charset="-122"/>
                <a:cs typeface="MiSans" pitchFamily="34" charset="-120"/>
              </a:rPr>
              <a:t>100</a:t>
            </a:r>
            <a:endParaRPr lang="en-US" sz="16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55637" y="355637"/>
            <a:ext cx="1080995" cy="288735"/>
          </a:xfrm>
          <a:custGeom>
            <a:avLst/>
            <a:gdLst/>
            <a:ahLst/>
            <a:cxnLst/>
            <a:rect l="l" t="t" r="r" b="b"/>
            <a:pathLst>
              <a:path w="1080995" h="288735">
                <a:moveTo>
                  <a:pt x="144367" y="0"/>
                </a:moveTo>
                <a:lnTo>
                  <a:pt x="936627" y="0"/>
                </a:lnTo>
                <a:cubicBezTo>
                  <a:pt x="1016359" y="0"/>
                  <a:pt x="1080995" y="64635"/>
                  <a:pt x="1080995" y="144367"/>
                </a:cubicBezTo>
                <a:lnTo>
                  <a:pt x="1080995" y="144367"/>
                </a:lnTo>
                <a:cubicBezTo>
                  <a:pt x="1080995" y="224099"/>
                  <a:pt x="1016359" y="288735"/>
                  <a:pt x="936627" y="288735"/>
                </a:cubicBezTo>
                <a:lnTo>
                  <a:pt x="144367" y="288735"/>
                </a:lnTo>
                <a:cubicBezTo>
                  <a:pt x="64689" y="288735"/>
                  <a:pt x="0" y="224046"/>
                  <a:pt x="0" y="144367"/>
                </a:cubicBezTo>
                <a:lnTo>
                  <a:pt x="0" y="144367"/>
                </a:lnTo>
                <a:cubicBezTo>
                  <a:pt x="0" y="64689"/>
                  <a:pt x="64689" y="0"/>
                  <a:pt x="144367" y="0"/>
                </a:cubicBezTo>
                <a:close/>
              </a:path>
            </a:pathLst>
          </a:custGeom>
          <a:solidFill>
            <a:srgbClr val="10B981">
              <a:alpha val="20000"/>
            </a:srgbClr>
          </a:solidFill>
          <a:ln w="10160">
            <a:solidFill>
              <a:srgbClr val="10B981">
                <a:alpha val="40000"/>
              </a:srgbClr>
            </a:solidFill>
            <a:prstDash val="solid"/>
          </a:ln>
        </p:spPr>
      </p:sp>
      <p:sp>
        <p:nvSpPr>
          <p:cNvPr id="3" name="Text 1"/>
          <p:cNvSpPr/>
          <p:nvPr/>
        </p:nvSpPr>
        <p:spPr>
          <a:xfrm>
            <a:off x="500004" y="401413"/>
            <a:ext cx="866204" cy="190142"/>
          </a:xfrm>
          <a:prstGeom prst="rect">
            <a:avLst/>
          </a:prstGeom>
          <a:noFill/>
          <a:ln/>
        </p:spPr>
        <p:txBody>
          <a:bodyPr wrap="square" lIns="0" tIns="0" rIns="0" bIns="0" rtlCol="0" anchor="ctr"/>
          <a:lstStyle/>
          <a:p>
            <a:pPr>
              <a:lnSpc>
                <a:spcPct val="130000"/>
              </a:lnSpc>
            </a:pPr>
            <a:r>
              <a:rPr lang="en-US" sz="1109" b="1" spc="55" kern="0" dirty="0">
                <a:solidFill>
                  <a:srgbClr val="10B981"/>
                </a:solidFill>
                <a:latin typeface="MiSans" pitchFamily="34" charset="0"/>
                <a:ea typeface="MiSans" pitchFamily="34" charset="-122"/>
                <a:cs typeface="MiSans" pitchFamily="34" charset="-120"/>
              </a:rPr>
              <a:t>CHƯƠNG 3</a:t>
            </a:r>
            <a:endParaRPr lang="en-US" sz="1600" dirty="0"/>
          </a:p>
        </p:txBody>
      </p:sp>
      <p:sp>
        <p:nvSpPr>
          <p:cNvPr id="4" name="Text 2"/>
          <p:cNvSpPr/>
          <p:nvPr/>
        </p:nvSpPr>
        <p:spPr>
          <a:xfrm>
            <a:off x="352116" y="753528"/>
            <a:ext cx="11646221" cy="352116"/>
          </a:xfrm>
          <a:prstGeom prst="rect">
            <a:avLst/>
          </a:prstGeom>
          <a:noFill/>
          <a:ln/>
        </p:spPr>
        <p:txBody>
          <a:bodyPr wrap="square" lIns="0" tIns="0" rIns="0" bIns="0" rtlCol="0" anchor="ctr"/>
          <a:lstStyle/>
          <a:p>
            <a:pPr>
              <a:lnSpc>
                <a:spcPct val="90000"/>
              </a:lnSpc>
            </a:pPr>
            <a:r>
              <a:rPr lang="en-US" sz="2495" b="1" dirty="0">
                <a:solidFill>
                  <a:srgbClr val="F8FAFC"/>
                </a:solidFill>
                <a:latin typeface="Liter" pitchFamily="34" charset="0"/>
                <a:ea typeface="Liter" pitchFamily="34" charset="-122"/>
                <a:cs typeface="Liter" pitchFamily="34" charset="-120"/>
              </a:rPr>
              <a:t>GitHub Copilot - Kiến trúc và Hoạt động</a:t>
            </a:r>
            <a:endParaRPr lang="en-US" sz="1600" dirty="0"/>
          </a:p>
        </p:txBody>
      </p:sp>
      <p:sp>
        <p:nvSpPr>
          <p:cNvPr id="5" name="Text 3"/>
          <p:cNvSpPr/>
          <p:nvPr/>
        </p:nvSpPr>
        <p:spPr>
          <a:xfrm>
            <a:off x="352116" y="1176067"/>
            <a:ext cx="11575798" cy="246481"/>
          </a:xfrm>
          <a:prstGeom prst="rect">
            <a:avLst/>
          </a:prstGeom>
          <a:noFill/>
          <a:ln/>
        </p:spPr>
        <p:txBody>
          <a:bodyPr wrap="square" lIns="0" tIns="0" rIns="0" bIns="0" rtlCol="0" anchor="ctr"/>
          <a:lstStyle/>
          <a:p>
            <a:pPr>
              <a:lnSpc>
                <a:spcPct val="120000"/>
              </a:lnSpc>
            </a:pPr>
            <a:r>
              <a:rPr lang="en-US" sz="1386" dirty="0">
                <a:solidFill>
                  <a:srgbClr val="F8FAFC">
                    <a:alpha val="70000"/>
                  </a:srgbClr>
                </a:solidFill>
                <a:latin typeface="MiSans" pitchFamily="34" charset="0"/>
                <a:ea typeface="MiSans" pitchFamily="34" charset="-122"/>
                <a:cs typeface="MiSans" pitchFamily="34" charset="-120"/>
              </a:rPr>
              <a:t>AI pair programmer trong môi trường IDE</a:t>
            </a:r>
            <a:endParaRPr lang="en-US" sz="1600" dirty="0"/>
          </a:p>
        </p:txBody>
      </p:sp>
      <p:sp>
        <p:nvSpPr>
          <p:cNvPr id="6" name="Shape 4"/>
          <p:cNvSpPr/>
          <p:nvPr/>
        </p:nvSpPr>
        <p:spPr>
          <a:xfrm>
            <a:off x="355637" y="1602126"/>
            <a:ext cx="3730664" cy="3510592"/>
          </a:xfrm>
          <a:custGeom>
            <a:avLst/>
            <a:gdLst/>
            <a:ahLst/>
            <a:cxnLst/>
            <a:rect l="l" t="t" r="r" b="b"/>
            <a:pathLst>
              <a:path w="3730664" h="3510592">
                <a:moveTo>
                  <a:pt x="140845" y="0"/>
                </a:moveTo>
                <a:lnTo>
                  <a:pt x="3589819" y="0"/>
                </a:lnTo>
                <a:cubicBezTo>
                  <a:pt x="3667606" y="0"/>
                  <a:pt x="3730664" y="63058"/>
                  <a:pt x="3730664" y="140845"/>
                </a:cubicBezTo>
                <a:lnTo>
                  <a:pt x="3730664" y="3369747"/>
                </a:lnTo>
                <a:cubicBezTo>
                  <a:pt x="3730664" y="3447533"/>
                  <a:pt x="3667606" y="3510592"/>
                  <a:pt x="3589819" y="3510592"/>
                </a:cubicBezTo>
                <a:lnTo>
                  <a:pt x="140845" y="3510592"/>
                </a:lnTo>
                <a:cubicBezTo>
                  <a:pt x="63058" y="3510592"/>
                  <a:pt x="0" y="3447533"/>
                  <a:pt x="0" y="3369747"/>
                </a:cubicBezTo>
                <a:lnTo>
                  <a:pt x="0" y="140845"/>
                </a:lnTo>
                <a:cubicBezTo>
                  <a:pt x="0" y="63111"/>
                  <a:pt x="63111" y="0"/>
                  <a:pt x="140845" y="0"/>
                </a:cubicBezTo>
                <a:close/>
              </a:path>
            </a:pathLst>
          </a:custGeom>
          <a:gradFill rotWithShape="1" flip="none">
            <a:gsLst>
              <a:gs pos="0">
                <a:srgbClr val="1E293B"/>
              </a:gs>
              <a:gs pos="100000">
                <a:srgbClr val="1E293B">
                  <a:alpha val="50000"/>
                </a:srgbClr>
              </a:gs>
            </a:gsLst>
            <a:lin ang="2700000" scaled="1"/>
          </a:gradFill>
          <a:ln w="10160">
            <a:solidFill>
              <a:srgbClr val="3B82F6">
                <a:alpha val="30196"/>
              </a:srgbClr>
            </a:solidFill>
            <a:prstDash val="solid"/>
          </a:ln>
        </p:spPr>
      </p:sp>
      <p:sp>
        <p:nvSpPr>
          <p:cNvPr id="7" name="Shape 5"/>
          <p:cNvSpPr/>
          <p:nvPr/>
        </p:nvSpPr>
        <p:spPr>
          <a:xfrm>
            <a:off x="535216" y="1781706"/>
            <a:ext cx="422539" cy="422539"/>
          </a:xfrm>
          <a:custGeom>
            <a:avLst/>
            <a:gdLst/>
            <a:ahLst/>
            <a:cxnLst/>
            <a:rect l="l" t="t" r="r" b="b"/>
            <a:pathLst>
              <a:path w="422539" h="422539">
                <a:moveTo>
                  <a:pt x="105635" y="0"/>
                </a:moveTo>
                <a:lnTo>
                  <a:pt x="316904" y="0"/>
                </a:lnTo>
                <a:cubicBezTo>
                  <a:pt x="375244" y="0"/>
                  <a:pt x="422539" y="47294"/>
                  <a:pt x="422539" y="105635"/>
                </a:cubicBezTo>
                <a:lnTo>
                  <a:pt x="422539" y="316904"/>
                </a:lnTo>
                <a:cubicBezTo>
                  <a:pt x="422539" y="375244"/>
                  <a:pt x="375244" y="422539"/>
                  <a:pt x="316904" y="422539"/>
                </a:cubicBezTo>
                <a:lnTo>
                  <a:pt x="105635" y="422539"/>
                </a:lnTo>
                <a:cubicBezTo>
                  <a:pt x="47294" y="422539"/>
                  <a:pt x="0" y="375244"/>
                  <a:pt x="0" y="316904"/>
                </a:cubicBezTo>
                <a:lnTo>
                  <a:pt x="0" y="105635"/>
                </a:lnTo>
                <a:cubicBezTo>
                  <a:pt x="0" y="47333"/>
                  <a:pt x="47333" y="0"/>
                  <a:pt x="105635" y="0"/>
                </a:cubicBezTo>
                <a:close/>
              </a:path>
            </a:pathLst>
          </a:custGeom>
          <a:gradFill rotWithShape="1" flip="none">
            <a:gsLst>
              <a:gs pos="0">
                <a:srgbClr val="3B82F6"/>
              </a:gs>
              <a:gs pos="100000">
                <a:srgbClr val="3B82F6">
                  <a:alpha val="60000"/>
                </a:srgbClr>
              </a:gs>
            </a:gsLst>
            <a:lin ang="2700000" scaled="1"/>
          </a:gradFill>
          <a:ln/>
        </p:spPr>
      </p:sp>
      <p:sp>
        <p:nvSpPr>
          <p:cNvPr id="8" name="Shape 6"/>
          <p:cNvSpPr/>
          <p:nvPr/>
        </p:nvSpPr>
        <p:spPr>
          <a:xfrm>
            <a:off x="658456" y="1904946"/>
            <a:ext cx="176058" cy="176058"/>
          </a:xfrm>
          <a:custGeom>
            <a:avLst/>
            <a:gdLst/>
            <a:ahLst/>
            <a:cxnLst/>
            <a:rect l="l" t="t" r="r" b="b"/>
            <a:pathLst>
              <a:path w="176058" h="176058">
                <a:moveTo>
                  <a:pt x="41264" y="19256"/>
                </a:moveTo>
                <a:cubicBezTo>
                  <a:pt x="41264" y="8631"/>
                  <a:pt x="49894" y="0"/>
                  <a:pt x="60520" y="0"/>
                </a:cubicBezTo>
                <a:lnTo>
                  <a:pt x="68773" y="0"/>
                </a:lnTo>
                <a:cubicBezTo>
                  <a:pt x="74859" y="0"/>
                  <a:pt x="79776" y="4917"/>
                  <a:pt x="79776" y="11004"/>
                </a:cubicBezTo>
                <a:lnTo>
                  <a:pt x="79776" y="165054"/>
                </a:lnTo>
                <a:cubicBezTo>
                  <a:pt x="79776" y="171141"/>
                  <a:pt x="74859" y="176058"/>
                  <a:pt x="68773" y="176058"/>
                </a:cubicBezTo>
                <a:lnTo>
                  <a:pt x="57769" y="176058"/>
                </a:lnTo>
                <a:cubicBezTo>
                  <a:pt x="47522" y="176058"/>
                  <a:pt x="38891" y="169043"/>
                  <a:pt x="36449" y="159552"/>
                </a:cubicBezTo>
                <a:cubicBezTo>
                  <a:pt x="36209" y="159552"/>
                  <a:pt x="36002" y="159552"/>
                  <a:pt x="35762" y="159552"/>
                </a:cubicBezTo>
                <a:cubicBezTo>
                  <a:pt x="20563" y="159552"/>
                  <a:pt x="8253" y="147242"/>
                  <a:pt x="8253" y="132043"/>
                </a:cubicBezTo>
                <a:cubicBezTo>
                  <a:pt x="8253" y="125854"/>
                  <a:pt x="10316" y="120146"/>
                  <a:pt x="13755" y="115538"/>
                </a:cubicBezTo>
                <a:cubicBezTo>
                  <a:pt x="7084" y="110518"/>
                  <a:pt x="2751" y="102540"/>
                  <a:pt x="2751" y="93531"/>
                </a:cubicBezTo>
                <a:cubicBezTo>
                  <a:pt x="2751" y="82905"/>
                  <a:pt x="8803" y="73655"/>
                  <a:pt x="17606" y="69082"/>
                </a:cubicBezTo>
                <a:cubicBezTo>
                  <a:pt x="15164" y="64956"/>
                  <a:pt x="13755" y="60142"/>
                  <a:pt x="13755" y="55018"/>
                </a:cubicBezTo>
                <a:cubicBezTo>
                  <a:pt x="13755" y="39819"/>
                  <a:pt x="26065" y="27509"/>
                  <a:pt x="41264" y="27509"/>
                </a:cubicBezTo>
                <a:lnTo>
                  <a:pt x="41264" y="19256"/>
                </a:lnTo>
                <a:close/>
                <a:moveTo>
                  <a:pt x="134794" y="19256"/>
                </a:moveTo>
                <a:lnTo>
                  <a:pt x="134794" y="27509"/>
                </a:lnTo>
                <a:cubicBezTo>
                  <a:pt x="149993" y="27509"/>
                  <a:pt x="162303" y="39819"/>
                  <a:pt x="162303" y="55018"/>
                </a:cubicBezTo>
                <a:cubicBezTo>
                  <a:pt x="162303" y="60176"/>
                  <a:pt x="160893" y="64990"/>
                  <a:pt x="158452" y="69082"/>
                </a:cubicBezTo>
                <a:cubicBezTo>
                  <a:pt x="167289" y="73655"/>
                  <a:pt x="173307" y="82871"/>
                  <a:pt x="173307" y="93531"/>
                </a:cubicBezTo>
                <a:cubicBezTo>
                  <a:pt x="173307" y="102540"/>
                  <a:pt x="168974" y="110518"/>
                  <a:pt x="162303" y="115538"/>
                </a:cubicBezTo>
                <a:cubicBezTo>
                  <a:pt x="165742" y="120146"/>
                  <a:pt x="167805" y="125854"/>
                  <a:pt x="167805" y="132043"/>
                </a:cubicBezTo>
                <a:cubicBezTo>
                  <a:pt x="167805" y="147242"/>
                  <a:pt x="155495" y="159552"/>
                  <a:pt x="140296" y="159552"/>
                </a:cubicBezTo>
                <a:cubicBezTo>
                  <a:pt x="140055" y="159552"/>
                  <a:pt x="139849" y="159552"/>
                  <a:pt x="139608" y="159552"/>
                </a:cubicBezTo>
                <a:cubicBezTo>
                  <a:pt x="137167" y="169043"/>
                  <a:pt x="128536" y="176058"/>
                  <a:pt x="118289" y="176058"/>
                </a:cubicBezTo>
                <a:lnTo>
                  <a:pt x="107285" y="176058"/>
                </a:lnTo>
                <a:cubicBezTo>
                  <a:pt x="101199" y="176058"/>
                  <a:pt x="96282" y="171141"/>
                  <a:pt x="96282" y="165054"/>
                </a:cubicBezTo>
                <a:lnTo>
                  <a:pt x="96282" y="11004"/>
                </a:lnTo>
                <a:cubicBezTo>
                  <a:pt x="96282" y="4917"/>
                  <a:pt x="101199" y="0"/>
                  <a:pt x="107285" y="0"/>
                </a:cubicBezTo>
                <a:lnTo>
                  <a:pt x="115538" y="0"/>
                </a:lnTo>
                <a:cubicBezTo>
                  <a:pt x="126163" y="0"/>
                  <a:pt x="134794" y="8631"/>
                  <a:pt x="134794" y="19256"/>
                </a:cubicBezTo>
                <a:close/>
              </a:path>
            </a:pathLst>
          </a:custGeom>
          <a:solidFill>
            <a:srgbClr val="FFFFFF"/>
          </a:solidFill>
          <a:ln/>
        </p:spPr>
      </p:sp>
      <p:sp>
        <p:nvSpPr>
          <p:cNvPr id="9" name="Text 7"/>
          <p:cNvSpPr/>
          <p:nvPr/>
        </p:nvSpPr>
        <p:spPr>
          <a:xfrm>
            <a:off x="1063389" y="1869735"/>
            <a:ext cx="1091558" cy="246481"/>
          </a:xfrm>
          <a:prstGeom prst="rect">
            <a:avLst/>
          </a:prstGeom>
          <a:noFill/>
          <a:ln/>
        </p:spPr>
        <p:txBody>
          <a:bodyPr wrap="square" lIns="0" tIns="0" rIns="0" bIns="0" rtlCol="0" anchor="ctr"/>
          <a:lstStyle/>
          <a:p>
            <a:pPr>
              <a:lnSpc>
                <a:spcPct val="120000"/>
              </a:lnSpc>
            </a:pPr>
            <a:r>
              <a:rPr lang="en-US" sz="1386" b="1" dirty="0">
                <a:solidFill>
                  <a:srgbClr val="3B82F6"/>
                </a:solidFill>
                <a:latin typeface="Liter" pitchFamily="34" charset="0"/>
                <a:ea typeface="Liter" pitchFamily="34" charset="-122"/>
                <a:cs typeface="Liter" pitchFamily="34" charset="-120"/>
              </a:rPr>
              <a:t>Mức Ý tưởng</a:t>
            </a:r>
            <a:endParaRPr lang="en-US" sz="1600" dirty="0"/>
          </a:p>
        </p:txBody>
      </p:sp>
      <p:sp>
        <p:nvSpPr>
          <p:cNvPr id="10" name="Text 8"/>
          <p:cNvSpPr/>
          <p:nvPr/>
        </p:nvSpPr>
        <p:spPr>
          <a:xfrm>
            <a:off x="535216" y="2345091"/>
            <a:ext cx="3441929" cy="228875"/>
          </a:xfrm>
          <a:prstGeom prst="rect">
            <a:avLst/>
          </a:prstGeom>
          <a:noFill/>
          <a:ln/>
        </p:spPr>
        <p:txBody>
          <a:bodyPr wrap="square" lIns="0" tIns="0" rIns="0" bIns="0" rtlCol="0" anchor="ctr"/>
          <a:lstStyle/>
          <a:p>
            <a:pPr>
              <a:lnSpc>
                <a:spcPct val="140000"/>
              </a:lnSpc>
            </a:pPr>
            <a:r>
              <a:rPr lang="en-US" sz="1109" dirty="0">
                <a:solidFill>
                  <a:srgbClr val="F8FAFC">
                    <a:alpha val="80000"/>
                  </a:srgbClr>
                </a:solidFill>
                <a:latin typeface="MiSans" pitchFamily="34" charset="0"/>
                <a:ea typeface="MiSans" pitchFamily="34" charset="-122"/>
                <a:cs typeface="MiSans" pitchFamily="34" charset="-120"/>
              </a:rPr>
              <a:t>Tương tác </a:t>
            </a:r>
            <a:pPr>
              <a:lnSpc>
                <a:spcPct val="140000"/>
              </a:lnSpc>
            </a:pPr>
            <a:r>
              <a:rPr lang="en-US" sz="1109" b="1" dirty="0">
                <a:solidFill>
                  <a:srgbClr val="3B82F6"/>
                </a:solidFill>
                <a:highlight>
                  <a:srgbClr val="3B82F6">
                    <a:alpha val="20000"/>
                  </a:srgbClr>
                </a:highlight>
                <a:latin typeface="MiSans" pitchFamily="34" charset="0"/>
                <a:ea typeface="MiSans" pitchFamily="34" charset="-122"/>
                <a:cs typeface="MiSans" pitchFamily="34" charset="-120"/>
              </a:rPr>
              <a:t>3 chiều liên tục </a:t>
            </a:r>
            <a:pPr>
              <a:lnSpc>
                <a:spcPct val="140000"/>
              </a:lnSpc>
            </a:pPr>
            <a:r>
              <a:rPr lang="en-US" sz="1109" dirty="0">
                <a:solidFill>
                  <a:srgbClr val="F8FAFC">
                    <a:alpha val="80000"/>
                  </a:srgbClr>
                </a:solidFill>
                <a:latin typeface="MiSans" pitchFamily="34" charset="0"/>
                <a:ea typeface="MiSans" pitchFamily="34" charset="-122"/>
                <a:cs typeface="MiSans" pitchFamily="34" charset="-120"/>
              </a:rPr>
              <a:t>:</a:t>
            </a:r>
            <a:endParaRPr lang="en-US" sz="1600" dirty="0"/>
          </a:p>
        </p:txBody>
      </p:sp>
      <p:sp>
        <p:nvSpPr>
          <p:cNvPr id="11" name="Shape 9"/>
          <p:cNvSpPr/>
          <p:nvPr/>
        </p:nvSpPr>
        <p:spPr>
          <a:xfrm>
            <a:off x="535216" y="2679600"/>
            <a:ext cx="3371506" cy="316904"/>
          </a:xfrm>
          <a:custGeom>
            <a:avLst/>
            <a:gdLst/>
            <a:ahLst/>
            <a:cxnLst/>
            <a:rect l="l" t="t" r="r" b="b"/>
            <a:pathLst>
              <a:path w="3371506" h="316904">
                <a:moveTo>
                  <a:pt x="70422" y="0"/>
                </a:moveTo>
                <a:lnTo>
                  <a:pt x="3301084" y="0"/>
                </a:lnTo>
                <a:cubicBezTo>
                  <a:pt x="3339977" y="0"/>
                  <a:pt x="3371506" y="31529"/>
                  <a:pt x="3371506" y="70422"/>
                </a:cubicBezTo>
                <a:lnTo>
                  <a:pt x="3371506" y="246482"/>
                </a:lnTo>
                <a:cubicBezTo>
                  <a:pt x="3371506" y="285375"/>
                  <a:pt x="3339977" y="316904"/>
                  <a:pt x="3301084" y="316904"/>
                </a:cubicBezTo>
                <a:lnTo>
                  <a:pt x="70422" y="316904"/>
                </a:lnTo>
                <a:cubicBezTo>
                  <a:pt x="31555" y="316904"/>
                  <a:pt x="0" y="285349"/>
                  <a:pt x="0" y="246482"/>
                </a:cubicBezTo>
                <a:lnTo>
                  <a:pt x="0" y="70422"/>
                </a:lnTo>
                <a:cubicBezTo>
                  <a:pt x="0" y="31555"/>
                  <a:pt x="31555" y="0"/>
                  <a:pt x="70422" y="0"/>
                </a:cubicBezTo>
                <a:close/>
              </a:path>
            </a:pathLst>
          </a:custGeom>
          <a:solidFill>
            <a:srgbClr val="0F172A">
              <a:alpha val="50196"/>
            </a:srgbClr>
          </a:solidFill>
          <a:ln/>
        </p:spPr>
      </p:sp>
      <p:sp>
        <p:nvSpPr>
          <p:cNvPr id="12" name="Shape 10"/>
          <p:cNvSpPr/>
          <p:nvPr/>
        </p:nvSpPr>
        <p:spPr>
          <a:xfrm>
            <a:off x="632047" y="2767629"/>
            <a:ext cx="123240" cy="140846"/>
          </a:xfrm>
          <a:custGeom>
            <a:avLst/>
            <a:gdLst/>
            <a:ahLst/>
            <a:cxnLst/>
            <a:rect l="l" t="t" r="r" b="b"/>
            <a:pathLst>
              <a:path w="123240" h="140846">
                <a:moveTo>
                  <a:pt x="61620" y="68222"/>
                </a:moveTo>
                <a:cubicBezTo>
                  <a:pt x="79839" y="68222"/>
                  <a:pt x="94631" y="53431"/>
                  <a:pt x="94631" y="35212"/>
                </a:cubicBezTo>
                <a:cubicBezTo>
                  <a:pt x="94631" y="16992"/>
                  <a:pt x="79839" y="2201"/>
                  <a:pt x="61620" y="2201"/>
                </a:cubicBezTo>
                <a:cubicBezTo>
                  <a:pt x="43401" y="2201"/>
                  <a:pt x="28609" y="16992"/>
                  <a:pt x="28609" y="35212"/>
                </a:cubicBezTo>
                <a:cubicBezTo>
                  <a:pt x="28609" y="53431"/>
                  <a:pt x="43401" y="68222"/>
                  <a:pt x="61620" y="68222"/>
                </a:cubicBezTo>
                <a:close/>
                <a:moveTo>
                  <a:pt x="53450" y="83627"/>
                </a:moveTo>
                <a:cubicBezTo>
                  <a:pt x="26354" y="83627"/>
                  <a:pt x="4401" y="105580"/>
                  <a:pt x="4401" y="132676"/>
                </a:cubicBezTo>
                <a:cubicBezTo>
                  <a:pt x="4401" y="137188"/>
                  <a:pt x="8060" y="140846"/>
                  <a:pt x="12572" y="140846"/>
                </a:cubicBezTo>
                <a:lnTo>
                  <a:pt x="110669" y="140846"/>
                </a:lnTo>
                <a:cubicBezTo>
                  <a:pt x="115180" y="140846"/>
                  <a:pt x="118839" y="137188"/>
                  <a:pt x="118839" y="132676"/>
                </a:cubicBezTo>
                <a:cubicBezTo>
                  <a:pt x="118839" y="105580"/>
                  <a:pt x="96887" y="83627"/>
                  <a:pt x="69790" y="83627"/>
                </a:cubicBezTo>
                <a:lnTo>
                  <a:pt x="53450" y="83627"/>
                </a:lnTo>
                <a:close/>
              </a:path>
            </a:pathLst>
          </a:custGeom>
          <a:solidFill>
            <a:srgbClr val="3B82F6"/>
          </a:solidFill>
          <a:ln/>
        </p:spPr>
      </p:sp>
      <p:sp>
        <p:nvSpPr>
          <p:cNvPr id="13" name="Text 11"/>
          <p:cNvSpPr/>
          <p:nvPr/>
        </p:nvSpPr>
        <p:spPr>
          <a:xfrm>
            <a:off x="852120" y="2750024"/>
            <a:ext cx="1646140" cy="176058"/>
          </a:xfrm>
          <a:prstGeom prst="rect">
            <a:avLst/>
          </a:prstGeom>
          <a:noFill/>
          <a:ln/>
        </p:spPr>
        <p:txBody>
          <a:bodyPr wrap="square" lIns="0" tIns="0" rIns="0" bIns="0" rtlCol="0" anchor="ctr"/>
          <a:lstStyle/>
          <a:p>
            <a:pPr>
              <a:lnSpc>
                <a:spcPct val="120000"/>
              </a:lnSpc>
            </a:pPr>
            <a:r>
              <a:rPr lang="en-US" sz="970" b="1" dirty="0">
                <a:solidFill>
                  <a:srgbClr val="F8FAFC"/>
                </a:solidFill>
                <a:latin typeface="MiSans" pitchFamily="34" charset="0"/>
                <a:ea typeface="MiSans" pitchFamily="34" charset="-122"/>
                <a:cs typeface="MiSans" pitchFamily="34" charset="-120"/>
              </a:rPr>
              <a:t>Lập trình viên:</a:t>
            </a:r>
            <a:pPr>
              <a:lnSpc>
                <a:spcPct val="120000"/>
              </a:lnSpc>
            </a:pPr>
            <a:r>
              <a:rPr lang="en-US" sz="970" dirty="0">
                <a:solidFill>
                  <a:srgbClr val="F8FAFC"/>
                </a:solidFill>
                <a:latin typeface="MiSans" pitchFamily="34" charset="0"/>
                <a:ea typeface="MiSans" pitchFamily="34" charset="-122"/>
                <a:cs typeface="MiSans" pitchFamily="34" charset="-120"/>
              </a:rPr>
              <a:t> Ngườichỉ đạo</a:t>
            </a:r>
            <a:endParaRPr lang="en-US" sz="1600" dirty="0"/>
          </a:p>
        </p:txBody>
      </p:sp>
      <p:sp>
        <p:nvSpPr>
          <p:cNvPr id="14" name="Shape 12"/>
          <p:cNvSpPr/>
          <p:nvPr/>
        </p:nvSpPr>
        <p:spPr>
          <a:xfrm>
            <a:off x="535216" y="3066927"/>
            <a:ext cx="3371506" cy="316904"/>
          </a:xfrm>
          <a:custGeom>
            <a:avLst/>
            <a:gdLst/>
            <a:ahLst/>
            <a:cxnLst/>
            <a:rect l="l" t="t" r="r" b="b"/>
            <a:pathLst>
              <a:path w="3371506" h="316904">
                <a:moveTo>
                  <a:pt x="70422" y="0"/>
                </a:moveTo>
                <a:lnTo>
                  <a:pt x="3301084" y="0"/>
                </a:lnTo>
                <a:cubicBezTo>
                  <a:pt x="3339977" y="0"/>
                  <a:pt x="3371506" y="31529"/>
                  <a:pt x="3371506" y="70422"/>
                </a:cubicBezTo>
                <a:lnTo>
                  <a:pt x="3371506" y="246482"/>
                </a:lnTo>
                <a:cubicBezTo>
                  <a:pt x="3371506" y="285375"/>
                  <a:pt x="3339977" y="316904"/>
                  <a:pt x="3301084" y="316904"/>
                </a:cubicBezTo>
                <a:lnTo>
                  <a:pt x="70422" y="316904"/>
                </a:lnTo>
                <a:cubicBezTo>
                  <a:pt x="31555" y="316904"/>
                  <a:pt x="0" y="285349"/>
                  <a:pt x="0" y="246482"/>
                </a:cubicBezTo>
                <a:lnTo>
                  <a:pt x="0" y="70422"/>
                </a:lnTo>
                <a:cubicBezTo>
                  <a:pt x="0" y="31555"/>
                  <a:pt x="31555" y="0"/>
                  <a:pt x="70422" y="0"/>
                </a:cubicBezTo>
                <a:close/>
              </a:path>
            </a:pathLst>
          </a:custGeom>
          <a:solidFill>
            <a:srgbClr val="0F172A">
              <a:alpha val="50196"/>
            </a:srgbClr>
          </a:solidFill>
          <a:ln/>
        </p:spPr>
      </p:sp>
      <p:sp>
        <p:nvSpPr>
          <p:cNvPr id="15" name="Shape 13"/>
          <p:cNvSpPr/>
          <p:nvPr/>
        </p:nvSpPr>
        <p:spPr>
          <a:xfrm>
            <a:off x="623245" y="3154956"/>
            <a:ext cx="140846" cy="140846"/>
          </a:xfrm>
          <a:custGeom>
            <a:avLst/>
            <a:gdLst/>
            <a:ahLst/>
            <a:cxnLst/>
            <a:rect l="l" t="t" r="r" b="b"/>
            <a:pathLst>
              <a:path w="140846" h="140846">
                <a:moveTo>
                  <a:pt x="17606" y="8803"/>
                </a:moveTo>
                <a:cubicBezTo>
                  <a:pt x="7895" y="8803"/>
                  <a:pt x="0" y="16698"/>
                  <a:pt x="0" y="26409"/>
                </a:cubicBezTo>
                <a:lnTo>
                  <a:pt x="0" y="96832"/>
                </a:lnTo>
                <a:cubicBezTo>
                  <a:pt x="0" y="106542"/>
                  <a:pt x="7895" y="114438"/>
                  <a:pt x="17606" y="114438"/>
                </a:cubicBezTo>
                <a:lnTo>
                  <a:pt x="57219" y="114438"/>
                </a:lnTo>
                <a:lnTo>
                  <a:pt x="52817" y="127642"/>
                </a:lnTo>
                <a:lnTo>
                  <a:pt x="33011" y="127642"/>
                </a:lnTo>
                <a:cubicBezTo>
                  <a:pt x="29352" y="127642"/>
                  <a:pt x="26409" y="130585"/>
                  <a:pt x="26409" y="134244"/>
                </a:cubicBezTo>
                <a:cubicBezTo>
                  <a:pt x="26409" y="137903"/>
                  <a:pt x="29352" y="140846"/>
                  <a:pt x="33011" y="140846"/>
                </a:cubicBezTo>
                <a:lnTo>
                  <a:pt x="107835" y="140846"/>
                </a:lnTo>
                <a:cubicBezTo>
                  <a:pt x="111494" y="140846"/>
                  <a:pt x="114438" y="137903"/>
                  <a:pt x="114438" y="134244"/>
                </a:cubicBezTo>
                <a:cubicBezTo>
                  <a:pt x="114438" y="130585"/>
                  <a:pt x="111494" y="127642"/>
                  <a:pt x="107835" y="127642"/>
                </a:cubicBezTo>
                <a:lnTo>
                  <a:pt x="88029" y="127642"/>
                </a:lnTo>
                <a:lnTo>
                  <a:pt x="83627" y="114438"/>
                </a:lnTo>
                <a:lnTo>
                  <a:pt x="123240" y="114438"/>
                </a:lnTo>
                <a:cubicBezTo>
                  <a:pt x="132951" y="114438"/>
                  <a:pt x="140846" y="106542"/>
                  <a:pt x="140846" y="96832"/>
                </a:cubicBezTo>
                <a:lnTo>
                  <a:pt x="140846" y="26409"/>
                </a:lnTo>
                <a:cubicBezTo>
                  <a:pt x="140846" y="16698"/>
                  <a:pt x="132951" y="8803"/>
                  <a:pt x="123240" y="8803"/>
                </a:cubicBezTo>
                <a:lnTo>
                  <a:pt x="17606" y="8803"/>
                </a:lnTo>
                <a:close/>
                <a:moveTo>
                  <a:pt x="26409" y="26409"/>
                </a:moveTo>
                <a:lnTo>
                  <a:pt x="114438" y="26409"/>
                </a:lnTo>
                <a:cubicBezTo>
                  <a:pt x="119307" y="26409"/>
                  <a:pt x="123240" y="30342"/>
                  <a:pt x="123240" y="35212"/>
                </a:cubicBezTo>
                <a:lnTo>
                  <a:pt x="123240" y="79226"/>
                </a:lnTo>
                <a:cubicBezTo>
                  <a:pt x="123240" y="84095"/>
                  <a:pt x="119307" y="88029"/>
                  <a:pt x="114438" y="88029"/>
                </a:cubicBezTo>
                <a:lnTo>
                  <a:pt x="26409" y="88029"/>
                </a:lnTo>
                <a:cubicBezTo>
                  <a:pt x="21540" y="88029"/>
                  <a:pt x="17606" y="84095"/>
                  <a:pt x="17606" y="79226"/>
                </a:cubicBezTo>
                <a:lnTo>
                  <a:pt x="17606" y="35212"/>
                </a:lnTo>
                <a:cubicBezTo>
                  <a:pt x="17606" y="30342"/>
                  <a:pt x="21540" y="26409"/>
                  <a:pt x="26409" y="26409"/>
                </a:cubicBezTo>
                <a:close/>
              </a:path>
            </a:pathLst>
          </a:custGeom>
          <a:solidFill>
            <a:srgbClr val="8B5CF6"/>
          </a:solidFill>
          <a:ln/>
        </p:spPr>
      </p:sp>
      <p:sp>
        <p:nvSpPr>
          <p:cNvPr id="16" name="Text 14"/>
          <p:cNvSpPr/>
          <p:nvPr/>
        </p:nvSpPr>
        <p:spPr>
          <a:xfrm>
            <a:off x="852120" y="3137351"/>
            <a:ext cx="1470082" cy="176058"/>
          </a:xfrm>
          <a:prstGeom prst="rect">
            <a:avLst/>
          </a:prstGeom>
          <a:noFill/>
          <a:ln/>
        </p:spPr>
        <p:txBody>
          <a:bodyPr wrap="square" lIns="0" tIns="0" rIns="0" bIns="0" rtlCol="0" anchor="ctr"/>
          <a:lstStyle/>
          <a:p>
            <a:pPr>
              <a:lnSpc>
                <a:spcPct val="120000"/>
              </a:lnSpc>
            </a:pPr>
            <a:r>
              <a:rPr lang="en-US" sz="970" b="1" dirty="0">
                <a:solidFill>
                  <a:srgbClr val="F8FAFC"/>
                </a:solidFill>
                <a:latin typeface="MiSans" pitchFamily="34" charset="0"/>
                <a:ea typeface="MiSans" pitchFamily="34" charset="-122"/>
                <a:cs typeface="MiSans" pitchFamily="34" charset="-120"/>
              </a:rPr>
              <a:t>IDE:</a:t>
            </a:r>
            <a:pPr>
              <a:lnSpc>
                <a:spcPct val="120000"/>
              </a:lnSpc>
            </a:pPr>
            <a:r>
              <a:rPr lang="en-US" sz="970" dirty="0">
                <a:solidFill>
                  <a:srgbClr val="F8FAFC"/>
                </a:solidFill>
                <a:latin typeface="MiSans" pitchFamily="34" charset="0"/>
                <a:ea typeface="MiSans" pitchFamily="34" charset="-122"/>
                <a:cs typeface="MiSans" pitchFamily="34" charset="-120"/>
              </a:rPr>
              <a:t> Môi trường giao tiếp</a:t>
            </a:r>
            <a:endParaRPr lang="en-US" sz="1600" dirty="0"/>
          </a:p>
        </p:txBody>
      </p:sp>
      <p:sp>
        <p:nvSpPr>
          <p:cNvPr id="17" name="Shape 15"/>
          <p:cNvSpPr/>
          <p:nvPr/>
        </p:nvSpPr>
        <p:spPr>
          <a:xfrm>
            <a:off x="535216" y="3454255"/>
            <a:ext cx="3371506" cy="316904"/>
          </a:xfrm>
          <a:custGeom>
            <a:avLst/>
            <a:gdLst/>
            <a:ahLst/>
            <a:cxnLst/>
            <a:rect l="l" t="t" r="r" b="b"/>
            <a:pathLst>
              <a:path w="3371506" h="316904">
                <a:moveTo>
                  <a:pt x="70422" y="0"/>
                </a:moveTo>
                <a:lnTo>
                  <a:pt x="3301084" y="0"/>
                </a:lnTo>
                <a:cubicBezTo>
                  <a:pt x="3339977" y="0"/>
                  <a:pt x="3371506" y="31529"/>
                  <a:pt x="3371506" y="70422"/>
                </a:cubicBezTo>
                <a:lnTo>
                  <a:pt x="3371506" y="246482"/>
                </a:lnTo>
                <a:cubicBezTo>
                  <a:pt x="3371506" y="285375"/>
                  <a:pt x="3339977" y="316904"/>
                  <a:pt x="3301084" y="316904"/>
                </a:cubicBezTo>
                <a:lnTo>
                  <a:pt x="70422" y="316904"/>
                </a:lnTo>
                <a:cubicBezTo>
                  <a:pt x="31555" y="316904"/>
                  <a:pt x="0" y="285349"/>
                  <a:pt x="0" y="246482"/>
                </a:cubicBezTo>
                <a:lnTo>
                  <a:pt x="0" y="70422"/>
                </a:lnTo>
                <a:cubicBezTo>
                  <a:pt x="0" y="31555"/>
                  <a:pt x="31555" y="0"/>
                  <a:pt x="70422" y="0"/>
                </a:cubicBezTo>
                <a:close/>
              </a:path>
            </a:pathLst>
          </a:custGeom>
          <a:solidFill>
            <a:srgbClr val="0F172A">
              <a:alpha val="50196"/>
            </a:srgbClr>
          </a:solidFill>
          <a:ln/>
        </p:spPr>
      </p:sp>
      <p:sp>
        <p:nvSpPr>
          <p:cNvPr id="18" name="Shape 16"/>
          <p:cNvSpPr/>
          <p:nvPr/>
        </p:nvSpPr>
        <p:spPr>
          <a:xfrm>
            <a:off x="605639" y="3542283"/>
            <a:ext cx="176058" cy="140846"/>
          </a:xfrm>
          <a:custGeom>
            <a:avLst/>
            <a:gdLst/>
            <a:ahLst/>
            <a:cxnLst/>
            <a:rect l="l" t="t" r="r" b="b"/>
            <a:pathLst>
              <a:path w="176058" h="140846">
                <a:moveTo>
                  <a:pt x="96832" y="0"/>
                </a:moveTo>
                <a:cubicBezTo>
                  <a:pt x="96832" y="-4869"/>
                  <a:pt x="92898" y="-8803"/>
                  <a:pt x="88029" y="-8803"/>
                </a:cubicBezTo>
                <a:cubicBezTo>
                  <a:pt x="83160" y="-8803"/>
                  <a:pt x="79226" y="-4869"/>
                  <a:pt x="79226" y="0"/>
                </a:cubicBezTo>
                <a:lnTo>
                  <a:pt x="79226" y="17606"/>
                </a:lnTo>
                <a:lnTo>
                  <a:pt x="52817" y="17606"/>
                </a:lnTo>
                <a:cubicBezTo>
                  <a:pt x="38238" y="17606"/>
                  <a:pt x="26409" y="29435"/>
                  <a:pt x="26409" y="44014"/>
                </a:cubicBezTo>
                <a:lnTo>
                  <a:pt x="26409" y="105635"/>
                </a:lnTo>
                <a:cubicBezTo>
                  <a:pt x="26409" y="120214"/>
                  <a:pt x="38238" y="132043"/>
                  <a:pt x="52817" y="132043"/>
                </a:cubicBezTo>
                <a:lnTo>
                  <a:pt x="123240" y="132043"/>
                </a:lnTo>
                <a:cubicBezTo>
                  <a:pt x="137820" y="132043"/>
                  <a:pt x="149649" y="120214"/>
                  <a:pt x="149649" y="105635"/>
                </a:cubicBezTo>
                <a:lnTo>
                  <a:pt x="149649" y="44014"/>
                </a:lnTo>
                <a:cubicBezTo>
                  <a:pt x="149649" y="29435"/>
                  <a:pt x="137820" y="17606"/>
                  <a:pt x="123240" y="17606"/>
                </a:cubicBezTo>
                <a:lnTo>
                  <a:pt x="96832" y="17606"/>
                </a:lnTo>
                <a:lnTo>
                  <a:pt x="96832" y="0"/>
                </a:lnTo>
                <a:close/>
                <a:moveTo>
                  <a:pt x="44014" y="101233"/>
                </a:moveTo>
                <a:cubicBezTo>
                  <a:pt x="44014" y="97575"/>
                  <a:pt x="46958" y="94631"/>
                  <a:pt x="50617" y="94631"/>
                </a:cubicBezTo>
                <a:lnTo>
                  <a:pt x="59419" y="94631"/>
                </a:lnTo>
                <a:cubicBezTo>
                  <a:pt x="63078" y="94631"/>
                  <a:pt x="66022" y="97575"/>
                  <a:pt x="66022" y="101233"/>
                </a:cubicBezTo>
                <a:cubicBezTo>
                  <a:pt x="66022" y="104892"/>
                  <a:pt x="63078" y="107835"/>
                  <a:pt x="59419" y="107835"/>
                </a:cubicBezTo>
                <a:lnTo>
                  <a:pt x="50617" y="107835"/>
                </a:lnTo>
                <a:cubicBezTo>
                  <a:pt x="46958" y="107835"/>
                  <a:pt x="44014" y="104892"/>
                  <a:pt x="44014" y="101233"/>
                </a:cubicBezTo>
                <a:close/>
                <a:moveTo>
                  <a:pt x="77025" y="101233"/>
                </a:moveTo>
                <a:cubicBezTo>
                  <a:pt x="77025" y="97575"/>
                  <a:pt x="79969" y="94631"/>
                  <a:pt x="83627" y="94631"/>
                </a:cubicBezTo>
                <a:lnTo>
                  <a:pt x="92430" y="94631"/>
                </a:lnTo>
                <a:cubicBezTo>
                  <a:pt x="96089" y="94631"/>
                  <a:pt x="99032" y="97575"/>
                  <a:pt x="99032" y="101233"/>
                </a:cubicBezTo>
                <a:cubicBezTo>
                  <a:pt x="99032" y="104892"/>
                  <a:pt x="96089" y="107835"/>
                  <a:pt x="92430" y="107835"/>
                </a:cubicBezTo>
                <a:lnTo>
                  <a:pt x="83627" y="107835"/>
                </a:lnTo>
                <a:cubicBezTo>
                  <a:pt x="79969" y="107835"/>
                  <a:pt x="77025" y="104892"/>
                  <a:pt x="77025" y="101233"/>
                </a:cubicBezTo>
                <a:close/>
                <a:moveTo>
                  <a:pt x="110036" y="101233"/>
                </a:moveTo>
                <a:cubicBezTo>
                  <a:pt x="110036" y="97575"/>
                  <a:pt x="112980" y="94631"/>
                  <a:pt x="116638" y="94631"/>
                </a:cubicBezTo>
                <a:lnTo>
                  <a:pt x="125441" y="94631"/>
                </a:lnTo>
                <a:cubicBezTo>
                  <a:pt x="129100" y="94631"/>
                  <a:pt x="132043" y="97575"/>
                  <a:pt x="132043" y="101233"/>
                </a:cubicBezTo>
                <a:cubicBezTo>
                  <a:pt x="132043" y="104892"/>
                  <a:pt x="129100" y="107835"/>
                  <a:pt x="125441" y="107835"/>
                </a:cubicBezTo>
                <a:lnTo>
                  <a:pt x="116638" y="107835"/>
                </a:lnTo>
                <a:cubicBezTo>
                  <a:pt x="112980" y="107835"/>
                  <a:pt x="110036" y="104892"/>
                  <a:pt x="110036" y="101233"/>
                </a:cubicBezTo>
                <a:close/>
                <a:moveTo>
                  <a:pt x="61620" y="48416"/>
                </a:moveTo>
                <a:cubicBezTo>
                  <a:pt x="68908" y="48416"/>
                  <a:pt x="74825" y="54333"/>
                  <a:pt x="74825" y="61620"/>
                </a:cubicBezTo>
                <a:cubicBezTo>
                  <a:pt x="74825" y="68908"/>
                  <a:pt x="68908" y="74825"/>
                  <a:pt x="61620" y="74825"/>
                </a:cubicBezTo>
                <a:cubicBezTo>
                  <a:pt x="54333" y="74825"/>
                  <a:pt x="48416" y="68908"/>
                  <a:pt x="48416" y="61620"/>
                </a:cubicBezTo>
                <a:cubicBezTo>
                  <a:pt x="48416" y="54333"/>
                  <a:pt x="54333" y="48416"/>
                  <a:pt x="61620" y="48416"/>
                </a:cubicBezTo>
                <a:close/>
                <a:moveTo>
                  <a:pt x="101233" y="61620"/>
                </a:moveTo>
                <a:cubicBezTo>
                  <a:pt x="101233" y="54333"/>
                  <a:pt x="107150" y="48416"/>
                  <a:pt x="114438" y="48416"/>
                </a:cubicBezTo>
                <a:cubicBezTo>
                  <a:pt x="121725" y="48416"/>
                  <a:pt x="127642" y="54333"/>
                  <a:pt x="127642" y="61620"/>
                </a:cubicBezTo>
                <a:cubicBezTo>
                  <a:pt x="127642" y="68908"/>
                  <a:pt x="121725" y="74825"/>
                  <a:pt x="114438" y="74825"/>
                </a:cubicBezTo>
                <a:cubicBezTo>
                  <a:pt x="107150" y="74825"/>
                  <a:pt x="101233" y="68908"/>
                  <a:pt x="101233" y="61620"/>
                </a:cubicBezTo>
                <a:close/>
                <a:moveTo>
                  <a:pt x="17606" y="61620"/>
                </a:moveTo>
                <a:cubicBezTo>
                  <a:pt x="17606" y="56751"/>
                  <a:pt x="13672" y="52817"/>
                  <a:pt x="8803" y="52817"/>
                </a:cubicBezTo>
                <a:cubicBezTo>
                  <a:pt x="3934" y="52817"/>
                  <a:pt x="0" y="56751"/>
                  <a:pt x="0" y="61620"/>
                </a:cubicBezTo>
                <a:lnTo>
                  <a:pt x="0" y="88029"/>
                </a:lnTo>
                <a:cubicBezTo>
                  <a:pt x="0" y="92898"/>
                  <a:pt x="3934" y="96832"/>
                  <a:pt x="8803" y="96832"/>
                </a:cubicBezTo>
                <a:cubicBezTo>
                  <a:pt x="13672" y="96832"/>
                  <a:pt x="17606" y="92898"/>
                  <a:pt x="17606" y="88029"/>
                </a:cubicBezTo>
                <a:lnTo>
                  <a:pt x="17606" y="61620"/>
                </a:lnTo>
                <a:close/>
                <a:moveTo>
                  <a:pt x="167255" y="52817"/>
                </a:moveTo>
                <a:cubicBezTo>
                  <a:pt x="162386" y="52817"/>
                  <a:pt x="158452" y="56751"/>
                  <a:pt x="158452" y="61620"/>
                </a:cubicBezTo>
                <a:lnTo>
                  <a:pt x="158452" y="88029"/>
                </a:lnTo>
                <a:cubicBezTo>
                  <a:pt x="158452" y="92898"/>
                  <a:pt x="162386" y="96832"/>
                  <a:pt x="167255" y="96832"/>
                </a:cubicBezTo>
                <a:cubicBezTo>
                  <a:pt x="172124" y="96832"/>
                  <a:pt x="176058" y="92898"/>
                  <a:pt x="176058" y="88029"/>
                </a:cubicBezTo>
                <a:lnTo>
                  <a:pt x="176058" y="61620"/>
                </a:lnTo>
                <a:cubicBezTo>
                  <a:pt x="176058" y="56751"/>
                  <a:pt x="172124" y="52817"/>
                  <a:pt x="167255" y="52817"/>
                </a:cubicBezTo>
                <a:close/>
              </a:path>
            </a:pathLst>
          </a:custGeom>
          <a:solidFill>
            <a:srgbClr val="10B981"/>
          </a:solidFill>
          <a:ln/>
        </p:spPr>
      </p:sp>
      <p:sp>
        <p:nvSpPr>
          <p:cNvPr id="19" name="Text 17"/>
          <p:cNvSpPr/>
          <p:nvPr/>
        </p:nvSpPr>
        <p:spPr>
          <a:xfrm>
            <a:off x="852120" y="3524678"/>
            <a:ext cx="1320433" cy="176058"/>
          </a:xfrm>
          <a:prstGeom prst="rect">
            <a:avLst/>
          </a:prstGeom>
          <a:noFill/>
          <a:ln/>
        </p:spPr>
        <p:txBody>
          <a:bodyPr wrap="square" lIns="0" tIns="0" rIns="0" bIns="0" rtlCol="0" anchor="ctr"/>
          <a:lstStyle/>
          <a:p>
            <a:pPr>
              <a:lnSpc>
                <a:spcPct val="120000"/>
              </a:lnSpc>
            </a:pPr>
            <a:r>
              <a:rPr lang="en-US" sz="970" b="1" dirty="0">
                <a:solidFill>
                  <a:srgbClr val="F8FAFC"/>
                </a:solidFill>
                <a:latin typeface="MiSans" pitchFamily="34" charset="0"/>
                <a:ea typeface="MiSans" pitchFamily="34" charset="-122"/>
                <a:cs typeface="MiSans" pitchFamily="34" charset="-120"/>
              </a:rPr>
              <a:t>Copilot:</a:t>
            </a:r>
            <a:pPr>
              <a:lnSpc>
                <a:spcPct val="120000"/>
              </a:lnSpc>
            </a:pPr>
            <a:r>
              <a:rPr lang="en-US" sz="970" dirty="0">
                <a:solidFill>
                  <a:srgbClr val="F8FAFC"/>
                </a:solidFill>
                <a:latin typeface="MiSans" pitchFamily="34" charset="0"/>
                <a:ea typeface="MiSans" pitchFamily="34" charset="-122"/>
                <a:cs typeface="MiSans" pitchFamily="34" charset="-120"/>
              </a:rPr>
              <a:t> Trợ lý thực thi</a:t>
            </a:r>
            <a:endParaRPr lang="en-US" sz="1600" dirty="0"/>
          </a:p>
        </p:txBody>
      </p:sp>
      <p:sp>
        <p:nvSpPr>
          <p:cNvPr id="20" name="Text 18"/>
          <p:cNvSpPr/>
          <p:nvPr/>
        </p:nvSpPr>
        <p:spPr>
          <a:xfrm>
            <a:off x="535216" y="3876793"/>
            <a:ext cx="3433126" cy="176058"/>
          </a:xfrm>
          <a:prstGeom prst="rect">
            <a:avLst/>
          </a:prstGeom>
          <a:noFill/>
          <a:ln/>
        </p:spPr>
        <p:txBody>
          <a:bodyPr wrap="square" lIns="0" tIns="0" rIns="0" bIns="0" rtlCol="0" anchor="ctr"/>
          <a:lstStyle/>
          <a:p>
            <a:pPr>
              <a:lnSpc>
                <a:spcPct val="120000"/>
              </a:lnSpc>
            </a:pPr>
            <a:r>
              <a:rPr lang="en-US" sz="970" dirty="0">
                <a:solidFill>
                  <a:srgbClr val="F8FAFC">
                    <a:alpha val="60000"/>
                  </a:srgbClr>
                </a:solidFill>
                <a:latin typeface="MiSans" pitchFamily="34" charset="0"/>
                <a:ea typeface="MiSans" pitchFamily="34" charset="-122"/>
                <a:cs typeface="MiSans" pitchFamily="34" charset="-120"/>
              </a:rPr>
              <a:t>AI luôn cần sự kiểm duyệt từ con ngườ</a:t>
            </a:r>
            <a:endParaRPr lang="en-US" sz="1600" dirty="0"/>
          </a:p>
        </p:txBody>
      </p:sp>
      <p:sp>
        <p:nvSpPr>
          <p:cNvPr id="21" name="Shape 19"/>
          <p:cNvSpPr/>
          <p:nvPr/>
        </p:nvSpPr>
        <p:spPr>
          <a:xfrm>
            <a:off x="4231438" y="1602126"/>
            <a:ext cx="3730664" cy="3510592"/>
          </a:xfrm>
          <a:custGeom>
            <a:avLst/>
            <a:gdLst/>
            <a:ahLst/>
            <a:cxnLst/>
            <a:rect l="l" t="t" r="r" b="b"/>
            <a:pathLst>
              <a:path w="3730664" h="3510592">
                <a:moveTo>
                  <a:pt x="140845" y="0"/>
                </a:moveTo>
                <a:lnTo>
                  <a:pt x="3589819" y="0"/>
                </a:lnTo>
                <a:cubicBezTo>
                  <a:pt x="3667606" y="0"/>
                  <a:pt x="3730664" y="63058"/>
                  <a:pt x="3730664" y="140845"/>
                </a:cubicBezTo>
                <a:lnTo>
                  <a:pt x="3730664" y="3369747"/>
                </a:lnTo>
                <a:cubicBezTo>
                  <a:pt x="3730664" y="3447533"/>
                  <a:pt x="3667606" y="3510592"/>
                  <a:pt x="3589819" y="3510592"/>
                </a:cubicBezTo>
                <a:lnTo>
                  <a:pt x="140845" y="3510592"/>
                </a:lnTo>
                <a:cubicBezTo>
                  <a:pt x="63058" y="3510592"/>
                  <a:pt x="0" y="3447533"/>
                  <a:pt x="0" y="3369747"/>
                </a:cubicBezTo>
                <a:lnTo>
                  <a:pt x="0" y="140845"/>
                </a:lnTo>
                <a:cubicBezTo>
                  <a:pt x="0" y="63111"/>
                  <a:pt x="63111" y="0"/>
                  <a:pt x="140845" y="0"/>
                </a:cubicBezTo>
                <a:close/>
              </a:path>
            </a:pathLst>
          </a:custGeom>
          <a:gradFill rotWithShape="1" flip="none">
            <a:gsLst>
              <a:gs pos="0">
                <a:srgbClr val="1E293B"/>
              </a:gs>
              <a:gs pos="100000">
                <a:srgbClr val="1E293B">
                  <a:alpha val="50000"/>
                </a:srgbClr>
              </a:gs>
            </a:gsLst>
            <a:lin ang="2700000" scaled="1"/>
          </a:gradFill>
          <a:ln w="10160">
            <a:solidFill>
              <a:srgbClr val="8B5CF6">
                <a:alpha val="30196"/>
              </a:srgbClr>
            </a:solidFill>
            <a:prstDash val="solid"/>
          </a:ln>
        </p:spPr>
      </p:sp>
      <p:sp>
        <p:nvSpPr>
          <p:cNvPr id="22" name="Shape 20"/>
          <p:cNvSpPr/>
          <p:nvPr/>
        </p:nvSpPr>
        <p:spPr>
          <a:xfrm>
            <a:off x="4411017" y="1781706"/>
            <a:ext cx="422539" cy="422539"/>
          </a:xfrm>
          <a:custGeom>
            <a:avLst/>
            <a:gdLst/>
            <a:ahLst/>
            <a:cxnLst/>
            <a:rect l="l" t="t" r="r" b="b"/>
            <a:pathLst>
              <a:path w="422539" h="422539">
                <a:moveTo>
                  <a:pt x="105635" y="0"/>
                </a:moveTo>
                <a:lnTo>
                  <a:pt x="316904" y="0"/>
                </a:lnTo>
                <a:cubicBezTo>
                  <a:pt x="375244" y="0"/>
                  <a:pt x="422539" y="47294"/>
                  <a:pt x="422539" y="105635"/>
                </a:cubicBezTo>
                <a:lnTo>
                  <a:pt x="422539" y="316904"/>
                </a:lnTo>
                <a:cubicBezTo>
                  <a:pt x="422539" y="375244"/>
                  <a:pt x="375244" y="422539"/>
                  <a:pt x="316904" y="422539"/>
                </a:cubicBezTo>
                <a:lnTo>
                  <a:pt x="105635" y="422539"/>
                </a:lnTo>
                <a:cubicBezTo>
                  <a:pt x="47294" y="422539"/>
                  <a:pt x="0" y="375244"/>
                  <a:pt x="0" y="316904"/>
                </a:cubicBezTo>
                <a:lnTo>
                  <a:pt x="0" y="105635"/>
                </a:lnTo>
                <a:cubicBezTo>
                  <a:pt x="0" y="47333"/>
                  <a:pt x="47333" y="0"/>
                  <a:pt x="105635" y="0"/>
                </a:cubicBezTo>
                <a:close/>
              </a:path>
            </a:pathLst>
          </a:custGeom>
          <a:gradFill rotWithShape="1" flip="none">
            <a:gsLst>
              <a:gs pos="0">
                <a:srgbClr val="8B5CF6"/>
              </a:gs>
              <a:gs pos="100000">
                <a:srgbClr val="8B5CF6">
                  <a:alpha val="60000"/>
                </a:srgbClr>
              </a:gs>
            </a:gsLst>
            <a:lin ang="2700000" scaled="1"/>
          </a:gradFill>
          <a:ln/>
        </p:spPr>
      </p:sp>
      <p:sp>
        <p:nvSpPr>
          <p:cNvPr id="23" name="Shape 21"/>
          <p:cNvSpPr/>
          <p:nvPr/>
        </p:nvSpPr>
        <p:spPr>
          <a:xfrm>
            <a:off x="4534258" y="1904946"/>
            <a:ext cx="176058" cy="176058"/>
          </a:xfrm>
          <a:custGeom>
            <a:avLst/>
            <a:gdLst/>
            <a:ahLst/>
            <a:cxnLst/>
            <a:rect l="l" t="t" r="r" b="b"/>
            <a:pathLst>
              <a:path w="176058" h="176058">
                <a:moveTo>
                  <a:pt x="0" y="27509"/>
                </a:moveTo>
                <a:cubicBezTo>
                  <a:pt x="0" y="18397"/>
                  <a:pt x="7393" y="11004"/>
                  <a:pt x="16505" y="11004"/>
                </a:cubicBezTo>
                <a:lnTo>
                  <a:pt x="49516" y="11004"/>
                </a:lnTo>
                <a:cubicBezTo>
                  <a:pt x="58629" y="11004"/>
                  <a:pt x="66022" y="18397"/>
                  <a:pt x="66022" y="27509"/>
                </a:cubicBezTo>
                <a:lnTo>
                  <a:pt x="66022" y="33011"/>
                </a:lnTo>
                <a:lnTo>
                  <a:pt x="110036" y="33011"/>
                </a:lnTo>
                <a:lnTo>
                  <a:pt x="110036" y="27509"/>
                </a:lnTo>
                <a:cubicBezTo>
                  <a:pt x="110036" y="18397"/>
                  <a:pt x="117429" y="11004"/>
                  <a:pt x="126542" y="11004"/>
                </a:cubicBezTo>
                <a:lnTo>
                  <a:pt x="159552" y="11004"/>
                </a:lnTo>
                <a:cubicBezTo>
                  <a:pt x="168665" y="11004"/>
                  <a:pt x="176058" y="18397"/>
                  <a:pt x="176058" y="27509"/>
                </a:cubicBezTo>
                <a:lnTo>
                  <a:pt x="176058" y="60520"/>
                </a:lnTo>
                <a:cubicBezTo>
                  <a:pt x="176058" y="69632"/>
                  <a:pt x="168665" y="77025"/>
                  <a:pt x="159552" y="77025"/>
                </a:cubicBezTo>
                <a:lnTo>
                  <a:pt x="126542" y="77025"/>
                </a:lnTo>
                <a:cubicBezTo>
                  <a:pt x="117429" y="77025"/>
                  <a:pt x="110036" y="69632"/>
                  <a:pt x="110036" y="60520"/>
                </a:cubicBezTo>
                <a:lnTo>
                  <a:pt x="110036" y="55018"/>
                </a:lnTo>
                <a:lnTo>
                  <a:pt x="66022" y="55018"/>
                </a:lnTo>
                <a:lnTo>
                  <a:pt x="66022" y="60520"/>
                </a:lnTo>
                <a:cubicBezTo>
                  <a:pt x="66022" y="63030"/>
                  <a:pt x="65437" y="65437"/>
                  <a:pt x="64440" y="67569"/>
                </a:cubicBezTo>
                <a:lnTo>
                  <a:pt x="88029" y="99032"/>
                </a:lnTo>
                <a:lnTo>
                  <a:pt x="115538" y="99032"/>
                </a:lnTo>
                <a:cubicBezTo>
                  <a:pt x="124650" y="99032"/>
                  <a:pt x="132043" y="106426"/>
                  <a:pt x="132043" y="115538"/>
                </a:cubicBezTo>
                <a:lnTo>
                  <a:pt x="132043" y="148549"/>
                </a:lnTo>
                <a:cubicBezTo>
                  <a:pt x="132043" y="157661"/>
                  <a:pt x="124650" y="165054"/>
                  <a:pt x="115538" y="165054"/>
                </a:cubicBezTo>
                <a:lnTo>
                  <a:pt x="82527" y="165054"/>
                </a:lnTo>
                <a:cubicBezTo>
                  <a:pt x="73415" y="165054"/>
                  <a:pt x="66022" y="157661"/>
                  <a:pt x="66022" y="148549"/>
                </a:cubicBezTo>
                <a:lnTo>
                  <a:pt x="66022" y="115538"/>
                </a:lnTo>
                <a:cubicBezTo>
                  <a:pt x="66022" y="113028"/>
                  <a:pt x="66606" y="110621"/>
                  <a:pt x="67603" y="108489"/>
                </a:cubicBezTo>
                <a:lnTo>
                  <a:pt x="44014" y="77025"/>
                </a:lnTo>
                <a:lnTo>
                  <a:pt x="16505" y="77025"/>
                </a:lnTo>
                <a:cubicBezTo>
                  <a:pt x="7393" y="77025"/>
                  <a:pt x="0" y="69632"/>
                  <a:pt x="0" y="60520"/>
                </a:cubicBezTo>
                <a:lnTo>
                  <a:pt x="0" y="27509"/>
                </a:lnTo>
                <a:close/>
              </a:path>
            </a:pathLst>
          </a:custGeom>
          <a:solidFill>
            <a:srgbClr val="FFFFFF"/>
          </a:solidFill>
          <a:ln/>
        </p:spPr>
      </p:sp>
      <p:sp>
        <p:nvSpPr>
          <p:cNvPr id="24" name="Text 22"/>
          <p:cNvSpPr/>
          <p:nvPr/>
        </p:nvSpPr>
        <p:spPr>
          <a:xfrm>
            <a:off x="4939191" y="1869735"/>
            <a:ext cx="1029938" cy="246481"/>
          </a:xfrm>
          <a:prstGeom prst="rect">
            <a:avLst/>
          </a:prstGeom>
          <a:noFill/>
          <a:ln/>
        </p:spPr>
        <p:txBody>
          <a:bodyPr wrap="square" lIns="0" tIns="0" rIns="0" bIns="0" rtlCol="0" anchor="ctr"/>
          <a:lstStyle/>
          <a:p>
            <a:pPr>
              <a:lnSpc>
                <a:spcPct val="120000"/>
              </a:lnSpc>
            </a:pPr>
            <a:r>
              <a:rPr lang="en-US" sz="1386" b="1" dirty="0">
                <a:solidFill>
                  <a:srgbClr val="8B5CF6"/>
                </a:solidFill>
                <a:latin typeface="Liter" pitchFamily="34" charset="0"/>
                <a:ea typeface="Liter" pitchFamily="34" charset="-122"/>
                <a:cs typeface="Liter" pitchFamily="34" charset="-120"/>
              </a:rPr>
              <a:t>Mức Luận lý</a:t>
            </a:r>
            <a:endParaRPr lang="en-US" sz="1600" dirty="0"/>
          </a:p>
        </p:txBody>
      </p:sp>
      <p:sp>
        <p:nvSpPr>
          <p:cNvPr id="25" name="Text 23"/>
          <p:cNvSpPr/>
          <p:nvPr/>
        </p:nvSpPr>
        <p:spPr>
          <a:xfrm>
            <a:off x="4411017" y="2345091"/>
            <a:ext cx="158452" cy="211269"/>
          </a:xfrm>
          <a:prstGeom prst="rect">
            <a:avLst/>
          </a:prstGeom>
          <a:noFill/>
          <a:ln/>
        </p:spPr>
        <p:txBody>
          <a:bodyPr wrap="square" lIns="0" tIns="0" rIns="0" bIns="0" rtlCol="0" anchor="ctr"/>
          <a:lstStyle/>
          <a:p>
            <a:pPr>
              <a:lnSpc>
                <a:spcPct val="130000"/>
              </a:lnSpc>
            </a:pPr>
            <a:r>
              <a:rPr lang="en-US" sz="1109" b="1" dirty="0">
                <a:solidFill>
                  <a:srgbClr val="8B5CF6"/>
                </a:solidFill>
                <a:latin typeface="MiSans" pitchFamily="34" charset="0"/>
                <a:ea typeface="MiSans" pitchFamily="34" charset="-122"/>
                <a:cs typeface="MiSans" pitchFamily="34" charset="-120"/>
              </a:rPr>
              <a:t>1.</a:t>
            </a:r>
            <a:endParaRPr lang="en-US" sz="1600" dirty="0"/>
          </a:p>
        </p:txBody>
      </p:sp>
      <p:sp>
        <p:nvSpPr>
          <p:cNvPr id="26" name="Text 24"/>
          <p:cNvSpPr/>
          <p:nvPr/>
        </p:nvSpPr>
        <p:spPr>
          <a:xfrm>
            <a:off x="4570900" y="2345091"/>
            <a:ext cx="1971847" cy="176058"/>
          </a:xfrm>
          <a:prstGeom prst="rect">
            <a:avLst/>
          </a:prstGeom>
          <a:noFill/>
          <a:ln/>
        </p:spPr>
        <p:txBody>
          <a:bodyPr wrap="square" lIns="0" tIns="0" rIns="0" bIns="0" rtlCol="0" anchor="ctr"/>
          <a:lstStyle/>
          <a:p>
            <a:pPr>
              <a:lnSpc>
                <a:spcPct val="120000"/>
              </a:lnSpc>
            </a:pPr>
            <a:r>
              <a:rPr lang="en-US" sz="970" dirty="0">
                <a:solidFill>
                  <a:srgbClr val="F8FAFC">
                    <a:alpha val="80000"/>
                  </a:srgbClr>
                </a:solidFill>
                <a:latin typeface="MiSans" pitchFamily="34" charset="0"/>
                <a:ea typeface="MiSans" pitchFamily="34" charset="-122"/>
                <a:cs typeface="MiSans" pitchFamily="34" charset="-120"/>
              </a:rPr>
              <a:t>Lập trình viên viết code/comment</a:t>
            </a:r>
            <a:endParaRPr lang="en-US" sz="1600" dirty="0"/>
          </a:p>
        </p:txBody>
      </p:sp>
      <p:sp>
        <p:nvSpPr>
          <p:cNvPr id="27" name="Text 25"/>
          <p:cNvSpPr/>
          <p:nvPr/>
        </p:nvSpPr>
        <p:spPr>
          <a:xfrm>
            <a:off x="4411017" y="2626783"/>
            <a:ext cx="184861" cy="211269"/>
          </a:xfrm>
          <a:prstGeom prst="rect">
            <a:avLst/>
          </a:prstGeom>
          <a:noFill/>
          <a:ln/>
        </p:spPr>
        <p:txBody>
          <a:bodyPr wrap="square" lIns="0" tIns="0" rIns="0" bIns="0" rtlCol="0" anchor="ctr"/>
          <a:lstStyle/>
          <a:p>
            <a:pPr>
              <a:lnSpc>
                <a:spcPct val="130000"/>
              </a:lnSpc>
            </a:pPr>
            <a:r>
              <a:rPr lang="en-US" sz="1109" b="1" dirty="0">
                <a:solidFill>
                  <a:srgbClr val="8B5CF6"/>
                </a:solidFill>
                <a:latin typeface="MiSans" pitchFamily="34" charset="0"/>
                <a:ea typeface="MiSans" pitchFamily="34" charset="-122"/>
                <a:cs typeface="MiSans" pitchFamily="34" charset="-120"/>
              </a:rPr>
              <a:t>2.</a:t>
            </a:r>
            <a:endParaRPr lang="en-US" sz="1600" dirty="0"/>
          </a:p>
        </p:txBody>
      </p:sp>
      <p:sp>
        <p:nvSpPr>
          <p:cNvPr id="28" name="Text 26"/>
          <p:cNvSpPr/>
          <p:nvPr/>
        </p:nvSpPr>
        <p:spPr>
          <a:xfrm>
            <a:off x="4594778" y="2626783"/>
            <a:ext cx="1619731" cy="176058"/>
          </a:xfrm>
          <a:prstGeom prst="rect">
            <a:avLst/>
          </a:prstGeom>
          <a:noFill/>
          <a:ln/>
        </p:spPr>
        <p:txBody>
          <a:bodyPr wrap="square" lIns="0" tIns="0" rIns="0" bIns="0" rtlCol="0" anchor="ctr"/>
          <a:lstStyle/>
          <a:p>
            <a:pPr>
              <a:lnSpc>
                <a:spcPct val="120000"/>
              </a:lnSpc>
            </a:pPr>
            <a:r>
              <a:rPr lang="en-US" sz="970" dirty="0">
                <a:solidFill>
                  <a:srgbClr val="F8FAFC">
                    <a:alpha val="80000"/>
                  </a:srgbClr>
                </a:solidFill>
                <a:latin typeface="MiSans" pitchFamily="34" charset="0"/>
                <a:ea typeface="MiSans" pitchFamily="34" charset="-122"/>
                <a:cs typeface="MiSans" pitchFamily="34" charset="-120"/>
              </a:rPr>
              <a:t>Thu thập </a:t>
            </a:r>
            <a:pPr>
              <a:lnSpc>
                <a:spcPct val="120000"/>
              </a:lnSpc>
            </a:pPr>
            <a:r>
              <a:rPr lang="en-US" sz="970" dirty="0">
                <a:solidFill>
                  <a:srgbClr val="F8FAFC">
                    <a:alpha val="80000"/>
                  </a:srgbClr>
                </a:solidFill>
                <a:highlight>
                  <a:srgbClr val="8B5CF6">
                    <a:alpha val="20000"/>
                  </a:srgbClr>
                </a:highlight>
                <a:latin typeface="MiSans" pitchFamily="34" charset="0"/>
                <a:ea typeface="MiSans" pitchFamily="34" charset="-122"/>
                <a:cs typeface="MiSans" pitchFamily="34" charset="-120"/>
              </a:rPr>
              <a:t>ngữ cảnh cục bộ</a:t>
            </a:r>
            <a:endParaRPr lang="en-US" sz="1600" dirty="0"/>
          </a:p>
        </p:txBody>
      </p:sp>
      <p:sp>
        <p:nvSpPr>
          <p:cNvPr id="29" name="Text 27"/>
          <p:cNvSpPr/>
          <p:nvPr/>
        </p:nvSpPr>
        <p:spPr>
          <a:xfrm>
            <a:off x="4411017" y="2908476"/>
            <a:ext cx="184861" cy="211269"/>
          </a:xfrm>
          <a:prstGeom prst="rect">
            <a:avLst/>
          </a:prstGeom>
          <a:noFill/>
          <a:ln/>
        </p:spPr>
        <p:txBody>
          <a:bodyPr wrap="square" lIns="0" tIns="0" rIns="0" bIns="0" rtlCol="0" anchor="ctr"/>
          <a:lstStyle/>
          <a:p>
            <a:pPr>
              <a:lnSpc>
                <a:spcPct val="130000"/>
              </a:lnSpc>
            </a:pPr>
            <a:r>
              <a:rPr lang="en-US" sz="1109" b="1" dirty="0">
                <a:solidFill>
                  <a:srgbClr val="8B5CF6"/>
                </a:solidFill>
                <a:latin typeface="MiSans" pitchFamily="34" charset="0"/>
                <a:ea typeface="MiSans" pitchFamily="34" charset="-122"/>
                <a:cs typeface="MiSans" pitchFamily="34" charset="-120"/>
              </a:rPr>
              <a:t>3.</a:t>
            </a:r>
            <a:endParaRPr lang="en-US" sz="1600" dirty="0"/>
          </a:p>
        </p:txBody>
      </p:sp>
      <p:sp>
        <p:nvSpPr>
          <p:cNvPr id="30" name="Text 28"/>
          <p:cNvSpPr/>
          <p:nvPr/>
        </p:nvSpPr>
        <p:spPr>
          <a:xfrm>
            <a:off x="4598409" y="2908476"/>
            <a:ext cx="1919030" cy="176058"/>
          </a:xfrm>
          <a:prstGeom prst="rect">
            <a:avLst/>
          </a:prstGeom>
          <a:noFill/>
          <a:ln/>
        </p:spPr>
        <p:txBody>
          <a:bodyPr wrap="square" lIns="0" tIns="0" rIns="0" bIns="0" rtlCol="0" anchor="ctr"/>
          <a:lstStyle/>
          <a:p>
            <a:pPr>
              <a:lnSpc>
                <a:spcPct val="120000"/>
              </a:lnSpc>
            </a:pPr>
            <a:r>
              <a:rPr lang="en-US" sz="970" dirty="0">
                <a:solidFill>
                  <a:srgbClr val="F8FAFC">
                    <a:alpha val="80000"/>
                  </a:srgbClr>
                </a:solidFill>
                <a:latin typeface="MiSans" pitchFamily="34" charset="0"/>
                <a:ea typeface="MiSans" pitchFamily="34" charset="-122"/>
                <a:cs typeface="MiSans" pitchFamily="34" charset="-120"/>
              </a:rPr>
              <a:t>Đóng gói thành </a:t>
            </a:r>
            <a:pPr>
              <a:lnSpc>
                <a:spcPct val="120000"/>
              </a:lnSpc>
            </a:pPr>
            <a:r>
              <a:rPr lang="en-US" sz="970" dirty="0">
                <a:solidFill>
                  <a:srgbClr val="F8FAFC">
                    <a:alpha val="80000"/>
                  </a:srgbClr>
                </a:solidFill>
                <a:highlight>
                  <a:srgbClr val="8B5CF6">
                    <a:alpha val="20000"/>
                  </a:srgbClr>
                </a:highlight>
                <a:latin typeface="MiSans" pitchFamily="34" charset="0"/>
                <a:ea typeface="MiSans" pitchFamily="34" charset="-122"/>
                <a:cs typeface="MiSans" pitchFamily="34" charset="-120"/>
              </a:rPr>
              <a:t>Prompt an toàn</a:t>
            </a:r>
            <a:endParaRPr lang="en-US" sz="1600" dirty="0"/>
          </a:p>
        </p:txBody>
      </p:sp>
      <p:sp>
        <p:nvSpPr>
          <p:cNvPr id="31" name="Text 29"/>
          <p:cNvSpPr/>
          <p:nvPr/>
        </p:nvSpPr>
        <p:spPr>
          <a:xfrm>
            <a:off x="4411017" y="3190168"/>
            <a:ext cx="184861" cy="211269"/>
          </a:xfrm>
          <a:prstGeom prst="rect">
            <a:avLst/>
          </a:prstGeom>
          <a:noFill/>
          <a:ln/>
        </p:spPr>
        <p:txBody>
          <a:bodyPr wrap="square" lIns="0" tIns="0" rIns="0" bIns="0" rtlCol="0" anchor="ctr"/>
          <a:lstStyle/>
          <a:p>
            <a:pPr>
              <a:lnSpc>
                <a:spcPct val="130000"/>
              </a:lnSpc>
            </a:pPr>
            <a:r>
              <a:rPr lang="en-US" sz="1109" b="1" dirty="0">
                <a:solidFill>
                  <a:srgbClr val="8B5CF6"/>
                </a:solidFill>
                <a:latin typeface="MiSans" pitchFamily="34" charset="0"/>
                <a:ea typeface="MiSans" pitchFamily="34" charset="-122"/>
                <a:cs typeface="MiSans" pitchFamily="34" charset="-120"/>
              </a:rPr>
              <a:t>4.</a:t>
            </a:r>
            <a:endParaRPr lang="en-US" sz="1600" dirty="0"/>
          </a:p>
        </p:txBody>
      </p:sp>
      <p:sp>
        <p:nvSpPr>
          <p:cNvPr id="32" name="Text 30"/>
          <p:cNvSpPr/>
          <p:nvPr/>
        </p:nvSpPr>
        <p:spPr>
          <a:xfrm>
            <a:off x="4598079" y="3190168"/>
            <a:ext cx="2139102" cy="176058"/>
          </a:xfrm>
          <a:prstGeom prst="rect">
            <a:avLst/>
          </a:prstGeom>
          <a:noFill/>
          <a:ln/>
        </p:spPr>
        <p:txBody>
          <a:bodyPr wrap="square" lIns="0" tIns="0" rIns="0" bIns="0" rtlCol="0" anchor="ctr"/>
          <a:lstStyle/>
          <a:p>
            <a:pPr>
              <a:lnSpc>
                <a:spcPct val="120000"/>
              </a:lnSpc>
            </a:pPr>
            <a:r>
              <a:rPr lang="en-US" sz="970" dirty="0">
                <a:solidFill>
                  <a:srgbClr val="F8FAFC">
                    <a:alpha val="80000"/>
                  </a:srgbClr>
                </a:solidFill>
                <a:latin typeface="MiSans" pitchFamily="34" charset="0"/>
                <a:ea typeface="MiSans" pitchFamily="34" charset="-122"/>
                <a:cs typeface="MiSans" pitchFamily="34" charset="-120"/>
              </a:rPr>
              <a:t>LLM phân tích &amp; trả về </a:t>
            </a:r>
            <a:pPr>
              <a:lnSpc>
                <a:spcPct val="120000"/>
              </a:lnSpc>
            </a:pPr>
            <a:r>
              <a:rPr lang="en-US" sz="970" dirty="0">
                <a:solidFill>
                  <a:srgbClr val="F8FAFC">
                    <a:alpha val="80000"/>
                  </a:srgbClr>
                </a:solidFill>
                <a:highlight>
                  <a:srgbClr val="8B5CF6">
                    <a:alpha val="20000"/>
                  </a:srgbClr>
                </a:highlight>
                <a:latin typeface="MiSans" pitchFamily="34" charset="0"/>
                <a:ea typeface="MiSans" pitchFamily="34" charset="-122"/>
                <a:cs typeface="MiSans" pitchFamily="34" charset="-120"/>
              </a:rPr>
              <a:t>Suggestions</a:t>
            </a:r>
            <a:endParaRPr lang="en-US" sz="1600" dirty="0"/>
          </a:p>
        </p:txBody>
      </p:sp>
      <p:sp>
        <p:nvSpPr>
          <p:cNvPr id="33" name="Text 31"/>
          <p:cNvSpPr/>
          <p:nvPr/>
        </p:nvSpPr>
        <p:spPr>
          <a:xfrm>
            <a:off x="4411017" y="3471860"/>
            <a:ext cx="184861" cy="211269"/>
          </a:xfrm>
          <a:prstGeom prst="rect">
            <a:avLst/>
          </a:prstGeom>
          <a:noFill/>
          <a:ln/>
        </p:spPr>
        <p:txBody>
          <a:bodyPr wrap="square" lIns="0" tIns="0" rIns="0" bIns="0" rtlCol="0" anchor="ctr"/>
          <a:lstStyle/>
          <a:p>
            <a:pPr>
              <a:lnSpc>
                <a:spcPct val="130000"/>
              </a:lnSpc>
            </a:pPr>
            <a:r>
              <a:rPr lang="en-US" sz="1109" b="1" dirty="0">
                <a:solidFill>
                  <a:srgbClr val="8B5CF6"/>
                </a:solidFill>
                <a:latin typeface="MiSans" pitchFamily="34" charset="0"/>
                <a:ea typeface="MiSans" pitchFamily="34" charset="-122"/>
                <a:cs typeface="MiSans" pitchFamily="34" charset="-120"/>
              </a:rPr>
              <a:t>5.</a:t>
            </a:r>
            <a:endParaRPr lang="en-US" sz="1600" dirty="0"/>
          </a:p>
        </p:txBody>
      </p:sp>
      <p:sp>
        <p:nvSpPr>
          <p:cNvPr id="34" name="Text 32"/>
          <p:cNvSpPr/>
          <p:nvPr/>
        </p:nvSpPr>
        <p:spPr>
          <a:xfrm>
            <a:off x="4599619" y="3471860"/>
            <a:ext cx="1399659" cy="176058"/>
          </a:xfrm>
          <a:prstGeom prst="rect">
            <a:avLst/>
          </a:prstGeom>
          <a:noFill/>
          <a:ln/>
        </p:spPr>
        <p:txBody>
          <a:bodyPr wrap="square" lIns="0" tIns="0" rIns="0" bIns="0" rtlCol="0" anchor="ctr"/>
          <a:lstStyle/>
          <a:p>
            <a:pPr>
              <a:lnSpc>
                <a:spcPct val="120000"/>
              </a:lnSpc>
            </a:pPr>
            <a:r>
              <a:rPr lang="en-US" sz="970" dirty="0">
                <a:solidFill>
                  <a:srgbClr val="F8FAFC">
                    <a:alpha val="80000"/>
                  </a:srgbClr>
                </a:solidFill>
                <a:latin typeface="MiSans" pitchFamily="34" charset="0"/>
                <a:ea typeface="MiSans" pitchFamily="34" charset="-122"/>
                <a:cs typeface="MiSans" pitchFamily="34" charset="-120"/>
              </a:rPr>
              <a:t>IDE hiển thị </a:t>
            </a:r>
            <a:pPr>
              <a:lnSpc>
                <a:spcPct val="120000"/>
              </a:lnSpc>
            </a:pPr>
            <a:r>
              <a:rPr lang="en-US" sz="970" dirty="0">
                <a:solidFill>
                  <a:srgbClr val="F8FAFC">
                    <a:alpha val="80000"/>
                  </a:srgbClr>
                </a:solidFill>
                <a:highlight>
                  <a:srgbClr val="8B5CF6">
                    <a:alpha val="20000"/>
                  </a:srgbClr>
                </a:highlight>
                <a:latin typeface="MiSans" pitchFamily="34" charset="0"/>
                <a:ea typeface="MiSans" pitchFamily="34" charset="-122"/>
                <a:cs typeface="MiSans" pitchFamily="34" charset="-120"/>
              </a:rPr>
              <a:t>Ghost text</a:t>
            </a:r>
            <a:endParaRPr lang="en-US" sz="1600" dirty="0"/>
          </a:p>
        </p:txBody>
      </p:sp>
      <p:sp>
        <p:nvSpPr>
          <p:cNvPr id="35" name="Text 33"/>
          <p:cNvSpPr/>
          <p:nvPr/>
        </p:nvSpPr>
        <p:spPr>
          <a:xfrm>
            <a:off x="4411017" y="3753553"/>
            <a:ext cx="193664" cy="211269"/>
          </a:xfrm>
          <a:prstGeom prst="rect">
            <a:avLst/>
          </a:prstGeom>
          <a:noFill/>
          <a:ln/>
        </p:spPr>
        <p:txBody>
          <a:bodyPr wrap="square" lIns="0" tIns="0" rIns="0" bIns="0" rtlCol="0" anchor="ctr"/>
          <a:lstStyle/>
          <a:p>
            <a:pPr>
              <a:lnSpc>
                <a:spcPct val="130000"/>
              </a:lnSpc>
            </a:pPr>
            <a:r>
              <a:rPr lang="en-US" sz="1109" b="1" dirty="0">
                <a:solidFill>
                  <a:srgbClr val="8B5CF6"/>
                </a:solidFill>
                <a:latin typeface="MiSans" pitchFamily="34" charset="0"/>
                <a:ea typeface="MiSans" pitchFamily="34" charset="-122"/>
                <a:cs typeface="MiSans" pitchFamily="34" charset="-120"/>
              </a:rPr>
              <a:t>6.</a:t>
            </a:r>
            <a:endParaRPr lang="en-US" sz="1600" dirty="0"/>
          </a:p>
        </p:txBody>
      </p:sp>
      <p:sp>
        <p:nvSpPr>
          <p:cNvPr id="36" name="Text 34"/>
          <p:cNvSpPr/>
          <p:nvPr/>
        </p:nvSpPr>
        <p:spPr>
          <a:xfrm>
            <a:off x="4600279" y="3753553"/>
            <a:ext cx="2059876" cy="176058"/>
          </a:xfrm>
          <a:prstGeom prst="rect">
            <a:avLst/>
          </a:prstGeom>
          <a:noFill/>
          <a:ln/>
        </p:spPr>
        <p:txBody>
          <a:bodyPr wrap="square" lIns="0" tIns="0" rIns="0" bIns="0" rtlCol="0" anchor="ctr"/>
          <a:lstStyle/>
          <a:p>
            <a:pPr>
              <a:lnSpc>
                <a:spcPct val="120000"/>
              </a:lnSpc>
            </a:pPr>
            <a:r>
              <a:rPr lang="en-US" sz="970" dirty="0">
                <a:solidFill>
                  <a:srgbClr val="F8FAFC">
                    <a:alpha val="80000"/>
                  </a:srgbClr>
                </a:solidFill>
                <a:latin typeface="MiSans" pitchFamily="34" charset="0"/>
                <a:ea typeface="MiSans" pitchFamily="34" charset="-122"/>
                <a:cs typeface="MiSans" pitchFamily="34" charset="-120"/>
              </a:rPr>
              <a:t>Lập trình viên ấn </a:t>
            </a:r>
            <a:pPr>
              <a:lnSpc>
                <a:spcPct val="120000"/>
              </a:lnSpc>
            </a:pPr>
            <a:r>
              <a:rPr lang="en-US" sz="970" b="1" dirty="0">
                <a:solidFill>
                  <a:srgbClr val="F8FAFC">
                    <a:alpha val="80000"/>
                  </a:srgbClr>
                </a:solidFill>
                <a:latin typeface="MiSans" pitchFamily="34" charset="0"/>
                <a:ea typeface="MiSans" pitchFamily="34" charset="-122"/>
                <a:cs typeface="MiSans" pitchFamily="34" charset="-120"/>
              </a:rPr>
              <a:t>Tab</a:t>
            </a:r>
            <a:pPr>
              <a:lnSpc>
                <a:spcPct val="120000"/>
              </a:lnSpc>
            </a:pPr>
            <a:r>
              <a:rPr lang="en-US" sz="970" dirty="0">
                <a:solidFill>
                  <a:srgbClr val="F8FAFC">
                    <a:alpha val="80000"/>
                  </a:srgbClr>
                </a:solidFill>
                <a:latin typeface="MiSans" pitchFamily="34" charset="0"/>
                <a:ea typeface="MiSans" pitchFamily="34" charset="-122"/>
                <a:cs typeface="MiSans" pitchFamily="34" charset="-120"/>
              </a:rPr>
              <a:t> để chấp nhận</a:t>
            </a:r>
            <a:endParaRPr lang="en-US" sz="1600" dirty="0"/>
          </a:p>
        </p:txBody>
      </p:sp>
      <p:sp>
        <p:nvSpPr>
          <p:cNvPr id="37" name="Shape 35"/>
          <p:cNvSpPr/>
          <p:nvPr/>
        </p:nvSpPr>
        <p:spPr>
          <a:xfrm>
            <a:off x="8107350" y="1602126"/>
            <a:ext cx="3730664" cy="3510592"/>
          </a:xfrm>
          <a:custGeom>
            <a:avLst/>
            <a:gdLst/>
            <a:ahLst/>
            <a:cxnLst/>
            <a:rect l="l" t="t" r="r" b="b"/>
            <a:pathLst>
              <a:path w="3730664" h="3510592">
                <a:moveTo>
                  <a:pt x="140845" y="0"/>
                </a:moveTo>
                <a:lnTo>
                  <a:pt x="3589819" y="0"/>
                </a:lnTo>
                <a:cubicBezTo>
                  <a:pt x="3667606" y="0"/>
                  <a:pt x="3730664" y="63058"/>
                  <a:pt x="3730664" y="140845"/>
                </a:cubicBezTo>
                <a:lnTo>
                  <a:pt x="3730664" y="3369747"/>
                </a:lnTo>
                <a:cubicBezTo>
                  <a:pt x="3730664" y="3447533"/>
                  <a:pt x="3667606" y="3510592"/>
                  <a:pt x="3589819" y="3510592"/>
                </a:cubicBezTo>
                <a:lnTo>
                  <a:pt x="140845" y="3510592"/>
                </a:lnTo>
                <a:cubicBezTo>
                  <a:pt x="63058" y="3510592"/>
                  <a:pt x="0" y="3447533"/>
                  <a:pt x="0" y="3369747"/>
                </a:cubicBezTo>
                <a:lnTo>
                  <a:pt x="0" y="140845"/>
                </a:lnTo>
                <a:cubicBezTo>
                  <a:pt x="0" y="63111"/>
                  <a:pt x="63111" y="0"/>
                  <a:pt x="140845" y="0"/>
                </a:cubicBezTo>
                <a:close/>
              </a:path>
            </a:pathLst>
          </a:custGeom>
          <a:gradFill rotWithShape="1" flip="none">
            <a:gsLst>
              <a:gs pos="0">
                <a:srgbClr val="1E293B"/>
              </a:gs>
              <a:gs pos="100000">
                <a:srgbClr val="1E293B">
                  <a:alpha val="50000"/>
                </a:srgbClr>
              </a:gs>
            </a:gsLst>
            <a:lin ang="2700000" scaled="1"/>
          </a:gradFill>
          <a:ln w="10160">
            <a:solidFill>
              <a:srgbClr val="10B981">
                <a:alpha val="30196"/>
              </a:srgbClr>
            </a:solidFill>
            <a:prstDash val="solid"/>
          </a:ln>
        </p:spPr>
      </p:sp>
      <p:sp>
        <p:nvSpPr>
          <p:cNvPr id="38" name="Shape 36"/>
          <p:cNvSpPr/>
          <p:nvPr/>
        </p:nvSpPr>
        <p:spPr>
          <a:xfrm>
            <a:off x="8286929" y="1781706"/>
            <a:ext cx="422539" cy="422539"/>
          </a:xfrm>
          <a:custGeom>
            <a:avLst/>
            <a:gdLst/>
            <a:ahLst/>
            <a:cxnLst/>
            <a:rect l="l" t="t" r="r" b="b"/>
            <a:pathLst>
              <a:path w="422539" h="422539">
                <a:moveTo>
                  <a:pt x="105635" y="0"/>
                </a:moveTo>
                <a:lnTo>
                  <a:pt x="316904" y="0"/>
                </a:lnTo>
                <a:cubicBezTo>
                  <a:pt x="375244" y="0"/>
                  <a:pt x="422539" y="47294"/>
                  <a:pt x="422539" y="105635"/>
                </a:cubicBezTo>
                <a:lnTo>
                  <a:pt x="422539" y="316904"/>
                </a:lnTo>
                <a:cubicBezTo>
                  <a:pt x="422539" y="375244"/>
                  <a:pt x="375244" y="422539"/>
                  <a:pt x="316904" y="422539"/>
                </a:cubicBezTo>
                <a:lnTo>
                  <a:pt x="105635" y="422539"/>
                </a:lnTo>
                <a:cubicBezTo>
                  <a:pt x="47294" y="422539"/>
                  <a:pt x="0" y="375244"/>
                  <a:pt x="0" y="316904"/>
                </a:cubicBezTo>
                <a:lnTo>
                  <a:pt x="0" y="105635"/>
                </a:lnTo>
                <a:cubicBezTo>
                  <a:pt x="0" y="47333"/>
                  <a:pt x="47333" y="0"/>
                  <a:pt x="105635" y="0"/>
                </a:cubicBezTo>
                <a:close/>
              </a:path>
            </a:pathLst>
          </a:custGeom>
          <a:gradFill rotWithShape="1" flip="none">
            <a:gsLst>
              <a:gs pos="0">
                <a:srgbClr val="10B981"/>
              </a:gs>
              <a:gs pos="100000">
                <a:srgbClr val="10B981">
                  <a:alpha val="60000"/>
                </a:srgbClr>
              </a:gs>
            </a:gsLst>
            <a:lin ang="2700000" scaled="1"/>
          </a:gradFill>
          <a:ln/>
        </p:spPr>
      </p:sp>
      <p:sp>
        <p:nvSpPr>
          <p:cNvPr id="39" name="Shape 37"/>
          <p:cNvSpPr/>
          <p:nvPr/>
        </p:nvSpPr>
        <p:spPr>
          <a:xfrm>
            <a:off x="8421173" y="1904946"/>
            <a:ext cx="154051" cy="176058"/>
          </a:xfrm>
          <a:custGeom>
            <a:avLst/>
            <a:gdLst/>
            <a:ahLst/>
            <a:cxnLst/>
            <a:rect l="l" t="t" r="r" b="b"/>
            <a:pathLst>
              <a:path w="154051" h="176058">
                <a:moveTo>
                  <a:pt x="22007" y="11004"/>
                </a:moveTo>
                <a:cubicBezTo>
                  <a:pt x="9869" y="11004"/>
                  <a:pt x="0" y="20872"/>
                  <a:pt x="0" y="33011"/>
                </a:cubicBezTo>
                <a:lnTo>
                  <a:pt x="0" y="55018"/>
                </a:lnTo>
                <a:cubicBezTo>
                  <a:pt x="0" y="67156"/>
                  <a:pt x="9869" y="77025"/>
                  <a:pt x="22007" y="77025"/>
                </a:cubicBezTo>
                <a:lnTo>
                  <a:pt x="132043" y="77025"/>
                </a:lnTo>
                <a:cubicBezTo>
                  <a:pt x="144182" y="77025"/>
                  <a:pt x="154051" y="67156"/>
                  <a:pt x="154051" y="55018"/>
                </a:cubicBezTo>
                <a:lnTo>
                  <a:pt x="154051" y="33011"/>
                </a:lnTo>
                <a:cubicBezTo>
                  <a:pt x="154051" y="20872"/>
                  <a:pt x="144182" y="11004"/>
                  <a:pt x="132043" y="11004"/>
                </a:cubicBezTo>
                <a:lnTo>
                  <a:pt x="22007" y="11004"/>
                </a:lnTo>
                <a:close/>
                <a:moveTo>
                  <a:pt x="96282" y="35762"/>
                </a:moveTo>
                <a:cubicBezTo>
                  <a:pt x="100836" y="35762"/>
                  <a:pt x="104534" y="39460"/>
                  <a:pt x="104534" y="44014"/>
                </a:cubicBezTo>
                <a:cubicBezTo>
                  <a:pt x="104534" y="48569"/>
                  <a:pt x="100836" y="52267"/>
                  <a:pt x="96282" y="52267"/>
                </a:cubicBezTo>
                <a:cubicBezTo>
                  <a:pt x="91727" y="52267"/>
                  <a:pt x="88029" y="48569"/>
                  <a:pt x="88029" y="44014"/>
                </a:cubicBezTo>
                <a:cubicBezTo>
                  <a:pt x="88029" y="39460"/>
                  <a:pt x="91727" y="35762"/>
                  <a:pt x="96282" y="35762"/>
                </a:cubicBezTo>
                <a:close/>
                <a:moveTo>
                  <a:pt x="115538" y="44014"/>
                </a:moveTo>
                <a:cubicBezTo>
                  <a:pt x="115538" y="39460"/>
                  <a:pt x="119236" y="35762"/>
                  <a:pt x="123791" y="35762"/>
                </a:cubicBezTo>
                <a:cubicBezTo>
                  <a:pt x="128345" y="35762"/>
                  <a:pt x="132043" y="39460"/>
                  <a:pt x="132043" y="44014"/>
                </a:cubicBezTo>
                <a:cubicBezTo>
                  <a:pt x="132043" y="48569"/>
                  <a:pt x="128345" y="52267"/>
                  <a:pt x="123791" y="52267"/>
                </a:cubicBezTo>
                <a:cubicBezTo>
                  <a:pt x="119236" y="52267"/>
                  <a:pt x="115538" y="48569"/>
                  <a:pt x="115538" y="44014"/>
                </a:cubicBezTo>
                <a:close/>
                <a:moveTo>
                  <a:pt x="22007" y="99032"/>
                </a:moveTo>
                <a:cubicBezTo>
                  <a:pt x="9869" y="99032"/>
                  <a:pt x="0" y="108901"/>
                  <a:pt x="0" y="121040"/>
                </a:cubicBezTo>
                <a:lnTo>
                  <a:pt x="0" y="143047"/>
                </a:lnTo>
                <a:cubicBezTo>
                  <a:pt x="0" y="155185"/>
                  <a:pt x="9869" y="165054"/>
                  <a:pt x="22007" y="165054"/>
                </a:cubicBezTo>
                <a:lnTo>
                  <a:pt x="132043" y="165054"/>
                </a:lnTo>
                <a:cubicBezTo>
                  <a:pt x="144182" y="165054"/>
                  <a:pt x="154051" y="155185"/>
                  <a:pt x="154051" y="143047"/>
                </a:cubicBezTo>
                <a:lnTo>
                  <a:pt x="154051" y="121040"/>
                </a:lnTo>
                <a:cubicBezTo>
                  <a:pt x="154051" y="108901"/>
                  <a:pt x="144182" y="99032"/>
                  <a:pt x="132043" y="99032"/>
                </a:cubicBezTo>
                <a:lnTo>
                  <a:pt x="22007" y="99032"/>
                </a:lnTo>
                <a:close/>
                <a:moveTo>
                  <a:pt x="96282" y="123791"/>
                </a:moveTo>
                <a:cubicBezTo>
                  <a:pt x="100836" y="123791"/>
                  <a:pt x="104534" y="127489"/>
                  <a:pt x="104534" y="132043"/>
                </a:cubicBezTo>
                <a:cubicBezTo>
                  <a:pt x="104534" y="136598"/>
                  <a:pt x="100836" y="140296"/>
                  <a:pt x="96282" y="140296"/>
                </a:cubicBezTo>
                <a:cubicBezTo>
                  <a:pt x="91727" y="140296"/>
                  <a:pt x="88029" y="136598"/>
                  <a:pt x="88029" y="132043"/>
                </a:cubicBezTo>
                <a:cubicBezTo>
                  <a:pt x="88029" y="127489"/>
                  <a:pt x="91727" y="123791"/>
                  <a:pt x="96282" y="123791"/>
                </a:cubicBezTo>
                <a:close/>
                <a:moveTo>
                  <a:pt x="115538" y="132043"/>
                </a:moveTo>
                <a:cubicBezTo>
                  <a:pt x="115538" y="127489"/>
                  <a:pt x="119236" y="123791"/>
                  <a:pt x="123791" y="123791"/>
                </a:cubicBezTo>
                <a:cubicBezTo>
                  <a:pt x="128345" y="123791"/>
                  <a:pt x="132043" y="127489"/>
                  <a:pt x="132043" y="132043"/>
                </a:cubicBezTo>
                <a:cubicBezTo>
                  <a:pt x="132043" y="136598"/>
                  <a:pt x="128345" y="140296"/>
                  <a:pt x="123791" y="140296"/>
                </a:cubicBezTo>
                <a:cubicBezTo>
                  <a:pt x="119236" y="140296"/>
                  <a:pt x="115538" y="136598"/>
                  <a:pt x="115538" y="132043"/>
                </a:cubicBezTo>
                <a:close/>
              </a:path>
            </a:pathLst>
          </a:custGeom>
          <a:solidFill>
            <a:srgbClr val="FFFFFF"/>
          </a:solidFill>
          <a:ln/>
        </p:spPr>
      </p:sp>
      <p:sp>
        <p:nvSpPr>
          <p:cNvPr id="40" name="Text 38"/>
          <p:cNvSpPr/>
          <p:nvPr/>
        </p:nvSpPr>
        <p:spPr>
          <a:xfrm>
            <a:off x="8815102" y="1869735"/>
            <a:ext cx="915500" cy="246481"/>
          </a:xfrm>
          <a:prstGeom prst="rect">
            <a:avLst/>
          </a:prstGeom>
          <a:noFill/>
          <a:ln/>
        </p:spPr>
        <p:txBody>
          <a:bodyPr wrap="square" lIns="0" tIns="0" rIns="0" bIns="0" rtlCol="0" anchor="ctr"/>
          <a:lstStyle/>
          <a:p>
            <a:pPr>
              <a:lnSpc>
                <a:spcPct val="120000"/>
              </a:lnSpc>
            </a:pPr>
            <a:r>
              <a:rPr lang="en-US" sz="1386" b="1" dirty="0">
                <a:solidFill>
                  <a:srgbClr val="10B981"/>
                </a:solidFill>
                <a:latin typeface="Liter" pitchFamily="34" charset="0"/>
                <a:ea typeface="Liter" pitchFamily="34" charset="-122"/>
                <a:cs typeface="Liter" pitchFamily="34" charset="-120"/>
              </a:rPr>
              <a:t>Mức Vật lý</a:t>
            </a:r>
            <a:endParaRPr lang="en-US" sz="1600" dirty="0"/>
          </a:p>
        </p:txBody>
      </p:sp>
      <p:sp>
        <p:nvSpPr>
          <p:cNvPr id="41" name="Text 39"/>
          <p:cNvSpPr/>
          <p:nvPr/>
        </p:nvSpPr>
        <p:spPr>
          <a:xfrm>
            <a:off x="8286929" y="2345091"/>
            <a:ext cx="3441929" cy="228875"/>
          </a:xfrm>
          <a:prstGeom prst="rect">
            <a:avLst/>
          </a:prstGeom>
          <a:noFill/>
          <a:ln/>
        </p:spPr>
        <p:txBody>
          <a:bodyPr wrap="square" lIns="0" tIns="0" rIns="0" bIns="0" rtlCol="0" anchor="ctr"/>
          <a:lstStyle/>
          <a:p>
            <a:pPr>
              <a:lnSpc>
                <a:spcPct val="140000"/>
              </a:lnSpc>
            </a:pPr>
            <a:r>
              <a:rPr lang="en-US" sz="1109" dirty="0">
                <a:solidFill>
                  <a:srgbClr val="F8FAFC">
                    <a:alpha val="80000"/>
                  </a:srgbClr>
                </a:solidFill>
                <a:latin typeface="MiSans" pitchFamily="34" charset="0"/>
                <a:ea typeface="MiSans" pitchFamily="34" charset="-122"/>
                <a:cs typeface="MiSans" pitchFamily="34" charset="-120"/>
              </a:rPr>
              <a:t>Mô hình </a:t>
            </a:r>
            <a:pPr>
              <a:lnSpc>
                <a:spcPct val="140000"/>
              </a:lnSpc>
            </a:pPr>
            <a:r>
              <a:rPr lang="en-US" sz="1109" b="1" dirty="0">
                <a:solidFill>
                  <a:srgbClr val="10B981"/>
                </a:solidFill>
                <a:highlight>
                  <a:srgbClr val="10B981">
                    <a:alpha val="20000"/>
                  </a:srgbClr>
                </a:highlight>
                <a:latin typeface="MiSans" pitchFamily="34" charset="0"/>
                <a:ea typeface="MiSans" pitchFamily="34" charset="-122"/>
                <a:cs typeface="MiSans" pitchFamily="34" charset="-120"/>
              </a:rPr>
              <a:t>Client-Server </a:t>
            </a:r>
            <a:pPr>
              <a:lnSpc>
                <a:spcPct val="140000"/>
              </a:lnSpc>
            </a:pPr>
            <a:r>
              <a:rPr lang="en-US" sz="1109" dirty="0">
                <a:solidFill>
                  <a:srgbClr val="F8FAFC">
                    <a:alpha val="80000"/>
                  </a:srgbClr>
                </a:solidFill>
                <a:latin typeface="MiSans" pitchFamily="34" charset="0"/>
                <a:ea typeface="MiSans" pitchFamily="34" charset="-122"/>
                <a:cs typeface="MiSans" pitchFamily="34" charset="-120"/>
              </a:rPr>
              <a:t>qua HTTPS:</a:t>
            </a:r>
            <a:endParaRPr lang="en-US" sz="1600" dirty="0"/>
          </a:p>
        </p:txBody>
      </p:sp>
      <p:sp>
        <p:nvSpPr>
          <p:cNvPr id="42" name="Shape 40"/>
          <p:cNvSpPr/>
          <p:nvPr/>
        </p:nvSpPr>
        <p:spPr>
          <a:xfrm>
            <a:off x="8286929" y="2679600"/>
            <a:ext cx="3371506" cy="563385"/>
          </a:xfrm>
          <a:custGeom>
            <a:avLst/>
            <a:gdLst/>
            <a:ahLst/>
            <a:cxnLst/>
            <a:rect l="l" t="t" r="r" b="b"/>
            <a:pathLst>
              <a:path w="3371506" h="563385">
                <a:moveTo>
                  <a:pt x="70423" y="0"/>
                </a:moveTo>
                <a:lnTo>
                  <a:pt x="3301083" y="0"/>
                </a:lnTo>
                <a:cubicBezTo>
                  <a:pt x="3339977" y="0"/>
                  <a:pt x="3371506" y="31529"/>
                  <a:pt x="3371506" y="70423"/>
                </a:cubicBezTo>
                <a:lnTo>
                  <a:pt x="3371506" y="492962"/>
                </a:lnTo>
                <a:cubicBezTo>
                  <a:pt x="3371506" y="531855"/>
                  <a:pt x="3339977" y="563385"/>
                  <a:pt x="3301083" y="563385"/>
                </a:cubicBezTo>
                <a:lnTo>
                  <a:pt x="70423" y="563385"/>
                </a:lnTo>
                <a:cubicBezTo>
                  <a:pt x="31529" y="563385"/>
                  <a:pt x="0" y="531855"/>
                  <a:pt x="0" y="492962"/>
                </a:cubicBezTo>
                <a:lnTo>
                  <a:pt x="0" y="70423"/>
                </a:lnTo>
                <a:cubicBezTo>
                  <a:pt x="0" y="31556"/>
                  <a:pt x="31556" y="0"/>
                  <a:pt x="70423" y="0"/>
                </a:cubicBezTo>
                <a:close/>
              </a:path>
            </a:pathLst>
          </a:custGeom>
          <a:solidFill>
            <a:srgbClr val="0F172A">
              <a:alpha val="50196"/>
            </a:srgbClr>
          </a:solidFill>
          <a:ln/>
        </p:spPr>
      </p:sp>
      <p:sp>
        <p:nvSpPr>
          <p:cNvPr id="43" name="Shape 41"/>
          <p:cNvSpPr/>
          <p:nvPr/>
        </p:nvSpPr>
        <p:spPr>
          <a:xfrm>
            <a:off x="8394764" y="2820447"/>
            <a:ext cx="154051" cy="123240"/>
          </a:xfrm>
          <a:custGeom>
            <a:avLst/>
            <a:gdLst/>
            <a:ahLst/>
            <a:cxnLst/>
            <a:rect l="l" t="t" r="r" b="b"/>
            <a:pathLst>
              <a:path w="154051" h="123240">
                <a:moveTo>
                  <a:pt x="30810" y="7703"/>
                </a:moveTo>
                <a:cubicBezTo>
                  <a:pt x="22313" y="7703"/>
                  <a:pt x="15405" y="14611"/>
                  <a:pt x="15405" y="23108"/>
                </a:cubicBezTo>
                <a:lnTo>
                  <a:pt x="15405" y="80877"/>
                </a:lnTo>
                <a:lnTo>
                  <a:pt x="30810" y="80877"/>
                </a:lnTo>
                <a:lnTo>
                  <a:pt x="30810" y="23108"/>
                </a:lnTo>
                <a:lnTo>
                  <a:pt x="123240" y="23108"/>
                </a:lnTo>
                <a:lnTo>
                  <a:pt x="123240" y="80877"/>
                </a:lnTo>
                <a:lnTo>
                  <a:pt x="138645" y="80877"/>
                </a:lnTo>
                <a:lnTo>
                  <a:pt x="138645" y="23108"/>
                </a:lnTo>
                <a:cubicBezTo>
                  <a:pt x="138645" y="14611"/>
                  <a:pt x="131737" y="7703"/>
                  <a:pt x="123240" y="7703"/>
                </a:cubicBezTo>
                <a:lnTo>
                  <a:pt x="30810" y="7703"/>
                </a:lnTo>
                <a:close/>
                <a:moveTo>
                  <a:pt x="4622" y="92430"/>
                </a:moveTo>
                <a:cubicBezTo>
                  <a:pt x="2070" y="92430"/>
                  <a:pt x="0" y="94500"/>
                  <a:pt x="0" y="97052"/>
                </a:cubicBezTo>
                <a:cubicBezTo>
                  <a:pt x="0" y="107258"/>
                  <a:pt x="8280" y="115538"/>
                  <a:pt x="18486" y="115538"/>
                </a:cubicBezTo>
                <a:lnTo>
                  <a:pt x="135564" y="115538"/>
                </a:lnTo>
                <a:cubicBezTo>
                  <a:pt x="145770" y="115538"/>
                  <a:pt x="154051" y="107258"/>
                  <a:pt x="154051" y="97052"/>
                </a:cubicBezTo>
                <a:cubicBezTo>
                  <a:pt x="154051" y="94500"/>
                  <a:pt x="151980" y="92430"/>
                  <a:pt x="149429" y="92430"/>
                </a:cubicBezTo>
                <a:lnTo>
                  <a:pt x="4622" y="92430"/>
                </a:lnTo>
                <a:close/>
              </a:path>
            </a:pathLst>
          </a:custGeom>
          <a:solidFill>
            <a:srgbClr val="3B82F6"/>
          </a:solidFill>
          <a:ln/>
        </p:spPr>
      </p:sp>
      <p:sp>
        <p:nvSpPr>
          <p:cNvPr id="44" name="Text 42"/>
          <p:cNvSpPr/>
          <p:nvPr/>
        </p:nvSpPr>
        <p:spPr>
          <a:xfrm>
            <a:off x="8599829" y="2785235"/>
            <a:ext cx="3014592" cy="176058"/>
          </a:xfrm>
          <a:prstGeom prst="rect">
            <a:avLst/>
          </a:prstGeom>
          <a:noFill/>
          <a:ln/>
        </p:spPr>
        <p:txBody>
          <a:bodyPr wrap="square" lIns="0" tIns="0" rIns="0" bIns="0" rtlCol="0" anchor="ctr"/>
          <a:lstStyle/>
          <a:p>
            <a:pPr>
              <a:lnSpc>
                <a:spcPct val="120000"/>
              </a:lnSpc>
            </a:pPr>
            <a:r>
              <a:rPr lang="en-US" sz="970" b="1" dirty="0">
                <a:solidFill>
                  <a:srgbClr val="F8FAFC"/>
                </a:solidFill>
                <a:latin typeface="MiSans" pitchFamily="34" charset="0"/>
                <a:ea typeface="MiSans" pitchFamily="34" charset="-122"/>
                <a:cs typeface="MiSans" pitchFamily="34" charset="-120"/>
              </a:rPr>
              <a:t>Client</a:t>
            </a:r>
            <a:endParaRPr lang="en-US" sz="1600" dirty="0"/>
          </a:p>
        </p:txBody>
      </p:sp>
      <p:sp>
        <p:nvSpPr>
          <p:cNvPr id="45" name="Text 43"/>
          <p:cNvSpPr/>
          <p:nvPr/>
        </p:nvSpPr>
        <p:spPr>
          <a:xfrm>
            <a:off x="8392564" y="2996504"/>
            <a:ext cx="3213054" cy="140846"/>
          </a:xfrm>
          <a:prstGeom prst="rect">
            <a:avLst/>
          </a:prstGeom>
          <a:noFill/>
          <a:ln/>
        </p:spPr>
        <p:txBody>
          <a:bodyPr wrap="square" lIns="0" tIns="0" rIns="0" bIns="0" rtlCol="0" anchor="ctr"/>
          <a:lstStyle/>
          <a:p>
            <a:pPr>
              <a:lnSpc>
                <a:spcPct val="110000"/>
              </a:lnSpc>
            </a:pPr>
            <a:r>
              <a:rPr lang="en-US" sz="832" dirty="0">
                <a:solidFill>
                  <a:srgbClr val="F8FAFC">
                    <a:alpha val="60000"/>
                  </a:srgbClr>
                </a:solidFill>
                <a:latin typeface="MiSans" pitchFamily="34" charset="0"/>
                <a:ea typeface="MiSans" pitchFamily="34" charset="-122"/>
                <a:cs typeface="MiSans" pitchFamily="34" charset="-120"/>
              </a:rPr>
              <a:t>Máy tính cá nhân + IDE</a:t>
            </a:r>
            <a:endParaRPr lang="en-US" sz="1600" dirty="0"/>
          </a:p>
        </p:txBody>
      </p:sp>
      <p:sp>
        <p:nvSpPr>
          <p:cNvPr id="46" name="Shape 44"/>
          <p:cNvSpPr/>
          <p:nvPr/>
        </p:nvSpPr>
        <p:spPr>
          <a:xfrm>
            <a:off x="9918545" y="3313297"/>
            <a:ext cx="105635" cy="140846"/>
          </a:xfrm>
          <a:custGeom>
            <a:avLst/>
            <a:gdLst/>
            <a:ahLst/>
            <a:cxnLst/>
            <a:rect l="l" t="t" r="r" b="b"/>
            <a:pathLst>
              <a:path w="105635" h="140846">
                <a:moveTo>
                  <a:pt x="46600" y="138260"/>
                </a:moveTo>
                <a:cubicBezTo>
                  <a:pt x="50039" y="141699"/>
                  <a:pt x="55623" y="141699"/>
                  <a:pt x="59062" y="138260"/>
                </a:cubicBezTo>
                <a:lnTo>
                  <a:pt x="103076" y="94246"/>
                </a:lnTo>
                <a:cubicBezTo>
                  <a:pt x="106515" y="90807"/>
                  <a:pt x="106515" y="85223"/>
                  <a:pt x="103076" y="81784"/>
                </a:cubicBezTo>
                <a:cubicBezTo>
                  <a:pt x="99638" y="78346"/>
                  <a:pt x="94053" y="78346"/>
                  <a:pt x="90615" y="81784"/>
                </a:cubicBezTo>
                <a:lnTo>
                  <a:pt x="61620" y="110779"/>
                </a:lnTo>
                <a:lnTo>
                  <a:pt x="61620" y="8803"/>
                </a:lnTo>
                <a:cubicBezTo>
                  <a:pt x="61620" y="3934"/>
                  <a:pt x="57686" y="0"/>
                  <a:pt x="52817" y="0"/>
                </a:cubicBezTo>
                <a:cubicBezTo>
                  <a:pt x="47948" y="0"/>
                  <a:pt x="44014" y="3934"/>
                  <a:pt x="44014" y="8803"/>
                </a:cubicBezTo>
                <a:lnTo>
                  <a:pt x="44014" y="110779"/>
                </a:lnTo>
                <a:lnTo>
                  <a:pt x="15020" y="81784"/>
                </a:lnTo>
                <a:cubicBezTo>
                  <a:pt x="11581" y="78346"/>
                  <a:pt x="5997" y="78346"/>
                  <a:pt x="2558" y="81784"/>
                </a:cubicBezTo>
                <a:cubicBezTo>
                  <a:pt x="-880" y="85223"/>
                  <a:pt x="-880" y="90807"/>
                  <a:pt x="2558" y="94246"/>
                </a:cubicBezTo>
                <a:lnTo>
                  <a:pt x="46573" y="138260"/>
                </a:lnTo>
                <a:close/>
              </a:path>
            </a:pathLst>
          </a:custGeom>
          <a:solidFill>
            <a:srgbClr val="10B981"/>
          </a:solidFill>
          <a:ln/>
        </p:spPr>
      </p:sp>
      <p:sp>
        <p:nvSpPr>
          <p:cNvPr id="47" name="Shape 45"/>
          <p:cNvSpPr/>
          <p:nvPr/>
        </p:nvSpPr>
        <p:spPr>
          <a:xfrm>
            <a:off x="8286929" y="3524566"/>
            <a:ext cx="3371506" cy="563385"/>
          </a:xfrm>
          <a:custGeom>
            <a:avLst/>
            <a:gdLst/>
            <a:ahLst/>
            <a:cxnLst/>
            <a:rect l="l" t="t" r="r" b="b"/>
            <a:pathLst>
              <a:path w="3371506" h="563385">
                <a:moveTo>
                  <a:pt x="70423" y="0"/>
                </a:moveTo>
                <a:lnTo>
                  <a:pt x="3301083" y="0"/>
                </a:lnTo>
                <a:cubicBezTo>
                  <a:pt x="3339977" y="0"/>
                  <a:pt x="3371506" y="31529"/>
                  <a:pt x="3371506" y="70423"/>
                </a:cubicBezTo>
                <a:lnTo>
                  <a:pt x="3371506" y="492962"/>
                </a:lnTo>
                <a:cubicBezTo>
                  <a:pt x="3371506" y="531855"/>
                  <a:pt x="3339977" y="563385"/>
                  <a:pt x="3301083" y="563385"/>
                </a:cubicBezTo>
                <a:lnTo>
                  <a:pt x="70423" y="563385"/>
                </a:lnTo>
                <a:cubicBezTo>
                  <a:pt x="31529" y="563385"/>
                  <a:pt x="0" y="531855"/>
                  <a:pt x="0" y="492962"/>
                </a:cubicBezTo>
                <a:lnTo>
                  <a:pt x="0" y="70423"/>
                </a:lnTo>
                <a:cubicBezTo>
                  <a:pt x="0" y="31556"/>
                  <a:pt x="31556" y="0"/>
                  <a:pt x="70423" y="0"/>
                </a:cubicBezTo>
                <a:close/>
              </a:path>
            </a:pathLst>
          </a:custGeom>
          <a:solidFill>
            <a:srgbClr val="0F172A">
              <a:alpha val="50196"/>
            </a:srgbClr>
          </a:solidFill>
          <a:ln/>
        </p:spPr>
      </p:sp>
      <p:sp>
        <p:nvSpPr>
          <p:cNvPr id="48" name="Shape 46"/>
          <p:cNvSpPr/>
          <p:nvPr/>
        </p:nvSpPr>
        <p:spPr>
          <a:xfrm>
            <a:off x="8402467" y="3665412"/>
            <a:ext cx="138645" cy="123240"/>
          </a:xfrm>
          <a:custGeom>
            <a:avLst/>
            <a:gdLst/>
            <a:ahLst/>
            <a:cxnLst/>
            <a:rect l="l" t="t" r="r" b="b"/>
            <a:pathLst>
              <a:path w="138645" h="123240">
                <a:moveTo>
                  <a:pt x="0" y="80877"/>
                </a:moveTo>
                <a:cubicBezTo>
                  <a:pt x="0" y="100012"/>
                  <a:pt x="15525" y="115538"/>
                  <a:pt x="34661" y="115538"/>
                </a:cubicBezTo>
                <a:lnTo>
                  <a:pt x="107835" y="115538"/>
                </a:lnTo>
                <a:cubicBezTo>
                  <a:pt x="124853" y="115538"/>
                  <a:pt x="138645" y="101746"/>
                  <a:pt x="138645" y="84728"/>
                </a:cubicBezTo>
                <a:cubicBezTo>
                  <a:pt x="138645" y="72307"/>
                  <a:pt x="131304" y="61596"/>
                  <a:pt x="120713" y="56734"/>
                </a:cubicBezTo>
                <a:cubicBezTo>
                  <a:pt x="122326" y="53581"/>
                  <a:pt x="123240" y="49994"/>
                  <a:pt x="123240" y="46215"/>
                </a:cubicBezTo>
                <a:cubicBezTo>
                  <a:pt x="123240" y="33458"/>
                  <a:pt x="112890" y="23108"/>
                  <a:pt x="100133" y="23108"/>
                </a:cubicBezTo>
                <a:cubicBezTo>
                  <a:pt x="95872" y="23108"/>
                  <a:pt x="91901" y="24263"/>
                  <a:pt x="88483" y="26261"/>
                </a:cubicBezTo>
                <a:cubicBezTo>
                  <a:pt x="82682" y="15237"/>
                  <a:pt x="71104" y="7703"/>
                  <a:pt x="57769" y="7703"/>
                </a:cubicBezTo>
                <a:cubicBezTo>
                  <a:pt x="38633" y="7703"/>
                  <a:pt x="23108" y="23228"/>
                  <a:pt x="23108" y="42364"/>
                </a:cubicBezTo>
                <a:cubicBezTo>
                  <a:pt x="23108" y="44290"/>
                  <a:pt x="23276" y="46191"/>
                  <a:pt x="23565" y="48020"/>
                </a:cubicBezTo>
                <a:cubicBezTo>
                  <a:pt x="9869" y="52642"/>
                  <a:pt x="0" y="65616"/>
                  <a:pt x="0" y="80877"/>
                </a:cubicBezTo>
                <a:close/>
              </a:path>
            </a:pathLst>
          </a:custGeom>
          <a:solidFill>
            <a:srgbClr val="8B5CF6"/>
          </a:solidFill>
          <a:ln/>
        </p:spPr>
      </p:sp>
      <p:sp>
        <p:nvSpPr>
          <p:cNvPr id="49" name="Text 47"/>
          <p:cNvSpPr/>
          <p:nvPr/>
        </p:nvSpPr>
        <p:spPr>
          <a:xfrm>
            <a:off x="8599829" y="3630201"/>
            <a:ext cx="3014592" cy="176058"/>
          </a:xfrm>
          <a:prstGeom prst="rect">
            <a:avLst/>
          </a:prstGeom>
          <a:noFill/>
          <a:ln/>
        </p:spPr>
        <p:txBody>
          <a:bodyPr wrap="square" lIns="0" tIns="0" rIns="0" bIns="0" rtlCol="0" anchor="ctr"/>
          <a:lstStyle/>
          <a:p>
            <a:pPr>
              <a:lnSpc>
                <a:spcPct val="120000"/>
              </a:lnSpc>
            </a:pPr>
            <a:r>
              <a:rPr lang="en-US" sz="970" b="1" dirty="0">
                <a:solidFill>
                  <a:srgbClr val="F8FAFC"/>
                </a:solidFill>
                <a:latin typeface="MiSans" pitchFamily="34" charset="0"/>
                <a:ea typeface="MiSans" pitchFamily="34" charset="-122"/>
                <a:cs typeface="MiSans" pitchFamily="34" charset="-120"/>
              </a:rPr>
              <a:t>GitHub Copilot Server</a:t>
            </a:r>
            <a:endParaRPr lang="en-US" sz="1600" dirty="0"/>
          </a:p>
        </p:txBody>
      </p:sp>
      <p:sp>
        <p:nvSpPr>
          <p:cNvPr id="50" name="Text 48"/>
          <p:cNvSpPr/>
          <p:nvPr/>
        </p:nvSpPr>
        <p:spPr>
          <a:xfrm>
            <a:off x="8392564" y="3841470"/>
            <a:ext cx="3213054" cy="140846"/>
          </a:xfrm>
          <a:prstGeom prst="rect">
            <a:avLst/>
          </a:prstGeom>
          <a:noFill/>
          <a:ln/>
        </p:spPr>
        <p:txBody>
          <a:bodyPr wrap="square" lIns="0" tIns="0" rIns="0" bIns="0" rtlCol="0" anchor="ctr"/>
          <a:lstStyle/>
          <a:p>
            <a:pPr>
              <a:lnSpc>
                <a:spcPct val="110000"/>
              </a:lnSpc>
            </a:pPr>
            <a:r>
              <a:rPr lang="en-US" sz="832" dirty="0">
                <a:solidFill>
                  <a:srgbClr val="F8FAFC">
                    <a:alpha val="60000"/>
                  </a:srgbClr>
                </a:solidFill>
                <a:latin typeface="MiSans" pitchFamily="34" charset="0"/>
                <a:ea typeface="MiSans" pitchFamily="34" charset="-122"/>
                <a:cs typeface="MiSans" pitchFamily="34" charset="-120"/>
              </a:rPr>
              <a:t>Mã hóa &amp; định tuyến</a:t>
            </a:r>
            <a:endParaRPr lang="en-US" sz="1600" dirty="0"/>
          </a:p>
        </p:txBody>
      </p:sp>
      <p:sp>
        <p:nvSpPr>
          <p:cNvPr id="51" name="Shape 49"/>
          <p:cNvSpPr/>
          <p:nvPr/>
        </p:nvSpPr>
        <p:spPr>
          <a:xfrm>
            <a:off x="9918545" y="4158264"/>
            <a:ext cx="105635" cy="140846"/>
          </a:xfrm>
          <a:custGeom>
            <a:avLst/>
            <a:gdLst/>
            <a:ahLst/>
            <a:cxnLst/>
            <a:rect l="l" t="t" r="r" b="b"/>
            <a:pathLst>
              <a:path w="105635" h="140846">
                <a:moveTo>
                  <a:pt x="46600" y="138260"/>
                </a:moveTo>
                <a:cubicBezTo>
                  <a:pt x="50039" y="141699"/>
                  <a:pt x="55623" y="141699"/>
                  <a:pt x="59062" y="138260"/>
                </a:cubicBezTo>
                <a:lnTo>
                  <a:pt x="103076" y="94246"/>
                </a:lnTo>
                <a:cubicBezTo>
                  <a:pt x="106515" y="90807"/>
                  <a:pt x="106515" y="85223"/>
                  <a:pt x="103076" y="81784"/>
                </a:cubicBezTo>
                <a:cubicBezTo>
                  <a:pt x="99638" y="78346"/>
                  <a:pt x="94053" y="78346"/>
                  <a:pt x="90615" y="81784"/>
                </a:cubicBezTo>
                <a:lnTo>
                  <a:pt x="61620" y="110779"/>
                </a:lnTo>
                <a:lnTo>
                  <a:pt x="61620" y="8803"/>
                </a:lnTo>
                <a:cubicBezTo>
                  <a:pt x="61620" y="3934"/>
                  <a:pt x="57686" y="0"/>
                  <a:pt x="52817" y="0"/>
                </a:cubicBezTo>
                <a:cubicBezTo>
                  <a:pt x="47948" y="0"/>
                  <a:pt x="44014" y="3934"/>
                  <a:pt x="44014" y="8803"/>
                </a:cubicBezTo>
                <a:lnTo>
                  <a:pt x="44014" y="110779"/>
                </a:lnTo>
                <a:lnTo>
                  <a:pt x="15020" y="81784"/>
                </a:lnTo>
                <a:cubicBezTo>
                  <a:pt x="11581" y="78346"/>
                  <a:pt x="5997" y="78346"/>
                  <a:pt x="2558" y="81784"/>
                </a:cubicBezTo>
                <a:cubicBezTo>
                  <a:pt x="-880" y="85223"/>
                  <a:pt x="-880" y="90807"/>
                  <a:pt x="2558" y="94246"/>
                </a:cubicBezTo>
                <a:lnTo>
                  <a:pt x="46573" y="138260"/>
                </a:lnTo>
                <a:close/>
              </a:path>
            </a:pathLst>
          </a:custGeom>
          <a:solidFill>
            <a:srgbClr val="10B981"/>
          </a:solidFill>
          <a:ln/>
        </p:spPr>
      </p:sp>
      <p:sp>
        <p:nvSpPr>
          <p:cNvPr id="52" name="Shape 50"/>
          <p:cNvSpPr/>
          <p:nvPr/>
        </p:nvSpPr>
        <p:spPr>
          <a:xfrm>
            <a:off x="8286929" y="4369534"/>
            <a:ext cx="3371506" cy="563385"/>
          </a:xfrm>
          <a:custGeom>
            <a:avLst/>
            <a:gdLst/>
            <a:ahLst/>
            <a:cxnLst/>
            <a:rect l="l" t="t" r="r" b="b"/>
            <a:pathLst>
              <a:path w="3371506" h="563385">
                <a:moveTo>
                  <a:pt x="70423" y="0"/>
                </a:moveTo>
                <a:lnTo>
                  <a:pt x="3301083" y="0"/>
                </a:lnTo>
                <a:cubicBezTo>
                  <a:pt x="3339977" y="0"/>
                  <a:pt x="3371506" y="31529"/>
                  <a:pt x="3371506" y="70423"/>
                </a:cubicBezTo>
                <a:lnTo>
                  <a:pt x="3371506" y="492962"/>
                </a:lnTo>
                <a:cubicBezTo>
                  <a:pt x="3371506" y="531855"/>
                  <a:pt x="3339977" y="563385"/>
                  <a:pt x="3301083" y="563385"/>
                </a:cubicBezTo>
                <a:lnTo>
                  <a:pt x="70423" y="563385"/>
                </a:lnTo>
                <a:cubicBezTo>
                  <a:pt x="31529" y="563385"/>
                  <a:pt x="0" y="531855"/>
                  <a:pt x="0" y="492962"/>
                </a:cubicBezTo>
                <a:lnTo>
                  <a:pt x="0" y="70423"/>
                </a:lnTo>
                <a:cubicBezTo>
                  <a:pt x="0" y="31556"/>
                  <a:pt x="31556" y="0"/>
                  <a:pt x="70423" y="0"/>
                </a:cubicBezTo>
                <a:close/>
              </a:path>
            </a:pathLst>
          </a:custGeom>
          <a:solidFill>
            <a:srgbClr val="0F172A">
              <a:alpha val="50196"/>
            </a:srgbClr>
          </a:solidFill>
          <a:ln/>
        </p:spPr>
      </p:sp>
      <p:sp>
        <p:nvSpPr>
          <p:cNvPr id="53" name="Shape 51"/>
          <p:cNvSpPr/>
          <p:nvPr/>
        </p:nvSpPr>
        <p:spPr>
          <a:xfrm>
            <a:off x="8410169" y="4510380"/>
            <a:ext cx="123240" cy="123240"/>
          </a:xfrm>
          <a:custGeom>
            <a:avLst/>
            <a:gdLst/>
            <a:ahLst/>
            <a:cxnLst/>
            <a:rect l="l" t="t" r="r" b="b"/>
            <a:pathLst>
              <a:path w="123240" h="123240">
                <a:moveTo>
                  <a:pt x="28884" y="13479"/>
                </a:moveTo>
                <a:cubicBezTo>
                  <a:pt x="28884" y="6042"/>
                  <a:pt x="34926" y="0"/>
                  <a:pt x="42364" y="0"/>
                </a:cubicBezTo>
                <a:lnTo>
                  <a:pt x="48141" y="0"/>
                </a:lnTo>
                <a:cubicBezTo>
                  <a:pt x="52401" y="0"/>
                  <a:pt x="55843" y="3442"/>
                  <a:pt x="55843" y="7703"/>
                </a:cubicBezTo>
                <a:lnTo>
                  <a:pt x="55843" y="115538"/>
                </a:lnTo>
                <a:cubicBezTo>
                  <a:pt x="55843" y="119798"/>
                  <a:pt x="52401" y="123240"/>
                  <a:pt x="48141" y="123240"/>
                </a:cubicBezTo>
                <a:lnTo>
                  <a:pt x="40438" y="123240"/>
                </a:lnTo>
                <a:cubicBezTo>
                  <a:pt x="33265" y="123240"/>
                  <a:pt x="27224" y="118330"/>
                  <a:pt x="25515" y="111687"/>
                </a:cubicBezTo>
                <a:cubicBezTo>
                  <a:pt x="25346" y="111687"/>
                  <a:pt x="25202" y="111687"/>
                  <a:pt x="25033" y="111687"/>
                </a:cubicBezTo>
                <a:cubicBezTo>
                  <a:pt x="14394" y="111687"/>
                  <a:pt x="5777" y="103069"/>
                  <a:pt x="5777" y="92430"/>
                </a:cubicBezTo>
                <a:cubicBezTo>
                  <a:pt x="5777" y="88098"/>
                  <a:pt x="7221" y="84102"/>
                  <a:pt x="9628" y="80877"/>
                </a:cubicBezTo>
                <a:cubicBezTo>
                  <a:pt x="4959" y="77362"/>
                  <a:pt x="1926" y="71778"/>
                  <a:pt x="1926" y="65471"/>
                </a:cubicBezTo>
                <a:cubicBezTo>
                  <a:pt x="1926" y="58034"/>
                  <a:pt x="6162" y="51559"/>
                  <a:pt x="12324" y="48357"/>
                </a:cubicBezTo>
                <a:cubicBezTo>
                  <a:pt x="10615" y="45469"/>
                  <a:pt x="9628" y="42099"/>
                  <a:pt x="9628" y="38513"/>
                </a:cubicBezTo>
                <a:cubicBezTo>
                  <a:pt x="9628" y="27874"/>
                  <a:pt x="18245" y="19256"/>
                  <a:pt x="28884" y="19256"/>
                </a:cubicBezTo>
                <a:lnTo>
                  <a:pt x="28884" y="13479"/>
                </a:lnTo>
                <a:close/>
                <a:moveTo>
                  <a:pt x="94356" y="13479"/>
                </a:moveTo>
                <a:lnTo>
                  <a:pt x="94356" y="19256"/>
                </a:lnTo>
                <a:cubicBezTo>
                  <a:pt x="104995" y="19256"/>
                  <a:pt x="113612" y="27874"/>
                  <a:pt x="113612" y="38513"/>
                </a:cubicBezTo>
                <a:cubicBezTo>
                  <a:pt x="113612" y="42123"/>
                  <a:pt x="112625" y="45493"/>
                  <a:pt x="110916" y="48357"/>
                </a:cubicBezTo>
                <a:cubicBezTo>
                  <a:pt x="117102" y="51559"/>
                  <a:pt x="121315" y="58010"/>
                  <a:pt x="121315" y="65471"/>
                </a:cubicBezTo>
                <a:cubicBezTo>
                  <a:pt x="121315" y="71778"/>
                  <a:pt x="118282" y="77362"/>
                  <a:pt x="113612" y="80877"/>
                </a:cubicBezTo>
                <a:cubicBezTo>
                  <a:pt x="116019" y="84102"/>
                  <a:pt x="117464" y="88098"/>
                  <a:pt x="117464" y="92430"/>
                </a:cubicBezTo>
                <a:cubicBezTo>
                  <a:pt x="117464" y="103069"/>
                  <a:pt x="108846" y="111687"/>
                  <a:pt x="98207" y="111687"/>
                </a:cubicBezTo>
                <a:cubicBezTo>
                  <a:pt x="98039" y="111687"/>
                  <a:pt x="97894" y="111687"/>
                  <a:pt x="97726" y="111687"/>
                </a:cubicBezTo>
                <a:cubicBezTo>
                  <a:pt x="96017" y="118330"/>
                  <a:pt x="89975" y="123240"/>
                  <a:pt x="82802" y="123240"/>
                </a:cubicBezTo>
                <a:lnTo>
                  <a:pt x="75100" y="123240"/>
                </a:lnTo>
                <a:cubicBezTo>
                  <a:pt x="70839" y="123240"/>
                  <a:pt x="67397" y="119798"/>
                  <a:pt x="67397" y="115538"/>
                </a:cubicBezTo>
                <a:lnTo>
                  <a:pt x="67397" y="7703"/>
                </a:lnTo>
                <a:cubicBezTo>
                  <a:pt x="67397" y="3442"/>
                  <a:pt x="70839" y="0"/>
                  <a:pt x="75100" y="0"/>
                </a:cubicBezTo>
                <a:lnTo>
                  <a:pt x="80877" y="0"/>
                </a:lnTo>
                <a:cubicBezTo>
                  <a:pt x="88314" y="0"/>
                  <a:pt x="94356" y="6042"/>
                  <a:pt x="94356" y="13479"/>
                </a:cubicBezTo>
                <a:close/>
              </a:path>
            </a:pathLst>
          </a:custGeom>
          <a:solidFill>
            <a:srgbClr val="10B981"/>
          </a:solidFill>
          <a:ln/>
        </p:spPr>
      </p:sp>
      <p:sp>
        <p:nvSpPr>
          <p:cNvPr id="54" name="Text 52"/>
          <p:cNvSpPr/>
          <p:nvPr/>
        </p:nvSpPr>
        <p:spPr>
          <a:xfrm>
            <a:off x="8599829" y="4475168"/>
            <a:ext cx="3014592" cy="176058"/>
          </a:xfrm>
          <a:prstGeom prst="rect">
            <a:avLst/>
          </a:prstGeom>
          <a:noFill/>
          <a:ln/>
        </p:spPr>
        <p:txBody>
          <a:bodyPr wrap="square" lIns="0" tIns="0" rIns="0" bIns="0" rtlCol="0" anchor="ctr"/>
          <a:lstStyle/>
          <a:p>
            <a:pPr>
              <a:lnSpc>
                <a:spcPct val="120000"/>
              </a:lnSpc>
            </a:pPr>
            <a:r>
              <a:rPr lang="en-US" sz="970" b="1" dirty="0">
                <a:solidFill>
                  <a:srgbClr val="F8FAFC"/>
                </a:solidFill>
                <a:latin typeface="MiSans" pitchFamily="34" charset="0"/>
                <a:ea typeface="MiSans" pitchFamily="34" charset="-122"/>
                <a:cs typeface="MiSans" pitchFamily="34" charset="-120"/>
              </a:rPr>
              <a:t>OpenAI Cloud</a:t>
            </a:r>
            <a:endParaRPr lang="en-US" sz="1600" dirty="0"/>
          </a:p>
        </p:txBody>
      </p:sp>
      <p:sp>
        <p:nvSpPr>
          <p:cNvPr id="55" name="Text 53"/>
          <p:cNvSpPr/>
          <p:nvPr/>
        </p:nvSpPr>
        <p:spPr>
          <a:xfrm>
            <a:off x="8392564" y="4686438"/>
            <a:ext cx="3213054" cy="140846"/>
          </a:xfrm>
          <a:prstGeom prst="rect">
            <a:avLst/>
          </a:prstGeom>
          <a:noFill/>
          <a:ln/>
        </p:spPr>
        <p:txBody>
          <a:bodyPr wrap="square" lIns="0" tIns="0" rIns="0" bIns="0" rtlCol="0" anchor="ctr"/>
          <a:lstStyle/>
          <a:p>
            <a:pPr>
              <a:lnSpc>
                <a:spcPct val="110000"/>
              </a:lnSpc>
            </a:pPr>
            <a:r>
              <a:rPr lang="en-US" sz="832" dirty="0">
                <a:solidFill>
                  <a:srgbClr val="F8FAFC">
                    <a:alpha val="60000"/>
                  </a:srgbClr>
                </a:solidFill>
                <a:latin typeface="MiSans" pitchFamily="34" charset="0"/>
                <a:ea typeface="MiSans" pitchFamily="34" charset="-122"/>
                <a:cs typeface="MiSans" pitchFamily="34" charset="-120"/>
              </a:rPr>
              <a:t>Codex/GPT models</a:t>
            </a:r>
            <a:endParaRPr lang="en-US" sz="1600" dirty="0"/>
          </a:p>
        </p:txBody>
      </p:sp>
      <p:sp>
        <p:nvSpPr>
          <p:cNvPr id="56" name="Shape 54"/>
          <p:cNvSpPr/>
          <p:nvPr/>
        </p:nvSpPr>
        <p:spPr>
          <a:xfrm>
            <a:off x="355637" y="5260277"/>
            <a:ext cx="11477205" cy="1591562"/>
          </a:xfrm>
          <a:custGeom>
            <a:avLst/>
            <a:gdLst/>
            <a:ahLst/>
            <a:cxnLst/>
            <a:rect l="l" t="t" r="r" b="b"/>
            <a:pathLst>
              <a:path w="11477205" h="1591562">
                <a:moveTo>
                  <a:pt x="140853" y="0"/>
                </a:moveTo>
                <a:lnTo>
                  <a:pt x="11336352" y="0"/>
                </a:lnTo>
                <a:cubicBezTo>
                  <a:pt x="11414143" y="0"/>
                  <a:pt x="11477205" y="63062"/>
                  <a:pt x="11477205" y="140853"/>
                </a:cubicBezTo>
                <a:lnTo>
                  <a:pt x="11477205" y="1450709"/>
                </a:lnTo>
                <a:cubicBezTo>
                  <a:pt x="11477205" y="1528500"/>
                  <a:pt x="11414143" y="1591562"/>
                  <a:pt x="11336352" y="1591562"/>
                </a:cubicBezTo>
                <a:lnTo>
                  <a:pt x="140853" y="1591562"/>
                </a:lnTo>
                <a:cubicBezTo>
                  <a:pt x="63114" y="1591562"/>
                  <a:pt x="0" y="1528448"/>
                  <a:pt x="0" y="1450709"/>
                </a:cubicBezTo>
                <a:lnTo>
                  <a:pt x="0" y="140853"/>
                </a:lnTo>
                <a:cubicBezTo>
                  <a:pt x="0" y="63114"/>
                  <a:pt x="63114" y="0"/>
                  <a:pt x="140853" y="0"/>
                </a:cubicBezTo>
                <a:close/>
              </a:path>
            </a:pathLst>
          </a:custGeom>
          <a:gradFill rotWithShape="1" flip="none">
            <a:gsLst>
              <a:gs pos="0">
                <a:srgbClr val="1E293B"/>
              </a:gs>
              <a:gs pos="100000">
                <a:srgbClr val="1E293B">
                  <a:alpha val="50000"/>
                </a:srgbClr>
              </a:gs>
            </a:gsLst>
            <a:lin ang="0" scaled="1"/>
          </a:gradFill>
          <a:ln w="10160">
            <a:solidFill>
              <a:srgbClr val="3B82F6">
                <a:alpha val="30196"/>
              </a:srgbClr>
            </a:solidFill>
            <a:prstDash val="solid"/>
          </a:ln>
        </p:spPr>
      </p:sp>
      <p:sp>
        <p:nvSpPr>
          <p:cNvPr id="57" name="Shape 55"/>
          <p:cNvSpPr/>
          <p:nvPr/>
        </p:nvSpPr>
        <p:spPr>
          <a:xfrm>
            <a:off x="502205" y="5448659"/>
            <a:ext cx="198065" cy="158452"/>
          </a:xfrm>
          <a:custGeom>
            <a:avLst/>
            <a:gdLst/>
            <a:ahLst/>
            <a:cxnLst/>
            <a:rect l="l" t="t" r="r" b="b"/>
            <a:pathLst>
              <a:path w="198065" h="158452">
                <a:moveTo>
                  <a:pt x="19806" y="29710"/>
                </a:moveTo>
                <a:cubicBezTo>
                  <a:pt x="19806" y="18785"/>
                  <a:pt x="28688" y="9903"/>
                  <a:pt x="39613" y="9903"/>
                </a:cubicBezTo>
                <a:lnTo>
                  <a:pt x="158452" y="9903"/>
                </a:lnTo>
                <a:cubicBezTo>
                  <a:pt x="169377" y="9903"/>
                  <a:pt x="178258" y="18785"/>
                  <a:pt x="178258" y="29710"/>
                </a:cubicBezTo>
                <a:lnTo>
                  <a:pt x="178258" y="103984"/>
                </a:lnTo>
                <a:lnTo>
                  <a:pt x="158452" y="103984"/>
                </a:lnTo>
                <a:lnTo>
                  <a:pt x="158452" y="29710"/>
                </a:lnTo>
                <a:lnTo>
                  <a:pt x="39613" y="29710"/>
                </a:lnTo>
                <a:lnTo>
                  <a:pt x="39613" y="103984"/>
                </a:lnTo>
                <a:lnTo>
                  <a:pt x="19806" y="103984"/>
                </a:lnTo>
                <a:lnTo>
                  <a:pt x="19806" y="29710"/>
                </a:lnTo>
                <a:close/>
                <a:moveTo>
                  <a:pt x="0" y="124781"/>
                </a:moveTo>
                <a:cubicBezTo>
                  <a:pt x="0" y="121500"/>
                  <a:pt x="2661" y="118839"/>
                  <a:pt x="5942" y="118839"/>
                </a:cubicBezTo>
                <a:lnTo>
                  <a:pt x="192123" y="118839"/>
                </a:lnTo>
                <a:cubicBezTo>
                  <a:pt x="195403" y="118839"/>
                  <a:pt x="198065" y="121500"/>
                  <a:pt x="198065" y="124781"/>
                </a:cubicBezTo>
                <a:cubicBezTo>
                  <a:pt x="198065" y="137903"/>
                  <a:pt x="187419" y="148549"/>
                  <a:pt x="174297" y="148549"/>
                </a:cubicBezTo>
                <a:lnTo>
                  <a:pt x="23768" y="148549"/>
                </a:lnTo>
                <a:cubicBezTo>
                  <a:pt x="10646" y="148549"/>
                  <a:pt x="0" y="137903"/>
                  <a:pt x="0" y="124781"/>
                </a:cubicBezTo>
                <a:close/>
                <a:moveTo>
                  <a:pt x="86963" y="64681"/>
                </a:moveTo>
                <a:lnTo>
                  <a:pt x="77369" y="74274"/>
                </a:lnTo>
                <a:lnTo>
                  <a:pt x="86963" y="83868"/>
                </a:lnTo>
                <a:cubicBezTo>
                  <a:pt x="89872" y="86777"/>
                  <a:pt x="89872" y="91481"/>
                  <a:pt x="86963" y="94359"/>
                </a:cubicBezTo>
                <a:cubicBezTo>
                  <a:pt x="84054" y="97238"/>
                  <a:pt x="79350" y="97268"/>
                  <a:pt x="76472" y="94359"/>
                </a:cubicBezTo>
                <a:lnTo>
                  <a:pt x="61617" y="79505"/>
                </a:lnTo>
                <a:cubicBezTo>
                  <a:pt x="58708" y="76595"/>
                  <a:pt x="58708" y="71891"/>
                  <a:pt x="61617" y="69013"/>
                </a:cubicBezTo>
                <a:lnTo>
                  <a:pt x="76472" y="54158"/>
                </a:lnTo>
                <a:cubicBezTo>
                  <a:pt x="79381" y="51249"/>
                  <a:pt x="84085" y="51249"/>
                  <a:pt x="86963" y="54158"/>
                </a:cubicBezTo>
                <a:cubicBezTo>
                  <a:pt x="89841" y="57067"/>
                  <a:pt x="89872" y="61772"/>
                  <a:pt x="86963" y="64650"/>
                </a:cubicBezTo>
                <a:close/>
                <a:moveTo>
                  <a:pt x="121624" y="54158"/>
                </a:moveTo>
                <a:lnTo>
                  <a:pt x="136479" y="69013"/>
                </a:lnTo>
                <a:cubicBezTo>
                  <a:pt x="139388" y="71922"/>
                  <a:pt x="139388" y="76626"/>
                  <a:pt x="136479" y="79505"/>
                </a:cubicBezTo>
                <a:lnTo>
                  <a:pt x="121624" y="94359"/>
                </a:lnTo>
                <a:cubicBezTo>
                  <a:pt x="118715" y="97268"/>
                  <a:pt x="114011" y="97268"/>
                  <a:pt x="111133" y="94359"/>
                </a:cubicBezTo>
                <a:cubicBezTo>
                  <a:pt x="108255" y="91450"/>
                  <a:pt x="108224" y="86746"/>
                  <a:pt x="111133" y="83868"/>
                </a:cubicBezTo>
                <a:lnTo>
                  <a:pt x="120727" y="74274"/>
                </a:lnTo>
                <a:lnTo>
                  <a:pt x="111133" y="64681"/>
                </a:lnTo>
                <a:cubicBezTo>
                  <a:pt x="108224" y="61772"/>
                  <a:pt x="108224" y="57067"/>
                  <a:pt x="111133" y="54189"/>
                </a:cubicBezTo>
                <a:cubicBezTo>
                  <a:pt x="114042" y="51311"/>
                  <a:pt x="118746" y="51280"/>
                  <a:pt x="121624" y="54189"/>
                </a:cubicBezTo>
                <a:close/>
              </a:path>
            </a:pathLst>
          </a:custGeom>
          <a:solidFill>
            <a:srgbClr val="3B82F6"/>
          </a:solidFill>
          <a:ln/>
        </p:spPr>
      </p:sp>
      <p:sp>
        <p:nvSpPr>
          <p:cNvPr id="58" name="Text 56"/>
          <p:cNvSpPr/>
          <p:nvPr/>
        </p:nvSpPr>
        <p:spPr>
          <a:xfrm>
            <a:off x="702470" y="5404644"/>
            <a:ext cx="11065230" cy="246481"/>
          </a:xfrm>
          <a:prstGeom prst="rect">
            <a:avLst/>
          </a:prstGeom>
          <a:noFill/>
          <a:ln/>
        </p:spPr>
        <p:txBody>
          <a:bodyPr wrap="square" lIns="0" tIns="0" rIns="0" bIns="0" rtlCol="0" anchor="ctr"/>
          <a:lstStyle/>
          <a:p>
            <a:pPr>
              <a:lnSpc>
                <a:spcPct val="130000"/>
              </a:lnSpc>
            </a:pPr>
            <a:r>
              <a:rPr lang="en-US" sz="1248" b="1" dirty="0">
                <a:solidFill>
                  <a:srgbClr val="F8FAFC"/>
                </a:solidFill>
                <a:latin typeface="Liter" pitchFamily="34" charset="0"/>
                <a:ea typeface="Liter" pitchFamily="34" charset="-122"/>
                <a:cs typeface="Liter" pitchFamily="34" charset="-120"/>
              </a:rPr>
              <a:t>So sánh môi trường IDE</a:t>
            </a:r>
            <a:endParaRPr lang="en-US" sz="1600" dirty="0"/>
          </a:p>
        </p:txBody>
      </p:sp>
      <p:sp>
        <p:nvSpPr>
          <p:cNvPr id="59" name="Shape 57"/>
          <p:cNvSpPr/>
          <p:nvPr/>
        </p:nvSpPr>
        <p:spPr>
          <a:xfrm>
            <a:off x="500004" y="5756760"/>
            <a:ext cx="3635593" cy="950712"/>
          </a:xfrm>
          <a:custGeom>
            <a:avLst/>
            <a:gdLst/>
            <a:ahLst/>
            <a:cxnLst/>
            <a:rect l="l" t="t" r="r" b="b"/>
            <a:pathLst>
              <a:path w="3635593" h="950712">
                <a:moveTo>
                  <a:pt x="105634" y="0"/>
                </a:moveTo>
                <a:lnTo>
                  <a:pt x="3529959" y="0"/>
                </a:lnTo>
                <a:cubicBezTo>
                  <a:pt x="3588299" y="0"/>
                  <a:pt x="3635593" y="47294"/>
                  <a:pt x="3635593" y="105634"/>
                </a:cubicBezTo>
                <a:lnTo>
                  <a:pt x="3635593" y="845078"/>
                </a:lnTo>
                <a:cubicBezTo>
                  <a:pt x="3635593" y="903418"/>
                  <a:pt x="3588299" y="950712"/>
                  <a:pt x="3529959" y="950712"/>
                </a:cubicBezTo>
                <a:lnTo>
                  <a:pt x="105634" y="950712"/>
                </a:lnTo>
                <a:cubicBezTo>
                  <a:pt x="47294" y="950712"/>
                  <a:pt x="0" y="903418"/>
                  <a:pt x="0" y="845078"/>
                </a:cubicBezTo>
                <a:lnTo>
                  <a:pt x="0" y="105634"/>
                </a:lnTo>
                <a:cubicBezTo>
                  <a:pt x="0" y="47333"/>
                  <a:pt x="47333" y="0"/>
                  <a:pt x="105634" y="0"/>
                </a:cubicBezTo>
                <a:close/>
              </a:path>
            </a:pathLst>
          </a:custGeom>
          <a:solidFill>
            <a:srgbClr val="0F172A">
              <a:alpha val="50196"/>
            </a:srgbClr>
          </a:solidFill>
          <a:ln/>
        </p:spPr>
      </p:sp>
      <p:sp>
        <p:nvSpPr>
          <p:cNvPr id="60" name="Shape 58"/>
          <p:cNvSpPr/>
          <p:nvPr/>
        </p:nvSpPr>
        <p:spPr>
          <a:xfrm>
            <a:off x="651854" y="5915212"/>
            <a:ext cx="198065" cy="176058"/>
          </a:xfrm>
          <a:custGeom>
            <a:avLst/>
            <a:gdLst/>
            <a:ahLst/>
            <a:cxnLst/>
            <a:rect l="l" t="t" r="r" b="b"/>
            <a:pathLst>
              <a:path w="198065" h="176058">
                <a:moveTo>
                  <a:pt x="124066" y="413"/>
                </a:moveTo>
                <a:cubicBezTo>
                  <a:pt x="118220" y="-1272"/>
                  <a:pt x="112134" y="2132"/>
                  <a:pt x="110449" y="7978"/>
                </a:cubicBezTo>
                <a:lnTo>
                  <a:pt x="66434" y="162028"/>
                </a:lnTo>
                <a:cubicBezTo>
                  <a:pt x="64749" y="167874"/>
                  <a:pt x="68154" y="173960"/>
                  <a:pt x="73999" y="175645"/>
                </a:cubicBezTo>
                <a:cubicBezTo>
                  <a:pt x="79845" y="177330"/>
                  <a:pt x="85931" y="173926"/>
                  <a:pt x="87616" y="168080"/>
                </a:cubicBezTo>
                <a:lnTo>
                  <a:pt x="131631" y="14030"/>
                </a:lnTo>
                <a:cubicBezTo>
                  <a:pt x="133316" y="8184"/>
                  <a:pt x="129911" y="2098"/>
                  <a:pt x="124066" y="413"/>
                </a:cubicBezTo>
                <a:close/>
                <a:moveTo>
                  <a:pt x="146279" y="47212"/>
                </a:moveTo>
                <a:cubicBezTo>
                  <a:pt x="141981" y="51511"/>
                  <a:pt x="141981" y="58491"/>
                  <a:pt x="146279" y="62789"/>
                </a:cubicBezTo>
                <a:lnTo>
                  <a:pt x="171519" y="88029"/>
                </a:lnTo>
                <a:lnTo>
                  <a:pt x="146279" y="113268"/>
                </a:lnTo>
                <a:cubicBezTo>
                  <a:pt x="141981" y="117567"/>
                  <a:pt x="141981" y="124547"/>
                  <a:pt x="146279" y="128845"/>
                </a:cubicBezTo>
                <a:cubicBezTo>
                  <a:pt x="150578" y="133144"/>
                  <a:pt x="157558" y="133144"/>
                  <a:pt x="161856" y="128845"/>
                </a:cubicBezTo>
                <a:lnTo>
                  <a:pt x="194867" y="95835"/>
                </a:lnTo>
                <a:cubicBezTo>
                  <a:pt x="199165" y="91536"/>
                  <a:pt x="199165" y="84556"/>
                  <a:pt x="194867" y="80258"/>
                </a:cubicBezTo>
                <a:lnTo>
                  <a:pt x="161856" y="47247"/>
                </a:lnTo>
                <a:cubicBezTo>
                  <a:pt x="157558" y="42948"/>
                  <a:pt x="150578" y="42948"/>
                  <a:pt x="146279" y="47247"/>
                </a:cubicBezTo>
                <a:close/>
                <a:moveTo>
                  <a:pt x="51820" y="47212"/>
                </a:moveTo>
                <a:cubicBezTo>
                  <a:pt x="47522" y="42914"/>
                  <a:pt x="40541" y="42914"/>
                  <a:pt x="36243" y="47212"/>
                </a:cubicBezTo>
                <a:lnTo>
                  <a:pt x="3232" y="80223"/>
                </a:lnTo>
                <a:cubicBezTo>
                  <a:pt x="-1066" y="84521"/>
                  <a:pt x="-1066" y="91502"/>
                  <a:pt x="3232" y="95800"/>
                </a:cubicBezTo>
                <a:lnTo>
                  <a:pt x="36243" y="128811"/>
                </a:lnTo>
                <a:cubicBezTo>
                  <a:pt x="40541" y="133109"/>
                  <a:pt x="47522" y="133109"/>
                  <a:pt x="51820" y="128811"/>
                </a:cubicBezTo>
                <a:cubicBezTo>
                  <a:pt x="56118" y="124513"/>
                  <a:pt x="56118" y="117532"/>
                  <a:pt x="51820" y="113234"/>
                </a:cubicBezTo>
                <a:lnTo>
                  <a:pt x="26581" y="88029"/>
                </a:lnTo>
                <a:lnTo>
                  <a:pt x="51786" y="62789"/>
                </a:lnTo>
                <a:cubicBezTo>
                  <a:pt x="56084" y="58491"/>
                  <a:pt x="56084" y="51511"/>
                  <a:pt x="51786" y="47212"/>
                </a:cubicBezTo>
                <a:close/>
              </a:path>
            </a:pathLst>
          </a:custGeom>
          <a:solidFill>
            <a:srgbClr val="3B82F6"/>
          </a:solidFill>
          <a:ln/>
        </p:spPr>
      </p:sp>
      <p:sp>
        <p:nvSpPr>
          <p:cNvPr id="61" name="Text 59"/>
          <p:cNvSpPr/>
          <p:nvPr/>
        </p:nvSpPr>
        <p:spPr>
          <a:xfrm>
            <a:off x="931346" y="5897606"/>
            <a:ext cx="633808" cy="211269"/>
          </a:xfrm>
          <a:prstGeom prst="rect">
            <a:avLst/>
          </a:prstGeom>
          <a:noFill/>
          <a:ln/>
        </p:spPr>
        <p:txBody>
          <a:bodyPr wrap="square" lIns="0" tIns="0" rIns="0" bIns="0" rtlCol="0" anchor="ctr"/>
          <a:lstStyle/>
          <a:p>
            <a:pPr>
              <a:lnSpc>
                <a:spcPct val="130000"/>
              </a:lnSpc>
            </a:pPr>
            <a:r>
              <a:rPr lang="en-US" sz="1109" b="1" dirty="0">
                <a:solidFill>
                  <a:srgbClr val="F8FAFC"/>
                </a:solidFill>
                <a:latin typeface="MiSans" pitchFamily="34" charset="0"/>
                <a:ea typeface="MiSans" pitchFamily="34" charset="-122"/>
                <a:cs typeface="MiSans" pitchFamily="34" charset="-120"/>
              </a:rPr>
              <a:t>VS Code</a:t>
            </a:r>
            <a:endParaRPr lang="en-US" sz="1600" dirty="0"/>
          </a:p>
        </p:txBody>
      </p:sp>
      <p:sp>
        <p:nvSpPr>
          <p:cNvPr id="62" name="Text 60"/>
          <p:cNvSpPr/>
          <p:nvPr/>
        </p:nvSpPr>
        <p:spPr>
          <a:xfrm>
            <a:off x="640850" y="6179299"/>
            <a:ext cx="3415521" cy="176058"/>
          </a:xfrm>
          <a:prstGeom prst="rect">
            <a:avLst/>
          </a:prstGeom>
          <a:noFill/>
          <a:ln/>
        </p:spPr>
        <p:txBody>
          <a:bodyPr wrap="square" lIns="0" tIns="0" rIns="0" bIns="0" rtlCol="0" anchor="ctr"/>
          <a:lstStyle/>
          <a:p>
            <a:pPr>
              <a:lnSpc>
                <a:spcPct val="120000"/>
              </a:lnSpc>
            </a:pPr>
            <a:r>
              <a:rPr lang="en-US" sz="970" b="1" dirty="0">
                <a:solidFill>
                  <a:srgbClr val="3B82F6"/>
                </a:solidFill>
                <a:latin typeface="MiSans" pitchFamily="34" charset="0"/>
                <a:ea typeface="MiSans" pitchFamily="34" charset="-122"/>
                <a:cs typeface="MiSans" pitchFamily="34" charset="-120"/>
              </a:rPr>
              <a:t>Điểm mạnh:</a:t>
            </a:r>
            <a:pPr>
              <a:lnSpc>
                <a:spcPct val="120000"/>
              </a:lnSpc>
            </a:pPr>
            <a:r>
              <a:rPr lang="en-US" sz="970" dirty="0">
                <a:solidFill>
                  <a:srgbClr val="F8FAFC">
                    <a:alpha val="70000"/>
                  </a:srgbClr>
                </a:solidFill>
                <a:latin typeface="MiSans" pitchFamily="34" charset="0"/>
                <a:ea typeface="MiSans" pitchFamily="34" charset="-122"/>
                <a:cs typeface="MiSans" pitchFamily="34" charset="-120"/>
              </a:rPr>
              <a:t> Nhanh, dễ thử nghiệm, tích hợp chat tốt</a:t>
            </a:r>
            <a:endParaRPr lang="en-US" sz="1600" dirty="0"/>
          </a:p>
        </p:txBody>
      </p:sp>
      <p:sp>
        <p:nvSpPr>
          <p:cNvPr id="63" name="Text 61"/>
          <p:cNvSpPr/>
          <p:nvPr/>
        </p:nvSpPr>
        <p:spPr>
          <a:xfrm>
            <a:off x="640850" y="6425779"/>
            <a:ext cx="3406718" cy="140846"/>
          </a:xfrm>
          <a:prstGeom prst="rect">
            <a:avLst/>
          </a:prstGeom>
          <a:noFill/>
          <a:ln/>
        </p:spPr>
        <p:txBody>
          <a:bodyPr wrap="square" lIns="0" tIns="0" rIns="0" bIns="0" rtlCol="0" anchor="ctr"/>
          <a:lstStyle/>
          <a:p>
            <a:pPr>
              <a:lnSpc>
                <a:spcPct val="110000"/>
              </a:lnSpc>
            </a:pPr>
            <a:r>
              <a:rPr lang="en-US" sz="832" b="1" dirty="0">
                <a:solidFill>
                  <a:srgbClr val="F8FAFC">
                    <a:alpha val="60000"/>
                  </a:srgbClr>
                </a:solidFill>
                <a:latin typeface="MiSans" pitchFamily="34" charset="0"/>
                <a:ea typeface="MiSans" pitchFamily="34" charset="-122"/>
                <a:cs typeface="MiSans" pitchFamily="34" charset="-120"/>
              </a:rPr>
              <a:t>Phù hợp:</a:t>
            </a:r>
            <a:pPr>
              <a:lnSpc>
                <a:spcPct val="110000"/>
              </a:lnSpc>
            </a:pPr>
            <a:r>
              <a:rPr lang="en-US" sz="832" dirty="0">
                <a:solidFill>
                  <a:srgbClr val="F8FAFC">
                    <a:alpha val="60000"/>
                  </a:srgbClr>
                </a:solidFill>
                <a:latin typeface="MiSans" pitchFamily="34" charset="0"/>
                <a:ea typeface="MiSans" pitchFamily="34" charset="-122"/>
                <a:cs typeface="MiSans" pitchFamily="34" charset="-120"/>
              </a:rPr>
              <a:t> Lab, script, bài tập ngắn</a:t>
            </a:r>
            <a:endParaRPr lang="en-US" sz="1600" dirty="0"/>
          </a:p>
        </p:txBody>
      </p:sp>
      <p:sp>
        <p:nvSpPr>
          <p:cNvPr id="64" name="Shape 62"/>
          <p:cNvSpPr/>
          <p:nvPr/>
        </p:nvSpPr>
        <p:spPr>
          <a:xfrm>
            <a:off x="4277213" y="5756760"/>
            <a:ext cx="3635593" cy="950712"/>
          </a:xfrm>
          <a:custGeom>
            <a:avLst/>
            <a:gdLst/>
            <a:ahLst/>
            <a:cxnLst/>
            <a:rect l="l" t="t" r="r" b="b"/>
            <a:pathLst>
              <a:path w="3635593" h="950712">
                <a:moveTo>
                  <a:pt x="105634" y="0"/>
                </a:moveTo>
                <a:lnTo>
                  <a:pt x="3529959" y="0"/>
                </a:lnTo>
                <a:cubicBezTo>
                  <a:pt x="3588299" y="0"/>
                  <a:pt x="3635593" y="47294"/>
                  <a:pt x="3635593" y="105634"/>
                </a:cubicBezTo>
                <a:lnTo>
                  <a:pt x="3635593" y="845078"/>
                </a:lnTo>
                <a:cubicBezTo>
                  <a:pt x="3635593" y="903418"/>
                  <a:pt x="3588299" y="950712"/>
                  <a:pt x="3529959" y="950712"/>
                </a:cubicBezTo>
                <a:lnTo>
                  <a:pt x="105634" y="950712"/>
                </a:lnTo>
                <a:cubicBezTo>
                  <a:pt x="47294" y="950712"/>
                  <a:pt x="0" y="903418"/>
                  <a:pt x="0" y="845078"/>
                </a:cubicBezTo>
                <a:lnTo>
                  <a:pt x="0" y="105634"/>
                </a:lnTo>
                <a:cubicBezTo>
                  <a:pt x="0" y="47333"/>
                  <a:pt x="47333" y="0"/>
                  <a:pt x="105634" y="0"/>
                </a:cubicBezTo>
                <a:close/>
              </a:path>
            </a:pathLst>
          </a:custGeom>
          <a:solidFill>
            <a:srgbClr val="0F172A">
              <a:alpha val="50196"/>
            </a:srgbClr>
          </a:solidFill>
          <a:ln/>
        </p:spPr>
      </p:sp>
      <p:sp>
        <p:nvSpPr>
          <p:cNvPr id="65" name="Shape 63"/>
          <p:cNvSpPr/>
          <p:nvPr/>
        </p:nvSpPr>
        <p:spPr>
          <a:xfrm>
            <a:off x="4451070" y="5915212"/>
            <a:ext cx="154051" cy="176058"/>
          </a:xfrm>
          <a:custGeom>
            <a:avLst/>
            <a:gdLst/>
            <a:ahLst/>
            <a:cxnLst/>
            <a:rect l="l" t="t" r="r" b="b"/>
            <a:pathLst>
              <a:path w="154051" h="176058">
                <a:moveTo>
                  <a:pt x="151231" y="68944"/>
                </a:moveTo>
                <a:cubicBezTo>
                  <a:pt x="148583" y="58319"/>
                  <a:pt x="143563" y="50307"/>
                  <a:pt x="132869" y="50307"/>
                </a:cubicBezTo>
                <a:lnTo>
                  <a:pt x="119080" y="50307"/>
                </a:lnTo>
                <a:lnTo>
                  <a:pt x="119080" y="66606"/>
                </a:lnTo>
                <a:cubicBezTo>
                  <a:pt x="119080" y="79260"/>
                  <a:pt x="108351" y="89920"/>
                  <a:pt x="96110" y="89920"/>
                </a:cubicBezTo>
                <a:lnTo>
                  <a:pt x="59385" y="89920"/>
                </a:lnTo>
                <a:cubicBezTo>
                  <a:pt x="49344" y="89920"/>
                  <a:pt x="41023" y="98517"/>
                  <a:pt x="41023" y="108592"/>
                </a:cubicBezTo>
                <a:lnTo>
                  <a:pt x="41023" y="143597"/>
                </a:lnTo>
                <a:cubicBezTo>
                  <a:pt x="41023" y="153569"/>
                  <a:pt x="49688" y="159415"/>
                  <a:pt x="59385" y="162269"/>
                </a:cubicBezTo>
                <a:cubicBezTo>
                  <a:pt x="71008" y="165673"/>
                  <a:pt x="82183" y="166292"/>
                  <a:pt x="96110" y="162269"/>
                </a:cubicBezTo>
                <a:cubicBezTo>
                  <a:pt x="105360" y="159587"/>
                  <a:pt x="114472" y="154188"/>
                  <a:pt x="114472" y="143597"/>
                </a:cubicBezTo>
                <a:lnTo>
                  <a:pt x="114472" y="129602"/>
                </a:lnTo>
                <a:lnTo>
                  <a:pt x="77782" y="129602"/>
                </a:lnTo>
                <a:lnTo>
                  <a:pt x="77782" y="124925"/>
                </a:lnTo>
                <a:lnTo>
                  <a:pt x="132869" y="124925"/>
                </a:lnTo>
                <a:cubicBezTo>
                  <a:pt x="143563" y="124925"/>
                  <a:pt x="147517" y="117464"/>
                  <a:pt x="151231" y="106288"/>
                </a:cubicBezTo>
                <a:cubicBezTo>
                  <a:pt x="155082" y="94769"/>
                  <a:pt x="154910" y="83696"/>
                  <a:pt x="151231" y="68944"/>
                </a:cubicBezTo>
                <a:close/>
                <a:moveTo>
                  <a:pt x="98414" y="152916"/>
                </a:moveTo>
                <a:cubicBezTo>
                  <a:pt x="95796" y="153099"/>
                  <a:pt x="93296" y="151807"/>
                  <a:pt x="91931" y="149566"/>
                </a:cubicBezTo>
                <a:cubicBezTo>
                  <a:pt x="90567" y="147326"/>
                  <a:pt x="90567" y="144511"/>
                  <a:pt x="91931" y="142270"/>
                </a:cubicBezTo>
                <a:cubicBezTo>
                  <a:pt x="93296" y="140029"/>
                  <a:pt x="95796" y="138737"/>
                  <a:pt x="98414" y="138921"/>
                </a:cubicBezTo>
                <a:cubicBezTo>
                  <a:pt x="101031" y="138737"/>
                  <a:pt x="103531" y="140029"/>
                  <a:pt x="104896" y="142270"/>
                </a:cubicBezTo>
                <a:cubicBezTo>
                  <a:pt x="106260" y="144511"/>
                  <a:pt x="106260" y="147326"/>
                  <a:pt x="104896" y="149566"/>
                </a:cubicBezTo>
                <a:cubicBezTo>
                  <a:pt x="103531" y="151807"/>
                  <a:pt x="101031" y="153099"/>
                  <a:pt x="98414" y="152916"/>
                </a:cubicBezTo>
                <a:close/>
                <a:moveTo>
                  <a:pt x="57700" y="85312"/>
                </a:moveTo>
                <a:lnTo>
                  <a:pt x="94425" y="85312"/>
                </a:lnTo>
                <a:cubicBezTo>
                  <a:pt x="104637" y="85312"/>
                  <a:pt x="112787" y="76888"/>
                  <a:pt x="112787" y="66641"/>
                </a:cubicBezTo>
                <a:lnTo>
                  <a:pt x="112787" y="31601"/>
                </a:lnTo>
                <a:cubicBezTo>
                  <a:pt x="112787" y="21629"/>
                  <a:pt x="104397" y="14167"/>
                  <a:pt x="94425" y="12482"/>
                </a:cubicBezTo>
                <a:cubicBezTo>
                  <a:pt x="82114" y="10453"/>
                  <a:pt x="68738" y="10557"/>
                  <a:pt x="57700" y="12517"/>
                </a:cubicBezTo>
                <a:cubicBezTo>
                  <a:pt x="42158" y="15268"/>
                  <a:pt x="39338" y="21010"/>
                  <a:pt x="39338" y="31635"/>
                </a:cubicBezTo>
                <a:lnTo>
                  <a:pt x="39338" y="45631"/>
                </a:lnTo>
                <a:lnTo>
                  <a:pt x="76097" y="45631"/>
                </a:lnTo>
                <a:lnTo>
                  <a:pt x="76097" y="50307"/>
                </a:lnTo>
                <a:lnTo>
                  <a:pt x="25549" y="50307"/>
                </a:lnTo>
                <a:cubicBezTo>
                  <a:pt x="14855" y="50307"/>
                  <a:pt x="5502" y="56737"/>
                  <a:pt x="2579" y="68944"/>
                </a:cubicBezTo>
                <a:cubicBezTo>
                  <a:pt x="-791" y="82940"/>
                  <a:pt x="-928" y="91674"/>
                  <a:pt x="2579" y="106288"/>
                </a:cubicBezTo>
                <a:cubicBezTo>
                  <a:pt x="5192" y="117154"/>
                  <a:pt x="11416" y="124925"/>
                  <a:pt x="22110" y="124925"/>
                </a:cubicBezTo>
                <a:lnTo>
                  <a:pt x="34730" y="124925"/>
                </a:lnTo>
                <a:lnTo>
                  <a:pt x="34730" y="108145"/>
                </a:lnTo>
                <a:cubicBezTo>
                  <a:pt x="34730" y="96006"/>
                  <a:pt x="45218" y="85312"/>
                  <a:pt x="57700" y="85312"/>
                </a:cubicBezTo>
                <a:close/>
                <a:moveTo>
                  <a:pt x="55431" y="22248"/>
                </a:moveTo>
                <a:cubicBezTo>
                  <a:pt x="59302" y="22248"/>
                  <a:pt x="62445" y="25391"/>
                  <a:pt x="62445" y="29263"/>
                </a:cubicBezTo>
                <a:cubicBezTo>
                  <a:pt x="62445" y="33134"/>
                  <a:pt x="59302" y="36278"/>
                  <a:pt x="55431" y="36278"/>
                </a:cubicBezTo>
                <a:cubicBezTo>
                  <a:pt x="51559" y="36278"/>
                  <a:pt x="48416" y="33134"/>
                  <a:pt x="48416" y="29263"/>
                </a:cubicBezTo>
                <a:cubicBezTo>
                  <a:pt x="48416" y="25391"/>
                  <a:pt x="51559" y="22248"/>
                  <a:pt x="55431" y="22248"/>
                </a:cubicBezTo>
                <a:close/>
              </a:path>
            </a:pathLst>
          </a:custGeom>
          <a:solidFill>
            <a:srgbClr val="8B5CF6"/>
          </a:solidFill>
          <a:ln/>
        </p:spPr>
      </p:sp>
      <p:sp>
        <p:nvSpPr>
          <p:cNvPr id="66" name="Text 64"/>
          <p:cNvSpPr/>
          <p:nvPr/>
        </p:nvSpPr>
        <p:spPr>
          <a:xfrm>
            <a:off x="4708555" y="5897606"/>
            <a:ext cx="660217" cy="211269"/>
          </a:xfrm>
          <a:prstGeom prst="rect">
            <a:avLst/>
          </a:prstGeom>
          <a:noFill/>
          <a:ln/>
        </p:spPr>
        <p:txBody>
          <a:bodyPr wrap="square" lIns="0" tIns="0" rIns="0" bIns="0" rtlCol="0" anchor="ctr"/>
          <a:lstStyle/>
          <a:p>
            <a:pPr>
              <a:lnSpc>
                <a:spcPct val="130000"/>
              </a:lnSpc>
            </a:pPr>
            <a:r>
              <a:rPr lang="en-US" sz="1109" b="1" dirty="0">
                <a:solidFill>
                  <a:srgbClr val="F8FAFC"/>
                </a:solidFill>
                <a:latin typeface="MiSans" pitchFamily="34" charset="0"/>
                <a:ea typeface="MiSans" pitchFamily="34" charset="-122"/>
                <a:cs typeface="MiSans" pitchFamily="34" charset="-120"/>
              </a:rPr>
              <a:t>PyCharm</a:t>
            </a:r>
            <a:endParaRPr lang="en-US" sz="1600" dirty="0"/>
          </a:p>
        </p:txBody>
      </p:sp>
      <p:sp>
        <p:nvSpPr>
          <p:cNvPr id="67" name="Text 65"/>
          <p:cNvSpPr/>
          <p:nvPr/>
        </p:nvSpPr>
        <p:spPr>
          <a:xfrm>
            <a:off x="4418060" y="6179299"/>
            <a:ext cx="3415521" cy="176058"/>
          </a:xfrm>
          <a:prstGeom prst="rect">
            <a:avLst/>
          </a:prstGeom>
          <a:noFill/>
          <a:ln/>
        </p:spPr>
        <p:txBody>
          <a:bodyPr wrap="square" lIns="0" tIns="0" rIns="0" bIns="0" rtlCol="0" anchor="ctr"/>
          <a:lstStyle/>
          <a:p>
            <a:pPr>
              <a:lnSpc>
                <a:spcPct val="120000"/>
              </a:lnSpc>
            </a:pPr>
            <a:r>
              <a:rPr lang="en-US" sz="970" b="1" dirty="0">
                <a:solidFill>
                  <a:srgbClr val="8B5CF6"/>
                </a:solidFill>
                <a:latin typeface="MiSans" pitchFamily="34" charset="0"/>
                <a:ea typeface="MiSans" pitchFamily="34" charset="-122"/>
                <a:cs typeface="MiSans" pitchFamily="34" charset="-120"/>
              </a:rPr>
              <a:t>Điểm mạnh:</a:t>
            </a:r>
            <a:pPr>
              <a:lnSpc>
                <a:spcPct val="120000"/>
              </a:lnSpc>
            </a:pPr>
            <a:r>
              <a:rPr lang="en-US" sz="970" dirty="0">
                <a:solidFill>
                  <a:srgbClr val="F8FAFC">
                    <a:alpha val="70000"/>
                  </a:srgbClr>
                </a:solidFill>
                <a:latin typeface="MiSans" pitchFamily="34" charset="0"/>
                <a:ea typeface="MiSans" pitchFamily="34" charset="-122"/>
                <a:cs typeface="MiSans" pitchFamily="34" charset="-120"/>
              </a:rPr>
              <a:t> Phân tích code, refactor mạnh</a:t>
            </a:r>
            <a:endParaRPr lang="en-US" sz="1600" dirty="0"/>
          </a:p>
        </p:txBody>
      </p:sp>
      <p:sp>
        <p:nvSpPr>
          <p:cNvPr id="68" name="Text 66"/>
          <p:cNvSpPr/>
          <p:nvPr/>
        </p:nvSpPr>
        <p:spPr>
          <a:xfrm>
            <a:off x="4418060" y="6425779"/>
            <a:ext cx="3406718" cy="140846"/>
          </a:xfrm>
          <a:prstGeom prst="rect">
            <a:avLst/>
          </a:prstGeom>
          <a:noFill/>
          <a:ln/>
        </p:spPr>
        <p:txBody>
          <a:bodyPr wrap="square" lIns="0" tIns="0" rIns="0" bIns="0" rtlCol="0" anchor="ctr"/>
          <a:lstStyle/>
          <a:p>
            <a:pPr>
              <a:lnSpc>
                <a:spcPct val="110000"/>
              </a:lnSpc>
            </a:pPr>
            <a:r>
              <a:rPr lang="en-US" sz="832" b="1" dirty="0">
                <a:solidFill>
                  <a:srgbClr val="F8FAFC">
                    <a:alpha val="60000"/>
                  </a:srgbClr>
                </a:solidFill>
                <a:latin typeface="MiSans" pitchFamily="34" charset="0"/>
                <a:ea typeface="MiSans" pitchFamily="34" charset="-122"/>
                <a:cs typeface="MiSans" pitchFamily="34" charset="-120"/>
              </a:rPr>
              <a:t>Phù hợp:</a:t>
            </a:r>
            <a:pPr>
              <a:lnSpc>
                <a:spcPct val="110000"/>
              </a:lnSpc>
            </a:pPr>
            <a:r>
              <a:rPr lang="en-US" sz="832" dirty="0">
                <a:solidFill>
                  <a:srgbClr val="F8FAFC">
                    <a:alpha val="60000"/>
                  </a:srgbClr>
                </a:solidFill>
                <a:latin typeface="MiSans" pitchFamily="34" charset="0"/>
                <a:ea typeface="MiSans" pitchFamily="34" charset="-122"/>
                <a:cs typeface="MiSans" pitchFamily="34" charset="-120"/>
              </a:rPr>
              <a:t> Dự án Python có cấu trúc rõ ràng</a:t>
            </a:r>
            <a:endParaRPr lang="en-US" sz="1600" dirty="0"/>
          </a:p>
        </p:txBody>
      </p:sp>
      <p:sp>
        <p:nvSpPr>
          <p:cNvPr id="69" name="Shape 67"/>
          <p:cNvSpPr/>
          <p:nvPr/>
        </p:nvSpPr>
        <p:spPr>
          <a:xfrm>
            <a:off x="8054532" y="5756760"/>
            <a:ext cx="3635593" cy="950712"/>
          </a:xfrm>
          <a:custGeom>
            <a:avLst/>
            <a:gdLst/>
            <a:ahLst/>
            <a:cxnLst/>
            <a:rect l="l" t="t" r="r" b="b"/>
            <a:pathLst>
              <a:path w="3635593" h="950712">
                <a:moveTo>
                  <a:pt x="105634" y="0"/>
                </a:moveTo>
                <a:lnTo>
                  <a:pt x="3529959" y="0"/>
                </a:lnTo>
                <a:cubicBezTo>
                  <a:pt x="3588299" y="0"/>
                  <a:pt x="3635593" y="47294"/>
                  <a:pt x="3635593" y="105634"/>
                </a:cubicBezTo>
                <a:lnTo>
                  <a:pt x="3635593" y="845078"/>
                </a:lnTo>
                <a:cubicBezTo>
                  <a:pt x="3635593" y="903418"/>
                  <a:pt x="3588299" y="950712"/>
                  <a:pt x="3529959" y="950712"/>
                </a:cubicBezTo>
                <a:lnTo>
                  <a:pt x="105634" y="950712"/>
                </a:lnTo>
                <a:cubicBezTo>
                  <a:pt x="47294" y="950712"/>
                  <a:pt x="0" y="903418"/>
                  <a:pt x="0" y="845078"/>
                </a:cubicBezTo>
                <a:lnTo>
                  <a:pt x="0" y="105634"/>
                </a:lnTo>
                <a:cubicBezTo>
                  <a:pt x="0" y="47333"/>
                  <a:pt x="47333" y="0"/>
                  <a:pt x="105634" y="0"/>
                </a:cubicBezTo>
                <a:close/>
              </a:path>
            </a:pathLst>
          </a:custGeom>
          <a:solidFill>
            <a:srgbClr val="0F172A">
              <a:alpha val="50196"/>
            </a:srgbClr>
          </a:solidFill>
          <a:ln/>
        </p:spPr>
      </p:sp>
      <p:sp>
        <p:nvSpPr>
          <p:cNvPr id="70" name="Shape 68"/>
          <p:cNvSpPr/>
          <p:nvPr/>
        </p:nvSpPr>
        <p:spPr>
          <a:xfrm>
            <a:off x="8217386" y="5915212"/>
            <a:ext cx="176058" cy="176058"/>
          </a:xfrm>
          <a:custGeom>
            <a:avLst/>
            <a:gdLst/>
            <a:ahLst/>
            <a:cxnLst/>
            <a:rect l="l" t="t" r="r" b="b"/>
            <a:pathLst>
              <a:path w="176058" h="176058">
                <a:moveTo>
                  <a:pt x="88029" y="48588"/>
                </a:moveTo>
                <a:lnTo>
                  <a:pt x="88029" y="154945"/>
                </a:lnTo>
                <a:lnTo>
                  <a:pt x="88201" y="154876"/>
                </a:lnTo>
                <a:cubicBezTo>
                  <a:pt x="106976" y="147070"/>
                  <a:pt x="127126" y="143047"/>
                  <a:pt x="147448" y="143047"/>
                </a:cubicBezTo>
                <a:lnTo>
                  <a:pt x="154051" y="143047"/>
                </a:lnTo>
                <a:lnTo>
                  <a:pt x="154051" y="33011"/>
                </a:lnTo>
                <a:lnTo>
                  <a:pt x="147448" y="33011"/>
                </a:lnTo>
                <a:cubicBezTo>
                  <a:pt x="132937" y="33011"/>
                  <a:pt x="118530" y="35899"/>
                  <a:pt x="105119" y="41470"/>
                </a:cubicBezTo>
                <a:cubicBezTo>
                  <a:pt x="99342" y="43877"/>
                  <a:pt x="93634" y="46250"/>
                  <a:pt x="88029" y="48588"/>
                </a:cubicBezTo>
                <a:close/>
                <a:moveTo>
                  <a:pt x="79398" y="21148"/>
                </a:moveTo>
                <a:lnTo>
                  <a:pt x="88029" y="24758"/>
                </a:lnTo>
                <a:lnTo>
                  <a:pt x="96660" y="21148"/>
                </a:lnTo>
                <a:cubicBezTo>
                  <a:pt x="112753" y="14442"/>
                  <a:pt x="130015" y="11004"/>
                  <a:pt x="147448" y="11004"/>
                </a:cubicBezTo>
                <a:lnTo>
                  <a:pt x="159552" y="11004"/>
                </a:lnTo>
                <a:cubicBezTo>
                  <a:pt x="168665" y="11004"/>
                  <a:pt x="176058" y="18397"/>
                  <a:pt x="176058" y="27509"/>
                </a:cubicBezTo>
                <a:lnTo>
                  <a:pt x="176058" y="148549"/>
                </a:lnTo>
                <a:cubicBezTo>
                  <a:pt x="176058" y="157661"/>
                  <a:pt x="168665" y="165054"/>
                  <a:pt x="159552" y="165054"/>
                </a:cubicBezTo>
                <a:lnTo>
                  <a:pt x="147448" y="165054"/>
                </a:lnTo>
                <a:cubicBezTo>
                  <a:pt x="130015" y="165054"/>
                  <a:pt x="112753" y="168493"/>
                  <a:pt x="96660" y="175198"/>
                </a:cubicBezTo>
                <a:lnTo>
                  <a:pt x="92258" y="177021"/>
                </a:lnTo>
                <a:cubicBezTo>
                  <a:pt x="89542" y="178155"/>
                  <a:pt x="86516" y="178155"/>
                  <a:pt x="83799" y="177021"/>
                </a:cubicBezTo>
                <a:lnTo>
                  <a:pt x="79398" y="175198"/>
                </a:lnTo>
                <a:cubicBezTo>
                  <a:pt x="63305" y="168493"/>
                  <a:pt x="46043" y="165054"/>
                  <a:pt x="28609" y="165054"/>
                </a:cubicBezTo>
                <a:lnTo>
                  <a:pt x="16505" y="165054"/>
                </a:lnTo>
                <a:cubicBezTo>
                  <a:pt x="7393" y="165054"/>
                  <a:pt x="0" y="157661"/>
                  <a:pt x="0" y="148549"/>
                </a:cubicBezTo>
                <a:lnTo>
                  <a:pt x="0" y="27509"/>
                </a:lnTo>
                <a:cubicBezTo>
                  <a:pt x="0" y="18397"/>
                  <a:pt x="7393" y="11004"/>
                  <a:pt x="16505" y="11004"/>
                </a:cubicBezTo>
                <a:lnTo>
                  <a:pt x="28609" y="11004"/>
                </a:lnTo>
                <a:cubicBezTo>
                  <a:pt x="46043" y="11004"/>
                  <a:pt x="63305" y="14442"/>
                  <a:pt x="79398" y="21148"/>
                </a:cubicBezTo>
                <a:close/>
              </a:path>
            </a:pathLst>
          </a:custGeom>
          <a:solidFill>
            <a:srgbClr val="10B981"/>
          </a:solidFill>
          <a:ln/>
        </p:spPr>
      </p:sp>
      <p:sp>
        <p:nvSpPr>
          <p:cNvPr id="71" name="Text 69"/>
          <p:cNvSpPr/>
          <p:nvPr/>
        </p:nvSpPr>
        <p:spPr>
          <a:xfrm>
            <a:off x="8485874" y="5897606"/>
            <a:ext cx="1223601" cy="211269"/>
          </a:xfrm>
          <a:prstGeom prst="rect">
            <a:avLst/>
          </a:prstGeom>
          <a:noFill/>
          <a:ln/>
        </p:spPr>
        <p:txBody>
          <a:bodyPr wrap="square" lIns="0" tIns="0" rIns="0" bIns="0" rtlCol="0" anchor="ctr"/>
          <a:lstStyle/>
          <a:p>
            <a:pPr>
              <a:lnSpc>
                <a:spcPct val="130000"/>
              </a:lnSpc>
            </a:pPr>
            <a:r>
              <a:rPr lang="en-US" sz="1109" b="1" dirty="0">
                <a:solidFill>
                  <a:srgbClr val="F8FAFC"/>
                </a:solidFill>
                <a:latin typeface="MiSans" pitchFamily="34" charset="0"/>
                <a:ea typeface="MiSans" pitchFamily="34" charset="-122"/>
                <a:cs typeface="MiSans" pitchFamily="34" charset="-120"/>
              </a:rPr>
              <a:t>Jupyter Notebook</a:t>
            </a:r>
            <a:endParaRPr lang="en-US" sz="1600" dirty="0"/>
          </a:p>
        </p:txBody>
      </p:sp>
      <p:sp>
        <p:nvSpPr>
          <p:cNvPr id="72" name="Text 70"/>
          <p:cNvSpPr/>
          <p:nvPr/>
        </p:nvSpPr>
        <p:spPr>
          <a:xfrm>
            <a:off x="8195379" y="6179299"/>
            <a:ext cx="3415521" cy="176058"/>
          </a:xfrm>
          <a:prstGeom prst="rect">
            <a:avLst/>
          </a:prstGeom>
          <a:noFill/>
          <a:ln/>
        </p:spPr>
        <p:txBody>
          <a:bodyPr wrap="square" lIns="0" tIns="0" rIns="0" bIns="0" rtlCol="0" anchor="ctr"/>
          <a:lstStyle/>
          <a:p>
            <a:pPr>
              <a:lnSpc>
                <a:spcPct val="120000"/>
              </a:lnSpc>
            </a:pPr>
            <a:r>
              <a:rPr lang="en-US" sz="970" b="1" dirty="0">
                <a:solidFill>
                  <a:srgbClr val="10B981"/>
                </a:solidFill>
                <a:latin typeface="MiSans" pitchFamily="34" charset="0"/>
                <a:ea typeface="MiSans" pitchFamily="34" charset="-122"/>
                <a:cs typeface="MiSans" pitchFamily="34" charset="-120"/>
              </a:rPr>
              <a:t>Điểm mạnh:</a:t>
            </a:r>
            <a:pPr>
              <a:lnSpc>
                <a:spcPct val="120000"/>
              </a:lnSpc>
            </a:pPr>
            <a:r>
              <a:rPr lang="en-US" sz="970" dirty="0">
                <a:solidFill>
                  <a:srgbClr val="F8FAFC">
                    <a:alpha val="70000"/>
                  </a:srgbClr>
                </a:solidFill>
                <a:latin typeface="MiSans" pitchFamily="34" charset="0"/>
                <a:ea typeface="MiSans" pitchFamily="34" charset="-122"/>
                <a:cs typeface="MiSans" pitchFamily="34" charset="-120"/>
              </a:rPr>
              <a:t> Kết hợp code và giải thích từng bước</a:t>
            </a:r>
            <a:endParaRPr lang="en-US" sz="1600" dirty="0"/>
          </a:p>
        </p:txBody>
      </p:sp>
      <p:sp>
        <p:nvSpPr>
          <p:cNvPr id="73" name="Text 71"/>
          <p:cNvSpPr/>
          <p:nvPr/>
        </p:nvSpPr>
        <p:spPr>
          <a:xfrm>
            <a:off x="8195379" y="6425779"/>
            <a:ext cx="3406718" cy="140846"/>
          </a:xfrm>
          <a:prstGeom prst="rect">
            <a:avLst/>
          </a:prstGeom>
          <a:noFill/>
          <a:ln/>
        </p:spPr>
        <p:txBody>
          <a:bodyPr wrap="square" lIns="0" tIns="0" rIns="0" bIns="0" rtlCol="0" anchor="ctr"/>
          <a:lstStyle/>
          <a:p>
            <a:pPr>
              <a:lnSpc>
                <a:spcPct val="110000"/>
              </a:lnSpc>
            </a:pPr>
            <a:r>
              <a:rPr lang="en-US" sz="832" b="1" dirty="0">
                <a:solidFill>
                  <a:srgbClr val="F8FAFC">
                    <a:alpha val="60000"/>
                  </a:srgbClr>
                </a:solidFill>
                <a:latin typeface="MiSans" pitchFamily="34" charset="0"/>
                <a:ea typeface="MiSans" pitchFamily="34" charset="-122"/>
                <a:cs typeface="MiSans" pitchFamily="34" charset="-120"/>
              </a:rPr>
              <a:t>Phù hợp:</a:t>
            </a:r>
            <a:pPr>
              <a:lnSpc>
                <a:spcPct val="110000"/>
              </a:lnSpc>
            </a:pPr>
            <a:r>
              <a:rPr lang="en-US" sz="832" dirty="0">
                <a:solidFill>
                  <a:srgbClr val="F8FAFC">
                    <a:alpha val="60000"/>
                  </a:srgbClr>
                </a:solidFill>
                <a:latin typeface="MiSans" pitchFamily="34" charset="0"/>
                <a:ea typeface="MiSans" pitchFamily="34" charset="-122"/>
                <a:cs typeface="MiSans" pitchFamily="34" charset="-120"/>
              </a:rPr>
              <a:t> Minh họa lý thuyết, Data Science</a:t>
            </a:r>
            <a:endParaRPr lang="en-US" sz="16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38295" y="338295"/>
            <a:ext cx="1028281" cy="274655"/>
          </a:xfrm>
          <a:custGeom>
            <a:avLst/>
            <a:gdLst/>
            <a:ahLst/>
            <a:cxnLst/>
            <a:rect l="l" t="t" r="r" b="b"/>
            <a:pathLst>
              <a:path w="1028281" h="274655">
                <a:moveTo>
                  <a:pt x="137327" y="0"/>
                </a:moveTo>
                <a:lnTo>
                  <a:pt x="890954" y="0"/>
                </a:lnTo>
                <a:cubicBezTo>
                  <a:pt x="966798" y="0"/>
                  <a:pt x="1028281" y="61484"/>
                  <a:pt x="1028281" y="137327"/>
                </a:cubicBezTo>
                <a:lnTo>
                  <a:pt x="1028281" y="137327"/>
                </a:lnTo>
                <a:cubicBezTo>
                  <a:pt x="1028281" y="213171"/>
                  <a:pt x="966798" y="274655"/>
                  <a:pt x="890954" y="274655"/>
                </a:cubicBezTo>
                <a:lnTo>
                  <a:pt x="137327" y="274655"/>
                </a:lnTo>
                <a:cubicBezTo>
                  <a:pt x="61534" y="274655"/>
                  <a:pt x="0" y="213121"/>
                  <a:pt x="0" y="137327"/>
                </a:cubicBezTo>
                <a:lnTo>
                  <a:pt x="0" y="137327"/>
                </a:lnTo>
                <a:cubicBezTo>
                  <a:pt x="0" y="61534"/>
                  <a:pt x="61534" y="0"/>
                  <a:pt x="137327" y="0"/>
                </a:cubicBezTo>
                <a:close/>
              </a:path>
            </a:pathLst>
          </a:custGeom>
          <a:solidFill>
            <a:srgbClr val="3B82F6">
              <a:alpha val="20000"/>
            </a:srgbClr>
          </a:solidFill>
          <a:ln w="10160">
            <a:solidFill>
              <a:srgbClr val="3B82F6">
                <a:alpha val="40000"/>
              </a:srgbClr>
            </a:solidFill>
            <a:prstDash val="solid"/>
          </a:ln>
        </p:spPr>
      </p:sp>
      <p:sp>
        <p:nvSpPr>
          <p:cNvPr id="3" name="Text 1"/>
          <p:cNvSpPr/>
          <p:nvPr/>
        </p:nvSpPr>
        <p:spPr>
          <a:xfrm>
            <a:off x="475622" y="381838"/>
            <a:ext cx="823755" cy="180870"/>
          </a:xfrm>
          <a:prstGeom prst="rect">
            <a:avLst/>
          </a:prstGeom>
          <a:noFill/>
          <a:ln/>
        </p:spPr>
        <p:txBody>
          <a:bodyPr wrap="square" lIns="0" tIns="0" rIns="0" bIns="0" rtlCol="0" anchor="ctr"/>
          <a:lstStyle/>
          <a:p>
            <a:pPr>
              <a:lnSpc>
                <a:spcPct val="130000"/>
              </a:lnSpc>
            </a:pPr>
            <a:r>
              <a:rPr lang="en-US" sz="1055" b="1" spc="53" kern="0" dirty="0">
                <a:solidFill>
                  <a:srgbClr val="3B82F6"/>
                </a:solidFill>
                <a:latin typeface="MiSans" pitchFamily="34" charset="0"/>
                <a:ea typeface="MiSans" pitchFamily="34" charset="-122"/>
                <a:cs typeface="MiSans" pitchFamily="34" charset="-120"/>
              </a:rPr>
              <a:t>CHƯƠNG 4</a:t>
            </a:r>
            <a:endParaRPr lang="en-US" sz="1600" dirty="0"/>
          </a:p>
        </p:txBody>
      </p:sp>
      <p:sp>
        <p:nvSpPr>
          <p:cNvPr id="4" name="Text 2"/>
          <p:cNvSpPr/>
          <p:nvPr/>
        </p:nvSpPr>
        <p:spPr>
          <a:xfrm>
            <a:off x="334945" y="716783"/>
            <a:ext cx="11672835" cy="334945"/>
          </a:xfrm>
          <a:prstGeom prst="rect">
            <a:avLst/>
          </a:prstGeom>
          <a:noFill/>
          <a:ln/>
        </p:spPr>
        <p:txBody>
          <a:bodyPr wrap="square" lIns="0" tIns="0" rIns="0" bIns="0" rtlCol="0" anchor="ctr"/>
          <a:lstStyle/>
          <a:p>
            <a:pPr>
              <a:lnSpc>
                <a:spcPct val="90000"/>
              </a:lnSpc>
            </a:pPr>
            <a:r>
              <a:rPr lang="en-US" sz="2374" b="1" dirty="0">
                <a:solidFill>
                  <a:srgbClr val="F8FAFC"/>
                </a:solidFill>
                <a:latin typeface="Liter" pitchFamily="34" charset="0"/>
                <a:ea typeface="Liter" pitchFamily="34" charset="-122"/>
                <a:cs typeface="Liter" pitchFamily="34" charset="-120"/>
              </a:rPr>
              <a:t>Prompt Engineering</a:t>
            </a:r>
            <a:endParaRPr lang="en-US" sz="1600" dirty="0"/>
          </a:p>
        </p:txBody>
      </p:sp>
      <p:sp>
        <p:nvSpPr>
          <p:cNvPr id="5" name="Text 3"/>
          <p:cNvSpPr/>
          <p:nvPr/>
        </p:nvSpPr>
        <p:spPr>
          <a:xfrm>
            <a:off x="334945" y="1118717"/>
            <a:ext cx="11605846" cy="234462"/>
          </a:xfrm>
          <a:prstGeom prst="rect">
            <a:avLst/>
          </a:prstGeom>
          <a:noFill/>
          <a:ln/>
        </p:spPr>
        <p:txBody>
          <a:bodyPr wrap="square" lIns="0" tIns="0" rIns="0" bIns="0" rtlCol="0" anchor="ctr"/>
          <a:lstStyle/>
          <a:p>
            <a:pPr>
              <a:lnSpc>
                <a:spcPct val="120000"/>
              </a:lnSpc>
            </a:pPr>
            <a:r>
              <a:rPr lang="en-US" sz="1319" dirty="0">
                <a:solidFill>
                  <a:srgbClr val="F8FAFC">
                    <a:alpha val="70000"/>
                  </a:srgbClr>
                </a:solidFill>
                <a:latin typeface="MiSans" pitchFamily="34" charset="0"/>
                <a:ea typeface="MiSans" pitchFamily="34" charset="-122"/>
                <a:cs typeface="MiSans" pitchFamily="34" charset="-120"/>
              </a:rPr>
              <a:t>Phương pháp tốt nhất để tương tác với AI</a:t>
            </a:r>
            <a:endParaRPr lang="en-US" sz="1600" dirty="0"/>
          </a:p>
        </p:txBody>
      </p:sp>
      <p:sp>
        <p:nvSpPr>
          <p:cNvPr id="6" name="Shape 4"/>
          <p:cNvSpPr/>
          <p:nvPr/>
        </p:nvSpPr>
        <p:spPr>
          <a:xfrm>
            <a:off x="338295" y="1524001"/>
            <a:ext cx="5667270" cy="5332325"/>
          </a:xfrm>
          <a:custGeom>
            <a:avLst/>
            <a:gdLst/>
            <a:ahLst/>
            <a:cxnLst/>
            <a:rect l="l" t="t" r="r" b="b"/>
            <a:pathLst>
              <a:path w="5667270" h="5332325">
                <a:moveTo>
                  <a:pt x="134001" y="0"/>
                </a:moveTo>
                <a:lnTo>
                  <a:pt x="5533269" y="0"/>
                </a:lnTo>
                <a:cubicBezTo>
                  <a:pt x="5607226" y="0"/>
                  <a:pt x="5667270" y="60044"/>
                  <a:pt x="5667270" y="134001"/>
                </a:cubicBezTo>
                <a:lnTo>
                  <a:pt x="5667270" y="5198324"/>
                </a:lnTo>
                <a:cubicBezTo>
                  <a:pt x="5667270" y="5272331"/>
                  <a:pt x="5607276" y="5332325"/>
                  <a:pt x="5533269" y="5332325"/>
                </a:cubicBezTo>
                <a:lnTo>
                  <a:pt x="134001" y="5332325"/>
                </a:lnTo>
                <a:cubicBezTo>
                  <a:pt x="60044" y="5332325"/>
                  <a:pt x="0" y="5272281"/>
                  <a:pt x="0" y="5198324"/>
                </a:cubicBezTo>
                <a:lnTo>
                  <a:pt x="0" y="134001"/>
                </a:lnTo>
                <a:cubicBezTo>
                  <a:pt x="0" y="60044"/>
                  <a:pt x="60044" y="0"/>
                  <a:pt x="134001" y="0"/>
                </a:cubicBezTo>
                <a:close/>
              </a:path>
            </a:pathLst>
          </a:custGeom>
          <a:gradFill rotWithShape="1" flip="none">
            <a:gsLst>
              <a:gs pos="0">
                <a:srgbClr val="1E293B"/>
              </a:gs>
              <a:gs pos="100000">
                <a:srgbClr val="1E293B">
                  <a:alpha val="50000"/>
                </a:srgbClr>
              </a:gs>
            </a:gsLst>
            <a:lin ang="2700000" scaled="1"/>
          </a:gradFill>
          <a:ln w="10160">
            <a:solidFill>
              <a:srgbClr val="3B82F6">
                <a:alpha val="30196"/>
              </a:srgbClr>
            </a:solidFill>
            <a:prstDash val="solid"/>
          </a:ln>
        </p:spPr>
      </p:sp>
      <p:sp>
        <p:nvSpPr>
          <p:cNvPr id="7" name="Shape 5"/>
          <p:cNvSpPr/>
          <p:nvPr/>
        </p:nvSpPr>
        <p:spPr>
          <a:xfrm>
            <a:off x="534237" y="1711568"/>
            <a:ext cx="200967" cy="200967"/>
          </a:xfrm>
          <a:custGeom>
            <a:avLst/>
            <a:gdLst/>
            <a:ahLst/>
            <a:cxnLst/>
            <a:rect l="l" t="t" r="r" b="b"/>
            <a:pathLst>
              <a:path w="200967" h="200967">
                <a:moveTo>
                  <a:pt x="0" y="28261"/>
                </a:moveTo>
                <a:cubicBezTo>
                  <a:pt x="0" y="23080"/>
                  <a:pt x="4200" y="18841"/>
                  <a:pt x="9420" y="18841"/>
                </a:cubicBezTo>
                <a:lnTo>
                  <a:pt x="28261" y="18841"/>
                </a:lnTo>
                <a:cubicBezTo>
                  <a:pt x="33481" y="18841"/>
                  <a:pt x="37681" y="23041"/>
                  <a:pt x="37681" y="28261"/>
                </a:cubicBezTo>
                <a:lnTo>
                  <a:pt x="37681" y="69082"/>
                </a:lnTo>
                <a:lnTo>
                  <a:pt x="47102" y="69082"/>
                </a:lnTo>
                <a:cubicBezTo>
                  <a:pt x="52322" y="69082"/>
                  <a:pt x="56522" y="73282"/>
                  <a:pt x="56522" y="78503"/>
                </a:cubicBezTo>
                <a:cubicBezTo>
                  <a:pt x="56522" y="83723"/>
                  <a:pt x="52322" y="87923"/>
                  <a:pt x="47102" y="87923"/>
                </a:cubicBezTo>
                <a:lnTo>
                  <a:pt x="9420" y="87923"/>
                </a:lnTo>
                <a:cubicBezTo>
                  <a:pt x="4200" y="87923"/>
                  <a:pt x="0" y="83723"/>
                  <a:pt x="0" y="78503"/>
                </a:cubicBezTo>
                <a:cubicBezTo>
                  <a:pt x="0" y="73282"/>
                  <a:pt x="4200" y="69082"/>
                  <a:pt x="9420" y="69082"/>
                </a:cubicBezTo>
                <a:lnTo>
                  <a:pt x="18841" y="69082"/>
                </a:lnTo>
                <a:lnTo>
                  <a:pt x="18841" y="37681"/>
                </a:lnTo>
                <a:lnTo>
                  <a:pt x="9420" y="37681"/>
                </a:lnTo>
                <a:cubicBezTo>
                  <a:pt x="4200" y="37681"/>
                  <a:pt x="0" y="33481"/>
                  <a:pt x="0" y="28261"/>
                </a:cubicBezTo>
                <a:close/>
                <a:moveTo>
                  <a:pt x="11932" y="118225"/>
                </a:moveTo>
                <a:cubicBezTo>
                  <a:pt x="16407" y="114850"/>
                  <a:pt x="21863" y="113044"/>
                  <a:pt x="27476" y="113044"/>
                </a:cubicBezTo>
                <a:lnTo>
                  <a:pt x="29399" y="113044"/>
                </a:lnTo>
                <a:cubicBezTo>
                  <a:pt x="42627" y="113044"/>
                  <a:pt x="53382" y="123799"/>
                  <a:pt x="53382" y="137027"/>
                </a:cubicBezTo>
                <a:cubicBezTo>
                  <a:pt x="53382" y="144720"/>
                  <a:pt x="49692" y="151903"/>
                  <a:pt x="43491" y="156417"/>
                </a:cubicBezTo>
                <a:lnTo>
                  <a:pt x="34070" y="163286"/>
                </a:lnTo>
                <a:lnTo>
                  <a:pt x="47102" y="163286"/>
                </a:lnTo>
                <a:cubicBezTo>
                  <a:pt x="52322" y="163286"/>
                  <a:pt x="56522" y="167486"/>
                  <a:pt x="56522" y="172706"/>
                </a:cubicBezTo>
                <a:cubicBezTo>
                  <a:pt x="56522" y="177926"/>
                  <a:pt x="52322" y="182126"/>
                  <a:pt x="47102" y="182126"/>
                </a:cubicBezTo>
                <a:lnTo>
                  <a:pt x="11501" y="182126"/>
                </a:lnTo>
                <a:cubicBezTo>
                  <a:pt x="5142" y="182126"/>
                  <a:pt x="0" y="176984"/>
                  <a:pt x="0" y="170626"/>
                </a:cubicBezTo>
                <a:cubicBezTo>
                  <a:pt x="0" y="166936"/>
                  <a:pt x="1766" y="163482"/>
                  <a:pt x="4749" y="161323"/>
                </a:cubicBezTo>
                <a:lnTo>
                  <a:pt x="32422" y="141187"/>
                </a:lnTo>
                <a:cubicBezTo>
                  <a:pt x="33756" y="140206"/>
                  <a:pt x="34541" y="138675"/>
                  <a:pt x="34541" y="137027"/>
                </a:cubicBezTo>
                <a:cubicBezTo>
                  <a:pt x="34541" y="134200"/>
                  <a:pt x="32225" y="131885"/>
                  <a:pt x="29399" y="131885"/>
                </a:cubicBezTo>
                <a:lnTo>
                  <a:pt x="27476" y="131885"/>
                </a:lnTo>
                <a:cubicBezTo>
                  <a:pt x="25945" y="131885"/>
                  <a:pt x="24454" y="132395"/>
                  <a:pt x="23237" y="133298"/>
                </a:cubicBezTo>
                <a:lnTo>
                  <a:pt x="15073" y="139421"/>
                </a:lnTo>
                <a:cubicBezTo>
                  <a:pt x="10912" y="142561"/>
                  <a:pt x="5024" y="141697"/>
                  <a:pt x="1884" y="137537"/>
                </a:cubicBezTo>
                <a:cubicBezTo>
                  <a:pt x="-1256" y="133376"/>
                  <a:pt x="-393" y="127488"/>
                  <a:pt x="3768" y="124348"/>
                </a:cubicBezTo>
                <a:lnTo>
                  <a:pt x="11932" y="118225"/>
                </a:lnTo>
                <a:close/>
                <a:moveTo>
                  <a:pt x="87923" y="25121"/>
                </a:moveTo>
                <a:lnTo>
                  <a:pt x="188407" y="25121"/>
                </a:lnTo>
                <a:cubicBezTo>
                  <a:pt x="195354" y="25121"/>
                  <a:pt x="200967" y="30734"/>
                  <a:pt x="200967" y="37681"/>
                </a:cubicBezTo>
                <a:cubicBezTo>
                  <a:pt x="200967" y="44629"/>
                  <a:pt x="195354" y="50242"/>
                  <a:pt x="188407" y="50242"/>
                </a:cubicBezTo>
                <a:lnTo>
                  <a:pt x="87923" y="50242"/>
                </a:lnTo>
                <a:cubicBezTo>
                  <a:pt x="80976" y="50242"/>
                  <a:pt x="75363" y="44629"/>
                  <a:pt x="75363" y="37681"/>
                </a:cubicBezTo>
                <a:cubicBezTo>
                  <a:pt x="75363" y="30734"/>
                  <a:pt x="80976" y="25121"/>
                  <a:pt x="87923" y="25121"/>
                </a:cubicBezTo>
                <a:close/>
                <a:moveTo>
                  <a:pt x="87923" y="87923"/>
                </a:moveTo>
                <a:lnTo>
                  <a:pt x="188407" y="87923"/>
                </a:lnTo>
                <a:cubicBezTo>
                  <a:pt x="195354" y="87923"/>
                  <a:pt x="200967" y="93536"/>
                  <a:pt x="200967" y="100484"/>
                </a:cubicBezTo>
                <a:cubicBezTo>
                  <a:pt x="200967" y="107431"/>
                  <a:pt x="195354" y="113044"/>
                  <a:pt x="188407" y="113044"/>
                </a:cubicBezTo>
                <a:lnTo>
                  <a:pt x="87923" y="113044"/>
                </a:lnTo>
                <a:cubicBezTo>
                  <a:pt x="80976" y="113044"/>
                  <a:pt x="75363" y="107431"/>
                  <a:pt x="75363" y="100484"/>
                </a:cubicBezTo>
                <a:cubicBezTo>
                  <a:pt x="75363" y="93536"/>
                  <a:pt x="80976" y="87923"/>
                  <a:pt x="87923" y="87923"/>
                </a:cubicBezTo>
                <a:close/>
                <a:moveTo>
                  <a:pt x="87923" y="150725"/>
                </a:moveTo>
                <a:lnTo>
                  <a:pt x="188407" y="150725"/>
                </a:lnTo>
                <a:cubicBezTo>
                  <a:pt x="195354" y="150725"/>
                  <a:pt x="200967" y="156338"/>
                  <a:pt x="200967" y="163286"/>
                </a:cubicBezTo>
                <a:cubicBezTo>
                  <a:pt x="200967" y="170233"/>
                  <a:pt x="195354" y="175846"/>
                  <a:pt x="188407" y="175846"/>
                </a:cubicBezTo>
                <a:lnTo>
                  <a:pt x="87923" y="175846"/>
                </a:lnTo>
                <a:cubicBezTo>
                  <a:pt x="80976" y="175846"/>
                  <a:pt x="75363" y="170233"/>
                  <a:pt x="75363" y="163286"/>
                </a:cubicBezTo>
                <a:cubicBezTo>
                  <a:pt x="75363" y="156338"/>
                  <a:pt x="80976" y="150725"/>
                  <a:pt x="87923" y="150725"/>
                </a:cubicBezTo>
                <a:close/>
              </a:path>
            </a:pathLst>
          </a:custGeom>
          <a:solidFill>
            <a:srgbClr val="3B82F6"/>
          </a:solidFill>
          <a:ln/>
        </p:spPr>
      </p:sp>
      <p:sp>
        <p:nvSpPr>
          <p:cNvPr id="8" name="Text 6"/>
          <p:cNvSpPr/>
          <p:nvPr/>
        </p:nvSpPr>
        <p:spPr>
          <a:xfrm>
            <a:off x="760325" y="1694821"/>
            <a:ext cx="5158154" cy="234462"/>
          </a:xfrm>
          <a:prstGeom prst="rect">
            <a:avLst/>
          </a:prstGeom>
          <a:noFill/>
          <a:ln/>
        </p:spPr>
        <p:txBody>
          <a:bodyPr wrap="square" lIns="0" tIns="0" rIns="0" bIns="0" rtlCol="0" anchor="ctr"/>
          <a:lstStyle/>
          <a:p>
            <a:pPr>
              <a:lnSpc>
                <a:spcPct val="120000"/>
              </a:lnSpc>
            </a:pPr>
            <a:r>
              <a:rPr lang="en-US" sz="1319" b="1" dirty="0">
                <a:solidFill>
                  <a:srgbClr val="3B82F6"/>
                </a:solidFill>
                <a:latin typeface="Liter" pitchFamily="34" charset="0"/>
                <a:ea typeface="Liter" pitchFamily="34" charset="-122"/>
                <a:cs typeface="Liter" pitchFamily="34" charset="-120"/>
              </a:rPr>
              <a:t>Khung Prompt 5 thành phần</a:t>
            </a:r>
            <a:endParaRPr lang="en-US" sz="1600" dirty="0"/>
          </a:p>
        </p:txBody>
      </p:sp>
      <p:sp>
        <p:nvSpPr>
          <p:cNvPr id="9" name="Shape 7"/>
          <p:cNvSpPr/>
          <p:nvPr/>
        </p:nvSpPr>
        <p:spPr>
          <a:xfrm>
            <a:off x="509116" y="2063261"/>
            <a:ext cx="334945" cy="334945"/>
          </a:xfrm>
          <a:custGeom>
            <a:avLst/>
            <a:gdLst/>
            <a:ahLst/>
            <a:cxnLst/>
            <a:rect l="l" t="t" r="r" b="b"/>
            <a:pathLst>
              <a:path w="334945" h="334945">
                <a:moveTo>
                  <a:pt x="66989" y="0"/>
                </a:moveTo>
                <a:lnTo>
                  <a:pt x="267956" y="0"/>
                </a:lnTo>
                <a:cubicBezTo>
                  <a:pt x="304928" y="0"/>
                  <a:pt x="334945" y="30017"/>
                  <a:pt x="334945" y="66989"/>
                </a:cubicBezTo>
                <a:lnTo>
                  <a:pt x="334945" y="267956"/>
                </a:lnTo>
                <a:cubicBezTo>
                  <a:pt x="334945" y="304928"/>
                  <a:pt x="304928" y="334945"/>
                  <a:pt x="267956" y="334945"/>
                </a:cubicBezTo>
                <a:lnTo>
                  <a:pt x="66989" y="334945"/>
                </a:lnTo>
                <a:cubicBezTo>
                  <a:pt x="30017" y="334945"/>
                  <a:pt x="0" y="304928"/>
                  <a:pt x="0" y="267956"/>
                </a:cubicBezTo>
                <a:lnTo>
                  <a:pt x="0" y="66989"/>
                </a:lnTo>
                <a:cubicBezTo>
                  <a:pt x="0" y="30017"/>
                  <a:pt x="30017" y="0"/>
                  <a:pt x="66989" y="0"/>
                </a:cubicBezTo>
                <a:close/>
              </a:path>
            </a:pathLst>
          </a:custGeom>
          <a:gradFill rotWithShape="1" flip="none">
            <a:gsLst>
              <a:gs pos="0">
                <a:srgbClr val="3B82F6"/>
              </a:gs>
              <a:gs pos="100000">
                <a:srgbClr val="3B82F6">
                  <a:alpha val="60000"/>
                </a:srgbClr>
              </a:gs>
            </a:gsLst>
            <a:lin ang="2700000" scaled="1"/>
          </a:gradFill>
          <a:ln/>
        </p:spPr>
      </p:sp>
      <p:sp>
        <p:nvSpPr>
          <p:cNvPr id="10" name="Text 8"/>
          <p:cNvSpPr/>
          <p:nvPr/>
        </p:nvSpPr>
        <p:spPr>
          <a:xfrm>
            <a:off x="475622" y="2063261"/>
            <a:ext cx="401934" cy="334945"/>
          </a:xfrm>
          <a:prstGeom prst="rect">
            <a:avLst/>
          </a:prstGeom>
          <a:noFill/>
          <a:ln/>
        </p:spPr>
        <p:txBody>
          <a:bodyPr wrap="square" lIns="0" tIns="0" rIns="0" bIns="0" rtlCol="0" anchor="ctr"/>
          <a:lstStyle/>
          <a:p>
            <a:pPr algn="ctr">
              <a:lnSpc>
                <a:spcPct val="130000"/>
              </a:lnSpc>
            </a:pPr>
            <a:r>
              <a:rPr lang="en-US" sz="1055" b="1" dirty="0">
                <a:solidFill>
                  <a:srgbClr val="FFFFFF"/>
                </a:solidFill>
                <a:latin typeface="MiSans" pitchFamily="34" charset="0"/>
                <a:ea typeface="MiSans" pitchFamily="34" charset="-122"/>
                <a:cs typeface="MiSans" pitchFamily="34" charset="-120"/>
              </a:rPr>
              <a:t>1</a:t>
            </a:r>
            <a:endParaRPr lang="en-US" sz="1600" dirty="0"/>
          </a:p>
        </p:txBody>
      </p:sp>
      <p:sp>
        <p:nvSpPr>
          <p:cNvPr id="11" name="Text 9"/>
          <p:cNvSpPr/>
          <p:nvPr/>
        </p:nvSpPr>
        <p:spPr>
          <a:xfrm>
            <a:off x="944545" y="2063261"/>
            <a:ext cx="1833824" cy="200967"/>
          </a:xfrm>
          <a:prstGeom prst="rect">
            <a:avLst/>
          </a:prstGeom>
          <a:noFill/>
          <a:ln/>
        </p:spPr>
        <p:txBody>
          <a:bodyPr wrap="square" lIns="0" tIns="0" rIns="0" bIns="0" rtlCol="0" anchor="ctr"/>
          <a:lstStyle/>
          <a:p>
            <a:pPr>
              <a:lnSpc>
                <a:spcPct val="130000"/>
              </a:lnSpc>
            </a:pPr>
            <a:r>
              <a:rPr lang="en-US" sz="1055" b="1" dirty="0">
                <a:solidFill>
                  <a:srgbClr val="F8FAFC"/>
                </a:solidFill>
                <a:latin typeface="MiSans" pitchFamily="34" charset="0"/>
                <a:ea typeface="MiSans" pitchFamily="34" charset="-122"/>
                <a:cs typeface="MiSans" pitchFamily="34" charset="-120"/>
              </a:rPr>
              <a:t>Vai trò của mô hình</a:t>
            </a:r>
            <a:endParaRPr lang="en-US" sz="1600" dirty="0"/>
          </a:p>
        </p:txBody>
      </p:sp>
      <p:sp>
        <p:nvSpPr>
          <p:cNvPr id="12" name="Text 10"/>
          <p:cNvSpPr/>
          <p:nvPr/>
        </p:nvSpPr>
        <p:spPr>
          <a:xfrm>
            <a:off x="944545" y="2297722"/>
            <a:ext cx="1825451" cy="167473"/>
          </a:xfrm>
          <a:prstGeom prst="rect">
            <a:avLst/>
          </a:prstGeom>
          <a:noFill/>
          <a:ln/>
        </p:spPr>
        <p:txBody>
          <a:bodyPr wrap="square" lIns="0" tIns="0" rIns="0" bIns="0" rtlCol="0" anchor="ctr"/>
          <a:lstStyle/>
          <a:p>
            <a:pPr>
              <a:lnSpc>
                <a:spcPct val="120000"/>
              </a:lnSpc>
            </a:pPr>
            <a:r>
              <a:rPr lang="en-US" sz="923" dirty="0">
                <a:solidFill>
                  <a:srgbClr val="F8FAFC">
                    <a:alpha val="70000"/>
                  </a:srgbClr>
                </a:solidFill>
                <a:latin typeface="MiSans" pitchFamily="34" charset="0"/>
                <a:ea typeface="MiSans" pitchFamily="34" charset="-122"/>
                <a:cs typeface="MiSans" pitchFamily="34" charset="-120"/>
              </a:rPr>
              <a:t>"Bạn là một chuyên gia Python..."</a:t>
            </a:r>
            <a:endParaRPr lang="en-US" sz="1600" dirty="0"/>
          </a:p>
        </p:txBody>
      </p:sp>
      <p:sp>
        <p:nvSpPr>
          <p:cNvPr id="13" name="Shape 11"/>
          <p:cNvSpPr/>
          <p:nvPr/>
        </p:nvSpPr>
        <p:spPr>
          <a:xfrm>
            <a:off x="509116" y="2565678"/>
            <a:ext cx="334945" cy="334945"/>
          </a:xfrm>
          <a:custGeom>
            <a:avLst/>
            <a:gdLst/>
            <a:ahLst/>
            <a:cxnLst/>
            <a:rect l="l" t="t" r="r" b="b"/>
            <a:pathLst>
              <a:path w="334945" h="334945">
                <a:moveTo>
                  <a:pt x="66989" y="0"/>
                </a:moveTo>
                <a:lnTo>
                  <a:pt x="267956" y="0"/>
                </a:lnTo>
                <a:cubicBezTo>
                  <a:pt x="304928" y="0"/>
                  <a:pt x="334945" y="30017"/>
                  <a:pt x="334945" y="66989"/>
                </a:cubicBezTo>
                <a:lnTo>
                  <a:pt x="334945" y="267956"/>
                </a:lnTo>
                <a:cubicBezTo>
                  <a:pt x="334945" y="304928"/>
                  <a:pt x="304928" y="334945"/>
                  <a:pt x="267956" y="334945"/>
                </a:cubicBezTo>
                <a:lnTo>
                  <a:pt x="66989" y="334945"/>
                </a:lnTo>
                <a:cubicBezTo>
                  <a:pt x="30017" y="334945"/>
                  <a:pt x="0" y="304928"/>
                  <a:pt x="0" y="267956"/>
                </a:cubicBezTo>
                <a:lnTo>
                  <a:pt x="0" y="66989"/>
                </a:lnTo>
                <a:cubicBezTo>
                  <a:pt x="0" y="30017"/>
                  <a:pt x="30017" y="0"/>
                  <a:pt x="66989" y="0"/>
                </a:cubicBezTo>
                <a:close/>
              </a:path>
            </a:pathLst>
          </a:custGeom>
          <a:gradFill rotWithShape="1" flip="none">
            <a:gsLst>
              <a:gs pos="0">
                <a:srgbClr val="8B5CF6"/>
              </a:gs>
              <a:gs pos="100000">
                <a:srgbClr val="8B5CF6">
                  <a:alpha val="60000"/>
                </a:srgbClr>
              </a:gs>
            </a:gsLst>
            <a:lin ang="2700000" scaled="1"/>
          </a:gradFill>
          <a:ln/>
        </p:spPr>
      </p:sp>
      <p:sp>
        <p:nvSpPr>
          <p:cNvPr id="14" name="Text 12"/>
          <p:cNvSpPr/>
          <p:nvPr/>
        </p:nvSpPr>
        <p:spPr>
          <a:xfrm>
            <a:off x="475622" y="2565678"/>
            <a:ext cx="401934" cy="334945"/>
          </a:xfrm>
          <a:prstGeom prst="rect">
            <a:avLst/>
          </a:prstGeom>
          <a:noFill/>
          <a:ln/>
        </p:spPr>
        <p:txBody>
          <a:bodyPr wrap="square" lIns="0" tIns="0" rIns="0" bIns="0" rtlCol="0" anchor="ctr"/>
          <a:lstStyle/>
          <a:p>
            <a:pPr algn="ctr">
              <a:lnSpc>
                <a:spcPct val="130000"/>
              </a:lnSpc>
            </a:pPr>
            <a:r>
              <a:rPr lang="en-US" sz="1055" b="1" dirty="0">
                <a:solidFill>
                  <a:srgbClr val="FFFFFF"/>
                </a:solidFill>
                <a:latin typeface="MiSans" pitchFamily="34" charset="0"/>
                <a:ea typeface="MiSans" pitchFamily="34" charset="-122"/>
                <a:cs typeface="MiSans" pitchFamily="34" charset="-120"/>
              </a:rPr>
              <a:t>2</a:t>
            </a:r>
            <a:endParaRPr lang="en-US" sz="1600" dirty="0"/>
          </a:p>
        </p:txBody>
      </p:sp>
      <p:sp>
        <p:nvSpPr>
          <p:cNvPr id="15" name="Text 13"/>
          <p:cNvSpPr/>
          <p:nvPr/>
        </p:nvSpPr>
        <p:spPr>
          <a:xfrm>
            <a:off x="944545" y="2565678"/>
            <a:ext cx="1699846" cy="200967"/>
          </a:xfrm>
          <a:prstGeom prst="rect">
            <a:avLst/>
          </a:prstGeom>
          <a:noFill/>
          <a:ln/>
        </p:spPr>
        <p:txBody>
          <a:bodyPr wrap="square" lIns="0" tIns="0" rIns="0" bIns="0" rtlCol="0" anchor="ctr"/>
          <a:lstStyle/>
          <a:p>
            <a:pPr>
              <a:lnSpc>
                <a:spcPct val="130000"/>
              </a:lnSpc>
            </a:pPr>
            <a:r>
              <a:rPr lang="en-US" sz="1055" b="1" dirty="0">
                <a:solidFill>
                  <a:srgbClr val="F8FAFC"/>
                </a:solidFill>
                <a:latin typeface="MiSans" pitchFamily="34" charset="0"/>
                <a:ea typeface="MiSans" pitchFamily="34" charset="-122"/>
                <a:cs typeface="MiSans" pitchFamily="34" charset="-120"/>
              </a:rPr>
              <a:t>Bài toán cần giải</a:t>
            </a:r>
            <a:endParaRPr lang="en-US" sz="1600" dirty="0"/>
          </a:p>
        </p:txBody>
      </p:sp>
      <p:sp>
        <p:nvSpPr>
          <p:cNvPr id="16" name="Text 14"/>
          <p:cNvSpPr/>
          <p:nvPr/>
        </p:nvSpPr>
        <p:spPr>
          <a:xfrm>
            <a:off x="944545" y="2800140"/>
            <a:ext cx="1691473" cy="167473"/>
          </a:xfrm>
          <a:prstGeom prst="rect">
            <a:avLst/>
          </a:prstGeom>
          <a:noFill/>
          <a:ln/>
        </p:spPr>
        <p:txBody>
          <a:bodyPr wrap="square" lIns="0" tIns="0" rIns="0" bIns="0" rtlCol="0" anchor="ctr"/>
          <a:lstStyle/>
          <a:p>
            <a:pPr>
              <a:lnSpc>
                <a:spcPct val="120000"/>
              </a:lnSpc>
            </a:pPr>
            <a:r>
              <a:rPr lang="en-US" sz="923" dirty="0">
                <a:solidFill>
                  <a:srgbClr val="F8FAFC">
                    <a:alpha val="70000"/>
                  </a:srgbClr>
                </a:solidFill>
                <a:latin typeface="MiSans" pitchFamily="34" charset="0"/>
                <a:ea typeface="MiSans" pitchFamily="34" charset="-122"/>
                <a:cs typeface="MiSans" pitchFamily="34" charset="-120"/>
              </a:rPr>
              <a:t>Mô tả rõ ràng vấn đề cần xử lý</a:t>
            </a:r>
            <a:endParaRPr lang="en-US" sz="1600" dirty="0"/>
          </a:p>
        </p:txBody>
      </p:sp>
      <p:sp>
        <p:nvSpPr>
          <p:cNvPr id="17" name="Shape 15"/>
          <p:cNvSpPr/>
          <p:nvPr/>
        </p:nvSpPr>
        <p:spPr>
          <a:xfrm>
            <a:off x="509116" y="3068096"/>
            <a:ext cx="334945" cy="334945"/>
          </a:xfrm>
          <a:custGeom>
            <a:avLst/>
            <a:gdLst/>
            <a:ahLst/>
            <a:cxnLst/>
            <a:rect l="l" t="t" r="r" b="b"/>
            <a:pathLst>
              <a:path w="334945" h="334945">
                <a:moveTo>
                  <a:pt x="66989" y="0"/>
                </a:moveTo>
                <a:lnTo>
                  <a:pt x="267956" y="0"/>
                </a:lnTo>
                <a:cubicBezTo>
                  <a:pt x="304928" y="0"/>
                  <a:pt x="334945" y="30017"/>
                  <a:pt x="334945" y="66989"/>
                </a:cubicBezTo>
                <a:lnTo>
                  <a:pt x="334945" y="267956"/>
                </a:lnTo>
                <a:cubicBezTo>
                  <a:pt x="334945" y="304928"/>
                  <a:pt x="304928" y="334945"/>
                  <a:pt x="267956" y="334945"/>
                </a:cubicBezTo>
                <a:lnTo>
                  <a:pt x="66989" y="334945"/>
                </a:lnTo>
                <a:cubicBezTo>
                  <a:pt x="30017" y="334945"/>
                  <a:pt x="0" y="304928"/>
                  <a:pt x="0" y="267956"/>
                </a:cubicBezTo>
                <a:lnTo>
                  <a:pt x="0" y="66989"/>
                </a:lnTo>
                <a:cubicBezTo>
                  <a:pt x="0" y="30017"/>
                  <a:pt x="30017" y="0"/>
                  <a:pt x="66989" y="0"/>
                </a:cubicBezTo>
                <a:close/>
              </a:path>
            </a:pathLst>
          </a:custGeom>
          <a:gradFill rotWithShape="1" flip="none">
            <a:gsLst>
              <a:gs pos="0">
                <a:srgbClr val="10B981"/>
              </a:gs>
              <a:gs pos="100000">
                <a:srgbClr val="10B981">
                  <a:alpha val="60000"/>
                </a:srgbClr>
              </a:gs>
            </a:gsLst>
            <a:lin ang="2700000" scaled="1"/>
          </a:gradFill>
          <a:ln/>
        </p:spPr>
      </p:sp>
      <p:sp>
        <p:nvSpPr>
          <p:cNvPr id="18" name="Text 16"/>
          <p:cNvSpPr/>
          <p:nvPr/>
        </p:nvSpPr>
        <p:spPr>
          <a:xfrm>
            <a:off x="475622" y="3068096"/>
            <a:ext cx="401934" cy="334945"/>
          </a:xfrm>
          <a:prstGeom prst="rect">
            <a:avLst/>
          </a:prstGeom>
          <a:noFill/>
          <a:ln/>
        </p:spPr>
        <p:txBody>
          <a:bodyPr wrap="square" lIns="0" tIns="0" rIns="0" bIns="0" rtlCol="0" anchor="ctr"/>
          <a:lstStyle/>
          <a:p>
            <a:pPr algn="ctr">
              <a:lnSpc>
                <a:spcPct val="130000"/>
              </a:lnSpc>
            </a:pPr>
            <a:r>
              <a:rPr lang="en-US" sz="1055" b="1" dirty="0">
                <a:solidFill>
                  <a:srgbClr val="FFFFFF"/>
                </a:solidFill>
                <a:latin typeface="MiSans" pitchFamily="34" charset="0"/>
                <a:ea typeface="MiSans" pitchFamily="34" charset="-122"/>
                <a:cs typeface="MiSans" pitchFamily="34" charset="-120"/>
              </a:rPr>
              <a:t>3</a:t>
            </a:r>
            <a:endParaRPr lang="en-US" sz="1600" dirty="0"/>
          </a:p>
        </p:txBody>
      </p:sp>
      <p:sp>
        <p:nvSpPr>
          <p:cNvPr id="19" name="Text 17"/>
          <p:cNvSpPr/>
          <p:nvPr/>
        </p:nvSpPr>
        <p:spPr>
          <a:xfrm>
            <a:off x="944545" y="3068096"/>
            <a:ext cx="1691473" cy="200967"/>
          </a:xfrm>
          <a:prstGeom prst="rect">
            <a:avLst/>
          </a:prstGeom>
          <a:noFill/>
          <a:ln/>
        </p:spPr>
        <p:txBody>
          <a:bodyPr wrap="square" lIns="0" tIns="0" rIns="0" bIns="0" rtlCol="0" anchor="ctr"/>
          <a:lstStyle/>
          <a:p>
            <a:pPr>
              <a:lnSpc>
                <a:spcPct val="130000"/>
              </a:lnSpc>
            </a:pPr>
            <a:r>
              <a:rPr lang="en-US" sz="1055" b="1" dirty="0">
                <a:solidFill>
                  <a:srgbClr val="F8FAFC"/>
                </a:solidFill>
                <a:latin typeface="MiSans" pitchFamily="34" charset="0"/>
                <a:ea typeface="MiSans" pitchFamily="34" charset="-122"/>
                <a:cs typeface="MiSans" pitchFamily="34" charset="-120"/>
              </a:rPr>
              <a:t>Dữ liệu vào</a:t>
            </a:r>
            <a:endParaRPr lang="en-US" sz="1600" dirty="0"/>
          </a:p>
        </p:txBody>
      </p:sp>
      <p:sp>
        <p:nvSpPr>
          <p:cNvPr id="20" name="Text 18"/>
          <p:cNvSpPr/>
          <p:nvPr/>
        </p:nvSpPr>
        <p:spPr>
          <a:xfrm>
            <a:off x="944545" y="3302557"/>
            <a:ext cx="1683099" cy="167473"/>
          </a:xfrm>
          <a:prstGeom prst="rect">
            <a:avLst/>
          </a:prstGeom>
          <a:noFill/>
          <a:ln/>
        </p:spPr>
        <p:txBody>
          <a:bodyPr wrap="square" lIns="0" tIns="0" rIns="0" bIns="0" rtlCol="0" anchor="ctr"/>
          <a:lstStyle/>
          <a:p>
            <a:pPr>
              <a:lnSpc>
                <a:spcPct val="120000"/>
              </a:lnSpc>
            </a:pPr>
            <a:r>
              <a:rPr lang="en-US" sz="923" dirty="0">
                <a:solidFill>
                  <a:srgbClr val="F8FAFC">
                    <a:alpha val="70000"/>
                  </a:srgbClr>
                </a:solidFill>
                <a:latin typeface="MiSans" pitchFamily="34" charset="0"/>
                <a:ea typeface="MiSans" pitchFamily="34" charset="-122"/>
                <a:cs typeface="MiSans" pitchFamily="34" charset="-120"/>
              </a:rPr>
              <a:t>Input, context, hoặc code mẫu</a:t>
            </a:r>
            <a:endParaRPr lang="en-US" sz="1600" dirty="0"/>
          </a:p>
        </p:txBody>
      </p:sp>
      <p:sp>
        <p:nvSpPr>
          <p:cNvPr id="21" name="Shape 19"/>
          <p:cNvSpPr/>
          <p:nvPr/>
        </p:nvSpPr>
        <p:spPr>
          <a:xfrm>
            <a:off x="509116" y="3570513"/>
            <a:ext cx="334945" cy="334945"/>
          </a:xfrm>
          <a:custGeom>
            <a:avLst/>
            <a:gdLst/>
            <a:ahLst/>
            <a:cxnLst/>
            <a:rect l="l" t="t" r="r" b="b"/>
            <a:pathLst>
              <a:path w="334945" h="334945">
                <a:moveTo>
                  <a:pt x="66989" y="0"/>
                </a:moveTo>
                <a:lnTo>
                  <a:pt x="267956" y="0"/>
                </a:lnTo>
                <a:cubicBezTo>
                  <a:pt x="304928" y="0"/>
                  <a:pt x="334945" y="30017"/>
                  <a:pt x="334945" y="66989"/>
                </a:cubicBezTo>
                <a:lnTo>
                  <a:pt x="334945" y="267956"/>
                </a:lnTo>
                <a:cubicBezTo>
                  <a:pt x="334945" y="304928"/>
                  <a:pt x="304928" y="334945"/>
                  <a:pt x="267956" y="334945"/>
                </a:cubicBezTo>
                <a:lnTo>
                  <a:pt x="66989" y="334945"/>
                </a:lnTo>
                <a:cubicBezTo>
                  <a:pt x="30017" y="334945"/>
                  <a:pt x="0" y="304928"/>
                  <a:pt x="0" y="267956"/>
                </a:cubicBezTo>
                <a:lnTo>
                  <a:pt x="0" y="66989"/>
                </a:lnTo>
                <a:cubicBezTo>
                  <a:pt x="0" y="30017"/>
                  <a:pt x="30017" y="0"/>
                  <a:pt x="66989" y="0"/>
                </a:cubicBezTo>
                <a:close/>
              </a:path>
            </a:pathLst>
          </a:custGeom>
          <a:gradFill rotWithShape="1" flip="none">
            <a:gsLst>
              <a:gs pos="0">
                <a:srgbClr val="3B82F6"/>
              </a:gs>
              <a:gs pos="100000">
                <a:srgbClr val="3B82F6">
                  <a:alpha val="60000"/>
                </a:srgbClr>
              </a:gs>
            </a:gsLst>
            <a:lin ang="2700000" scaled="1"/>
          </a:gradFill>
          <a:ln/>
        </p:spPr>
      </p:sp>
      <p:sp>
        <p:nvSpPr>
          <p:cNvPr id="22" name="Text 20"/>
          <p:cNvSpPr/>
          <p:nvPr/>
        </p:nvSpPr>
        <p:spPr>
          <a:xfrm>
            <a:off x="475622" y="3570513"/>
            <a:ext cx="401934" cy="334945"/>
          </a:xfrm>
          <a:prstGeom prst="rect">
            <a:avLst/>
          </a:prstGeom>
          <a:noFill/>
          <a:ln/>
        </p:spPr>
        <p:txBody>
          <a:bodyPr wrap="square" lIns="0" tIns="0" rIns="0" bIns="0" rtlCol="0" anchor="ctr"/>
          <a:lstStyle/>
          <a:p>
            <a:pPr algn="ctr">
              <a:lnSpc>
                <a:spcPct val="130000"/>
              </a:lnSpc>
            </a:pPr>
            <a:r>
              <a:rPr lang="en-US" sz="1055" b="1" dirty="0">
                <a:solidFill>
                  <a:srgbClr val="FFFFFF"/>
                </a:solidFill>
                <a:latin typeface="MiSans" pitchFamily="34" charset="0"/>
                <a:ea typeface="MiSans" pitchFamily="34" charset="-122"/>
                <a:cs typeface="MiSans" pitchFamily="34" charset="-120"/>
              </a:rPr>
              <a:t>4</a:t>
            </a:r>
            <a:endParaRPr lang="en-US" sz="1600" dirty="0"/>
          </a:p>
        </p:txBody>
      </p:sp>
      <p:sp>
        <p:nvSpPr>
          <p:cNvPr id="23" name="Text 21"/>
          <p:cNvSpPr/>
          <p:nvPr/>
        </p:nvSpPr>
        <p:spPr>
          <a:xfrm>
            <a:off x="944545" y="3570513"/>
            <a:ext cx="1691473" cy="200967"/>
          </a:xfrm>
          <a:prstGeom prst="rect">
            <a:avLst/>
          </a:prstGeom>
          <a:noFill/>
          <a:ln/>
        </p:spPr>
        <p:txBody>
          <a:bodyPr wrap="square" lIns="0" tIns="0" rIns="0" bIns="0" rtlCol="0" anchor="ctr"/>
          <a:lstStyle/>
          <a:p>
            <a:pPr>
              <a:lnSpc>
                <a:spcPct val="130000"/>
              </a:lnSpc>
            </a:pPr>
            <a:r>
              <a:rPr lang="en-US" sz="1055" b="1" dirty="0">
                <a:solidFill>
                  <a:srgbClr val="F8FAFC"/>
                </a:solidFill>
                <a:latin typeface="MiSans" pitchFamily="34" charset="0"/>
                <a:ea typeface="MiSans" pitchFamily="34" charset="-122"/>
                <a:cs typeface="MiSans" pitchFamily="34" charset="-120"/>
              </a:rPr>
              <a:t>Ràng buộc</a:t>
            </a:r>
            <a:endParaRPr lang="en-US" sz="1600" dirty="0"/>
          </a:p>
        </p:txBody>
      </p:sp>
      <p:sp>
        <p:nvSpPr>
          <p:cNvPr id="24" name="Text 22"/>
          <p:cNvSpPr/>
          <p:nvPr/>
        </p:nvSpPr>
        <p:spPr>
          <a:xfrm>
            <a:off x="944545" y="3804975"/>
            <a:ext cx="1683099" cy="167473"/>
          </a:xfrm>
          <a:prstGeom prst="rect">
            <a:avLst/>
          </a:prstGeom>
          <a:noFill/>
          <a:ln/>
        </p:spPr>
        <p:txBody>
          <a:bodyPr wrap="square" lIns="0" tIns="0" rIns="0" bIns="0" rtlCol="0" anchor="ctr"/>
          <a:lstStyle/>
          <a:p>
            <a:pPr>
              <a:lnSpc>
                <a:spcPct val="120000"/>
              </a:lnSpc>
            </a:pPr>
            <a:r>
              <a:rPr lang="en-US" sz="923" dirty="0">
                <a:solidFill>
                  <a:srgbClr val="F8FAFC">
                    <a:alpha val="70000"/>
                  </a:srgbClr>
                </a:solidFill>
                <a:latin typeface="MiSans" pitchFamily="34" charset="0"/>
                <a:ea typeface="MiSans" pitchFamily="34" charset="-122"/>
                <a:cs typeface="MiSans" pitchFamily="34" charset="-120"/>
              </a:rPr>
              <a:t>Độ dài, phong cách, ngôn ngữ</a:t>
            </a:r>
            <a:endParaRPr lang="en-US" sz="1600" dirty="0"/>
          </a:p>
        </p:txBody>
      </p:sp>
      <p:sp>
        <p:nvSpPr>
          <p:cNvPr id="25" name="Shape 23"/>
          <p:cNvSpPr/>
          <p:nvPr/>
        </p:nvSpPr>
        <p:spPr>
          <a:xfrm>
            <a:off x="509116" y="4072931"/>
            <a:ext cx="334945" cy="334945"/>
          </a:xfrm>
          <a:custGeom>
            <a:avLst/>
            <a:gdLst/>
            <a:ahLst/>
            <a:cxnLst/>
            <a:rect l="l" t="t" r="r" b="b"/>
            <a:pathLst>
              <a:path w="334945" h="334945">
                <a:moveTo>
                  <a:pt x="66989" y="0"/>
                </a:moveTo>
                <a:lnTo>
                  <a:pt x="267956" y="0"/>
                </a:lnTo>
                <a:cubicBezTo>
                  <a:pt x="304928" y="0"/>
                  <a:pt x="334945" y="30017"/>
                  <a:pt x="334945" y="66989"/>
                </a:cubicBezTo>
                <a:lnTo>
                  <a:pt x="334945" y="267956"/>
                </a:lnTo>
                <a:cubicBezTo>
                  <a:pt x="334945" y="304928"/>
                  <a:pt x="304928" y="334945"/>
                  <a:pt x="267956" y="334945"/>
                </a:cubicBezTo>
                <a:lnTo>
                  <a:pt x="66989" y="334945"/>
                </a:lnTo>
                <a:cubicBezTo>
                  <a:pt x="30017" y="334945"/>
                  <a:pt x="0" y="304928"/>
                  <a:pt x="0" y="267956"/>
                </a:cubicBezTo>
                <a:lnTo>
                  <a:pt x="0" y="66989"/>
                </a:lnTo>
                <a:cubicBezTo>
                  <a:pt x="0" y="30017"/>
                  <a:pt x="30017" y="0"/>
                  <a:pt x="66989" y="0"/>
                </a:cubicBezTo>
                <a:close/>
              </a:path>
            </a:pathLst>
          </a:custGeom>
          <a:gradFill rotWithShape="1" flip="none">
            <a:gsLst>
              <a:gs pos="0">
                <a:srgbClr val="8B5CF6"/>
              </a:gs>
              <a:gs pos="100000">
                <a:srgbClr val="8B5CF6">
                  <a:alpha val="60000"/>
                </a:srgbClr>
              </a:gs>
            </a:gsLst>
            <a:lin ang="2700000" scaled="1"/>
          </a:gradFill>
          <a:ln/>
        </p:spPr>
      </p:sp>
      <p:sp>
        <p:nvSpPr>
          <p:cNvPr id="26" name="Text 24"/>
          <p:cNvSpPr/>
          <p:nvPr/>
        </p:nvSpPr>
        <p:spPr>
          <a:xfrm>
            <a:off x="475622" y="4072931"/>
            <a:ext cx="401934" cy="334945"/>
          </a:xfrm>
          <a:prstGeom prst="rect">
            <a:avLst/>
          </a:prstGeom>
          <a:noFill/>
          <a:ln/>
        </p:spPr>
        <p:txBody>
          <a:bodyPr wrap="square" lIns="0" tIns="0" rIns="0" bIns="0" rtlCol="0" anchor="ctr"/>
          <a:lstStyle/>
          <a:p>
            <a:pPr algn="ctr">
              <a:lnSpc>
                <a:spcPct val="130000"/>
              </a:lnSpc>
            </a:pPr>
            <a:r>
              <a:rPr lang="en-US" sz="1055" b="1" dirty="0">
                <a:solidFill>
                  <a:srgbClr val="FFFFFF"/>
                </a:solidFill>
                <a:latin typeface="MiSans" pitchFamily="34" charset="0"/>
                <a:ea typeface="MiSans" pitchFamily="34" charset="-122"/>
                <a:cs typeface="MiSans" pitchFamily="34" charset="-120"/>
              </a:rPr>
              <a:t>5</a:t>
            </a:r>
            <a:endParaRPr lang="en-US" sz="1600" dirty="0"/>
          </a:p>
        </p:txBody>
      </p:sp>
      <p:sp>
        <p:nvSpPr>
          <p:cNvPr id="27" name="Text 25"/>
          <p:cNvSpPr/>
          <p:nvPr/>
        </p:nvSpPr>
        <p:spPr>
          <a:xfrm>
            <a:off x="944545" y="4072931"/>
            <a:ext cx="1565868" cy="200967"/>
          </a:xfrm>
          <a:prstGeom prst="rect">
            <a:avLst/>
          </a:prstGeom>
          <a:noFill/>
          <a:ln/>
        </p:spPr>
        <p:txBody>
          <a:bodyPr wrap="square" lIns="0" tIns="0" rIns="0" bIns="0" rtlCol="0" anchor="ctr"/>
          <a:lstStyle/>
          <a:p>
            <a:pPr>
              <a:lnSpc>
                <a:spcPct val="130000"/>
              </a:lnSpc>
            </a:pPr>
            <a:r>
              <a:rPr lang="en-US" sz="1055" b="1" dirty="0">
                <a:solidFill>
                  <a:srgbClr val="F8FAFC"/>
                </a:solidFill>
                <a:latin typeface="MiSans" pitchFamily="34" charset="0"/>
                <a:ea typeface="MiSans" pitchFamily="34" charset="-122"/>
                <a:cs typeface="MiSans" pitchFamily="34" charset="-120"/>
              </a:rPr>
              <a:t>Dạng đầu ra</a:t>
            </a:r>
            <a:endParaRPr lang="en-US" sz="1600" dirty="0"/>
          </a:p>
        </p:txBody>
      </p:sp>
      <p:sp>
        <p:nvSpPr>
          <p:cNvPr id="28" name="Text 26"/>
          <p:cNvSpPr/>
          <p:nvPr/>
        </p:nvSpPr>
        <p:spPr>
          <a:xfrm>
            <a:off x="944545" y="4307393"/>
            <a:ext cx="1557495" cy="167473"/>
          </a:xfrm>
          <a:prstGeom prst="rect">
            <a:avLst/>
          </a:prstGeom>
          <a:noFill/>
          <a:ln/>
        </p:spPr>
        <p:txBody>
          <a:bodyPr wrap="square" lIns="0" tIns="0" rIns="0" bIns="0" rtlCol="0" anchor="ctr"/>
          <a:lstStyle/>
          <a:p>
            <a:pPr>
              <a:lnSpc>
                <a:spcPct val="120000"/>
              </a:lnSpc>
            </a:pPr>
            <a:r>
              <a:rPr lang="en-US" sz="923" dirty="0">
                <a:solidFill>
                  <a:srgbClr val="F8FAFC">
                    <a:alpha val="70000"/>
                  </a:srgbClr>
                </a:solidFill>
                <a:latin typeface="MiSans" pitchFamily="34" charset="0"/>
                <a:ea typeface="MiSans" pitchFamily="34" charset="-122"/>
                <a:cs typeface="MiSans" pitchFamily="34" charset="-120"/>
              </a:rPr>
              <a:t>JSON, code, markdown, v.v.</a:t>
            </a:r>
            <a:endParaRPr lang="en-US" sz="1600" dirty="0"/>
          </a:p>
        </p:txBody>
      </p:sp>
      <p:sp>
        <p:nvSpPr>
          <p:cNvPr id="29" name="Shape 27"/>
          <p:cNvSpPr/>
          <p:nvPr/>
        </p:nvSpPr>
        <p:spPr>
          <a:xfrm>
            <a:off x="6183086" y="1524001"/>
            <a:ext cx="5667270" cy="3021204"/>
          </a:xfrm>
          <a:custGeom>
            <a:avLst/>
            <a:gdLst/>
            <a:ahLst/>
            <a:cxnLst/>
            <a:rect l="l" t="t" r="r" b="b"/>
            <a:pathLst>
              <a:path w="5667270" h="3021204">
                <a:moveTo>
                  <a:pt x="133990" y="0"/>
                </a:moveTo>
                <a:lnTo>
                  <a:pt x="5533280" y="0"/>
                </a:lnTo>
                <a:cubicBezTo>
                  <a:pt x="5607281" y="0"/>
                  <a:pt x="5667270" y="59990"/>
                  <a:pt x="5667270" y="133990"/>
                </a:cubicBezTo>
                <a:lnTo>
                  <a:pt x="5667270" y="2887214"/>
                </a:lnTo>
                <a:cubicBezTo>
                  <a:pt x="5667270" y="2961215"/>
                  <a:pt x="5607281" y="3021204"/>
                  <a:pt x="5533280" y="3021204"/>
                </a:cubicBezTo>
                <a:lnTo>
                  <a:pt x="133990" y="3021204"/>
                </a:lnTo>
                <a:cubicBezTo>
                  <a:pt x="59990" y="3021204"/>
                  <a:pt x="0" y="2961215"/>
                  <a:pt x="0" y="2887214"/>
                </a:cubicBezTo>
                <a:lnTo>
                  <a:pt x="0" y="133990"/>
                </a:lnTo>
                <a:cubicBezTo>
                  <a:pt x="0" y="60039"/>
                  <a:pt x="60039" y="0"/>
                  <a:pt x="133990" y="0"/>
                </a:cubicBezTo>
                <a:close/>
              </a:path>
            </a:pathLst>
          </a:custGeom>
          <a:gradFill rotWithShape="1" flip="none">
            <a:gsLst>
              <a:gs pos="0">
                <a:srgbClr val="1E293B"/>
              </a:gs>
              <a:gs pos="100000">
                <a:srgbClr val="1E293B">
                  <a:alpha val="50000"/>
                </a:srgbClr>
              </a:gs>
            </a:gsLst>
            <a:lin ang="2700000" scaled="1"/>
          </a:gradFill>
          <a:ln w="10160">
            <a:solidFill>
              <a:srgbClr val="8B5CF6">
                <a:alpha val="30196"/>
              </a:srgbClr>
            </a:solidFill>
            <a:prstDash val="solid"/>
          </a:ln>
        </p:spPr>
      </p:sp>
      <p:sp>
        <p:nvSpPr>
          <p:cNvPr id="30" name="Shape 28"/>
          <p:cNvSpPr/>
          <p:nvPr/>
        </p:nvSpPr>
        <p:spPr>
          <a:xfrm>
            <a:off x="6379028" y="1711568"/>
            <a:ext cx="200967" cy="200967"/>
          </a:xfrm>
          <a:custGeom>
            <a:avLst/>
            <a:gdLst/>
            <a:ahLst/>
            <a:cxnLst/>
            <a:rect l="l" t="t" r="r" b="b"/>
            <a:pathLst>
              <a:path w="200967" h="200967">
                <a:moveTo>
                  <a:pt x="91259" y="2041"/>
                </a:moveTo>
                <a:cubicBezTo>
                  <a:pt x="97108" y="-667"/>
                  <a:pt x="103859" y="-667"/>
                  <a:pt x="109708" y="2041"/>
                </a:cubicBezTo>
                <a:lnTo>
                  <a:pt x="195511" y="41685"/>
                </a:lnTo>
                <a:cubicBezTo>
                  <a:pt x="198847" y="43216"/>
                  <a:pt x="200967" y="46552"/>
                  <a:pt x="200967" y="50242"/>
                </a:cubicBezTo>
                <a:cubicBezTo>
                  <a:pt x="200967" y="53931"/>
                  <a:pt x="198847" y="57268"/>
                  <a:pt x="195511" y="58799"/>
                </a:cubicBezTo>
                <a:lnTo>
                  <a:pt x="109708" y="98442"/>
                </a:lnTo>
                <a:cubicBezTo>
                  <a:pt x="103859" y="101151"/>
                  <a:pt x="97108" y="101151"/>
                  <a:pt x="91259" y="98442"/>
                </a:cubicBezTo>
                <a:lnTo>
                  <a:pt x="5456" y="58799"/>
                </a:lnTo>
                <a:cubicBezTo>
                  <a:pt x="2120" y="57229"/>
                  <a:pt x="0" y="53892"/>
                  <a:pt x="0" y="50242"/>
                </a:cubicBezTo>
                <a:cubicBezTo>
                  <a:pt x="0" y="46591"/>
                  <a:pt x="2120" y="43216"/>
                  <a:pt x="5456" y="41685"/>
                </a:cubicBezTo>
                <a:lnTo>
                  <a:pt x="91259" y="2041"/>
                </a:lnTo>
                <a:close/>
                <a:moveTo>
                  <a:pt x="18880" y="85725"/>
                </a:moveTo>
                <a:lnTo>
                  <a:pt x="83370" y="115517"/>
                </a:lnTo>
                <a:cubicBezTo>
                  <a:pt x="94243" y="120541"/>
                  <a:pt x="106764" y="120541"/>
                  <a:pt x="117636" y="115517"/>
                </a:cubicBezTo>
                <a:lnTo>
                  <a:pt x="182126" y="85725"/>
                </a:lnTo>
                <a:lnTo>
                  <a:pt x="195511" y="91927"/>
                </a:lnTo>
                <a:cubicBezTo>
                  <a:pt x="198847" y="93458"/>
                  <a:pt x="200967" y="96794"/>
                  <a:pt x="200967" y="100484"/>
                </a:cubicBezTo>
                <a:cubicBezTo>
                  <a:pt x="200967" y="104173"/>
                  <a:pt x="198847" y="107510"/>
                  <a:pt x="195511" y="109040"/>
                </a:cubicBezTo>
                <a:lnTo>
                  <a:pt x="109708" y="148684"/>
                </a:lnTo>
                <a:cubicBezTo>
                  <a:pt x="103859" y="151393"/>
                  <a:pt x="97108" y="151393"/>
                  <a:pt x="91259" y="148684"/>
                </a:cubicBezTo>
                <a:lnTo>
                  <a:pt x="5456" y="109040"/>
                </a:lnTo>
                <a:cubicBezTo>
                  <a:pt x="2120" y="107470"/>
                  <a:pt x="0" y="104134"/>
                  <a:pt x="0" y="100484"/>
                </a:cubicBezTo>
                <a:cubicBezTo>
                  <a:pt x="0" y="96833"/>
                  <a:pt x="2120" y="93458"/>
                  <a:pt x="5456" y="91927"/>
                </a:cubicBezTo>
                <a:lnTo>
                  <a:pt x="18841" y="85725"/>
                </a:lnTo>
                <a:close/>
                <a:moveTo>
                  <a:pt x="5456" y="142168"/>
                </a:moveTo>
                <a:lnTo>
                  <a:pt x="18841" y="135967"/>
                </a:lnTo>
                <a:lnTo>
                  <a:pt x="83331" y="165759"/>
                </a:lnTo>
                <a:cubicBezTo>
                  <a:pt x="94203" y="170783"/>
                  <a:pt x="106724" y="170783"/>
                  <a:pt x="117597" y="165759"/>
                </a:cubicBezTo>
                <a:lnTo>
                  <a:pt x="182087" y="135967"/>
                </a:lnTo>
                <a:lnTo>
                  <a:pt x="195472" y="142168"/>
                </a:lnTo>
                <a:cubicBezTo>
                  <a:pt x="198808" y="143699"/>
                  <a:pt x="200928" y="147036"/>
                  <a:pt x="200928" y="150725"/>
                </a:cubicBezTo>
                <a:cubicBezTo>
                  <a:pt x="200928" y="154415"/>
                  <a:pt x="198808" y="157751"/>
                  <a:pt x="195472" y="159282"/>
                </a:cubicBezTo>
                <a:lnTo>
                  <a:pt x="109668" y="198926"/>
                </a:lnTo>
                <a:cubicBezTo>
                  <a:pt x="103820" y="201634"/>
                  <a:pt x="97069" y="201634"/>
                  <a:pt x="91220" y="198926"/>
                </a:cubicBezTo>
                <a:lnTo>
                  <a:pt x="5456" y="159282"/>
                </a:lnTo>
                <a:cubicBezTo>
                  <a:pt x="2120" y="157712"/>
                  <a:pt x="0" y="154376"/>
                  <a:pt x="0" y="150725"/>
                </a:cubicBezTo>
                <a:cubicBezTo>
                  <a:pt x="0" y="147075"/>
                  <a:pt x="2120" y="143699"/>
                  <a:pt x="5456" y="142168"/>
                </a:cubicBezTo>
                <a:close/>
              </a:path>
            </a:pathLst>
          </a:custGeom>
          <a:solidFill>
            <a:srgbClr val="8B5CF6"/>
          </a:solidFill>
          <a:ln/>
        </p:spPr>
      </p:sp>
      <p:sp>
        <p:nvSpPr>
          <p:cNvPr id="31" name="Text 29"/>
          <p:cNvSpPr/>
          <p:nvPr/>
        </p:nvSpPr>
        <p:spPr>
          <a:xfrm>
            <a:off x="6605116" y="1694821"/>
            <a:ext cx="5158154" cy="234462"/>
          </a:xfrm>
          <a:prstGeom prst="rect">
            <a:avLst/>
          </a:prstGeom>
          <a:noFill/>
          <a:ln/>
        </p:spPr>
        <p:txBody>
          <a:bodyPr wrap="square" lIns="0" tIns="0" rIns="0" bIns="0" rtlCol="0" anchor="ctr"/>
          <a:lstStyle/>
          <a:p>
            <a:pPr>
              <a:lnSpc>
                <a:spcPct val="120000"/>
              </a:lnSpc>
            </a:pPr>
            <a:r>
              <a:rPr lang="en-US" sz="1319" b="1" dirty="0">
                <a:solidFill>
                  <a:srgbClr val="8B5CF6"/>
                </a:solidFill>
                <a:latin typeface="Liter" pitchFamily="34" charset="0"/>
                <a:ea typeface="Liter" pitchFamily="34" charset="-122"/>
                <a:cs typeface="Liter" pitchFamily="34" charset="-120"/>
              </a:rPr>
              <a:t>Phân tích ba mức</a:t>
            </a:r>
            <a:endParaRPr lang="en-US" sz="1600" dirty="0"/>
          </a:p>
        </p:txBody>
      </p:sp>
      <p:sp>
        <p:nvSpPr>
          <p:cNvPr id="32" name="Shape 30"/>
          <p:cNvSpPr/>
          <p:nvPr/>
        </p:nvSpPr>
        <p:spPr>
          <a:xfrm>
            <a:off x="6370655" y="2063261"/>
            <a:ext cx="5308879" cy="703385"/>
          </a:xfrm>
          <a:custGeom>
            <a:avLst/>
            <a:gdLst/>
            <a:ahLst/>
            <a:cxnLst/>
            <a:rect l="l" t="t" r="r" b="b"/>
            <a:pathLst>
              <a:path w="5308879" h="703385">
                <a:moveTo>
                  <a:pt x="33495" y="0"/>
                </a:moveTo>
                <a:lnTo>
                  <a:pt x="5208394" y="0"/>
                </a:lnTo>
                <a:cubicBezTo>
                  <a:pt x="5263890" y="0"/>
                  <a:pt x="5308879" y="44989"/>
                  <a:pt x="5308879" y="100486"/>
                </a:cubicBezTo>
                <a:lnTo>
                  <a:pt x="5308879" y="602899"/>
                </a:lnTo>
                <a:cubicBezTo>
                  <a:pt x="5308879" y="658396"/>
                  <a:pt x="5263890" y="703385"/>
                  <a:pt x="5208394" y="703385"/>
                </a:cubicBezTo>
                <a:lnTo>
                  <a:pt x="33495" y="703385"/>
                </a:lnTo>
                <a:cubicBezTo>
                  <a:pt x="14996" y="703385"/>
                  <a:pt x="0" y="688389"/>
                  <a:pt x="0" y="669890"/>
                </a:cubicBezTo>
                <a:lnTo>
                  <a:pt x="0" y="33495"/>
                </a:lnTo>
                <a:cubicBezTo>
                  <a:pt x="0" y="15008"/>
                  <a:pt x="15008" y="0"/>
                  <a:pt x="33495" y="0"/>
                </a:cubicBezTo>
                <a:close/>
              </a:path>
            </a:pathLst>
          </a:custGeom>
          <a:solidFill>
            <a:srgbClr val="0F172A">
              <a:alpha val="50196"/>
            </a:srgbClr>
          </a:solidFill>
          <a:ln/>
        </p:spPr>
      </p:sp>
      <p:sp>
        <p:nvSpPr>
          <p:cNvPr id="33" name="Shape 31"/>
          <p:cNvSpPr/>
          <p:nvPr/>
        </p:nvSpPr>
        <p:spPr>
          <a:xfrm>
            <a:off x="6370655" y="2063261"/>
            <a:ext cx="33495" cy="703385"/>
          </a:xfrm>
          <a:custGeom>
            <a:avLst/>
            <a:gdLst/>
            <a:ahLst/>
            <a:cxnLst/>
            <a:rect l="l" t="t" r="r" b="b"/>
            <a:pathLst>
              <a:path w="33495" h="703385">
                <a:moveTo>
                  <a:pt x="33495" y="0"/>
                </a:moveTo>
                <a:lnTo>
                  <a:pt x="33495" y="0"/>
                </a:lnTo>
                <a:lnTo>
                  <a:pt x="33495" y="703385"/>
                </a:lnTo>
                <a:lnTo>
                  <a:pt x="33495" y="703385"/>
                </a:lnTo>
                <a:cubicBezTo>
                  <a:pt x="14996" y="703385"/>
                  <a:pt x="0" y="688389"/>
                  <a:pt x="0" y="669890"/>
                </a:cubicBezTo>
                <a:lnTo>
                  <a:pt x="0" y="33495"/>
                </a:lnTo>
                <a:cubicBezTo>
                  <a:pt x="0" y="15008"/>
                  <a:pt x="15008" y="0"/>
                  <a:pt x="33495" y="0"/>
                </a:cubicBezTo>
                <a:close/>
              </a:path>
            </a:pathLst>
          </a:custGeom>
          <a:solidFill>
            <a:srgbClr val="3B82F6"/>
          </a:solidFill>
          <a:ln/>
        </p:spPr>
      </p:sp>
      <p:sp>
        <p:nvSpPr>
          <p:cNvPr id="34" name="Text 32"/>
          <p:cNvSpPr/>
          <p:nvPr/>
        </p:nvSpPr>
        <p:spPr>
          <a:xfrm>
            <a:off x="6521380" y="2197239"/>
            <a:ext cx="5091165" cy="200967"/>
          </a:xfrm>
          <a:prstGeom prst="rect">
            <a:avLst/>
          </a:prstGeom>
          <a:noFill/>
          <a:ln/>
        </p:spPr>
        <p:txBody>
          <a:bodyPr wrap="square" lIns="0" tIns="0" rIns="0" bIns="0" rtlCol="0" anchor="ctr"/>
          <a:lstStyle/>
          <a:p>
            <a:pPr>
              <a:lnSpc>
                <a:spcPct val="130000"/>
              </a:lnSpc>
            </a:pPr>
            <a:r>
              <a:rPr lang="en-US" sz="1055" b="1" dirty="0">
                <a:solidFill>
                  <a:srgbClr val="3B82F6"/>
                </a:solidFill>
                <a:latin typeface="MiSans" pitchFamily="34" charset="0"/>
                <a:ea typeface="MiSans" pitchFamily="34" charset="-122"/>
                <a:cs typeface="MiSans" pitchFamily="34" charset="-120"/>
              </a:rPr>
              <a:t>Ý tưởng</a:t>
            </a:r>
            <a:endParaRPr lang="en-US" sz="1600" dirty="0"/>
          </a:p>
        </p:txBody>
      </p:sp>
      <p:sp>
        <p:nvSpPr>
          <p:cNvPr id="35" name="Text 33"/>
          <p:cNvSpPr/>
          <p:nvPr/>
        </p:nvSpPr>
        <p:spPr>
          <a:xfrm>
            <a:off x="6521380" y="2465195"/>
            <a:ext cx="5082791" cy="167473"/>
          </a:xfrm>
          <a:prstGeom prst="rect">
            <a:avLst/>
          </a:prstGeom>
          <a:noFill/>
          <a:ln/>
        </p:spPr>
        <p:txBody>
          <a:bodyPr wrap="square" lIns="0" tIns="0" rIns="0" bIns="0" rtlCol="0" anchor="ctr"/>
          <a:lstStyle/>
          <a:p>
            <a:pPr>
              <a:lnSpc>
                <a:spcPct val="120000"/>
              </a:lnSpc>
            </a:pPr>
            <a:r>
              <a:rPr lang="en-US" sz="923" dirty="0">
                <a:solidFill>
                  <a:srgbClr val="F8FAFC">
                    <a:alpha val="80000"/>
                  </a:srgbClr>
                </a:solidFill>
                <a:latin typeface="MiSans" pitchFamily="34" charset="0"/>
                <a:ea typeface="MiSans" pitchFamily="34" charset="-122"/>
                <a:cs typeface="MiSans" pitchFamily="34" charset="-120"/>
              </a:rPr>
              <a:t>Prompt là </a:t>
            </a:r>
            <a:pPr>
              <a:lnSpc>
                <a:spcPct val="120000"/>
              </a:lnSpc>
            </a:pPr>
            <a:r>
              <a:rPr lang="en-US" sz="923" b="1" dirty="0">
                <a:solidFill>
                  <a:srgbClr val="3B82F6"/>
                </a:solidFill>
                <a:highlight>
                  <a:srgbClr val="3B82F6">
                    <a:alpha val="20000"/>
                  </a:srgbClr>
                </a:highlight>
                <a:latin typeface="MiSans" pitchFamily="34" charset="0"/>
                <a:ea typeface="MiSans" pitchFamily="34" charset="-122"/>
                <a:cs typeface="MiSans" pitchFamily="34" charset="-120"/>
              </a:rPr>
              <a:t>cách diễn đạt bài toán </a:t>
            </a:r>
            <a:pPr>
              <a:lnSpc>
                <a:spcPct val="120000"/>
              </a:lnSpc>
            </a:pPr>
            <a:r>
              <a:rPr lang="en-US" sz="923" dirty="0">
                <a:solidFill>
                  <a:srgbClr val="F8FAFC">
                    <a:alpha val="80000"/>
                  </a:srgbClr>
                </a:solidFill>
                <a:latin typeface="MiSans" pitchFamily="34" charset="0"/>
                <a:ea typeface="MiSans" pitchFamily="34" charset="-122"/>
                <a:cs typeface="MiSans" pitchFamily="34" charset="-120"/>
              </a:rPr>
              <a:t>cho AI</a:t>
            </a:r>
            <a:endParaRPr lang="en-US" sz="1600" dirty="0"/>
          </a:p>
        </p:txBody>
      </p:sp>
      <p:sp>
        <p:nvSpPr>
          <p:cNvPr id="36" name="Shape 34"/>
          <p:cNvSpPr/>
          <p:nvPr/>
        </p:nvSpPr>
        <p:spPr>
          <a:xfrm>
            <a:off x="6370655" y="2867129"/>
            <a:ext cx="5308879" cy="703385"/>
          </a:xfrm>
          <a:custGeom>
            <a:avLst/>
            <a:gdLst/>
            <a:ahLst/>
            <a:cxnLst/>
            <a:rect l="l" t="t" r="r" b="b"/>
            <a:pathLst>
              <a:path w="5308879" h="703385">
                <a:moveTo>
                  <a:pt x="33495" y="0"/>
                </a:moveTo>
                <a:lnTo>
                  <a:pt x="5208394" y="0"/>
                </a:lnTo>
                <a:cubicBezTo>
                  <a:pt x="5263890" y="0"/>
                  <a:pt x="5308879" y="44989"/>
                  <a:pt x="5308879" y="100486"/>
                </a:cubicBezTo>
                <a:lnTo>
                  <a:pt x="5308879" y="602899"/>
                </a:lnTo>
                <a:cubicBezTo>
                  <a:pt x="5308879" y="658396"/>
                  <a:pt x="5263890" y="703385"/>
                  <a:pt x="5208394" y="703385"/>
                </a:cubicBezTo>
                <a:lnTo>
                  <a:pt x="33495" y="703385"/>
                </a:lnTo>
                <a:cubicBezTo>
                  <a:pt x="14996" y="703385"/>
                  <a:pt x="0" y="688389"/>
                  <a:pt x="0" y="669890"/>
                </a:cubicBezTo>
                <a:lnTo>
                  <a:pt x="0" y="33495"/>
                </a:lnTo>
                <a:cubicBezTo>
                  <a:pt x="0" y="15008"/>
                  <a:pt x="15008" y="0"/>
                  <a:pt x="33495" y="0"/>
                </a:cubicBezTo>
                <a:close/>
              </a:path>
            </a:pathLst>
          </a:custGeom>
          <a:solidFill>
            <a:srgbClr val="0F172A">
              <a:alpha val="50196"/>
            </a:srgbClr>
          </a:solidFill>
          <a:ln/>
        </p:spPr>
      </p:sp>
      <p:sp>
        <p:nvSpPr>
          <p:cNvPr id="37" name="Shape 35"/>
          <p:cNvSpPr/>
          <p:nvPr/>
        </p:nvSpPr>
        <p:spPr>
          <a:xfrm>
            <a:off x="6370655" y="2867129"/>
            <a:ext cx="33495" cy="703385"/>
          </a:xfrm>
          <a:custGeom>
            <a:avLst/>
            <a:gdLst/>
            <a:ahLst/>
            <a:cxnLst/>
            <a:rect l="l" t="t" r="r" b="b"/>
            <a:pathLst>
              <a:path w="33495" h="703385">
                <a:moveTo>
                  <a:pt x="33495" y="0"/>
                </a:moveTo>
                <a:lnTo>
                  <a:pt x="33495" y="0"/>
                </a:lnTo>
                <a:lnTo>
                  <a:pt x="33495" y="703385"/>
                </a:lnTo>
                <a:lnTo>
                  <a:pt x="33495" y="703385"/>
                </a:lnTo>
                <a:cubicBezTo>
                  <a:pt x="14996" y="703385"/>
                  <a:pt x="0" y="688389"/>
                  <a:pt x="0" y="669890"/>
                </a:cubicBezTo>
                <a:lnTo>
                  <a:pt x="0" y="33495"/>
                </a:lnTo>
                <a:cubicBezTo>
                  <a:pt x="0" y="15008"/>
                  <a:pt x="15008" y="0"/>
                  <a:pt x="33495" y="0"/>
                </a:cubicBezTo>
                <a:close/>
              </a:path>
            </a:pathLst>
          </a:custGeom>
          <a:solidFill>
            <a:srgbClr val="8B5CF6"/>
          </a:solidFill>
          <a:ln/>
        </p:spPr>
      </p:sp>
      <p:sp>
        <p:nvSpPr>
          <p:cNvPr id="38" name="Text 36"/>
          <p:cNvSpPr/>
          <p:nvPr/>
        </p:nvSpPr>
        <p:spPr>
          <a:xfrm>
            <a:off x="6521380" y="3001107"/>
            <a:ext cx="5091165" cy="200967"/>
          </a:xfrm>
          <a:prstGeom prst="rect">
            <a:avLst/>
          </a:prstGeom>
          <a:noFill/>
          <a:ln/>
        </p:spPr>
        <p:txBody>
          <a:bodyPr wrap="square" lIns="0" tIns="0" rIns="0" bIns="0" rtlCol="0" anchor="ctr"/>
          <a:lstStyle/>
          <a:p>
            <a:pPr>
              <a:lnSpc>
                <a:spcPct val="130000"/>
              </a:lnSpc>
            </a:pPr>
            <a:r>
              <a:rPr lang="en-US" sz="1055" b="1" dirty="0">
                <a:solidFill>
                  <a:srgbClr val="8B5CF6"/>
                </a:solidFill>
                <a:latin typeface="MiSans" pitchFamily="34" charset="0"/>
                <a:ea typeface="MiSans" pitchFamily="34" charset="-122"/>
                <a:cs typeface="MiSans" pitchFamily="34" charset="-120"/>
              </a:rPr>
              <a:t>Luận lý</a:t>
            </a:r>
            <a:endParaRPr lang="en-US" sz="1600" dirty="0"/>
          </a:p>
        </p:txBody>
      </p:sp>
      <p:sp>
        <p:nvSpPr>
          <p:cNvPr id="39" name="Text 37"/>
          <p:cNvSpPr/>
          <p:nvPr/>
        </p:nvSpPr>
        <p:spPr>
          <a:xfrm>
            <a:off x="6521380" y="3269063"/>
            <a:ext cx="5082791" cy="167473"/>
          </a:xfrm>
          <a:prstGeom prst="rect">
            <a:avLst/>
          </a:prstGeom>
          <a:noFill/>
          <a:ln/>
        </p:spPr>
        <p:txBody>
          <a:bodyPr wrap="square" lIns="0" tIns="0" rIns="0" bIns="0" rtlCol="0" anchor="ctr"/>
          <a:lstStyle/>
          <a:p>
            <a:pPr>
              <a:lnSpc>
                <a:spcPct val="120000"/>
              </a:lnSpc>
            </a:pPr>
            <a:r>
              <a:rPr lang="en-US" sz="923" dirty="0">
                <a:solidFill>
                  <a:srgbClr val="F8FAFC">
                    <a:alpha val="80000"/>
                  </a:srgbClr>
                </a:solidFill>
                <a:latin typeface="MiSans" pitchFamily="34" charset="0"/>
                <a:ea typeface="MiSans" pitchFamily="34" charset="-122"/>
                <a:cs typeface="MiSans" pitchFamily="34" charset="-120"/>
              </a:rPr>
              <a:t>Prompt tốt cần có </a:t>
            </a:r>
            <a:pPr>
              <a:lnSpc>
                <a:spcPct val="120000"/>
              </a:lnSpc>
            </a:pPr>
            <a:r>
              <a:rPr lang="en-US" sz="923" b="1" dirty="0">
                <a:solidFill>
                  <a:srgbClr val="8B5CF6"/>
                </a:solidFill>
                <a:highlight>
                  <a:srgbClr val="8B5CF6">
                    <a:alpha val="20000"/>
                  </a:srgbClr>
                </a:highlight>
                <a:latin typeface="MiSans" pitchFamily="34" charset="0"/>
                <a:ea typeface="MiSans" pitchFamily="34" charset="-122"/>
                <a:cs typeface="MiSans" pitchFamily="34" charset="-120"/>
              </a:rPr>
              <a:t>vai trò, mục tiêu, ràng buộc, tiêu chí đầu ra</a:t>
            </a:r>
            <a:endParaRPr lang="en-US" sz="1600" dirty="0"/>
          </a:p>
        </p:txBody>
      </p:sp>
      <p:sp>
        <p:nvSpPr>
          <p:cNvPr id="40" name="Shape 38"/>
          <p:cNvSpPr/>
          <p:nvPr/>
        </p:nvSpPr>
        <p:spPr>
          <a:xfrm>
            <a:off x="6370655" y="3670997"/>
            <a:ext cx="5308879" cy="703385"/>
          </a:xfrm>
          <a:custGeom>
            <a:avLst/>
            <a:gdLst/>
            <a:ahLst/>
            <a:cxnLst/>
            <a:rect l="l" t="t" r="r" b="b"/>
            <a:pathLst>
              <a:path w="5308879" h="703385">
                <a:moveTo>
                  <a:pt x="33495" y="0"/>
                </a:moveTo>
                <a:lnTo>
                  <a:pt x="5208394" y="0"/>
                </a:lnTo>
                <a:cubicBezTo>
                  <a:pt x="5263890" y="0"/>
                  <a:pt x="5308879" y="44989"/>
                  <a:pt x="5308879" y="100486"/>
                </a:cubicBezTo>
                <a:lnTo>
                  <a:pt x="5308879" y="602899"/>
                </a:lnTo>
                <a:cubicBezTo>
                  <a:pt x="5308879" y="658396"/>
                  <a:pt x="5263890" y="703385"/>
                  <a:pt x="5208394" y="703385"/>
                </a:cubicBezTo>
                <a:lnTo>
                  <a:pt x="33495" y="703385"/>
                </a:lnTo>
                <a:cubicBezTo>
                  <a:pt x="14996" y="703385"/>
                  <a:pt x="0" y="688389"/>
                  <a:pt x="0" y="669890"/>
                </a:cubicBezTo>
                <a:lnTo>
                  <a:pt x="0" y="33495"/>
                </a:lnTo>
                <a:cubicBezTo>
                  <a:pt x="0" y="15008"/>
                  <a:pt x="15008" y="0"/>
                  <a:pt x="33495" y="0"/>
                </a:cubicBezTo>
                <a:close/>
              </a:path>
            </a:pathLst>
          </a:custGeom>
          <a:solidFill>
            <a:srgbClr val="0F172A">
              <a:alpha val="50196"/>
            </a:srgbClr>
          </a:solidFill>
          <a:ln/>
        </p:spPr>
      </p:sp>
      <p:sp>
        <p:nvSpPr>
          <p:cNvPr id="41" name="Shape 39"/>
          <p:cNvSpPr/>
          <p:nvPr/>
        </p:nvSpPr>
        <p:spPr>
          <a:xfrm>
            <a:off x="6370655" y="3670997"/>
            <a:ext cx="33495" cy="703385"/>
          </a:xfrm>
          <a:custGeom>
            <a:avLst/>
            <a:gdLst/>
            <a:ahLst/>
            <a:cxnLst/>
            <a:rect l="l" t="t" r="r" b="b"/>
            <a:pathLst>
              <a:path w="33495" h="703385">
                <a:moveTo>
                  <a:pt x="33495" y="0"/>
                </a:moveTo>
                <a:lnTo>
                  <a:pt x="33495" y="0"/>
                </a:lnTo>
                <a:lnTo>
                  <a:pt x="33495" y="703385"/>
                </a:lnTo>
                <a:lnTo>
                  <a:pt x="33495" y="703385"/>
                </a:lnTo>
                <a:cubicBezTo>
                  <a:pt x="14996" y="703385"/>
                  <a:pt x="0" y="688389"/>
                  <a:pt x="0" y="669890"/>
                </a:cubicBezTo>
                <a:lnTo>
                  <a:pt x="0" y="33495"/>
                </a:lnTo>
                <a:cubicBezTo>
                  <a:pt x="0" y="15008"/>
                  <a:pt x="15008" y="0"/>
                  <a:pt x="33495" y="0"/>
                </a:cubicBezTo>
                <a:close/>
              </a:path>
            </a:pathLst>
          </a:custGeom>
          <a:solidFill>
            <a:srgbClr val="10B981"/>
          </a:solidFill>
          <a:ln/>
        </p:spPr>
      </p:sp>
      <p:sp>
        <p:nvSpPr>
          <p:cNvPr id="42" name="Text 40"/>
          <p:cNvSpPr/>
          <p:nvPr/>
        </p:nvSpPr>
        <p:spPr>
          <a:xfrm>
            <a:off x="6521380" y="3804975"/>
            <a:ext cx="5091165" cy="200967"/>
          </a:xfrm>
          <a:prstGeom prst="rect">
            <a:avLst/>
          </a:prstGeom>
          <a:noFill/>
          <a:ln/>
        </p:spPr>
        <p:txBody>
          <a:bodyPr wrap="square" lIns="0" tIns="0" rIns="0" bIns="0" rtlCol="0" anchor="ctr"/>
          <a:lstStyle/>
          <a:p>
            <a:pPr>
              <a:lnSpc>
                <a:spcPct val="130000"/>
              </a:lnSpc>
            </a:pPr>
            <a:r>
              <a:rPr lang="en-US" sz="1055" b="1" dirty="0">
                <a:solidFill>
                  <a:srgbClr val="10B981"/>
                </a:solidFill>
                <a:latin typeface="MiSans" pitchFamily="34" charset="0"/>
                <a:ea typeface="MiSans" pitchFamily="34" charset="-122"/>
                <a:cs typeface="MiSans" pitchFamily="34" charset="-120"/>
              </a:rPr>
              <a:t>Vật lý</a:t>
            </a:r>
            <a:endParaRPr lang="en-US" sz="1600" dirty="0"/>
          </a:p>
        </p:txBody>
      </p:sp>
      <p:sp>
        <p:nvSpPr>
          <p:cNvPr id="43" name="Text 41"/>
          <p:cNvSpPr/>
          <p:nvPr/>
        </p:nvSpPr>
        <p:spPr>
          <a:xfrm>
            <a:off x="6521380" y="4072931"/>
            <a:ext cx="5082791" cy="167473"/>
          </a:xfrm>
          <a:prstGeom prst="rect">
            <a:avLst/>
          </a:prstGeom>
          <a:noFill/>
          <a:ln/>
        </p:spPr>
        <p:txBody>
          <a:bodyPr wrap="square" lIns="0" tIns="0" rIns="0" bIns="0" rtlCol="0" anchor="ctr"/>
          <a:lstStyle/>
          <a:p>
            <a:pPr>
              <a:lnSpc>
                <a:spcPct val="120000"/>
              </a:lnSpc>
            </a:pPr>
            <a:r>
              <a:rPr lang="en-US" sz="923" dirty="0">
                <a:solidFill>
                  <a:srgbClr val="F8FAFC">
                    <a:alpha val="80000"/>
                  </a:srgbClr>
                </a:solidFill>
                <a:latin typeface="MiSans" pitchFamily="34" charset="0"/>
                <a:ea typeface="MiSans" pitchFamily="34" charset="-122"/>
                <a:cs typeface="MiSans" pitchFamily="34" charset="-120"/>
              </a:rPr>
              <a:t>Viết trong </a:t>
            </a:r>
            <a:pPr>
              <a:lnSpc>
                <a:spcPct val="120000"/>
              </a:lnSpc>
            </a:pPr>
            <a:r>
              <a:rPr lang="en-US" sz="923" b="1" dirty="0">
                <a:solidFill>
                  <a:srgbClr val="10B981"/>
                </a:solidFill>
                <a:highlight>
                  <a:srgbClr val="10B981">
                    <a:alpha val="20000"/>
                  </a:srgbClr>
                </a:highlight>
                <a:latin typeface="MiSans" pitchFamily="34" charset="0"/>
                <a:ea typeface="MiSans" pitchFamily="34" charset="-122"/>
                <a:cs typeface="MiSans" pitchFamily="34" charset="-120"/>
              </a:rPr>
              <a:t>chat, terminal, script </a:t>
            </a:r>
            <a:pPr>
              <a:lnSpc>
                <a:spcPct val="120000"/>
              </a:lnSpc>
            </a:pPr>
            <a:r>
              <a:rPr lang="en-US" sz="923" dirty="0">
                <a:solidFill>
                  <a:srgbClr val="F8FAFC">
                    <a:alpha val="80000"/>
                  </a:srgbClr>
                </a:solidFill>
                <a:latin typeface="MiSans" pitchFamily="34" charset="0"/>
                <a:ea typeface="MiSans" pitchFamily="34" charset="-122"/>
                <a:cs typeface="MiSans" pitchFamily="34" charset="-120"/>
              </a:rPr>
              <a:t>và lặp để cải tiến</a:t>
            </a:r>
            <a:endParaRPr lang="en-US" sz="1600" dirty="0"/>
          </a:p>
        </p:txBody>
      </p:sp>
      <p:sp>
        <p:nvSpPr>
          <p:cNvPr id="44" name="Shape 42"/>
          <p:cNvSpPr/>
          <p:nvPr/>
        </p:nvSpPr>
        <p:spPr>
          <a:xfrm>
            <a:off x="6183086" y="4685883"/>
            <a:ext cx="5667270" cy="2167095"/>
          </a:xfrm>
          <a:custGeom>
            <a:avLst/>
            <a:gdLst/>
            <a:ahLst/>
            <a:cxnLst/>
            <a:rect l="l" t="t" r="r" b="b"/>
            <a:pathLst>
              <a:path w="5667270" h="2167095">
                <a:moveTo>
                  <a:pt x="133970" y="0"/>
                </a:moveTo>
                <a:lnTo>
                  <a:pt x="5533301" y="0"/>
                </a:lnTo>
                <a:cubicBezTo>
                  <a:pt x="5607290" y="0"/>
                  <a:pt x="5667270" y="59980"/>
                  <a:pt x="5667270" y="133970"/>
                </a:cubicBezTo>
                <a:lnTo>
                  <a:pt x="5667270" y="2033125"/>
                </a:lnTo>
                <a:cubicBezTo>
                  <a:pt x="5667270" y="2107114"/>
                  <a:pt x="5607290" y="2167095"/>
                  <a:pt x="5533301" y="2167095"/>
                </a:cubicBezTo>
                <a:lnTo>
                  <a:pt x="133970" y="2167095"/>
                </a:lnTo>
                <a:cubicBezTo>
                  <a:pt x="59980" y="2167095"/>
                  <a:pt x="0" y="2107114"/>
                  <a:pt x="0" y="2033125"/>
                </a:cubicBezTo>
                <a:lnTo>
                  <a:pt x="0" y="133970"/>
                </a:lnTo>
                <a:cubicBezTo>
                  <a:pt x="0" y="60030"/>
                  <a:pt x="60030" y="0"/>
                  <a:pt x="133970" y="0"/>
                </a:cubicBezTo>
                <a:close/>
              </a:path>
            </a:pathLst>
          </a:custGeom>
          <a:gradFill rotWithShape="1" flip="none">
            <a:gsLst>
              <a:gs pos="0">
                <a:srgbClr val="1E293B"/>
              </a:gs>
              <a:gs pos="100000">
                <a:srgbClr val="1E293B">
                  <a:alpha val="50000"/>
                </a:srgbClr>
              </a:gs>
            </a:gsLst>
            <a:lin ang="2700000" scaled="1"/>
          </a:gradFill>
          <a:ln w="10160">
            <a:solidFill>
              <a:srgbClr val="10B981">
                <a:alpha val="30196"/>
              </a:srgbClr>
            </a:solidFill>
            <a:prstDash val="solid"/>
          </a:ln>
        </p:spPr>
      </p:sp>
      <p:sp>
        <p:nvSpPr>
          <p:cNvPr id="45" name="Shape 43"/>
          <p:cNvSpPr/>
          <p:nvPr/>
        </p:nvSpPr>
        <p:spPr>
          <a:xfrm>
            <a:off x="6356001" y="4898571"/>
            <a:ext cx="188407" cy="150725"/>
          </a:xfrm>
          <a:custGeom>
            <a:avLst/>
            <a:gdLst/>
            <a:ahLst/>
            <a:cxnLst/>
            <a:rect l="l" t="t" r="r" b="b"/>
            <a:pathLst>
              <a:path w="188407" h="150725">
                <a:moveTo>
                  <a:pt x="113044" y="9420"/>
                </a:moveTo>
                <a:lnTo>
                  <a:pt x="150725" y="9420"/>
                </a:lnTo>
                <a:cubicBezTo>
                  <a:pt x="155936" y="9420"/>
                  <a:pt x="160146" y="13630"/>
                  <a:pt x="160146" y="18841"/>
                </a:cubicBezTo>
                <a:cubicBezTo>
                  <a:pt x="160146" y="24051"/>
                  <a:pt x="155936" y="28261"/>
                  <a:pt x="150725" y="28261"/>
                </a:cubicBezTo>
                <a:lnTo>
                  <a:pt x="117283" y="28261"/>
                </a:lnTo>
                <a:cubicBezTo>
                  <a:pt x="115752" y="35856"/>
                  <a:pt x="110542" y="42127"/>
                  <a:pt x="103624" y="45129"/>
                </a:cubicBezTo>
                <a:lnTo>
                  <a:pt x="103624" y="131885"/>
                </a:lnTo>
                <a:lnTo>
                  <a:pt x="150725" y="131885"/>
                </a:lnTo>
                <a:cubicBezTo>
                  <a:pt x="155936" y="131885"/>
                  <a:pt x="160146" y="136094"/>
                  <a:pt x="160146" y="141305"/>
                </a:cubicBezTo>
                <a:cubicBezTo>
                  <a:pt x="160146" y="146516"/>
                  <a:pt x="155936" y="150725"/>
                  <a:pt x="150725" y="150725"/>
                </a:cubicBezTo>
                <a:lnTo>
                  <a:pt x="37681" y="150725"/>
                </a:lnTo>
                <a:cubicBezTo>
                  <a:pt x="32471" y="150725"/>
                  <a:pt x="28261" y="146516"/>
                  <a:pt x="28261" y="141305"/>
                </a:cubicBezTo>
                <a:cubicBezTo>
                  <a:pt x="28261" y="136094"/>
                  <a:pt x="32471" y="131885"/>
                  <a:pt x="37681" y="131885"/>
                </a:cubicBezTo>
                <a:lnTo>
                  <a:pt x="84783" y="131885"/>
                </a:lnTo>
                <a:lnTo>
                  <a:pt x="84783" y="45129"/>
                </a:lnTo>
                <a:cubicBezTo>
                  <a:pt x="77865" y="42097"/>
                  <a:pt x="72654" y="35827"/>
                  <a:pt x="71123" y="28261"/>
                </a:cubicBezTo>
                <a:lnTo>
                  <a:pt x="37681" y="28261"/>
                </a:lnTo>
                <a:cubicBezTo>
                  <a:pt x="32471" y="28261"/>
                  <a:pt x="28261" y="24051"/>
                  <a:pt x="28261" y="18841"/>
                </a:cubicBezTo>
                <a:cubicBezTo>
                  <a:pt x="28261" y="13630"/>
                  <a:pt x="32471" y="9420"/>
                  <a:pt x="37681" y="9420"/>
                </a:cubicBezTo>
                <a:lnTo>
                  <a:pt x="75363" y="9420"/>
                </a:lnTo>
                <a:cubicBezTo>
                  <a:pt x="79661" y="3709"/>
                  <a:pt x="86490" y="0"/>
                  <a:pt x="94203" y="0"/>
                </a:cubicBezTo>
                <a:cubicBezTo>
                  <a:pt x="101916" y="0"/>
                  <a:pt x="108746" y="3709"/>
                  <a:pt x="113044" y="9420"/>
                </a:cubicBezTo>
                <a:close/>
                <a:moveTo>
                  <a:pt x="129412" y="94203"/>
                </a:moveTo>
                <a:lnTo>
                  <a:pt x="172039" y="94203"/>
                </a:lnTo>
                <a:lnTo>
                  <a:pt x="150725" y="57641"/>
                </a:lnTo>
                <a:lnTo>
                  <a:pt x="129412" y="94203"/>
                </a:lnTo>
                <a:close/>
                <a:moveTo>
                  <a:pt x="150725" y="122464"/>
                </a:moveTo>
                <a:cubicBezTo>
                  <a:pt x="132208" y="122464"/>
                  <a:pt x="116812" y="112455"/>
                  <a:pt x="113633" y="99237"/>
                </a:cubicBezTo>
                <a:cubicBezTo>
                  <a:pt x="112867" y="95999"/>
                  <a:pt x="113927" y="92672"/>
                  <a:pt x="115605" y="89788"/>
                </a:cubicBezTo>
                <a:lnTo>
                  <a:pt x="143631" y="41744"/>
                </a:lnTo>
                <a:cubicBezTo>
                  <a:pt x="145103" y="39212"/>
                  <a:pt x="147811" y="37681"/>
                  <a:pt x="150725" y="37681"/>
                </a:cubicBezTo>
                <a:cubicBezTo>
                  <a:pt x="153640" y="37681"/>
                  <a:pt x="156348" y="39242"/>
                  <a:pt x="157820" y="41744"/>
                </a:cubicBezTo>
                <a:lnTo>
                  <a:pt x="185845" y="89788"/>
                </a:lnTo>
                <a:cubicBezTo>
                  <a:pt x="187523" y="92672"/>
                  <a:pt x="188583" y="95999"/>
                  <a:pt x="187818" y="99237"/>
                </a:cubicBezTo>
                <a:cubicBezTo>
                  <a:pt x="184638" y="112426"/>
                  <a:pt x="169242" y="122464"/>
                  <a:pt x="150725" y="122464"/>
                </a:cubicBezTo>
                <a:close/>
                <a:moveTo>
                  <a:pt x="37328" y="57641"/>
                </a:moveTo>
                <a:lnTo>
                  <a:pt x="16015" y="94203"/>
                </a:lnTo>
                <a:lnTo>
                  <a:pt x="58671" y="94203"/>
                </a:lnTo>
                <a:lnTo>
                  <a:pt x="37328" y="57641"/>
                </a:lnTo>
                <a:close/>
                <a:moveTo>
                  <a:pt x="265" y="99237"/>
                </a:moveTo>
                <a:cubicBezTo>
                  <a:pt x="-500" y="95999"/>
                  <a:pt x="559" y="92672"/>
                  <a:pt x="2237" y="89788"/>
                </a:cubicBezTo>
                <a:lnTo>
                  <a:pt x="30263" y="41744"/>
                </a:lnTo>
                <a:cubicBezTo>
                  <a:pt x="31735" y="39212"/>
                  <a:pt x="34443" y="37681"/>
                  <a:pt x="37357" y="37681"/>
                </a:cubicBezTo>
                <a:cubicBezTo>
                  <a:pt x="40272" y="37681"/>
                  <a:pt x="42980" y="39242"/>
                  <a:pt x="44452" y="41744"/>
                </a:cubicBezTo>
                <a:lnTo>
                  <a:pt x="72478" y="89788"/>
                </a:lnTo>
                <a:cubicBezTo>
                  <a:pt x="74156" y="92672"/>
                  <a:pt x="75215" y="95999"/>
                  <a:pt x="74450" y="99237"/>
                </a:cubicBezTo>
                <a:cubicBezTo>
                  <a:pt x="71271" y="112426"/>
                  <a:pt x="55874" y="122464"/>
                  <a:pt x="37357" y="122464"/>
                </a:cubicBezTo>
                <a:cubicBezTo>
                  <a:pt x="18841" y="122464"/>
                  <a:pt x="3444" y="112455"/>
                  <a:pt x="265" y="99237"/>
                </a:cubicBezTo>
                <a:close/>
              </a:path>
            </a:pathLst>
          </a:custGeom>
          <a:solidFill>
            <a:srgbClr val="10B981"/>
          </a:solidFill>
          <a:ln/>
        </p:spPr>
      </p:sp>
      <p:sp>
        <p:nvSpPr>
          <p:cNvPr id="46" name="Text 44"/>
          <p:cNvSpPr/>
          <p:nvPr/>
        </p:nvSpPr>
        <p:spPr>
          <a:xfrm>
            <a:off x="6546501" y="4856703"/>
            <a:ext cx="5208396" cy="234462"/>
          </a:xfrm>
          <a:prstGeom prst="rect">
            <a:avLst/>
          </a:prstGeom>
          <a:noFill/>
          <a:ln/>
        </p:spPr>
        <p:txBody>
          <a:bodyPr wrap="square" lIns="0" tIns="0" rIns="0" bIns="0" rtlCol="0" anchor="ctr"/>
          <a:lstStyle/>
          <a:p>
            <a:pPr>
              <a:lnSpc>
                <a:spcPct val="130000"/>
              </a:lnSpc>
            </a:pPr>
            <a:r>
              <a:rPr lang="en-US" sz="1187" b="1" dirty="0">
                <a:solidFill>
                  <a:srgbClr val="10B981"/>
                </a:solidFill>
                <a:latin typeface="Liter" pitchFamily="34" charset="0"/>
                <a:ea typeface="Liter" pitchFamily="34" charset="-122"/>
                <a:cs typeface="Liter" pitchFamily="34" charset="-120"/>
              </a:rPr>
              <a:t>So sánh theo công cụ</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353908" y="5191648"/>
          <a:ext cx="5325626" cy="1490505"/>
        </p:xfrm>
        <a:graphic>
          <a:graphicData uri="http://schemas.openxmlformats.org/drawingml/2006/table">
            <a:tbl>
              <a:tblPr/>
              <a:tblGrid>
                <a:gridCol w="1320956"/>
                <a:gridCol w="944734"/>
                <a:gridCol w="1580131"/>
                <a:gridCol w="1479805"/>
              </a:tblGrid>
              <a:tr h="372626">
                <a:tc>
                  <a:txBody>
                    <a:bodyPr/>
                    <a:lstStyle/>
                    <a:p>
                      <a:pPr algn="l"/>
                      <a:r>
                        <a:rPr lang="en-US" sz="900" b="1" u="none" dirty="0">
                          <a:solidFill>
                            <a:srgbClr val="F8FAFC"/>
                          </a:solidFill>
                          <a:latin typeface="微软雅黑" pitchFamily="34" charset="0"/>
                          <a:ea typeface="微软雅黑" pitchFamily="34" charset="-122"/>
                          <a:cs typeface="微软雅黑" pitchFamily="34" charset="-120"/>
                        </a:rPr>
                        <a:t>Tiêu chí</a:t>
                      </a:r>
                      <a:endParaRPr lang="en-US" sz="900" dirty="0">
                        <a:latin typeface="微软雅黑" charset="0"/>
                        <a:ea typeface="微软雅黑" charset="0"/>
                        <a:cs typeface="微软雅黑" charset="0"/>
                      </a:endParaRPr>
                    </a:p>
                  </a:txBody>
                  <a:tcPr marL="100484" marR="100484" marT="100484" marB="100484"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0F172A"/>
                    </a:solidFill>
                  </a:tcPr>
                </a:tc>
                <a:tc>
                  <a:txBody>
                    <a:bodyPr/>
                    <a:lstStyle/>
                    <a:p>
                      <a:pPr algn="l"/>
                      <a:r>
                        <a:rPr lang="en-US" sz="900" b="1" u="none" dirty="0">
                          <a:solidFill>
                            <a:srgbClr val="3B82F6"/>
                          </a:solidFill>
                          <a:latin typeface="微软雅黑" pitchFamily="34" charset="0"/>
                          <a:ea typeface="微软雅黑" pitchFamily="34" charset="-122"/>
                          <a:cs typeface="微软雅黑" pitchFamily="34" charset="-120"/>
                        </a:rPr>
                        <a:t>ChatGPT</a:t>
                      </a:r>
                      <a:endParaRPr lang="en-US" sz="900" dirty="0">
                        <a:latin typeface="微软雅黑" charset="0"/>
                        <a:ea typeface="微软雅黑" charset="0"/>
                        <a:cs typeface="微软雅黑" charset="0"/>
                      </a:endParaRPr>
                    </a:p>
                  </a:txBody>
                  <a:tcPr marL="100484" marR="100484" marT="100484" marB="100484"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0F172A"/>
                    </a:solidFill>
                  </a:tcPr>
                </a:tc>
                <a:tc>
                  <a:txBody>
                    <a:bodyPr/>
                    <a:lstStyle/>
                    <a:p>
                      <a:pPr algn="l"/>
                      <a:r>
                        <a:rPr lang="en-US" sz="900" b="1" u="none" dirty="0">
                          <a:solidFill>
                            <a:srgbClr val="8B5CF6"/>
                          </a:solidFill>
                          <a:latin typeface="微软雅黑" pitchFamily="34" charset="0"/>
                          <a:ea typeface="微软雅黑" pitchFamily="34" charset="-122"/>
                          <a:cs typeface="微软雅黑" pitchFamily="34" charset="-120"/>
                        </a:rPr>
                        <a:t>API</a:t>
                      </a:r>
                      <a:endParaRPr lang="en-US" sz="900" dirty="0">
                        <a:latin typeface="微软雅黑" charset="0"/>
                        <a:ea typeface="微软雅黑" charset="0"/>
                        <a:cs typeface="微软雅黑" charset="0"/>
                      </a:endParaRPr>
                    </a:p>
                  </a:txBody>
                  <a:tcPr marL="100484" marR="100484" marT="100484" marB="100484"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0F172A"/>
                    </a:solidFill>
                  </a:tcPr>
                </a:tc>
                <a:tc>
                  <a:txBody>
                    <a:bodyPr/>
                    <a:lstStyle/>
                    <a:p>
                      <a:pPr algn="l"/>
                      <a:r>
                        <a:rPr lang="en-US" sz="900" b="1" u="none" dirty="0">
                          <a:solidFill>
                            <a:srgbClr val="10B981"/>
                          </a:solidFill>
                          <a:latin typeface="微软雅黑" pitchFamily="34" charset="0"/>
                          <a:ea typeface="微软雅黑" pitchFamily="34" charset="-122"/>
                          <a:cs typeface="微软雅黑" pitchFamily="34" charset="-120"/>
                        </a:rPr>
                        <a:t>Copilot</a:t>
                      </a:r>
                      <a:endParaRPr lang="en-US" sz="900" dirty="0">
                        <a:latin typeface="微软雅黑" charset="0"/>
                        <a:ea typeface="微软雅黑" charset="0"/>
                        <a:cs typeface="微软雅黑" charset="0"/>
                      </a:endParaRPr>
                    </a:p>
                  </a:txBody>
                  <a:tcPr marL="100484" marR="100484" marT="100484" marB="100484"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0F172A"/>
                    </a:solidFill>
                  </a:tcPr>
                </a:tc>
              </a:tr>
              <a:tr h="372626">
                <a:tc>
                  <a:txBody>
                    <a:bodyPr/>
                    <a:lstStyle/>
                    <a:p>
                      <a:r>
                        <a:rPr lang="en-US" sz="900" u="none" dirty="0">
                          <a:solidFill>
                            <a:srgbClr val="F8FAFC"/>
                          </a:solidFill>
                          <a:latin typeface="微软雅黑" pitchFamily="34" charset="0"/>
                          <a:ea typeface="微软雅黑" pitchFamily="34" charset="-122"/>
                          <a:cs typeface="微软雅黑" pitchFamily="34" charset="-120"/>
                        </a:rPr>
                        <a:t>Kiểu tương tác</a:t>
                      </a:r>
                      <a:endParaRPr lang="en-US" sz="900" dirty="0">
                        <a:latin typeface="微软雅黑" charset="0"/>
                        <a:ea typeface="微软雅黑" charset="0"/>
                        <a:cs typeface="微软雅黑" charset="0"/>
                      </a:endParaRPr>
                    </a:p>
                  </a:txBody>
                  <a:tcPr marL="100484" marR="100484" marT="100484" marB="100484"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900" u="none" dirty="0">
                          <a:solidFill>
                            <a:srgbClr val="F8FAFC"/>
                          </a:solidFill>
                          <a:latin typeface="微软雅黑" pitchFamily="34" charset="0"/>
                          <a:ea typeface="微软雅黑" pitchFamily="34" charset="-122"/>
                          <a:cs typeface="微软雅黑" pitchFamily="34" charset="-120"/>
                        </a:rPr>
                        <a:t>Đối thoại</a:t>
                      </a:r>
                      <a:endParaRPr lang="en-US" sz="900" dirty="0">
                        <a:latin typeface="微软雅黑" charset="0"/>
                        <a:ea typeface="微软雅黑" charset="0"/>
                        <a:cs typeface="微软雅黑" charset="0"/>
                      </a:endParaRPr>
                    </a:p>
                  </a:txBody>
                  <a:tcPr marL="100484" marR="100484" marT="100484" marB="100484"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900" u="none" dirty="0">
                          <a:solidFill>
                            <a:srgbClr val="F8FAFC"/>
                          </a:solidFill>
                          <a:latin typeface="微软雅黑" pitchFamily="34" charset="0"/>
                          <a:ea typeface="微软雅黑" pitchFamily="34" charset="-122"/>
                          <a:cs typeface="微软雅黑" pitchFamily="34" charset="-120"/>
                        </a:rPr>
                        <a:t>Lập trình được</a:t>
                      </a:r>
                      <a:endParaRPr lang="en-US" sz="900" dirty="0">
                        <a:latin typeface="微软雅黑" charset="0"/>
                        <a:ea typeface="微软雅黑" charset="0"/>
                        <a:cs typeface="微软雅黑" charset="0"/>
                      </a:endParaRPr>
                    </a:p>
                  </a:txBody>
                  <a:tcPr marL="100484" marR="100484" marT="100484" marB="100484"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900" u="none" dirty="0">
                          <a:solidFill>
                            <a:srgbClr val="F8FAFC"/>
                          </a:solidFill>
                          <a:latin typeface="微软雅黑" pitchFamily="34" charset="0"/>
                          <a:ea typeface="微软雅黑" pitchFamily="34" charset="-122"/>
                          <a:cs typeface="微软雅黑" pitchFamily="34" charset="-120"/>
                        </a:rPr>
                        <a:t>Gợi ý trong IDE</a:t>
                      </a:r>
                      <a:endParaRPr lang="en-US" sz="900" dirty="0">
                        <a:latin typeface="微软雅黑" charset="0"/>
                        <a:ea typeface="微软雅黑" charset="0"/>
                        <a:cs typeface="微软雅黑" charset="0"/>
                      </a:endParaRPr>
                    </a:p>
                  </a:txBody>
                  <a:tcPr marL="100484" marR="100484" marT="100484" marB="100484"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r>
              <a:tr h="372626">
                <a:tc>
                  <a:txBody>
                    <a:bodyPr/>
                    <a:lstStyle/>
                    <a:p>
                      <a:r>
                        <a:rPr lang="en-US" sz="900" u="none" dirty="0">
                          <a:solidFill>
                            <a:srgbClr val="F8FAFC"/>
                          </a:solidFill>
                          <a:latin typeface="微软雅黑" pitchFamily="34" charset="0"/>
                          <a:ea typeface="微软雅黑" pitchFamily="34" charset="-122"/>
                          <a:cs typeface="微软雅黑" pitchFamily="34" charset="-120"/>
                        </a:rPr>
                        <a:t>Đơn vị prompt</a:t>
                      </a:r>
                      <a:endParaRPr lang="en-US" sz="900" dirty="0">
                        <a:latin typeface="微软雅黑" charset="0"/>
                        <a:ea typeface="微软雅黑" charset="0"/>
                        <a:cs typeface="微软雅黑" charset="0"/>
                      </a:endParaRPr>
                    </a:p>
                  </a:txBody>
                  <a:tcPr marL="100484" marR="100484" marT="100484" marB="100484"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900" u="none" dirty="0">
                          <a:solidFill>
                            <a:srgbClr val="F8FAFC"/>
                          </a:solidFill>
                          <a:latin typeface="微软雅黑" pitchFamily="34" charset="0"/>
                          <a:ea typeface="微软雅黑" pitchFamily="34" charset="-122"/>
                          <a:cs typeface="微软雅黑" pitchFamily="34" charset="-120"/>
                        </a:rPr>
                        <a:t>Câu hỏi</a:t>
                      </a:r>
                      <a:endParaRPr lang="en-US" sz="900" dirty="0">
                        <a:latin typeface="微软雅黑" charset="0"/>
                        <a:ea typeface="微软雅黑" charset="0"/>
                        <a:cs typeface="微软雅黑" charset="0"/>
                      </a:endParaRPr>
                    </a:p>
                  </a:txBody>
                  <a:tcPr marL="100484" marR="100484" marT="100484" marB="100484"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900" u="none" dirty="0">
                          <a:solidFill>
                            <a:srgbClr val="F8FAFC"/>
                          </a:solidFill>
                          <a:latin typeface="微软雅黑" pitchFamily="34" charset="0"/>
                          <a:ea typeface="微软雅黑" pitchFamily="34" charset="-122"/>
                          <a:cs typeface="微软雅黑" pitchFamily="34" charset="-120"/>
                        </a:rPr>
                        <a:t>Request</a:t>
                      </a:r>
                      <a:endParaRPr lang="en-US" sz="900" dirty="0">
                        <a:latin typeface="微软雅黑" charset="0"/>
                        <a:ea typeface="微软雅黑" charset="0"/>
                        <a:cs typeface="微软雅黑" charset="0"/>
                      </a:endParaRPr>
                    </a:p>
                  </a:txBody>
                  <a:tcPr marL="100484" marR="100484" marT="100484" marB="100484"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900" u="none" dirty="0">
                          <a:solidFill>
                            <a:srgbClr val="F8FAFC"/>
                          </a:solidFill>
                          <a:latin typeface="微软雅黑" pitchFamily="34" charset="0"/>
                          <a:ea typeface="微软雅黑" pitchFamily="34" charset="-122"/>
                          <a:cs typeface="微软雅黑" pitchFamily="34" charset="-120"/>
                        </a:rPr>
                        <a:t>Context code</a:t>
                      </a:r>
                      <a:endParaRPr lang="en-US" sz="900" dirty="0">
                        <a:latin typeface="微软雅黑" charset="0"/>
                        <a:ea typeface="微软雅黑" charset="0"/>
                        <a:cs typeface="微软雅黑" charset="0"/>
                      </a:endParaRPr>
                    </a:p>
                  </a:txBody>
                  <a:tcPr marL="100484" marR="100484" marT="100484" marB="100484"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r>
              <a:tr h="372626">
                <a:tc>
                  <a:txBody>
                    <a:bodyPr/>
                    <a:lstStyle/>
                    <a:p>
                      <a:r>
                        <a:rPr lang="en-US" sz="900" u="none" dirty="0">
                          <a:solidFill>
                            <a:srgbClr val="F8FAFC"/>
                          </a:solidFill>
                          <a:latin typeface="微软雅黑" pitchFamily="34" charset="0"/>
                          <a:ea typeface="微软雅黑" pitchFamily="34" charset="-122"/>
                          <a:cs typeface="微软雅黑" pitchFamily="34" charset="-120"/>
                        </a:rPr>
                        <a:t>Mục tiêu</a:t>
                      </a:r>
                      <a:endParaRPr lang="en-US" sz="900" dirty="0">
                        <a:latin typeface="微软雅黑" charset="0"/>
                        <a:ea typeface="微软雅黑" charset="0"/>
                        <a:cs typeface="微软雅黑" charset="0"/>
                      </a:endParaRPr>
                    </a:p>
                  </a:txBody>
                  <a:tcPr marL="100484" marR="100484" marT="100484" marB="100484"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r>
                        <a:rPr lang="en-US" sz="900" u="none" dirty="0">
                          <a:solidFill>
                            <a:srgbClr val="F8FAFC"/>
                          </a:solidFill>
                          <a:latin typeface="微软雅黑" pitchFamily="34" charset="0"/>
                          <a:ea typeface="微软雅黑" pitchFamily="34" charset="-122"/>
                          <a:cs typeface="微软雅黑" pitchFamily="34" charset="-120"/>
                        </a:rPr>
                        <a:t>Giải thích</a:t>
                      </a:r>
                      <a:endParaRPr lang="en-US" sz="900" dirty="0">
                        <a:latin typeface="微软雅黑" charset="0"/>
                        <a:ea typeface="微软雅黑" charset="0"/>
                        <a:cs typeface="微软雅黑" charset="0"/>
                      </a:endParaRPr>
                    </a:p>
                  </a:txBody>
                  <a:tcPr marL="100484" marR="100484" marT="100484" marB="100484"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r>
                        <a:rPr lang="en-US" sz="900" u="none" dirty="0">
                          <a:solidFill>
                            <a:srgbClr val="F8FAFC"/>
                          </a:solidFill>
                          <a:latin typeface="微软雅黑" pitchFamily="34" charset="0"/>
                          <a:ea typeface="微软雅黑" pitchFamily="34" charset="-122"/>
                          <a:cs typeface="微软雅黑" pitchFamily="34" charset="-120"/>
                        </a:rPr>
                        <a:t>Tích hợp hệ thống</a:t>
                      </a:r>
                      <a:endParaRPr lang="en-US" sz="900" dirty="0">
                        <a:latin typeface="微软雅黑" charset="0"/>
                        <a:ea typeface="微软雅黑" charset="0"/>
                        <a:cs typeface="微软雅黑" charset="0"/>
                      </a:endParaRPr>
                    </a:p>
                  </a:txBody>
                  <a:tcPr marL="100484" marR="100484" marT="100484" marB="100484"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r>
                        <a:rPr lang="en-US" sz="900" u="none" dirty="0">
                          <a:solidFill>
                            <a:srgbClr val="F8FAFC"/>
                          </a:solidFill>
                          <a:latin typeface="微软雅黑" pitchFamily="34" charset="0"/>
                          <a:ea typeface="微软雅黑" pitchFamily="34" charset="-122"/>
                          <a:cs typeface="微软雅黑" pitchFamily="34" charset="-120"/>
                        </a:rPr>
                        <a:t>Tăng tốc viết mã</a:t>
                      </a:r>
                      <a:endParaRPr lang="en-US" sz="900" dirty="0">
                        <a:latin typeface="微软雅黑" charset="0"/>
                        <a:ea typeface="微软雅黑" charset="0"/>
                        <a:cs typeface="微软雅黑" charset="0"/>
                      </a:endParaRPr>
                    </a:p>
                  </a:txBody>
                  <a:tcPr marL="100484" marR="100484" marT="100484" marB="100484" anchor="ctr">
                    <a:lnL w="0" cap="flat" cmpd="sng" algn="ctr">
                      <a:noFill/>
                    </a:lnL>
                    <a:lnR w="0" cap="flat" cmpd="sng" algn="ctr">
                      <a:noFill/>
                    </a:lnR>
                    <a:lnT w="0" cap="flat" cmpd="sng" algn="ctr">
                      <a:noFill/>
                    </a:lnT>
                    <a:lnB w="0" cap="flat" cmpd="sng" algn="ctr">
                      <a:noFill/>
                    </a:lnB>
                    <a:solidFill>
                      <a:srgbClr val="FFFFFF">
                        <a:alpha val="0"/>
                      </a:srgbClr>
                    </a:solidFill>
                  </a:tcPr>
                </a:tc>
              </a:tr>
            </a:tbl>
          </a:graphicData>
        </a:graphic>
      </p:graphicFrame>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84810" y="384810"/>
            <a:ext cx="1779270" cy="312420"/>
          </a:xfrm>
          <a:custGeom>
            <a:avLst/>
            <a:gdLst/>
            <a:ahLst/>
            <a:cxnLst/>
            <a:rect l="l" t="t" r="r" b="b"/>
            <a:pathLst>
              <a:path w="1779270" h="312420">
                <a:moveTo>
                  <a:pt x="156210" y="0"/>
                </a:moveTo>
                <a:lnTo>
                  <a:pt x="1623060" y="0"/>
                </a:lnTo>
                <a:cubicBezTo>
                  <a:pt x="1709275" y="0"/>
                  <a:pt x="1779270" y="69995"/>
                  <a:pt x="1779270" y="156210"/>
                </a:cubicBezTo>
                <a:lnTo>
                  <a:pt x="1779270" y="156210"/>
                </a:lnTo>
                <a:cubicBezTo>
                  <a:pt x="1779270" y="242425"/>
                  <a:pt x="1709275" y="312420"/>
                  <a:pt x="1623060" y="312420"/>
                </a:cubicBezTo>
                <a:lnTo>
                  <a:pt x="156210" y="312420"/>
                </a:lnTo>
                <a:cubicBezTo>
                  <a:pt x="69938" y="312420"/>
                  <a:pt x="0" y="242482"/>
                  <a:pt x="0" y="156210"/>
                </a:cubicBezTo>
                <a:lnTo>
                  <a:pt x="0" y="156210"/>
                </a:lnTo>
                <a:cubicBezTo>
                  <a:pt x="0" y="69938"/>
                  <a:pt x="69938" y="0"/>
                  <a:pt x="156210" y="0"/>
                </a:cubicBezTo>
                <a:close/>
              </a:path>
            </a:pathLst>
          </a:custGeom>
          <a:solidFill>
            <a:srgbClr val="8B5CF6">
              <a:alpha val="20000"/>
            </a:srgbClr>
          </a:solidFill>
          <a:ln w="10160">
            <a:solidFill>
              <a:srgbClr val="8B5CF6">
                <a:alpha val="40000"/>
              </a:srgbClr>
            </a:solidFill>
            <a:prstDash val="solid"/>
          </a:ln>
        </p:spPr>
      </p:sp>
      <p:sp>
        <p:nvSpPr>
          <p:cNvPr id="3" name="Text 1"/>
          <p:cNvSpPr/>
          <p:nvPr/>
        </p:nvSpPr>
        <p:spPr>
          <a:xfrm>
            <a:off x="541020" y="434341"/>
            <a:ext cx="1539716" cy="205740"/>
          </a:xfrm>
          <a:prstGeom prst="rect">
            <a:avLst/>
          </a:prstGeom>
          <a:noFill/>
          <a:ln/>
        </p:spPr>
        <p:txBody>
          <a:bodyPr wrap="square" lIns="0" tIns="0" rIns="0" bIns="0" rtlCol="0" anchor="ctr"/>
          <a:lstStyle/>
          <a:p>
            <a:pPr>
              <a:lnSpc>
                <a:spcPct val="130000"/>
              </a:lnSpc>
            </a:pPr>
            <a:r>
              <a:rPr lang="en-US" sz="1200" b="1" spc="60" kern="0" dirty="0">
                <a:solidFill>
                  <a:srgbClr val="8B5CF6"/>
                </a:solidFill>
                <a:latin typeface="MiSans" pitchFamily="34" charset="0"/>
                <a:ea typeface="MiSans" pitchFamily="34" charset="-122"/>
                <a:cs typeface="MiSans" pitchFamily="34" charset="-120"/>
              </a:rPr>
              <a:t>LAB THỰC HÀNH 2</a:t>
            </a:r>
            <a:endParaRPr lang="en-US" sz="1600" dirty="0"/>
          </a:p>
        </p:txBody>
      </p:sp>
      <p:sp>
        <p:nvSpPr>
          <p:cNvPr id="4" name="Text 2"/>
          <p:cNvSpPr/>
          <p:nvPr/>
        </p:nvSpPr>
        <p:spPr>
          <a:xfrm>
            <a:off x="381000" y="815341"/>
            <a:ext cx="11601450" cy="381000"/>
          </a:xfrm>
          <a:prstGeom prst="rect">
            <a:avLst/>
          </a:prstGeom>
          <a:noFill/>
          <a:ln/>
        </p:spPr>
        <p:txBody>
          <a:bodyPr wrap="square" lIns="0" tIns="0" rIns="0" bIns="0" rtlCol="0" anchor="ctr"/>
          <a:lstStyle/>
          <a:p>
            <a:pPr>
              <a:lnSpc>
                <a:spcPct val="90000"/>
              </a:lnSpc>
            </a:pPr>
            <a:r>
              <a:rPr lang="en-US" sz="2700" b="1" dirty="0">
                <a:solidFill>
                  <a:srgbClr val="F8FAFC"/>
                </a:solidFill>
                <a:latin typeface="Liter" pitchFamily="34" charset="0"/>
                <a:ea typeface="Liter" pitchFamily="34" charset="-122"/>
                <a:cs typeface="Liter" pitchFamily="34" charset="-120"/>
              </a:rPr>
              <a:t>Cơ bản về GenAI</a:t>
            </a:r>
            <a:endParaRPr lang="en-US" sz="1600" dirty="0"/>
          </a:p>
        </p:txBody>
      </p:sp>
      <p:sp>
        <p:nvSpPr>
          <p:cNvPr id="5" name="Text 3"/>
          <p:cNvSpPr/>
          <p:nvPr/>
        </p:nvSpPr>
        <p:spPr>
          <a:xfrm>
            <a:off x="381000" y="1272541"/>
            <a:ext cx="11525250" cy="266700"/>
          </a:xfrm>
          <a:prstGeom prst="rect">
            <a:avLst/>
          </a:prstGeom>
          <a:noFill/>
          <a:ln/>
        </p:spPr>
        <p:txBody>
          <a:bodyPr wrap="square" lIns="0" tIns="0" rIns="0" bIns="0" rtlCol="0" anchor="ctr"/>
          <a:lstStyle/>
          <a:p>
            <a:pPr>
              <a:lnSpc>
                <a:spcPct val="120000"/>
              </a:lnSpc>
            </a:pPr>
            <a:r>
              <a:rPr lang="en-US" sz="1500" dirty="0">
                <a:solidFill>
                  <a:srgbClr val="F8FAFC">
                    <a:alpha val="70000"/>
                  </a:srgbClr>
                </a:solidFill>
                <a:latin typeface="MiSans" pitchFamily="34" charset="0"/>
                <a:ea typeface="MiSans" pitchFamily="34" charset="-122"/>
                <a:cs typeface="MiSans" pitchFamily="34" charset="-120"/>
              </a:rPr>
              <a:t>Làm quen với API OpenAI và prompt cơ bản</a:t>
            </a:r>
            <a:endParaRPr lang="en-US" sz="1600" dirty="0"/>
          </a:p>
        </p:txBody>
      </p:sp>
      <p:sp>
        <p:nvSpPr>
          <p:cNvPr id="6" name="Shape 4"/>
          <p:cNvSpPr/>
          <p:nvPr/>
        </p:nvSpPr>
        <p:spPr>
          <a:xfrm>
            <a:off x="384810" y="1733551"/>
            <a:ext cx="3703320" cy="3369945"/>
          </a:xfrm>
          <a:custGeom>
            <a:avLst/>
            <a:gdLst/>
            <a:ahLst/>
            <a:cxnLst/>
            <a:rect l="l" t="t" r="r" b="b"/>
            <a:pathLst>
              <a:path w="3703320" h="3369945">
                <a:moveTo>
                  <a:pt x="152389" y="0"/>
                </a:moveTo>
                <a:lnTo>
                  <a:pt x="3550931" y="0"/>
                </a:lnTo>
                <a:cubicBezTo>
                  <a:pt x="3635093" y="0"/>
                  <a:pt x="3703320" y="68227"/>
                  <a:pt x="3703320" y="152389"/>
                </a:cubicBezTo>
                <a:lnTo>
                  <a:pt x="3703320" y="3217556"/>
                </a:lnTo>
                <a:cubicBezTo>
                  <a:pt x="3703320" y="3301718"/>
                  <a:pt x="3635093" y="3369945"/>
                  <a:pt x="3550931" y="3369945"/>
                </a:cubicBezTo>
                <a:lnTo>
                  <a:pt x="152389" y="3369945"/>
                </a:lnTo>
                <a:cubicBezTo>
                  <a:pt x="68227" y="3369945"/>
                  <a:pt x="0" y="3301718"/>
                  <a:pt x="0" y="3217556"/>
                </a:cubicBezTo>
                <a:lnTo>
                  <a:pt x="0" y="152389"/>
                </a:lnTo>
                <a:cubicBezTo>
                  <a:pt x="0" y="68283"/>
                  <a:pt x="68283" y="0"/>
                  <a:pt x="152389" y="0"/>
                </a:cubicBezTo>
                <a:close/>
              </a:path>
            </a:pathLst>
          </a:custGeom>
          <a:gradFill rotWithShape="1" flip="none">
            <a:gsLst>
              <a:gs pos="0">
                <a:srgbClr val="1E293B"/>
              </a:gs>
              <a:gs pos="100000">
                <a:srgbClr val="1E293B">
                  <a:alpha val="50000"/>
                </a:srgbClr>
              </a:gs>
            </a:gsLst>
            <a:lin ang="2700000" scaled="1"/>
          </a:gradFill>
          <a:ln w="10160">
            <a:solidFill>
              <a:srgbClr val="3B82F6">
                <a:alpha val="30196"/>
              </a:srgbClr>
            </a:solidFill>
            <a:prstDash val="solid"/>
          </a:ln>
        </p:spPr>
      </p:sp>
      <p:sp>
        <p:nvSpPr>
          <p:cNvPr id="7" name="Shape 5"/>
          <p:cNvSpPr/>
          <p:nvPr/>
        </p:nvSpPr>
        <p:spPr>
          <a:xfrm>
            <a:off x="579120" y="1927859"/>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gradFill rotWithShape="1" flip="none">
            <a:gsLst>
              <a:gs pos="0">
                <a:srgbClr val="3B82F6"/>
              </a:gs>
              <a:gs pos="100000">
                <a:srgbClr val="3B82F6">
                  <a:alpha val="60000"/>
                </a:srgbClr>
              </a:gs>
            </a:gsLst>
            <a:lin ang="2700000" scaled="1"/>
          </a:gradFill>
          <a:ln/>
        </p:spPr>
      </p:sp>
      <p:sp>
        <p:nvSpPr>
          <p:cNvPr id="8" name="Text 6"/>
          <p:cNvSpPr/>
          <p:nvPr/>
        </p:nvSpPr>
        <p:spPr>
          <a:xfrm>
            <a:off x="691634" y="2023109"/>
            <a:ext cx="323850"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MiSans" pitchFamily="34" charset="0"/>
                <a:ea typeface="MiSans" pitchFamily="34" charset="-122"/>
                <a:cs typeface="MiSans" pitchFamily="34" charset="-120"/>
              </a:rPr>
              <a:t>2.1</a:t>
            </a:r>
            <a:endParaRPr lang="en-US" sz="1600" dirty="0"/>
          </a:p>
        </p:txBody>
      </p:sp>
      <p:sp>
        <p:nvSpPr>
          <p:cNvPr id="9" name="Text 7"/>
          <p:cNvSpPr/>
          <p:nvPr/>
        </p:nvSpPr>
        <p:spPr>
          <a:xfrm>
            <a:off x="1150620" y="2023109"/>
            <a:ext cx="676275" cy="266700"/>
          </a:xfrm>
          <a:prstGeom prst="rect">
            <a:avLst/>
          </a:prstGeom>
          <a:noFill/>
          <a:ln/>
        </p:spPr>
        <p:txBody>
          <a:bodyPr wrap="square" lIns="0" tIns="0" rIns="0" bIns="0" rtlCol="0" anchor="ctr"/>
          <a:lstStyle/>
          <a:p>
            <a:pPr>
              <a:lnSpc>
                <a:spcPct val="120000"/>
              </a:lnSpc>
            </a:pPr>
            <a:r>
              <a:rPr lang="en-US" sz="1500" b="1" dirty="0">
                <a:solidFill>
                  <a:srgbClr val="3B82F6"/>
                </a:solidFill>
                <a:latin typeface="Liter" pitchFamily="34" charset="0"/>
                <a:ea typeface="Liter" pitchFamily="34" charset="-122"/>
                <a:cs typeface="Liter" pitchFamily="34" charset="-120"/>
              </a:rPr>
              <a:t>Lab 2.1</a:t>
            </a:r>
            <a:endParaRPr lang="en-US" sz="1600" dirty="0"/>
          </a:p>
        </p:txBody>
      </p:sp>
      <p:sp>
        <p:nvSpPr>
          <p:cNvPr id="10" name="Text 8"/>
          <p:cNvSpPr/>
          <p:nvPr/>
        </p:nvSpPr>
        <p:spPr>
          <a:xfrm>
            <a:off x="579120" y="2537459"/>
            <a:ext cx="3390900" cy="228600"/>
          </a:xfrm>
          <a:prstGeom prst="rect">
            <a:avLst/>
          </a:prstGeom>
          <a:noFill/>
          <a:ln/>
        </p:spPr>
        <p:txBody>
          <a:bodyPr wrap="square" lIns="0" tIns="0" rIns="0" bIns="0" rtlCol="0" anchor="ctr"/>
          <a:lstStyle/>
          <a:p>
            <a:pPr>
              <a:lnSpc>
                <a:spcPct val="130000"/>
              </a:lnSpc>
            </a:pPr>
            <a:r>
              <a:rPr lang="en-US" sz="1200" b="1" dirty="0">
                <a:solidFill>
                  <a:srgbClr val="F8FAFC"/>
                </a:solidFill>
                <a:latin typeface="MiSans" pitchFamily="34" charset="0"/>
                <a:ea typeface="MiSans" pitchFamily="34" charset="-122"/>
                <a:cs typeface="MiSans" pitchFamily="34" charset="-120"/>
              </a:rPr>
              <a:t>Nội dung</a:t>
            </a:r>
            <a:endParaRPr lang="en-US" sz="1600" dirty="0"/>
          </a:p>
        </p:txBody>
      </p:sp>
      <p:sp>
        <p:nvSpPr>
          <p:cNvPr id="11" name="Text 9"/>
          <p:cNvSpPr/>
          <p:nvPr/>
        </p:nvSpPr>
        <p:spPr>
          <a:xfrm>
            <a:off x="579120" y="2842259"/>
            <a:ext cx="3381375" cy="219075"/>
          </a:xfrm>
          <a:prstGeom prst="rect">
            <a:avLst/>
          </a:prstGeom>
          <a:noFill/>
          <a:ln/>
        </p:spPr>
        <p:txBody>
          <a:bodyPr wrap="square" lIns="0" tIns="0" rIns="0" bIns="0" rtlCol="0" anchor="ctr"/>
          <a:lstStyle/>
          <a:p>
            <a:pPr>
              <a:lnSpc>
                <a:spcPct val="140000"/>
              </a:lnSpc>
            </a:pPr>
            <a:r>
              <a:rPr lang="en-US" sz="1050" dirty="0">
                <a:solidFill>
                  <a:srgbClr val="F8FAFC">
                    <a:alpha val="70000"/>
                  </a:srgbClr>
                </a:solidFill>
                <a:latin typeface="MiSans" pitchFamily="34" charset="0"/>
                <a:ea typeface="MiSans" pitchFamily="34" charset="-122"/>
                <a:cs typeface="MiSans" pitchFamily="34" charset="-120"/>
              </a:rPr>
              <a:t>Gọi mô hình để </a:t>
            </a:r>
            <a:pPr>
              <a:lnSpc>
                <a:spcPct val="140000"/>
              </a:lnSpc>
            </a:pPr>
            <a:r>
              <a:rPr lang="en-US" sz="1050" dirty="0">
                <a:solidFill>
                  <a:srgbClr val="3B82F6"/>
                </a:solidFill>
                <a:highlight>
                  <a:srgbClr val="3B82F6">
                    <a:alpha val="20000"/>
                  </a:srgbClr>
                </a:highlight>
                <a:latin typeface="MiSans" pitchFamily="34" charset="0"/>
                <a:ea typeface="MiSans" pitchFamily="34" charset="-122"/>
                <a:cs typeface="MiSans" pitchFamily="34" charset="-120"/>
              </a:rPr>
              <a:t>giải thích bài toán FizzBuzz</a:t>
            </a:r>
            <a:endParaRPr lang="en-US" sz="1600" dirty="0"/>
          </a:p>
        </p:txBody>
      </p:sp>
      <p:sp>
        <p:nvSpPr>
          <p:cNvPr id="12" name="Shape 10"/>
          <p:cNvSpPr/>
          <p:nvPr/>
        </p:nvSpPr>
        <p:spPr>
          <a:xfrm>
            <a:off x="579120" y="3173253"/>
            <a:ext cx="3314700" cy="685800"/>
          </a:xfrm>
          <a:custGeom>
            <a:avLst/>
            <a:gdLst/>
            <a:ahLst/>
            <a:cxnLst/>
            <a:rect l="l" t="t" r="r" b="b"/>
            <a:pathLst>
              <a:path w="3314700" h="685800">
                <a:moveTo>
                  <a:pt x="76199" y="0"/>
                </a:moveTo>
                <a:lnTo>
                  <a:pt x="3238501" y="0"/>
                </a:lnTo>
                <a:cubicBezTo>
                  <a:pt x="3280584" y="0"/>
                  <a:pt x="3314700" y="34116"/>
                  <a:pt x="3314700" y="76199"/>
                </a:cubicBezTo>
                <a:lnTo>
                  <a:pt x="3314700" y="609601"/>
                </a:lnTo>
                <a:cubicBezTo>
                  <a:pt x="3314700" y="651684"/>
                  <a:pt x="3280584" y="685800"/>
                  <a:pt x="3238501" y="685800"/>
                </a:cubicBezTo>
                <a:lnTo>
                  <a:pt x="76199" y="685800"/>
                </a:lnTo>
                <a:cubicBezTo>
                  <a:pt x="34116" y="685800"/>
                  <a:pt x="0" y="651684"/>
                  <a:pt x="0" y="609601"/>
                </a:cubicBezTo>
                <a:lnTo>
                  <a:pt x="0" y="76199"/>
                </a:lnTo>
                <a:cubicBezTo>
                  <a:pt x="0" y="34144"/>
                  <a:pt x="34144" y="0"/>
                  <a:pt x="76199" y="0"/>
                </a:cubicBezTo>
                <a:close/>
              </a:path>
            </a:pathLst>
          </a:custGeom>
          <a:solidFill>
            <a:srgbClr val="0F172A">
              <a:alpha val="50196"/>
            </a:srgbClr>
          </a:solidFill>
          <a:ln/>
        </p:spPr>
      </p:sp>
      <p:sp>
        <p:nvSpPr>
          <p:cNvPr id="13" name="Shape 11"/>
          <p:cNvSpPr/>
          <p:nvPr/>
        </p:nvSpPr>
        <p:spPr>
          <a:xfrm>
            <a:off x="704136" y="3325653"/>
            <a:ext cx="150019" cy="133350"/>
          </a:xfrm>
          <a:custGeom>
            <a:avLst/>
            <a:gdLst/>
            <a:ahLst/>
            <a:cxnLst/>
            <a:rect l="l" t="t" r="r" b="b"/>
            <a:pathLst>
              <a:path w="150019" h="133350">
                <a:moveTo>
                  <a:pt x="12502" y="50996"/>
                </a:moveTo>
                <a:lnTo>
                  <a:pt x="66988" y="73421"/>
                </a:lnTo>
                <a:cubicBezTo>
                  <a:pt x="69540" y="74462"/>
                  <a:pt x="72249" y="75009"/>
                  <a:pt x="75009" y="75009"/>
                </a:cubicBezTo>
                <a:cubicBezTo>
                  <a:pt x="77770" y="75009"/>
                  <a:pt x="80479" y="74462"/>
                  <a:pt x="83031" y="73421"/>
                </a:cubicBezTo>
                <a:lnTo>
                  <a:pt x="146164" y="47428"/>
                </a:lnTo>
                <a:cubicBezTo>
                  <a:pt x="148508" y="46464"/>
                  <a:pt x="150019" y="44198"/>
                  <a:pt x="150019" y="41672"/>
                </a:cubicBezTo>
                <a:cubicBezTo>
                  <a:pt x="150019" y="39146"/>
                  <a:pt x="148508" y="36880"/>
                  <a:pt x="146164" y="35916"/>
                </a:cubicBezTo>
                <a:lnTo>
                  <a:pt x="83031" y="9923"/>
                </a:lnTo>
                <a:cubicBezTo>
                  <a:pt x="80479" y="8881"/>
                  <a:pt x="77770" y="8334"/>
                  <a:pt x="75009" y="8334"/>
                </a:cubicBezTo>
                <a:cubicBezTo>
                  <a:pt x="72249" y="8334"/>
                  <a:pt x="69540" y="8881"/>
                  <a:pt x="66988" y="9923"/>
                </a:cubicBezTo>
                <a:lnTo>
                  <a:pt x="3855" y="35916"/>
                </a:lnTo>
                <a:cubicBezTo>
                  <a:pt x="1511" y="36880"/>
                  <a:pt x="0" y="39146"/>
                  <a:pt x="0" y="41672"/>
                </a:cubicBezTo>
                <a:lnTo>
                  <a:pt x="0" y="118765"/>
                </a:lnTo>
                <a:cubicBezTo>
                  <a:pt x="0" y="122229"/>
                  <a:pt x="2787" y="125016"/>
                  <a:pt x="6251" y="125016"/>
                </a:cubicBezTo>
                <a:cubicBezTo>
                  <a:pt x="9715" y="125016"/>
                  <a:pt x="12502" y="122229"/>
                  <a:pt x="12502" y="118765"/>
                </a:cubicBezTo>
                <a:lnTo>
                  <a:pt x="12502" y="50996"/>
                </a:lnTo>
                <a:close/>
                <a:moveTo>
                  <a:pt x="25003" y="69670"/>
                </a:moveTo>
                <a:lnTo>
                  <a:pt x="25003" y="100013"/>
                </a:lnTo>
                <a:cubicBezTo>
                  <a:pt x="25003" y="113816"/>
                  <a:pt x="47402" y="125016"/>
                  <a:pt x="75009" y="125016"/>
                </a:cubicBezTo>
                <a:cubicBezTo>
                  <a:pt x="102617" y="125016"/>
                  <a:pt x="125016" y="113816"/>
                  <a:pt x="125016" y="100013"/>
                </a:cubicBezTo>
                <a:lnTo>
                  <a:pt x="125016" y="69644"/>
                </a:lnTo>
                <a:lnTo>
                  <a:pt x="87797" y="84985"/>
                </a:lnTo>
                <a:cubicBezTo>
                  <a:pt x="83734" y="86651"/>
                  <a:pt x="79411" y="87511"/>
                  <a:pt x="75009" y="87511"/>
                </a:cubicBezTo>
                <a:cubicBezTo>
                  <a:pt x="70608" y="87511"/>
                  <a:pt x="66284" y="86651"/>
                  <a:pt x="62221" y="84985"/>
                </a:cubicBezTo>
                <a:lnTo>
                  <a:pt x="25003" y="69644"/>
                </a:lnTo>
                <a:close/>
              </a:path>
            </a:pathLst>
          </a:custGeom>
          <a:solidFill>
            <a:srgbClr val="10B981"/>
          </a:solidFill>
          <a:ln/>
        </p:spPr>
      </p:sp>
      <p:sp>
        <p:nvSpPr>
          <p:cNvPr id="14" name="Text 12"/>
          <p:cNvSpPr/>
          <p:nvPr/>
        </p:nvSpPr>
        <p:spPr>
          <a:xfrm>
            <a:off x="922020" y="3287553"/>
            <a:ext cx="2924175" cy="190500"/>
          </a:xfrm>
          <a:prstGeom prst="rect">
            <a:avLst/>
          </a:prstGeom>
          <a:noFill/>
          <a:ln/>
        </p:spPr>
        <p:txBody>
          <a:bodyPr wrap="square" lIns="0" tIns="0" rIns="0" bIns="0" rtlCol="0" anchor="ctr"/>
          <a:lstStyle/>
          <a:p>
            <a:pPr>
              <a:lnSpc>
                <a:spcPct val="120000"/>
              </a:lnSpc>
            </a:pPr>
            <a:r>
              <a:rPr lang="en-US" sz="1050" b="1" dirty="0">
                <a:solidFill>
                  <a:srgbClr val="10B981"/>
                </a:solidFill>
                <a:latin typeface="MiSans" pitchFamily="34" charset="0"/>
                <a:ea typeface="MiSans" pitchFamily="34" charset="-122"/>
                <a:cs typeface="MiSans" pitchFamily="34" charset="-120"/>
              </a:rPr>
              <a:t>Giá trị học được</a:t>
            </a:r>
            <a:endParaRPr lang="en-US" sz="1600" dirty="0"/>
          </a:p>
        </p:txBody>
      </p:sp>
      <p:sp>
        <p:nvSpPr>
          <p:cNvPr id="15" name="Text 13"/>
          <p:cNvSpPr/>
          <p:nvPr/>
        </p:nvSpPr>
        <p:spPr>
          <a:xfrm>
            <a:off x="693420" y="3554253"/>
            <a:ext cx="3152775" cy="190500"/>
          </a:xfrm>
          <a:prstGeom prst="rect">
            <a:avLst/>
          </a:prstGeom>
          <a:noFill/>
          <a:ln/>
        </p:spPr>
        <p:txBody>
          <a:bodyPr wrap="square" lIns="0" tIns="0" rIns="0" bIns="0" rtlCol="0" anchor="ctr"/>
          <a:lstStyle/>
          <a:p>
            <a:pPr>
              <a:lnSpc>
                <a:spcPct val="120000"/>
              </a:lnSpc>
            </a:pPr>
            <a:r>
              <a:rPr lang="en-US" sz="1050" dirty="0">
                <a:solidFill>
                  <a:srgbClr val="F8FAFC">
                    <a:alpha val="70000"/>
                  </a:srgbClr>
                </a:solidFill>
                <a:latin typeface="MiSans" pitchFamily="34" charset="0"/>
                <a:ea typeface="MiSans" pitchFamily="34" charset="-122"/>
                <a:cs typeface="MiSans" pitchFamily="34" charset="-120"/>
              </a:rPr>
              <a:t>Nắm cấu trúc chat completion cơ bản</a:t>
            </a:r>
            <a:endParaRPr lang="en-US" sz="1600" dirty="0"/>
          </a:p>
        </p:txBody>
      </p:sp>
      <p:sp>
        <p:nvSpPr>
          <p:cNvPr id="16" name="Shape 14"/>
          <p:cNvSpPr/>
          <p:nvPr/>
        </p:nvSpPr>
        <p:spPr>
          <a:xfrm>
            <a:off x="579120" y="3973353"/>
            <a:ext cx="3314700" cy="571500"/>
          </a:xfrm>
          <a:custGeom>
            <a:avLst/>
            <a:gdLst/>
            <a:ahLst/>
            <a:cxnLst/>
            <a:rect l="l" t="t" r="r" b="b"/>
            <a:pathLst>
              <a:path w="3314700" h="571500">
                <a:moveTo>
                  <a:pt x="76198" y="0"/>
                </a:moveTo>
                <a:lnTo>
                  <a:pt x="3238502" y="0"/>
                </a:lnTo>
                <a:cubicBezTo>
                  <a:pt x="3280585" y="0"/>
                  <a:pt x="3314700" y="34115"/>
                  <a:pt x="3314700" y="76198"/>
                </a:cubicBezTo>
                <a:lnTo>
                  <a:pt x="3314700" y="495302"/>
                </a:lnTo>
                <a:cubicBezTo>
                  <a:pt x="3314700" y="537385"/>
                  <a:pt x="3280585" y="571500"/>
                  <a:pt x="3238502" y="571500"/>
                </a:cubicBezTo>
                <a:lnTo>
                  <a:pt x="76198" y="571500"/>
                </a:lnTo>
                <a:cubicBezTo>
                  <a:pt x="34115" y="571500"/>
                  <a:pt x="0" y="537385"/>
                  <a:pt x="0" y="495302"/>
                </a:cubicBezTo>
                <a:lnTo>
                  <a:pt x="0" y="76198"/>
                </a:lnTo>
                <a:cubicBezTo>
                  <a:pt x="0" y="34115"/>
                  <a:pt x="34115" y="0"/>
                  <a:pt x="76198" y="0"/>
                </a:cubicBezTo>
                <a:close/>
              </a:path>
            </a:pathLst>
          </a:custGeom>
          <a:solidFill>
            <a:srgbClr val="0F172A"/>
          </a:solidFill>
          <a:ln/>
        </p:spPr>
      </p:sp>
      <p:sp>
        <p:nvSpPr>
          <p:cNvPr id="17" name="Text 15"/>
          <p:cNvSpPr/>
          <p:nvPr/>
        </p:nvSpPr>
        <p:spPr>
          <a:xfrm>
            <a:off x="693420" y="4087653"/>
            <a:ext cx="3143250" cy="152400"/>
          </a:xfrm>
          <a:prstGeom prst="rect">
            <a:avLst/>
          </a:prstGeom>
          <a:noFill/>
          <a:ln/>
        </p:spPr>
        <p:txBody>
          <a:bodyPr wrap="square" lIns="0" tIns="0" rIns="0" bIns="0" rtlCol="0" anchor="ctr"/>
          <a:lstStyle/>
          <a:p>
            <a:pPr>
              <a:lnSpc>
                <a:spcPct val="110000"/>
              </a:lnSpc>
            </a:pPr>
            <a:r>
              <a:rPr lang="en-US" sz="900" dirty="0">
                <a:solidFill>
                  <a:srgbClr val="8B5CF6"/>
                </a:solidFill>
                <a:latin typeface="MiSans" pitchFamily="34" charset="0"/>
                <a:ea typeface="MiSans" pitchFamily="34" charset="-122"/>
                <a:cs typeface="MiSans" pitchFamily="34" charset="-120"/>
              </a:rPr>
              <a:t># Prompt:</a:t>
            </a:r>
            <a:endParaRPr lang="en-US" sz="1600" dirty="0"/>
          </a:p>
        </p:txBody>
      </p:sp>
      <p:sp>
        <p:nvSpPr>
          <p:cNvPr id="18" name="Text 16"/>
          <p:cNvSpPr/>
          <p:nvPr/>
        </p:nvSpPr>
        <p:spPr>
          <a:xfrm>
            <a:off x="693420" y="4278037"/>
            <a:ext cx="3143250" cy="152400"/>
          </a:xfrm>
          <a:prstGeom prst="rect">
            <a:avLst/>
          </a:prstGeom>
          <a:noFill/>
          <a:ln/>
        </p:spPr>
        <p:txBody>
          <a:bodyPr wrap="square" lIns="0" tIns="0" rIns="0" bIns="0" rtlCol="0" anchor="ctr"/>
          <a:lstStyle/>
          <a:p>
            <a:pPr>
              <a:lnSpc>
                <a:spcPct val="110000"/>
              </a:lnSpc>
            </a:pPr>
            <a:r>
              <a:rPr lang="en-US" sz="900" dirty="0">
                <a:solidFill>
                  <a:srgbClr val="F8FAFC">
                    <a:alpha val="70000"/>
                  </a:srgbClr>
                </a:solidFill>
                <a:latin typeface="MiSans" pitchFamily="34" charset="0"/>
                <a:ea typeface="MiSans" pitchFamily="34" charset="-122"/>
                <a:cs typeface="MiSans" pitchFamily="34" charset="-120"/>
              </a:rPr>
              <a:t>"Giải thích bài toán FizzBuzz"</a:t>
            </a:r>
            <a:endParaRPr lang="en-US" sz="1600" dirty="0"/>
          </a:p>
        </p:txBody>
      </p:sp>
      <p:sp>
        <p:nvSpPr>
          <p:cNvPr id="19" name="Shape 17"/>
          <p:cNvSpPr/>
          <p:nvPr/>
        </p:nvSpPr>
        <p:spPr>
          <a:xfrm>
            <a:off x="4245531" y="1733551"/>
            <a:ext cx="3703320" cy="3369945"/>
          </a:xfrm>
          <a:custGeom>
            <a:avLst/>
            <a:gdLst/>
            <a:ahLst/>
            <a:cxnLst/>
            <a:rect l="l" t="t" r="r" b="b"/>
            <a:pathLst>
              <a:path w="3703320" h="3369945">
                <a:moveTo>
                  <a:pt x="152389" y="0"/>
                </a:moveTo>
                <a:lnTo>
                  <a:pt x="3550931" y="0"/>
                </a:lnTo>
                <a:cubicBezTo>
                  <a:pt x="3635093" y="0"/>
                  <a:pt x="3703320" y="68227"/>
                  <a:pt x="3703320" y="152389"/>
                </a:cubicBezTo>
                <a:lnTo>
                  <a:pt x="3703320" y="3217556"/>
                </a:lnTo>
                <a:cubicBezTo>
                  <a:pt x="3703320" y="3301718"/>
                  <a:pt x="3635093" y="3369945"/>
                  <a:pt x="3550931" y="3369945"/>
                </a:cubicBezTo>
                <a:lnTo>
                  <a:pt x="152389" y="3369945"/>
                </a:lnTo>
                <a:cubicBezTo>
                  <a:pt x="68227" y="3369945"/>
                  <a:pt x="0" y="3301718"/>
                  <a:pt x="0" y="3217556"/>
                </a:cubicBezTo>
                <a:lnTo>
                  <a:pt x="0" y="152389"/>
                </a:lnTo>
                <a:cubicBezTo>
                  <a:pt x="0" y="68283"/>
                  <a:pt x="68283" y="0"/>
                  <a:pt x="152389" y="0"/>
                </a:cubicBezTo>
                <a:close/>
              </a:path>
            </a:pathLst>
          </a:custGeom>
          <a:gradFill rotWithShape="1" flip="none">
            <a:gsLst>
              <a:gs pos="0">
                <a:srgbClr val="1E293B"/>
              </a:gs>
              <a:gs pos="100000">
                <a:srgbClr val="1E293B">
                  <a:alpha val="50000"/>
                </a:srgbClr>
              </a:gs>
            </a:gsLst>
            <a:lin ang="2700000" scaled="1"/>
          </a:gradFill>
          <a:ln w="10160">
            <a:solidFill>
              <a:srgbClr val="8B5CF6">
                <a:alpha val="30196"/>
              </a:srgbClr>
            </a:solidFill>
            <a:prstDash val="solid"/>
          </a:ln>
        </p:spPr>
      </p:sp>
      <p:sp>
        <p:nvSpPr>
          <p:cNvPr id="20" name="Shape 18"/>
          <p:cNvSpPr/>
          <p:nvPr/>
        </p:nvSpPr>
        <p:spPr>
          <a:xfrm>
            <a:off x="4439841" y="1927859"/>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gradFill rotWithShape="1" flip="none">
            <a:gsLst>
              <a:gs pos="0">
                <a:srgbClr val="8B5CF6"/>
              </a:gs>
              <a:gs pos="100000">
                <a:srgbClr val="8B5CF6">
                  <a:alpha val="60000"/>
                </a:srgbClr>
              </a:gs>
            </a:gsLst>
            <a:lin ang="2700000" scaled="1"/>
          </a:gradFill>
          <a:ln/>
        </p:spPr>
      </p:sp>
      <p:sp>
        <p:nvSpPr>
          <p:cNvPr id="21" name="Text 19"/>
          <p:cNvSpPr/>
          <p:nvPr/>
        </p:nvSpPr>
        <p:spPr>
          <a:xfrm>
            <a:off x="4536281" y="2023109"/>
            <a:ext cx="361950"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MiSans" pitchFamily="34" charset="0"/>
                <a:ea typeface="MiSans" pitchFamily="34" charset="-122"/>
                <a:cs typeface="MiSans" pitchFamily="34" charset="-120"/>
              </a:rPr>
              <a:t>2.2</a:t>
            </a:r>
            <a:endParaRPr lang="en-US" sz="1600" dirty="0"/>
          </a:p>
        </p:txBody>
      </p:sp>
      <p:sp>
        <p:nvSpPr>
          <p:cNvPr id="22" name="Text 20"/>
          <p:cNvSpPr/>
          <p:nvPr/>
        </p:nvSpPr>
        <p:spPr>
          <a:xfrm>
            <a:off x="5011341" y="2023109"/>
            <a:ext cx="714375" cy="266700"/>
          </a:xfrm>
          <a:prstGeom prst="rect">
            <a:avLst/>
          </a:prstGeom>
          <a:noFill/>
          <a:ln/>
        </p:spPr>
        <p:txBody>
          <a:bodyPr wrap="square" lIns="0" tIns="0" rIns="0" bIns="0" rtlCol="0" anchor="ctr"/>
          <a:lstStyle/>
          <a:p>
            <a:pPr>
              <a:lnSpc>
                <a:spcPct val="120000"/>
              </a:lnSpc>
            </a:pPr>
            <a:r>
              <a:rPr lang="en-US" sz="1500" b="1" dirty="0">
                <a:solidFill>
                  <a:srgbClr val="8B5CF6"/>
                </a:solidFill>
                <a:latin typeface="Liter" pitchFamily="34" charset="0"/>
                <a:ea typeface="Liter" pitchFamily="34" charset="-122"/>
                <a:cs typeface="Liter" pitchFamily="34" charset="-120"/>
              </a:rPr>
              <a:t>Lab 2.2</a:t>
            </a:r>
            <a:endParaRPr lang="en-US" sz="1600" dirty="0"/>
          </a:p>
        </p:txBody>
      </p:sp>
      <p:sp>
        <p:nvSpPr>
          <p:cNvPr id="23" name="Text 21"/>
          <p:cNvSpPr/>
          <p:nvPr/>
        </p:nvSpPr>
        <p:spPr>
          <a:xfrm>
            <a:off x="4439841" y="2537459"/>
            <a:ext cx="3390900" cy="228600"/>
          </a:xfrm>
          <a:prstGeom prst="rect">
            <a:avLst/>
          </a:prstGeom>
          <a:noFill/>
          <a:ln/>
        </p:spPr>
        <p:txBody>
          <a:bodyPr wrap="square" lIns="0" tIns="0" rIns="0" bIns="0" rtlCol="0" anchor="ctr"/>
          <a:lstStyle/>
          <a:p>
            <a:pPr>
              <a:lnSpc>
                <a:spcPct val="130000"/>
              </a:lnSpc>
            </a:pPr>
            <a:r>
              <a:rPr lang="en-US" sz="1200" b="1" dirty="0">
                <a:solidFill>
                  <a:srgbClr val="F8FAFC"/>
                </a:solidFill>
                <a:latin typeface="MiSans" pitchFamily="34" charset="0"/>
                <a:ea typeface="MiSans" pitchFamily="34" charset="-122"/>
                <a:cs typeface="MiSans" pitchFamily="34" charset="-120"/>
              </a:rPr>
              <a:t>Nội dung</a:t>
            </a:r>
            <a:endParaRPr lang="en-US" sz="1600" dirty="0"/>
          </a:p>
        </p:txBody>
      </p:sp>
      <p:sp>
        <p:nvSpPr>
          <p:cNvPr id="24" name="Text 22"/>
          <p:cNvSpPr/>
          <p:nvPr/>
        </p:nvSpPr>
        <p:spPr>
          <a:xfrm>
            <a:off x="4439841" y="2842259"/>
            <a:ext cx="3381375" cy="438150"/>
          </a:xfrm>
          <a:prstGeom prst="rect">
            <a:avLst/>
          </a:prstGeom>
          <a:noFill/>
          <a:ln/>
        </p:spPr>
        <p:txBody>
          <a:bodyPr wrap="square" lIns="0" tIns="0" rIns="0" bIns="0" rtlCol="0" anchor="ctr"/>
          <a:lstStyle/>
          <a:p>
            <a:pPr>
              <a:lnSpc>
                <a:spcPct val="140000"/>
              </a:lnSpc>
            </a:pPr>
            <a:r>
              <a:rPr lang="en-US" sz="1050" dirty="0">
                <a:solidFill>
                  <a:srgbClr val="F8FAFC">
                    <a:alpha val="70000"/>
                  </a:srgbClr>
                </a:solidFill>
                <a:latin typeface="MiSans" pitchFamily="34" charset="0"/>
                <a:ea typeface="MiSans" pitchFamily="34" charset="-122"/>
                <a:cs typeface="MiSans" pitchFamily="34" charset="-120"/>
              </a:rPr>
              <a:t>Sử dụng </a:t>
            </a:r>
            <a:pPr>
              <a:lnSpc>
                <a:spcPct val="140000"/>
              </a:lnSpc>
            </a:pPr>
            <a:r>
              <a:rPr lang="en-US" sz="1050" dirty="0">
                <a:solidFill>
                  <a:srgbClr val="8B5CF6"/>
                </a:solidFill>
                <a:highlight>
                  <a:srgbClr val="8B5CF6">
                    <a:alpha val="20000"/>
                  </a:srgbClr>
                </a:highlight>
                <a:latin typeface="MiSans" pitchFamily="34" charset="0"/>
                <a:ea typeface="MiSans" pitchFamily="34" charset="-122"/>
                <a:cs typeface="MiSans" pitchFamily="34" charset="-120"/>
              </a:rPr>
              <a:t>system, temperature, max_tokens </a:t>
            </a:r>
            <a:pPr>
              <a:lnSpc>
                <a:spcPct val="140000"/>
              </a:lnSpc>
            </a:pPr>
            <a:r>
              <a:rPr lang="en-US" sz="1050" dirty="0">
                <a:solidFill>
                  <a:srgbClr val="F8FAFC">
                    <a:alpha val="70000"/>
                  </a:srgbClr>
                </a:solidFill>
                <a:latin typeface="MiSans" pitchFamily="34" charset="0"/>
                <a:ea typeface="MiSans" pitchFamily="34" charset="-122"/>
                <a:cs typeface="MiSans" pitchFamily="34" charset="-120"/>
              </a:rPr>
              <a:t>cho bài toán Two Sum</a:t>
            </a:r>
            <a:endParaRPr lang="en-US" sz="1600" dirty="0"/>
          </a:p>
        </p:txBody>
      </p:sp>
      <p:sp>
        <p:nvSpPr>
          <p:cNvPr id="25" name="Shape 23"/>
          <p:cNvSpPr/>
          <p:nvPr/>
        </p:nvSpPr>
        <p:spPr>
          <a:xfrm>
            <a:off x="4439841" y="3389947"/>
            <a:ext cx="3314700" cy="685800"/>
          </a:xfrm>
          <a:custGeom>
            <a:avLst/>
            <a:gdLst/>
            <a:ahLst/>
            <a:cxnLst/>
            <a:rect l="l" t="t" r="r" b="b"/>
            <a:pathLst>
              <a:path w="3314700" h="685800">
                <a:moveTo>
                  <a:pt x="76199" y="0"/>
                </a:moveTo>
                <a:lnTo>
                  <a:pt x="3238501" y="0"/>
                </a:lnTo>
                <a:cubicBezTo>
                  <a:pt x="3280584" y="0"/>
                  <a:pt x="3314700" y="34116"/>
                  <a:pt x="3314700" y="76199"/>
                </a:cubicBezTo>
                <a:lnTo>
                  <a:pt x="3314700" y="609601"/>
                </a:lnTo>
                <a:cubicBezTo>
                  <a:pt x="3314700" y="651684"/>
                  <a:pt x="3280584" y="685800"/>
                  <a:pt x="3238501" y="685800"/>
                </a:cubicBezTo>
                <a:lnTo>
                  <a:pt x="76199" y="685800"/>
                </a:lnTo>
                <a:cubicBezTo>
                  <a:pt x="34116" y="685800"/>
                  <a:pt x="0" y="651684"/>
                  <a:pt x="0" y="609601"/>
                </a:cubicBezTo>
                <a:lnTo>
                  <a:pt x="0" y="76199"/>
                </a:lnTo>
                <a:cubicBezTo>
                  <a:pt x="0" y="34144"/>
                  <a:pt x="34144" y="0"/>
                  <a:pt x="76199" y="0"/>
                </a:cubicBezTo>
                <a:close/>
              </a:path>
            </a:pathLst>
          </a:custGeom>
          <a:solidFill>
            <a:srgbClr val="0F172A">
              <a:alpha val="50196"/>
            </a:srgbClr>
          </a:solidFill>
          <a:ln/>
        </p:spPr>
      </p:sp>
      <p:sp>
        <p:nvSpPr>
          <p:cNvPr id="26" name="Shape 24"/>
          <p:cNvSpPr/>
          <p:nvPr/>
        </p:nvSpPr>
        <p:spPr>
          <a:xfrm>
            <a:off x="4564856" y="3542347"/>
            <a:ext cx="150019" cy="133350"/>
          </a:xfrm>
          <a:custGeom>
            <a:avLst/>
            <a:gdLst/>
            <a:ahLst/>
            <a:cxnLst/>
            <a:rect l="l" t="t" r="r" b="b"/>
            <a:pathLst>
              <a:path w="150019" h="133350">
                <a:moveTo>
                  <a:pt x="12502" y="50996"/>
                </a:moveTo>
                <a:lnTo>
                  <a:pt x="66988" y="73421"/>
                </a:lnTo>
                <a:cubicBezTo>
                  <a:pt x="69540" y="74462"/>
                  <a:pt x="72249" y="75009"/>
                  <a:pt x="75009" y="75009"/>
                </a:cubicBezTo>
                <a:cubicBezTo>
                  <a:pt x="77770" y="75009"/>
                  <a:pt x="80479" y="74462"/>
                  <a:pt x="83031" y="73421"/>
                </a:cubicBezTo>
                <a:lnTo>
                  <a:pt x="146164" y="47428"/>
                </a:lnTo>
                <a:cubicBezTo>
                  <a:pt x="148508" y="46464"/>
                  <a:pt x="150019" y="44198"/>
                  <a:pt x="150019" y="41672"/>
                </a:cubicBezTo>
                <a:cubicBezTo>
                  <a:pt x="150019" y="39146"/>
                  <a:pt x="148508" y="36880"/>
                  <a:pt x="146164" y="35916"/>
                </a:cubicBezTo>
                <a:lnTo>
                  <a:pt x="83031" y="9923"/>
                </a:lnTo>
                <a:cubicBezTo>
                  <a:pt x="80479" y="8881"/>
                  <a:pt x="77770" y="8334"/>
                  <a:pt x="75009" y="8334"/>
                </a:cubicBezTo>
                <a:cubicBezTo>
                  <a:pt x="72249" y="8334"/>
                  <a:pt x="69540" y="8881"/>
                  <a:pt x="66988" y="9923"/>
                </a:cubicBezTo>
                <a:lnTo>
                  <a:pt x="3855" y="35916"/>
                </a:lnTo>
                <a:cubicBezTo>
                  <a:pt x="1511" y="36880"/>
                  <a:pt x="0" y="39146"/>
                  <a:pt x="0" y="41672"/>
                </a:cubicBezTo>
                <a:lnTo>
                  <a:pt x="0" y="118765"/>
                </a:lnTo>
                <a:cubicBezTo>
                  <a:pt x="0" y="122229"/>
                  <a:pt x="2787" y="125016"/>
                  <a:pt x="6251" y="125016"/>
                </a:cubicBezTo>
                <a:cubicBezTo>
                  <a:pt x="9715" y="125016"/>
                  <a:pt x="12502" y="122229"/>
                  <a:pt x="12502" y="118765"/>
                </a:cubicBezTo>
                <a:lnTo>
                  <a:pt x="12502" y="50996"/>
                </a:lnTo>
                <a:close/>
                <a:moveTo>
                  <a:pt x="25003" y="69670"/>
                </a:moveTo>
                <a:lnTo>
                  <a:pt x="25003" y="100013"/>
                </a:lnTo>
                <a:cubicBezTo>
                  <a:pt x="25003" y="113816"/>
                  <a:pt x="47402" y="125016"/>
                  <a:pt x="75009" y="125016"/>
                </a:cubicBezTo>
                <a:cubicBezTo>
                  <a:pt x="102617" y="125016"/>
                  <a:pt x="125016" y="113816"/>
                  <a:pt x="125016" y="100013"/>
                </a:cubicBezTo>
                <a:lnTo>
                  <a:pt x="125016" y="69644"/>
                </a:lnTo>
                <a:lnTo>
                  <a:pt x="87797" y="84985"/>
                </a:lnTo>
                <a:cubicBezTo>
                  <a:pt x="83734" y="86651"/>
                  <a:pt x="79411" y="87511"/>
                  <a:pt x="75009" y="87511"/>
                </a:cubicBezTo>
                <a:cubicBezTo>
                  <a:pt x="70608" y="87511"/>
                  <a:pt x="66284" y="86651"/>
                  <a:pt x="62221" y="84985"/>
                </a:cubicBezTo>
                <a:lnTo>
                  <a:pt x="25003" y="69644"/>
                </a:lnTo>
                <a:close/>
              </a:path>
            </a:pathLst>
          </a:custGeom>
          <a:solidFill>
            <a:srgbClr val="10B981"/>
          </a:solidFill>
          <a:ln/>
        </p:spPr>
      </p:sp>
      <p:sp>
        <p:nvSpPr>
          <p:cNvPr id="27" name="Text 25"/>
          <p:cNvSpPr/>
          <p:nvPr/>
        </p:nvSpPr>
        <p:spPr>
          <a:xfrm>
            <a:off x="4782741" y="3504247"/>
            <a:ext cx="2924175" cy="190500"/>
          </a:xfrm>
          <a:prstGeom prst="rect">
            <a:avLst/>
          </a:prstGeom>
          <a:noFill/>
          <a:ln/>
        </p:spPr>
        <p:txBody>
          <a:bodyPr wrap="square" lIns="0" tIns="0" rIns="0" bIns="0" rtlCol="0" anchor="ctr"/>
          <a:lstStyle/>
          <a:p>
            <a:pPr>
              <a:lnSpc>
                <a:spcPct val="120000"/>
              </a:lnSpc>
            </a:pPr>
            <a:r>
              <a:rPr lang="en-US" sz="1050" b="1" dirty="0">
                <a:solidFill>
                  <a:srgbClr val="10B981"/>
                </a:solidFill>
                <a:latin typeface="MiSans" pitchFamily="34" charset="0"/>
                <a:ea typeface="MiSans" pitchFamily="34" charset="-122"/>
                <a:cs typeface="MiSans" pitchFamily="34" charset="-120"/>
              </a:rPr>
              <a:t>Giá trị học được</a:t>
            </a:r>
            <a:endParaRPr lang="en-US" sz="1600" dirty="0"/>
          </a:p>
        </p:txBody>
      </p:sp>
      <p:sp>
        <p:nvSpPr>
          <p:cNvPr id="28" name="Text 26"/>
          <p:cNvSpPr/>
          <p:nvPr/>
        </p:nvSpPr>
        <p:spPr>
          <a:xfrm>
            <a:off x="4554141" y="3770947"/>
            <a:ext cx="3152775" cy="190500"/>
          </a:xfrm>
          <a:prstGeom prst="rect">
            <a:avLst/>
          </a:prstGeom>
          <a:noFill/>
          <a:ln/>
        </p:spPr>
        <p:txBody>
          <a:bodyPr wrap="square" lIns="0" tIns="0" rIns="0" bIns="0" rtlCol="0" anchor="ctr"/>
          <a:lstStyle/>
          <a:p>
            <a:pPr>
              <a:lnSpc>
                <a:spcPct val="120000"/>
              </a:lnSpc>
            </a:pPr>
            <a:r>
              <a:rPr lang="en-US" sz="1050" dirty="0">
                <a:solidFill>
                  <a:srgbClr val="F8FAFC">
                    <a:alpha val="70000"/>
                  </a:srgbClr>
                </a:solidFill>
                <a:latin typeface="MiSans" pitchFamily="34" charset="0"/>
                <a:ea typeface="MiSans" pitchFamily="34" charset="-122"/>
                <a:cs typeface="MiSans" pitchFamily="34" charset="-120"/>
              </a:rPr>
              <a:t>Điều khiển đầu ra qua prompt và tham số</a:t>
            </a:r>
            <a:endParaRPr lang="en-US" sz="1600" dirty="0"/>
          </a:p>
        </p:txBody>
      </p:sp>
      <p:sp>
        <p:nvSpPr>
          <p:cNvPr id="29" name="Shape 27"/>
          <p:cNvSpPr/>
          <p:nvPr/>
        </p:nvSpPr>
        <p:spPr>
          <a:xfrm>
            <a:off x="4439841" y="4190047"/>
            <a:ext cx="3314700" cy="723900"/>
          </a:xfrm>
          <a:custGeom>
            <a:avLst/>
            <a:gdLst/>
            <a:ahLst/>
            <a:cxnLst/>
            <a:rect l="l" t="t" r="r" b="b"/>
            <a:pathLst>
              <a:path w="3314700" h="723900">
                <a:moveTo>
                  <a:pt x="76198" y="0"/>
                </a:moveTo>
                <a:lnTo>
                  <a:pt x="3238502" y="0"/>
                </a:lnTo>
                <a:cubicBezTo>
                  <a:pt x="3280557" y="0"/>
                  <a:pt x="3314700" y="34143"/>
                  <a:pt x="3314700" y="76198"/>
                </a:cubicBezTo>
                <a:lnTo>
                  <a:pt x="3314700" y="647702"/>
                </a:lnTo>
                <a:cubicBezTo>
                  <a:pt x="3314700" y="689757"/>
                  <a:pt x="3280557" y="723900"/>
                  <a:pt x="3238502" y="723900"/>
                </a:cubicBezTo>
                <a:lnTo>
                  <a:pt x="76198" y="723900"/>
                </a:lnTo>
                <a:cubicBezTo>
                  <a:pt x="34143" y="723900"/>
                  <a:pt x="0" y="689757"/>
                  <a:pt x="0" y="647702"/>
                </a:cubicBezTo>
                <a:lnTo>
                  <a:pt x="0" y="76198"/>
                </a:lnTo>
                <a:cubicBezTo>
                  <a:pt x="0" y="34143"/>
                  <a:pt x="34143" y="0"/>
                  <a:pt x="76198" y="0"/>
                </a:cubicBezTo>
                <a:close/>
              </a:path>
            </a:pathLst>
          </a:custGeom>
          <a:solidFill>
            <a:srgbClr val="0F172A"/>
          </a:solidFill>
          <a:ln/>
        </p:spPr>
      </p:sp>
      <p:sp>
        <p:nvSpPr>
          <p:cNvPr id="30" name="Text 28"/>
          <p:cNvSpPr/>
          <p:nvPr/>
        </p:nvSpPr>
        <p:spPr>
          <a:xfrm>
            <a:off x="4554141" y="4304347"/>
            <a:ext cx="3143250" cy="152400"/>
          </a:xfrm>
          <a:prstGeom prst="rect">
            <a:avLst/>
          </a:prstGeom>
          <a:noFill/>
          <a:ln/>
        </p:spPr>
        <p:txBody>
          <a:bodyPr wrap="square" lIns="0" tIns="0" rIns="0" bIns="0" rtlCol="0" anchor="ctr"/>
          <a:lstStyle/>
          <a:p>
            <a:pPr>
              <a:lnSpc>
                <a:spcPct val="110000"/>
              </a:lnSpc>
            </a:pPr>
            <a:r>
              <a:rPr lang="en-US" sz="900" dirty="0">
                <a:solidFill>
                  <a:srgbClr val="8B5CF6"/>
                </a:solidFill>
                <a:latin typeface="MiSans" pitchFamily="34" charset="0"/>
                <a:ea typeface="MiSans" pitchFamily="34" charset="-122"/>
                <a:cs typeface="MiSans" pitchFamily="34" charset="-120"/>
              </a:rPr>
              <a:t># Parameters:</a:t>
            </a:r>
            <a:endParaRPr lang="en-US" sz="1600" dirty="0"/>
          </a:p>
        </p:txBody>
      </p:sp>
      <p:sp>
        <p:nvSpPr>
          <p:cNvPr id="31" name="Text 29"/>
          <p:cNvSpPr/>
          <p:nvPr/>
        </p:nvSpPr>
        <p:spPr>
          <a:xfrm>
            <a:off x="4554141" y="4494730"/>
            <a:ext cx="3143250" cy="152400"/>
          </a:xfrm>
          <a:prstGeom prst="rect">
            <a:avLst/>
          </a:prstGeom>
          <a:noFill/>
          <a:ln/>
        </p:spPr>
        <p:txBody>
          <a:bodyPr wrap="square" lIns="0" tIns="0" rIns="0" bIns="0" rtlCol="0" anchor="ctr"/>
          <a:lstStyle/>
          <a:p>
            <a:pPr>
              <a:lnSpc>
                <a:spcPct val="110000"/>
              </a:lnSpc>
            </a:pPr>
            <a:r>
              <a:rPr lang="en-US" sz="900" dirty="0">
                <a:solidFill>
                  <a:srgbClr val="F8FAFC">
                    <a:alpha val="70000"/>
                  </a:srgbClr>
                </a:solidFill>
                <a:latin typeface="MiSans" pitchFamily="34" charset="0"/>
                <a:ea typeface="MiSans" pitchFamily="34" charset="-122"/>
                <a:cs typeface="MiSans" pitchFamily="34" charset="-120"/>
              </a:rPr>
              <a:t>temperature=0.2</a:t>
            </a:r>
            <a:endParaRPr lang="en-US" sz="1600" dirty="0"/>
          </a:p>
        </p:txBody>
      </p:sp>
      <p:sp>
        <p:nvSpPr>
          <p:cNvPr id="32" name="Text 30"/>
          <p:cNvSpPr/>
          <p:nvPr/>
        </p:nvSpPr>
        <p:spPr>
          <a:xfrm>
            <a:off x="4554141" y="4647009"/>
            <a:ext cx="3143250" cy="152400"/>
          </a:xfrm>
          <a:prstGeom prst="rect">
            <a:avLst/>
          </a:prstGeom>
          <a:noFill/>
          <a:ln/>
        </p:spPr>
        <p:txBody>
          <a:bodyPr wrap="square" lIns="0" tIns="0" rIns="0" bIns="0" rtlCol="0" anchor="ctr"/>
          <a:lstStyle/>
          <a:p>
            <a:pPr>
              <a:lnSpc>
                <a:spcPct val="110000"/>
              </a:lnSpc>
            </a:pPr>
            <a:r>
              <a:rPr lang="en-US" sz="900" dirty="0">
                <a:solidFill>
                  <a:srgbClr val="F8FAFC">
                    <a:alpha val="70000"/>
                  </a:srgbClr>
                </a:solidFill>
                <a:latin typeface="MiSans" pitchFamily="34" charset="0"/>
                <a:ea typeface="MiSans" pitchFamily="34" charset="-122"/>
                <a:cs typeface="MiSans" pitchFamily="34" charset="-120"/>
              </a:rPr>
              <a:t>max_tokens=150</a:t>
            </a:r>
            <a:endParaRPr lang="en-US" sz="1600" dirty="0"/>
          </a:p>
        </p:txBody>
      </p:sp>
      <p:sp>
        <p:nvSpPr>
          <p:cNvPr id="33" name="Shape 31"/>
          <p:cNvSpPr/>
          <p:nvPr/>
        </p:nvSpPr>
        <p:spPr>
          <a:xfrm>
            <a:off x="8106371" y="1733551"/>
            <a:ext cx="3703320" cy="3369945"/>
          </a:xfrm>
          <a:custGeom>
            <a:avLst/>
            <a:gdLst/>
            <a:ahLst/>
            <a:cxnLst/>
            <a:rect l="l" t="t" r="r" b="b"/>
            <a:pathLst>
              <a:path w="3703320" h="3369945">
                <a:moveTo>
                  <a:pt x="152389" y="0"/>
                </a:moveTo>
                <a:lnTo>
                  <a:pt x="3550931" y="0"/>
                </a:lnTo>
                <a:cubicBezTo>
                  <a:pt x="3635093" y="0"/>
                  <a:pt x="3703320" y="68227"/>
                  <a:pt x="3703320" y="152389"/>
                </a:cubicBezTo>
                <a:lnTo>
                  <a:pt x="3703320" y="3217556"/>
                </a:lnTo>
                <a:cubicBezTo>
                  <a:pt x="3703320" y="3301718"/>
                  <a:pt x="3635093" y="3369945"/>
                  <a:pt x="3550931" y="3369945"/>
                </a:cubicBezTo>
                <a:lnTo>
                  <a:pt x="152389" y="3369945"/>
                </a:lnTo>
                <a:cubicBezTo>
                  <a:pt x="68227" y="3369945"/>
                  <a:pt x="0" y="3301718"/>
                  <a:pt x="0" y="3217556"/>
                </a:cubicBezTo>
                <a:lnTo>
                  <a:pt x="0" y="152389"/>
                </a:lnTo>
                <a:cubicBezTo>
                  <a:pt x="0" y="68283"/>
                  <a:pt x="68283" y="0"/>
                  <a:pt x="152389" y="0"/>
                </a:cubicBezTo>
                <a:close/>
              </a:path>
            </a:pathLst>
          </a:custGeom>
          <a:gradFill rotWithShape="1" flip="none">
            <a:gsLst>
              <a:gs pos="0">
                <a:srgbClr val="1E293B"/>
              </a:gs>
              <a:gs pos="100000">
                <a:srgbClr val="1E293B">
                  <a:alpha val="50000"/>
                </a:srgbClr>
              </a:gs>
            </a:gsLst>
            <a:lin ang="2700000" scaled="1"/>
          </a:gradFill>
          <a:ln w="10160">
            <a:solidFill>
              <a:srgbClr val="10B981">
                <a:alpha val="30196"/>
              </a:srgbClr>
            </a:solidFill>
            <a:prstDash val="solid"/>
          </a:ln>
        </p:spPr>
      </p:sp>
      <p:sp>
        <p:nvSpPr>
          <p:cNvPr id="34" name="Shape 32"/>
          <p:cNvSpPr/>
          <p:nvPr/>
        </p:nvSpPr>
        <p:spPr>
          <a:xfrm>
            <a:off x="8300681" y="1927859"/>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gradFill rotWithShape="1" flip="none">
            <a:gsLst>
              <a:gs pos="0">
                <a:srgbClr val="10B981"/>
              </a:gs>
              <a:gs pos="100000">
                <a:srgbClr val="10B981">
                  <a:alpha val="60000"/>
                </a:srgbClr>
              </a:gs>
            </a:gsLst>
            <a:lin ang="2700000" scaled="1"/>
          </a:gradFill>
          <a:ln/>
        </p:spPr>
      </p:sp>
      <p:sp>
        <p:nvSpPr>
          <p:cNvPr id="35" name="Text 33"/>
          <p:cNvSpPr/>
          <p:nvPr/>
        </p:nvSpPr>
        <p:spPr>
          <a:xfrm>
            <a:off x="8394621" y="2023109"/>
            <a:ext cx="361950"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MiSans" pitchFamily="34" charset="0"/>
                <a:ea typeface="MiSans" pitchFamily="34" charset="-122"/>
                <a:cs typeface="MiSans" pitchFamily="34" charset="-120"/>
              </a:rPr>
              <a:t>2.3</a:t>
            </a:r>
            <a:endParaRPr lang="en-US" sz="1600" dirty="0"/>
          </a:p>
        </p:txBody>
      </p:sp>
      <p:sp>
        <p:nvSpPr>
          <p:cNvPr id="36" name="Text 34"/>
          <p:cNvSpPr/>
          <p:nvPr/>
        </p:nvSpPr>
        <p:spPr>
          <a:xfrm>
            <a:off x="8872181" y="2023109"/>
            <a:ext cx="714375" cy="266700"/>
          </a:xfrm>
          <a:prstGeom prst="rect">
            <a:avLst/>
          </a:prstGeom>
          <a:noFill/>
          <a:ln/>
        </p:spPr>
        <p:txBody>
          <a:bodyPr wrap="square" lIns="0" tIns="0" rIns="0" bIns="0" rtlCol="0" anchor="ctr"/>
          <a:lstStyle/>
          <a:p>
            <a:pPr>
              <a:lnSpc>
                <a:spcPct val="120000"/>
              </a:lnSpc>
            </a:pPr>
            <a:r>
              <a:rPr lang="en-US" sz="1500" b="1" dirty="0">
                <a:solidFill>
                  <a:srgbClr val="10B981"/>
                </a:solidFill>
                <a:latin typeface="Liter" pitchFamily="34" charset="0"/>
                <a:ea typeface="Liter" pitchFamily="34" charset="-122"/>
                <a:cs typeface="Liter" pitchFamily="34" charset="-120"/>
              </a:rPr>
              <a:t>Lab 2.3</a:t>
            </a:r>
            <a:endParaRPr lang="en-US" sz="1600" dirty="0"/>
          </a:p>
        </p:txBody>
      </p:sp>
      <p:sp>
        <p:nvSpPr>
          <p:cNvPr id="37" name="Text 35"/>
          <p:cNvSpPr/>
          <p:nvPr/>
        </p:nvSpPr>
        <p:spPr>
          <a:xfrm>
            <a:off x="8300681" y="2537459"/>
            <a:ext cx="3390900" cy="228600"/>
          </a:xfrm>
          <a:prstGeom prst="rect">
            <a:avLst/>
          </a:prstGeom>
          <a:noFill/>
          <a:ln/>
        </p:spPr>
        <p:txBody>
          <a:bodyPr wrap="square" lIns="0" tIns="0" rIns="0" bIns="0" rtlCol="0" anchor="ctr"/>
          <a:lstStyle/>
          <a:p>
            <a:pPr>
              <a:lnSpc>
                <a:spcPct val="130000"/>
              </a:lnSpc>
            </a:pPr>
            <a:r>
              <a:rPr lang="en-US" sz="1200" b="1" dirty="0">
                <a:solidFill>
                  <a:srgbClr val="F8FAFC"/>
                </a:solidFill>
                <a:latin typeface="MiSans" pitchFamily="34" charset="0"/>
                <a:ea typeface="MiSans" pitchFamily="34" charset="-122"/>
                <a:cs typeface="MiSans" pitchFamily="34" charset="-120"/>
              </a:rPr>
              <a:t>Nội dung</a:t>
            </a:r>
            <a:endParaRPr lang="en-US" sz="1600" dirty="0"/>
          </a:p>
        </p:txBody>
      </p:sp>
      <p:sp>
        <p:nvSpPr>
          <p:cNvPr id="38" name="Text 36"/>
          <p:cNvSpPr/>
          <p:nvPr/>
        </p:nvSpPr>
        <p:spPr>
          <a:xfrm>
            <a:off x="8300681" y="2842259"/>
            <a:ext cx="3381375" cy="438150"/>
          </a:xfrm>
          <a:prstGeom prst="rect">
            <a:avLst/>
          </a:prstGeom>
          <a:noFill/>
          <a:ln/>
        </p:spPr>
        <p:txBody>
          <a:bodyPr wrap="square" lIns="0" tIns="0" rIns="0" bIns="0" rtlCol="0" anchor="ctr"/>
          <a:lstStyle/>
          <a:p>
            <a:pPr>
              <a:lnSpc>
                <a:spcPct val="140000"/>
              </a:lnSpc>
            </a:pPr>
            <a:r>
              <a:rPr lang="en-US" sz="1050" dirty="0">
                <a:solidFill>
                  <a:srgbClr val="F8FAFC">
                    <a:alpha val="70000"/>
                  </a:srgbClr>
                </a:solidFill>
                <a:latin typeface="MiSans" pitchFamily="34" charset="0"/>
                <a:ea typeface="MiSans" pitchFamily="34" charset="-122"/>
                <a:cs typeface="MiSans" pitchFamily="34" charset="-120"/>
              </a:rPr>
              <a:t>Yêu cầu mô hình </a:t>
            </a:r>
            <a:pPr>
              <a:lnSpc>
                <a:spcPct val="140000"/>
              </a:lnSpc>
            </a:pPr>
            <a:r>
              <a:rPr lang="en-US" sz="1050" dirty="0">
                <a:solidFill>
                  <a:srgbClr val="10B981"/>
                </a:solidFill>
                <a:highlight>
                  <a:srgbClr val="10B981">
                    <a:alpha val="20000"/>
                  </a:srgbClr>
                </a:highlight>
                <a:latin typeface="MiSans" pitchFamily="34" charset="0"/>
                <a:ea typeface="MiSans" pitchFamily="34" charset="-122"/>
                <a:cs typeface="MiSans" pitchFamily="34" charset="-120"/>
              </a:rPr>
              <a:t>hoàn thiện hàm Fibonacci </a:t>
            </a:r>
            <a:pPr>
              <a:lnSpc>
                <a:spcPct val="140000"/>
              </a:lnSpc>
            </a:pPr>
            <a:r>
              <a:rPr lang="en-US" sz="1050" dirty="0">
                <a:solidFill>
                  <a:srgbClr val="F8FAFC">
                    <a:alpha val="70000"/>
                  </a:srgbClr>
                </a:solidFill>
                <a:latin typeface="MiSans" pitchFamily="34" charset="0"/>
                <a:ea typeface="MiSans" pitchFamily="34" charset="-122"/>
                <a:cs typeface="MiSans" pitchFamily="34" charset="-120"/>
              </a:rPr>
              <a:t>từ chữ ký hàm</a:t>
            </a:r>
            <a:endParaRPr lang="en-US" sz="1600" dirty="0"/>
          </a:p>
        </p:txBody>
      </p:sp>
      <p:sp>
        <p:nvSpPr>
          <p:cNvPr id="39" name="Shape 37"/>
          <p:cNvSpPr/>
          <p:nvPr/>
        </p:nvSpPr>
        <p:spPr>
          <a:xfrm>
            <a:off x="8300681" y="3389947"/>
            <a:ext cx="3314700" cy="685800"/>
          </a:xfrm>
          <a:custGeom>
            <a:avLst/>
            <a:gdLst/>
            <a:ahLst/>
            <a:cxnLst/>
            <a:rect l="l" t="t" r="r" b="b"/>
            <a:pathLst>
              <a:path w="3314700" h="685800">
                <a:moveTo>
                  <a:pt x="76199" y="0"/>
                </a:moveTo>
                <a:lnTo>
                  <a:pt x="3238501" y="0"/>
                </a:lnTo>
                <a:cubicBezTo>
                  <a:pt x="3280584" y="0"/>
                  <a:pt x="3314700" y="34116"/>
                  <a:pt x="3314700" y="76199"/>
                </a:cubicBezTo>
                <a:lnTo>
                  <a:pt x="3314700" y="609601"/>
                </a:lnTo>
                <a:cubicBezTo>
                  <a:pt x="3314700" y="651684"/>
                  <a:pt x="3280584" y="685800"/>
                  <a:pt x="3238501" y="685800"/>
                </a:cubicBezTo>
                <a:lnTo>
                  <a:pt x="76199" y="685800"/>
                </a:lnTo>
                <a:cubicBezTo>
                  <a:pt x="34116" y="685800"/>
                  <a:pt x="0" y="651684"/>
                  <a:pt x="0" y="609601"/>
                </a:cubicBezTo>
                <a:lnTo>
                  <a:pt x="0" y="76199"/>
                </a:lnTo>
                <a:cubicBezTo>
                  <a:pt x="0" y="34144"/>
                  <a:pt x="34144" y="0"/>
                  <a:pt x="76199" y="0"/>
                </a:cubicBezTo>
                <a:close/>
              </a:path>
            </a:pathLst>
          </a:custGeom>
          <a:solidFill>
            <a:srgbClr val="0F172A">
              <a:alpha val="50196"/>
            </a:srgbClr>
          </a:solidFill>
          <a:ln/>
        </p:spPr>
      </p:sp>
      <p:sp>
        <p:nvSpPr>
          <p:cNvPr id="40" name="Shape 38"/>
          <p:cNvSpPr/>
          <p:nvPr/>
        </p:nvSpPr>
        <p:spPr>
          <a:xfrm>
            <a:off x="8425696" y="3542347"/>
            <a:ext cx="150019" cy="133350"/>
          </a:xfrm>
          <a:custGeom>
            <a:avLst/>
            <a:gdLst/>
            <a:ahLst/>
            <a:cxnLst/>
            <a:rect l="l" t="t" r="r" b="b"/>
            <a:pathLst>
              <a:path w="150019" h="133350">
                <a:moveTo>
                  <a:pt x="12502" y="50996"/>
                </a:moveTo>
                <a:lnTo>
                  <a:pt x="66988" y="73421"/>
                </a:lnTo>
                <a:cubicBezTo>
                  <a:pt x="69540" y="74462"/>
                  <a:pt x="72249" y="75009"/>
                  <a:pt x="75009" y="75009"/>
                </a:cubicBezTo>
                <a:cubicBezTo>
                  <a:pt x="77770" y="75009"/>
                  <a:pt x="80479" y="74462"/>
                  <a:pt x="83031" y="73421"/>
                </a:cubicBezTo>
                <a:lnTo>
                  <a:pt x="146164" y="47428"/>
                </a:lnTo>
                <a:cubicBezTo>
                  <a:pt x="148508" y="46464"/>
                  <a:pt x="150019" y="44198"/>
                  <a:pt x="150019" y="41672"/>
                </a:cubicBezTo>
                <a:cubicBezTo>
                  <a:pt x="150019" y="39146"/>
                  <a:pt x="148508" y="36880"/>
                  <a:pt x="146164" y="35916"/>
                </a:cubicBezTo>
                <a:lnTo>
                  <a:pt x="83031" y="9923"/>
                </a:lnTo>
                <a:cubicBezTo>
                  <a:pt x="80479" y="8881"/>
                  <a:pt x="77770" y="8334"/>
                  <a:pt x="75009" y="8334"/>
                </a:cubicBezTo>
                <a:cubicBezTo>
                  <a:pt x="72249" y="8334"/>
                  <a:pt x="69540" y="8881"/>
                  <a:pt x="66988" y="9923"/>
                </a:cubicBezTo>
                <a:lnTo>
                  <a:pt x="3855" y="35916"/>
                </a:lnTo>
                <a:cubicBezTo>
                  <a:pt x="1511" y="36880"/>
                  <a:pt x="0" y="39146"/>
                  <a:pt x="0" y="41672"/>
                </a:cubicBezTo>
                <a:lnTo>
                  <a:pt x="0" y="118765"/>
                </a:lnTo>
                <a:cubicBezTo>
                  <a:pt x="0" y="122229"/>
                  <a:pt x="2787" y="125016"/>
                  <a:pt x="6251" y="125016"/>
                </a:cubicBezTo>
                <a:cubicBezTo>
                  <a:pt x="9715" y="125016"/>
                  <a:pt x="12502" y="122229"/>
                  <a:pt x="12502" y="118765"/>
                </a:cubicBezTo>
                <a:lnTo>
                  <a:pt x="12502" y="50996"/>
                </a:lnTo>
                <a:close/>
                <a:moveTo>
                  <a:pt x="25003" y="69670"/>
                </a:moveTo>
                <a:lnTo>
                  <a:pt x="25003" y="100013"/>
                </a:lnTo>
                <a:cubicBezTo>
                  <a:pt x="25003" y="113816"/>
                  <a:pt x="47402" y="125016"/>
                  <a:pt x="75009" y="125016"/>
                </a:cubicBezTo>
                <a:cubicBezTo>
                  <a:pt x="102617" y="125016"/>
                  <a:pt x="125016" y="113816"/>
                  <a:pt x="125016" y="100013"/>
                </a:cubicBezTo>
                <a:lnTo>
                  <a:pt x="125016" y="69644"/>
                </a:lnTo>
                <a:lnTo>
                  <a:pt x="87797" y="84985"/>
                </a:lnTo>
                <a:cubicBezTo>
                  <a:pt x="83734" y="86651"/>
                  <a:pt x="79411" y="87511"/>
                  <a:pt x="75009" y="87511"/>
                </a:cubicBezTo>
                <a:cubicBezTo>
                  <a:pt x="70608" y="87511"/>
                  <a:pt x="66284" y="86651"/>
                  <a:pt x="62221" y="84985"/>
                </a:cubicBezTo>
                <a:lnTo>
                  <a:pt x="25003" y="69644"/>
                </a:lnTo>
                <a:close/>
              </a:path>
            </a:pathLst>
          </a:custGeom>
          <a:solidFill>
            <a:srgbClr val="10B981"/>
          </a:solidFill>
          <a:ln/>
        </p:spPr>
      </p:sp>
      <p:sp>
        <p:nvSpPr>
          <p:cNvPr id="41" name="Text 39"/>
          <p:cNvSpPr/>
          <p:nvPr/>
        </p:nvSpPr>
        <p:spPr>
          <a:xfrm>
            <a:off x="8643581" y="3504247"/>
            <a:ext cx="2924175" cy="190500"/>
          </a:xfrm>
          <a:prstGeom prst="rect">
            <a:avLst/>
          </a:prstGeom>
          <a:noFill/>
          <a:ln/>
        </p:spPr>
        <p:txBody>
          <a:bodyPr wrap="square" lIns="0" tIns="0" rIns="0" bIns="0" rtlCol="0" anchor="ctr"/>
          <a:lstStyle/>
          <a:p>
            <a:pPr>
              <a:lnSpc>
                <a:spcPct val="120000"/>
              </a:lnSpc>
            </a:pPr>
            <a:r>
              <a:rPr lang="en-US" sz="1050" b="1" dirty="0">
                <a:solidFill>
                  <a:srgbClr val="10B981"/>
                </a:solidFill>
                <a:latin typeface="MiSans" pitchFamily="34" charset="0"/>
                <a:ea typeface="MiSans" pitchFamily="34" charset="-122"/>
                <a:cs typeface="MiSans" pitchFamily="34" charset="-120"/>
              </a:rPr>
              <a:t>Giá trị học được</a:t>
            </a:r>
            <a:endParaRPr lang="en-US" sz="1600" dirty="0"/>
          </a:p>
        </p:txBody>
      </p:sp>
      <p:sp>
        <p:nvSpPr>
          <p:cNvPr id="42" name="Text 40"/>
          <p:cNvSpPr/>
          <p:nvPr/>
        </p:nvSpPr>
        <p:spPr>
          <a:xfrm>
            <a:off x="8414981" y="3770947"/>
            <a:ext cx="3152775" cy="190500"/>
          </a:xfrm>
          <a:prstGeom prst="rect">
            <a:avLst/>
          </a:prstGeom>
          <a:noFill/>
          <a:ln/>
        </p:spPr>
        <p:txBody>
          <a:bodyPr wrap="square" lIns="0" tIns="0" rIns="0" bIns="0" rtlCol="0" anchor="ctr"/>
          <a:lstStyle/>
          <a:p>
            <a:pPr>
              <a:lnSpc>
                <a:spcPct val="120000"/>
              </a:lnSpc>
            </a:pPr>
            <a:r>
              <a:rPr lang="en-US" sz="1050" dirty="0">
                <a:solidFill>
                  <a:srgbClr val="F8FAFC">
                    <a:alpha val="70000"/>
                  </a:srgbClr>
                </a:solidFill>
                <a:latin typeface="MiSans" pitchFamily="34" charset="0"/>
                <a:ea typeface="MiSans" pitchFamily="34" charset="-122"/>
                <a:cs typeface="MiSans" pitchFamily="34" charset="-120"/>
              </a:rPr>
              <a:t>Prompt sinh code và xử lý kết quả trả về</a:t>
            </a:r>
            <a:endParaRPr lang="en-US" sz="1600" dirty="0"/>
          </a:p>
        </p:txBody>
      </p:sp>
      <p:sp>
        <p:nvSpPr>
          <p:cNvPr id="43" name="Shape 41"/>
          <p:cNvSpPr/>
          <p:nvPr/>
        </p:nvSpPr>
        <p:spPr>
          <a:xfrm>
            <a:off x="8300681" y="4190047"/>
            <a:ext cx="3314700" cy="571500"/>
          </a:xfrm>
          <a:custGeom>
            <a:avLst/>
            <a:gdLst/>
            <a:ahLst/>
            <a:cxnLst/>
            <a:rect l="l" t="t" r="r" b="b"/>
            <a:pathLst>
              <a:path w="3314700" h="571500">
                <a:moveTo>
                  <a:pt x="76198" y="0"/>
                </a:moveTo>
                <a:lnTo>
                  <a:pt x="3238502" y="0"/>
                </a:lnTo>
                <a:cubicBezTo>
                  <a:pt x="3280585" y="0"/>
                  <a:pt x="3314700" y="34115"/>
                  <a:pt x="3314700" y="76198"/>
                </a:cubicBezTo>
                <a:lnTo>
                  <a:pt x="3314700" y="495302"/>
                </a:lnTo>
                <a:cubicBezTo>
                  <a:pt x="3314700" y="537385"/>
                  <a:pt x="3280585" y="571500"/>
                  <a:pt x="3238502" y="571500"/>
                </a:cubicBezTo>
                <a:lnTo>
                  <a:pt x="76198" y="571500"/>
                </a:lnTo>
                <a:cubicBezTo>
                  <a:pt x="34115" y="571500"/>
                  <a:pt x="0" y="537385"/>
                  <a:pt x="0" y="495302"/>
                </a:cubicBezTo>
                <a:lnTo>
                  <a:pt x="0" y="76198"/>
                </a:lnTo>
                <a:cubicBezTo>
                  <a:pt x="0" y="34115"/>
                  <a:pt x="34115" y="0"/>
                  <a:pt x="76198" y="0"/>
                </a:cubicBezTo>
                <a:close/>
              </a:path>
            </a:pathLst>
          </a:custGeom>
          <a:solidFill>
            <a:srgbClr val="0F172A"/>
          </a:solidFill>
          <a:ln/>
        </p:spPr>
      </p:sp>
      <p:sp>
        <p:nvSpPr>
          <p:cNvPr id="44" name="Text 42"/>
          <p:cNvSpPr/>
          <p:nvPr/>
        </p:nvSpPr>
        <p:spPr>
          <a:xfrm>
            <a:off x="8414981" y="4304347"/>
            <a:ext cx="3143250" cy="152400"/>
          </a:xfrm>
          <a:prstGeom prst="rect">
            <a:avLst/>
          </a:prstGeom>
          <a:noFill/>
          <a:ln/>
        </p:spPr>
        <p:txBody>
          <a:bodyPr wrap="square" lIns="0" tIns="0" rIns="0" bIns="0" rtlCol="0" anchor="ctr"/>
          <a:lstStyle/>
          <a:p>
            <a:pPr>
              <a:lnSpc>
                <a:spcPct val="110000"/>
              </a:lnSpc>
            </a:pPr>
            <a:r>
              <a:rPr lang="en-US" sz="900" dirty="0">
                <a:solidFill>
                  <a:srgbClr val="8B5CF6"/>
                </a:solidFill>
                <a:latin typeface="MiSans" pitchFamily="34" charset="0"/>
                <a:ea typeface="MiSans" pitchFamily="34" charset="-122"/>
                <a:cs typeface="MiSans" pitchFamily="34" charset="-120"/>
              </a:rPr>
              <a:t># Function signature:</a:t>
            </a:r>
            <a:endParaRPr lang="en-US" sz="1600" dirty="0"/>
          </a:p>
        </p:txBody>
      </p:sp>
      <p:sp>
        <p:nvSpPr>
          <p:cNvPr id="45" name="Text 43"/>
          <p:cNvSpPr/>
          <p:nvPr/>
        </p:nvSpPr>
        <p:spPr>
          <a:xfrm>
            <a:off x="8414981" y="4494730"/>
            <a:ext cx="3143250" cy="152400"/>
          </a:xfrm>
          <a:prstGeom prst="rect">
            <a:avLst/>
          </a:prstGeom>
          <a:noFill/>
          <a:ln/>
        </p:spPr>
        <p:txBody>
          <a:bodyPr wrap="square" lIns="0" tIns="0" rIns="0" bIns="0" rtlCol="0" anchor="ctr"/>
          <a:lstStyle/>
          <a:p>
            <a:pPr>
              <a:lnSpc>
                <a:spcPct val="110000"/>
              </a:lnSpc>
            </a:pPr>
            <a:r>
              <a:rPr lang="en-US" sz="900" dirty="0">
                <a:solidFill>
                  <a:srgbClr val="F8FAFC">
                    <a:alpha val="70000"/>
                  </a:srgbClr>
                </a:solidFill>
                <a:latin typeface="MiSans" pitchFamily="34" charset="0"/>
                <a:ea typeface="MiSans" pitchFamily="34" charset="-122"/>
                <a:cs typeface="MiSans" pitchFamily="34" charset="-120"/>
              </a:rPr>
              <a:t>def fibonacci(n: int) -&gt; List[int]:</a:t>
            </a:r>
            <a:endParaRPr lang="en-US" sz="1600" dirty="0"/>
          </a:p>
        </p:txBody>
      </p:sp>
      <p:sp>
        <p:nvSpPr>
          <p:cNvPr id="46" name="Shape 44"/>
          <p:cNvSpPr/>
          <p:nvPr/>
        </p:nvSpPr>
        <p:spPr>
          <a:xfrm>
            <a:off x="384810" y="5267921"/>
            <a:ext cx="11418570" cy="1341120"/>
          </a:xfrm>
          <a:custGeom>
            <a:avLst/>
            <a:gdLst/>
            <a:ahLst/>
            <a:cxnLst/>
            <a:rect l="l" t="t" r="r" b="b"/>
            <a:pathLst>
              <a:path w="11418570" h="1341120">
                <a:moveTo>
                  <a:pt x="152405" y="0"/>
                </a:moveTo>
                <a:lnTo>
                  <a:pt x="11266165" y="0"/>
                </a:lnTo>
                <a:cubicBezTo>
                  <a:pt x="11350336" y="0"/>
                  <a:pt x="11418570" y="68234"/>
                  <a:pt x="11418570" y="152405"/>
                </a:cubicBezTo>
                <a:lnTo>
                  <a:pt x="11418570" y="1188715"/>
                </a:lnTo>
                <a:cubicBezTo>
                  <a:pt x="11418570" y="1272886"/>
                  <a:pt x="11350336" y="1341120"/>
                  <a:pt x="11266165" y="1341120"/>
                </a:cubicBezTo>
                <a:lnTo>
                  <a:pt x="152405" y="1341120"/>
                </a:lnTo>
                <a:cubicBezTo>
                  <a:pt x="68234" y="1341120"/>
                  <a:pt x="0" y="1272886"/>
                  <a:pt x="0" y="1188715"/>
                </a:cubicBezTo>
                <a:lnTo>
                  <a:pt x="0" y="152405"/>
                </a:lnTo>
                <a:cubicBezTo>
                  <a:pt x="0" y="68290"/>
                  <a:pt x="68290" y="0"/>
                  <a:pt x="152405" y="0"/>
                </a:cubicBezTo>
                <a:close/>
              </a:path>
            </a:pathLst>
          </a:custGeom>
          <a:gradFill rotWithShape="1" flip="none">
            <a:gsLst>
              <a:gs pos="0">
                <a:srgbClr val="1E293B"/>
              </a:gs>
              <a:gs pos="100000">
                <a:srgbClr val="1E293B">
                  <a:alpha val="50000"/>
                </a:srgbClr>
              </a:gs>
            </a:gsLst>
            <a:lin ang="0" scaled="1"/>
          </a:gradFill>
          <a:ln w="10160">
            <a:solidFill>
              <a:srgbClr val="3B82F6">
                <a:alpha val="30196"/>
              </a:srgbClr>
            </a:solidFill>
            <a:prstDash val="solid"/>
          </a:ln>
        </p:spPr>
      </p:sp>
      <p:sp>
        <p:nvSpPr>
          <p:cNvPr id="47" name="Shape 45"/>
          <p:cNvSpPr/>
          <p:nvPr/>
        </p:nvSpPr>
        <p:spPr>
          <a:xfrm>
            <a:off x="626745" y="5500329"/>
            <a:ext cx="142875" cy="190500"/>
          </a:xfrm>
          <a:custGeom>
            <a:avLst/>
            <a:gdLst/>
            <a:ahLst/>
            <a:cxnLst/>
            <a:rect l="l" t="t" r="r" b="b"/>
            <a:pathLst>
              <a:path w="142875" h="190500">
                <a:moveTo>
                  <a:pt x="108979" y="142875"/>
                </a:moveTo>
                <a:cubicBezTo>
                  <a:pt x="111696" y="134578"/>
                  <a:pt x="117128" y="127062"/>
                  <a:pt x="123267" y="120588"/>
                </a:cubicBezTo>
                <a:cubicBezTo>
                  <a:pt x="135434" y="107789"/>
                  <a:pt x="142875" y="90488"/>
                  <a:pt x="142875" y="71438"/>
                </a:cubicBezTo>
                <a:cubicBezTo>
                  <a:pt x="142875" y="31998"/>
                  <a:pt x="110877" y="0"/>
                  <a:pt x="71437"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3"/>
                  <a:pt x="65484" y="196453"/>
                </a:cubicBezTo>
                <a:lnTo>
                  <a:pt x="77391" y="196453"/>
                </a:lnTo>
                <a:cubicBezTo>
                  <a:pt x="93836" y="196453"/>
                  <a:pt x="107156" y="183133"/>
                  <a:pt x="107156" y="166688"/>
                </a:cubicBezTo>
                <a:lnTo>
                  <a:pt x="107156" y="160734"/>
                </a:lnTo>
                <a:close/>
                <a:moveTo>
                  <a:pt x="68461" y="41672"/>
                </a:moveTo>
                <a:cubicBezTo>
                  <a:pt x="53653" y="41672"/>
                  <a:pt x="41672" y="53653"/>
                  <a:pt x="41672" y="68461"/>
                </a:cubicBezTo>
                <a:cubicBezTo>
                  <a:pt x="41672" y="73409"/>
                  <a:pt x="37691" y="77391"/>
                  <a:pt x="32742" y="77391"/>
                </a:cubicBezTo>
                <a:cubicBezTo>
                  <a:pt x="27794" y="77391"/>
                  <a:pt x="23812" y="73409"/>
                  <a:pt x="23812" y="68461"/>
                </a:cubicBezTo>
                <a:cubicBezTo>
                  <a:pt x="23812" y="43793"/>
                  <a:pt x="43793" y="23812"/>
                  <a:pt x="68461" y="23812"/>
                </a:cubicBezTo>
                <a:cubicBezTo>
                  <a:pt x="73409" y="23812"/>
                  <a:pt x="77391" y="27794"/>
                  <a:pt x="77391" y="32742"/>
                </a:cubicBezTo>
                <a:cubicBezTo>
                  <a:pt x="77391" y="37691"/>
                  <a:pt x="73409" y="41672"/>
                  <a:pt x="68461" y="41672"/>
                </a:cubicBezTo>
                <a:close/>
              </a:path>
            </a:pathLst>
          </a:custGeom>
          <a:solidFill>
            <a:srgbClr val="3B82F6"/>
          </a:solidFill>
          <a:ln/>
        </p:spPr>
      </p:sp>
      <p:sp>
        <p:nvSpPr>
          <p:cNvPr id="48" name="Text 46"/>
          <p:cNvSpPr/>
          <p:nvPr/>
        </p:nvSpPr>
        <p:spPr>
          <a:xfrm>
            <a:off x="817245" y="5462229"/>
            <a:ext cx="10887075" cy="266700"/>
          </a:xfrm>
          <a:prstGeom prst="rect">
            <a:avLst/>
          </a:prstGeom>
          <a:noFill/>
          <a:ln/>
        </p:spPr>
        <p:txBody>
          <a:bodyPr wrap="square" lIns="0" tIns="0" rIns="0" bIns="0" rtlCol="0" anchor="ctr"/>
          <a:lstStyle/>
          <a:p>
            <a:pPr>
              <a:lnSpc>
                <a:spcPct val="120000"/>
              </a:lnSpc>
            </a:pPr>
            <a:r>
              <a:rPr lang="en-US" sz="1500" b="1" dirty="0">
                <a:solidFill>
                  <a:srgbClr val="F8FAFC"/>
                </a:solidFill>
                <a:latin typeface="Liter" pitchFamily="34" charset="0"/>
                <a:ea typeface="Liter" pitchFamily="34" charset="-122"/>
                <a:cs typeface="Liter" pitchFamily="34" charset="-120"/>
              </a:rPr>
              <a:t>Tóm tắt lý thuyết từ Lab 2</a:t>
            </a:r>
            <a:endParaRPr lang="en-US" sz="1600" dirty="0"/>
          </a:p>
        </p:txBody>
      </p:sp>
      <p:sp>
        <p:nvSpPr>
          <p:cNvPr id="49" name="Shape 47"/>
          <p:cNvSpPr/>
          <p:nvPr/>
        </p:nvSpPr>
        <p:spPr>
          <a:xfrm>
            <a:off x="598170" y="5919429"/>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3B82F6"/>
          </a:solidFill>
          <a:ln/>
        </p:spPr>
      </p:sp>
      <p:sp>
        <p:nvSpPr>
          <p:cNvPr id="50" name="Text 48"/>
          <p:cNvSpPr/>
          <p:nvPr/>
        </p:nvSpPr>
        <p:spPr>
          <a:xfrm>
            <a:off x="883920" y="5881329"/>
            <a:ext cx="3114675" cy="228600"/>
          </a:xfrm>
          <a:prstGeom prst="rect">
            <a:avLst/>
          </a:prstGeom>
          <a:noFill/>
          <a:ln/>
        </p:spPr>
        <p:txBody>
          <a:bodyPr wrap="square" lIns="0" tIns="0" rIns="0" bIns="0" rtlCol="0" anchor="ctr"/>
          <a:lstStyle/>
          <a:p>
            <a:pPr>
              <a:lnSpc>
                <a:spcPct val="130000"/>
              </a:lnSpc>
            </a:pPr>
            <a:r>
              <a:rPr lang="en-US" sz="1200" dirty="0">
                <a:solidFill>
                  <a:srgbClr val="F8FAFC">
                    <a:alpha val="80000"/>
                  </a:srgbClr>
                </a:solidFill>
                <a:latin typeface="MiSans" pitchFamily="34" charset="0"/>
                <a:ea typeface="MiSans" pitchFamily="34" charset="-122"/>
                <a:cs typeface="MiSans" pitchFamily="34" charset="-120"/>
              </a:rPr>
              <a:t>GenAI là công cụ hỗ trợ </a:t>
            </a:r>
            <a:pPr>
              <a:lnSpc>
                <a:spcPct val="130000"/>
              </a:lnSpc>
            </a:pPr>
            <a:r>
              <a:rPr lang="en-US" sz="1200" dirty="0">
                <a:solidFill>
                  <a:srgbClr val="3B82F6"/>
                </a:solidFill>
                <a:highlight>
                  <a:srgbClr val="3B82F6">
                    <a:alpha val="20000"/>
                  </a:srgbClr>
                </a:highlight>
                <a:latin typeface="MiSans" pitchFamily="34" charset="0"/>
                <a:ea typeface="MiSans" pitchFamily="34" charset="-122"/>
                <a:cs typeface="MiSans" pitchFamily="34" charset="-120"/>
              </a:rPr>
              <a:t>xuyên suốt SDLC</a:t>
            </a:r>
            <a:endParaRPr lang="en-US" sz="1600" dirty="0"/>
          </a:p>
        </p:txBody>
      </p:sp>
      <p:sp>
        <p:nvSpPr>
          <p:cNvPr id="51" name="Shape 49"/>
          <p:cNvSpPr/>
          <p:nvPr/>
        </p:nvSpPr>
        <p:spPr>
          <a:xfrm>
            <a:off x="598170" y="6224229"/>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8B5CF6"/>
          </a:solidFill>
          <a:ln/>
        </p:spPr>
      </p:sp>
      <p:sp>
        <p:nvSpPr>
          <p:cNvPr id="52" name="Text 50"/>
          <p:cNvSpPr/>
          <p:nvPr/>
        </p:nvSpPr>
        <p:spPr>
          <a:xfrm>
            <a:off x="883920" y="6186129"/>
            <a:ext cx="3495675" cy="228600"/>
          </a:xfrm>
          <a:prstGeom prst="rect">
            <a:avLst/>
          </a:prstGeom>
          <a:noFill/>
          <a:ln/>
        </p:spPr>
        <p:txBody>
          <a:bodyPr wrap="square" lIns="0" tIns="0" rIns="0" bIns="0" rtlCol="0" anchor="ctr"/>
          <a:lstStyle/>
          <a:p>
            <a:pPr>
              <a:lnSpc>
                <a:spcPct val="130000"/>
              </a:lnSpc>
            </a:pPr>
            <a:r>
              <a:rPr lang="en-US" sz="1200" dirty="0">
                <a:solidFill>
                  <a:srgbClr val="8B5CF6"/>
                </a:solidFill>
                <a:highlight>
                  <a:srgbClr val="8B5CF6">
                    <a:alpha val="20000"/>
                  </a:srgbClr>
                </a:highlight>
                <a:latin typeface="MiSans" pitchFamily="34" charset="0"/>
                <a:ea typeface="MiSans" pitchFamily="34" charset="-122"/>
                <a:cs typeface="MiSans" pitchFamily="34" charset="-120"/>
              </a:rPr>
              <a:t>API </a:t>
            </a:r>
            <a:pPr>
              <a:lnSpc>
                <a:spcPct val="130000"/>
              </a:lnSpc>
            </a:pPr>
            <a:r>
              <a:rPr lang="en-US" sz="1200" dirty="0">
                <a:solidFill>
                  <a:srgbClr val="F8FAFC">
                    <a:alpha val="80000"/>
                  </a:srgbClr>
                </a:solidFill>
                <a:latin typeface="MiSans" pitchFamily="34" charset="0"/>
                <a:ea typeface="MiSans" pitchFamily="34" charset="-122"/>
                <a:cs typeface="MiSans" pitchFamily="34" charset="-120"/>
              </a:rPr>
              <a:t>cho phép tích hợp AI vào hệ thống tự động</a:t>
            </a:r>
            <a:endParaRPr lang="en-US" sz="1600" dirty="0"/>
          </a:p>
        </p:txBody>
      </p:sp>
      <p:sp>
        <p:nvSpPr>
          <p:cNvPr id="53" name="Shape 51"/>
          <p:cNvSpPr/>
          <p:nvPr/>
        </p:nvSpPr>
        <p:spPr>
          <a:xfrm>
            <a:off x="6191250" y="5919429"/>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10B981"/>
          </a:solidFill>
          <a:ln/>
        </p:spPr>
      </p:sp>
      <p:sp>
        <p:nvSpPr>
          <p:cNvPr id="54" name="Text 52"/>
          <p:cNvSpPr/>
          <p:nvPr/>
        </p:nvSpPr>
        <p:spPr>
          <a:xfrm>
            <a:off x="6477000" y="5881329"/>
            <a:ext cx="3267075" cy="228600"/>
          </a:xfrm>
          <a:prstGeom prst="rect">
            <a:avLst/>
          </a:prstGeom>
          <a:noFill/>
          <a:ln/>
        </p:spPr>
        <p:txBody>
          <a:bodyPr wrap="square" lIns="0" tIns="0" rIns="0" bIns="0" rtlCol="0" anchor="ctr"/>
          <a:lstStyle/>
          <a:p>
            <a:pPr>
              <a:lnSpc>
                <a:spcPct val="130000"/>
              </a:lnSpc>
            </a:pPr>
            <a:r>
              <a:rPr lang="en-US" sz="1200" dirty="0">
                <a:solidFill>
                  <a:srgbClr val="10B981"/>
                </a:solidFill>
                <a:highlight>
                  <a:srgbClr val="10B981">
                    <a:alpha val="20000"/>
                  </a:srgbClr>
                </a:highlight>
                <a:latin typeface="MiSans" pitchFamily="34" charset="0"/>
                <a:ea typeface="MiSans" pitchFamily="34" charset="-122"/>
                <a:cs typeface="MiSans" pitchFamily="34" charset="-120"/>
              </a:rPr>
              <a:t>GitHub Copilot </a:t>
            </a:r>
            <a:pPr>
              <a:lnSpc>
                <a:spcPct val="130000"/>
              </a:lnSpc>
            </a:pPr>
            <a:r>
              <a:rPr lang="en-US" sz="1200" dirty="0">
                <a:solidFill>
                  <a:srgbClr val="F8FAFC">
                    <a:alpha val="80000"/>
                  </a:srgbClr>
                </a:solidFill>
                <a:latin typeface="MiSans" pitchFamily="34" charset="0"/>
                <a:ea typeface="MiSans" pitchFamily="34" charset="-122"/>
                <a:cs typeface="MiSans" pitchFamily="34" charset="-120"/>
              </a:rPr>
              <a:t>phát huy hiệu quả trong IDE</a:t>
            </a:r>
            <a:endParaRPr lang="en-US" sz="1600" dirty="0"/>
          </a:p>
        </p:txBody>
      </p:sp>
      <p:sp>
        <p:nvSpPr>
          <p:cNvPr id="55" name="Shape 53"/>
          <p:cNvSpPr/>
          <p:nvPr/>
        </p:nvSpPr>
        <p:spPr>
          <a:xfrm>
            <a:off x="6191250" y="6224229"/>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3B82F6"/>
          </a:solidFill>
          <a:ln/>
        </p:spPr>
      </p:sp>
      <p:sp>
        <p:nvSpPr>
          <p:cNvPr id="56" name="Text 54"/>
          <p:cNvSpPr/>
          <p:nvPr/>
        </p:nvSpPr>
        <p:spPr>
          <a:xfrm>
            <a:off x="6477000" y="6186129"/>
            <a:ext cx="3609975" cy="228600"/>
          </a:xfrm>
          <a:prstGeom prst="rect">
            <a:avLst/>
          </a:prstGeom>
          <a:noFill/>
          <a:ln/>
        </p:spPr>
        <p:txBody>
          <a:bodyPr wrap="square" lIns="0" tIns="0" rIns="0" bIns="0" rtlCol="0" anchor="ctr"/>
          <a:lstStyle/>
          <a:p>
            <a:pPr>
              <a:lnSpc>
                <a:spcPct val="130000"/>
              </a:lnSpc>
            </a:pPr>
            <a:r>
              <a:rPr lang="en-US" sz="1200" dirty="0">
                <a:solidFill>
                  <a:srgbClr val="F8FAFC">
                    <a:alpha val="80000"/>
                  </a:srgbClr>
                </a:solidFill>
                <a:latin typeface="MiSans" pitchFamily="34" charset="0"/>
                <a:ea typeface="MiSans" pitchFamily="34" charset="-122"/>
                <a:cs typeface="MiSans" pitchFamily="34" charset="-120"/>
              </a:rPr>
              <a:t>Prompt chất lượng cao cần </a:t>
            </a:r>
            <a:pPr>
              <a:lnSpc>
                <a:spcPct val="130000"/>
              </a:lnSpc>
            </a:pPr>
            <a:r>
              <a:rPr lang="en-US" sz="1200" dirty="0">
                <a:solidFill>
                  <a:srgbClr val="3B82F6"/>
                </a:solidFill>
                <a:highlight>
                  <a:srgbClr val="3B82F6">
                    <a:alpha val="20000"/>
                  </a:srgbClr>
                </a:highlight>
                <a:latin typeface="MiSans" pitchFamily="34" charset="0"/>
                <a:ea typeface="MiSans" pitchFamily="34" charset="-122"/>
                <a:cs typeface="MiSans" pitchFamily="34" charset="-120"/>
              </a:rPr>
              <a:t>cụ thể, có ràng buộc</a:t>
            </a:r>
            <a:endParaRPr lang="en-US" sz="1600" dirty="0"/>
          </a:p>
        </p:txBody>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84810" y="384810"/>
            <a:ext cx="1779270" cy="312420"/>
          </a:xfrm>
          <a:custGeom>
            <a:avLst/>
            <a:gdLst/>
            <a:ahLst/>
            <a:cxnLst/>
            <a:rect l="l" t="t" r="r" b="b"/>
            <a:pathLst>
              <a:path w="1779270" h="312420">
                <a:moveTo>
                  <a:pt x="156210" y="0"/>
                </a:moveTo>
                <a:lnTo>
                  <a:pt x="1623060" y="0"/>
                </a:lnTo>
                <a:cubicBezTo>
                  <a:pt x="1709275" y="0"/>
                  <a:pt x="1779270" y="69995"/>
                  <a:pt x="1779270" y="156210"/>
                </a:cubicBezTo>
                <a:lnTo>
                  <a:pt x="1779270" y="156210"/>
                </a:lnTo>
                <a:cubicBezTo>
                  <a:pt x="1779270" y="242425"/>
                  <a:pt x="1709275" y="312420"/>
                  <a:pt x="1623060" y="312420"/>
                </a:cubicBezTo>
                <a:lnTo>
                  <a:pt x="156210" y="312420"/>
                </a:lnTo>
                <a:cubicBezTo>
                  <a:pt x="69938" y="312420"/>
                  <a:pt x="0" y="242482"/>
                  <a:pt x="0" y="156210"/>
                </a:cubicBezTo>
                <a:lnTo>
                  <a:pt x="0" y="156210"/>
                </a:lnTo>
                <a:cubicBezTo>
                  <a:pt x="0" y="69938"/>
                  <a:pt x="69938" y="0"/>
                  <a:pt x="156210" y="0"/>
                </a:cubicBezTo>
                <a:close/>
              </a:path>
            </a:pathLst>
          </a:custGeom>
          <a:solidFill>
            <a:srgbClr val="10B981">
              <a:alpha val="20000"/>
            </a:srgbClr>
          </a:solidFill>
          <a:ln w="10160">
            <a:solidFill>
              <a:srgbClr val="10B981">
                <a:alpha val="40000"/>
              </a:srgbClr>
            </a:solidFill>
            <a:prstDash val="solid"/>
          </a:ln>
        </p:spPr>
      </p:sp>
      <p:sp>
        <p:nvSpPr>
          <p:cNvPr id="3" name="Text 1"/>
          <p:cNvSpPr/>
          <p:nvPr/>
        </p:nvSpPr>
        <p:spPr>
          <a:xfrm>
            <a:off x="541020" y="434341"/>
            <a:ext cx="1543764" cy="205740"/>
          </a:xfrm>
          <a:prstGeom prst="rect">
            <a:avLst/>
          </a:prstGeom>
          <a:noFill/>
          <a:ln/>
        </p:spPr>
        <p:txBody>
          <a:bodyPr wrap="square" lIns="0" tIns="0" rIns="0" bIns="0" rtlCol="0" anchor="ctr"/>
          <a:lstStyle/>
          <a:p>
            <a:pPr>
              <a:lnSpc>
                <a:spcPct val="130000"/>
              </a:lnSpc>
            </a:pPr>
            <a:r>
              <a:rPr lang="en-US" sz="1200" b="1" spc="60" kern="0" dirty="0">
                <a:solidFill>
                  <a:srgbClr val="10B981"/>
                </a:solidFill>
                <a:latin typeface="MiSans" pitchFamily="34" charset="0"/>
                <a:ea typeface="MiSans" pitchFamily="34" charset="-122"/>
                <a:cs typeface="MiSans" pitchFamily="34" charset="-120"/>
              </a:rPr>
              <a:t>LAB THỰC HÀNH 3</a:t>
            </a:r>
            <a:endParaRPr lang="en-US" sz="1600" dirty="0"/>
          </a:p>
        </p:txBody>
      </p:sp>
      <p:sp>
        <p:nvSpPr>
          <p:cNvPr id="4" name="Text 2"/>
          <p:cNvSpPr/>
          <p:nvPr/>
        </p:nvSpPr>
        <p:spPr>
          <a:xfrm>
            <a:off x="381000" y="815341"/>
            <a:ext cx="11601450" cy="381000"/>
          </a:xfrm>
          <a:prstGeom prst="rect">
            <a:avLst/>
          </a:prstGeom>
          <a:noFill/>
          <a:ln/>
        </p:spPr>
        <p:txBody>
          <a:bodyPr wrap="square" lIns="0" tIns="0" rIns="0" bIns="0" rtlCol="0" anchor="ctr"/>
          <a:lstStyle/>
          <a:p>
            <a:pPr>
              <a:lnSpc>
                <a:spcPct val="90000"/>
              </a:lnSpc>
            </a:pPr>
            <a:r>
              <a:rPr lang="en-US" sz="2700" b="1" dirty="0">
                <a:solidFill>
                  <a:srgbClr val="F8FAFC"/>
                </a:solidFill>
                <a:latin typeface="Liter" pitchFamily="34" charset="0"/>
                <a:ea typeface="Liter" pitchFamily="34" charset="-122"/>
                <a:cs typeface="Liter" pitchFamily="34" charset="-120"/>
              </a:rPr>
              <a:t>Copilot trong IDE</a:t>
            </a:r>
            <a:endParaRPr lang="en-US" sz="1600" dirty="0"/>
          </a:p>
        </p:txBody>
      </p:sp>
      <p:sp>
        <p:nvSpPr>
          <p:cNvPr id="5" name="Text 3"/>
          <p:cNvSpPr/>
          <p:nvPr/>
        </p:nvSpPr>
        <p:spPr>
          <a:xfrm>
            <a:off x="381000" y="1272541"/>
            <a:ext cx="11525250" cy="266700"/>
          </a:xfrm>
          <a:prstGeom prst="rect">
            <a:avLst/>
          </a:prstGeom>
          <a:noFill/>
          <a:ln/>
        </p:spPr>
        <p:txBody>
          <a:bodyPr wrap="square" lIns="0" tIns="0" rIns="0" bIns="0" rtlCol="0" anchor="ctr"/>
          <a:lstStyle/>
          <a:p>
            <a:pPr>
              <a:lnSpc>
                <a:spcPct val="120000"/>
              </a:lnSpc>
            </a:pPr>
            <a:r>
              <a:rPr lang="en-US" sz="1500" dirty="0">
                <a:solidFill>
                  <a:srgbClr val="F8FAFC">
                    <a:alpha val="70000"/>
                  </a:srgbClr>
                </a:solidFill>
                <a:latin typeface="MiSans" pitchFamily="34" charset="0"/>
                <a:ea typeface="MiSans" pitchFamily="34" charset="-122"/>
                <a:cs typeface="MiSans" pitchFamily="34" charset="-120"/>
              </a:rPr>
              <a:t>Thực hành với VS Code, PyCharm và Jupyter Notebook</a:t>
            </a:r>
            <a:endParaRPr lang="en-US" sz="1600" dirty="0"/>
          </a:p>
        </p:txBody>
      </p:sp>
      <p:sp>
        <p:nvSpPr>
          <p:cNvPr id="6" name="Shape 4"/>
          <p:cNvSpPr/>
          <p:nvPr/>
        </p:nvSpPr>
        <p:spPr>
          <a:xfrm>
            <a:off x="384810" y="1733551"/>
            <a:ext cx="3674745" cy="3998595"/>
          </a:xfrm>
          <a:custGeom>
            <a:avLst/>
            <a:gdLst/>
            <a:ahLst/>
            <a:cxnLst/>
            <a:rect l="l" t="t" r="r" b="b"/>
            <a:pathLst>
              <a:path w="3674745" h="3998595">
                <a:moveTo>
                  <a:pt x="152392" y="0"/>
                </a:moveTo>
                <a:lnTo>
                  <a:pt x="3522353" y="0"/>
                </a:lnTo>
                <a:cubicBezTo>
                  <a:pt x="3606517" y="0"/>
                  <a:pt x="3674745" y="68228"/>
                  <a:pt x="3674745" y="152392"/>
                </a:cubicBezTo>
                <a:lnTo>
                  <a:pt x="3674745" y="3846203"/>
                </a:lnTo>
                <a:cubicBezTo>
                  <a:pt x="3674745" y="3930367"/>
                  <a:pt x="3606517" y="3998595"/>
                  <a:pt x="3522353" y="3998595"/>
                </a:cubicBezTo>
                <a:lnTo>
                  <a:pt x="152392" y="3998595"/>
                </a:lnTo>
                <a:cubicBezTo>
                  <a:pt x="68228" y="3998595"/>
                  <a:pt x="0" y="3930367"/>
                  <a:pt x="0" y="3846203"/>
                </a:cubicBezTo>
                <a:lnTo>
                  <a:pt x="0" y="152392"/>
                </a:lnTo>
                <a:cubicBezTo>
                  <a:pt x="0" y="68284"/>
                  <a:pt x="68284" y="0"/>
                  <a:pt x="152392" y="0"/>
                </a:cubicBezTo>
                <a:close/>
              </a:path>
            </a:pathLst>
          </a:custGeom>
          <a:gradFill rotWithShape="1" flip="none">
            <a:gsLst>
              <a:gs pos="0">
                <a:srgbClr val="1E293B"/>
              </a:gs>
              <a:gs pos="100000">
                <a:srgbClr val="1E293B">
                  <a:alpha val="50000"/>
                </a:srgbClr>
              </a:gs>
            </a:gsLst>
            <a:lin ang="2700000" scaled="1"/>
          </a:gradFill>
          <a:ln w="10160">
            <a:solidFill>
              <a:srgbClr val="3B82F6">
                <a:alpha val="30196"/>
              </a:srgbClr>
            </a:solidFill>
            <a:prstDash val="solid"/>
          </a:ln>
        </p:spPr>
      </p:sp>
      <p:sp>
        <p:nvSpPr>
          <p:cNvPr id="7" name="Shape 5"/>
          <p:cNvSpPr/>
          <p:nvPr/>
        </p:nvSpPr>
        <p:spPr>
          <a:xfrm>
            <a:off x="579120" y="1927859"/>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gradFill rotWithShape="1" flip="none">
            <a:gsLst>
              <a:gs pos="0">
                <a:srgbClr val="3B82F6"/>
              </a:gs>
              <a:gs pos="100000">
                <a:srgbClr val="3B82F6">
                  <a:alpha val="60000"/>
                </a:srgbClr>
              </a:gs>
            </a:gsLst>
            <a:lin ang="2700000" scaled="1"/>
          </a:gradFill>
          <a:ln/>
        </p:spPr>
      </p:sp>
      <p:sp>
        <p:nvSpPr>
          <p:cNvPr id="8" name="Text 6"/>
          <p:cNvSpPr/>
          <p:nvPr/>
        </p:nvSpPr>
        <p:spPr>
          <a:xfrm>
            <a:off x="689134" y="2023109"/>
            <a:ext cx="333375"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MiSans" pitchFamily="34" charset="0"/>
                <a:ea typeface="MiSans" pitchFamily="34" charset="-122"/>
                <a:cs typeface="MiSans" pitchFamily="34" charset="-120"/>
              </a:rPr>
              <a:t>3.1</a:t>
            </a:r>
            <a:endParaRPr lang="en-US" sz="1600" dirty="0"/>
          </a:p>
        </p:txBody>
      </p:sp>
      <p:sp>
        <p:nvSpPr>
          <p:cNvPr id="9" name="Text 7"/>
          <p:cNvSpPr/>
          <p:nvPr/>
        </p:nvSpPr>
        <p:spPr>
          <a:xfrm>
            <a:off x="1150620" y="2023109"/>
            <a:ext cx="1762125" cy="266700"/>
          </a:xfrm>
          <a:prstGeom prst="rect">
            <a:avLst/>
          </a:prstGeom>
          <a:noFill/>
          <a:ln/>
        </p:spPr>
        <p:txBody>
          <a:bodyPr wrap="square" lIns="0" tIns="0" rIns="0" bIns="0" rtlCol="0" anchor="ctr"/>
          <a:lstStyle/>
          <a:p>
            <a:pPr>
              <a:lnSpc>
                <a:spcPct val="120000"/>
              </a:lnSpc>
            </a:pPr>
            <a:r>
              <a:rPr lang="en-US" sz="1500" b="1" dirty="0">
                <a:solidFill>
                  <a:srgbClr val="3B82F6"/>
                </a:solidFill>
                <a:latin typeface="Liter" pitchFamily="34" charset="0"/>
                <a:ea typeface="Liter" pitchFamily="34" charset="-122"/>
                <a:cs typeface="Liter" pitchFamily="34" charset="-120"/>
              </a:rPr>
              <a:t>Tự động hoàn thành</a:t>
            </a:r>
            <a:endParaRPr lang="en-US" sz="1600" dirty="0"/>
          </a:p>
        </p:txBody>
      </p:sp>
      <p:sp>
        <p:nvSpPr>
          <p:cNvPr id="10" name="Text 8"/>
          <p:cNvSpPr/>
          <p:nvPr/>
        </p:nvSpPr>
        <p:spPr>
          <a:xfrm>
            <a:off x="579120" y="2537459"/>
            <a:ext cx="3362325" cy="228600"/>
          </a:xfrm>
          <a:prstGeom prst="rect">
            <a:avLst/>
          </a:prstGeom>
          <a:noFill/>
          <a:ln/>
        </p:spPr>
        <p:txBody>
          <a:bodyPr wrap="square" lIns="0" tIns="0" rIns="0" bIns="0" rtlCol="0" anchor="ctr"/>
          <a:lstStyle/>
          <a:p>
            <a:pPr>
              <a:lnSpc>
                <a:spcPct val="130000"/>
              </a:lnSpc>
            </a:pPr>
            <a:r>
              <a:rPr lang="en-US" sz="1200" b="1" dirty="0">
                <a:solidFill>
                  <a:srgbClr val="F8FAFC"/>
                </a:solidFill>
                <a:latin typeface="MiSans" pitchFamily="34" charset="0"/>
                <a:ea typeface="MiSans" pitchFamily="34" charset="-122"/>
                <a:cs typeface="MiSans" pitchFamily="34" charset="-120"/>
              </a:rPr>
              <a:t>Mục tiêu</a:t>
            </a:r>
            <a:endParaRPr lang="en-US" sz="1600" dirty="0"/>
          </a:p>
        </p:txBody>
      </p:sp>
      <p:sp>
        <p:nvSpPr>
          <p:cNvPr id="11" name="Text 9"/>
          <p:cNvSpPr/>
          <p:nvPr/>
        </p:nvSpPr>
        <p:spPr>
          <a:xfrm>
            <a:off x="579120" y="2842259"/>
            <a:ext cx="3352800" cy="438150"/>
          </a:xfrm>
          <a:prstGeom prst="rect">
            <a:avLst/>
          </a:prstGeom>
          <a:noFill/>
          <a:ln/>
        </p:spPr>
        <p:txBody>
          <a:bodyPr wrap="square" lIns="0" tIns="0" rIns="0" bIns="0" rtlCol="0" anchor="ctr"/>
          <a:lstStyle/>
          <a:p>
            <a:pPr>
              <a:lnSpc>
                <a:spcPct val="140000"/>
              </a:lnSpc>
            </a:pPr>
            <a:r>
              <a:rPr lang="en-US" sz="1050" dirty="0">
                <a:solidFill>
                  <a:srgbClr val="F8FAFC">
                    <a:alpha val="70000"/>
                  </a:srgbClr>
                </a:solidFill>
                <a:latin typeface="MiSans" pitchFamily="34" charset="0"/>
                <a:ea typeface="MiSans" pitchFamily="34" charset="-122"/>
                <a:cs typeface="MiSans" pitchFamily="34" charset="-120"/>
              </a:rPr>
              <a:t>Đánh giá khả năng </a:t>
            </a:r>
            <a:pPr>
              <a:lnSpc>
                <a:spcPct val="140000"/>
              </a:lnSpc>
            </a:pPr>
            <a:r>
              <a:rPr lang="en-US" sz="1050" dirty="0">
                <a:solidFill>
                  <a:srgbClr val="3B82F6"/>
                </a:solidFill>
                <a:highlight>
                  <a:srgbClr val="3B82F6">
                    <a:alpha val="20000"/>
                  </a:srgbClr>
                </a:highlight>
                <a:latin typeface="MiSans" pitchFamily="34" charset="0"/>
                <a:ea typeface="MiSans" pitchFamily="34" charset="-122"/>
                <a:cs typeface="MiSans" pitchFamily="34" charset="-120"/>
              </a:rPr>
              <a:t>chuyển đổi từ ngôn ngữ tự nhiên sang code</a:t>
            </a:r>
            <a:endParaRPr lang="en-US" sz="1600" dirty="0"/>
          </a:p>
        </p:txBody>
      </p:sp>
      <p:sp>
        <p:nvSpPr>
          <p:cNvPr id="12" name="Shape 10"/>
          <p:cNvSpPr/>
          <p:nvPr/>
        </p:nvSpPr>
        <p:spPr>
          <a:xfrm>
            <a:off x="579120" y="3389947"/>
            <a:ext cx="3286125" cy="952500"/>
          </a:xfrm>
          <a:custGeom>
            <a:avLst/>
            <a:gdLst/>
            <a:ahLst/>
            <a:cxnLst/>
            <a:rect l="l" t="t" r="r" b="b"/>
            <a:pathLst>
              <a:path w="3286125" h="952500">
                <a:moveTo>
                  <a:pt x="76200" y="0"/>
                </a:moveTo>
                <a:lnTo>
                  <a:pt x="3209925" y="0"/>
                </a:lnTo>
                <a:cubicBezTo>
                  <a:pt x="3251981" y="0"/>
                  <a:pt x="3286125" y="34144"/>
                  <a:pt x="3286125" y="76200"/>
                </a:cubicBezTo>
                <a:lnTo>
                  <a:pt x="3286125" y="876300"/>
                </a:lnTo>
                <a:cubicBezTo>
                  <a:pt x="3286125" y="918356"/>
                  <a:pt x="3251981" y="952500"/>
                  <a:pt x="3209925" y="952500"/>
                </a:cubicBezTo>
                <a:lnTo>
                  <a:pt x="76200" y="952500"/>
                </a:lnTo>
                <a:cubicBezTo>
                  <a:pt x="34144" y="952500"/>
                  <a:pt x="0" y="918356"/>
                  <a:pt x="0" y="876300"/>
                </a:cubicBezTo>
                <a:lnTo>
                  <a:pt x="0" y="76200"/>
                </a:lnTo>
                <a:cubicBezTo>
                  <a:pt x="0" y="34144"/>
                  <a:pt x="34144" y="0"/>
                  <a:pt x="76200" y="0"/>
                </a:cubicBezTo>
                <a:close/>
              </a:path>
            </a:pathLst>
          </a:custGeom>
          <a:solidFill>
            <a:srgbClr val="0F172A">
              <a:alpha val="50196"/>
            </a:srgbClr>
          </a:solidFill>
          <a:ln/>
        </p:spPr>
      </p:sp>
      <p:sp>
        <p:nvSpPr>
          <p:cNvPr id="13" name="Shape 11"/>
          <p:cNvSpPr/>
          <p:nvPr/>
        </p:nvSpPr>
        <p:spPr>
          <a:xfrm>
            <a:off x="712470" y="3542347"/>
            <a:ext cx="133350" cy="133350"/>
          </a:xfrm>
          <a:custGeom>
            <a:avLst/>
            <a:gdLst/>
            <a:ahLst/>
            <a:cxnLst/>
            <a:rect l="l" t="t" r="r" b="b"/>
            <a:pathLst>
              <a:path w="133350" h="133350">
                <a:moveTo>
                  <a:pt x="17164" y="59513"/>
                </a:moveTo>
                <a:cubicBezTo>
                  <a:pt x="20628" y="35291"/>
                  <a:pt x="41490" y="16669"/>
                  <a:pt x="66675" y="16669"/>
                </a:cubicBezTo>
                <a:cubicBezTo>
                  <a:pt x="80479" y="16669"/>
                  <a:pt x="92980" y="22268"/>
                  <a:pt x="102044" y="31306"/>
                </a:cubicBezTo>
                <a:cubicBezTo>
                  <a:pt x="102096" y="31358"/>
                  <a:pt x="102148" y="31410"/>
                  <a:pt x="102200" y="31462"/>
                </a:cubicBezTo>
                <a:lnTo>
                  <a:pt x="104180" y="33337"/>
                </a:lnTo>
                <a:lnTo>
                  <a:pt x="91704" y="33337"/>
                </a:lnTo>
                <a:cubicBezTo>
                  <a:pt x="87094" y="33337"/>
                  <a:pt x="83370" y="37062"/>
                  <a:pt x="83370" y="41672"/>
                </a:cubicBezTo>
                <a:cubicBezTo>
                  <a:pt x="83370" y="46282"/>
                  <a:pt x="87094" y="50006"/>
                  <a:pt x="91704" y="50006"/>
                </a:cubicBezTo>
                <a:lnTo>
                  <a:pt x="125042" y="50006"/>
                </a:lnTo>
                <a:cubicBezTo>
                  <a:pt x="129652" y="50006"/>
                  <a:pt x="133376" y="46282"/>
                  <a:pt x="133376" y="41672"/>
                </a:cubicBezTo>
                <a:lnTo>
                  <a:pt x="133376" y="8334"/>
                </a:lnTo>
                <a:cubicBezTo>
                  <a:pt x="133376" y="3724"/>
                  <a:pt x="129652" y="0"/>
                  <a:pt x="125042" y="0"/>
                </a:cubicBezTo>
                <a:cubicBezTo>
                  <a:pt x="120432" y="0"/>
                  <a:pt x="116707" y="3724"/>
                  <a:pt x="116707" y="8334"/>
                </a:cubicBezTo>
                <a:lnTo>
                  <a:pt x="116707" y="22242"/>
                </a:lnTo>
                <a:lnTo>
                  <a:pt x="113764" y="19456"/>
                </a:lnTo>
                <a:cubicBezTo>
                  <a:pt x="101705" y="7449"/>
                  <a:pt x="85037" y="0"/>
                  <a:pt x="66675" y="0"/>
                </a:cubicBezTo>
                <a:cubicBezTo>
                  <a:pt x="33077" y="0"/>
                  <a:pt x="5287" y="24847"/>
                  <a:pt x="677" y="57169"/>
                </a:cubicBezTo>
                <a:cubicBezTo>
                  <a:pt x="26" y="61726"/>
                  <a:pt x="3177" y="65946"/>
                  <a:pt x="7735" y="66597"/>
                </a:cubicBezTo>
                <a:cubicBezTo>
                  <a:pt x="12293" y="67248"/>
                  <a:pt x="16512" y="64071"/>
                  <a:pt x="17164" y="59539"/>
                </a:cubicBezTo>
                <a:close/>
                <a:moveTo>
                  <a:pt x="132673" y="76181"/>
                </a:moveTo>
                <a:cubicBezTo>
                  <a:pt x="133324" y="71624"/>
                  <a:pt x="130146" y="67404"/>
                  <a:pt x="125615" y="66753"/>
                </a:cubicBezTo>
                <a:cubicBezTo>
                  <a:pt x="121083" y="66102"/>
                  <a:pt x="116838" y="69279"/>
                  <a:pt x="116186" y="73811"/>
                </a:cubicBezTo>
                <a:cubicBezTo>
                  <a:pt x="112722" y="98033"/>
                  <a:pt x="91860" y="116655"/>
                  <a:pt x="66675" y="116655"/>
                </a:cubicBezTo>
                <a:cubicBezTo>
                  <a:pt x="52871" y="116655"/>
                  <a:pt x="40370" y="111056"/>
                  <a:pt x="31306" y="102018"/>
                </a:cubicBezTo>
                <a:cubicBezTo>
                  <a:pt x="31254" y="101966"/>
                  <a:pt x="31202" y="101914"/>
                  <a:pt x="31150" y="101862"/>
                </a:cubicBezTo>
                <a:lnTo>
                  <a:pt x="29170" y="99986"/>
                </a:lnTo>
                <a:lnTo>
                  <a:pt x="41646" y="99986"/>
                </a:lnTo>
                <a:cubicBezTo>
                  <a:pt x="46256" y="99986"/>
                  <a:pt x="49980" y="96262"/>
                  <a:pt x="49980" y="91652"/>
                </a:cubicBezTo>
                <a:cubicBezTo>
                  <a:pt x="49980" y="87042"/>
                  <a:pt x="46256" y="83318"/>
                  <a:pt x="41646" y="83318"/>
                </a:cubicBezTo>
                <a:lnTo>
                  <a:pt x="8334" y="83344"/>
                </a:lnTo>
                <a:cubicBezTo>
                  <a:pt x="6121" y="83344"/>
                  <a:pt x="3985" y="84229"/>
                  <a:pt x="2422" y="85818"/>
                </a:cubicBezTo>
                <a:cubicBezTo>
                  <a:pt x="859" y="87407"/>
                  <a:pt x="-26" y="89516"/>
                  <a:pt x="0" y="91756"/>
                </a:cubicBezTo>
                <a:lnTo>
                  <a:pt x="260" y="124833"/>
                </a:lnTo>
                <a:cubicBezTo>
                  <a:pt x="286" y="129443"/>
                  <a:pt x="4063" y="133142"/>
                  <a:pt x="8673" y="133090"/>
                </a:cubicBezTo>
                <a:cubicBezTo>
                  <a:pt x="13283" y="133037"/>
                  <a:pt x="16981" y="129287"/>
                  <a:pt x="16929" y="124677"/>
                </a:cubicBezTo>
                <a:lnTo>
                  <a:pt x="16825" y="111264"/>
                </a:lnTo>
                <a:lnTo>
                  <a:pt x="19612" y="113894"/>
                </a:lnTo>
                <a:cubicBezTo>
                  <a:pt x="31671" y="125901"/>
                  <a:pt x="48313" y="133350"/>
                  <a:pt x="66675" y="133350"/>
                </a:cubicBezTo>
                <a:cubicBezTo>
                  <a:pt x="100273" y="133350"/>
                  <a:pt x="128063" y="108503"/>
                  <a:pt x="132673" y="76181"/>
                </a:cubicBezTo>
                <a:close/>
              </a:path>
            </a:pathLst>
          </a:custGeom>
          <a:solidFill>
            <a:srgbClr val="8B5CF6"/>
          </a:solidFill>
          <a:ln/>
        </p:spPr>
      </p:sp>
      <p:sp>
        <p:nvSpPr>
          <p:cNvPr id="14" name="Text 12"/>
          <p:cNvSpPr/>
          <p:nvPr/>
        </p:nvSpPr>
        <p:spPr>
          <a:xfrm>
            <a:off x="922020" y="3504247"/>
            <a:ext cx="2895600" cy="190500"/>
          </a:xfrm>
          <a:prstGeom prst="rect">
            <a:avLst/>
          </a:prstGeom>
          <a:noFill/>
          <a:ln/>
        </p:spPr>
        <p:txBody>
          <a:bodyPr wrap="square" lIns="0" tIns="0" rIns="0" bIns="0" rtlCol="0" anchor="ctr"/>
          <a:lstStyle/>
          <a:p>
            <a:pPr>
              <a:lnSpc>
                <a:spcPct val="120000"/>
              </a:lnSpc>
            </a:pPr>
            <a:r>
              <a:rPr lang="en-US" sz="1050" b="1" dirty="0">
                <a:solidFill>
                  <a:srgbClr val="8B5CF6"/>
                </a:solidFill>
                <a:latin typeface="MiSans" pitchFamily="34" charset="0"/>
                <a:ea typeface="MiSans" pitchFamily="34" charset="-122"/>
                <a:cs typeface="MiSans" pitchFamily="34" charset="-120"/>
              </a:rPr>
              <a:t>Comment Input</a:t>
            </a:r>
            <a:endParaRPr lang="en-US" sz="1600" dirty="0"/>
          </a:p>
        </p:txBody>
      </p:sp>
      <p:sp>
        <p:nvSpPr>
          <p:cNvPr id="15" name="Shape 13"/>
          <p:cNvSpPr/>
          <p:nvPr/>
        </p:nvSpPr>
        <p:spPr>
          <a:xfrm>
            <a:off x="693420" y="3770947"/>
            <a:ext cx="3057525" cy="457200"/>
          </a:xfrm>
          <a:custGeom>
            <a:avLst/>
            <a:gdLst/>
            <a:ahLst/>
            <a:cxnLst/>
            <a:rect l="l" t="t" r="r" b="b"/>
            <a:pathLst>
              <a:path w="3057525" h="457200">
                <a:moveTo>
                  <a:pt x="38098" y="0"/>
                </a:moveTo>
                <a:lnTo>
                  <a:pt x="3019427" y="0"/>
                </a:lnTo>
                <a:cubicBezTo>
                  <a:pt x="3040468" y="0"/>
                  <a:pt x="3057525" y="17057"/>
                  <a:pt x="3057525" y="38098"/>
                </a:cubicBezTo>
                <a:lnTo>
                  <a:pt x="3057525" y="419102"/>
                </a:lnTo>
                <a:cubicBezTo>
                  <a:pt x="3057525" y="440143"/>
                  <a:pt x="3040468" y="457200"/>
                  <a:pt x="3019427" y="457200"/>
                </a:cubicBezTo>
                <a:lnTo>
                  <a:pt x="38098" y="457200"/>
                </a:lnTo>
                <a:cubicBezTo>
                  <a:pt x="17057" y="457200"/>
                  <a:pt x="0" y="440143"/>
                  <a:pt x="0" y="419102"/>
                </a:cubicBezTo>
                <a:lnTo>
                  <a:pt x="0" y="38098"/>
                </a:lnTo>
                <a:cubicBezTo>
                  <a:pt x="0" y="17071"/>
                  <a:pt x="17071" y="0"/>
                  <a:pt x="38098" y="0"/>
                </a:cubicBezTo>
                <a:close/>
              </a:path>
            </a:pathLst>
          </a:custGeom>
          <a:solidFill>
            <a:srgbClr val="0F172A"/>
          </a:solidFill>
          <a:ln/>
        </p:spPr>
      </p:sp>
      <p:sp>
        <p:nvSpPr>
          <p:cNvPr id="16" name="Text 14"/>
          <p:cNvSpPr/>
          <p:nvPr/>
        </p:nvSpPr>
        <p:spPr>
          <a:xfrm>
            <a:off x="769620" y="3847147"/>
            <a:ext cx="2962275" cy="152400"/>
          </a:xfrm>
          <a:prstGeom prst="rect">
            <a:avLst/>
          </a:prstGeom>
          <a:noFill/>
          <a:ln/>
        </p:spPr>
        <p:txBody>
          <a:bodyPr wrap="square" lIns="0" tIns="0" rIns="0" bIns="0" rtlCol="0" anchor="ctr"/>
          <a:lstStyle/>
          <a:p>
            <a:pPr>
              <a:lnSpc>
                <a:spcPct val="110000"/>
              </a:lnSpc>
            </a:pPr>
            <a:r>
              <a:rPr lang="en-US" sz="900" dirty="0">
                <a:solidFill>
                  <a:srgbClr val="F8FAFC">
                    <a:alpha val="70000"/>
                  </a:srgbClr>
                </a:solidFill>
                <a:latin typeface="MiSans" pitchFamily="34" charset="0"/>
                <a:ea typeface="MiSans" pitchFamily="34" charset="-122"/>
                <a:cs typeface="MiSans" pitchFamily="34" charset="-120"/>
              </a:rPr>
              <a:t># Function to calculate the</a:t>
            </a:r>
            <a:endParaRPr lang="en-US" sz="1600" dirty="0"/>
          </a:p>
        </p:txBody>
      </p:sp>
      <p:sp>
        <p:nvSpPr>
          <p:cNvPr id="17" name="Text 15"/>
          <p:cNvSpPr/>
          <p:nvPr/>
        </p:nvSpPr>
        <p:spPr>
          <a:xfrm>
            <a:off x="769620" y="3999430"/>
            <a:ext cx="2962275" cy="152400"/>
          </a:xfrm>
          <a:prstGeom prst="rect">
            <a:avLst/>
          </a:prstGeom>
          <a:noFill/>
          <a:ln/>
        </p:spPr>
        <p:txBody>
          <a:bodyPr wrap="square" lIns="0" tIns="0" rIns="0" bIns="0" rtlCol="0" anchor="ctr"/>
          <a:lstStyle/>
          <a:p>
            <a:pPr>
              <a:lnSpc>
                <a:spcPct val="110000"/>
              </a:lnSpc>
            </a:pPr>
            <a:r>
              <a:rPr lang="en-US" sz="900" dirty="0">
                <a:solidFill>
                  <a:srgbClr val="F8FAFC">
                    <a:alpha val="70000"/>
                  </a:srgbClr>
                </a:solidFill>
                <a:latin typeface="MiSans" pitchFamily="34" charset="0"/>
                <a:ea typeface="MiSans" pitchFamily="34" charset="-122"/>
                <a:cs typeface="MiSans" pitchFamily="34" charset="-120"/>
              </a:rPr>
              <a:t># geometric mean of a list</a:t>
            </a:r>
            <a:endParaRPr lang="en-US" sz="1600" dirty="0"/>
          </a:p>
        </p:txBody>
      </p:sp>
      <p:sp>
        <p:nvSpPr>
          <p:cNvPr id="18" name="Shape 16"/>
          <p:cNvSpPr/>
          <p:nvPr/>
        </p:nvSpPr>
        <p:spPr>
          <a:xfrm>
            <a:off x="579120" y="4456509"/>
            <a:ext cx="3286125" cy="876300"/>
          </a:xfrm>
          <a:custGeom>
            <a:avLst/>
            <a:gdLst/>
            <a:ahLst/>
            <a:cxnLst/>
            <a:rect l="l" t="t" r="r" b="b"/>
            <a:pathLst>
              <a:path w="3286125" h="876300">
                <a:moveTo>
                  <a:pt x="76203" y="0"/>
                </a:moveTo>
                <a:lnTo>
                  <a:pt x="3209922" y="0"/>
                </a:lnTo>
                <a:cubicBezTo>
                  <a:pt x="3252008" y="0"/>
                  <a:pt x="3286125" y="34117"/>
                  <a:pt x="3286125" y="76203"/>
                </a:cubicBezTo>
                <a:lnTo>
                  <a:pt x="3286125" y="800097"/>
                </a:lnTo>
                <a:cubicBezTo>
                  <a:pt x="3286125" y="842183"/>
                  <a:pt x="3252008" y="876300"/>
                  <a:pt x="3209922" y="876300"/>
                </a:cubicBezTo>
                <a:lnTo>
                  <a:pt x="76203" y="876300"/>
                </a:lnTo>
                <a:cubicBezTo>
                  <a:pt x="34117" y="876300"/>
                  <a:pt x="0" y="842183"/>
                  <a:pt x="0" y="800097"/>
                </a:cubicBezTo>
                <a:lnTo>
                  <a:pt x="0" y="76203"/>
                </a:lnTo>
                <a:cubicBezTo>
                  <a:pt x="0" y="34145"/>
                  <a:pt x="34145" y="0"/>
                  <a:pt x="76203" y="0"/>
                </a:cubicBezTo>
                <a:close/>
              </a:path>
            </a:pathLst>
          </a:custGeom>
          <a:solidFill>
            <a:srgbClr val="0F172A">
              <a:alpha val="50196"/>
            </a:srgbClr>
          </a:solidFill>
          <a:ln/>
        </p:spPr>
      </p:sp>
      <p:sp>
        <p:nvSpPr>
          <p:cNvPr id="19" name="Shape 17"/>
          <p:cNvSpPr/>
          <p:nvPr/>
        </p:nvSpPr>
        <p:spPr>
          <a:xfrm>
            <a:off x="712470" y="4608909"/>
            <a:ext cx="133350" cy="133350"/>
          </a:xfrm>
          <a:custGeom>
            <a:avLst/>
            <a:gdLst/>
            <a:ahLst/>
            <a:cxnLst/>
            <a:rect l="l" t="t" r="r" b="b"/>
            <a:pathLst>
              <a:path w="133350" h="133350">
                <a:moveTo>
                  <a:pt x="103789" y="3177"/>
                </a:moveTo>
                <a:lnTo>
                  <a:pt x="80817" y="26149"/>
                </a:lnTo>
                <a:lnTo>
                  <a:pt x="107201" y="52533"/>
                </a:lnTo>
                <a:lnTo>
                  <a:pt x="130173" y="29561"/>
                </a:lnTo>
                <a:cubicBezTo>
                  <a:pt x="132204" y="27503"/>
                  <a:pt x="133350" y="24743"/>
                  <a:pt x="133350" y="21878"/>
                </a:cubicBezTo>
                <a:cubicBezTo>
                  <a:pt x="133350" y="19013"/>
                  <a:pt x="132204" y="16252"/>
                  <a:pt x="130173" y="14194"/>
                </a:cubicBezTo>
                <a:lnTo>
                  <a:pt x="119156" y="3177"/>
                </a:lnTo>
                <a:cubicBezTo>
                  <a:pt x="117098" y="1146"/>
                  <a:pt x="114337" y="0"/>
                  <a:pt x="111472" y="0"/>
                </a:cubicBezTo>
                <a:cubicBezTo>
                  <a:pt x="108607" y="0"/>
                  <a:pt x="105847" y="1146"/>
                  <a:pt x="103789" y="3177"/>
                </a:cubicBezTo>
                <a:close/>
                <a:moveTo>
                  <a:pt x="71988" y="34978"/>
                </a:moveTo>
                <a:lnTo>
                  <a:pt x="3177" y="103789"/>
                </a:lnTo>
                <a:cubicBezTo>
                  <a:pt x="1146" y="105847"/>
                  <a:pt x="0" y="108607"/>
                  <a:pt x="0" y="111472"/>
                </a:cubicBezTo>
                <a:cubicBezTo>
                  <a:pt x="0" y="114337"/>
                  <a:pt x="1146" y="117098"/>
                  <a:pt x="3177" y="119156"/>
                </a:cubicBezTo>
                <a:lnTo>
                  <a:pt x="14194" y="130173"/>
                </a:lnTo>
                <a:cubicBezTo>
                  <a:pt x="16252" y="132204"/>
                  <a:pt x="19013" y="133350"/>
                  <a:pt x="21878" y="133350"/>
                </a:cubicBezTo>
                <a:cubicBezTo>
                  <a:pt x="24743" y="133350"/>
                  <a:pt x="27503" y="132204"/>
                  <a:pt x="29561" y="130173"/>
                </a:cubicBezTo>
                <a:lnTo>
                  <a:pt x="98372" y="61362"/>
                </a:lnTo>
                <a:lnTo>
                  <a:pt x="71988" y="34978"/>
                </a:lnTo>
                <a:close/>
              </a:path>
            </a:pathLst>
          </a:custGeom>
          <a:solidFill>
            <a:srgbClr val="10B981"/>
          </a:solidFill>
          <a:ln/>
        </p:spPr>
      </p:sp>
      <p:sp>
        <p:nvSpPr>
          <p:cNvPr id="20" name="Text 18"/>
          <p:cNvSpPr/>
          <p:nvPr/>
        </p:nvSpPr>
        <p:spPr>
          <a:xfrm>
            <a:off x="922020" y="4570809"/>
            <a:ext cx="2895600" cy="190500"/>
          </a:xfrm>
          <a:prstGeom prst="rect">
            <a:avLst/>
          </a:prstGeom>
          <a:noFill/>
          <a:ln/>
        </p:spPr>
        <p:txBody>
          <a:bodyPr wrap="square" lIns="0" tIns="0" rIns="0" bIns="0" rtlCol="0" anchor="ctr"/>
          <a:lstStyle/>
          <a:p>
            <a:pPr>
              <a:lnSpc>
                <a:spcPct val="120000"/>
              </a:lnSpc>
            </a:pPr>
            <a:r>
              <a:rPr lang="en-US" sz="1050" b="1" dirty="0">
                <a:solidFill>
                  <a:srgbClr val="10B981"/>
                </a:solidFill>
                <a:latin typeface="MiSans" pitchFamily="34" charset="0"/>
                <a:ea typeface="MiSans" pitchFamily="34" charset="-122"/>
                <a:cs typeface="MiSans" pitchFamily="34" charset="-120"/>
              </a:rPr>
              <a:t>Kết quả</a:t>
            </a:r>
            <a:endParaRPr lang="en-US" sz="1600" dirty="0"/>
          </a:p>
        </p:txBody>
      </p:sp>
      <p:sp>
        <p:nvSpPr>
          <p:cNvPr id="21" name="Text 19"/>
          <p:cNvSpPr/>
          <p:nvPr/>
        </p:nvSpPr>
        <p:spPr>
          <a:xfrm>
            <a:off x="693420" y="4837509"/>
            <a:ext cx="3124200" cy="381000"/>
          </a:xfrm>
          <a:prstGeom prst="rect">
            <a:avLst/>
          </a:prstGeom>
          <a:noFill/>
          <a:ln/>
        </p:spPr>
        <p:txBody>
          <a:bodyPr wrap="square" lIns="0" tIns="0" rIns="0" bIns="0" rtlCol="0" anchor="ctr"/>
          <a:lstStyle/>
          <a:p>
            <a:pPr>
              <a:lnSpc>
                <a:spcPct val="120000"/>
              </a:lnSpc>
            </a:pPr>
            <a:r>
              <a:rPr lang="en-US" sz="1050" dirty="0">
                <a:solidFill>
                  <a:srgbClr val="F8FAFC">
                    <a:alpha val="70000"/>
                  </a:srgbClr>
                </a:solidFill>
                <a:latin typeface="MiSans" pitchFamily="34" charset="0"/>
                <a:ea typeface="MiSans" pitchFamily="34" charset="-122"/>
                <a:cs typeface="MiSans" pitchFamily="34" charset="-120"/>
              </a:rPr>
              <a:t>Copilot đề xuất toàn bộ thân hàm bằng </a:t>
            </a:r>
            <a:pPr>
              <a:lnSpc>
                <a:spcPct val="120000"/>
              </a:lnSpc>
            </a:pPr>
            <a:r>
              <a:rPr lang="en-US" sz="1050" dirty="0">
                <a:solidFill>
                  <a:srgbClr val="10B981"/>
                </a:solidFill>
                <a:highlight>
                  <a:srgbClr val="10B981">
                    <a:alpha val="20000"/>
                  </a:srgbClr>
                </a:highlight>
                <a:latin typeface="MiSans" pitchFamily="34" charset="0"/>
                <a:ea typeface="MiSans" pitchFamily="34" charset="-122"/>
                <a:cs typeface="MiSans" pitchFamily="34" charset="-120"/>
              </a:rPr>
              <a:t>ghost text </a:t>
            </a:r>
            <a:pPr>
              <a:lnSpc>
                <a:spcPct val="120000"/>
              </a:lnSpc>
            </a:pPr>
            <a:r>
              <a:rPr lang="en-US" sz="1050" dirty="0">
                <a:solidFill>
                  <a:srgbClr val="F8FAFC">
                    <a:alpha val="70000"/>
                  </a:srgbClr>
                </a:solidFill>
                <a:latin typeface="MiSans" pitchFamily="34" charset="0"/>
                <a:ea typeface="MiSans" pitchFamily="34" charset="-122"/>
                <a:cs typeface="MiSans" pitchFamily="34" charset="-120"/>
              </a:rPr>
              <a:t>sau 1-2 giây</a:t>
            </a:r>
            <a:endParaRPr lang="en-US" sz="1600" dirty="0"/>
          </a:p>
        </p:txBody>
      </p:sp>
      <p:sp>
        <p:nvSpPr>
          <p:cNvPr id="22" name="Shape 20"/>
          <p:cNvSpPr/>
          <p:nvPr/>
        </p:nvSpPr>
        <p:spPr>
          <a:xfrm>
            <a:off x="4258270" y="1733551"/>
            <a:ext cx="3674745" cy="3998595"/>
          </a:xfrm>
          <a:custGeom>
            <a:avLst/>
            <a:gdLst/>
            <a:ahLst/>
            <a:cxnLst/>
            <a:rect l="l" t="t" r="r" b="b"/>
            <a:pathLst>
              <a:path w="3674745" h="3998595">
                <a:moveTo>
                  <a:pt x="152392" y="0"/>
                </a:moveTo>
                <a:lnTo>
                  <a:pt x="3522353" y="0"/>
                </a:lnTo>
                <a:cubicBezTo>
                  <a:pt x="3606517" y="0"/>
                  <a:pt x="3674745" y="68228"/>
                  <a:pt x="3674745" y="152392"/>
                </a:cubicBezTo>
                <a:lnTo>
                  <a:pt x="3674745" y="3846203"/>
                </a:lnTo>
                <a:cubicBezTo>
                  <a:pt x="3674745" y="3930367"/>
                  <a:pt x="3606517" y="3998595"/>
                  <a:pt x="3522353" y="3998595"/>
                </a:cubicBezTo>
                <a:lnTo>
                  <a:pt x="152392" y="3998595"/>
                </a:lnTo>
                <a:cubicBezTo>
                  <a:pt x="68228" y="3998595"/>
                  <a:pt x="0" y="3930367"/>
                  <a:pt x="0" y="3846203"/>
                </a:cubicBezTo>
                <a:lnTo>
                  <a:pt x="0" y="152392"/>
                </a:lnTo>
                <a:cubicBezTo>
                  <a:pt x="0" y="68284"/>
                  <a:pt x="68284" y="0"/>
                  <a:pt x="152392" y="0"/>
                </a:cubicBezTo>
                <a:close/>
              </a:path>
            </a:pathLst>
          </a:custGeom>
          <a:gradFill rotWithShape="1" flip="none">
            <a:gsLst>
              <a:gs pos="0">
                <a:srgbClr val="1E293B"/>
              </a:gs>
              <a:gs pos="100000">
                <a:srgbClr val="1E293B">
                  <a:alpha val="50000"/>
                </a:srgbClr>
              </a:gs>
            </a:gsLst>
            <a:lin ang="2700000" scaled="1"/>
          </a:gradFill>
          <a:ln w="10160">
            <a:solidFill>
              <a:srgbClr val="8B5CF6">
                <a:alpha val="30196"/>
              </a:srgbClr>
            </a:solidFill>
            <a:prstDash val="solid"/>
          </a:ln>
        </p:spPr>
      </p:sp>
      <p:sp>
        <p:nvSpPr>
          <p:cNvPr id="23" name="Shape 21"/>
          <p:cNvSpPr/>
          <p:nvPr/>
        </p:nvSpPr>
        <p:spPr>
          <a:xfrm>
            <a:off x="4452580" y="1927859"/>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gradFill rotWithShape="1" flip="none">
            <a:gsLst>
              <a:gs pos="0">
                <a:srgbClr val="8B5CF6"/>
              </a:gs>
              <a:gs pos="100000">
                <a:srgbClr val="8B5CF6">
                  <a:alpha val="60000"/>
                </a:srgbClr>
              </a:gs>
            </a:gsLst>
            <a:lin ang="2700000" scaled="1"/>
          </a:gradFill>
          <a:ln/>
        </p:spPr>
      </p:sp>
      <p:sp>
        <p:nvSpPr>
          <p:cNvPr id="24" name="Text 22"/>
          <p:cNvSpPr/>
          <p:nvPr/>
        </p:nvSpPr>
        <p:spPr>
          <a:xfrm>
            <a:off x="4546521" y="2023109"/>
            <a:ext cx="361950"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MiSans" pitchFamily="34" charset="0"/>
                <a:ea typeface="MiSans" pitchFamily="34" charset="-122"/>
                <a:cs typeface="MiSans" pitchFamily="34" charset="-120"/>
              </a:rPr>
              <a:t>3.2</a:t>
            </a:r>
            <a:endParaRPr lang="en-US" sz="1600" dirty="0"/>
          </a:p>
        </p:txBody>
      </p:sp>
      <p:sp>
        <p:nvSpPr>
          <p:cNvPr id="25" name="Text 23"/>
          <p:cNvSpPr/>
          <p:nvPr/>
        </p:nvSpPr>
        <p:spPr>
          <a:xfrm>
            <a:off x="5024081" y="2023109"/>
            <a:ext cx="1485900" cy="266700"/>
          </a:xfrm>
          <a:prstGeom prst="rect">
            <a:avLst/>
          </a:prstGeom>
          <a:noFill/>
          <a:ln/>
        </p:spPr>
        <p:txBody>
          <a:bodyPr wrap="square" lIns="0" tIns="0" rIns="0" bIns="0" rtlCol="0" anchor="ctr"/>
          <a:lstStyle/>
          <a:p>
            <a:pPr>
              <a:lnSpc>
                <a:spcPct val="120000"/>
              </a:lnSpc>
            </a:pPr>
            <a:r>
              <a:rPr lang="en-US" sz="1500" b="1" dirty="0">
                <a:solidFill>
                  <a:srgbClr val="8B5CF6"/>
                </a:solidFill>
                <a:latin typeface="Liter" pitchFamily="34" charset="0"/>
                <a:ea typeface="Liter" pitchFamily="34" charset="-122"/>
                <a:cs typeface="Liter" pitchFamily="34" charset="-120"/>
              </a:rPr>
              <a:t>Phân tích &amp; Chat</a:t>
            </a:r>
            <a:endParaRPr lang="en-US" sz="1600" dirty="0"/>
          </a:p>
        </p:txBody>
      </p:sp>
      <p:sp>
        <p:nvSpPr>
          <p:cNvPr id="26" name="Text 24"/>
          <p:cNvSpPr/>
          <p:nvPr/>
        </p:nvSpPr>
        <p:spPr>
          <a:xfrm>
            <a:off x="4452580" y="2537459"/>
            <a:ext cx="3362325" cy="228600"/>
          </a:xfrm>
          <a:prstGeom prst="rect">
            <a:avLst/>
          </a:prstGeom>
          <a:noFill/>
          <a:ln/>
        </p:spPr>
        <p:txBody>
          <a:bodyPr wrap="square" lIns="0" tIns="0" rIns="0" bIns="0" rtlCol="0" anchor="ctr"/>
          <a:lstStyle/>
          <a:p>
            <a:pPr>
              <a:lnSpc>
                <a:spcPct val="130000"/>
              </a:lnSpc>
            </a:pPr>
            <a:r>
              <a:rPr lang="en-US" sz="1200" b="1" dirty="0">
                <a:solidFill>
                  <a:srgbClr val="F8FAFC"/>
                </a:solidFill>
                <a:latin typeface="MiSans" pitchFamily="34" charset="0"/>
                <a:ea typeface="MiSans" pitchFamily="34" charset="-122"/>
                <a:cs typeface="MiSans" pitchFamily="34" charset="-120"/>
              </a:rPr>
              <a:t>Mục tiêu</a:t>
            </a:r>
            <a:endParaRPr lang="en-US" sz="1600" dirty="0"/>
          </a:p>
        </p:txBody>
      </p:sp>
      <p:sp>
        <p:nvSpPr>
          <p:cNvPr id="27" name="Text 25"/>
          <p:cNvSpPr/>
          <p:nvPr/>
        </p:nvSpPr>
        <p:spPr>
          <a:xfrm>
            <a:off x="4452580" y="2842259"/>
            <a:ext cx="3352800" cy="219075"/>
          </a:xfrm>
          <a:prstGeom prst="rect">
            <a:avLst/>
          </a:prstGeom>
          <a:noFill/>
          <a:ln/>
        </p:spPr>
        <p:txBody>
          <a:bodyPr wrap="square" lIns="0" tIns="0" rIns="0" bIns="0" rtlCol="0" anchor="ctr"/>
          <a:lstStyle/>
          <a:p>
            <a:pPr>
              <a:lnSpc>
                <a:spcPct val="140000"/>
              </a:lnSpc>
            </a:pPr>
            <a:r>
              <a:rPr lang="en-US" sz="1050" dirty="0">
                <a:solidFill>
                  <a:srgbClr val="F8FAFC">
                    <a:alpha val="70000"/>
                  </a:srgbClr>
                </a:solidFill>
                <a:latin typeface="MiSans" pitchFamily="34" charset="0"/>
                <a:ea typeface="MiSans" pitchFamily="34" charset="-122"/>
                <a:cs typeface="MiSans" pitchFamily="34" charset="-120"/>
              </a:rPr>
              <a:t>Kiểm tra khả năng </a:t>
            </a:r>
            <a:pPr>
              <a:lnSpc>
                <a:spcPct val="140000"/>
              </a:lnSpc>
            </a:pPr>
            <a:r>
              <a:rPr lang="en-US" sz="1050" dirty="0">
                <a:solidFill>
                  <a:srgbClr val="8B5CF6"/>
                </a:solidFill>
                <a:highlight>
                  <a:srgbClr val="8B5CF6">
                    <a:alpha val="20000"/>
                  </a:srgbClr>
                </a:highlight>
                <a:latin typeface="MiSans" pitchFamily="34" charset="0"/>
                <a:ea typeface="MiSans" pitchFamily="34" charset="-122"/>
                <a:cs typeface="MiSans" pitchFamily="34" charset="-120"/>
              </a:rPr>
              <a:t>hiểu mã, giải thích và refactor</a:t>
            </a:r>
            <a:endParaRPr lang="en-US" sz="1600" dirty="0"/>
          </a:p>
        </p:txBody>
      </p:sp>
      <p:sp>
        <p:nvSpPr>
          <p:cNvPr id="28" name="Shape 26"/>
          <p:cNvSpPr/>
          <p:nvPr/>
        </p:nvSpPr>
        <p:spPr>
          <a:xfrm>
            <a:off x="4452580" y="3173253"/>
            <a:ext cx="3286125" cy="990600"/>
          </a:xfrm>
          <a:custGeom>
            <a:avLst/>
            <a:gdLst/>
            <a:ahLst/>
            <a:cxnLst/>
            <a:rect l="l" t="t" r="r" b="b"/>
            <a:pathLst>
              <a:path w="3286125" h="990600">
                <a:moveTo>
                  <a:pt x="76197" y="0"/>
                </a:moveTo>
                <a:lnTo>
                  <a:pt x="3209928" y="0"/>
                </a:lnTo>
                <a:cubicBezTo>
                  <a:pt x="3252010" y="0"/>
                  <a:pt x="3286125" y="34115"/>
                  <a:pt x="3286125" y="76197"/>
                </a:cubicBezTo>
                <a:lnTo>
                  <a:pt x="3286125" y="914403"/>
                </a:lnTo>
                <a:cubicBezTo>
                  <a:pt x="3286125" y="956485"/>
                  <a:pt x="3252010" y="990600"/>
                  <a:pt x="3209928" y="990600"/>
                </a:cubicBezTo>
                <a:lnTo>
                  <a:pt x="76197" y="990600"/>
                </a:lnTo>
                <a:cubicBezTo>
                  <a:pt x="34115" y="990600"/>
                  <a:pt x="0" y="956485"/>
                  <a:pt x="0" y="914403"/>
                </a:cubicBezTo>
                <a:lnTo>
                  <a:pt x="0" y="76197"/>
                </a:lnTo>
                <a:cubicBezTo>
                  <a:pt x="0" y="34143"/>
                  <a:pt x="34143" y="0"/>
                  <a:pt x="76197" y="0"/>
                </a:cubicBezTo>
                <a:close/>
              </a:path>
            </a:pathLst>
          </a:custGeom>
          <a:solidFill>
            <a:srgbClr val="0F172A">
              <a:alpha val="50196"/>
            </a:srgbClr>
          </a:solidFill>
          <a:ln/>
        </p:spPr>
      </p:sp>
      <p:sp>
        <p:nvSpPr>
          <p:cNvPr id="29" name="Shape 27"/>
          <p:cNvSpPr/>
          <p:nvPr/>
        </p:nvSpPr>
        <p:spPr>
          <a:xfrm>
            <a:off x="4585930" y="3325653"/>
            <a:ext cx="133350" cy="133350"/>
          </a:xfrm>
          <a:custGeom>
            <a:avLst/>
            <a:gdLst/>
            <a:ahLst/>
            <a:cxnLst/>
            <a:rect l="l" t="t" r="r" b="b"/>
            <a:pathLst>
              <a:path w="133350" h="133350">
                <a:moveTo>
                  <a:pt x="2448" y="30889"/>
                </a:moveTo>
                <a:cubicBezTo>
                  <a:pt x="-807" y="27634"/>
                  <a:pt x="-807" y="22347"/>
                  <a:pt x="2448" y="19091"/>
                </a:cubicBezTo>
                <a:cubicBezTo>
                  <a:pt x="5704" y="15835"/>
                  <a:pt x="10991" y="15835"/>
                  <a:pt x="14247" y="19091"/>
                </a:cubicBezTo>
                <a:lnTo>
                  <a:pt x="55918" y="60763"/>
                </a:lnTo>
                <a:cubicBezTo>
                  <a:pt x="59174" y="64018"/>
                  <a:pt x="59174" y="69306"/>
                  <a:pt x="55918" y="72561"/>
                </a:cubicBezTo>
                <a:lnTo>
                  <a:pt x="14247" y="114233"/>
                </a:lnTo>
                <a:cubicBezTo>
                  <a:pt x="10991" y="117489"/>
                  <a:pt x="5704" y="117489"/>
                  <a:pt x="2448" y="114233"/>
                </a:cubicBezTo>
                <a:cubicBezTo>
                  <a:pt x="-807" y="110977"/>
                  <a:pt x="-807" y="105690"/>
                  <a:pt x="2448" y="102435"/>
                </a:cubicBezTo>
                <a:lnTo>
                  <a:pt x="38208" y="66675"/>
                </a:lnTo>
                <a:lnTo>
                  <a:pt x="2448" y="30889"/>
                </a:lnTo>
                <a:close/>
                <a:moveTo>
                  <a:pt x="58341" y="100013"/>
                </a:moveTo>
                <a:lnTo>
                  <a:pt x="125016" y="100013"/>
                </a:lnTo>
                <a:cubicBezTo>
                  <a:pt x="129626" y="100013"/>
                  <a:pt x="133350" y="103737"/>
                  <a:pt x="133350" y="108347"/>
                </a:cubicBezTo>
                <a:cubicBezTo>
                  <a:pt x="133350" y="112957"/>
                  <a:pt x="129626" y="116681"/>
                  <a:pt x="125016" y="116681"/>
                </a:cubicBezTo>
                <a:lnTo>
                  <a:pt x="58341" y="116681"/>
                </a:lnTo>
                <a:cubicBezTo>
                  <a:pt x="53731" y="116681"/>
                  <a:pt x="50006" y="112957"/>
                  <a:pt x="50006" y="108347"/>
                </a:cubicBezTo>
                <a:cubicBezTo>
                  <a:pt x="50006" y="103737"/>
                  <a:pt x="53731" y="100013"/>
                  <a:pt x="58341" y="100013"/>
                </a:cubicBezTo>
                <a:close/>
              </a:path>
            </a:pathLst>
          </a:custGeom>
          <a:solidFill>
            <a:srgbClr val="8B5CF6"/>
          </a:solidFill>
          <a:ln/>
        </p:spPr>
      </p:sp>
      <p:sp>
        <p:nvSpPr>
          <p:cNvPr id="30" name="Text 28"/>
          <p:cNvSpPr/>
          <p:nvPr/>
        </p:nvSpPr>
        <p:spPr>
          <a:xfrm>
            <a:off x="4795480" y="3287553"/>
            <a:ext cx="2895600" cy="190500"/>
          </a:xfrm>
          <a:prstGeom prst="rect">
            <a:avLst/>
          </a:prstGeom>
          <a:noFill/>
          <a:ln/>
        </p:spPr>
        <p:txBody>
          <a:bodyPr wrap="square" lIns="0" tIns="0" rIns="0" bIns="0" rtlCol="0" anchor="ctr"/>
          <a:lstStyle/>
          <a:p>
            <a:pPr>
              <a:lnSpc>
                <a:spcPct val="120000"/>
              </a:lnSpc>
            </a:pPr>
            <a:r>
              <a:rPr lang="en-US" sz="1050" b="1" dirty="0">
                <a:solidFill>
                  <a:srgbClr val="8B5CF6"/>
                </a:solidFill>
                <a:latin typeface="MiSans" pitchFamily="34" charset="0"/>
                <a:ea typeface="MiSans" pitchFamily="34" charset="-122"/>
                <a:cs typeface="MiSans" pitchFamily="34" charset="-120"/>
              </a:rPr>
              <a:t>Commands</a:t>
            </a:r>
            <a:endParaRPr lang="en-US" sz="1600" dirty="0"/>
          </a:p>
        </p:txBody>
      </p:sp>
      <p:sp>
        <p:nvSpPr>
          <p:cNvPr id="31" name="Shape 29"/>
          <p:cNvSpPr/>
          <p:nvPr/>
        </p:nvSpPr>
        <p:spPr>
          <a:xfrm>
            <a:off x="4566880" y="3554253"/>
            <a:ext cx="657225" cy="228600"/>
          </a:xfrm>
          <a:custGeom>
            <a:avLst/>
            <a:gdLst/>
            <a:ahLst/>
            <a:cxnLst/>
            <a:rect l="l" t="t" r="r" b="b"/>
            <a:pathLst>
              <a:path w="657225" h="228600">
                <a:moveTo>
                  <a:pt x="38101" y="0"/>
                </a:moveTo>
                <a:lnTo>
                  <a:pt x="619124" y="0"/>
                </a:lnTo>
                <a:cubicBezTo>
                  <a:pt x="640167" y="0"/>
                  <a:pt x="657225" y="17058"/>
                  <a:pt x="657225" y="38101"/>
                </a:cubicBezTo>
                <a:lnTo>
                  <a:pt x="657225" y="190499"/>
                </a:lnTo>
                <a:cubicBezTo>
                  <a:pt x="657225" y="211542"/>
                  <a:pt x="640167" y="228600"/>
                  <a:pt x="619124" y="228600"/>
                </a:cubicBezTo>
                <a:lnTo>
                  <a:pt x="38101" y="228600"/>
                </a:lnTo>
                <a:cubicBezTo>
                  <a:pt x="17072" y="228600"/>
                  <a:pt x="0" y="211528"/>
                  <a:pt x="0" y="190499"/>
                </a:cubicBezTo>
                <a:lnTo>
                  <a:pt x="0" y="38101"/>
                </a:lnTo>
                <a:cubicBezTo>
                  <a:pt x="0" y="17072"/>
                  <a:pt x="17072" y="0"/>
                  <a:pt x="38101" y="0"/>
                </a:cubicBezTo>
                <a:close/>
              </a:path>
            </a:pathLst>
          </a:custGeom>
          <a:solidFill>
            <a:srgbClr val="0F172A"/>
          </a:solidFill>
          <a:ln/>
        </p:spPr>
      </p:sp>
      <p:sp>
        <p:nvSpPr>
          <p:cNvPr id="32" name="Text 30"/>
          <p:cNvSpPr/>
          <p:nvPr/>
        </p:nvSpPr>
        <p:spPr>
          <a:xfrm>
            <a:off x="4566880" y="3554253"/>
            <a:ext cx="714375" cy="228600"/>
          </a:xfrm>
          <a:prstGeom prst="rect">
            <a:avLst/>
          </a:prstGeom>
          <a:noFill/>
          <a:ln/>
        </p:spPr>
        <p:txBody>
          <a:bodyPr wrap="square" lIns="76200" tIns="38100" rIns="76200" bIns="38100" rtlCol="0" anchor="ctr"/>
          <a:lstStyle/>
          <a:p>
            <a:pPr>
              <a:lnSpc>
                <a:spcPct val="110000"/>
              </a:lnSpc>
            </a:pPr>
            <a:r>
              <a:rPr lang="en-US" sz="900" dirty="0">
                <a:solidFill>
                  <a:srgbClr val="F8FAFC">
                    <a:alpha val="70000"/>
                  </a:srgbClr>
                </a:solidFill>
                <a:latin typeface="MiSans" pitchFamily="34" charset="0"/>
                <a:ea typeface="MiSans" pitchFamily="34" charset="-122"/>
                <a:cs typeface="MiSans" pitchFamily="34" charset="-120"/>
              </a:rPr>
              <a:t>/explain</a:t>
            </a:r>
            <a:endParaRPr lang="en-US" sz="1600" dirty="0"/>
          </a:p>
        </p:txBody>
      </p:sp>
      <p:sp>
        <p:nvSpPr>
          <p:cNvPr id="33" name="Text 31"/>
          <p:cNvSpPr/>
          <p:nvPr/>
        </p:nvSpPr>
        <p:spPr>
          <a:xfrm>
            <a:off x="5298281" y="3592353"/>
            <a:ext cx="838200" cy="152400"/>
          </a:xfrm>
          <a:prstGeom prst="rect">
            <a:avLst/>
          </a:prstGeom>
          <a:noFill/>
          <a:ln/>
        </p:spPr>
        <p:txBody>
          <a:bodyPr wrap="square" lIns="0" tIns="0" rIns="0" bIns="0" rtlCol="0" anchor="ctr"/>
          <a:lstStyle/>
          <a:p>
            <a:pPr>
              <a:lnSpc>
                <a:spcPct val="110000"/>
              </a:lnSpc>
            </a:pPr>
            <a:r>
              <a:rPr lang="en-US" sz="900" dirty="0">
                <a:solidFill>
                  <a:srgbClr val="F8FAFC">
                    <a:alpha val="60000"/>
                  </a:srgbClr>
                </a:solidFill>
                <a:latin typeface="MiSans" pitchFamily="34" charset="0"/>
                <a:ea typeface="MiSans" pitchFamily="34" charset="-122"/>
                <a:cs typeface="MiSans" pitchFamily="34" charset="-120"/>
              </a:rPr>
              <a:t>Giải thích code</a:t>
            </a:r>
            <a:endParaRPr lang="en-US" sz="1600" dirty="0"/>
          </a:p>
        </p:txBody>
      </p:sp>
      <p:sp>
        <p:nvSpPr>
          <p:cNvPr id="34" name="Shape 32"/>
          <p:cNvSpPr/>
          <p:nvPr/>
        </p:nvSpPr>
        <p:spPr>
          <a:xfrm>
            <a:off x="4566880" y="3820837"/>
            <a:ext cx="400050" cy="228600"/>
          </a:xfrm>
          <a:custGeom>
            <a:avLst/>
            <a:gdLst/>
            <a:ahLst/>
            <a:cxnLst/>
            <a:rect l="l" t="t" r="r" b="b"/>
            <a:pathLst>
              <a:path w="400050" h="228600">
                <a:moveTo>
                  <a:pt x="38101" y="0"/>
                </a:moveTo>
                <a:lnTo>
                  <a:pt x="361949" y="0"/>
                </a:lnTo>
                <a:cubicBezTo>
                  <a:pt x="382992" y="0"/>
                  <a:pt x="400050" y="17058"/>
                  <a:pt x="400050" y="38101"/>
                </a:cubicBezTo>
                <a:lnTo>
                  <a:pt x="400050" y="190499"/>
                </a:lnTo>
                <a:cubicBezTo>
                  <a:pt x="400050" y="211542"/>
                  <a:pt x="382992" y="228600"/>
                  <a:pt x="361949" y="228600"/>
                </a:cubicBezTo>
                <a:lnTo>
                  <a:pt x="38101" y="228600"/>
                </a:lnTo>
                <a:cubicBezTo>
                  <a:pt x="17072" y="228600"/>
                  <a:pt x="0" y="211528"/>
                  <a:pt x="0" y="190499"/>
                </a:cubicBezTo>
                <a:lnTo>
                  <a:pt x="0" y="38101"/>
                </a:lnTo>
                <a:cubicBezTo>
                  <a:pt x="0" y="17072"/>
                  <a:pt x="17072" y="0"/>
                  <a:pt x="38101" y="0"/>
                </a:cubicBezTo>
                <a:close/>
              </a:path>
            </a:pathLst>
          </a:custGeom>
          <a:solidFill>
            <a:srgbClr val="0F172A"/>
          </a:solidFill>
          <a:ln/>
        </p:spPr>
      </p:sp>
      <p:sp>
        <p:nvSpPr>
          <p:cNvPr id="35" name="Text 33"/>
          <p:cNvSpPr/>
          <p:nvPr/>
        </p:nvSpPr>
        <p:spPr>
          <a:xfrm>
            <a:off x="4566880" y="3820837"/>
            <a:ext cx="457200" cy="228600"/>
          </a:xfrm>
          <a:prstGeom prst="rect">
            <a:avLst/>
          </a:prstGeom>
          <a:noFill/>
          <a:ln/>
        </p:spPr>
        <p:txBody>
          <a:bodyPr wrap="square" lIns="76200" tIns="38100" rIns="76200" bIns="38100" rtlCol="0" anchor="ctr"/>
          <a:lstStyle/>
          <a:p>
            <a:pPr>
              <a:lnSpc>
                <a:spcPct val="110000"/>
              </a:lnSpc>
            </a:pPr>
            <a:r>
              <a:rPr lang="en-US" sz="900" dirty="0">
                <a:solidFill>
                  <a:srgbClr val="F8FAFC">
                    <a:alpha val="70000"/>
                  </a:srgbClr>
                </a:solidFill>
                <a:latin typeface="MiSans" pitchFamily="34" charset="0"/>
                <a:ea typeface="MiSans" pitchFamily="34" charset="-122"/>
                <a:cs typeface="MiSans" pitchFamily="34" charset="-120"/>
              </a:rPr>
              <a:t>/fix</a:t>
            </a:r>
            <a:endParaRPr lang="en-US" sz="1600" dirty="0"/>
          </a:p>
        </p:txBody>
      </p:sp>
      <p:sp>
        <p:nvSpPr>
          <p:cNvPr id="36" name="Text 34"/>
          <p:cNvSpPr/>
          <p:nvPr/>
        </p:nvSpPr>
        <p:spPr>
          <a:xfrm>
            <a:off x="5046940" y="3858937"/>
            <a:ext cx="409575" cy="152400"/>
          </a:xfrm>
          <a:prstGeom prst="rect">
            <a:avLst/>
          </a:prstGeom>
          <a:noFill/>
          <a:ln/>
        </p:spPr>
        <p:txBody>
          <a:bodyPr wrap="square" lIns="0" tIns="0" rIns="0" bIns="0" rtlCol="0" anchor="ctr"/>
          <a:lstStyle/>
          <a:p>
            <a:pPr>
              <a:lnSpc>
                <a:spcPct val="110000"/>
              </a:lnSpc>
            </a:pPr>
            <a:r>
              <a:rPr lang="en-US" sz="900" dirty="0">
                <a:solidFill>
                  <a:srgbClr val="F8FAFC">
                    <a:alpha val="60000"/>
                  </a:srgbClr>
                </a:solidFill>
                <a:latin typeface="MiSans" pitchFamily="34" charset="0"/>
                <a:ea typeface="MiSans" pitchFamily="34" charset="-122"/>
                <a:cs typeface="MiSans" pitchFamily="34" charset="-120"/>
              </a:rPr>
              <a:t>Sửa lỗi</a:t>
            </a:r>
            <a:endParaRPr lang="en-US" sz="1600" dirty="0"/>
          </a:p>
        </p:txBody>
      </p:sp>
      <p:sp>
        <p:nvSpPr>
          <p:cNvPr id="37" name="Shape 35"/>
          <p:cNvSpPr/>
          <p:nvPr/>
        </p:nvSpPr>
        <p:spPr>
          <a:xfrm>
            <a:off x="4452580" y="4277916"/>
            <a:ext cx="3286125" cy="685800"/>
          </a:xfrm>
          <a:custGeom>
            <a:avLst/>
            <a:gdLst/>
            <a:ahLst/>
            <a:cxnLst/>
            <a:rect l="l" t="t" r="r" b="b"/>
            <a:pathLst>
              <a:path w="3286125" h="685800">
                <a:moveTo>
                  <a:pt x="76199" y="0"/>
                </a:moveTo>
                <a:lnTo>
                  <a:pt x="3209926" y="0"/>
                </a:lnTo>
                <a:cubicBezTo>
                  <a:pt x="3252009" y="0"/>
                  <a:pt x="3286125" y="34116"/>
                  <a:pt x="3286125" y="76199"/>
                </a:cubicBezTo>
                <a:lnTo>
                  <a:pt x="3286125" y="609601"/>
                </a:lnTo>
                <a:cubicBezTo>
                  <a:pt x="3286125" y="651684"/>
                  <a:pt x="3252009" y="685800"/>
                  <a:pt x="3209926" y="685800"/>
                </a:cubicBezTo>
                <a:lnTo>
                  <a:pt x="76199" y="685800"/>
                </a:lnTo>
                <a:cubicBezTo>
                  <a:pt x="34116" y="685800"/>
                  <a:pt x="0" y="651684"/>
                  <a:pt x="0" y="609601"/>
                </a:cubicBezTo>
                <a:lnTo>
                  <a:pt x="0" y="76199"/>
                </a:lnTo>
                <a:cubicBezTo>
                  <a:pt x="0" y="34144"/>
                  <a:pt x="34144" y="0"/>
                  <a:pt x="76199" y="0"/>
                </a:cubicBezTo>
                <a:close/>
              </a:path>
            </a:pathLst>
          </a:custGeom>
          <a:solidFill>
            <a:srgbClr val="0F172A">
              <a:alpha val="50196"/>
            </a:srgbClr>
          </a:solidFill>
          <a:ln/>
        </p:spPr>
      </p:sp>
      <p:sp>
        <p:nvSpPr>
          <p:cNvPr id="38" name="Shape 36"/>
          <p:cNvSpPr/>
          <p:nvPr/>
        </p:nvSpPr>
        <p:spPr>
          <a:xfrm>
            <a:off x="4585930" y="4430316"/>
            <a:ext cx="133350" cy="133350"/>
          </a:xfrm>
          <a:custGeom>
            <a:avLst/>
            <a:gdLst/>
            <a:ahLst/>
            <a:cxnLst/>
            <a:rect l="l" t="t" r="r" b="b"/>
            <a:pathLst>
              <a:path w="133350" h="133350">
                <a:moveTo>
                  <a:pt x="66675" y="0"/>
                </a:moveTo>
                <a:cubicBezTo>
                  <a:pt x="67873" y="0"/>
                  <a:pt x="69071" y="260"/>
                  <a:pt x="70165" y="755"/>
                </a:cubicBezTo>
                <a:lnTo>
                  <a:pt x="119234" y="21565"/>
                </a:lnTo>
                <a:cubicBezTo>
                  <a:pt x="124964" y="23987"/>
                  <a:pt x="129235" y="29639"/>
                  <a:pt x="129209" y="36463"/>
                </a:cubicBezTo>
                <a:cubicBezTo>
                  <a:pt x="129079" y="62299"/>
                  <a:pt x="118452" y="109571"/>
                  <a:pt x="73577" y="131058"/>
                </a:cubicBezTo>
                <a:cubicBezTo>
                  <a:pt x="69227" y="133142"/>
                  <a:pt x="64175" y="133142"/>
                  <a:pt x="59825" y="131058"/>
                </a:cubicBezTo>
                <a:cubicBezTo>
                  <a:pt x="14924" y="109571"/>
                  <a:pt x="4323" y="62299"/>
                  <a:pt x="4193" y="36463"/>
                </a:cubicBezTo>
                <a:cubicBezTo>
                  <a:pt x="4167" y="29639"/>
                  <a:pt x="8439" y="23987"/>
                  <a:pt x="14168" y="21565"/>
                </a:cubicBezTo>
                <a:lnTo>
                  <a:pt x="63211" y="755"/>
                </a:lnTo>
                <a:cubicBezTo>
                  <a:pt x="64305" y="260"/>
                  <a:pt x="65477" y="0"/>
                  <a:pt x="66675" y="0"/>
                </a:cubicBezTo>
                <a:close/>
                <a:moveTo>
                  <a:pt x="66675" y="17398"/>
                </a:moveTo>
                <a:lnTo>
                  <a:pt x="66675" y="115874"/>
                </a:lnTo>
                <a:cubicBezTo>
                  <a:pt x="102617" y="98476"/>
                  <a:pt x="112280" y="59929"/>
                  <a:pt x="112514" y="36854"/>
                </a:cubicBezTo>
                <a:lnTo>
                  <a:pt x="66675" y="17424"/>
                </a:lnTo>
                <a:lnTo>
                  <a:pt x="66675" y="17424"/>
                </a:lnTo>
                <a:close/>
              </a:path>
            </a:pathLst>
          </a:custGeom>
          <a:solidFill>
            <a:srgbClr val="10B981"/>
          </a:solidFill>
          <a:ln/>
        </p:spPr>
      </p:sp>
      <p:sp>
        <p:nvSpPr>
          <p:cNvPr id="39" name="Text 37"/>
          <p:cNvSpPr/>
          <p:nvPr/>
        </p:nvSpPr>
        <p:spPr>
          <a:xfrm>
            <a:off x="4795480" y="4392216"/>
            <a:ext cx="2895600" cy="190500"/>
          </a:xfrm>
          <a:prstGeom prst="rect">
            <a:avLst/>
          </a:prstGeom>
          <a:noFill/>
          <a:ln/>
        </p:spPr>
        <p:txBody>
          <a:bodyPr wrap="square" lIns="0" tIns="0" rIns="0" bIns="0" rtlCol="0" anchor="ctr"/>
          <a:lstStyle/>
          <a:p>
            <a:pPr>
              <a:lnSpc>
                <a:spcPct val="120000"/>
              </a:lnSpc>
            </a:pPr>
            <a:r>
              <a:rPr lang="en-US" sz="1050" b="1" dirty="0">
                <a:solidFill>
                  <a:srgbClr val="10B981"/>
                </a:solidFill>
                <a:latin typeface="MiSans" pitchFamily="34" charset="0"/>
                <a:ea typeface="MiSans" pitchFamily="34" charset="-122"/>
                <a:cs typeface="MiSans" pitchFamily="34" charset="-120"/>
              </a:rPr>
              <a:t>Refactor</a:t>
            </a:r>
            <a:endParaRPr lang="en-US" sz="1600" dirty="0"/>
          </a:p>
        </p:txBody>
      </p:sp>
      <p:sp>
        <p:nvSpPr>
          <p:cNvPr id="40" name="Text 38"/>
          <p:cNvSpPr/>
          <p:nvPr/>
        </p:nvSpPr>
        <p:spPr>
          <a:xfrm>
            <a:off x="4566880" y="4658916"/>
            <a:ext cx="3124200" cy="190500"/>
          </a:xfrm>
          <a:prstGeom prst="rect">
            <a:avLst/>
          </a:prstGeom>
          <a:noFill/>
          <a:ln/>
        </p:spPr>
        <p:txBody>
          <a:bodyPr wrap="square" lIns="0" tIns="0" rIns="0" bIns="0" rtlCol="0" anchor="ctr"/>
          <a:lstStyle/>
          <a:p>
            <a:pPr>
              <a:lnSpc>
                <a:spcPct val="120000"/>
              </a:lnSpc>
            </a:pPr>
            <a:r>
              <a:rPr lang="en-US" sz="1050" dirty="0">
                <a:solidFill>
                  <a:srgbClr val="F8FAFC">
                    <a:alpha val="70000"/>
                  </a:srgbClr>
                </a:solidFill>
                <a:latin typeface="MiSans" pitchFamily="34" charset="0"/>
                <a:ea typeface="MiSans" pitchFamily="34" charset="-122"/>
                <a:cs typeface="MiSans" pitchFamily="34" charset="-120"/>
              </a:rPr>
              <a:t>Thêm </a:t>
            </a:r>
            <a:pPr>
              <a:lnSpc>
                <a:spcPct val="120000"/>
              </a:lnSpc>
            </a:pPr>
            <a:r>
              <a:rPr lang="en-US" sz="1050" dirty="0">
                <a:solidFill>
                  <a:srgbClr val="10B981"/>
                </a:solidFill>
                <a:highlight>
                  <a:srgbClr val="10B981">
                    <a:alpha val="20000"/>
                  </a:srgbClr>
                </a:highlight>
                <a:latin typeface="MiSans" pitchFamily="34" charset="0"/>
                <a:ea typeface="MiSans" pitchFamily="34" charset="-122"/>
                <a:cs typeface="MiSans" pitchFamily="34" charset="-120"/>
              </a:rPr>
              <a:t>try-except </a:t>
            </a:r>
            <a:pPr>
              <a:lnSpc>
                <a:spcPct val="120000"/>
              </a:lnSpc>
            </a:pPr>
            <a:r>
              <a:rPr lang="en-US" sz="1050" dirty="0">
                <a:solidFill>
                  <a:srgbClr val="F8FAFC">
                    <a:alpha val="70000"/>
                  </a:srgbClr>
                </a:solidFill>
                <a:latin typeface="MiSans" pitchFamily="34" charset="0"/>
                <a:ea typeface="MiSans" pitchFamily="34" charset="-122"/>
                <a:cs typeface="MiSans" pitchFamily="34" charset="-120"/>
              </a:rPr>
              <a:t>để xử lý list rỗng</a:t>
            </a:r>
            <a:endParaRPr lang="en-US" sz="1600" dirty="0"/>
          </a:p>
        </p:txBody>
      </p:sp>
      <p:sp>
        <p:nvSpPr>
          <p:cNvPr id="41" name="Shape 39"/>
          <p:cNvSpPr/>
          <p:nvPr/>
        </p:nvSpPr>
        <p:spPr>
          <a:xfrm>
            <a:off x="8131731" y="1733551"/>
            <a:ext cx="3674745" cy="3998595"/>
          </a:xfrm>
          <a:custGeom>
            <a:avLst/>
            <a:gdLst/>
            <a:ahLst/>
            <a:cxnLst/>
            <a:rect l="l" t="t" r="r" b="b"/>
            <a:pathLst>
              <a:path w="3674745" h="3998595">
                <a:moveTo>
                  <a:pt x="152392" y="0"/>
                </a:moveTo>
                <a:lnTo>
                  <a:pt x="3522353" y="0"/>
                </a:lnTo>
                <a:cubicBezTo>
                  <a:pt x="3606517" y="0"/>
                  <a:pt x="3674745" y="68228"/>
                  <a:pt x="3674745" y="152392"/>
                </a:cubicBezTo>
                <a:lnTo>
                  <a:pt x="3674745" y="3846203"/>
                </a:lnTo>
                <a:cubicBezTo>
                  <a:pt x="3674745" y="3930367"/>
                  <a:pt x="3606517" y="3998595"/>
                  <a:pt x="3522353" y="3998595"/>
                </a:cubicBezTo>
                <a:lnTo>
                  <a:pt x="152392" y="3998595"/>
                </a:lnTo>
                <a:cubicBezTo>
                  <a:pt x="68228" y="3998595"/>
                  <a:pt x="0" y="3930367"/>
                  <a:pt x="0" y="3846203"/>
                </a:cubicBezTo>
                <a:lnTo>
                  <a:pt x="0" y="152392"/>
                </a:lnTo>
                <a:cubicBezTo>
                  <a:pt x="0" y="68284"/>
                  <a:pt x="68284" y="0"/>
                  <a:pt x="152392" y="0"/>
                </a:cubicBezTo>
                <a:close/>
              </a:path>
            </a:pathLst>
          </a:custGeom>
          <a:gradFill rotWithShape="1" flip="none">
            <a:gsLst>
              <a:gs pos="0">
                <a:srgbClr val="1E293B"/>
              </a:gs>
              <a:gs pos="100000">
                <a:srgbClr val="1E293B">
                  <a:alpha val="50000"/>
                </a:srgbClr>
              </a:gs>
            </a:gsLst>
            <a:lin ang="2700000" scaled="1"/>
          </a:gradFill>
          <a:ln w="10160">
            <a:solidFill>
              <a:srgbClr val="10B981">
                <a:alpha val="30196"/>
              </a:srgbClr>
            </a:solidFill>
            <a:prstDash val="solid"/>
          </a:ln>
        </p:spPr>
      </p:sp>
      <p:sp>
        <p:nvSpPr>
          <p:cNvPr id="42" name="Shape 40"/>
          <p:cNvSpPr/>
          <p:nvPr/>
        </p:nvSpPr>
        <p:spPr>
          <a:xfrm>
            <a:off x="8326041" y="1927859"/>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gradFill rotWithShape="1" flip="none">
            <a:gsLst>
              <a:gs pos="0">
                <a:srgbClr val="10B981"/>
              </a:gs>
              <a:gs pos="100000">
                <a:srgbClr val="10B981">
                  <a:alpha val="60000"/>
                </a:srgbClr>
              </a:gs>
            </a:gsLst>
            <a:lin ang="2700000" scaled="1"/>
          </a:gradFill>
          <a:ln/>
        </p:spPr>
      </p:sp>
      <p:sp>
        <p:nvSpPr>
          <p:cNvPr id="43" name="Text 41"/>
          <p:cNvSpPr/>
          <p:nvPr/>
        </p:nvSpPr>
        <p:spPr>
          <a:xfrm>
            <a:off x="8417481" y="2023109"/>
            <a:ext cx="371475"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MiSans" pitchFamily="34" charset="0"/>
                <a:ea typeface="MiSans" pitchFamily="34" charset="-122"/>
                <a:cs typeface="MiSans" pitchFamily="34" charset="-120"/>
              </a:rPr>
              <a:t>3.3</a:t>
            </a:r>
            <a:endParaRPr lang="en-US" sz="1600" dirty="0"/>
          </a:p>
        </p:txBody>
      </p:sp>
      <p:sp>
        <p:nvSpPr>
          <p:cNvPr id="44" name="Text 42"/>
          <p:cNvSpPr/>
          <p:nvPr/>
        </p:nvSpPr>
        <p:spPr>
          <a:xfrm>
            <a:off x="8897541" y="2023109"/>
            <a:ext cx="1609725" cy="266700"/>
          </a:xfrm>
          <a:prstGeom prst="rect">
            <a:avLst/>
          </a:prstGeom>
          <a:noFill/>
          <a:ln/>
        </p:spPr>
        <p:txBody>
          <a:bodyPr wrap="square" lIns="0" tIns="0" rIns="0" bIns="0" rtlCol="0" anchor="ctr"/>
          <a:lstStyle/>
          <a:p>
            <a:pPr>
              <a:lnSpc>
                <a:spcPct val="120000"/>
              </a:lnSpc>
            </a:pPr>
            <a:r>
              <a:rPr lang="en-US" sz="1500" b="1" dirty="0">
                <a:solidFill>
                  <a:srgbClr val="10B981"/>
                </a:solidFill>
                <a:latin typeface="Liter" pitchFamily="34" charset="0"/>
                <a:ea typeface="Liter" pitchFamily="34" charset="-122"/>
                <a:cs typeface="Liter" pitchFamily="34" charset="-120"/>
              </a:rPr>
              <a:t>Jupyter Notebook</a:t>
            </a:r>
            <a:endParaRPr lang="en-US" sz="1600" dirty="0"/>
          </a:p>
        </p:txBody>
      </p:sp>
      <p:sp>
        <p:nvSpPr>
          <p:cNvPr id="45" name="Text 43"/>
          <p:cNvSpPr/>
          <p:nvPr/>
        </p:nvSpPr>
        <p:spPr>
          <a:xfrm>
            <a:off x="8326041" y="2537459"/>
            <a:ext cx="3362325" cy="228600"/>
          </a:xfrm>
          <a:prstGeom prst="rect">
            <a:avLst/>
          </a:prstGeom>
          <a:noFill/>
          <a:ln/>
        </p:spPr>
        <p:txBody>
          <a:bodyPr wrap="square" lIns="0" tIns="0" rIns="0" bIns="0" rtlCol="0" anchor="ctr"/>
          <a:lstStyle/>
          <a:p>
            <a:pPr>
              <a:lnSpc>
                <a:spcPct val="130000"/>
              </a:lnSpc>
            </a:pPr>
            <a:r>
              <a:rPr lang="en-US" sz="1200" b="1" dirty="0">
                <a:solidFill>
                  <a:srgbClr val="F8FAFC"/>
                </a:solidFill>
                <a:latin typeface="MiSans" pitchFamily="34" charset="0"/>
                <a:ea typeface="MiSans" pitchFamily="34" charset="-122"/>
                <a:cs typeface="MiSans" pitchFamily="34" charset="-120"/>
              </a:rPr>
              <a:t>Mục tiêu</a:t>
            </a:r>
            <a:endParaRPr lang="en-US" sz="1600" dirty="0"/>
          </a:p>
        </p:txBody>
      </p:sp>
      <p:sp>
        <p:nvSpPr>
          <p:cNvPr id="46" name="Text 44"/>
          <p:cNvSpPr/>
          <p:nvPr/>
        </p:nvSpPr>
        <p:spPr>
          <a:xfrm>
            <a:off x="8326041" y="2842259"/>
            <a:ext cx="3352800" cy="219075"/>
          </a:xfrm>
          <a:prstGeom prst="rect">
            <a:avLst/>
          </a:prstGeom>
          <a:noFill/>
          <a:ln/>
        </p:spPr>
        <p:txBody>
          <a:bodyPr wrap="square" lIns="0" tIns="0" rIns="0" bIns="0" rtlCol="0" anchor="ctr"/>
          <a:lstStyle/>
          <a:p>
            <a:pPr>
              <a:lnSpc>
                <a:spcPct val="140000"/>
              </a:lnSpc>
            </a:pPr>
            <a:r>
              <a:rPr lang="en-US" sz="1050" dirty="0">
                <a:solidFill>
                  <a:srgbClr val="F8FAFC">
                    <a:alpha val="70000"/>
                  </a:srgbClr>
                </a:solidFill>
                <a:latin typeface="MiSans" pitchFamily="34" charset="0"/>
                <a:ea typeface="MiSans" pitchFamily="34" charset="-122"/>
                <a:cs typeface="MiSans" pitchFamily="34" charset="-120"/>
              </a:rPr>
              <a:t>Khai thác Copilot trong </a:t>
            </a:r>
            <a:pPr>
              <a:lnSpc>
                <a:spcPct val="140000"/>
              </a:lnSpc>
            </a:pPr>
            <a:r>
              <a:rPr lang="en-US" sz="1050" dirty="0">
                <a:solidFill>
                  <a:srgbClr val="10B981"/>
                </a:solidFill>
                <a:highlight>
                  <a:srgbClr val="10B981">
                    <a:alpha val="20000"/>
                  </a:srgbClr>
                </a:highlight>
                <a:latin typeface="MiSans" pitchFamily="34" charset="0"/>
                <a:ea typeface="MiSans" pitchFamily="34" charset="-122"/>
                <a:cs typeface="MiSans" pitchFamily="34" charset="-120"/>
              </a:rPr>
              <a:t>Data Science</a:t>
            </a:r>
            <a:endParaRPr lang="en-US" sz="1600" dirty="0"/>
          </a:p>
        </p:txBody>
      </p:sp>
      <p:sp>
        <p:nvSpPr>
          <p:cNvPr id="47" name="Shape 45"/>
          <p:cNvSpPr/>
          <p:nvPr/>
        </p:nvSpPr>
        <p:spPr>
          <a:xfrm>
            <a:off x="8326041" y="3173253"/>
            <a:ext cx="3286125" cy="1028700"/>
          </a:xfrm>
          <a:custGeom>
            <a:avLst/>
            <a:gdLst/>
            <a:ahLst/>
            <a:cxnLst/>
            <a:rect l="l" t="t" r="r" b="b"/>
            <a:pathLst>
              <a:path w="3286125" h="1028700">
                <a:moveTo>
                  <a:pt x="76196" y="0"/>
                </a:moveTo>
                <a:lnTo>
                  <a:pt x="3209929" y="0"/>
                </a:lnTo>
                <a:cubicBezTo>
                  <a:pt x="3252011" y="0"/>
                  <a:pt x="3286125" y="34114"/>
                  <a:pt x="3286125" y="76196"/>
                </a:cubicBezTo>
                <a:lnTo>
                  <a:pt x="3286125" y="952504"/>
                </a:lnTo>
                <a:cubicBezTo>
                  <a:pt x="3286125" y="994586"/>
                  <a:pt x="3252011" y="1028700"/>
                  <a:pt x="3209929" y="1028700"/>
                </a:cubicBezTo>
                <a:lnTo>
                  <a:pt x="76196" y="1028700"/>
                </a:lnTo>
                <a:cubicBezTo>
                  <a:pt x="34114" y="1028700"/>
                  <a:pt x="0" y="994586"/>
                  <a:pt x="0" y="952504"/>
                </a:cubicBezTo>
                <a:lnTo>
                  <a:pt x="0" y="76196"/>
                </a:lnTo>
                <a:cubicBezTo>
                  <a:pt x="0" y="34142"/>
                  <a:pt x="34142" y="0"/>
                  <a:pt x="76196" y="0"/>
                </a:cubicBezTo>
                <a:close/>
              </a:path>
            </a:pathLst>
          </a:custGeom>
          <a:solidFill>
            <a:srgbClr val="0F172A">
              <a:alpha val="50196"/>
            </a:srgbClr>
          </a:solidFill>
          <a:ln/>
        </p:spPr>
      </p:sp>
      <p:sp>
        <p:nvSpPr>
          <p:cNvPr id="48" name="Shape 46"/>
          <p:cNvSpPr/>
          <p:nvPr/>
        </p:nvSpPr>
        <p:spPr>
          <a:xfrm>
            <a:off x="8459391" y="3325653"/>
            <a:ext cx="133350" cy="133350"/>
          </a:xfrm>
          <a:custGeom>
            <a:avLst/>
            <a:gdLst/>
            <a:ahLst/>
            <a:cxnLst/>
            <a:rect l="l" t="t" r="r" b="b"/>
            <a:pathLst>
              <a:path w="133350" h="133350">
                <a:moveTo>
                  <a:pt x="34848" y="9454"/>
                </a:moveTo>
                <a:cubicBezTo>
                  <a:pt x="37687" y="11434"/>
                  <a:pt x="38364" y="15340"/>
                  <a:pt x="36385" y="18153"/>
                </a:cubicBezTo>
                <a:lnTo>
                  <a:pt x="21800" y="38989"/>
                </a:lnTo>
                <a:cubicBezTo>
                  <a:pt x="20732" y="40500"/>
                  <a:pt x="19065" y="41464"/>
                  <a:pt x="17216" y="41620"/>
                </a:cubicBezTo>
                <a:cubicBezTo>
                  <a:pt x="15367" y="41776"/>
                  <a:pt x="13543" y="41151"/>
                  <a:pt x="12241" y="39849"/>
                </a:cubicBezTo>
                <a:lnTo>
                  <a:pt x="1823" y="29431"/>
                </a:lnTo>
                <a:cubicBezTo>
                  <a:pt x="-599" y="26983"/>
                  <a:pt x="-599" y="23024"/>
                  <a:pt x="1823" y="20575"/>
                </a:cubicBezTo>
                <a:cubicBezTo>
                  <a:pt x="4245" y="18127"/>
                  <a:pt x="8230" y="18153"/>
                  <a:pt x="10678" y="20575"/>
                </a:cubicBezTo>
                <a:lnTo>
                  <a:pt x="15835" y="25732"/>
                </a:lnTo>
                <a:lnTo>
                  <a:pt x="26149" y="10991"/>
                </a:lnTo>
                <a:cubicBezTo>
                  <a:pt x="28129" y="8152"/>
                  <a:pt x="32035" y="7475"/>
                  <a:pt x="34848" y="9454"/>
                </a:cubicBezTo>
                <a:close/>
                <a:moveTo>
                  <a:pt x="34848" y="51126"/>
                </a:moveTo>
                <a:cubicBezTo>
                  <a:pt x="37687" y="53106"/>
                  <a:pt x="38364" y="57012"/>
                  <a:pt x="36385" y="59825"/>
                </a:cubicBezTo>
                <a:lnTo>
                  <a:pt x="21800" y="80661"/>
                </a:lnTo>
                <a:cubicBezTo>
                  <a:pt x="20732" y="82172"/>
                  <a:pt x="19065" y="83135"/>
                  <a:pt x="17216" y="83292"/>
                </a:cubicBezTo>
                <a:cubicBezTo>
                  <a:pt x="15367" y="83448"/>
                  <a:pt x="13543" y="82823"/>
                  <a:pt x="12241" y="81521"/>
                </a:cubicBezTo>
                <a:lnTo>
                  <a:pt x="1823" y="71103"/>
                </a:lnTo>
                <a:cubicBezTo>
                  <a:pt x="-625" y="68654"/>
                  <a:pt x="-625" y="64696"/>
                  <a:pt x="1823" y="62273"/>
                </a:cubicBezTo>
                <a:cubicBezTo>
                  <a:pt x="4271" y="59851"/>
                  <a:pt x="8230" y="59825"/>
                  <a:pt x="10652" y="62273"/>
                </a:cubicBezTo>
                <a:lnTo>
                  <a:pt x="15809" y="67430"/>
                </a:lnTo>
                <a:lnTo>
                  <a:pt x="26123" y="52689"/>
                </a:lnTo>
                <a:cubicBezTo>
                  <a:pt x="28102" y="49850"/>
                  <a:pt x="32009" y="49173"/>
                  <a:pt x="34822" y="51152"/>
                </a:cubicBezTo>
                <a:close/>
                <a:moveTo>
                  <a:pt x="58341" y="25003"/>
                </a:moveTo>
                <a:cubicBezTo>
                  <a:pt x="58341" y="20393"/>
                  <a:pt x="62065" y="16669"/>
                  <a:pt x="66675" y="16669"/>
                </a:cubicBezTo>
                <a:lnTo>
                  <a:pt x="125016" y="16669"/>
                </a:lnTo>
                <a:cubicBezTo>
                  <a:pt x="129626" y="16669"/>
                  <a:pt x="133350" y="20393"/>
                  <a:pt x="133350" y="25003"/>
                </a:cubicBezTo>
                <a:cubicBezTo>
                  <a:pt x="133350" y="29613"/>
                  <a:pt x="129626" y="33337"/>
                  <a:pt x="125016" y="33337"/>
                </a:cubicBezTo>
                <a:lnTo>
                  <a:pt x="66675" y="33337"/>
                </a:lnTo>
                <a:cubicBezTo>
                  <a:pt x="62065" y="33337"/>
                  <a:pt x="58341" y="29613"/>
                  <a:pt x="58341" y="25003"/>
                </a:cubicBezTo>
                <a:close/>
                <a:moveTo>
                  <a:pt x="58341" y="66675"/>
                </a:moveTo>
                <a:cubicBezTo>
                  <a:pt x="58341" y="62065"/>
                  <a:pt x="62065" y="58341"/>
                  <a:pt x="66675" y="58341"/>
                </a:cubicBezTo>
                <a:lnTo>
                  <a:pt x="125016" y="58341"/>
                </a:lnTo>
                <a:cubicBezTo>
                  <a:pt x="129626" y="58341"/>
                  <a:pt x="133350" y="62065"/>
                  <a:pt x="133350" y="66675"/>
                </a:cubicBezTo>
                <a:cubicBezTo>
                  <a:pt x="133350" y="71285"/>
                  <a:pt x="129626" y="75009"/>
                  <a:pt x="125016" y="75009"/>
                </a:cubicBezTo>
                <a:lnTo>
                  <a:pt x="66675" y="75009"/>
                </a:lnTo>
                <a:cubicBezTo>
                  <a:pt x="62065" y="75009"/>
                  <a:pt x="58341" y="71285"/>
                  <a:pt x="58341" y="66675"/>
                </a:cubicBezTo>
                <a:close/>
                <a:moveTo>
                  <a:pt x="41672" y="108347"/>
                </a:moveTo>
                <a:cubicBezTo>
                  <a:pt x="41672" y="103737"/>
                  <a:pt x="45396" y="100013"/>
                  <a:pt x="50006" y="100013"/>
                </a:cubicBezTo>
                <a:lnTo>
                  <a:pt x="125016" y="100013"/>
                </a:lnTo>
                <a:cubicBezTo>
                  <a:pt x="129626" y="100013"/>
                  <a:pt x="133350" y="103737"/>
                  <a:pt x="133350" y="108347"/>
                </a:cubicBezTo>
                <a:cubicBezTo>
                  <a:pt x="133350" y="112957"/>
                  <a:pt x="129626" y="116681"/>
                  <a:pt x="125016" y="116681"/>
                </a:cubicBezTo>
                <a:lnTo>
                  <a:pt x="50006" y="116681"/>
                </a:lnTo>
                <a:cubicBezTo>
                  <a:pt x="45396" y="116681"/>
                  <a:pt x="41672" y="112957"/>
                  <a:pt x="41672" y="108347"/>
                </a:cubicBezTo>
                <a:close/>
                <a:moveTo>
                  <a:pt x="16669" y="97929"/>
                </a:moveTo>
                <a:cubicBezTo>
                  <a:pt x="22419" y="97929"/>
                  <a:pt x="27087" y="102597"/>
                  <a:pt x="27087" y="108347"/>
                </a:cubicBezTo>
                <a:cubicBezTo>
                  <a:pt x="27087" y="114097"/>
                  <a:pt x="22419" y="118765"/>
                  <a:pt x="16669" y="118765"/>
                </a:cubicBezTo>
                <a:cubicBezTo>
                  <a:pt x="10919" y="118765"/>
                  <a:pt x="6251" y="114097"/>
                  <a:pt x="6251" y="108347"/>
                </a:cubicBezTo>
                <a:cubicBezTo>
                  <a:pt x="6251" y="102597"/>
                  <a:pt x="10919" y="97929"/>
                  <a:pt x="16669" y="97929"/>
                </a:cubicBezTo>
                <a:close/>
              </a:path>
            </a:pathLst>
          </a:custGeom>
          <a:solidFill>
            <a:srgbClr val="8B5CF6"/>
          </a:solidFill>
          <a:ln/>
        </p:spPr>
      </p:sp>
      <p:sp>
        <p:nvSpPr>
          <p:cNvPr id="49" name="Text 47"/>
          <p:cNvSpPr/>
          <p:nvPr/>
        </p:nvSpPr>
        <p:spPr>
          <a:xfrm>
            <a:off x="8668941" y="3287553"/>
            <a:ext cx="2895600" cy="190500"/>
          </a:xfrm>
          <a:prstGeom prst="rect">
            <a:avLst/>
          </a:prstGeom>
          <a:noFill/>
          <a:ln/>
        </p:spPr>
        <p:txBody>
          <a:bodyPr wrap="square" lIns="0" tIns="0" rIns="0" bIns="0" rtlCol="0" anchor="ctr"/>
          <a:lstStyle/>
          <a:p>
            <a:pPr>
              <a:lnSpc>
                <a:spcPct val="120000"/>
              </a:lnSpc>
            </a:pPr>
            <a:r>
              <a:rPr lang="en-US" sz="1050" b="1" dirty="0">
                <a:solidFill>
                  <a:srgbClr val="8B5CF6"/>
                </a:solidFill>
                <a:latin typeface="MiSans" pitchFamily="34" charset="0"/>
                <a:ea typeface="MiSans" pitchFamily="34" charset="-122"/>
                <a:cs typeface="MiSans" pitchFamily="34" charset="-120"/>
              </a:rPr>
              <a:t>Workflow</a:t>
            </a:r>
            <a:endParaRPr lang="en-US" sz="1600" dirty="0"/>
          </a:p>
        </p:txBody>
      </p:sp>
      <p:sp>
        <p:nvSpPr>
          <p:cNvPr id="50" name="Text 48"/>
          <p:cNvSpPr/>
          <p:nvPr/>
        </p:nvSpPr>
        <p:spPr>
          <a:xfrm>
            <a:off x="8440341" y="3554253"/>
            <a:ext cx="133350" cy="152400"/>
          </a:xfrm>
          <a:prstGeom prst="rect">
            <a:avLst/>
          </a:prstGeom>
          <a:noFill/>
          <a:ln/>
        </p:spPr>
        <p:txBody>
          <a:bodyPr wrap="square" lIns="0" tIns="0" rIns="0" bIns="0" rtlCol="0" anchor="ctr"/>
          <a:lstStyle/>
          <a:p>
            <a:pPr>
              <a:lnSpc>
                <a:spcPct val="110000"/>
              </a:lnSpc>
            </a:pPr>
            <a:r>
              <a:rPr lang="en-US" sz="900" dirty="0">
                <a:solidFill>
                  <a:srgbClr val="3B82F6"/>
                </a:solidFill>
                <a:latin typeface="MiSans" pitchFamily="34" charset="0"/>
                <a:ea typeface="MiSans" pitchFamily="34" charset="-122"/>
                <a:cs typeface="MiSans" pitchFamily="34" charset="-120"/>
              </a:rPr>
              <a:t>1.</a:t>
            </a:r>
            <a:endParaRPr lang="en-US" sz="1600" dirty="0"/>
          </a:p>
        </p:txBody>
      </p:sp>
      <p:sp>
        <p:nvSpPr>
          <p:cNvPr id="51" name="Text 49"/>
          <p:cNvSpPr/>
          <p:nvPr/>
        </p:nvSpPr>
        <p:spPr>
          <a:xfrm>
            <a:off x="8589169" y="3554253"/>
            <a:ext cx="1400175" cy="152400"/>
          </a:xfrm>
          <a:prstGeom prst="rect">
            <a:avLst/>
          </a:prstGeom>
          <a:noFill/>
          <a:ln/>
        </p:spPr>
        <p:txBody>
          <a:bodyPr wrap="square" lIns="0" tIns="0" rIns="0" bIns="0" rtlCol="0" anchor="ctr"/>
          <a:lstStyle/>
          <a:p>
            <a:pPr>
              <a:lnSpc>
                <a:spcPct val="110000"/>
              </a:lnSpc>
            </a:pPr>
            <a:r>
              <a:rPr lang="en-US" sz="900" dirty="0">
                <a:solidFill>
                  <a:srgbClr val="F8FAFC">
                    <a:alpha val="70000"/>
                  </a:srgbClr>
                </a:solidFill>
                <a:latin typeface="MiSans" pitchFamily="34" charset="0"/>
                <a:ea typeface="MiSans" pitchFamily="34" charset="-122"/>
                <a:cs typeface="MiSans" pitchFamily="34" charset="-120"/>
              </a:rPr>
              <a:t>Import pandas, matplotlib</a:t>
            </a:r>
            <a:endParaRPr lang="en-US" sz="1600" dirty="0"/>
          </a:p>
        </p:txBody>
      </p:sp>
      <p:sp>
        <p:nvSpPr>
          <p:cNvPr id="52" name="Text 50"/>
          <p:cNvSpPr/>
          <p:nvPr/>
        </p:nvSpPr>
        <p:spPr>
          <a:xfrm>
            <a:off x="8440341" y="3744637"/>
            <a:ext cx="152400" cy="152400"/>
          </a:xfrm>
          <a:prstGeom prst="rect">
            <a:avLst/>
          </a:prstGeom>
          <a:noFill/>
          <a:ln/>
        </p:spPr>
        <p:txBody>
          <a:bodyPr wrap="square" lIns="0" tIns="0" rIns="0" bIns="0" rtlCol="0" anchor="ctr"/>
          <a:lstStyle/>
          <a:p>
            <a:pPr>
              <a:lnSpc>
                <a:spcPct val="110000"/>
              </a:lnSpc>
            </a:pPr>
            <a:r>
              <a:rPr lang="en-US" sz="900" dirty="0">
                <a:solidFill>
                  <a:srgbClr val="8B5CF6"/>
                </a:solidFill>
                <a:latin typeface="MiSans" pitchFamily="34" charset="0"/>
                <a:ea typeface="MiSans" pitchFamily="34" charset="-122"/>
                <a:cs typeface="MiSans" pitchFamily="34" charset="-120"/>
              </a:rPr>
              <a:t>2.</a:t>
            </a:r>
            <a:endParaRPr lang="en-US" sz="1600" dirty="0"/>
          </a:p>
        </p:txBody>
      </p:sp>
      <p:sp>
        <p:nvSpPr>
          <p:cNvPr id="53" name="Text 51"/>
          <p:cNvSpPr/>
          <p:nvPr/>
        </p:nvSpPr>
        <p:spPr>
          <a:xfrm>
            <a:off x="8608457" y="3744637"/>
            <a:ext cx="1057275" cy="152400"/>
          </a:xfrm>
          <a:prstGeom prst="rect">
            <a:avLst/>
          </a:prstGeom>
          <a:noFill/>
          <a:ln/>
        </p:spPr>
        <p:txBody>
          <a:bodyPr wrap="square" lIns="0" tIns="0" rIns="0" bIns="0" rtlCol="0" anchor="ctr"/>
          <a:lstStyle/>
          <a:p>
            <a:pPr>
              <a:lnSpc>
                <a:spcPct val="110000"/>
              </a:lnSpc>
            </a:pPr>
            <a:r>
              <a:rPr lang="en-US" sz="900" dirty="0">
                <a:solidFill>
                  <a:srgbClr val="F8FAFC">
                    <a:alpha val="70000"/>
                  </a:srgbClr>
                </a:solidFill>
                <a:latin typeface="MiSans" pitchFamily="34" charset="0"/>
                <a:ea typeface="MiSans" pitchFamily="34" charset="-122"/>
                <a:cs typeface="MiSans" pitchFamily="34" charset="-120"/>
              </a:rPr>
              <a:t>Sinh dữ liệu giả lập</a:t>
            </a:r>
            <a:endParaRPr lang="en-US" sz="1600" dirty="0"/>
          </a:p>
        </p:txBody>
      </p:sp>
      <p:sp>
        <p:nvSpPr>
          <p:cNvPr id="54" name="Text 52"/>
          <p:cNvSpPr/>
          <p:nvPr/>
        </p:nvSpPr>
        <p:spPr>
          <a:xfrm>
            <a:off x="8440341" y="3935016"/>
            <a:ext cx="152400" cy="152400"/>
          </a:xfrm>
          <a:prstGeom prst="rect">
            <a:avLst/>
          </a:prstGeom>
          <a:noFill/>
          <a:ln/>
        </p:spPr>
        <p:txBody>
          <a:bodyPr wrap="square" lIns="0" tIns="0" rIns="0" bIns="0" rtlCol="0" anchor="ctr"/>
          <a:lstStyle/>
          <a:p>
            <a:pPr>
              <a:lnSpc>
                <a:spcPct val="110000"/>
              </a:lnSpc>
            </a:pPr>
            <a:r>
              <a:rPr lang="en-US" sz="900" dirty="0">
                <a:solidFill>
                  <a:srgbClr val="10B981"/>
                </a:solidFill>
                <a:latin typeface="MiSans" pitchFamily="34" charset="0"/>
                <a:ea typeface="MiSans" pitchFamily="34" charset="-122"/>
                <a:cs typeface="MiSans" pitchFamily="34" charset="-120"/>
              </a:rPr>
              <a:t>3.</a:t>
            </a:r>
            <a:endParaRPr lang="en-US" sz="1600" dirty="0"/>
          </a:p>
        </p:txBody>
      </p:sp>
      <p:sp>
        <p:nvSpPr>
          <p:cNvPr id="55" name="Text 53"/>
          <p:cNvSpPr/>
          <p:nvPr/>
        </p:nvSpPr>
        <p:spPr>
          <a:xfrm>
            <a:off x="8611434" y="3935016"/>
            <a:ext cx="1133475" cy="152400"/>
          </a:xfrm>
          <a:prstGeom prst="rect">
            <a:avLst/>
          </a:prstGeom>
          <a:noFill/>
          <a:ln/>
        </p:spPr>
        <p:txBody>
          <a:bodyPr wrap="square" lIns="0" tIns="0" rIns="0" bIns="0" rtlCol="0" anchor="ctr"/>
          <a:lstStyle/>
          <a:p>
            <a:pPr>
              <a:lnSpc>
                <a:spcPct val="110000"/>
              </a:lnSpc>
            </a:pPr>
            <a:r>
              <a:rPr lang="en-US" sz="900" dirty="0">
                <a:solidFill>
                  <a:srgbClr val="F8FAFC">
                    <a:alpha val="70000"/>
                  </a:srgbClr>
                </a:solidFill>
                <a:latin typeface="MiSans" pitchFamily="34" charset="0"/>
                <a:ea typeface="MiSans" pitchFamily="34" charset="-122"/>
                <a:cs typeface="MiSans" pitchFamily="34" charset="-120"/>
              </a:rPr>
              <a:t>Vẽ biểu đồ bar chart</a:t>
            </a:r>
            <a:endParaRPr lang="en-US" sz="1600" dirty="0"/>
          </a:p>
        </p:txBody>
      </p:sp>
      <p:sp>
        <p:nvSpPr>
          <p:cNvPr id="56" name="Shape 54"/>
          <p:cNvSpPr/>
          <p:nvPr/>
        </p:nvSpPr>
        <p:spPr>
          <a:xfrm>
            <a:off x="8326041" y="4315899"/>
            <a:ext cx="3286125" cy="876300"/>
          </a:xfrm>
          <a:custGeom>
            <a:avLst/>
            <a:gdLst/>
            <a:ahLst/>
            <a:cxnLst/>
            <a:rect l="l" t="t" r="r" b="b"/>
            <a:pathLst>
              <a:path w="3286125" h="876300">
                <a:moveTo>
                  <a:pt x="76203" y="0"/>
                </a:moveTo>
                <a:lnTo>
                  <a:pt x="3209922" y="0"/>
                </a:lnTo>
                <a:cubicBezTo>
                  <a:pt x="3252008" y="0"/>
                  <a:pt x="3286125" y="34117"/>
                  <a:pt x="3286125" y="76203"/>
                </a:cubicBezTo>
                <a:lnTo>
                  <a:pt x="3286125" y="800097"/>
                </a:lnTo>
                <a:cubicBezTo>
                  <a:pt x="3286125" y="842183"/>
                  <a:pt x="3252008" y="876300"/>
                  <a:pt x="3209922" y="876300"/>
                </a:cubicBezTo>
                <a:lnTo>
                  <a:pt x="76203" y="876300"/>
                </a:lnTo>
                <a:cubicBezTo>
                  <a:pt x="34117" y="876300"/>
                  <a:pt x="0" y="842183"/>
                  <a:pt x="0" y="800097"/>
                </a:cubicBezTo>
                <a:lnTo>
                  <a:pt x="0" y="76203"/>
                </a:lnTo>
                <a:cubicBezTo>
                  <a:pt x="0" y="34145"/>
                  <a:pt x="34145" y="0"/>
                  <a:pt x="76203" y="0"/>
                </a:cubicBezTo>
                <a:close/>
              </a:path>
            </a:pathLst>
          </a:custGeom>
          <a:solidFill>
            <a:srgbClr val="0F172A">
              <a:alpha val="50196"/>
            </a:srgbClr>
          </a:solidFill>
          <a:ln/>
        </p:spPr>
      </p:sp>
      <p:sp>
        <p:nvSpPr>
          <p:cNvPr id="57" name="Shape 55"/>
          <p:cNvSpPr/>
          <p:nvPr/>
        </p:nvSpPr>
        <p:spPr>
          <a:xfrm>
            <a:off x="8459391" y="4468299"/>
            <a:ext cx="133350" cy="133350"/>
          </a:xfrm>
          <a:custGeom>
            <a:avLst/>
            <a:gdLst/>
            <a:ahLst/>
            <a:cxnLst/>
            <a:rect l="l" t="t" r="r" b="b"/>
            <a:pathLst>
              <a:path w="133350" h="133350">
                <a:moveTo>
                  <a:pt x="31254" y="14585"/>
                </a:moveTo>
                <a:cubicBezTo>
                  <a:pt x="31254" y="6537"/>
                  <a:pt x="37791" y="0"/>
                  <a:pt x="45839" y="0"/>
                </a:cubicBezTo>
                <a:lnTo>
                  <a:pt x="52090" y="0"/>
                </a:lnTo>
                <a:cubicBezTo>
                  <a:pt x="56700" y="0"/>
                  <a:pt x="60424" y="3724"/>
                  <a:pt x="60424" y="8334"/>
                </a:cubicBezTo>
                <a:lnTo>
                  <a:pt x="60424" y="125016"/>
                </a:lnTo>
                <a:cubicBezTo>
                  <a:pt x="60424" y="129626"/>
                  <a:pt x="56700" y="133350"/>
                  <a:pt x="52090" y="133350"/>
                </a:cubicBezTo>
                <a:lnTo>
                  <a:pt x="43755" y="133350"/>
                </a:lnTo>
                <a:cubicBezTo>
                  <a:pt x="35994" y="133350"/>
                  <a:pt x="29457" y="128037"/>
                  <a:pt x="27608" y="120848"/>
                </a:cubicBezTo>
                <a:cubicBezTo>
                  <a:pt x="27425" y="120848"/>
                  <a:pt x="27269" y="120848"/>
                  <a:pt x="27087" y="120848"/>
                </a:cubicBezTo>
                <a:cubicBezTo>
                  <a:pt x="15575" y="120848"/>
                  <a:pt x="6251" y="111524"/>
                  <a:pt x="6251" y="100013"/>
                </a:cubicBezTo>
                <a:cubicBezTo>
                  <a:pt x="6251" y="95324"/>
                  <a:pt x="7813" y="91001"/>
                  <a:pt x="10418" y="87511"/>
                </a:cubicBezTo>
                <a:cubicBezTo>
                  <a:pt x="5365" y="83708"/>
                  <a:pt x="2084" y="77666"/>
                  <a:pt x="2084" y="70842"/>
                </a:cubicBezTo>
                <a:cubicBezTo>
                  <a:pt x="2084" y="62794"/>
                  <a:pt x="6668" y="55788"/>
                  <a:pt x="13335" y="52324"/>
                </a:cubicBezTo>
                <a:cubicBezTo>
                  <a:pt x="11486" y="49199"/>
                  <a:pt x="10418" y="45553"/>
                  <a:pt x="10418" y="41672"/>
                </a:cubicBezTo>
                <a:cubicBezTo>
                  <a:pt x="10418" y="30160"/>
                  <a:pt x="19742" y="20836"/>
                  <a:pt x="31254" y="20836"/>
                </a:cubicBezTo>
                <a:lnTo>
                  <a:pt x="31254" y="14585"/>
                </a:lnTo>
                <a:close/>
                <a:moveTo>
                  <a:pt x="102096" y="14585"/>
                </a:moveTo>
                <a:lnTo>
                  <a:pt x="102096" y="20836"/>
                </a:lnTo>
                <a:cubicBezTo>
                  <a:pt x="113608" y="20836"/>
                  <a:pt x="122932" y="30160"/>
                  <a:pt x="122932" y="41672"/>
                </a:cubicBezTo>
                <a:cubicBezTo>
                  <a:pt x="122932" y="45579"/>
                  <a:pt x="121864" y="49225"/>
                  <a:pt x="120015" y="52324"/>
                </a:cubicBezTo>
                <a:cubicBezTo>
                  <a:pt x="126709" y="55788"/>
                  <a:pt x="131266" y="62768"/>
                  <a:pt x="131266" y="70842"/>
                </a:cubicBezTo>
                <a:cubicBezTo>
                  <a:pt x="131266" y="77666"/>
                  <a:pt x="127985" y="83708"/>
                  <a:pt x="122932" y="87511"/>
                </a:cubicBezTo>
                <a:cubicBezTo>
                  <a:pt x="125537" y="91001"/>
                  <a:pt x="127099" y="95324"/>
                  <a:pt x="127099" y="100013"/>
                </a:cubicBezTo>
                <a:cubicBezTo>
                  <a:pt x="127099" y="111524"/>
                  <a:pt x="117775" y="120848"/>
                  <a:pt x="106263" y="120848"/>
                </a:cubicBezTo>
                <a:cubicBezTo>
                  <a:pt x="106081" y="120848"/>
                  <a:pt x="105925" y="120848"/>
                  <a:pt x="105742" y="120848"/>
                </a:cubicBezTo>
                <a:cubicBezTo>
                  <a:pt x="103893" y="128037"/>
                  <a:pt x="97356" y="133350"/>
                  <a:pt x="89595" y="133350"/>
                </a:cubicBezTo>
                <a:lnTo>
                  <a:pt x="81260" y="133350"/>
                </a:lnTo>
                <a:cubicBezTo>
                  <a:pt x="76650" y="133350"/>
                  <a:pt x="72926" y="129626"/>
                  <a:pt x="72926" y="125016"/>
                </a:cubicBezTo>
                <a:lnTo>
                  <a:pt x="72926" y="8334"/>
                </a:lnTo>
                <a:cubicBezTo>
                  <a:pt x="72926" y="3724"/>
                  <a:pt x="76650" y="0"/>
                  <a:pt x="81260" y="0"/>
                </a:cubicBezTo>
                <a:lnTo>
                  <a:pt x="87511" y="0"/>
                </a:lnTo>
                <a:cubicBezTo>
                  <a:pt x="95559" y="0"/>
                  <a:pt x="102096" y="6537"/>
                  <a:pt x="102096" y="14585"/>
                </a:cubicBezTo>
                <a:close/>
              </a:path>
            </a:pathLst>
          </a:custGeom>
          <a:solidFill>
            <a:srgbClr val="10B981"/>
          </a:solidFill>
          <a:ln/>
        </p:spPr>
      </p:sp>
      <p:sp>
        <p:nvSpPr>
          <p:cNvPr id="58" name="Text 56"/>
          <p:cNvSpPr/>
          <p:nvPr/>
        </p:nvSpPr>
        <p:spPr>
          <a:xfrm>
            <a:off x="8668941" y="4430199"/>
            <a:ext cx="2895600" cy="190500"/>
          </a:xfrm>
          <a:prstGeom prst="rect">
            <a:avLst/>
          </a:prstGeom>
          <a:noFill/>
          <a:ln/>
        </p:spPr>
        <p:txBody>
          <a:bodyPr wrap="square" lIns="0" tIns="0" rIns="0" bIns="0" rtlCol="0" anchor="ctr"/>
          <a:lstStyle/>
          <a:p>
            <a:pPr>
              <a:lnSpc>
                <a:spcPct val="120000"/>
              </a:lnSpc>
            </a:pPr>
            <a:r>
              <a:rPr lang="en-US" sz="1050" b="1" dirty="0">
                <a:solidFill>
                  <a:srgbClr val="10B981"/>
                </a:solidFill>
                <a:latin typeface="MiSans" pitchFamily="34" charset="0"/>
                <a:ea typeface="MiSans" pitchFamily="34" charset="-122"/>
                <a:cs typeface="MiSans" pitchFamily="34" charset="-120"/>
              </a:rPr>
              <a:t>Ghi nhớ ngữ cảnh</a:t>
            </a:r>
            <a:endParaRPr lang="en-US" sz="1600" dirty="0"/>
          </a:p>
        </p:txBody>
      </p:sp>
      <p:sp>
        <p:nvSpPr>
          <p:cNvPr id="59" name="Text 57"/>
          <p:cNvSpPr/>
          <p:nvPr/>
        </p:nvSpPr>
        <p:spPr>
          <a:xfrm>
            <a:off x="8440341" y="4696899"/>
            <a:ext cx="3124200" cy="381000"/>
          </a:xfrm>
          <a:prstGeom prst="rect">
            <a:avLst/>
          </a:prstGeom>
          <a:noFill/>
          <a:ln/>
        </p:spPr>
        <p:txBody>
          <a:bodyPr wrap="square" lIns="0" tIns="0" rIns="0" bIns="0" rtlCol="0" anchor="ctr"/>
          <a:lstStyle/>
          <a:p>
            <a:pPr>
              <a:lnSpc>
                <a:spcPct val="120000"/>
              </a:lnSpc>
            </a:pPr>
            <a:r>
              <a:rPr lang="en-US" sz="1050" dirty="0">
                <a:solidFill>
                  <a:srgbClr val="F8FAFC">
                    <a:alpha val="70000"/>
                  </a:srgbClr>
                </a:solidFill>
                <a:latin typeface="MiSans" pitchFamily="34" charset="0"/>
                <a:ea typeface="MiSans" pitchFamily="34" charset="-122"/>
                <a:cs typeface="MiSans" pitchFamily="34" charset="-120"/>
              </a:rPr>
              <a:t>Copilot nhận thức được </a:t>
            </a:r>
            <a:pPr>
              <a:lnSpc>
                <a:spcPct val="120000"/>
              </a:lnSpc>
            </a:pPr>
            <a:r>
              <a:rPr lang="en-US" sz="1050" dirty="0">
                <a:solidFill>
                  <a:srgbClr val="10B981"/>
                </a:solidFill>
                <a:highlight>
                  <a:srgbClr val="10B981">
                    <a:alpha val="20000"/>
                  </a:srgbClr>
                </a:highlight>
                <a:latin typeface="MiSans" pitchFamily="34" charset="0"/>
                <a:ea typeface="MiSans" pitchFamily="34" charset="-122"/>
                <a:cs typeface="MiSans" pitchFamily="34" charset="-120"/>
              </a:rPr>
              <a:t>DataFrame </a:t>
            </a:r>
            <a:pPr>
              <a:lnSpc>
                <a:spcPct val="120000"/>
              </a:lnSpc>
            </a:pPr>
            <a:r>
              <a:rPr lang="en-US" sz="1050" dirty="0">
                <a:solidFill>
                  <a:srgbClr val="F8FAFC">
                    <a:alpha val="70000"/>
                  </a:srgbClr>
                </a:solidFill>
                <a:latin typeface="MiSans" pitchFamily="34" charset="0"/>
                <a:ea typeface="MiSans" pitchFamily="34" charset="-122"/>
                <a:cs typeface="MiSans" pitchFamily="34" charset="-120"/>
              </a:rPr>
              <a:t>từ cell trước</a:t>
            </a:r>
            <a:endParaRPr lang="en-US" sz="1600" dirty="0"/>
          </a:p>
        </p:txBody>
      </p:sp>
      <p:sp>
        <p:nvSpPr>
          <p:cNvPr id="60" name="Shape 58"/>
          <p:cNvSpPr/>
          <p:nvPr/>
        </p:nvSpPr>
        <p:spPr>
          <a:xfrm>
            <a:off x="384810" y="5894069"/>
            <a:ext cx="11418570" cy="579120"/>
          </a:xfrm>
          <a:custGeom>
            <a:avLst/>
            <a:gdLst/>
            <a:ahLst/>
            <a:cxnLst/>
            <a:rect l="l" t="t" r="r" b="b"/>
            <a:pathLst>
              <a:path w="11418570" h="579120">
                <a:moveTo>
                  <a:pt x="152401" y="0"/>
                </a:moveTo>
                <a:lnTo>
                  <a:pt x="11266169" y="0"/>
                </a:lnTo>
                <a:cubicBezTo>
                  <a:pt x="11350338" y="0"/>
                  <a:pt x="11418570" y="68232"/>
                  <a:pt x="11418570" y="152401"/>
                </a:cubicBezTo>
                <a:lnTo>
                  <a:pt x="11418570" y="426719"/>
                </a:lnTo>
                <a:cubicBezTo>
                  <a:pt x="11418570" y="510888"/>
                  <a:pt x="11350338" y="579120"/>
                  <a:pt x="11266169" y="579120"/>
                </a:cubicBezTo>
                <a:lnTo>
                  <a:pt x="152401" y="579120"/>
                </a:lnTo>
                <a:cubicBezTo>
                  <a:pt x="68232" y="579120"/>
                  <a:pt x="0" y="510888"/>
                  <a:pt x="0" y="426719"/>
                </a:cubicBezTo>
                <a:lnTo>
                  <a:pt x="0" y="152401"/>
                </a:lnTo>
                <a:cubicBezTo>
                  <a:pt x="0" y="68289"/>
                  <a:pt x="68289" y="0"/>
                  <a:pt x="152401" y="0"/>
                </a:cubicBezTo>
                <a:close/>
              </a:path>
            </a:pathLst>
          </a:custGeom>
          <a:gradFill rotWithShape="1" flip="none">
            <a:gsLst>
              <a:gs pos="0">
                <a:srgbClr val="1E293B"/>
              </a:gs>
              <a:gs pos="100000">
                <a:srgbClr val="1E293B">
                  <a:alpha val="50000"/>
                </a:srgbClr>
              </a:gs>
            </a:gsLst>
            <a:lin ang="0" scaled="1"/>
          </a:gradFill>
          <a:ln w="10160">
            <a:solidFill>
              <a:srgbClr val="3B82F6">
                <a:alpha val="30196"/>
              </a:srgbClr>
            </a:solidFill>
            <a:prstDash val="solid"/>
          </a:ln>
        </p:spPr>
      </p:sp>
      <p:sp>
        <p:nvSpPr>
          <p:cNvPr id="61" name="Shape 59"/>
          <p:cNvSpPr/>
          <p:nvPr/>
        </p:nvSpPr>
        <p:spPr>
          <a:xfrm>
            <a:off x="555307" y="6069332"/>
            <a:ext cx="257175" cy="228600"/>
          </a:xfrm>
          <a:custGeom>
            <a:avLst/>
            <a:gdLst/>
            <a:ahLst/>
            <a:cxnLst/>
            <a:rect l="l" t="t" r="r" b="b"/>
            <a:pathLst>
              <a:path w="257175" h="228600">
                <a:moveTo>
                  <a:pt x="138187" y="-8439"/>
                </a:moveTo>
                <a:cubicBezTo>
                  <a:pt x="136356" y="-12010"/>
                  <a:pt x="132651" y="-14287"/>
                  <a:pt x="128632" y="-14287"/>
                </a:cubicBezTo>
                <a:cubicBezTo>
                  <a:pt x="124614" y="-14287"/>
                  <a:pt x="120908" y="-12010"/>
                  <a:pt x="119077" y="-8439"/>
                </a:cubicBezTo>
                <a:lnTo>
                  <a:pt x="86216" y="55944"/>
                </a:lnTo>
                <a:lnTo>
                  <a:pt x="14823" y="67285"/>
                </a:lnTo>
                <a:cubicBezTo>
                  <a:pt x="10850" y="67910"/>
                  <a:pt x="7546" y="70723"/>
                  <a:pt x="6295" y="74563"/>
                </a:cubicBezTo>
                <a:cubicBezTo>
                  <a:pt x="5045" y="78403"/>
                  <a:pt x="6072" y="82600"/>
                  <a:pt x="8885" y="85457"/>
                </a:cubicBezTo>
                <a:lnTo>
                  <a:pt x="59963" y="136580"/>
                </a:lnTo>
                <a:lnTo>
                  <a:pt x="48711" y="207972"/>
                </a:lnTo>
                <a:cubicBezTo>
                  <a:pt x="48086" y="211946"/>
                  <a:pt x="49738" y="215964"/>
                  <a:pt x="52998" y="218331"/>
                </a:cubicBezTo>
                <a:cubicBezTo>
                  <a:pt x="56257" y="220697"/>
                  <a:pt x="60543" y="221054"/>
                  <a:pt x="64160" y="219224"/>
                </a:cubicBezTo>
                <a:lnTo>
                  <a:pt x="128632" y="186452"/>
                </a:lnTo>
                <a:lnTo>
                  <a:pt x="193060" y="219224"/>
                </a:lnTo>
                <a:cubicBezTo>
                  <a:pt x="196632" y="221054"/>
                  <a:pt x="200963" y="220697"/>
                  <a:pt x="204222" y="218331"/>
                </a:cubicBezTo>
                <a:cubicBezTo>
                  <a:pt x="207481" y="215964"/>
                  <a:pt x="209133" y="211991"/>
                  <a:pt x="208508" y="207972"/>
                </a:cubicBezTo>
                <a:lnTo>
                  <a:pt x="197212" y="136580"/>
                </a:lnTo>
                <a:lnTo>
                  <a:pt x="248290" y="85457"/>
                </a:lnTo>
                <a:cubicBezTo>
                  <a:pt x="251147" y="82600"/>
                  <a:pt x="252130" y="78403"/>
                  <a:pt x="250880" y="74563"/>
                </a:cubicBezTo>
                <a:cubicBezTo>
                  <a:pt x="249629" y="70723"/>
                  <a:pt x="246370" y="67910"/>
                  <a:pt x="242352" y="67285"/>
                </a:cubicBezTo>
                <a:lnTo>
                  <a:pt x="171004" y="55944"/>
                </a:lnTo>
                <a:lnTo>
                  <a:pt x="138187" y="-8439"/>
                </a:lnTo>
                <a:close/>
              </a:path>
            </a:pathLst>
          </a:custGeom>
          <a:solidFill>
            <a:srgbClr val="3B82F6"/>
          </a:solidFill>
          <a:ln/>
        </p:spPr>
      </p:sp>
      <p:sp>
        <p:nvSpPr>
          <p:cNvPr id="62" name="Text 60"/>
          <p:cNvSpPr/>
          <p:nvPr/>
        </p:nvSpPr>
        <p:spPr>
          <a:xfrm>
            <a:off x="979170" y="6050282"/>
            <a:ext cx="7162800" cy="266700"/>
          </a:xfrm>
          <a:prstGeom prst="rect">
            <a:avLst/>
          </a:prstGeom>
          <a:noFill/>
          <a:ln/>
        </p:spPr>
        <p:txBody>
          <a:bodyPr wrap="square" lIns="0" tIns="0" rIns="0" bIns="0" rtlCol="0" anchor="ctr"/>
          <a:lstStyle/>
          <a:p>
            <a:pPr>
              <a:lnSpc>
                <a:spcPct val="130000"/>
              </a:lnSpc>
            </a:pPr>
            <a:r>
              <a:rPr lang="en-US" sz="1350" b="1" dirty="0">
                <a:solidFill>
                  <a:srgbClr val="F8FAFC"/>
                </a:solidFill>
                <a:latin typeface="MiSans" pitchFamily="34" charset="0"/>
                <a:ea typeface="MiSans" pitchFamily="34" charset="-122"/>
                <a:cs typeface="MiSans" pitchFamily="34" charset="-120"/>
              </a:rPr>
              <a:t>Đánh giá:</a:t>
            </a:r>
            <a:pPr>
              <a:lnSpc>
                <a:spcPct val="130000"/>
              </a:lnSpc>
            </a:pPr>
            <a:r>
              <a:rPr lang="en-US" sz="1350" dirty="0">
                <a:solidFill>
                  <a:srgbClr val="F8FAFC"/>
                </a:solidFill>
                <a:latin typeface="MiSans" pitchFamily="34" charset="0"/>
                <a:ea typeface="MiSans" pitchFamily="34" charset="-122"/>
                <a:cs typeface="MiSans" pitchFamily="34" charset="-120"/>
              </a:rPr>
              <a:t> Copilot thể hiện khả năng </a:t>
            </a:r>
            <a:pPr>
              <a:lnSpc>
                <a:spcPct val="130000"/>
              </a:lnSpc>
            </a:pPr>
            <a:r>
              <a:rPr lang="en-US" sz="1350" dirty="0">
                <a:solidFill>
                  <a:srgbClr val="3B82F6"/>
                </a:solidFill>
                <a:highlight>
                  <a:srgbClr val="3B82F6">
                    <a:alpha val="20000"/>
                  </a:srgbClr>
                </a:highlight>
                <a:latin typeface="MiSans" pitchFamily="34" charset="0"/>
                <a:ea typeface="MiSans" pitchFamily="34" charset="-122"/>
                <a:cs typeface="MiSans" pitchFamily="34" charset="-120"/>
              </a:rPr>
              <a:t>ghi nhớ ngữ cảnh cực tốt </a:t>
            </a:r>
            <a:pPr>
              <a:lnSpc>
                <a:spcPct val="130000"/>
              </a:lnSpc>
            </a:pPr>
            <a:r>
              <a:rPr lang="en-US" sz="1350" dirty="0">
                <a:solidFill>
                  <a:srgbClr val="F8FAFC"/>
                </a:solidFill>
                <a:latin typeface="MiSans" pitchFamily="34" charset="0"/>
                <a:ea typeface="MiSans" pitchFamily="34" charset="-122"/>
                <a:cs typeface="MiSans" pitchFamily="34" charset="-120"/>
              </a:rPr>
              <a:t>và đề xuất code chính xác</a:t>
            </a:r>
            <a:endParaRPr lang="en-US" sz="1600" dirty="0"/>
          </a:p>
        </p:txBody>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54357" y="354357"/>
            <a:ext cx="1638464" cy="287696"/>
          </a:xfrm>
          <a:custGeom>
            <a:avLst/>
            <a:gdLst/>
            <a:ahLst/>
            <a:cxnLst/>
            <a:rect l="l" t="t" r="r" b="b"/>
            <a:pathLst>
              <a:path w="1638464" h="287696">
                <a:moveTo>
                  <a:pt x="143848" y="0"/>
                </a:moveTo>
                <a:lnTo>
                  <a:pt x="1494616" y="0"/>
                </a:lnTo>
                <a:cubicBezTo>
                  <a:pt x="1574061" y="0"/>
                  <a:pt x="1638464" y="64403"/>
                  <a:pt x="1638464" y="143848"/>
                </a:cubicBezTo>
                <a:lnTo>
                  <a:pt x="1638464" y="143848"/>
                </a:lnTo>
                <a:cubicBezTo>
                  <a:pt x="1638464" y="223293"/>
                  <a:pt x="1574061" y="287696"/>
                  <a:pt x="1494616" y="287696"/>
                </a:cubicBezTo>
                <a:lnTo>
                  <a:pt x="143848" y="287696"/>
                </a:lnTo>
                <a:cubicBezTo>
                  <a:pt x="64456" y="287696"/>
                  <a:pt x="0" y="223240"/>
                  <a:pt x="0" y="143848"/>
                </a:cubicBezTo>
                <a:lnTo>
                  <a:pt x="0" y="143848"/>
                </a:lnTo>
                <a:cubicBezTo>
                  <a:pt x="0" y="64456"/>
                  <a:pt x="64456" y="0"/>
                  <a:pt x="143848" y="0"/>
                </a:cubicBezTo>
                <a:close/>
              </a:path>
            </a:pathLst>
          </a:custGeom>
          <a:solidFill>
            <a:srgbClr val="3B82F6">
              <a:alpha val="20000"/>
            </a:srgbClr>
          </a:solidFill>
          <a:ln w="10160">
            <a:solidFill>
              <a:srgbClr val="3B82F6">
                <a:alpha val="40000"/>
              </a:srgbClr>
            </a:solidFill>
            <a:prstDash val="solid"/>
          </a:ln>
        </p:spPr>
      </p:sp>
      <p:sp>
        <p:nvSpPr>
          <p:cNvPr id="3" name="Text 1"/>
          <p:cNvSpPr/>
          <p:nvPr/>
        </p:nvSpPr>
        <p:spPr>
          <a:xfrm>
            <a:off x="498205" y="399969"/>
            <a:ext cx="1421267" cy="189458"/>
          </a:xfrm>
          <a:prstGeom prst="rect">
            <a:avLst/>
          </a:prstGeom>
          <a:noFill/>
          <a:ln/>
        </p:spPr>
        <p:txBody>
          <a:bodyPr wrap="square" lIns="0" tIns="0" rIns="0" bIns="0" rtlCol="0" anchor="ctr"/>
          <a:lstStyle/>
          <a:p>
            <a:pPr>
              <a:lnSpc>
                <a:spcPct val="120000"/>
              </a:lnSpc>
            </a:pPr>
            <a:r>
              <a:rPr lang="en-US" sz="1105" b="1" spc="55" kern="0" dirty="0">
                <a:solidFill>
                  <a:srgbClr val="3B82F6"/>
                </a:solidFill>
                <a:latin typeface="MiSans" pitchFamily="34" charset="0"/>
                <a:ea typeface="MiSans" pitchFamily="34" charset="-122"/>
                <a:cs typeface="MiSans" pitchFamily="34" charset="-120"/>
              </a:rPr>
              <a:t>LAB THỰC HÀNH 4</a:t>
            </a:r>
            <a:endParaRPr lang="en-US" sz="1600" dirty="0"/>
          </a:p>
        </p:txBody>
      </p:sp>
      <p:sp>
        <p:nvSpPr>
          <p:cNvPr id="4" name="Text 2"/>
          <p:cNvSpPr/>
          <p:nvPr/>
        </p:nvSpPr>
        <p:spPr>
          <a:xfrm>
            <a:off x="350849" y="750818"/>
            <a:ext cx="11648184" cy="350849"/>
          </a:xfrm>
          <a:prstGeom prst="rect">
            <a:avLst/>
          </a:prstGeom>
          <a:noFill/>
          <a:ln/>
        </p:spPr>
        <p:txBody>
          <a:bodyPr wrap="square" lIns="0" tIns="0" rIns="0" bIns="0" rtlCol="0" anchor="ctr"/>
          <a:lstStyle/>
          <a:p>
            <a:pPr>
              <a:lnSpc>
                <a:spcPct val="90000"/>
              </a:lnSpc>
            </a:pPr>
            <a:r>
              <a:rPr lang="en-US" sz="2486" b="1" dirty="0">
                <a:solidFill>
                  <a:srgbClr val="F8FAFC"/>
                </a:solidFill>
                <a:latin typeface="Liter" pitchFamily="34" charset="0"/>
                <a:ea typeface="Liter" pitchFamily="34" charset="-122"/>
                <a:cs typeface="Liter" pitchFamily="34" charset="-120"/>
              </a:rPr>
              <a:t>Ứng dụng thực tế</a:t>
            </a:r>
            <a:endParaRPr lang="en-US" sz="1600" dirty="0"/>
          </a:p>
        </p:txBody>
      </p:sp>
      <p:sp>
        <p:nvSpPr>
          <p:cNvPr id="5" name="Text 3"/>
          <p:cNvSpPr/>
          <p:nvPr/>
        </p:nvSpPr>
        <p:spPr>
          <a:xfrm>
            <a:off x="350849" y="1171836"/>
            <a:ext cx="11578014" cy="245594"/>
          </a:xfrm>
          <a:prstGeom prst="rect">
            <a:avLst/>
          </a:prstGeom>
          <a:noFill/>
          <a:ln/>
        </p:spPr>
        <p:txBody>
          <a:bodyPr wrap="square" lIns="0" tIns="0" rIns="0" bIns="0" rtlCol="0" anchor="ctr"/>
          <a:lstStyle/>
          <a:p>
            <a:pPr>
              <a:lnSpc>
                <a:spcPct val="120000"/>
              </a:lnSpc>
            </a:pPr>
            <a:r>
              <a:rPr lang="en-US" sz="1381" dirty="0">
                <a:solidFill>
                  <a:srgbClr val="F8FAFC">
                    <a:alpha val="70000"/>
                  </a:srgbClr>
                </a:solidFill>
                <a:latin typeface="MiSans" pitchFamily="34" charset="0"/>
                <a:ea typeface="MiSans" pitchFamily="34" charset="-122"/>
                <a:cs typeface="MiSans" pitchFamily="34" charset="-120"/>
              </a:rPr>
              <a:t>Chuyển đổi GUI sang CLI, sửa lỗi và gọi API</a:t>
            </a:r>
            <a:endParaRPr lang="en-US" sz="1600" dirty="0"/>
          </a:p>
        </p:txBody>
      </p:sp>
      <p:sp>
        <p:nvSpPr>
          <p:cNvPr id="6" name="Shape 4"/>
          <p:cNvSpPr/>
          <p:nvPr/>
        </p:nvSpPr>
        <p:spPr>
          <a:xfrm>
            <a:off x="354357" y="1596363"/>
            <a:ext cx="3726016" cy="3366395"/>
          </a:xfrm>
          <a:custGeom>
            <a:avLst/>
            <a:gdLst/>
            <a:ahLst/>
            <a:cxnLst/>
            <a:rect l="l" t="t" r="r" b="b"/>
            <a:pathLst>
              <a:path w="3726016" h="3366395">
                <a:moveTo>
                  <a:pt x="140345" y="0"/>
                </a:moveTo>
                <a:lnTo>
                  <a:pt x="3585671" y="0"/>
                </a:lnTo>
                <a:cubicBezTo>
                  <a:pt x="3663181" y="0"/>
                  <a:pt x="3726016" y="62835"/>
                  <a:pt x="3726016" y="140345"/>
                </a:cubicBezTo>
                <a:lnTo>
                  <a:pt x="3726016" y="3226050"/>
                </a:lnTo>
                <a:cubicBezTo>
                  <a:pt x="3726016" y="3303561"/>
                  <a:pt x="3663181" y="3366395"/>
                  <a:pt x="3585671" y="3366395"/>
                </a:cubicBezTo>
                <a:lnTo>
                  <a:pt x="140345" y="3366395"/>
                </a:lnTo>
                <a:cubicBezTo>
                  <a:pt x="62835" y="3366395"/>
                  <a:pt x="0" y="3303561"/>
                  <a:pt x="0" y="3226050"/>
                </a:cubicBezTo>
                <a:lnTo>
                  <a:pt x="0" y="140345"/>
                </a:lnTo>
                <a:cubicBezTo>
                  <a:pt x="0" y="62835"/>
                  <a:pt x="62835" y="0"/>
                  <a:pt x="140345" y="0"/>
                </a:cubicBezTo>
                <a:close/>
              </a:path>
            </a:pathLst>
          </a:custGeom>
          <a:gradFill rotWithShape="1" flip="none">
            <a:gsLst>
              <a:gs pos="0">
                <a:srgbClr val="1E293B"/>
              </a:gs>
              <a:gs pos="100000">
                <a:srgbClr val="1E293B">
                  <a:alpha val="50000"/>
                </a:srgbClr>
              </a:gs>
            </a:gsLst>
            <a:lin ang="2700000" scaled="1"/>
          </a:gradFill>
          <a:ln w="10160">
            <a:solidFill>
              <a:srgbClr val="3B82F6">
                <a:alpha val="30196"/>
              </a:srgbClr>
            </a:solidFill>
            <a:prstDash val="solid"/>
          </a:ln>
        </p:spPr>
      </p:sp>
      <p:sp>
        <p:nvSpPr>
          <p:cNvPr id="7" name="Shape 5"/>
          <p:cNvSpPr/>
          <p:nvPr/>
        </p:nvSpPr>
        <p:spPr>
          <a:xfrm>
            <a:off x="533290" y="1775295"/>
            <a:ext cx="421019" cy="421019"/>
          </a:xfrm>
          <a:custGeom>
            <a:avLst/>
            <a:gdLst/>
            <a:ahLst/>
            <a:cxnLst/>
            <a:rect l="l" t="t" r="r" b="b"/>
            <a:pathLst>
              <a:path w="421019" h="421019">
                <a:moveTo>
                  <a:pt x="105255" y="0"/>
                </a:moveTo>
                <a:lnTo>
                  <a:pt x="315764" y="0"/>
                </a:lnTo>
                <a:cubicBezTo>
                  <a:pt x="373895" y="0"/>
                  <a:pt x="421019" y="47124"/>
                  <a:pt x="421019" y="105255"/>
                </a:cubicBezTo>
                <a:lnTo>
                  <a:pt x="421019" y="315764"/>
                </a:lnTo>
                <a:cubicBezTo>
                  <a:pt x="421019" y="373895"/>
                  <a:pt x="373895" y="421019"/>
                  <a:pt x="315764" y="421019"/>
                </a:cubicBezTo>
                <a:lnTo>
                  <a:pt x="105255" y="421019"/>
                </a:lnTo>
                <a:cubicBezTo>
                  <a:pt x="47124" y="421019"/>
                  <a:pt x="0" y="373895"/>
                  <a:pt x="0" y="315764"/>
                </a:cubicBezTo>
                <a:lnTo>
                  <a:pt x="0" y="105255"/>
                </a:lnTo>
                <a:cubicBezTo>
                  <a:pt x="0" y="47163"/>
                  <a:pt x="47163" y="0"/>
                  <a:pt x="105255" y="0"/>
                </a:cubicBezTo>
                <a:close/>
              </a:path>
            </a:pathLst>
          </a:custGeom>
          <a:gradFill rotWithShape="1" flip="none">
            <a:gsLst>
              <a:gs pos="0">
                <a:srgbClr val="3B82F6"/>
              </a:gs>
              <a:gs pos="100000">
                <a:srgbClr val="3B82F6">
                  <a:alpha val="60000"/>
                </a:srgbClr>
              </a:gs>
            </a:gsLst>
            <a:lin ang="2700000" scaled="1"/>
          </a:gradFill>
          <a:ln/>
        </p:spPr>
      </p:sp>
      <p:sp>
        <p:nvSpPr>
          <p:cNvPr id="8" name="Text 6"/>
          <p:cNvSpPr/>
          <p:nvPr/>
        </p:nvSpPr>
        <p:spPr>
          <a:xfrm>
            <a:off x="634817" y="1863007"/>
            <a:ext cx="306993" cy="245594"/>
          </a:xfrm>
          <a:prstGeom prst="rect">
            <a:avLst/>
          </a:prstGeom>
          <a:noFill/>
          <a:ln/>
        </p:spPr>
        <p:txBody>
          <a:bodyPr wrap="square" lIns="0" tIns="0" rIns="0" bIns="0" rtlCol="0" anchor="ctr"/>
          <a:lstStyle/>
          <a:p>
            <a:pPr>
              <a:lnSpc>
                <a:spcPct val="120000"/>
              </a:lnSpc>
            </a:pPr>
            <a:r>
              <a:rPr lang="en-US" sz="1381" b="1" dirty="0">
                <a:solidFill>
                  <a:srgbClr val="FFFFFF"/>
                </a:solidFill>
                <a:latin typeface="MiSans" pitchFamily="34" charset="0"/>
                <a:ea typeface="MiSans" pitchFamily="34" charset="-122"/>
                <a:cs typeface="MiSans" pitchFamily="34" charset="-120"/>
              </a:rPr>
              <a:t>4.1</a:t>
            </a:r>
            <a:endParaRPr lang="en-US" sz="1600" dirty="0"/>
          </a:p>
        </p:txBody>
      </p:sp>
      <p:sp>
        <p:nvSpPr>
          <p:cNvPr id="9" name="Text 7"/>
          <p:cNvSpPr/>
          <p:nvPr/>
        </p:nvSpPr>
        <p:spPr>
          <a:xfrm>
            <a:off x="1059564" y="1863007"/>
            <a:ext cx="1035004" cy="245594"/>
          </a:xfrm>
          <a:prstGeom prst="rect">
            <a:avLst/>
          </a:prstGeom>
          <a:noFill/>
          <a:ln/>
        </p:spPr>
        <p:txBody>
          <a:bodyPr wrap="square" lIns="0" tIns="0" rIns="0" bIns="0" rtlCol="0" anchor="ctr"/>
          <a:lstStyle/>
          <a:p>
            <a:pPr>
              <a:lnSpc>
                <a:spcPct val="130000"/>
              </a:lnSpc>
            </a:pPr>
            <a:r>
              <a:rPr lang="en-US" sz="1243" b="1" dirty="0">
                <a:solidFill>
                  <a:srgbClr val="3B82F6"/>
                </a:solidFill>
                <a:latin typeface="Liter" pitchFamily="34" charset="0"/>
                <a:ea typeface="Liter" pitchFamily="34" charset="-122"/>
                <a:cs typeface="Liter" pitchFamily="34" charset="-120"/>
              </a:rPr>
              <a:t>GUI → CLI Git</a:t>
            </a:r>
            <a:endParaRPr lang="en-US" sz="1600" dirty="0"/>
          </a:p>
        </p:txBody>
      </p:sp>
      <p:sp>
        <p:nvSpPr>
          <p:cNvPr id="10" name="Shape 8"/>
          <p:cNvSpPr/>
          <p:nvPr/>
        </p:nvSpPr>
        <p:spPr>
          <a:xfrm>
            <a:off x="533290" y="2336653"/>
            <a:ext cx="3368150" cy="631528"/>
          </a:xfrm>
          <a:custGeom>
            <a:avLst/>
            <a:gdLst/>
            <a:ahLst/>
            <a:cxnLst/>
            <a:rect l="l" t="t" r="r" b="b"/>
            <a:pathLst>
              <a:path w="3368150" h="631528">
                <a:moveTo>
                  <a:pt x="70169" y="0"/>
                </a:moveTo>
                <a:lnTo>
                  <a:pt x="3297981" y="0"/>
                </a:lnTo>
                <a:cubicBezTo>
                  <a:pt x="3336708" y="0"/>
                  <a:pt x="3368150" y="31442"/>
                  <a:pt x="3368150" y="70169"/>
                </a:cubicBezTo>
                <a:lnTo>
                  <a:pt x="3368150" y="561359"/>
                </a:lnTo>
                <a:cubicBezTo>
                  <a:pt x="3368150" y="600112"/>
                  <a:pt x="3336734" y="631528"/>
                  <a:pt x="3297981" y="631528"/>
                </a:cubicBezTo>
                <a:lnTo>
                  <a:pt x="70169" y="631528"/>
                </a:lnTo>
                <a:cubicBezTo>
                  <a:pt x="31442" y="631528"/>
                  <a:pt x="0" y="600086"/>
                  <a:pt x="0" y="561359"/>
                </a:cubicBezTo>
                <a:lnTo>
                  <a:pt x="0" y="70169"/>
                </a:lnTo>
                <a:cubicBezTo>
                  <a:pt x="0" y="31416"/>
                  <a:pt x="31416" y="0"/>
                  <a:pt x="70169" y="0"/>
                </a:cubicBezTo>
                <a:close/>
              </a:path>
            </a:pathLst>
          </a:custGeom>
          <a:solidFill>
            <a:srgbClr val="0F172A">
              <a:alpha val="50196"/>
            </a:srgbClr>
          </a:solidFill>
          <a:ln/>
        </p:spPr>
      </p:sp>
      <p:sp>
        <p:nvSpPr>
          <p:cNvPr id="11" name="Text 9"/>
          <p:cNvSpPr/>
          <p:nvPr/>
        </p:nvSpPr>
        <p:spPr>
          <a:xfrm>
            <a:off x="638545" y="2441908"/>
            <a:ext cx="3219039" cy="175424"/>
          </a:xfrm>
          <a:prstGeom prst="rect">
            <a:avLst/>
          </a:prstGeom>
          <a:noFill/>
          <a:ln/>
        </p:spPr>
        <p:txBody>
          <a:bodyPr wrap="square" lIns="0" tIns="0" rIns="0" bIns="0" rtlCol="0" anchor="ctr"/>
          <a:lstStyle/>
          <a:p>
            <a:pPr>
              <a:lnSpc>
                <a:spcPct val="120000"/>
              </a:lnSpc>
            </a:pPr>
            <a:r>
              <a:rPr lang="en-US" sz="967" b="1" dirty="0">
                <a:solidFill>
                  <a:srgbClr val="F8FAFC"/>
                </a:solidFill>
                <a:latin typeface="MiSans" pitchFamily="34" charset="0"/>
                <a:ea typeface="MiSans" pitchFamily="34" charset="-122"/>
                <a:cs typeface="MiSans" pitchFamily="34" charset="-120"/>
              </a:rPr>
              <a:t>Mục tiêu</a:t>
            </a:r>
            <a:endParaRPr lang="en-US" sz="1600" dirty="0"/>
          </a:p>
        </p:txBody>
      </p:sp>
      <p:sp>
        <p:nvSpPr>
          <p:cNvPr id="12" name="Text 10"/>
          <p:cNvSpPr/>
          <p:nvPr/>
        </p:nvSpPr>
        <p:spPr>
          <a:xfrm>
            <a:off x="638545" y="2687502"/>
            <a:ext cx="3210268" cy="175424"/>
          </a:xfrm>
          <a:prstGeom prst="rect">
            <a:avLst/>
          </a:prstGeom>
          <a:noFill/>
          <a:ln/>
        </p:spPr>
        <p:txBody>
          <a:bodyPr wrap="square" lIns="0" tIns="0" rIns="0" bIns="0" rtlCol="0" anchor="ctr"/>
          <a:lstStyle/>
          <a:p>
            <a:pPr>
              <a:lnSpc>
                <a:spcPct val="140000"/>
              </a:lnSpc>
            </a:pPr>
            <a:r>
              <a:rPr lang="en-US" sz="829" dirty="0">
                <a:solidFill>
                  <a:srgbClr val="F8FAFC">
                    <a:alpha val="70000"/>
                  </a:srgbClr>
                </a:solidFill>
                <a:latin typeface="MiSans" pitchFamily="34" charset="0"/>
                <a:ea typeface="MiSans" pitchFamily="34" charset="-122"/>
                <a:cs typeface="MiSans" pitchFamily="34" charset="-120"/>
              </a:rPr>
              <a:t>Chuyển đổi các bước </a:t>
            </a:r>
            <a:pPr>
              <a:lnSpc>
                <a:spcPct val="140000"/>
              </a:lnSpc>
            </a:pPr>
            <a:r>
              <a:rPr lang="en-US" sz="829" dirty="0">
                <a:solidFill>
                  <a:srgbClr val="3B82F6"/>
                </a:solidFill>
                <a:highlight>
                  <a:srgbClr val="3B82F6">
                    <a:alpha val="20000"/>
                  </a:srgbClr>
                </a:highlight>
                <a:latin typeface="MiSans" pitchFamily="34" charset="0"/>
                <a:ea typeface="MiSans" pitchFamily="34" charset="-122"/>
                <a:cs typeface="MiSans" pitchFamily="34" charset="-120"/>
              </a:rPr>
              <a:t>GUI PyCharm </a:t>
            </a:r>
            <a:pPr>
              <a:lnSpc>
                <a:spcPct val="140000"/>
              </a:lnSpc>
            </a:pPr>
            <a:r>
              <a:rPr lang="en-US" sz="829" dirty="0">
                <a:solidFill>
                  <a:srgbClr val="F8FAFC">
                    <a:alpha val="70000"/>
                  </a:srgbClr>
                </a:solidFill>
                <a:latin typeface="MiSans" pitchFamily="34" charset="0"/>
                <a:ea typeface="MiSans" pitchFamily="34" charset="-122"/>
                <a:cs typeface="MiSans" pitchFamily="34" charset="-120"/>
              </a:rPr>
              <a:t>sang </a:t>
            </a:r>
            <a:pPr>
              <a:lnSpc>
                <a:spcPct val="140000"/>
              </a:lnSpc>
            </a:pPr>
            <a:r>
              <a:rPr lang="en-US" sz="829" dirty="0">
                <a:solidFill>
                  <a:srgbClr val="3B82F6"/>
                </a:solidFill>
                <a:highlight>
                  <a:srgbClr val="3B82F6">
                    <a:alpha val="20000"/>
                  </a:srgbClr>
                </a:highlight>
                <a:latin typeface="MiSans" pitchFamily="34" charset="0"/>
                <a:ea typeface="MiSans" pitchFamily="34" charset="-122"/>
                <a:cs typeface="MiSans" pitchFamily="34" charset="-120"/>
              </a:rPr>
              <a:t>lệnh CLI Git</a:t>
            </a:r>
            <a:endParaRPr lang="en-US" sz="1600" dirty="0"/>
          </a:p>
        </p:txBody>
      </p:sp>
      <p:sp>
        <p:nvSpPr>
          <p:cNvPr id="13" name="Shape 11"/>
          <p:cNvSpPr/>
          <p:nvPr/>
        </p:nvSpPr>
        <p:spPr>
          <a:xfrm>
            <a:off x="533290" y="3069050"/>
            <a:ext cx="3368150" cy="947292"/>
          </a:xfrm>
          <a:custGeom>
            <a:avLst/>
            <a:gdLst/>
            <a:ahLst/>
            <a:cxnLst/>
            <a:rect l="l" t="t" r="r" b="b"/>
            <a:pathLst>
              <a:path w="3368150" h="947292">
                <a:moveTo>
                  <a:pt x="70166" y="0"/>
                </a:moveTo>
                <a:lnTo>
                  <a:pt x="3297984" y="0"/>
                </a:lnTo>
                <a:cubicBezTo>
                  <a:pt x="3336735" y="0"/>
                  <a:pt x="3368150" y="31414"/>
                  <a:pt x="3368150" y="70166"/>
                </a:cubicBezTo>
                <a:lnTo>
                  <a:pt x="3368150" y="877126"/>
                </a:lnTo>
                <a:cubicBezTo>
                  <a:pt x="3368150" y="915878"/>
                  <a:pt x="3336735" y="947292"/>
                  <a:pt x="3297984" y="947292"/>
                </a:cubicBezTo>
                <a:lnTo>
                  <a:pt x="70166" y="947292"/>
                </a:lnTo>
                <a:cubicBezTo>
                  <a:pt x="31414" y="947292"/>
                  <a:pt x="0" y="915878"/>
                  <a:pt x="0" y="877126"/>
                </a:cubicBezTo>
                <a:lnTo>
                  <a:pt x="0" y="70166"/>
                </a:lnTo>
                <a:cubicBezTo>
                  <a:pt x="0" y="31440"/>
                  <a:pt x="31440" y="0"/>
                  <a:pt x="70166" y="0"/>
                </a:cubicBezTo>
                <a:close/>
              </a:path>
            </a:pathLst>
          </a:custGeom>
          <a:solidFill>
            <a:srgbClr val="0F172A"/>
          </a:solidFill>
          <a:ln/>
        </p:spPr>
      </p:sp>
      <p:sp>
        <p:nvSpPr>
          <p:cNvPr id="14" name="Text 12"/>
          <p:cNvSpPr/>
          <p:nvPr/>
        </p:nvSpPr>
        <p:spPr>
          <a:xfrm>
            <a:off x="638545" y="3174305"/>
            <a:ext cx="3210268" cy="140340"/>
          </a:xfrm>
          <a:prstGeom prst="rect">
            <a:avLst/>
          </a:prstGeom>
          <a:noFill/>
          <a:ln/>
        </p:spPr>
        <p:txBody>
          <a:bodyPr wrap="square" lIns="0" tIns="0" rIns="0" bIns="0" rtlCol="0" anchor="ctr"/>
          <a:lstStyle/>
          <a:p>
            <a:pPr>
              <a:lnSpc>
                <a:spcPct val="110000"/>
              </a:lnSpc>
            </a:pPr>
            <a:r>
              <a:rPr lang="en-US" sz="829" dirty="0">
                <a:solidFill>
                  <a:srgbClr val="8B5CF6"/>
                </a:solidFill>
                <a:latin typeface="MiSans" pitchFamily="34" charset="0"/>
                <a:ea typeface="MiSans" pitchFamily="34" charset="-122"/>
                <a:cs typeface="MiSans" pitchFamily="34" charset="-120"/>
              </a:rPr>
              <a:t># Quy trình:</a:t>
            </a:r>
            <a:endParaRPr lang="en-US" sz="1600" dirty="0"/>
          </a:p>
        </p:txBody>
      </p:sp>
      <p:sp>
        <p:nvSpPr>
          <p:cNvPr id="15" name="Text 13"/>
          <p:cNvSpPr/>
          <p:nvPr/>
        </p:nvSpPr>
        <p:spPr>
          <a:xfrm>
            <a:off x="638545" y="3349622"/>
            <a:ext cx="3210268" cy="140340"/>
          </a:xfrm>
          <a:prstGeom prst="rect">
            <a:avLst/>
          </a:prstGeom>
          <a:noFill/>
          <a:ln/>
        </p:spPr>
        <p:txBody>
          <a:bodyPr wrap="square" lIns="0" tIns="0" rIns="0" bIns="0" rtlCol="0" anchor="ctr"/>
          <a:lstStyle/>
          <a:p>
            <a:pPr>
              <a:lnSpc>
                <a:spcPct val="110000"/>
              </a:lnSpc>
            </a:pPr>
            <a:r>
              <a:rPr lang="en-US" sz="829" dirty="0">
                <a:solidFill>
                  <a:srgbClr val="F8FAFC">
                    <a:alpha val="70000"/>
                  </a:srgbClr>
                </a:solidFill>
                <a:latin typeface="MiSans" pitchFamily="34" charset="0"/>
                <a:ea typeface="MiSans" pitchFamily="34" charset="-122"/>
                <a:cs typeface="MiSans" pitchFamily="34" charset="-120"/>
              </a:rPr>
              <a:t>git status</a:t>
            </a:r>
            <a:endParaRPr lang="en-US" sz="1600" dirty="0"/>
          </a:p>
        </p:txBody>
      </p:sp>
      <p:sp>
        <p:nvSpPr>
          <p:cNvPr id="16" name="Text 14"/>
          <p:cNvSpPr/>
          <p:nvPr/>
        </p:nvSpPr>
        <p:spPr>
          <a:xfrm>
            <a:off x="638545" y="3489850"/>
            <a:ext cx="3210268" cy="140340"/>
          </a:xfrm>
          <a:prstGeom prst="rect">
            <a:avLst/>
          </a:prstGeom>
          <a:noFill/>
          <a:ln/>
        </p:spPr>
        <p:txBody>
          <a:bodyPr wrap="square" lIns="0" tIns="0" rIns="0" bIns="0" rtlCol="0" anchor="ctr"/>
          <a:lstStyle/>
          <a:p>
            <a:pPr>
              <a:lnSpc>
                <a:spcPct val="110000"/>
              </a:lnSpc>
            </a:pPr>
            <a:r>
              <a:rPr lang="en-US" sz="829" dirty="0">
                <a:solidFill>
                  <a:srgbClr val="F8FAFC">
                    <a:alpha val="70000"/>
                  </a:srgbClr>
                </a:solidFill>
                <a:latin typeface="MiSans" pitchFamily="34" charset="0"/>
                <a:ea typeface="MiSans" pitchFamily="34" charset="-122"/>
                <a:cs typeface="MiSans" pitchFamily="34" charset="-120"/>
              </a:rPr>
              <a:t>git add .</a:t>
            </a:r>
            <a:endParaRPr lang="en-US" sz="1600" dirty="0"/>
          </a:p>
        </p:txBody>
      </p:sp>
      <p:sp>
        <p:nvSpPr>
          <p:cNvPr id="17" name="Text 15"/>
          <p:cNvSpPr/>
          <p:nvPr/>
        </p:nvSpPr>
        <p:spPr>
          <a:xfrm>
            <a:off x="638545" y="3630083"/>
            <a:ext cx="3210268" cy="140340"/>
          </a:xfrm>
          <a:prstGeom prst="rect">
            <a:avLst/>
          </a:prstGeom>
          <a:noFill/>
          <a:ln/>
        </p:spPr>
        <p:txBody>
          <a:bodyPr wrap="square" lIns="0" tIns="0" rIns="0" bIns="0" rtlCol="0" anchor="ctr"/>
          <a:lstStyle/>
          <a:p>
            <a:pPr>
              <a:lnSpc>
                <a:spcPct val="110000"/>
              </a:lnSpc>
            </a:pPr>
            <a:r>
              <a:rPr lang="en-US" sz="829" dirty="0">
                <a:solidFill>
                  <a:srgbClr val="F8FAFC">
                    <a:alpha val="70000"/>
                  </a:srgbClr>
                </a:solidFill>
                <a:latin typeface="MiSans" pitchFamily="34" charset="0"/>
                <a:ea typeface="MiSans" pitchFamily="34" charset="-122"/>
                <a:cs typeface="MiSans" pitchFamily="34" charset="-120"/>
              </a:rPr>
              <a:t>git commit -m "msg"</a:t>
            </a:r>
            <a:endParaRPr lang="en-US" sz="1600" dirty="0"/>
          </a:p>
        </p:txBody>
      </p:sp>
      <p:sp>
        <p:nvSpPr>
          <p:cNvPr id="18" name="Text 16"/>
          <p:cNvSpPr/>
          <p:nvPr/>
        </p:nvSpPr>
        <p:spPr>
          <a:xfrm>
            <a:off x="638545" y="3770311"/>
            <a:ext cx="3210268" cy="140340"/>
          </a:xfrm>
          <a:prstGeom prst="rect">
            <a:avLst/>
          </a:prstGeom>
          <a:noFill/>
          <a:ln/>
        </p:spPr>
        <p:txBody>
          <a:bodyPr wrap="square" lIns="0" tIns="0" rIns="0" bIns="0" rtlCol="0" anchor="ctr"/>
          <a:lstStyle/>
          <a:p>
            <a:pPr>
              <a:lnSpc>
                <a:spcPct val="110000"/>
              </a:lnSpc>
            </a:pPr>
            <a:r>
              <a:rPr lang="en-US" sz="829" dirty="0">
                <a:solidFill>
                  <a:srgbClr val="F8FAFC">
                    <a:alpha val="70000"/>
                  </a:srgbClr>
                </a:solidFill>
                <a:latin typeface="MiSans" pitchFamily="34" charset="0"/>
                <a:ea typeface="MiSans" pitchFamily="34" charset="-122"/>
                <a:cs typeface="MiSans" pitchFamily="34" charset="-120"/>
              </a:rPr>
              <a:t>git push origin main</a:t>
            </a:r>
            <a:endParaRPr lang="en-US" sz="1600" dirty="0"/>
          </a:p>
        </p:txBody>
      </p:sp>
      <p:sp>
        <p:nvSpPr>
          <p:cNvPr id="19" name="Shape 17"/>
          <p:cNvSpPr/>
          <p:nvPr/>
        </p:nvSpPr>
        <p:spPr>
          <a:xfrm>
            <a:off x="533290" y="4121049"/>
            <a:ext cx="3368150" cy="666613"/>
          </a:xfrm>
          <a:custGeom>
            <a:avLst/>
            <a:gdLst/>
            <a:ahLst/>
            <a:cxnLst/>
            <a:rect l="l" t="t" r="r" b="b"/>
            <a:pathLst>
              <a:path w="3368150" h="666613">
                <a:moveTo>
                  <a:pt x="70168" y="0"/>
                </a:moveTo>
                <a:lnTo>
                  <a:pt x="3297982" y="0"/>
                </a:lnTo>
                <a:cubicBezTo>
                  <a:pt x="3336735" y="0"/>
                  <a:pt x="3368150" y="31415"/>
                  <a:pt x="3368150" y="70168"/>
                </a:cubicBezTo>
                <a:lnTo>
                  <a:pt x="3368150" y="596445"/>
                </a:lnTo>
                <a:cubicBezTo>
                  <a:pt x="3368150" y="635198"/>
                  <a:pt x="3336734" y="666613"/>
                  <a:pt x="3297982" y="666613"/>
                </a:cubicBezTo>
                <a:lnTo>
                  <a:pt x="70168" y="666613"/>
                </a:lnTo>
                <a:cubicBezTo>
                  <a:pt x="31441" y="666613"/>
                  <a:pt x="0" y="635172"/>
                  <a:pt x="0" y="596445"/>
                </a:cubicBezTo>
                <a:lnTo>
                  <a:pt x="0" y="70168"/>
                </a:lnTo>
                <a:cubicBezTo>
                  <a:pt x="0" y="31441"/>
                  <a:pt x="31441" y="0"/>
                  <a:pt x="70168" y="0"/>
                </a:cubicBezTo>
                <a:close/>
              </a:path>
            </a:pathLst>
          </a:custGeom>
          <a:solidFill>
            <a:srgbClr val="0F172A">
              <a:alpha val="50196"/>
            </a:srgbClr>
          </a:solidFill>
          <a:ln/>
        </p:spPr>
      </p:sp>
      <p:sp>
        <p:nvSpPr>
          <p:cNvPr id="20" name="Shape 18"/>
          <p:cNvSpPr/>
          <p:nvPr/>
        </p:nvSpPr>
        <p:spPr>
          <a:xfrm>
            <a:off x="664859" y="4254373"/>
            <a:ext cx="78941" cy="105255"/>
          </a:xfrm>
          <a:custGeom>
            <a:avLst/>
            <a:gdLst/>
            <a:ahLst/>
            <a:cxnLst/>
            <a:rect l="l" t="t" r="r" b="b"/>
            <a:pathLst>
              <a:path w="78941" h="105255">
                <a:moveTo>
                  <a:pt x="60213" y="78941"/>
                </a:moveTo>
                <a:cubicBezTo>
                  <a:pt x="61714" y="74357"/>
                  <a:pt x="64715" y="70204"/>
                  <a:pt x="68107" y="66627"/>
                </a:cubicBezTo>
                <a:cubicBezTo>
                  <a:pt x="74829" y="59555"/>
                  <a:pt x="78941" y="49996"/>
                  <a:pt x="78941" y="39471"/>
                </a:cubicBezTo>
                <a:cubicBezTo>
                  <a:pt x="78941" y="17679"/>
                  <a:pt x="61262" y="0"/>
                  <a:pt x="39471" y="0"/>
                </a:cubicBezTo>
                <a:cubicBezTo>
                  <a:pt x="17679" y="0"/>
                  <a:pt x="0" y="17679"/>
                  <a:pt x="0" y="39471"/>
                </a:cubicBezTo>
                <a:cubicBezTo>
                  <a:pt x="0" y="49996"/>
                  <a:pt x="4112" y="59555"/>
                  <a:pt x="10834" y="66627"/>
                </a:cubicBezTo>
                <a:cubicBezTo>
                  <a:pt x="14226" y="70204"/>
                  <a:pt x="17248" y="74357"/>
                  <a:pt x="18728" y="78941"/>
                </a:cubicBezTo>
                <a:lnTo>
                  <a:pt x="60193" y="78941"/>
                </a:lnTo>
                <a:close/>
                <a:moveTo>
                  <a:pt x="59206" y="88809"/>
                </a:moveTo>
                <a:lnTo>
                  <a:pt x="19735" y="88809"/>
                </a:lnTo>
                <a:lnTo>
                  <a:pt x="19735" y="92098"/>
                </a:lnTo>
                <a:cubicBezTo>
                  <a:pt x="19735" y="101184"/>
                  <a:pt x="27095" y="108544"/>
                  <a:pt x="36181" y="108544"/>
                </a:cubicBezTo>
                <a:lnTo>
                  <a:pt x="42760" y="108544"/>
                </a:lnTo>
                <a:cubicBezTo>
                  <a:pt x="51846" y="108544"/>
                  <a:pt x="59206" y="101184"/>
                  <a:pt x="59206" y="92098"/>
                </a:cubicBezTo>
                <a:lnTo>
                  <a:pt x="59206" y="88809"/>
                </a:lnTo>
                <a:close/>
                <a:moveTo>
                  <a:pt x="37826" y="23024"/>
                </a:moveTo>
                <a:cubicBezTo>
                  <a:pt x="29644" y="23024"/>
                  <a:pt x="23024" y="29644"/>
                  <a:pt x="23024" y="37826"/>
                </a:cubicBezTo>
                <a:cubicBezTo>
                  <a:pt x="23024" y="40560"/>
                  <a:pt x="20825" y="42760"/>
                  <a:pt x="18091" y="42760"/>
                </a:cubicBezTo>
                <a:cubicBezTo>
                  <a:pt x="15356" y="42760"/>
                  <a:pt x="13157" y="40560"/>
                  <a:pt x="13157" y="37826"/>
                </a:cubicBezTo>
                <a:cubicBezTo>
                  <a:pt x="13157" y="24196"/>
                  <a:pt x="24196" y="13157"/>
                  <a:pt x="37826" y="13157"/>
                </a:cubicBezTo>
                <a:cubicBezTo>
                  <a:pt x="40560" y="13157"/>
                  <a:pt x="42760" y="15356"/>
                  <a:pt x="42760" y="18091"/>
                </a:cubicBezTo>
                <a:cubicBezTo>
                  <a:pt x="42760" y="20825"/>
                  <a:pt x="40560" y="23024"/>
                  <a:pt x="37826" y="23024"/>
                </a:cubicBezTo>
                <a:close/>
              </a:path>
            </a:pathLst>
          </a:custGeom>
          <a:solidFill>
            <a:srgbClr val="10B981"/>
          </a:solidFill>
          <a:ln/>
        </p:spPr>
      </p:sp>
      <p:sp>
        <p:nvSpPr>
          <p:cNvPr id="21" name="Text 19"/>
          <p:cNvSpPr/>
          <p:nvPr/>
        </p:nvSpPr>
        <p:spPr>
          <a:xfrm>
            <a:off x="794345" y="4226303"/>
            <a:ext cx="3054468" cy="140340"/>
          </a:xfrm>
          <a:prstGeom prst="rect">
            <a:avLst/>
          </a:prstGeom>
          <a:noFill/>
          <a:ln/>
        </p:spPr>
        <p:txBody>
          <a:bodyPr wrap="square" lIns="0" tIns="0" rIns="0" bIns="0" rtlCol="0" anchor="ctr"/>
          <a:lstStyle/>
          <a:p>
            <a:pPr>
              <a:lnSpc>
                <a:spcPct val="110000"/>
              </a:lnSpc>
            </a:pPr>
            <a:r>
              <a:rPr lang="en-US" sz="829" b="1" dirty="0">
                <a:solidFill>
                  <a:srgbClr val="10B981"/>
                </a:solidFill>
                <a:latin typeface="MiSans" pitchFamily="34" charset="0"/>
                <a:ea typeface="MiSans" pitchFamily="34" charset="-122"/>
                <a:cs typeface="MiSans" pitchFamily="34" charset="-120"/>
              </a:rPr>
              <a:t>Ý tưởng</a:t>
            </a:r>
            <a:endParaRPr lang="en-US" sz="1600" dirty="0"/>
          </a:p>
        </p:txBody>
      </p:sp>
      <p:sp>
        <p:nvSpPr>
          <p:cNvPr id="22" name="Text 20"/>
          <p:cNvSpPr/>
          <p:nvPr/>
        </p:nvSpPr>
        <p:spPr>
          <a:xfrm>
            <a:off x="638545" y="4401621"/>
            <a:ext cx="3210268" cy="280679"/>
          </a:xfrm>
          <a:prstGeom prst="rect">
            <a:avLst/>
          </a:prstGeom>
          <a:noFill/>
          <a:ln/>
        </p:spPr>
        <p:txBody>
          <a:bodyPr wrap="square" lIns="0" tIns="0" rIns="0" bIns="0" rtlCol="0" anchor="ctr"/>
          <a:lstStyle/>
          <a:p>
            <a:pPr>
              <a:lnSpc>
                <a:spcPct val="110000"/>
              </a:lnSpc>
            </a:pPr>
            <a:r>
              <a:rPr lang="en-US" sz="829" dirty="0">
                <a:solidFill>
                  <a:srgbClr val="F8FAFC">
                    <a:alpha val="70000"/>
                  </a:srgbClr>
                </a:solidFill>
                <a:latin typeface="MiSans" pitchFamily="34" charset="0"/>
                <a:ea typeface="MiSans" pitchFamily="34" charset="-122"/>
                <a:cs typeface="MiSans" pitchFamily="34" charset="-120"/>
              </a:rPr>
              <a:t>"Mapping quy trình" - mỗi hành động GUI có lệnh CLI tương đương</a:t>
            </a:r>
            <a:endParaRPr lang="en-US" sz="1600" dirty="0"/>
          </a:p>
        </p:txBody>
      </p:sp>
      <p:sp>
        <p:nvSpPr>
          <p:cNvPr id="23" name="Shape 21"/>
          <p:cNvSpPr/>
          <p:nvPr/>
        </p:nvSpPr>
        <p:spPr>
          <a:xfrm>
            <a:off x="4231786" y="1596363"/>
            <a:ext cx="3726016" cy="3366395"/>
          </a:xfrm>
          <a:custGeom>
            <a:avLst/>
            <a:gdLst/>
            <a:ahLst/>
            <a:cxnLst/>
            <a:rect l="l" t="t" r="r" b="b"/>
            <a:pathLst>
              <a:path w="3726016" h="3366395">
                <a:moveTo>
                  <a:pt x="140345" y="0"/>
                </a:moveTo>
                <a:lnTo>
                  <a:pt x="3585671" y="0"/>
                </a:lnTo>
                <a:cubicBezTo>
                  <a:pt x="3663181" y="0"/>
                  <a:pt x="3726016" y="62835"/>
                  <a:pt x="3726016" y="140345"/>
                </a:cubicBezTo>
                <a:lnTo>
                  <a:pt x="3726016" y="3226050"/>
                </a:lnTo>
                <a:cubicBezTo>
                  <a:pt x="3726016" y="3303561"/>
                  <a:pt x="3663181" y="3366395"/>
                  <a:pt x="3585671" y="3366395"/>
                </a:cubicBezTo>
                <a:lnTo>
                  <a:pt x="140345" y="3366395"/>
                </a:lnTo>
                <a:cubicBezTo>
                  <a:pt x="62835" y="3366395"/>
                  <a:pt x="0" y="3303561"/>
                  <a:pt x="0" y="3226050"/>
                </a:cubicBezTo>
                <a:lnTo>
                  <a:pt x="0" y="140345"/>
                </a:lnTo>
                <a:cubicBezTo>
                  <a:pt x="0" y="62835"/>
                  <a:pt x="62835" y="0"/>
                  <a:pt x="140345" y="0"/>
                </a:cubicBezTo>
                <a:close/>
              </a:path>
            </a:pathLst>
          </a:custGeom>
          <a:gradFill rotWithShape="1" flip="none">
            <a:gsLst>
              <a:gs pos="0">
                <a:srgbClr val="1E293B"/>
              </a:gs>
              <a:gs pos="100000">
                <a:srgbClr val="1E293B">
                  <a:alpha val="50000"/>
                </a:srgbClr>
              </a:gs>
            </a:gsLst>
            <a:lin ang="2700000" scaled="1"/>
          </a:gradFill>
          <a:ln w="10160">
            <a:solidFill>
              <a:srgbClr val="8B5CF6">
                <a:alpha val="30196"/>
              </a:srgbClr>
            </a:solidFill>
            <a:prstDash val="solid"/>
          </a:ln>
        </p:spPr>
      </p:sp>
      <p:sp>
        <p:nvSpPr>
          <p:cNvPr id="24" name="Shape 22"/>
          <p:cNvSpPr/>
          <p:nvPr/>
        </p:nvSpPr>
        <p:spPr>
          <a:xfrm>
            <a:off x="4410719" y="1775295"/>
            <a:ext cx="421019" cy="421019"/>
          </a:xfrm>
          <a:custGeom>
            <a:avLst/>
            <a:gdLst/>
            <a:ahLst/>
            <a:cxnLst/>
            <a:rect l="l" t="t" r="r" b="b"/>
            <a:pathLst>
              <a:path w="421019" h="421019">
                <a:moveTo>
                  <a:pt x="105255" y="0"/>
                </a:moveTo>
                <a:lnTo>
                  <a:pt x="315764" y="0"/>
                </a:lnTo>
                <a:cubicBezTo>
                  <a:pt x="373895" y="0"/>
                  <a:pt x="421019" y="47124"/>
                  <a:pt x="421019" y="105255"/>
                </a:cubicBezTo>
                <a:lnTo>
                  <a:pt x="421019" y="315764"/>
                </a:lnTo>
                <a:cubicBezTo>
                  <a:pt x="421019" y="373895"/>
                  <a:pt x="373895" y="421019"/>
                  <a:pt x="315764" y="421019"/>
                </a:cubicBezTo>
                <a:lnTo>
                  <a:pt x="105255" y="421019"/>
                </a:lnTo>
                <a:cubicBezTo>
                  <a:pt x="47124" y="421019"/>
                  <a:pt x="0" y="373895"/>
                  <a:pt x="0" y="315764"/>
                </a:cubicBezTo>
                <a:lnTo>
                  <a:pt x="0" y="105255"/>
                </a:lnTo>
                <a:cubicBezTo>
                  <a:pt x="0" y="47163"/>
                  <a:pt x="47163" y="0"/>
                  <a:pt x="105255" y="0"/>
                </a:cubicBezTo>
                <a:close/>
              </a:path>
            </a:pathLst>
          </a:custGeom>
          <a:gradFill rotWithShape="1" flip="none">
            <a:gsLst>
              <a:gs pos="0">
                <a:srgbClr val="8B5CF6"/>
              </a:gs>
              <a:gs pos="100000">
                <a:srgbClr val="8B5CF6">
                  <a:alpha val="60000"/>
                </a:srgbClr>
              </a:gs>
            </a:gsLst>
            <a:lin ang="2700000" scaled="1"/>
          </a:gradFill>
          <a:ln/>
        </p:spPr>
      </p:sp>
      <p:sp>
        <p:nvSpPr>
          <p:cNvPr id="25" name="Text 23"/>
          <p:cNvSpPr/>
          <p:nvPr/>
        </p:nvSpPr>
        <p:spPr>
          <a:xfrm>
            <a:off x="4497445" y="1863007"/>
            <a:ext cx="333306" cy="245594"/>
          </a:xfrm>
          <a:prstGeom prst="rect">
            <a:avLst/>
          </a:prstGeom>
          <a:noFill/>
          <a:ln/>
        </p:spPr>
        <p:txBody>
          <a:bodyPr wrap="square" lIns="0" tIns="0" rIns="0" bIns="0" rtlCol="0" anchor="ctr"/>
          <a:lstStyle/>
          <a:p>
            <a:pPr>
              <a:lnSpc>
                <a:spcPct val="120000"/>
              </a:lnSpc>
            </a:pPr>
            <a:r>
              <a:rPr lang="en-US" sz="1381" b="1" dirty="0">
                <a:solidFill>
                  <a:srgbClr val="FFFFFF"/>
                </a:solidFill>
                <a:latin typeface="MiSans" pitchFamily="34" charset="0"/>
                <a:ea typeface="MiSans" pitchFamily="34" charset="-122"/>
                <a:cs typeface="MiSans" pitchFamily="34" charset="-120"/>
              </a:rPr>
              <a:t>4.2</a:t>
            </a:r>
            <a:endParaRPr lang="en-US" sz="1600" dirty="0"/>
          </a:p>
        </p:txBody>
      </p:sp>
      <p:sp>
        <p:nvSpPr>
          <p:cNvPr id="26" name="Text 24"/>
          <p:cNvSpPr/>
          <p:nvPr/>
        </p:nvSpPr>
        <p:spPr>
          <a:xfrm>
            <a:off x="4936992" y="1863007"/>
            <a:ext cx="894665" cy="245594"/>
          </a:xfrm>
          <a:prstGeom prst="rect">
            <a:avLst/>
          </a:prstGeom>
          <a:noFill/>
          <a:ln/>
        </p:spPr>
        <p:txBody>
          <a:bodyPr wrap="square" lIns="0" tIns="0" rIns="0" bIns="0" rtlCol="0" anchor="ctr"/>
          <a:lstStyle/>
          <a:p>
            <a:pPr>
              <a:lnSpc>
                <a:spcPct val="130000"/>
              </a:lnSpc>
            </a:pPr>
            <a:r>
              <a:rPr lang="en-US" sz="1243" b="1" dirty="0">
                <a:solidFill>
                  <a:srgbClr val="8B5CF6"/>
                </a:solidFill>
                <a:latin typeface="Liter" pitchFamily="34" charset="0"/>
                <a:ea typeface="Liter" pitchFamily="34" charset="-122"/>
                <a:cs typeface="Liter" pitchFamily="34" charset="-120"/>
              </a:rPr>
              <a:t>Sửa lỗi Quiz</a:t>
            </a:r>
            <a:endParaRPr lang="en-US" sz="1600" dirty="0"/>
          </a:p>
        </p:txBody>
      </p:sp>
      <p:sp>
        <p:nvSpPr>
          <p:cNvPr id="27" name="Shape 25"/>
          <p:cNvSpPr/>
          <p:nvPr/>
        </p:nvSpPr>
        <p:spPr>
          <a:xfrm>
            <a:off x="4410719" y="2336653"/>
            <a:ext cx="3368150" cy="631528"/>
          </a:xfrm>
          <a:custGeom>
            <a:avLst/>
            <a:gdLst/>
            <a:ahLst/>
            <a:cxnLst/>
            <a:rect l="l" t="t" r="r" b="b"/>
            <a:pathLst>
              <a:path w="3368150" h="631528">
                <a:moveTo>
                  <a:pt x="70169" y="0"/>
                </a:moveTo>
                <a:lnTo>
                  <a:pt x="3297981" y="0"/>
                </a:lnTo>
                <a:cubicBezTo>
                  <a:pt x="3336708" y="0"/>
                  <a:pt x="3368150" y="31442"/>
                  <a:pt x="3368150" y="70169"/>
                </a:cubicBezTo>
                <a:lnTo>
                  <a:pt x="3368150" y="561359"/>
                </a:lnTo>
                <a:cubicBezTo>
                  <a:pt x="3368150" y="600112"/>
                  <a:pt x="3336734" y="631528"/>
                  <a:pt x="3297981" y="631528"/>
                </a:cubicBezTo>
                <a:lnTo>
                  <a:pt x="70169" y="631528"/>
                </a:lnTo>
                <a:cubicBezTo>
                  <a:pt x="31442" y="631528"/>
                  <a:pt x="0" y="600086"/>
                  <a:pt x="0" y="561359"/>
                </a:cubicBezTo>
                <a:lnTo>
                  <a:pt x="0" y="70169"/>
                </a:lnTo>
                <a:cubicBezTo>
                  <a:pt x="0" y="31416"/>
                  <a:pt x="31416" y="0"/>
                  <a:pt x="70169" y="0"/>
                </a:cubicBezTo>
                <a:close/>
              </a:path>
            </a:pathLst>
          </a:custGeom>
          <a:solidFill>
            <a:srgbClr val="0F172A">
              <a:alpha val="50196"/>
            </a:srgbClr>
          </a:solidFill>
          <a:ln/>
        </p:spPr>
      </p:sp>
      <p:sp>
        <p:nvSpPr>
          <p:cNvPr id="28" name="Text 26"/>
          <p:cNvSpPr/>
          <p:nvPr/>
        </p:nvSpPr>
        <p:spPr>
          <a:xfrm>
            <a:off x="4515974" y="2441908"/>
            <a:ext cx="3219039" cy="175424"/>
          </a:xfrm>
          <a:prstGeom prst="rect">
            <a:avLst/>
          </a:prstGeom>
          <a:noFill/>
          <a:ln/>
        </p:spPr>
        <p:txBody>
          <a:bodyPr wrap="square" lIns="0" tIns="0" rIns="0" bIns="0" rtlCol="0" anchor="ctr"/>
          <a:lstStyle/>
          <a:p>
            <a:pPr>
              <a:lnSpc>
                <a:spcPct val="120000"/>
              </a:lnSpc>
            </a:pPr>
            <a:r>
              <a:rPr lang="en-US" sz="967" b="1" dirty="0">
                <a:solidFill>
                  <a:srgbClr val="F8FAFC"/>
                </a:solidFill>
                <a:latin typeface="MiSans" pitchFamily="34" charset="0"/>
                <a:ea typeface="MiSans" pitchFamily="34" charset="-122"/>
                <a:cs typeface="MiSans" pitchFamily="34" charset="-120"/>
              </a:rPr>
              <a:t>Mục tiêu</a:t>
            </a:r>
            <a:endParaRPr lang="en-US" sz="1600" dirty="0"/>
          </a:p>
        </p:txBody>
      </p:sp>
      <p:sp>
        <p:nvSpPr>
          <p:cNvPr id="29" name="Text 27"/>
          <p:cNvSpPr/>
          <p:nvPr/>
        </p:nvSpPr>
        <p:spPr>
          <a:xfrm>
            <a:off x="4515974" y="2687502"/>
            <a:ext cx="3210268" cy="175424"/>
          </a:xfrm>
          <a:prstGeom prst="rect">
            <a:avLst/>
          </a:prstGeom>
          <a:noFill/>
          <a:ln/>
        </p:spPr>
        <p:txBody>
          <a:bodyPr wrap="square" lIns="0" tIns="0" rIns="0" bIns="0" rtlCol="0" anchor="ctr"/>
          <a:lstStyle/>
          <a:p>
            <a:pPr>
              <a:lnSpc>
                <a:spcPct val="140000"/>
              </a:lnSpc>
            </a:pPr>
            <a:r>
              <a:rPr lang="en-US" sz="829" dirty="0">
                <a:solidFill>
                  <a:srgbClr val="F8FAFC">
                    <a:alpha val="70000"/>
                  </a:srgbClr>
                </a:solidFill>
                <a:latin typeface="MiSans" pitchFamily="34" charset="0"/>
                <a:ea typeface="MiSans" pitchFamily="34" charset="-122"/>
                <a:cs typeface="MiSans" pitchFamily="34" charset="-120"/>
              </a:rPr>
              <a:t>Sửa lỗi code </a:t>
            </a:r>
            <a:pPr>
              <a:lnSpc>
                <a:spcPct val="140000"/>
              </a:lnSpc>
            </a:pPr>
            <a:r>
              <a:rPr lang="en-US" sz="829" dirty="0">
                <a:solidFill>
                  <a:srgbClr val="8B5CF6"/>
                </a:solidFill>
                <a:highlight>
                  <a:srgbClr val="8B5CF6">
                    <a:alpha val="20000"/>
                  </a:srgbClr>
                </a:highlight>
                <a:latin typeface="MiSans" pitchFamily="34" charset="0"/>
                <a:ea typeface="MiSans" pitchFamily="34" charset="-122"/>
                <a:cs typeface="MiSans" pitchFamily="34" charset="-120"/>
              </a:rPr>
              <a:t>quiz nhân ngẫu nhiên</a:t>
            </a:r>
            <a:endParaRPr lang="en-US" sz="1600" dirty="0"/>
          </a:p>
        </p:txBody>
      </p:sp>
      <p:sp>
        <p:nvSpPr>
          <p:cNvPr id="30" name="Shape 28"/>
          <p:cNvSpPr/>
          <p:nvPr/>
        </p:nvSpPr>
        <p:spPr>
          <a:xfrm>
            <a:off x="4410719" y="3069050"/>
            <a:ext cx="3368150" cy="1087632"/>
          </a:xfrm>
          <a:custGeom>
            <a:avLst/>
            <a:gdLst/>
            <a:ahLst/>
            <a:cxnLst/>
            <a:rect l="l" t="t" r="r" b="b"/>
            <a:pathLst>
              <a:path w="3368150" h="1087632">
                <a:moveTo>
                  <a:pt x="70174" y="0"/>
                </a:moveTo>
                <a:lnTo>
                  <a:pt x="3297976" y="0"/>
                </a:lnTo>
                <a:cubicBezTo>
                  <a:pt x="3336732" y="0"/>
                  <a:pt x="3368150" y="31418"/>
                  <a:pt x="3368150" y="70174"/>
                </a:cubicBezTo>
                <a:lnTo>
                  <a:pt x="3368150" y="1017458"/>
                </a:lnTo>
                <a:cubicBezTo>
                  <a:pt x="3368150" y="1056214"/>
                  <a:pt x="3336732" y="1087632"/>
                  <a:pt x="3297976" y="1087632"/>
                </a:cubicBezTo>
                <a:lnTo>
                  <a:pt x="70174" y="1087632"/>
                </a:lnTo>
                <a:cubicBezTo>
                  <a:pt x="31418" y="1087632"/>
                  <a:pt x="0" y="1056214"/>
                  <a:pt x="0" y="1017458"/>
                </a:cubicBezTo>
                <a:lnTo>
                  <a:pt x="0" y="70174"/>
                </a:lnTo>
                <a:cubicBezTo>
                  <a:pt x="0" y="31418"/>
                  <a:pt x="31418" y="0"/>
                  <a:pt x="70174" y="0"/>
                </a:cubicBezTo>
                <a:close/>
              </a:path>
            </a:pathLst>
          </a:custGeom>
          <a:solidFill>
            <a:srgbClr val="0F172A">
              <a:alpha val="50196"/>
            </a:srgbClr>
          </a:solidFill>
          <a:ln/>
        </p:spPr>
      </p:sp>
      <p:sp>
        <p:nvSpPr>
          <p:cNvPr id="31" name="Shape 29"/>
          <p:cNvSpPr/>
          <p:nvPr/>
        </p:nvSpPr>
        <p:spPr>
          <a:xfrm>
            <a:off x="4522552" y="3202374"/>
            <a:ext cx="118412" cy="105255"/>
          </a:xfrm>
          <a:custGeom>
            <a:avLst/>
            <a:gdLst/>
            <a:ahLst/>
            <a:cxnLst/>
            <a:rect l="l" t="t" r="r" b="b"/>
            <a:pathLst>
              <a:path w="118412" h="105255">
                <a:moveTo>
                  <a:pt x="39471" y="19735"/>
                </a:moveTo>
                <a:cubicBezTo>
                  <a:pt x="39471" y="8840"/>
                  <a:pt x="48310" y="0"/>
                  <a:pt x="59206" y="0"/>
                </a:cubicBezTo>
                <a:cubicBezTo>
                  <a:pt x="70101" y="0"/>
                  <a:pt x="78941" y="8840"/>
                  <a:pt x="78941" y="19735"/>
                </a:cubicBezTo>
                <a:lnTo>
                  <a:pt x="78941" y="20475"/>
                </a:lnTo>
                <a:cubicBezTo>
                  <a:pt x="78941" y="23703"/>
                  <a:pt x="76330" y="26314"/>
                  <a:pt x="73103" y="26314"/>
                </a:cubicBezTo>
                <a:lnTo>
                  <a:pt x="45329" y="26314"/>
                </a:lnTo>
                <a:cubicBezTo>
                  <a:pt x="42102" y="26314"/>
                  <a:pt x="39491" y="23703"/>
                  <a:pt x="39491" y="20475"/>
                </a:cubicBezTo>
                <a:lnTo>
                  <a:pt x="39491" y="19735"/>
                </a:lnTo>
                <a:close/>
                <a:moveTo>
                  <a:pt x="110517" y="22367"/>
                </a:moveTo>
                <a:cubicBezTo>
                  <a:pt x="112697" y="25265"/>
                  <a:pt x="112100" y="29397"/>
                  <a:pt x="109202" y="31576"/>
                </a:cubicBezTo>
                <a:lnTo>
                  <a:pt x="89096" y="46645"/>
                </a:lnTo>
                <a:cubicBezTo>
                  <a:pt x="90186" y="48475"/>
                  <a:pt x="91008" y="50489"/>
                  <a:pt x="91522" y="52627"/>
                </a:cubicBezTo>
                <a:lnTo>
                  <a:pt x="111833" y="52627"/>
                </a:lnTo>
                <a:cubicBezTo>
                  <a:pt x="115472" y="52627"/>
                  <a:pt x="118412" y="55567"/>
                  <a:pt x="118412" y="59206"/>
                </a:cubicBezTo>
                <a:cubicBezTo>
                  <a:pt x="118412" y="62844"/>
                  <a:pt x="115472" y="65784"/>
                  <a:pt x="111833" y="65784"/>
                </a:cubicBezTo>
                <a:lnTo>
                  <a:pt x="92098" y="65784"/>
                </a:lnTo>
                <a:lnTo>
                  <a:pt x="92098" y="72363"/>
                </a:lnTo>
                <a:cubicBezTo>
                  <a:pt x="92098" y="72897"/>
                  <a:pt x="92077" y="73452"/>
                  <a:pt x="92057" y="73987"/>
                </a:cubicBezTo>
                <a:lnTo>
                  <a:pt x="109202" y="86835"/>
                </a:lnTo>
                <a:cubicBezTo>
                  <a:pt x="112100" y="89014"/>
                  <a:pt x="112697" y="93146"/>
                  <a:pt x="110517" y="96045"/>
                </a:cubicBezTo>
                <a:cubicBezTo>
                  <a:pt x="108338" y="98944"/>
                  <a:pt x="104206" y="99540"/>
                  <a:pt x="101308" y="97361"/>
                </a:cubicBezTo>
                <a:lnTo>
                  <a:pt x="88336" y="87637"/>
                </a:lnTo>
                <a:cubicBezTo>
                  <a:pt x="83566" y="96723"/>
                  <a:pt x="74665" y="103302"/>
                  <a:pt x="64140" y="104885"/>
                </a:cubicBezTo>
                <a:lnTo>
                  <a:pt x="64140" y="57561"/>
                </a:lnTo>
                <a:cubicBezTo>
                  <a:pt x="64140" y="54827"/>
                  <a:pt x="61940" y="52627"/>
                  <a:pt x="59206" y="52627"/>
                </a:cubicBezTo>
                <a:cubicBezTo>
                  <a:pt x="56472" y="52627"/>
                  <a:pt x="54272" y="54827"/>
                  <a:pt x="54272" y="57561"/>
                </a:cubicBezTo>
                <a:lnTo>
                  <a:pt x="54272" y="104885"/>
                </a:lnTo>
                <a:cubicBezTo>
                  <a:pt x="43746" y="103302"/>
                  <a:pt x="34845" y="96723"/>
                  <a:pt x="30076" y="87637"/>
                </a:cubicBezTo>
                <a:lnTo>
                  <a:pt x="17104" y="97361"/>
                </a:lnTo>
                <a:cubicBezTo>
                  <a:pt x="14205" y="99540"/>
                  <a:pt x="10073" y="98944"/>
                  <a:pt x="7894" y="96045"/>
                </a:cubicBezTo>
                <a:cubicBezTo>
                  <a:pt x="5715" y="93146"/>
                  <a:pt x="6311" y="89014"/>
                  <a:pt x="9210" y="86835"/>
                </a:cubicBezTo>
                <a:lnTo>
                  <a:pt x="26355" y="73987"/>
                </a:lnTo>
                <a:cubicBezTo>
                  <a:pt x="26334" y="73452"/>
                  <a:pt x="26314" y="72918"/>
                  <a:pt x="26314" y="72363"/>
                </a:cubicBezTo>
                <a:lnTo>
                  <a:pt x="26314" y="65784"/>
                </a:lnTo>
                <a:lnTo>
                  <a:pt x="6578" y="65784"/>
                </a:lnTo>
                <a:cubicBezTo>
                  <a:pt x="2940" y="65784"/>
                  <a:pt x="0" y="62844"/>
                  <a:pt x="0" y="59206"/>
                </a:cubicBezTo>
                <a:cubicBezTo>
                  <a:pt x="0" y="55567"/>
                  <a:pt x="2940" y="52627"/>
                  <a:pt x="6578" y="52627"/>
                </a:cubicBezTo>
                <a:lnTo>
                  <a:pt x="26889" y="52627"/>
                </a:lnTo>
                <a:cubicBezTo>
                  <a:pt x="27403" y="50489"/>
                  <a:pt x="28226" y="48475"/>
                  <a:pt x="29315" y="46645"/>
                </a:cubicBezTo>
                <a:lnTo>
                  <a:pt x="9210" y="31576"/>
                </a:lnTo>
                <a:cubicBezTo>
                  <a:pt x="6311" y="29397"/>
                  <a:pt x="5715" y="25265"/>
                  <a:pt x="7894" y="22367"/>
                </a:cubicBezTo>
                <a:cubicBezTo>
                  <a:pt x="10073" y="19468"/>
                  <a:pt x="14205" y="18872"/>
                  <a:pt x="17104" y="21051"/>
                </a:cubicBezTo>
                <a:lnTo>
                  <a:pt x="39471" y="37826"/>
                </a:lnTo>
                <a:cubicBezTo>
                  <a:pt x="41999" y="36777"/>
                  <a:pt x="44774" y="36181"/>
                  <a:pt x="47694" y="36181"/>
                </a:cubicBezTo>
                <a:lnTo>
                  <a:pt x="70718" y="36181"/>
                </a:lnTo>
                <a:cubicBezTo>
                  <a:pt x="73637" y="36181"/>
                  <a:pt x="76412" y="36757"/>
                  <a:pt x="78941" y="37826"/>
                </a:cubicBezTo>
                <a:lnTo>
                  <a:pt x="101308" y="21051"/>
                </a:lnTo>
                <a:cubicBezTo>
                  <a:pt x="104206" y="18872"/>
                  <a:pt x="108338" y="19468"/>
                  <a:pt x="110517" y="22367"/>
                </a:cubicBezTo>
                <a:close/>
              </a:path>
            </a:pathLst>
          </a:custGeom>
          <a:solidFill>
            <a:srgbClr val="8B5CF6"/>
          </a:solidFill>
          <a:ln/>
        </p:spPr>
      </p:sp>
      <p:sp>
        <p:nvSpPr>
          <p:cNvPr id="32" name="Text 30"/>
          <p:cNvSpPr/>
          <p:nvPr/>
        </p:nvSpPr>
        <p:spPr>
          <a:xfrm>
            <a:off x="4671773" y="3174305"/>
            <a:ext cx="3054468" cy="140340"/>
          </a:xfrm>
          <a:prstGeom prst="rect">
            <a:avLst/>
          </a:prstGeom>
          <a:noFill/>
          <a:ln/>
        </p:spPr>
        <p:txBody>
          <a:bodyPr wrap="square" lIns="0" tIns="0" rIns="0" bIns="0" rtlCol="0" anchor="ctr"/>
          <a:lstStyle/>
          <a:p>
            <a:pPr>
              <a:lnSpc>
                <a:spcPct val="110000"/>
              </a:lnSpc>
            </a:pPr>
            <a:r>
              <a:rPr lang="en-US" sz="829" b="1" dirty="0">
                <a:solidFill>
                  <a:srgbClr val="8B5CF6"/>
                </a:solidFill>
                <a:latin typeface="MiSans" pitchFamily="34" charset="0"/>
                <a:ea typeface="MiSans" pitchFamily="34" charset="-122"/>
                <a:cs typeface="MiSans" pitchFamily="34" charset="-120"/>
              </a:rPr>
              <a:t>Các lỗi cần sửa</a:t>
            </a:r>
            <a:endParaRPr lang="en-US" sz="1600" dirty="0"/>
          </a:p>
        </p:txBody>
      </p:sp>
      <p:sp>
        <p:nvSpPr>
          <p:cNvPr id="33" name="Text 31"/>
          <p:cNvSpPr/>
          <p:nvPr/>
        </p:nvSpPr>
        <p:spPr>
          <a:xfrm>
            <a:off x="4515974" y="3384707"/>
            <a:ext cx="3210268" cy="140340"/>
          </a:xfrm>
          <a:prstGeom prst="rect">
            <a:avLst/>
          </a:prstGeom>
          <a:noFill/>
          <a:ln/>
        </p:spPr>
        <p:txBody>
          <a:bodyPr wrap="square" lIns="0" tIns="0" rIns="0" bIns="0" rtlCol="0" anchor="ctr"/>
          <a:lstStyle/>
          <a:p>
            <a:pPr>
              <a:lnSpc>
                <a:spcPct val="110000"/>
              </a:lnSpc>
            </a:pPr>
            <a:r>
              <a:rPr lang="en-US" sz="829" dirty="0">
                <a:solidFill>
                  <a:srgbClr val="F8FAFC">
                    <a:alpha val="70000"/>
                  </a:srgbClr>
                </a:solidFill>
                <a:latin typeface="MiSans" pitchFamily="34" charset="0"/>
                <a:ea typeface="MiSans" pitchFamily="34" charset="-122"/>
                <a:cs typeface="MiSans" pitchFamily="34" charset="-120"/>
              </a:rPr>
              <a:t>• Compilation errors</a:t>
            </a:r>
            <a:endParaRPr lang="en-US" sz="1600" dirty="0"/>
          </a:p>
        </p:txBody>
      </p:sp>
      <p:sp>
        <p:nvSpPr>
          <p:cNvPr id="34" name="Text 32"/>
          <p:cNvSpPr/>
          <p:nvPr/>
        </p:nvSpPr>
        <p:spPr>
          <a:xfrm>
            <a:off x="4515974" y="3560020"/>
            <a:ext cx="3210268" cy="140340"/>
          </a:xfrm>
          <a:prstGeom prst="rect">
            <a:avLst/>
          </a:prstGeom>
          <a:noFill/>
          <a:ln/>
        </p:spPr>
        <p:txBody>
          <a:bodyPr wrap="square" lIns="0" tIns="0" rIns="0" bIns="0" rtlCol="0" anchor="ctr"/>
          <a:lstStyle/>
          <a:p>
            <a:pPr>
              <a:lnSpc>
                <a:spcPct val="110000"/>
              </a:lnSpc>
            </a:pPr>
            <a:r>
              <a:rPr lang="en-US" sz="829" dirty="0">
                <a:solidFill>
                  <a:srgbClr val="F8FAFC">
                    <a:alpha val="70000"/>
                  </a:srgbClr>
                </a:solidFill>
                <a:latin typeface="MiSans" pitchFamily="34" charset="0"/>
                <a:ea typeface="MiSans" pitchFamily="34" charset="-122"/>
                <a:cs typeface="MiSans" pitchFamily="34" charset="-120"/>
              </a:rPr>
              <a:t>• Reproducibility (random seed)</a:t>
            </a:r>
            <a:endParaRPr lang="en-US" sz="1600" dirty="0"/>
          </a:p>
        </p:txBody>
      </p:sp>
      <p:sp>
        <p:nvSpPr>
          <p:cNvPr id="35" name="Text 33"/>
          <p:cNvSpPr/>
          <p:nvPr/>
        </p:nvSpPr>
        <p:spPr>
          <a:xfrm>
            <a:off x="4515974" y="3735338"/>
            <a:ext cx="3210268" cy="140340"/>
          </a:xfrm>
          <a:prstGeom prst="rect">
            <a:avLst/>
          </a:prstGeom>
          <a:noFill/>
          <a:ln/>
        </p:spPr>
        <p:txBody>
          <a:bodyPr wrap="square" lIns="0" tIns="0" rIns="0" bIns="0" rtlCol="0" anchor="ctr"/>
          <a:lstStyle/>
          <a:p>
            <a:pPr>
              <a:lnSpc>
                <a:spcPct val="110000"/>
              </a:lnSpc>
            </a:pPr>
            <a:r>
              <a:rPr lang="en-US" sz="829" dirty="0">
                <a:solidFill>
                  <a:srgbClr val="F8FAFC">
                    <a:alpha val="70000"/>
                  </a:srgbClr>
                </a:solidFill>
                <a:latin typeface="MiSans" pitchFamily="34" charset="0"/>
                <a:ea typeface="MiSans" pitchFamily="34" charset="-122"/>
                <a:cs typeface="MiSans" pitchFamily="34" charset="-120"/>
              </a:rPr>
              <a:t>• Scoping variables</a:t>
            </a:r>
            <a:endParaRPr lang="en-US" sz="1600" dirty="0"/>
          </a:p>
        </p:txBody>
      </p:sp>
      <p:sp>
        <p:nvSpPr>
          <p:cNvPr id="36" name="Text 34"/>
          <p:cNvSpPr/>
          <p:nvPr/>
        </p:nvSpPr>
        <p:spPr>
          <a:xfrm>
            <a:off x="4515974" y="3910651"/>
            <a:ext cx="3210268" cy="140340"/>
          </a:xfrm>
          <a:prstGeom prst="rect">
            <a:avLst/>
          </a:prstGeom>
          <a:noFill/>
          <a:ln/>
        </p:spPr>
        <p:txBody>
          <a:bodyPr wrap="square" lIns="0" tIns="0" rIns="0" bIns="0" rtlCol="0" anchor="ctr"/>
          <a:lstStyle/>
          <a:p>
            <a:pPr>
              <a:lnSpc>
                <a:spcPct val="110000"/>
              </a:lnSpc>
            </a:pPr>
            <a:r>
              <a:rPr lang="en-US" sz="829" dirty="0">
                <a:solidFill>
                  <a:srgbClr val="F8FAFC">
                    <a:alpha val="70000"/>
                  </a:srgbClr>
                </a:solidFill>
                <a:latin typeface="MiSans" pitchFamily="34" charset="0"/>
                <a:ea typeface="MiSans" pitchFamily="34" charset="-122"/>
                <a:cs typeface="MiSans" pitchFamily="34" charset="-120"/>
              </a:rPr>
              <a:t>• Error handling</a:t>
            </a:r>
            <a:endParaRPr lang="en-US" sz="1600" dirty="0"/>
          </a:p>
        </p:txBody>
      </p:sp>
      <p:sp>
        <p:nvSpPr>
          <p:cNvPr id="37" name="Shape 35"/>
          <p:cNvSpPr/>
          <p:nvPr/>
        </p:nvSpPr>
        <p:spPr>
          <a:xfrm>
            <a:off x="4410719" y="4261388"/>
            <a:ext cx="3368150" cy="491188"/>
          </a:xfrm>
          <a:custGeom>
            <a:avLst/>
            <a:gdLst/>
            <a:ahLst/>
            <a:cxnLst/>
            <a:rect l="l" t="t" r="r" b="b"/>
            <a:pathLst>
              <a:path w="3368150" h="491188">
                <a:moveTo>
                  <a:pt x="70171" y="0"/>
                </a:moveTo>
                <a:lnTo>
                  <a:pt x="3297978" y="0"/>
                </a:lnTo>
                <a:cubicBezTo>
                  <a:pt x="3336733" y="0"/>
                  <a:pt x="3368150" y="31417"/>
                  <a:pt x="3368150" y="70171"/>
                </a:cubicBezTo>
                <a:lnTo>
                  <a:pt x="3368150" y="421017"/>
                </a:lnTo>
                <a:cubicBezTo>
                  <a:pt x="3368150" y="459772"/>
                  <a:pt x="3336733" y="491188"/>
                  <a:pt x="3297978" y="491188"/>
                </a:cubicBezTo>
                <a:lnTo>
                  <a:pt x="70171" y="491188"/>
                </a:lnTo>
                <a:cubicBezTo>
                  <a:pt x="31443" y="491188"/>
                  <a:pt x="0" y="459746"/>
                  <a:pt x="0" y="421017"/>
                </a:cubicBezTo>
                <a:lnTo>
                  <a:pt x="0" y="70171"/>
                </a:lnTo>
                <a:cubicBezTo>
                  <a:pt x="0" y="31443"/>
                  <a:pt x="31443" y="0"/>
                  <a:pt x="70171" y="0"/>
                </a:cubicBezTo>
                <a:close/>
              </a:path>
            </a:pathLst>
          </a:custGeom>
          <a:solidFill>
            <a:srgbClr val="0F172A"/>
          </a:solidFill>
          <a:ln/>
        </p:spPr>
      </p:sp>
      <p:sp>
        <p:nvSpPr>
          <p:cNvPr id="38" name="Text 36"/>
          <p:cNvSpPr/>
          <p:nvPr/>
        </p:nvSpPr>
        <p:spPr>
          <a:xfrm>
            <a:off x="4515974" y="4366643"/>
            <a:ext cx="3210268" cy="140340"/>
          </a:xfrm>
          <a:prstGeom prst="rect">
            <a:avLst/>
          </a:prstGeom>
          <a:noFill/>
          <a:ln/>
        </p:spPr>
        <p:txBody>
          <a:bodyPr wrap="square" lIns="0" tIns="0" rIns="0" bIns="0" rtlCol="0" anchor="ctr"/>
          <a:lstStyle/>
          <a:p>
            <a:pPr>
              <a:lnSpc>
                <a:spcPct val="110000"/>
              </a:lnSpc>
            </a:pPr>
            <a:r>
              <a:rPr lang="en-US" sz="829" dirty="0">
                <a:solidFill>
                  <a:srgbClr val="10B981"/>
                </a:solidFill>
                <a:latin typeface="MiSans" pitchFamily="34" charset="0"/>
                <a:ea typeface="MiSans" pitchFamily="34" charset="-122"/>
                <a:cs typeface="MiSans" pitchFamily="34" charset="-120"/>
              </a:rPr>
              <a:t>random.seed(42)</a:t>
            </a:r>
            <a:endParaRPr lang="en-US" sz="1600" dirty="0"/>
          </a:p>
        </p:txBody>
      </p:sp>
      <p:sp>
        <p:nvSpPr>
          <p:cNvPr id="39" name="Text 37"/>
          <p:cNvSpPr/>
          <p:nvPr/>
        </p:nvSpPr>
        <p:spPr>
          <a:xfrm>
            <a:off x="4515974" y="4506875"/>
            <a:ext cx="3210268" cy="140340"/>
          </a:xfrm>
          <a:prstGeom prst="rect">
            <a:avLst/>
          </a:prstGeom>
          <a:noFill/>
          <a:ln/>
        </p:spPr>
        <p:txBody>
          <a:bodyPr wrap="square" lIns="0" tIns="0" rIns="0" bIns="0" rtlCol="0" anchor="ctr"/>
          <a:lstStyle/>
          <a:p>
            <a:pPr>
              <a:lnSpc>
                <a:spcPct val="110000"/>
              </a:lnSpc>
            </a:pPr>
            <a:r>
              <a:rPr lang="en-US" sz="829" dirty="0">
                <a:solidFill>
                  <a:srgbClr val="F8FAFC">
                    <a:alpha val="50000"/>
                  </a:srgbClr>
                </a:solidFill>
                <a:latin typeface="MiSans" pitchFamily="34" charset="0"/>
                <a:ea typeface="MiSans" pitchFamily="34" charset="-122"/>
                <a:cs typeface="MiSans" pitchFamily="34" charset="-120"/>
              </a:rPr>
              <a:t># Đảm bảo tái tạo</a:t>
            </a:r>
            <a:endParaRPr lang="en-US" sz="1600" dirty="0"/>
          </a:p>
        </p:txBody>
      </p:sp>
      <p:sp>
        <p:nvSpPr>
          <p:cNvPr id="40" name="Shape 38"/>
          <p:cNvSpPr/>
          <p:nvPr/>
        </p:nvSpPr>
        <p:spPr>
          <a:xfrm>
            <a:off x="8109325" y="1596363"/>
            <a:ext cx="3726016" cy="3366395"/>
          </a:xfrm>
          <a:custGeom>
            <a:avLst/>
            <a:gdLst/>
            <a:ahLst/>
            <a:cxnLst/>
            <a:rect l="l" t="t" r="r" b="b"/>
            <a:pathLst>
              <a:path w="3726016" h="3366395">
                <a:moveTo>
                  <a:pt x="140345" y="0"/>
                </a:moveTo>
                <a:lnTo>
                  <a:pt x="3585671" y="0"/>
                </a:lnTo>
                <a:cubicBezTo>
                  <a:pt x="3663181" y="0"/>
                  <a:pt x="3726016" y="62835"/>
                  <a:pt x="3726016" y="140345"/>
                </a:cubicBezTo>
                <a:lnTo>
                  <a:pt x="3726016" y="3226050"/>
                </a:lnTo>
                <a:cubicBezTo>
                  <a:pt x="3726016" y="3303561"/>
                  <a:pt x="3663181" y="3366395"/>
                  <a:pt x="3585671" y="3366395"/>
                </a:cubicBezTo>
                <a:lnTo>
                  <a:pt x="140345" y="3366395"/>
                </a:lnTo>
                <a:cubicBezTo>
                  <a:pt x="62835" y="3366395"/>
                  <a:pt x="0" y="3303561"/>
                  <a:pt x="0" y="3226050"/>
                </a:cubicBezTo>
                <a:lnTo>
                  <a:pt x="0" y="140345"/>
                </a:lnTo>
                <a:cubicBezTo>
                  <a:pt x="0" y="62835"/>
                  <a:pt x="62835" y="0"/>
                  <a:pt x="140345" y="0"/>
                </a:cubicBezTo>
                <a:close/>
              </a:path>
            </a:pathLst>
          </a:custGeom>
          <a:gradFill rotWithShape="1" flip="none">
            <a:gsLst>
              <a:gs pos="0">
                <a:srgbClr val="1E293B"/>
              </a:gs>
              <a:gs pos="100000">
                <a:srgbClr val="1E293B">
                  <a:alpha val="50000"/>
                </a:srgbClr>
              </a:gs>
            </a:gsLst>
            <a:lin ang="2700000" scaled="1"/>
          </a:gradFill>
          <a:ln w="10160">
            <a:solidFill>
              <a:srgbClr val="10B981">
                <a:alpha val="30196"/>
              </a:srgbClr>
            </a:solidFill>
            <a:prstDash val="solid"/>
          </a:ln>
        </p:spPr>
      </p:sp>
      <p:sp>
        <p:nvSpPr>
          <p:cNvPr id="41" name="Shape 39"/>
          <p:cNvSpPr/>
          <p:nvPr/>
        </p:nvSpPr>
        <p:spPr>
          <a:xfrm>
            <a:off x="8288258" y="1775295"/>
            <a:ext cx="421019" cy="421019"/>
          </a:xfrm>
          <a:custGeom>
            <a:avLst/>
            <a:gdLst/>
            <a:ahLst/>
            <a:cxnLst/>
            <a:rect l="l" t="t" r="r" b="b"/>
            <a:pathLst>
              <a:path w="421019" h="421019">
                <a:moveTo>
                  <a:pt x="105255" y="0"/>
                </a:moveTo>
                <a:lnTo>
                  <a:pt x="315764" y="0"/>
                </a:lnTo>
                <a:cubicBezTo>
                  <a:pt x="373895" y="0"/>
                  <a:pt x="421019" y="47124"/>
                  <a:pt x="421019" y="105255"/>
                </a:cubicBezTo>
                <a:lnTo>
                  <a:pt x="421019" y="315764"/>
                </a:lnTo>
                <a:cubicBezTo>
                  <a:pt x="421019" y="373895"/>
                  <a:pt x="373895" y="421019"/>
                  <a:pt x="315764" y="421019"/>
                </a:cubicBezTo>
                <a:lnTo>
                  <a:pt x="105255" y="421019"/>
                </a:lnTo>
                <a:cubicBezTo>
                  <a:pt x="47124" y="421019"/>
                  <a:pt x="0" y="373895"/>
                  <a:pt x="0" y="315764"/>
                </a:cubicBezTo>
                <a:lnTo>
                  <a:pt x="0" y="105255"/>
                </a:lnTo>
                <a:cubicBezTo>
                  <a:pt x="0" y="47163"/>
                  <a:pt x="47163" y="0"/>
                  <a:pt x="105255" y="0"/>
                </a:cubicBezTo>
                <a:close/>
              </a:path>
            </a:pathLst>
          </a:custGeom>
          <a:gradFill rotWithShape="1" flip="none">
            <a:gsLst>
              <a:gs pos="0">
                <a:srgbClr val="10B981"/>
              </a:gs>
              <a:gs pos="100000">
                <a:srgbClr val="10B981">
                  <a:alpha val="60000"/>
                </a:srgbClr>
              </a:gs>
            </a:gsLst>
            <a:lin ang="2700000" scaled="1"/>
          </a:gradFill>
          <a:ln/>
        </p:spPr>
      </p:sp>
      <p:sp>
        <p:nvSpPr>
          <p:cNvPr id="42" name="Text 40"/>
          <p:cNvSpPr/>
          <p:nvPr/>
        </p:nvSpPr>
        <p:spPr>
          <a:xfrm>
            <a:off x="8372681" y="1863007"/>
            <a:ext cx="342078" cy="245594"/>
          </a:xfrm>
          <a:prstGeom prst="rect">
            <a:avLst/>
          </a:prstGeom>
          <a:noFill/>
          <a:ln/>
        </p:spPr>
        <p:txBody>
          <a:bodyPr wrap="square" lIns="0" tIns="0" rIns="0" bIns="0" rtlCol="0" anchor="ctr"/>
          <a:lstStyle/>
          <a:p>
            <a:pPr>
              <a:lnSpc>
                <a:spcPct val="120000"/>
              </a:lnSpc>
            </a:pPr>
            <a:r>
              <a:rPr lang="en-US" sz="1381" b="1" dirty="0">
                <a:solidFill>
                  <a:srgbClr val="FFFFFF"/>
                </a:solidFill>
                <a:latin typeface="MiSans" pitchFamily="34" charset="0"/>
                <a:ea typeface="MiSans" pitchFamily="34" charset="-122"/>
                <a:cs typeface="MiSans" pitchFamily="34" charset="-120"/>
              </a:rPr>
              <a:t>4.3</a:t>
            </a:r>
            <a:endParaRPr lang="en-US" sz="1600" dirty="0"/>
          </a:p>
        </p:txBody>
      </p:sp>
      <p:sp>
        <p:nvSpPr>
          <p:cNvPr id="43" name="Text 41"/>
          <p:cNvSpPr/>
          <p:nvPr/>
        </p:nvSpPr>
        <p:spPr>
          <a:xfrm>
            <a:off x="8814531" y="1863007"/>
            <a:ext cx="877122" cy="245594"/>
          </a:xfrm>
          <a:prstGeom prst="rect">
            <a:avLst/>
          </a:prstGeom>
          <a:noFill/>
          <a:ln/>
        </p:spPr>
        <p:txBody>
          <a:bodyPr wrap="square" lIns="0" tIns="0" rIns="0" bIns="0" rtlCol="0" anchor="ctr"/>
          <a:lstStyle/>
          <a:p>
            <a:pPr>
              <a:lnSpc>
                <a:spcPct val="130000"/>
              </a:lnSpc>
            </a:pPr>
            <a:r>
              <a:rPr lang="en-US" sz="1243" b="1" dirty="0">
                <a:solidFill>
                  <a:srgbClr val="10B981"/>
                </a:solidFill>
                <a:latin typeface="Liter" pitchFamily="34" charset="0"/>
                <a:ea typeface="Liter" pitchFamily="34" charset="-122"/>
                <a:cs typeface="Liter" pitchFamily="34" charset="-120"/>
              </a:rPr>
              <a:t>OpenAI API</a:t>
            </a:r>
            <a:endParaRPr lang="en-US" sz="1600" dirty="0"/>
          </a:p>
        </p:txBody>
      </p:sp>
      <p:sp>
        <p:nvSpPr>
          <p:cNvPr id="44" name="Shape 42"/>
          <p:cNvSpPr/>
          <p:nvPr/>
        </p:nvSpPr>
        <p:spPr>
          <a:xfrm>
            <a:off x="8288258" y="2336653"/>
            <a:ext cx="3368150" cy="631528"/>
          </a:xfrm>
          <a:custGeom>
            <a:avLst/>
            <a:gdLst/>
            <a:ahLst/>
            <a:cxnLst/>
            <a:rect l="l" t="t" r="r" b="b"/>
            <a:pathLst>
              <a:path w="3368150" h="631528">
                <a:moveTo>
                  <a:pt x="70169" y="0"/>
                </a:moveTo>
                <a:lnTo>
                  <a:pt x="3297981" y="0"/>
                </a:lnTo>
                <a:cubicBezTo>
                  <a:pt x="3336708" y="0"/>
                  <a:pt x="3368150" y="31442"/>
                  <a:pt x="3368150" y="70169"/>
                </a:cubicBezTo>
                <a:lnTo>
                  <a:pt x="3368150" y="561359"/>
                </a:lnTo>
                <a:cubicBezTo>
                  <a:pt x="3368150" y="600112"/>
                  <a:pt x="3336734" y="631528"/>
                  <a:pt x="3297981" y="631528"/>
                </a:cubicBezTo>
                <a:lnTo>
                  <a:pt x="70169" y="631528"/>
                </a:lnTo>
                <a:cubicBezTo>
                  <a:pt x="31442" y="631528"/>
                  <a:pt x="0" y="600086"/>
                  <a:pt x="0" y="561359"/>
                </a:cubicBezTo>
                <a:lnTo>
                  <a:pt x="0" y="70169"/>
                </a:lnTo>
                <a:cubicBezTo>
                  <a:pt x="0" y="31416"/>
                  <a:pt x="31416" y="0"/>
                  <a:pt x="70169" y="0"/>
                </a:cubicBezTo>
                <a:close/>
              </a:path>
            </a:pathLst>
          </a:custGeom>
          <a:solidFill>
            <a:srgbClr val="0F172A">
              <a:alpha val="50196"/>
            </a:srgbClr>
          </a:solidFill>
          <a:ln/>
        </p:spPr>
      </p:sp>
      <p:sp>
        <p:nvSpPr>
          <p:cNvPr id="45" name="Text 43"/>
          <p:cNvSpPr/>
          <p:nvPr/>
        </p:nvSpPr>
        <p:spPr>
          <a:xfrm>
            <a:off x="8393512" y="2441908"/>
            <a:ext cx="3219039" cy="175424"/>
          </a:xfrm>
          <a:prstGeom prst="rect">
            <a:avLst/>
          </a:prstGeom>
          <a:noFill/>
          <a:ln/>
        </p:spPr>
        <p:txBody>
          <a:bodyPr wrap="square" lIns="0" tIns="0" rIns="0" bIns="0" rtlCol="0" anchor="ctr"/>
          <a:lstStyle/>
          <a:p>
            <a:pPr>
              <a:lnSpc>
                <a:spcPct val="120000"/>
              </a:lnSpc>
            </a:pPr>
            <a:r>
              <a:rPr lang="en-US" sz="967" b="1" dirty="0">
                <a:solidFill>
                  <a:srgbClr val="F8FAFC"/>
                </a:solidFill>
                <a:latin typeface="MiSans" pitchFamily="34" charset="0"/>
                <a:ea typeface="MiSans" pitchFamily="34" charset="-122"/>
                <a:cs typeface="MiSans" pitchFamily="34" charset="-120"/>
              </a:rPr>
              <a:t>Mục tiêu</a:t>
            </a:r>
            <a:endParaRPr lang="en-US" sz="1600" dirty="0"/>
          </a:p>
        </p:txBody>
      </p:sp>
      <p:sp>
        <p:nvSpPr>
          <p:cNvPr id="46" name="Text 44"/>
          <p:cNvSpPr/>
          <p:nvPr/>
        </p:nvSpPr>
        <p:spPr>
          <a:xfrm>
            <a:off x="8393512" y="2687502"/>
            <a:ext cx="3210268" cy="175424"/>
          </a:xfrm>
          <a:prstGeom prst="rect">
            <a:avLst/>
          </a:prstGeom>
          <a:noFill/>
          <a:ln/>
        </p:spPr>
        <p:txBody>
          <a:bodyPr wrap="square" lIns="0" tIns="0" rIns="0" bIns="0" rtlCol="0" anchor="ctr"/>
          <a:lstStyle/>
          <a:p>
            <a:pPr>
              <a:lnSpc>
                <a:spcPct val="140000"/>
              </a:lnSpc>
            </a:pPr>
            <a:r>
              <a:rPr lang="en-US" sz="829" dirty="0">
                <a:solidFill>
                  <a:srgbClr val="F8FAFC">
                    <a:alpha val="70000"/>
                  </a:srgbClr>
                </a:solidFill>
                <a:latin typeface="MiSans" pitchFamily="34" charset="0"/>
                <a:ea typeface="MiSans" pitchFamily="34" charset="-122"/>
                <a:cs typeface="MiSans" pitchFamily="34" charset="-120"/>
              </a:rPr>
              <a:t>Gọi </a:t>
            </a:r>
            <a:pPr>
              <a:lnSpc>
                <a:spcPct val="140000"/>
              </a:lnSpc>
            </a:pPr>
            <a:r>
              <a:rPr lang="en-US" sz="829" dirty="0">
                <a:solidFill>
                  <a:srgbClr val="10B981"/>
                </a:solidFill>
                <a:highlight>
                  <a:srgbClr val="10B981">
                    <a:alpha val="20000"/>
                  </a:srgbClr>
                </a:highlight>
                <a:latin typeface="MiSans" pitchFamily="34" charset="0"/>
                <a:ea typeface="MiSans" pitchFamily="34" charset="-122"/>
                <a:cs typeface="MiSans" pitchFamily="34" charset="-120"/>
              </a:rPr>
              <a:t>GPT-4o </a:t>
            </a:r>
            <a:pPr>
              <a:lnSpc>
                <a:spcPct val="140000"/>
              </a:lnSpc>
            </a:pPr>
            <a:r>
              <a:rPr lang="en-US" sz="829" dirty="0">
                <a:solidFill>
                  <a:srgbClr val="F8FAFC">
                    <a:alpha val="70000"/>
                  </a:srgbClr>
                </a:solidFill>
                <a:latin typeface="MiSans" pitchFamily="34" charset="0"/>
                <a:ea typeface="MiSans" pitchFamily="34" charset="-122"/>
                <a:cs typeface="MiSans" pitchFamily="34" charset="-120"/>
              </a:rPr>
              <a:t>bằng tiếng Việt qua API</a:t>
            </a:r>
            <a:endParaRPr lang="en-US" sz="1600" dirty="0"/>
          </a:p>
        </p:txBody>
      </p:sp>
      <p:sp>
        <p:nvSpPr>
          <p:cNvPr id="47" name="Shape 45"/>
          <p:cNvSpPr/>
          <p:nvPr/>
        </p:nvSpPr>
        <p:spPr>
          <a:xfrm>
            <a:off x="8288258" y="3069050"/>
            <a:ext cx="3368150" cy="947292"/>
          </a:xfrm>
          <a:custGeom>
            <a:avLst/>
            <a:gdLst/>
            <a:ahLst/>
            <a:cxnLst/>
            <a:rect l="l" t="t" r="r" b="b"/>
            <a:pathLst>
              <a:path w="3368150" h="947292">
                <a:moveTo>
                  <a:pt x="70166" y="0"/>
                </a:moveTo>
                <a:lnTo>
                  <a:pt x="3297984" y="0"/>
                </a:lnTo>
                <a:cubicBezTo>
                  <a:pt x="3336735" y="0"/>
                  <a:pt x="3368150" y="31414"/>
                  <a:pt x="3368150" y="70166"/>
                </a:cubicBezTo>
                <a:lnTo>
                  <a:pt x="3368150" y="877126"/>
                </a:lnTo>
                <a:cubicBezTo>
                  <a:pt x="3368150" y="915878"/>
                  <a:pt x="3336735" y="947292"/>
                  <a:pt x="3297984" y="947292"/>
                </a:cubicBezTo>
                <a:lnTo>
                  <a:pt x="70166" y="947292"/>
                </a:lnTo>
                <a:cubicBezTo>
                  <a:pt x="31414" y="947292"/>
                  <a:pt x="0" y="915878"/>
                  <a:pt x="0" y="877126"/>
                </a:cubicBezTo>
                <a:lnTo>
                  <a:pt x="0" y="70166"/>
                </a:lnTo>
                <a:cubicBezTo>
                  <a:pt x="0" y="31440"/>
                  <a:pt x="31440" y="0"/>
                  <a:pt x="70166" y="0"/>
                </a:cubicBezTo>
                <a:close/>
              </a:path>
            </a:pathLst>
          </a:custGeom>
          <a:solidFill>
            <a:srgbClr val="0F172A"/>
          </a:solidFill>
          <a:ln/>
        </p:spPr>
      </p:sp>
      <p:sp>
        <p:nvSpPr>
          <p:cNvPr id="48" name="Text 46"/>
          <p:cNvSpPr/>
          <p:nvPr/>
        </p:nvSpPr>
        <p:spPr>
          <a:xfrm>
            <a:off x="8393512" y="3174305"/>
            <a:ext cx="3210268" cy="140340"/>
          </a:xfrm>
          <a:prstGeom prst="rect">
            <a:avLst/>
          </a:prstGeom>
          <a:noFill/>
          <a:ln/>
        </p:spPr>
        <p:txBody>
          <a:bodyPr wrap="square" lIns="0" tIns="0" rIns="0" bIns="0" rtlCol="0" anchor="ctr"/>
          <a:lstStyle/>
          <a:p>
            <a:pPr>
              <a:lnSpc>
                <a:spcPct val="110000"/>
              </a:lnSpc>
            </a:pPr>
            <a:r>
              <a:rPr lang="en-US" sz="829" dirty="0">
                <a:solidFill>
                  <a:srgbClr val="8B5CF6"/>
                </a:solidFill>
                <a:latin typeface="MiSans" pitchFamily="34" charset="0"/>
                <a:ea typeface="MiSans" pitchFamily="34" charset="-122"/>
                <a:cs typeface="MiSans" pitchFamily="34" charset="-120"/>
              </a:rPr>
              <a:t># Setup:</a:t>
            </a:r>
            <a:endParaRPr lang="en-US" sz="1600" dirty="0"/>
          </a:p>
        </p:txBody>
      </p:sp>
      <p:sp>
        <p:nvSpPr>
          <p:cNvPr id="49" name="Text 47"/>
          <p:cNvSpPr/>
          <p:nvPr/>
        </p:nvSpPr>
        <p:spPr>
          <a:xfrm>
            <a:off x="8393512" y="3349622"/>
            <a:ext cx="3210268" cy="140340"/>
          </a:xfrm>
          <a:prstGeom prst="rect">
            <a:avLst/>
          </a:prstGeom>
          <a:noFill/>
          <a:ln/>
        </p:spPr>
        <p:txBody>
          <a:bodyPr wrap="square" lIns="0" tIns="0" rIns="0" bIns="0" rtlCol="0" anchor="ctr"/>
          <a:lstStyle/>
          <a:p>
            <a:pPr>
              <a:lnSpc>
                <a:spcPct val="110000"/>
              </a:lnSpc>
            </a:pPr>
            <a:r>
              <a:rPr lang="en-US" sz="829" dirty="0">
                <a:solidFill>
                  <a:srgbClr val="F8FAFC">
                    <a:alpha val="70000"/>
                  </a:srgbClr>
                </a:solidFill>
                <a:latin typeface="MiSans" pitchFamily="34" charset="0"/>
                <a:ea typeface="MiSans" pitchFamily="34" charset="-122"/>
                <a:cs typeface="MiSans" pitchFamily="34" charset="-120"/>
              </a:rPr>
              <a:t>client = OpenAI(</a:t>
            </a:r>
            <a:endParaRPr lang="en-US" sz="1600" dirty="0"/>
          </a:p>
        </p:txBody>
      </p:sp>
      <p:sp>
        <p:nvSpPr>
          <p:cNvPr id="50" name="Text 48"/>
          <p:cNvSpPr/>
          <p:nvPr/>
        </p:nvSpPr>
        <p:spPr>
          <a:xfrm>
            <a:off x="8463682" y="3489850"/>
            <a:ext cx="3140098" cy="140340"/>
          </a:xfrm>
          <a:prstGeom prst="rect">
            <a:avLst/>
          </a:prstGeom>
          <a:noFill/>
          <a:ln/>
        </p:spPr>
        <p:txBody>
          <a:bodyPr wrap="square" lIns="0" tIns="0" rIns="0" bIns="0" rtlCol="0" anchor="ctr"/>
          <a:lstStyle/>
          <a:p>
            <a:pPr>
              <a:lnSpc>
                <a:spcPct val="110000"/>
              </a:lnSpc>
            </a:pPr>
            <a:r>
              <a:rPr lang="en-US" sz="829" dirty="0">
                <a:solidFill>
                  <a:srgbClr val="F8FAFC">
                    <a:alpha val="70000"/>
                  </a:srgbClr>
                </a:solidFill>
                <a:latin typeface="MiSans" pitchFamily="34" charset="0"/>
                <a:ea typeface="MiSans" pitchFamily="34" charset="-122"/>
                <a:cs typeface="MiSans" pitchFamily="34" charset="-120"/>
              </a:rPr>
              <a:t>api_key=key,</a:t>
            </a:r>
            <a:endParaRPr lang="en-US" sz="1600" dirty="0"/>
          </a:p>
        </p:txBody>
      </p:sp>
      <p:sp>
        <p:nvSpPr>
          <p:cNvPr id="51" name="Text 49"/>
          <p:cNvSpPr/>
          <p:nvPr/>
        </p:nvSpPr>
        <p:spPr>
          <a:xfrm>
            <a:off x="8463682" y="3630083"/>
            <a:ext cx="3140098" cy="140340"/>
          </a:xfrm>
          <a:prstGeom prst="rect">
            <a:avLst/>
          </a:prstGeom>
          <a:noFill/>
          <a:ln/>
        </p:spPr>
        <p:txBody>
          <a:bodyPr wrap="square" lIns="0" tIns="0" rIns="0" bIns="0" rtlCol="0" anchor="ctr"/>
          <a:lstStyle/>
          <a:p>
            <a:pPr>
              <a:lnSpc>
                <a:spcPct val="110000"/>
              </a:lnSpc>
            </a:pPr>
            <a:r>
              <a:rPr lang="en-US" sz="829" dirty="0">
                <a:solidFill>
                  <a:srgbClr val="F8FAFC">
                    <a:alpha val="70000"/>
                  </a:srgbClr>
                </a:solidFill>
                <a:latin typeface="MiSans" pitchFamily="34" charset="0"/>
                <a:ea typeface="MiSans" pitchFamily="34" charset="-122"/>
                <a:cs typeface="MiSans" pitchFamily="34" charset="-120"/>
              </a:rPr>
              <a:t>base_url="..."</a:t>
            </a:r>
            <a:endParaRPr lang="en-US" sz="1600" dirty="0"/>
          </a:p>
        </p:txBody>
      </p:sp>
      <p:sp>
        <p:nvSpPr>
          <p:cNvPr id="52" name="Text 50"/>
          <p:cNvSpPr/>
          <p:nvPr/>
        </p:nvSpPr>
        <p:spPr>
          <a:xfrm>
            <a:off x="8393512" y="3770311"/>
            <a:ext cx="3210268" cy="140340"/>
          </a:xfrm>
          <a:prstGeom prst="rect">
            <a:avLst/>
          </a:prstGeom>
          <a:noFill/>
          <a:ln/>
        </p:spPr>
        <p:txBody>
          <a:bodyPr wrap="square" lIns="0" tIns="0" rIns="0" bIns="0" rtlCol="0" anchor="ctr"/>
          <a:lstStyle/>
          <a:p>
            <a:pPr>
              <a:lnSpc>
                <a:spcPct val="110000"/>
              </a:lnSpc>
            </a:pPr>
            <a:r>
              <a:rPr lang="en-US" sz="829" dirty="0">
                <a:solidFill>
                  <a:srgbClr val="F8FAFC">
                    <a:alpha val="70000"/>
                  </a:srgbClr>
                </a:solidFill>
                <a:latin typeface="MiSans" pitchFamily="34" charset="0"/>
                <a:ea typeface="MiSans" pitchFamily="34" charset="-122"/>
                <a:cs typeface="MiSans" pitchFamily="34" charset="-120"/>
              </a:rPr>
              <a:t>)</a:t>
            </a:r>
            <a:endParaRPr lang="en-US" sz="1600" dirty="0"/>
          </a:p>
        </p:txBody>
      </p:sp>
      <p:sp>
        <p:nvSpPr>
          <p:cNvPr id="53" name="Shape 51"/>
          <p:cNvSpPr/>
          <p:nvPr/>
        </p:nvSpPr>
        <p:spPr>
          <a:xfrm>
            <a:off x="8288258" y="4121049"/>
            <a:ext cx="3368150" cy="526273"/>
          </a:xfrm>
          <a:custGeom>
            <a:avLst/>
            <a:gdLst/>
            <a:ahLst/>
            <a:cxnLst/>
            <a:rect l="l" t="t" r="r" b="b"/>
            <a:pathLst>
              <a:path w="3368150" h="526273">
                <a:moveTo>
                  <a:pt x="70168" y="0"/>
                </a:moveTo>
                <a:lnTo>
                  <a:pt x="3297982" y="0"/>
                </a:lnTo>
                <a:cubicBezTo>
                  <a:pt x="3336734" y="0"/>
                  <a:pt x="3368150" y="31415"/>
                  <a:pt x="3368150" y="70168"/>
                </a:cubicBezTo>
                <a:lnTo>
                  <a:pt x="3368150" y="456105"/>
                </a:lnTo>
                <a:cubicBezTo>
                  <a:pt x="3368150" y="494858"/>
                  <a:pt x="3336734" y="526273"/>
                  <a:pt x="3297982" y="526273"/>
                </a:cubicBezTo>
                <a:lnTo>
                  <a:pt x="70168" y="526273"/>
                </a:lnTo>
                <a:cubicBezTo>
                  <a:pt x="31441" y="526273"/>
                  <a:pt x="0" y="494832"/>
                  <a:pt x="0" y="456105"/>
                </a:cubicBezTo>
                <a:lnTo>
                  <a:pt x="0" y="70168"/>
                </a:lnTo>
                <a:cubicBezTo>
                  <a:pt x="0" y="31441"/>
                  <a:pt x="31441" y="0"/>
                  <a:pt x="70168" y="0"/>
                </a:cubicBezTo>
                <a:close/>
              </a:path>
            </a:pathLst>
          </a:custGeom>
          <a:solidFill>
            <a:srgbClr val="0F172A">
              <a:alpha val="50196"/>
            </a:srgbClr>
          </a:solidFill>
          <a:ln/>
        </p:spPr>
      </p:sp>
      <p:sp>
        <p:nvSpPr>
          <p:cNvPr id="54" name="Shape 52"/>
          <p:cNvSpPr/>
          <p:nvPr/>
        </p:nvSpPr>
        <p:spPr>
          <a:xfrm>
            <a:off x="8406669" y="4254373"/>
            <a:ext cx="105255" cy="105255"/>
          </a:xfrm>
          <a:custGeom>
            <a:avLst/>
            <a:gdLst/>
            <a:ahLst/>
            <a:cxnLst/>
            <a:rect l="l" t="t" r="r" b="b"/>
            <a:pathLst>
              <a:path w="105255" h="105255">
                <a:moveTo>
                  <a:pt x="52627" y="0"/>
                </a:moveTo>
                <a:cubicBezTo>
                  <a:pt x="53573" y="0"/>
                  <a:pt x="54519" y="206"/>
                  <a:pt x="55382" y="596"/>
                </a:cubicBezTo>
                <a:lnTo>
                  <a:pt x="94112" y="17022"/>
                </a:lnTo>
                <a:cubicBezTo>
                  <a:pt x="98635" y="18934"/>
                  <a:pt x="102007" y="23394"/>
                  <a:pt x="101986" y="28781"/>
                </a:cubicBezTo>
                <a:cubicBezTo>
                  <a:pt x="101883" y="49174"/>
                  <a:pt x="93496" y="86486"/>
                  <a:pt x="58075" y="103446"/>
                </a:cubicBezTo>
                <a:cubicBezTo>
                  <a:pt x="54642" y="105090"/>
                  <a:pt x="50654" y="105090"/>
                  <a:pt x="47221" y="103446"/>
                </a:cubicBezTo>
                <a:cubicBezTo>
                  <a:pt x="11779" y="86486"/>
                  <a:pt x="3413" y="49174"/>
                  <a:pt x="3310" y="28781"/>
                </a:cubicBezTo>
                <a:cubicBezTo>
                  <a:pt x="3289" y="23394"/>
                  <a:pt x="6661" y="18934"/>
                  <a:pt x="11183" y="17022"/>
                </a:cubicBezTo>
                <a:lnTo>
                  <a:pt x="49893" y="596"/>
                </a:lnTo>
                <a:cubicBezTo>
                  <a:pt x="50757" y="206"/>
                  <a:pt x="51682" y="0"/>
                  <a:pt x="52627" y="0"/>
                </a:cubicBezTo>
                <a:close/>
                <a:moveTo>
                  <a:pt x="52627" y="13732"/>
                </a:moveTo>
                <a:lnTo>
                  <a:pt x="52627" y="91461"/>
                </a:lnTo>
                <a:cubicBezTo>
                  <a:pt x="80997" y="77728"/>
                  <a:pt x="88624" y="47303"/>
                  <a:pt x="88809" y="29089"/>
                </a:cubicBezTo>
                <a:lnTo>
                  <a:pt x="52627" y="13753"/>
                </a:lnTo>
                <a:lnTo>
                  <a:pt x="52627" y="13753"/>
                </a:lnTo>
                <a:close/>
              </a:path>
            </a:pathLst>
          </a:custGeom>
          <a:solidFill>
            <a:srgbClr val="10B981"/>
          </a:solidFill>
          <a:ln/>
        </p:spPr>
      </p:sp>
      <p:sp>
        <p:nvSpPr>
          <p:cNvPr id="55" name="Text 53"/>
          <p:cNvSpPr/>
          <p:nvPr/>
        </p:nvSpPr>
        <p:spPr>
          <a:xfrm>
            <a:off x="8549312" y="4226303"/>
            <a:ext cx="3054468" cy="140340"/>
          </a:xfrm>
          <a:prstGeom prst="rect">
            <a:avLst/>
          </a:prstGeom>
          <a:noFill/>
          <a:ln/>
        </p:spPr>
        <p:txBody>
          <a:bodyPr wrap="square" lIns="0" tIns="0" rIns="0" bIns="0" rtlCol="0" anchor="ctr"/>
          <a:lstStyle/>
          <a:p>
            <a:pPr>
              <a:lnSpc>
                <a:spcPct val="110000"/>
              </a:lnSpc>
            </a:pPr>
            <a:r>
              <a:rPr lang="en-US" sz="829" b="1" dirty="0">
                <a:solidFill>
                  <a:srgbClr val="10B981"/>
                </a:solidFill>
                <a:latin typeface="MiSans" pitchFamily="34" charset="0"/>
                <a:ea typeface="MiSans" pitchFamily="34" charset="-122"/>
                <a:cs typeface="MiSans" pitchFamily="34" charset="-120"/>
              </a:rPr>
              <a:t>Security</a:t>
            </a:r>
            <a:endParaRPr lang="en-US" sz="1600" dirty="0"/>
          </a:p>
        </p:txBody>
      </p:sp>
      <p:sp>
        <p:nvSpPr>
          <p:cNvPr id="56" name="Text 54"/>
          <p:cNvSpPr/>
          <p:nvPr/>
        </p:nvSpPr>
        <p:spPr>
          <a:xfrm>
            <a:off x="8393512" y="4401621"/>
            <a:ext cx="3210268" cy="140340"/>
          </a:xfrm>
          <a:prstGeom prst="rect">
            <a:avLst/>
          </a:prstGeom>
          <a:noFill/>
          <a:ln/>
        </p:spPr>
        <p:txBody>
          <a:bodyPr wrap="square" lIns="0" tIns="0" rIns="0" bIns="0" rtlCol="0" anchor="ctr"/>
          <a:lstStyle/>
          <a:p>
            <a:pPr>
              <a:lnSpc>
                <a:spcPct val="110000"/>
              </a:lnSpc>
            </a:pPr>
            <a:r>
              <a:rPr lang="en-US" sz="829" dirty="0">
                <a:solidFill>
                  <a:srgbClr val="F8FAFC">
                    <a:alpha val="70000"/>
                  </a:srgbClr>
                </a:solidFill>
                <a:latin typeface="MiSans" pitchFamily="34" charset="0"/>
                <a:ea typeface="MiSans" pitchFamily="34" charset="-122"/>
                <a:cs typeface="MiSans" pitchFamily="34" charset="-120"/>
              </a:rPr>
              <a:t>API key từ </a:t>
            </a:r>
            <a:pPr>
              <a:lnSpc>
                <a:spcPct val="110000"/>
              </a:lnSpc>
            </a:pPr>
            <a:r>
              <a:rPr lang="en-US" sz="829" dirty="0">
                <a:solidFill>
                  <a:srgbClr val="10B981"/>
                </a:solidFill>
                <a:highlight>
                  <a:srgbClr val="10B981">
                    <a:alpha val="20000"/>
                  </a:srgbClr>
                </a:highlight>
                <a:latin typeface="MiSans" pitchFamily="34" charset="0"/>
                <a:ea typeface="MiSans" pitchFamily="34" charset="-122"/>
                <a:cs typeface="MiSans" pitchFamily="34" charset="-120"/>
              </a:rPr>
              <a:t>biến môi trường</a:t>
            </a:r>
            <a:endParaRPr lang="en-US" sz="1600" dirty="0"/>
          </a:p>
        </p:txBody>
      </p:sp>
      <p:sp>
        <p:nvSpPr>
          <p:cNvPr id="57" name="Shape 55"/>
          <p:cNvSpPr/>
          <p:nvPr/>
        </p:nvSpPr>
        <p:spPr>
          <a:xfrm>
            <a:off x="354357" y="5113624"/>
            <a:ext cx="11488548" cy="1743719"/>
          </a:xfrm>
          <a:custGeom>
            <a:avLst/>
            <a:gdLst/>
            <a:ahLst/>
            <a:cxnLst/>
            <a:rect l="l" t="t" r="r" b="b"/>
            <a:pathLst>
              <a:path w="11488548" h="1743719">
                <a:moveTo>
                  <a:pt x="140335" y="0"/>
                </a:moveTo>
                <a:lnTo>
                  <a:pt x="11348213" y="0"/>
                </a:lnTo>
                <a:cubicBezTo>
                  <a:pt x="11425718" y="0"/>
                  <a:pt x="11488548" y="62830"/>
                  <a:pt x="11488548" y="140335"/>
                </a:cubicBezTo>
                <a:lnTo>
                  <a:pt x="11488548" y="1603385"/>
                </a:lnTo>
                <a:cubicBezTo>
                  <a:pt x="11488548" y="1680889"/>
                  <a:pt x="11425718" y="1743719"/>
                  <a:pt x="11348213" y="1743719"/>
                </a:cubicBezTo>
                <a:lnTo>
                  <a:pt x="140335" y="1743719"/>
                </a:lnTo>
                <a:cubicBezTo>
                  <a:pt x="62882" y="1743719"/>
                  <a:pt x="0" y="1680837"/>
                  <a:pt x="0" y="1603385"/>
                </a:cubicBezTo>
                <a:lnTo>
                  <a:pt x="0" y="140335"/>
                </a:lnTo>
                <a:cubicBezTo>
                  <a:pt x="0" y="62830"/>
                  <a:pt x="62830" y="0"/>
                  <a:pt x="140335" y="0"/>
                </a:cubicBezTo>
                <a:close/>
              </a:path>
            </a:pathLst>
          </a:custGeom>
          <a:gradFill rotWithShape="1" flip="none">
            <a:gsLst>
              <a:gs pos="0">
                <a:srgbClr val="1E293B"/>
              </a:gs>
              <a:gs pos="100000">
                <a:srgbClr val="1E293B">
                  <a:alpha val="50000"/>
                </a:srgbClr>
              </a:gs>
            </a:gsLst>
            <a:lin ang="0" scaled="1"/>
          </a:gradFill>
          <a:ln w="10160">
            <a:solidFill>
              <a:srgbClr val="3B82F6">
                <a:alpha val="30196"/>
              </a:srgbClr>
            </a:solidFill>
            <a:prstDash val="solid"/>
          </a:ln>
        </p:spPr>
      </p:sp>
      <p:sp>
        <p:nvSpPr>
          <p:cNvPr id="58" name="Shape 56"/>
          <p:cNvSpPr/>
          <p:nvPr/>
        </p:nvSpPr>
        <p:spPr>
          <a:xfrm>
            <a:off x="555218" y="5327640"/>
            <a:ext cx="175424" cy="175424"/>
          </a:xfrm>
          <a:custGeom>
            <a:avLst/>
            <a:gdLst/>
            <a:ahLst/>
            <a:cxnLst/>
            <a:rect l="l" t="t" r="r" b="b"/>
            <a:pathLst>
              <a:path w="175424" h="175424">
                <a:moveTo>
                  <a:pt x="65784" y="21928"/>
                </a:moveTo>
                <a:cubicBezTo>
                  <a:pt x="65784" y="15864"/>
                  <a:pt x="70684" y="10964"/>
                  <a:pt x="76748" y="10964"/>
                </a:cubicBezTo>
                <a:lnTo>
                  <a:pt x="98676" y="10964"/>
                </a:lnTo>
                <a:cubicBezTo>
                  <a:pt x="104741" y="10964"/>
                  <a:pt x="109640" y="15864"/>
                  <a:pt x="109640" y="21928"/>
                </a:cubicBezTo>
                <a:lnTo>
                  <a:pt x="109640" y="43856"/>
                </a:lnTo>
                <a:cubicBezTo>
                  <a:pt x="109640" y="49921"/>
                  <a:pt x="104741" y="54820"/>
                  <a:pt x="98676" y="54820"/>
                </a:cubicBezTo>
                <a:lnTo>
                  <a:pt x="95935" y="54820"/>
                </a:lnTo>
                <a:lnTo>
                  <a:pt x="95935" y="76748"/>
                </a:lnTo>
                <a:lnTo>
                  <a:pt x="137050" y="76748"/>
                </a:lnTo>
                <a:cubicBezTo>
                  <a:pt x="150687" y="76748"/>
                  <a:pt x="161719" y="87781"/>
                  <a:pt x="161719" y="101417"/>
                </a:cubicBezTo>
                <a:lnTo>
                  <a:pt x="161719" y="120604"/>
                </a:lnTo>
                <a:lnTo>
                  <a:pt x="164460" y="120604"/>
                </a:lnTo>
                <a:cubicBezTo>
                  <a:pt x="170525" y="120604"/>
                  <a:pt x="175424" y="125504"/>
                  <a:pt x="175424" y="131568"/>
                </a:cubicBezTo>
                <a:lnTo>
                  <a:pt x="175424" y="153496"/>
                </a:lnTo>
                <a:cubicBezTo>
                  <a:pt x="175424" y="159561"/>
                  <a:pt x="170525" y="164460"/>
                  <a:pt x="164460" y="164460"/>
                </a:cubicBezTo>
                <a:lnTo>
                  <a:pt x="142532" y="164460"/>
                </a:lnTo>
                <a:cubicBezTo>
                  <a:pt x="136468" y="164460"/>
                  <a:pt x="131568" y="159561"/>
                  <a:pt x="131568" y="153496"/>
                </a:cubicBezTo>
                <a:lnTo>
                  <a:pt x="131568" y="131568"/>
                </a:lnTo>
                <a:cubicBezTo>
                  <a:pt x="131568" y="125504"/>
                  <a:pt x="136468" y="120604"/>
                  <a:pt x="142532" y="120604"/>
                </a:cubicBezTo>
                <a:lnTo>
                  <a:pt x="145273" y="120604"/>
                </a:lnTo>
                <a:lnTo>
                  <a:pt x="145273" y="101417"/>
                </a:lnTo>
                <a:cubicBezTo>
                  <a:pt x="145273" y="96860"/>
                  <a:pt x="141607" y="93194"/>
                  <a:pt x="137050" y="93194"/>
                </a:cubicBezTo>
                <a:lnTo>
                  <a:pt x="95935" y="93194"/>
                </a:lnTo>
                <a:lnTo>
                  <a:pt x="95935" y="120604"/>
                </a:lnTo>
                <a:lnTo>
                  <a:pt x="98676" y="120604"/>
                </a:lnTo>
                <a:cubicBezTo>
                  <a:pt x="104741" y="120604"/>
                  <a:pt x="109640" y="125504"/>
                  <a:pt x="109640" y="131568"/>
                </a:cubicBezTo>
                <a:lnTo>
                  <a:pt x="109640" y="153496"/>
                </a:lnTo>
                <a:cubicBezTo>
                  <a:pt x="109640" y="159561"/>
                  <a:pt x="104741" y="164460"/>
                  <a:pt x="98676" y="164460"/>
                </a:cubicBezTo>
                <a:lnTo>
                  <a:pt x="76748" y="164460"/>
                </a:lnTo>
                <a:cubicBezTo>
                  <a:pt x="70684" y="164460"/>
                  <a:pt x="65784" y="159561"/>
                  <a:pt x="65784" y="153496"/>
                </a:cubicBezTo>
                <a:lnTo>
                  <a:pt x="65784" y="131568"/>
                </a:lnTo>
                <a:cubicBezTo>
                  <a:pt x="65784" y="125504"/>
                  <a:pt x="70684" y="120604"/>
                  <a:pt x="76748" y="120604"/>
                </a:cubicBezTo>
                <a:lnTo>
                  <a:pt x="79489" y="120604"/>
                </a:lnTo>
                <a:lnTo>
                  <a:pt x="79489" y="93194"/>
                </a:lnTo>
                <a:lnTo>
                  <a:pt x="38374" y="93194"/>
                </a:lnTo>
                <a:cubicBezTo>
                  <a:pt x="33817" y="93194"/>
                  <a:pt x="30151" y="96860"/>
                  <a:pt x="30151" y="101417"/>
                </a:cubicBezTo>
                <a:lnTo>
                  <a:pt x="30151" y="120604"/>
                </a:lnTo>
                <a:lnTo>
                  <a:pt x="32892" y="120604"/>
                </a:lnTo>
                <a:cubicBezTo>
                  <a:pt x="38957" y="120604"/>
                  <a:pt x="43856" y="125504"/>
                  <a:pt x="43856" y="131568"/>
                </a:cubicBezTo>
                <a:lnTo>
                  <a:pt x="43856" y="153496"/>
                </a:lnTo>
                <a:cubicBezTo>
                  <a:pt x="43856" y="159561"/>
                  <a:pt x="38957" y="164460"/>
                  <a:pt x="32892" y="164460"/>
                </a:cubicBezTo>
                <a:lnTo>
                  <a:pt x="10964" y="164460"/>
                </a:lnTo>
                <a:cubicBezTo>
                  <a:pt x="4900" y="164460"/>
                  <a:pt x="0" y="159561"/>
                  <a:pt x="0" y="153496"/>
                </a:cubicBezTo>
                <a:lnTo>
                  <a:pt x="0" y="131568"/>
                </a:lnTo>
                <a:cubicBezTo>
                  <a:pt x="0" y="125504"/>
                  <a:pt x="4900" y="120604"/>
                  <a:pt x="10964" y="120604"/>
                </a:cubicBezTo>
                <a:lnTo>
                  <a:pt x="13705" y="120604"/>
                </a:lnTo>
                <a:lnTo>
                  <a:pt x="13705" y="101417"/>
                </a:lnTo>
                <a:cubicBezTo>
                  <a:pt x="13705" y="87781"/>
                  <a:pt x="24738" y="76748"/>
                  <a:pt x="38374" y="76748"/>
                </a:cubicBezTo>
                <a:lnTo>
                  <a:pt x="79489" y="76748"/>
                </a:lnTo>
                <a:lnTo>
                  <a:pt x="79489" y="54820"/>
                </a:lnTo>
                <a:lnTo>
                  <a:pt x="76748" y="54820"/>
                </a:lnTo>
                <a:cubicBezTo>
                  <a:pt x="70684" y="54820"/>
                  <a:pt x="65784" y="49921"/>
                  <a:pt x="65784" y="43856"/>
                </a:cubicBezTo>
                <a:lnTo>
                  <a:pt x="65784" y="21928"/>
                </a:lnTo>
                <a:close/>
              </a:path>
            </a:pathLst>
          </a:custGeom>
          <a:solidFill>
            <a:srgbClr val="3B82F6"/>
          </a:solidFill>
          <a:ln/>
        </p:spPr>
      </p:sp>
      <p:sp>
        <p:nvSpPr>
          <p:cNvPr id="59" name="Text 57"/>
          <p:cNvSpPr/>
          <p:nvPr/>
        </p:nvSpPr>
        <p:spPr>
          <a:xfrm>
            <a:off x="752571" y="5292555"/>
            <a:ext cx="10999114" cy="245594"/>
          </a:xfrm>
          <a:prstGeom prst="rect">
            <a:avLst/>
          </a:prstGeom>
          <a:noFill/>
          <a:ln/>
        </p:spPr>
        <p:txBody>
          <a:bodyPr wrap="square" lIns="0" tIns="0" rIns="0" bIns="0" rtlCol="0" anchor="ctr"/>
          <a:lstStyle/>
          <a:p>
            <a:pPr>
              <a:lnSpc>
                <a:spcPct val="120000"/>
              </a:lnSpc>
            </a:pPr>
            <a:r>
              <a:rPr lang="en-US" sz="1381" b="1" dirty="0">
                <a:solidFill>
                  <a:srgbClr val="F8FAFC"/>
                </a:solidFill>
                <a:latin typeface="Liter" pitchFamily="34" charset="0"/>
                <a:ea typeface="Liter" pitchFamily="34" charset="-122"/>
                <a:cs typeface="Liter" pitchFamily="34" charset="-120"/>
              </a:rPr>
              <a:t>Phân tích theo ba mức</a:t>
            </a:r>
            <a:endParaRPr lang="en-US" sz="1600" dirty="0"/>
          </a:p>
        </p:txBody>
      </p:sp>
      <p:sp>
        <p:nvSpPr>
          <p:cNvPr id="60" name="Shape 58"/>
          <p:cNvSpPr/>
          <p:nvPr/>
        </p:nvSpPr>
        <p:spPr>
          <a:xfrm>
            <a:off x="550833" y="5678489"/>
            <a:ext cx="3596201" cy="999919"/>
          </a:xfrm>
          <a:custGeom>
            <a:avLst/>
            <a:gdLst/>
            <a:ahLst/>
            <a:cxnLst/>
            <a:rect l="l" t="t" r="r" b="b"/>
            <a:pathLst>
              <a:path w="3596201" h="999919">
                <a:moveTo>
                  <a:pt x="35085" y="0"/>
                </a:moveTo>
                <a:lnTo>
                  <a:pt x="3490950" y="0"/>
                </a:lnTo>
                <a:cubicBezTo>
                  <a:pt x="3549079" y="0"/>
                  <a:pt x="3596201" y="47123"/>
                  <a:pt x="3596201" y="105252"/>
                </a:cubicBezTo>
                <a:lnTo>
                  <a:pt x="3596201" y="894668"/>
                </a:lnTo>
                <a:cubicBezTo>
                  <a:pt x="3596201" y="952797"/>
                  <a:pt x="3549079" y="999919"/>
                  <a:pt x="3490950" y="999919"/>
                </a:cubicBezTo>
                <a:lnTo>
                  <a:pt x="35085" y="999919"/>
                </a:lnTo>
                <a:cubicBezTo>
                  <a:pt x="15708" y="999919"/>
                  <a:pt x="0" y="984211"/>
                  <a:pt x="0" y="964835"/>
                </a:cubicBezTo>
                <a:lnTo>
                  <a:pt x="0" y="35085"/>
                </a:lnTo>
                <a:cubicBezTo>
                  <a:pt x="0" y="15708"/>
                  <a:pt x="15708" y="0"/>
                  <a:pt x="35085" y="0"/>
                </a:cubicBezTo>
                <a:close/>
              </a:path>
            </a:pathLst>
          </a:custGeom>
          <a:solidFill>
            <a:srgbClr val="0F172A">
              <a:alpha val="50196"/>
            </a:srgbClr>
          </a:solidFill>
          <a:ln/>
        </p:spPr>
      </p:sp>
      <p:sp>
        <p:nvSpPr>
          <p:cNvPr id="61" name="Shape 59"/>
          <p:cNvSpPr/>
          <p:nvPr/>
        </p:nvSpPr>
        <p:spPr>
          <a:xfrm>
            <a:off x="550833" y="5678489"/>
            <a:ext cx="35085" cy="999919"/>
          </a:xfrm>
          <a:custGeom>
            <a:avLst/>
            <a:gdLst/>
            <a:ahLst/>
            <a:cxnLst/>
            <a:rect l="l" t="t" r="r" b="b"/>
            <a:pathLst>
              <a:path w="35085" h="999919">
                <a:moveTo>
                  <a:pt x="35085" y="0"/>
                </a:moveTo>
                <a:lnTo>
                  <a:pt x="35085" y="0"/>
                </a:lnTo>
                <a:lnTo>
                  <a:pt x="35085" y="999919"/>
                </a:lnTo>
                <a:lnTo>
                  <a:pt x="35085" y="999919"/>
                </a:lnTo>
                <a:cubicBezTo>
                  <a:pt x="15708" y="999919"/>
                  <a:pt x="0" y="984211"/>
                  <a:pt x="0" y="964835"/>
                </a:cubicBezTo>
                <a:lnTo>
                  <a:pt x="0" y="35085"/>
                </a:lnTo>
                <a:cubicBezTo>
                  <a:pt x="0" y="15721"/>
                  <a:pt x="15721" y="0"/>
                  <a:pt x="35085" y="0"/>
                </a:cubicBezTo>
                <a:close/>
              </a:path>
            </a:pathLst>
          </a:custGeom>
          <a:solidFill>
            <a:srgbClr val="3B82F6"/>
          </a:solidFill>
          <a:ln/>
        </p:spPr>
      </p:sp>
      <p:sp>
        <p:nvSpPr>
          <p:cNvPr id="62" name="Text 60"/>
          <p:cNvSpPr/>
          <p:nvPr/>
        </p:nvSpPr>
        <p:spPr>
          <a:xfrm>
            <a:off x="708715" y="5818828"/>
            <a:ext cx="3376921" cy="245594"/>
          </a:xfrm>
          <a:prstGeom prst="rect">
            <a:avLst/>
          </a:prstGeom>
          <a:noFill/>
          <a:ln/>
        </p:spPr>
        <p:txBody>
          <a:bodyPr wrap="square" lIns="0" tIns="0" rIns="0" bIns="0" rtlCol="0" anchor="ctr"/>
          <a:lstStyle/>
          <a:p>
            <a:pPr>
              <a:lnSpc>
                <a:spcPct val="130000"/>
              </a:lnSpc>
            </a:pPr>
            <a:r>
              <a:rPr lang="en-US" sz="1243" b="1" dirty="0">
                <a:solidFill>
                  <a:srgbClr val="3B82F6"/>
                </a:solidFill>
                <a:latin typeface="MiSans" pitchFamily="34" charset="0"/>
                <a:ea typeface="MiSans" pitchFamily="34" charset="-122"/>
                <a:cs typeface="MiSans" pitchFamily="34" charset="-120"/>
              </a:rPr>
              <a:t>Ý tưởng</a:t>
            </a:r>
            <a:endParaRPr lang="en-US" sz="1600" dirty="0"/>
          </a:p>
        </p:txBody>
      </p:sp>
      <p:sp>
        <p:nvSpPr>
          <p:cNvPr id="63" name="Text 61"/>
          <p:cNvSpPr/>
          <p:nvPr/>
        </p:nvSpPr>
        <p:spPr>
          <a:xfrm>
            <a:off x="708715" y="6134593"/>
            <a:ext cx="3359378" cy="403476"/>
          </a:xfrm>
          <a:prstGeom prst="rect">
            <a:avLst/>
          </a:prstGeom>
          <a:noFill/>
          <a:ln/>
        </p:spPr>
        <p:txBody>
          <a:bodyPr wrap="square" lIns="0" tIns="0" rIns="0" bIns="0" rtlCol="0" anchor="ctr"/>
          <a:lstStyle/>
          <a:p>
            <a:pPr>
              <a:lnSpc>
                <a:spcPct val="140000"/>
              </a:lnSpc>
            </a:pPr>
            <a:r>
              <a:rPr lang="en-US" sz="967" dirty="0">
                <a:solidFill>
                  <a:srgbClr val="F8FAFC">
                    <a:alpha val="70000"/>
                  </a:srgbClr>
                </a:solidFill>
                <a:latin typeface="MiSans" pitchFamily="34" charset="0"/>
                <a:ea typeface="MiSans" pitchFamily="34" charset="-122"/>
                <a:cs typeface="MiSans" pitchFamily="34" charset="-120"/>
              </a:rPr>
              <a:t>Tự động hóa workflow, tạo bài quiz giáo dục, tích hợp AI vào script</a:t>
            </a:r>
            <a:endParaRPr lang="en-US" sz="1600" dirty="0"/>
          </a:p>
        </p:txBody>
      </p:sp>
      <p:sp>
        <p:nvSpPr>
          <p:cNvPr id="64" name="Shape 62"/>
          <p:cNvSpPr/>
          <p:nvPr/>
        </p:nvSpPr>
        <p:spPr>
          <a:xfrm>
            <a:off x="4306671" y="5678489"/>
            <a:ext cx="3596201" cy="999919"/>
          </a:xfrm>
          <a:custGeom>
            <a:avLst/>
            <a:gdLst/>
            <a:ahLst/>
            <a:cxnLst/>
            <a:rect l="l" t="t" r="r" b="b"/>
            <a:pathLst>
              <a:path w="3596201" h="999919">
                <a:moveTo>
                  <a:pt x="35085" y="0"/>
                </a:moveTo>
                <a:lnTo>
                  <a:pt x="3490950" y="0"/>
                </a:lnTo>
                <a:cubicBezTo>
                  <a:pt x="3549079" y="0"/>
                  <a:pt x="3596201" y="47123"/>
                  <a:pt x="3596201" y="105252"/>
                </a:cubicBezTo>
                <a:lnTo>
                  <a:pt x="3596201" y="894668"/>
                </a:lnTo>
                <a:cubicBezTo>
                  <a:pt x="3596201" y="952797"/>
                  <a:pt x="3549079" y="999919"/>
                  <a:pt x="3490950" y="999919"/>
                </a:cubicBezTo>
                <a:lnTo>
                  <a:pt x="35085" y="999919"/>
                </a:lnTo>
                <a:cubicBezTo>
                  <a:pt x="15708" y="999919"/>
                  <a:pt x="0" y="984211"/>
                  <a:pt x="0" y="964835"/>
                </a:cubicBezTo>
                <a:lnTo>
                  <a:pt x="0" y="35085"/>
                </a:lnTo>
                <a:cubicBezTo>
                  <a:pt x="0" y="15708"/>
                  <a:pt x="15708" y="0"/>
                  <a:pt x="35085" y="0"/>
                </a:cubicBezTo>
                <a:close/>
              </a:path>
            </a:pathLst>
          </a:custGeom>
          <a:solidFill>
            <a:srgbClr val="0F172A">
              <a:alpha val="50196"/>
            </a:srgbClr>
          </a:solidFill>
          <a:ln/>
        </p:spPr>
      </p:sp>
      <p:sp>
        <p:nvSpPr>
          <p:cNvPr id="65" name="Shape 63"/>
          <p:cNvSpPr/>
          <p:nvPr/>
        </p:nvSpPr>
        <p:spPr>
          <a:xfrm>
            <a:off x="4306671" y="5678489"/>
            <a:ext cx="35085" cy="999919"/>
          </a:xfrm>
          <a:custGeom>
            <a:avLst/>
            <a:gdLst/>
            <a:ahLst/>
            <a:cxnLst/>
            <a:rect l="l" t="t" r="r" b="b"/>
            <a:pathLst>
              <a:path w="35085" h="999919">
                <a:moveTo>
                  <a:pt x="35085" y="0"/>
                </a:moveTo>
                <a:lnTo>
                  <a:pt x="35085" y="0"/>
                </a:lnTo>
                <a:lnTo>
                  <a:pt x="35085" y="999919"/>
                </a:lnTo>
                <a:lnTo>
                  <a:pt x="35085" y="999919"/>
                </a:lnTo>
                <a:cubicBezTo>
                  <a:pt x="15708" y="999919"/>
                  <a:pt x="0" y="984211"/>
                  <a:pt x="0" y="964835"/>
                </a:cubicBezTo>
                <a:lnTo>
                  <a:pt x="0" y="35085"/>
                </a:lnTo>
                <a:cubicBezTo>
                  <a:pt x="0" y="15721"/>
                  <a:pt x="15721" y="0"/>
                  <a:pt x="35085" y="0"/>
                </a:cubicBezTo>
                <a:close/>
              </a:path>
            </a:pathLst>
          </a:custGeom>
          <a:solidFill>
            <a:srgbClr val="8B5CF6"/>
          </a:solidFill>
          <a:ln/>
        </p:spPr>
      </p:sp>
      <p:sp>
        <p:nvSpPr>
          <p:cNvPr id="66" name="Text 64"/>
          <p:cNvSpPr/>
          <p:nvPr/>
        </p:nvSpPr>
        <p:spPr>
          <a:xfrm>
            <a:off x="4464553" y="5818828"/>
            <a:ext cx="3376921" cy="245594"/>
          </a:xfrm>
          <a:prstGeom prst="rect">
            <a:avLst/>
          </a:prstGeom>
          <a:noFill/>
          <a:ln/>
        </p:spPr>
        <p:txBody>
          <a:bodyPr wrap="square" lIns="0" tIns="0" rIns="0" bIns="0" rtlCol="0" anchor="ctr"/>
          <a:lstStyle/>
          <a:p>
            <a:pPr>
              <a:lnSpc>
                <a:spcPct val="130000"/>
              </a:lnSpc>
            </a:pPr>
            <a:r>
              <a:rPr lang="en-US" sz="1243" b="1" dirty="0">
                <a:solidFill>
                  <a:srgbClr val="8B5CF6"/>
                </a:solidFill>
                <a:latin typeface="MiSans" pitchFamily="34" charset="0"/>
                <a:ea typeface="MiSans" pitchFamily="34" charset="-122"/>
                <a:cs typeface="MiSans" pitchFamily="34" charset="-120"/>
              </a:rPr>
              <a:t>Luận lý</a:t>
            </a:r>
            <a:endParaRPr lang="en-US" sz="1600" dirty="0"/>
          </a:p>
        </p:txBody>
      </p:sp>
      <p:sp>
        <p:nvSpPr>
          <p:cNvPr id="67" name="Text 65"/>
          <p:cNvSpPr/>
          <p:nvPr/>
        </p:nvSpPr>
        <p:spPr>
          <a:xfrm>
            <a:off x="4464553" y="6134593"/>
            <a:ext cx="3359378" cy="403476"/>
          </a:xfrm>
          <a:prstGeom prst="rect">
            <a:avLst/>
          </a:prstGeom>
          <a:noFill/>
          <a:ln/>
        </p:spPr>
        <p:txBody>
          <a:bodyPr wrap="square" lIns="0" tIns="0" rIns="0" bIns="0" rtlCol="0" anchor="ctr"/>
          <a:lstStyle/>
          <a:p>
            <a:pPr>
              <a:lnSpc>
                <a:spcPct val="140000"/>
              </a:lnSpc>
            </a:pPr>
            <a:r>
              <a:rPr lang="en-US" sz="967" dirty="0">
                <a:solidFill>
                  <a:srgbClr val="F8FAFC">
                    <a:alpha val="70000"/>
                  </a:srgbClr>
                </a:solidFill>
                <a:latin typeface="MiSans" pitchFamily="34" charset="0"/>
                <a:ea typeface="MiSans" pitchFamily="34" charset="-122"/>
                <a:cs typeface="MiSans" pitchFamily="34" charset="-120"/>
              </a:rPr>
              <a:t>Mapping quy trình, xử lý lỗi với try-except, sequential API calls</a:t>
            </a:r>
            <a:endParaRPr lang="en-US" sz="1600" dirty="0"/>
          </a:p>
        </p:txBody>
      </p:sp>
      <p:sp>
        <p:nvSpPr>
          <p:cNvPr id="68" name="Shape 66"/>
          <p:cNvSpPr/>
          <p:nvPr/>
        </p:nvSpPr>
        <p:spPr>
          <a:xfrm>
            <a:off x="8062508" y="5678489"/>
            <a:ext cx="3596201" cy="999919"/>
          </a:xfrm>
          <a:custGeom>
            <a:avLst/>
            <a:gdLst/>
            <a:ahLst/>
            <a:cxnLst/>
            <a:rect l="l" t="t" r="r" b="b"/>
            <a:pathLst>
              <a:path w="3596201" h="999919">
                <a:moveTo>
                  <a:pt x="35085" y="0"/>
                </a:moveTo>
                <a:lnTo>
                  <a:pt x="3490950" y="0"/>
                </a:lnTo>
                <a:cubicBezTo>
                  <a:pt x="3549079" y="0"/>
                  <a:pt x="3596201" y="47123"/>
                  <a:pt x="3596201" y="105252"/>
                </a:cubicBezTo>
                <a:lnTo>
                  <a:pt x="3596201" y="894668"/>
                </a:lnTo>
                <a:cubicBezTo>
                  <a:pt x="3596201" y="952797"/>
                  <a:pt x="3549079" y="999919"/>
                  <a:pt x="3490950" y="999919"/>
                </a:cubicBezTo>
                <a:lnTo>
                  <a:pt x="35085" y="999919"/>
                </a:lnTo>
                <a:cubicBezTo>
                  <a:pt x="15708" y="999919"/>
                  <a:pt x="0" y="984211"/>
                  <a:pt x="0" y="964835"/>
                </a:cubicBezTo>
                <a:lnTo>
                  <a:pt x="0" y="35085"/>
                </a:lnTo>
                <a:cubicBezTo>
                  <a:pt x="0" y="15708"/>
                  <a:pt x="15708" y="0"/>
                  <a:pt x="35085" y="0"/>
                </a:cubicBezTo>
                <a:close/>
              </a:path>
            </a:pathLst>
          </a:custGeom>
          <a:solidFill>
            <a:srgbClr val="0F172A">
              <a:alpha val="50196"/>
            </a:srgbClr>
          </a:solidFill>
          <a:ln/>
        </p:spPr>
      </p:sp>
      <p:sp>
        <p:nvSpPr>
          <p:cNvPr id="69" name="Shape 67"/>
          <p:cNvSpPr/>
          <p:nvPr/>
        </p:nvSpPr>
        <p:spPr>
          <a:xfrm>
            <a:off x="8062508" y="5678489"/>
            <a:ext cx="35085" cy="999919"/>
          </a:xfrm>
          <a:custGeom>
            <a:avLst/>
            <a:gdLst/>
            <a:ahLst/>
            <a:cxnLst/>
            <a:rect l="l" t="t" r="r" b="b"/>
            <a:pathLst>
              <a:path w="35085" h="999919">
                <a:moveTo>
                  <a:pt x="35085" y="0"/>
                </a:moveTo>
                <a:lnTo>
                  <a:pt x="35085" y="0"/>
                </a:lnTo>
                <a:lnTo>
                  <a:pt x="35085" y="999919"/>
                </a:lnTo>
                <a:lnTo>
                  <a:pt x="35085" y="999919"/>
                </a:lnTo>
                <a:cubicBezTo>
                  <a:pt x="15708" y="999919"/>
                  <a:pt x="0" y="984211"/>
                  <a:pt x="0" y="964835"/>
                </a:cubicBezTo>
                <a:lnTo>
                  <a:pt x="0" y="35085"/>
                </a:lnTo>
                <a:cubicBezTo>
                  <a:pt x="0" y="15721"/>
                  <a:pt x="15721" y="0"/>
                  <a:pt x="35085" y="0"/>
                </a:cubicBezTo>
                <a:close/>
              </a:path>
            </a:pathLst>
          </a:custGeom>
          <a:solidFill>
            <a:srgbClr val="10B981"/>
          </a:solidFill>
          <a:ln/>
        </p:spPr>
      </p:sp>
      <p:sp>
        <p:nvSpPr>
          <p:cNvPr id="70" name="Text 68"/>
          <p:cNvSpPr/>
          <p:nvPr/>
        </p:nvSpPr>
        <p:spPr>
          <a:xfrm>
            <a:off x="8220390" y="5818828"/>
            <a:ext cx="3376921" cy="245594"/>
          </a:xfrm>
          <a:prstGeom prst="rect">
            <a:avLst/>
          </a:prstGeom>
          <a:noFill/>
          <a:ln/>
        </p:spPr>
        <p:txBody>
          <a:bodyPr wrap="square" lIns="0" tIns="0" rIns="0" bIns="0" rtlCol="0" anchor="ctr"/>
          <a:lstStyle/>
          <a:p>
            <a:pPr>
              <a:lnSpc>
                <a:spcPct val="130000"/>
              </a:lnSpc>
            </a:pPr>
            <a:r>
              <a:rPr lang="en-US" sz="1243" b="1" dirty="0">
                <a:solidFill>
                  <a:srgbClr val="10B981"/>
                </a:solidFill>
                <a:latin typeface="MiSans" pitchFamily="34" charset="0"/>
                <a:ea typeface="MiSans" pitchFamily="34" charset="-122"/>
                <a:cs typeface="MiSans" pitchFamily="34" charset="-120"/>
              </a:rPr>
              <a:t>Vật lý</a:t>
            </a:r>
            <a:endParaRPr lang="en-US" sz="1600" dirty="0"/>
          </a:p>
        </p:txBody>
      </p:sp>
      <p:sp>
        <p:nvSpPr>
          <p:cNvPr id="71" name="Text 69"/>
          <p:cNvSpPr/>
          <p:nvPr/>
        </p:nvSpPr>
        <p:spPr>
          <a:xfrm>
            <a:off x="8220390" y="6134593"/>
            <a:ext cx="3359378" cy="403476"/>
          </a:xfrm>
          <a:prstGeom prst="rect">
            <a:avLst/>
          </a:prstGeom>
          <a:noFill/>
          <a:ln/>
        </p:spPr>
        <p:txBody>
          <a:bodyPr wrap="square" lIns="0" tIns="0" rIns="0" bIns="0" rtlCol="0" anchor="ctr"/>
          <a:lstStyle/>
          <a:p>
            <a:pPr>
              <a:lnSpc>
                <a:spcPct val="140000"/>
              </a:lnSpc>
            </a:pPr>
            <a:r>
              <a:rPr lang="en-US" sz="967" dirty="0">
                <a:solidFill>
                  <a:srgbClr val="F8FAFC">
                    <a:alpha val="70000"/>
                  </a:srgbClr>
                </a:solidFill>
                <a:latin typeface="MiSans" pitchFamily="34" charset="0"/>
                <a:ea typeface="MiSans" pitchFamily="34" charset="-122"/>
                <a:cs typeface="MiSans" pitchFamily="34" charset="-120"/>
              </a:rPr>
              <a:t>Git CLI commands, Python script với random seed, OpenAI client</a:t>
            </a:r>
            <a:endParaRPr lang="en-US" sz="1600" dirty="0"/>
          </a:p>
        </p:txBody>
      </p:sp>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46871" y="346871"/>
            <a:ext cx="1603849" cy="281618"/>
          </a:xfrm>
          <a:custGeom>
            <a:avLst/>
            <a:gdLst/>
            <a:ahLst/>
            <a:cxnLst/>
            <a:rect l="l" t="t" r="r" b="b"/>
            <a:pathLst>
              <a:path w="1603849" h="281618">
                <a:moveTo>
                  <a:pt x="140809" y="0"/>
                </a:moveTo>
                <a:lnTo>
                  <a:pt x="1463040" y="0"/>
                </a:lnTo>
                <a:cubicBezTo>
                  <a:pt x="1540755" y="0"/>
                  <a:pt x="1603849" y="63094"/>
                  <a:pt x="1603849" y="140809"/>
                </a:cubicBezTo>
                <a:lnTo>
                  <a:pt x="1603849" y="140809"/>
                </a:lnTo>
                <a:cubicBezTo>
                  <a:pt x="1603849" y="218524"/>
                  <a:pt x="1540755" y="281618"/>
                  <a:pt x="1463040" y="281618"/>
                </a:cubicBezTo>
                <a:lnTo>
                  <a:pt x="140809" y="281618"/>
                </a:lnTo>
                <a:cubicBezTo>
                  <a:pt x="63094" y="281618"/>
                  <a:pt x="0" y="218524"/>
                  <a:pt x="0" y="140809"/>
                </a:cubicBezTo>
                <a:lnTo>
                  <a:pt x="0" y="140809"/>
                </a:lnTo>
                <a:cubicBezTo>
                  <a:pt x="0" y="63094"/>
                  <a:pt x="63094" y="0"/>
                  <a:pt x="140809" y="0"/>
                </a:cubicBezTo>
                <a:close/>
              </a:path>
            </a:pathLst>
          </a:custGeom>
          <a:solidFill>
            <a:srgbClr val="8B5CF6">
              <a:alpha val="20000"/>
            </a:srgbClr>
          </a:solidFill>
          <a:ln w="10160">
            <a:solidFill>
              <a:srgbClr val="8B5CF6">
                <a:alpha val="40000"/>
              </a:srgbClr>
            </a:solidFill>
            <a:prstDash val="solid"/>
          </a:ln>
        </p:spPr>
      </p:sp>
      <p:sp>
        <p:nvSpPr>
          <p:cNvPr id="3" name="Text 1"/>
          <p:cNvSpPr/>
          <p:nvPr/>
        </p:nvSpPr>
        <p:spPr>
          <a:xfrm>
            <a:off x="487680" y="391519"/>
            <a:ext cx="1392743" cy="185456"/>
          </a:xfrm>
          <a:prstGeom prst="rect">
            <a:avLst/>
          </a:prstGeom>
          <a:noFill/>
          <a:ln/>
        </p:spPr>
        <p:txBody>
          <a:bodyPr wrap="square" lIns="0" tIns="0" rIns="0" bIns="0" rtlCol="0" anchor="ctr"/>
          <a:lstStyle/>
          <a:p>
            <a:pPr>
              <a:lnSpc>
                <a:spcPct val="130000"/>
              </a:lnSpc>
            </a:pPr>
            <a:r>
              <a:rPr lang="en-US" sz="1082" b="1" spc="54" kern="0" dirty="0">
                <a:solidFill>
                  <a:srgbClr val="8B5CF6"/>
                </a:solidFill>
                <a:latin typeface="MiSans" pitchFamily="34" charset="0"/>
                <a:ea typeface="MiSans" pitchFamily="34" charset="-122"/>
                <a:cs typeface="MiSans" pitchFamily="34" charset="-120"/>
              </a:rPr>
              <a:t>LAB THỰC HÀNH 5</a:t>
            </a:r>
            <a:endParaRPr lang="en-US" sz="1600" dirty="0"/>
          </a:p>
        </p:txBody>
      </p:sp>
      <p:sp>
        <p:nvSpPr>
          <p:cNvPr id="4" name="Text 2"/>
          <p:cNvSpPr/>
          <p:nvPr/>
        </p:nvSpPr>
        <p:spPr>
          <a:xfrm>
            <a:off x="343437" y="734955"/>
            <a:ext cx="11659673" cy="343437"/>
          </a:xfrm>
          <a:prstGeom prst="rect">
            <a:avLst/>
          </a:prstGeom>
          <a:noFill/>
          <a:ln/>
        </p:spPr>
        <p:txBody>
          <a:bodyPr wrap="square" lIns="0" tIns="0" rIns="0" bIns="0" rtlCol="0" anchor="ctr"/>
          <a:lstStyle/>
          <a:p>
            <a:pPr>
              <a:lnSpc>
                <a:spcPct val="90000"/>
              </a:lnSpc>
            </a:pPr>
            <a:r>
              <a:rPr lang="en-US" sz="2434" b="1" dirty="0">
                <a:solidFill>
                  <a:srgbClr val="F8FAFC"/>
                </a:solidFill>
                <a:latin typeface="Liter" pitchFamily="34" charset="0"/>
                <a:ea typeface="Liter" pitchFamily="34" charset="-122"/>
                <a:cs typeface="Liter" pitchFamily="34" charset="-120"/>
              </a:rPr>
              <a:t>Tự động hóa nâng cao</a:t>
            </a:r>
            <a:endParaRPr lang="en-US" sz="1600" dirty="0"/>
          </a:p>
        </p:txBody>
      </p:sp>
      <p:sp>
        <p:nvSpPr>
          <p:cNvPr id="5" name="Text 3"/>
          <p:cNvSpPr/>
          <p:nvPr/>
        </p:nvSpPr>
        <p:spPr>
          <a:xfrm>
            <a:off x="343437" y="1147079"/>
            <a:ext cx="11590986" cy="240406"/>
          </a:xfrm>
          <a:prstGeom prst="rect">
            <a:avLst/>
          </a:prstGeom>
          <a:noFill/>
          <a:ln/>
        </p:spPr>
        <p:txBody>
          <a:bodyPr wrap="square" lIns="0" tIns="0" rIns="0" bIns="0" rtlCol="0" anchor="ctr"/>
          <a:lstStyle/>
          <a:p>
            <a:pPr>
              <a:lnSpc>
                <a:spcPct val="120000"/>
              </a:lnSpc>
            </a:pPr>
            <a:r>
              <a:rPr lang="en-US" sz="1352" dirty="0">
                <a:solidFill>
                  <a:srgbClr val="F8FAFC">
                    <a:alpha val="70000"/>
                  </a:srgbClr>
                </a:solidFill>
                <a:latin typeface="MiSans" pitchFamily="34" charset="0"/>
                <a:ea typeface="MiSans" pitchFamily="34" charset="-122"/>
                <a:cs typeface="MiSans" pitchFamily="34" charset="-120"/>
              </a:rPr>
              <a:t>Tạo docstring tự động và sửa lỗi với Copilot</a:t>
            </a:r>
            <a:endParaRPr lang="en-US" sz="1600" dirty="0"/>
          </a:p>
        </p:txBody>
      </p:sp>
      <p:sp>
        <p:nvSpPr>
          <p:cNvPr id="6" name="Shape 4"/>
          <p:cNvSpPr/>
          <p:nvPr/>
        </p:nvSpPr>
        <p:spPr>
          <a:xfrm>
            <a:off x="346871" y="1562637"/>
            <a:ext cx="5664987" cy="3844773"/>
          </a:xfrm>
          <a:custGeom>
            <a:avLst/>
            <a:gdLst/>
            <a:ahLst/>
            <a:cxnLst/>
            <a:rect l="l" t="t" r="r" b="b"/>
            <a:pathLst>
              <a:path w="5664987" h="3844773">
                <a:moveTo>
                  <a:pt x="137374" y="0"/>
                </a:moveTo>
                <a:lnTo>
                  <a:pt x="5527613" y="0"/>
                </a:lnTo>
                <a:cubicBezTo>
                  <a:pt x="5603483" y="0"/>
                  <a:pt x="5664987" y="61504"/>
                  <a:pt x="5664987" y="137374"/>
                </a:cubicBezTo>
                <a:lnTo>
                  <a:pt x="5664987" y="3707399"/>
                </a:lnTo>
                <a:cubicBezTo>
                  <a:pt x="5664987" y="3783269"/>
                  <a:pt x="5603483" y="3844773"/>
                  <a:pt x="5527613" y="3844773"/>
                </a:cubicBezTo>
                <a:lnTo>
                  <a:pt x="137374" y="3844773"/>
                </a:lnTo>
                <a:cubicBezTo>
                  <a:pt x="61504" y="3844773"/>
                  <a:pt x="0" y="3783269"/>
                  <a:pt x="0" y="3707399"/>
                </a:cubicBezTo>
                <a:lnTo>
                  <a:pt x="0" y="137374"/>
                </a:lnTo>
                <a:cubicBezTo>
                  <a:pt x="0" y="61555"/>
                  <a:pt x="61555" y="0"/>
                  <a:pt x="137374" y="0"/>
                </a:cubicBezTo>
                <a:close/>
              </a:path>
            </a:pathLst>
          </a:custGeom>
          <a:gradFill rotWithShape="1" flip="none">
            <a:gsLst>
              <a:gs pos="0">
                <a:srgbClr val="1E293B"/>
              </a:gs>
              <a:gs pos="100000">
                <a:srgbClr val="1E293B">
                  <a:alpha val="50000"/>
                </a:srgbClr>
              </a:gs>
            </a:gsLst>
            <a:lin ang="2700000" scaled="1"/>
          </a:gradFill>
          <a:ln w="10160">
            <a:solidFill>
              <a:srgbClr val="3B82F6">
                <a:alpha val="30196"/>
              </a:srgbClr>
            </a:solidFill>
            <a:prstDash val="solid"/>
          </a:ln>
        </p:spPr>
      </p:sp>
      <p:sp>
        <p:nvSpPr>
          <p:cNvPr id="7" name="Shape 5"/>
          <p:cNvSpPr/>
          <p:nvPr/>
        </p:nvSpPr>
        <p:spPr>
          <a:xfrm>
            <a:off x="522024" y="1737788"/>
            <a:ext cx="412124" cy="412124"/>
          </a:xfrm>
          <a:custGeom>
            <a:avLst/>
            <a:gdLst/>
            <a:ahLst/>
            <a:cxnLst/>
            <a:rect l="l" t="t" r="r" b="b"/>
            <a:pathLst>
              <a:path w="412124" h="412124">
                <a:moveTo>
                  <a:pt x="103031" y="0"/>
                </a:moveTo>
                <a:lnTo>
                  <a:pt x="309093" y="0"/>
                </a:lnTo>
                <a:cubicBezTo>
                  <a:pt x="365957" y="0"/>
                  <a:pt x="412124" y="46167"/>
                  <a:pt x="412124" y="103031"/>
                </a:cubicBezTo>
                <a:lnTo>
                  <a:pt x="412124" y="309093"/>
                </a:lnTo>
                <a:cubicBezTo>
                  <a:pt x="412124" y="365957"/>
                  <a:pt x="365957" y="412124"/>
                  <a:pt x="309093" y="412124"/>
                </a:cubicBezTo>
                <a:lnTo>
                  <a:pt x="103031" y="412124"/>
                </a:lnTo>
                <a:cubicBezTo>
                  <a:pt x="46167" y="412124"/>
                  <a:pt x="0" y="365957"/>
                  <a:pt x="0" y="309093"/>
                </a:cubicBezTo>
                <a:lnTo>
                  <a:pt x="0" y="103031"/>
                </a:lnTo>
                <a:cubicBezTo>
                  <a:pt x="0" y="46167"/>
                  <a:pt x="46167" y="0"/>
                  <a:pt x="103031" y="0"/>
                </a:cubicBezTo>
                <a:close/>
              </a:path>
            </a:pathLst>
          </a:custGeom>
          <a:gradFill rotWithShape="1" flip="none">
            <a:gsLst>
              <a:gs pos="0">
                <a:srgbClr val="3B82F6"/>
              </a:gs>
              <a:gs pos="100000">
                <a:srgbClr val="3B82F6">
                  <a:alpha val="60000"/>
                </a:srgbClr>
              </a:gs>
            </a:gsLst>
            <a:lin ang="2700000" scaled="1"/>
          </a:gradFill>
          <a:ln/>
        </p:spPr>
      </p:sp>
      <p:sp>
        <p:nvSpPr>
          <p:cNvPr id="8" name="Text 6"/>
          <p:cNvSpPr/>
          <p:nvPr/>
        </p:nvSpPr>
        <p:spPr>
          <a:xfrm>
            <a:off x="620440" y="1823648"/>
            <a:ext cx="300507" cy="240406"/>
          </a:xfrm>
          <a:prstGeom prst="rect">
            <a:avLst/>
          </a:prstGeom>
          <a:noFill/>
          <a:ln/>
        </p:spPr>
        <p:txBody>
          <a:bodyPr wrap="square" lIns="0" tIns="0" rIns="0" bIns="0" rtlCol="0" anchor="ctr"/>
          <a:lstStyle/>
          <a:p>
            <a:pPr>
              <a:lnSpc>
                <a:spcPct val="120000"/>
              </a:lnSpc>
            </a:pPr>
            <a:r>
              <a:rPr lang="en-US" sz="1352" b="1" dirty="0">
                <a:solidFill>
                  <a:srgbClr val="FFFFFF"/>
                </a:solidFill>
                <a:latin typeface="MiSans" pitchFamily="34" charset="0"/>
                <a:ea typeface="MiSans" pitchFamily="34" charset="-122"/>
                <a:cs typeface="MiSans" pitchFamily="34" charset="-120"/>
              </a:rPr>
              <a:t>5.1</a:t>
            </a:r>
            <a:endParaRPr lang="en-US" sz="1600" dirty="0"/>
          </a:p>
        </p:txBody>
      </p:sp>
      <p:sp>
        <p:nvSpPr>
          <p:cNvPr id="9" name="Text 7"/>
          <p:cNvSpPr/>
          <p:nvPr/>
        </p:nvSpPr>
        <p:spPr>
          <a:xfrm>
            <a:off x="1037179" y="1823648"/>
            <a:ext cx="1768699" cy="240406"/>
          </a:xfrm>
          <a:prstGeom prst="rect">
            <a:avLst/>
          </a:prstGeom>
          <a:noFill/>
          <a:ln/>
        </p:spPr>
        <p:txBody>
          <a:bodyPr wrap="square" lIns="0" tIns="0" rIns="0" bIns="0" rtlCol="0" anchor="ctr"/>
          <a:lstStyle/>
          <a:p>
            <a:pPr>
              <a:lnSpc>
                <a:spcPct val="120000"/>
              </a:lnSpc>
            </a:pPr>
            <a:r>
              <a:rPr lang="en-US" sz="1352" b="1" dirty="0">
                <a:solidFill>
                  <a:srgbClr val="3B82F6"/>
                </a:solidFill>
                <a:latin typeface="Liter" pitchFamily="34" charset="0"/>
                <a:ea typeface="Liter" pitchFamily="34" charset="-122"/>
                <a:cs typeface="Liter" pitchFamily="34" charset="-120"/>
              </a:rPr>
              <a:t>Tạo Docstring tự động</a:t>
            </a:r>
            <a:endParaRPr lang="en-US" sz="1600" dirty="0"/>
          </a:p>
        </p:txBody>
      </p:sp>
      <p:sp>
        <p:nvSpPr>
          <p:cNvPr id="10" name="Shape 8"/>
          <p:cNvSpPr/>
          <p:nvPr/>
        </p:nvSpPr>
        <p:spPr>
          <a:xfrm>
            <a:off x="522024" y="2287287"/>
            <a:ext cx="5314682" cy="678287"/>
          </a:xfrm>
          <a:custGeom>
            <a:avLst/>
            <a:gdLst/>
            <a:ahLst/>
            <a:cxnLst/>
            <a:rect l="l" t="t" r="r" b="b"/>
            <a:pathLst>
              <a:path w="5314682" h="678287">
                <a:moveTo>
                  <a:pt x="68690" y="0"/>
                </a:moveTo>
                <a:lnTo>
                  <a:pt x="5245992" y="0"/>
                </a:lnTo>
                <a:cubicBezTo>
                  <a:pt x="5283928" y="0"/>
                  <a:pt x="5314682" y="30754"/>
                  <a:pt x="5314682" y="68690"/>
                </a:cubicBezTo>
                <a:lnTo>
                  <a:pt x="5314682" y="609597"/>
                </a:lnTo>
                <a:cubicBezTo>
                  <a:pt x="5314682" y="647534"/>
                  <a:pt x="5283928" y="678287"/>
                  <a:pt x="5245992" y="678287"/>
                </a:cubicBezTo>
                <a:lnTo>
                  <a:pt x="68690" y="678287"/>
                </a:lnTo>
                <a:cubicBezTo>
                  <a:pt x="30779" y="678287"/>
                  <a:pt x="0" y="647508"/>
                  <a:pt x="0" y="609597"/>
                </a:cubicBezTo>
                <a:lnTo>
                  <a:pt x="0" y="68690"/>
                </a:lnTo>
                <a:cubicBezTo>
                  <a:pt x="0" y="30779"/>
                  <a:pt x="30779" y="0"/>
                  <a:pt x="68690" y="0"/>
                </a:cubicBezTo>
                <a:close/>
              </a:path>
            </a:pathLst>
          </a:custGeom>
          <a:solidFill>
            <a:srgbClr val="0F172A">
              <a:alpha val="50196"/>
            </a:srgbClr>
          </a:solidFill>
          <a:ln/>
        </p:spPr>
      </p:sp>
      <p:sp>
        <p:nvSpPr>
          <p:cNvPr id="11" name="Text 9"/>
          <p:cNvSpPr/>
          <p:nvPr/>
        </p:nvSpPr>
        <p:spPr>
          <a:xfrm>
            <a:off x="625055" y="2390318"/>
            <a:ext cx="5177307" cy="206062"/>
          </a:xfrm>
          <a:prstGeom prst="rect">
            <a:avLst/>
          </a:prstGeom>
          <a:noFill/>
          <a:ln/>
        </p:spPr>
        <p:txBody>
          <a:bodyPr wrap="square" lIns="0" tIns="0" rIns="0" bIns="0" rtlCol="0" anchor="ctr"/>
          <a:lstStyle/>
          <a:p>
            <a:pPr>
              <a:lnSpc>
                <a:spcPct val="130000"/>
              </a:lnSpc>
            </a:pPr>
            <a:r>
              <a:rPr lang="en-US" sz="1082" b="1" dirty="0">
                <a:solidFill>
                  <a:srgbClr val="F8FAFC"/>
                </a:solidFill>
                <a:latin typeface="MiSans" pitchFamily="34" charset="0"/>
                <a:ea typeface="MiSans" pitchFamily="34" charset="-122"/>
                <a:cs typeface="MiSans" pitchFamily="34" charset="-120"/>
              </a:rPr>
              <a:t>Mục tiêu</a:t>
            </a:r>
            <a:endParaRPr lang="en-US" sz="1600" dirty="0"/>
          </a:p>
        </p:txBody>
      </p:sp>
      <p:sp>
        <p:nvSpPr>
          <p:cNvPr id="12" name="Text 10"/>
          <p:cNvSpPr/>
          <p:nvPr/>
        </p:nvSpPr>
        <p:spPr>
          <a:xfrm>
            <a:off x="625055" y="2665067"/>
            <a:ext cx="5168721" cy="197476"/>
          </a:xfrm>
          <a:prstGeom prst="rect">
            <a:avLst/>
          </a:prstGeom>
          <a:noFill/>
          <a:ln/>
        </p:spPr>
        <p:txBody>
          <a:bodyPr wrap="square" lIns="0" tIns="0" rIns="0" bIns="0" rtlCol="0" anchor="ctr"/>
          <a:lstStyle/>
          <a:p>
            <a:pPr>
              <a:lnSpc>
                <a:spcPct val="140000"/>
              </a:lnSpc>
            </a:pPr>
            <a:r>
              <a:rPr lang="en-US" sz="946" dirty="0">
                <a:solidFill>
                  <a:srgbClr val="F8FAFC">
                    <a:alpha val="70000"/>
                  </a:srgbClr>
                </a:solidFill>
                <a:latin typeface="MiSans" pitchFamily="34" charset="0"/>
                <a:ea typeface="MiSans" pitchFamily="34" charset="-122"/>
                <a:cs typeface="MiSans" pitchFamily="34" charset="-120"/>
              </a:rPr>
              <a:t>Tạo </a:t>
            </a:r>
            <a:pPr>
              <a:lnSpc>
                <a:spcPct val="140000"/>
              </a:lnSpc>
            </a:pPr>
            <a:r>
              <a:rPr lang="en-US" sz="946" dirty="0">
                <a:solidFill>
                  <a:srgbClr val="3B82F6"/>
                </a:solidFill>
                <a:highlight>
                  <a:srgbClr val="3B82F6">
                    <a:alpha val="20000"/>
                  </a:srgbClr>
                </a:highlight>
                <a:latin typeface="MiSans" pitchFamily="34" charset="0"/>
                <a:ea typeface="MiSans" pitchFamily="34" charset="-122"/>
                <a:cs typeface="MiSans" pitchFamily="34" charset="-120"/>
              </a:rPr>
              <a:t>Google Style docstring </a:t>
            </a:r>
            <a:pPr>
              <a:lnSpc>
                <a:spcPct val="140000"/>
              </a:lnSpc>
            </a:pPr>
            <a:r>
              <a:rPr lang="en-US" sz="946" dirty="0">
                <a:solidFill>
                  <a:srgbClr val="F8FAFC">
                    <a:alpha val="70000"/>
                  </a:srgbClr>
                </a:solidFill>
                <a:latin typeface="MiSans" pitchFamily="34" charset="0"/>
                <a:ea typeface="MiSans" pitchFamily="34" charset="-122"/>
                <a:cs typeface="MiSans" pitchFamily="34" charset="-120"/>
              </a:rPr>
              <a:t>cho phương thức __call__ của Singleton</a:t>
            </a:r>
            <a:endParaRPr lang="en-US" sz="1600" dirty="0"/>
          </a:p>
        </p:txBody>
      </p:sp>
      <p:sp>
        <p:nvSpPr>
          <p:cNvPr id="13" name="Shape 11"/>
          <p:cNvSpPr/>
          <p:nvPr/>
        </p:nvSpPr>
        <p:spPr>
          <a:xfrm>
            <a:off x="522024" y="3066459"/>
            <a:ext cx="5314682" cy="1476777"/>
          </a:xfrm>
          <a:custGeom>
            <a:avLst/>
            <a:gdLst/>
            <a:ahLst/>
            <a:cxnLst/>
            <a:rect l="l" t="t" r="r" b="b"/>
            <a:pathLst>
              <a:path w="5314682" h="1476777">
                <a:moveTo>
                  <a:pt x="68685" y="0"/>
                </a:moveTo>
                <a:lnTo>
                  <a:pt x="5245997" y="0"/>
                </a:lnTo>
                <a:cubicBezTo>
                  <a:pt x="5283930" y="0"/>
                  <a:pt x="5314682" y="30751"/>
                  <a:pt x="5314682" y="68685"/>
                </a:cubicBezTo>
                <a:lnTo>
                  <a:pt x="5314682" y="1408093"/>
                </a:lnTo>
                <a:cubicBezTo>
                  <a:pt x="5314682" y="1446026"/>
                  <a:pt x="5283930" y="1476777"/>
                  <a:pt x="5245997" y="1476777"/>
                </a:cubicBezTo>
                <a:lnTo>
                  <a:pt x="68685" y="1476777"/>
                </a:lnTo>
                <a:cubicBezTo>
                  <a:pt x="30751" y="1476777"/>
                  <a:pt x="0" y="1446026"/>
                  <a:pt x="0" y="1408093"/>
                </a:cubicBezTo>
                <a:lnTo>
                  <a:pt x="0" y="68685"/>
                </a:lnTo>
                <a:cubicBezTo>
                  <a:pt x="0" y="30777"/>
                  <a:pt x="30777" y="0"/>
                  <a:pt x="68685" y="0"/>
                </a:cubicBezTo>
                <a:close/>
              </a:path>
            </a:pathLst>
          </a:custGeom>
          <a:solidFill>
            <a:srgbClr val="0F172A">
              <a:alpha val="50196"/>
            </a:srgbClr>
          </a:solidFill>
          <a:ln/>
        </p:spPr>
      </p:sp>
      <p:sp>
        <p:nvSpPr>
          <p:cNvPr id="14" name="Shape 12"/>
          <p:cNvSpPr/>
          <p:nvPr/>
        </p:nvSpPr>
        <p:spPr>
          <a:xfrm>
            <a:off x="627201" y="3203834"/>
            <a:ext cx="150254" cy="120203"/>
          </a:xfrm>
          <a:custGeom>
            <a:avLst/>
            <a:gdLst/>
            <a:ahLst/>
            <a:cxnLst/>
            <a:rect l="l" t="t" r="r" b="b"/>
            <a:pathLst>
              <a:path w="150254" h="120203">
                <a:moveTo>
                  <a:pt x="97641" y="49419"/>
                </a:moveTo>
                <a:cubicBezTo>
                  <a:pt x="100506" y="48645"/>
                  <a:pt x="103511" y="50006"/>
                  <a:pt x="104802" y="52659"/>
                </a:cubicBezTo>
                <a:lnTo>
                  <a:pt x="109169" y="61487"/>
                </a:lnTo>
                <a:cubicBezTo>
                  <a:pt x="111587" y="61815"/>
                  <a:pt x="113958" y="62473"/>
                  <a:pt x="116188" y="63388"/>
                </a:cubicBezTo>
                <a:lnTo>
                  <a:pt x="124405" y="57918"/>
                </a:lnTo>
                <a:cubicBezTo>
                  <a:pt x="126870" y="56275"/>
                  <a:pt x="130134" y="56603"/>
                  <a:pt x="132223" y="58693"/>
                </a:cubicBezTo>
                <a:lnTo>
                  <a:pt x="136731" y="63200"/>
                </a:lnTo>
                <a:cubicBezTo>
                  <a:pt x="138820" y="65290"/>
                  <a:pt x="139149" y="68577"/>
                  <a:pt x="137505" y="71018"/>
                </a:cubicBezTo>
                <a:lnTo>
                  <a:pt x="132035" y="79212"/>
                </a:lnTo>
                <a:cubicBezTo>
                  <a:pt x="132481" y="80315"/>
                  <a:pt x="132880" y="81466"/>
                  <a:pt x="133209" y="82663"/>
                </a:cubicBezTo>
                <a:cubicBezTo>
                  <a:pt x="133538" y="83860"/>
                  <a:pt x="133749" y="85034"/>
                  <a:pt x="133913" y="86231"/>
                </a:cubicBezTo>
                <a:lnTo>
                  <a:pt x="142764" y="90598"/>
                </a:lnTo>
                <a:cubicBezTo>
                  <a:pt x="145417" y="91913"/>
                  <a:pt x="146779" y="94918"/>
                  <a:pt x="146004" y="97759"/>
                </a:cubicBezTo>
                <a:lnTo>
                  <a:pt x="144361" y="103910"/>
                </a:lnTo>
                <a:cubicBezTo>
                  <a:pt x="143586" y="106750"/>
                  <a:pt x="140933" y="108676"/>
                  <a:pt x="137975" y="108488"/>
                </a:cubicBezTo>
                <a:lnTo>
                  <a:pt x="128115" y="107854"/>
                </a:lnTo>
                <a:cubicBezTo>
                  <a:pt x="126636" y="109756"/>
                  <a:pt x="124922" y="111516"/>
                  <a:pt x="122973" y="113019"/>
                </a:cubicBezTo>
                <a:lnTo>
                  <a:pt x="123607" y="122856"/>
                </a:lnTo>
                <a:cubicBezTo>
                  <a:pt x="123795" y="125814"/>
                  <a:pt x="121870" y="128490"/>
                  <a:pt x="119029" y="129242"/>
                </a:cubicBezTo>
                <a:lnTo>
                  <a:pt x="112878" y="130885"/>
                </a:lnTo>
                <a:cubicBezTo>
                  <a:pt x="110014" y="131660"/>
                  <a:pt x="107032" y="130298"/>
                  <a:pt x="105717" y="127645"/>
                </a:cubicBezTo>
                <a:lnTo>
                  <a:pt x="101351" y="118818"/>
                </a:lnTo>
                <a:cubicBezTo>
                  <a:pt x="98933" y="118489"/>
                  <a:pt x="96561" y="117832"/>
                  <a:pt x="94331" y="116916"/>
                </a:cubicBezTo>
                <a:lnTo>
                  <a:pt x="86114" y="122386"/>
                </a:lnTo>
                <a:cubicBezTo>
                  <a:pt x="83649" y="124030"/>
                  <a:pt x="80386" y="123701"/>
                  <a:pt x="78296" y="121611"/>
                </a:cubicBezTo>
                <a:lnTo>
                  <a:pt x="73789" y="117104"/>
                </a:lnTo>
                <a:cubicBezTo>
                  <a:pt x="71699" y="115014"/>
                  <a:pt x="71370" y="111751"/>
                  <a:pt x="73014" y="109286"/>
                </a:cubicBezTo>
                <a:lnTo>
                  <a:pt x="78484" y="101069"/>
                </a:lnTo>
                <a:cubicBezTo>
                  <a:pt x="78038" y="99966"/>
                  <a:pt x="77639" y="98815"/>
                  <a:pt x="77310" y="97618"/>
                </a:cubicBezTo>
                <a:cubicBezTo>
                  <a:pt x="76981" y="96421"/>
                  <a:pt x="76770" y="95223"/>
                  <a:pt x="76606" y="94049"/>
                </a:cubicBezTo>
                <a:lnTo>
                  <a:pt x="67755" y="89683"/>
                </a:lnTo>
                <a:cubicBezTo>
                  <a:pt x="65102" y="88368"/>
                  <a:pt x="63764" y="85363"/>
                  <a:pt x="64515" y="82522"/>
                </a:cubicBezTo>
                <a:lnTo>
                  <a:pt x="66159" y="76371"/>
                </a:lnTo>
                <a:cubicBezTo>
                  <a:pt x="66933" y="73530"/>
                  <a:pt x="69586" y="71605"/>
                  <a:pt x="72544" y="71793"/>
                </a:cubicBezTo>
                <a:lnTo>
                  <a:pt x="82381" y="72427"/>
                </a:lnTo>
                <a:cubicBezTo>
                  <a:pt x="83860" y="70525"/>
                  <a:pt x="85574" y="68764"/>
                  <a:pt x="87523" y="67262"/>
                </a:cubicBezTo>
                <a:lnTo>
                  <a:pt x="86889" y="57448"/>
                </a:lnTo>
                <a:cubicBezTo>
                  <a:pt x="86701" y="54490"/>
                  <a:pt x="88626" y="51814"/>
                  <a:pt x="91467" y="51063"/>
                </a:cubicBezTo>
                <a:lnTo>
                  <a:pt x="97618" y="49419"/>
                </a:lnTo>
                <a:close/>
                <a:moveTo>
                  <a:pt x="105271" y="79822"/>
                </a:moveTo>
                <a:cubicBezTo>
                  <a:pt x="99570" y="79829"/>
                  <a:pt x="94947" y="84463"/>
                  <a:pt x="94953" y="90164"/>
                </a:cubicBezTo>
                <a:cubicBezTo>
                  <a:pt x="94960" y="95865"/>
                  <a:pt x="99594" y="100489"/>
                  <a:pt x="105295" y="100482"/>
                </a:cubicBezTo>
                <a:cubicBezTo>
                  <a:pt x="110996" y="100476"/>
                  <a:pt x="115620" y="95842"/>
                  <a:pt x="115613" y="90140"/>
                </a:cubicBezTo>
                <a:cubicBezTo>
                  <a:pt x="115607" y="84439"/>
                  <a:pt x="110973" y="79816"/>
                  <a:pt x="105271" y="79822"/>
                </a:cubicBezTo>
                <a:close/>
                <a:moveTo>
                  <a:pt x="52800" y="-10682"/>
                </a:moveTo>
                <a:lnTo>
                  <a:pt x="58951" y="-9039"/>
                </a:lnTo>
                <a:cubicBezTo>
                  <a:pt x="61792" y="-8264"/>
                  <a:pt x="63717" y="-5588"/>
                  <a:pt x="63529" y="-2653"/>
                </a:cubicBezTo>
                <a:lnTo>
                  <a:pt x="62895" y="7161"/>
                </a:lnTo>
                <a:cubicBezTo>
                  <a:pt x="64844" y="8663"/>
                  <a:pt x="66558" y="10400"/>
                  <a:pt x="68037" y="12325"/>
                </a:cubicBezTo>
                <a:lnTo>
                  <a:pt x="77897" y="11692"/>
                </a:lnTo>
                <a:cubicBezTo>
                  <a:pt x="80832" y="11504"/>
                  <a:pt x="83508" y="13429"/>
                  <a:pt x="84283" y="16270"/>
                </a:cubicBezTo>
                <a:lnTo>
                  <a:pt x="85926" y="22421"/>
                </a:lnTo>
                <a:cubicBezTo>
                  <a:pt x="86678" y="25261"/>
                  <a:pt x="85339" y="28266"/>
                  <a:pt x="82686" y="29581"/>
                </a:cubicBezTo>
                <a:lnTo>
                  <a:pt x="73836" y="33948"/>
                </a:lnTo>
                <a:cubicBezTo>
                  <a:pt x="73671" y="35145"/>
                  <a:pt x="73436" y="36343"/>
                  <a:pt x="73131" y="37516"/>
                </a:cubicBezTo>
                <a:cubicBezTo>
                  <a:pt x="72826" y="38690"/>
                  <a:pt x="72403" y="39864"/>
                  <a:pt x="71957" y="40968"/>
                </a:cubicBezTo>
                <a:lnTo>
                  <a:pt x="77428" y="49185"/>
                </a:lnTo>
                <a:cubicBezTo>
                  <a:pt x="79071" y="51650"/>
                  <a:pt x="78742" y="54913"/>
                  <a:pt x="76653" y="57002"/>
                </a:cubicBezTo>
                <a:lnTo>
                  <a:pt x="72145" y="61510"/>
                </a:lnTo>
                <a:cubicBezTo>
                  <a:pt x="70056" y="63599"/>
                  <a:pt x="66792" y="63928"/>
                  <a:pt x="64327" y="62285"/>
                </a:cubicBezTo>
                <a:lnTo>
                  <a:pt x="56110" y="56815"/>
                </a:lnTo>
                <a:cubicBezTo>
                  <a:pt x="53880" y="57730"/>
                  <a:pt x="51509" y="58388"/>
                  <a:pt x="49091" y="58716"/>
                </a:cubicBezTo>
                <a:lnTo>
                  <a:pt x="44724" y="67544"/>
                </a:lnTo>
                <a:cubicBezTo>
                  <a:pt x="43409" y="70197"/>
                  <a:pt x="40404" y="71535"/>
                  <a:pt x="37563" y="70783"/>
                </a:cubicBezTo>
                <a:lnTo>
                  <a:pt x="31412" y="69140"/>
                </a:lnTo>
                <a:cubicBezTo>
                  <a:pt x="28548" y="68365"/>
                  <a:pt x="26647" y="65689"/>
                  <a:pt x="26834" y="62754"/>
                </a:cubicBezTo>
                <a:lnTo>
                  <a:pt x="27468" y="52917"/>
                </a:lnTo>
                <a:cubicBezTo>
                  <a:pt x="25520" y="51415"/>
                  <a:pt x="23806" y="49678"/>
                  <a:pt x="22327" y="47752"/>
                </a:cubicBezTo>
                <a:lnTo>
                  <a:pt x="12466" y="48386"/>
                </a:lnTo>
                <a:cubicBezTo>
                  <a:pt x="9532" y="48574"/>
                  <a:pt x="6855" y="46649"/>
                  <a:pt x="6081" y="43808"/>
                </a:cubicBezTo>
                <a:lnTo>
                  <a:pt x="4437" y="37657"/>
                </a:lnTo>
                <a:cubicBezTo>
                  <a:pt x="3686" y="34817"/>
                  <a:pt x="5024" y="31811"/>
                  <a:pt x="7677" y="30497"/>
                </a:cubicBezTo>
                <a:lnTo>
                  <a:pt x="16528" y="26130"/>
                </a:lnTo>
                <a:cubicBezTo>
                  <a:pt x="16692" y="24933"/>
                  <a:pt x="16927" y="23759"/>
                  <a:pt x="17232" y="22562"/>
                </a:cubicBezTo>
                <a:cubicBezTo>
                  <a:pt x="17561" y="21364"/>
                  <a:pt x="17937" y="20214"/>
                  <a:pt x="18406" y="19110"/>
                </a:cubicBezTo>
                <a:lnTo>
                  <a:pt x="12936" y="10917"/>
                </a:lnTo>
                <a:cubicBezTo>
                  <a:pt x="11292" y="8452"/>
                  <a:pt x="11621" y="5188"/>
                  <a:pt x="13711" y="3099"/>
                </a:cubicBezTo>
                <a:lnTo>
                  <a:pt x="18218" y="-1409"/>
                </a:lnTo>
                <a:cubicBezTo>
                  <a:pt x="20308" y="-3498"/>
                  <a:pt x="23571" y="-3827"/>
                  <a:pt x="26036" y="-2183"/>
                </a:cubicBezTo>
                <a:lnTo>
                  <a:pt x="34253" y="3287"/>
                </a:lnTo>
                <a:cubicBezTo>
                  <a:pt x="36483" y="2371"/>
                  <a:pt x="38855" y="1714"/>
                  <a:pt x="41273" y="1385"/>
                </a:cubicBezTo>
                <a:lnTo>
                  <a:pt x="45640" y="-7442"/>
                </a:lnTo>
                <a:cubicBezTo>
                  <a:pt x="46954" y="-10095"/>
                  <a:pt x="49936" y="-11433"/>
                  <a:pt x="52800" y="-10682"/>
                </a:cubicBezTo>
                <a:close/>
                <a:moveTo>
                  <a:pt x="45170" y="19721"/>
                </a:moveTo>
                <a:cubicBezTo>
                  <a:pt x="39469" y="19721"/>
                  <a:pt x="34840" y="24349"/>
                  <a:pt x="34840" y="30051"/>
                </a:cubicBezTo>
                <a:cubicBezTo>
                  <a:pt x="34840" y="35752"/>
                  <a:pt x="39469" y="40381"/>
                  <a:pt x="45170" y="40381"/>
                </a:cubicBezTo>
                <a:cubicBezTo>
                  <a:pt x="50871" y="40381"/>
                  <a:pt x="55500" y="35752"/>
                  <a:pt x="55500" y="30051"/>
                </a:cubicBezTo>
                <a:cubicBezTo>
                  <a:pt x="55500" y="24349"/>
                  <a:pt x="50871" y="19721"/>
                  <a:pt x="45170" y="19721"/>
                </a:cubicBezTo>
                <a:close/>
              </a:path>
            </a:pathLst>
          </a:custGeom>
          <a:solidFill>
            <a:srgbClr val="8B5CF6"/>
          </a:solidFill>
          <a:ln/>
        </p:spPr>
      </p:sp>
      <p:sp>
        <p:nvSpPr>
          <p:cNvPr id="15" name="Text 13"/>
          <p:cNvSpPr/>
          <p:nvPr/>
        </p:nvSpPr>
        <p:spPr>
          <a:xfrm>
            <a:off x="826038" y="3169490"/>
            <a:ext cx="4967738" cy="171718"/>
          </a:xfrm>
          <a:prstGeom prst="rect">
            <a:avLst/>
          </a:prstGeom>
          <a:noFill/>
          <a:ln/>
        </p:spPr>
        <p:txBody>
          <a:bodyPr wrap="square" lIns="0" tIns="0" rIns="0" bIns="0" rtlCol="0" anchor="ctr"/>
          <a:lstStyle/>
          <a:p>
            <a:pPr>
              <a:lnSpc>
                <a:spcPct val="120000"/>
              </a:lnSpc>
            </a:pPr>
            <a:r>
              <a:rPr lang="en-US" sz="946" b="1" dirty="0">
                <a:solidFill>
                  <a:srgbClr val="8B5CF6"/>
                </a:solidFill>
                <a:latin typeface="MiSans" pitchFamily="34" charset="0"/>
                <a:ea typeface="MiSans" pitchFamily="34" charset="-122"/>
                <a:cs typeface="MiSans" pitchFamily="34" charset="-120"/>
              </a:rPr>
              <a:t>Quy trình</a:t>
            </a:r>
            <a:endParaRPr lang="en-US" sz="1600" dirty="0"/>
          </a:p>
        </p:txBody>
      </p:sp>
      <p:sp>
        <p:nvSpPr>
          <p:cNvPr id="16" name="Text 14"/>
          <p:cNvSpPr/>
          <p:nvPr/>
        </p:nvSpPr>
        <p:spPr>
          <a:xfrm>
            <a:off x="625055" y="3409895"/>
            <a:ext cx="154546" cy="206062"/>
          </a:xfrm>
          <a:prstGeom prst="rect">
            <a:avLst/>
          </a:prstGeom>
          <a:noFill/>
          <a:ln/>
        </p:spPr>
        <p:txBody>
          <a:bodyPr wrap="square" lIns="0" tIns="0" rIns="0" bIns="0" rtlCol="0" anchor="ctr"/>
          <a:lstStyle/>
          <a:p>
            <a:pPr>
              <a:lnSpc>
                <a:spcPct val="130000"/>
              </a:lnSpc>
            </a:pPr>
            <a:r>
              <a:rPr lang="en-US" sz="1082" b="1" dirty="0">
                <a:solidFill>
                  <a:srgbClr val="3B82F6"/>
                </a:solidFill>
                <a:latin typeface="MiSans" pitchFamily="34" charset="0"/>
                <a:ea typeface="MiSans" pitchFamily="34" charset="-122"/>
                <a:cs typeface="MiSans" pitchFamily="34" charset="-120"/>
              </a:rPr>
              <a:t>1.</a:t>
            </a:r>
            <a:endParaRPr lang="en-US" sz="1600" dirty="0"/>
          </a:p>
        </p:txBody>
      </p:sp>
      <p:sp>
        <p:nvSpPr>
          <p:cNvPr id="17" name="Text 15"/>
          <p:cNvSpPr/>
          <p:nvPr/>
        </p:nvSpPr>
        <p:spPr>
          <a:xfrm>
            <a:off x="780996" y="3409895"/>
            <a:ext cx="2275268" cy="171718"/>
          </a:xfrm>
          <a:prstGeom prst="rect">
            <a:avLst/>
          </a:prstGeom>
          <a:noFill/>
          <a:ln/>
        </p:spPr>
        <p:txBody>
          <a:bodyPr wrap="square" lIns="0" tIns="0" rIns="0" bIns="0" rtlCol="0" anchor="ctr"/>
          <a:lstStyle/>
          <a:p>
            <a:pPr>
              <a:lnSpc>
                <a:spcPct val="120000"/>
              </a:lnSpc>
            </a:pPr>
            <a:r>
              <a:rPr lang="en-US" sz="946" dirty="0">
                <a:solidFill>
                  <a:srgbClr val="F8FAFC">
                    <a:alpha val="70000"/>
                  </a:srgbClr>
                </a:solidFill>
                <a:latin typeface="MiSans" pitchFamily="34" charset="0"/>
                <a:ea typeface="MiSans" pitchFamily="34" charset="-122"/>
                <a:cs typeface="MiSans" pitchFamily="34" charset="-120"/>
              </a:rPr>
              <a:t>Dùng </a:t>
            </a:r>
            <a:pPr>
              <a:lnSpc>
                <a:spcPct val="120000"/>
              </a:lnSpc>
            </a:pPr>
            <a:r>
              <a:rPr lang="en-US" sz="811" dirty="0">
                <a:solidFill>
                  <a:srgbClr val="F8FAFC">
                    <a:alpha val="70000"/>
                  </a:srgbClr>
                </a:solidFill>
                <a:highlight>
                  <a:srgbClr val="0F172A">
                    <a:alpha val="100000"/>
                  </a:srgbClr>
                </a:highlight>
                <a:latin typeface="MiSans" pitchFamily="34" charset="0"/>
                <a:ea typeface="MiSans" pitchFamily="34" charset="-122"/>
                <a:cs typeface="MiSans" pitchFamily="34" charset="-120"/>
              </a:rPr>
              <a:t>inspect.getsource() </a:t>
            </a:r>
            <a:pPr>
              <a:lnSpc>
                <a:spcPct val="120000"/>
              </a:lnSpc>
            </a:pPr>
            <a:r>
              <a:rPr lang="en-US" sz="946" dirty="0">
                <a:solidFill>
                  <a:srgbClr val="F8FAFC">
                    <a:alpha val="70000"/>
                  </a:srgbClr>
                </a:solidFill>
                <a:latin typeface="MiSans" pitchFamily="34" charset="0"/>
                <a:ea typeface="MiSans" pitchFamily="34" charset="-122"/>
                <a:cs typeface="MiSans" pitchFamily="34" charset="-120"/>
              </a:rPr>
              <a:t>để lấy code</a:t>
            </a:r>
            <a:endParaRPr lang="en-US" sz="1600" dirty="0"/>
          </a:p>
        </p:txBody>
      </p:sp>
      <p:sp>
        <p:nvSpPr>
          <p:cNvPr id="18" name="Text 16"/>
          <p:cNvSpPr/>
          <p:nvPr/>
        </p:nvSpPr>
        <p:spPr>
          <a:xfrm>
            <a:off x="625055" y="3684645"/>
            <a:ext cx="180304" cy="206062"/>
          </a:xfrm>
          <a:prstGeom prst="rect">
            <a:avLst/>
          </a:prstGeom>
          <a:noFill/>
          <a:ln/>
        </p:spPr>
        <p:txBody>
          <a:bodyPr wrap="square" lIns="0" tIns="0" rIns="0" bIns="0" rtlCol="0" anchor="ctr"/>
          <a:lstStyle/>
          <a:p>
            <a:pPr>
              <a:lnSpc>
                <a:spcPct val="130000"/>
              </a:lnSpc>
            </a:pPr>
            <a:r>
              <a:rPr lang="en-US" sz="1082" b="1" dirty="0">
                <a:solidFill>
                  <a:srgbClr val="8B5CF6"/>
                </a:solidFill>
                <a:latin typeface="MiSans" pitchFamily="34" charset="0"/>
                <a:ea typeface="MiSans" pitchFamily="34" charset="-122"/>
                <a:cs typeface="MiSans" pitchFamily="34" charset="-120"/>
              </a:rPr>
              <a:t>2.</a:t>
            </a:r>
            <a:endParaRPr lang="en-US" sz="1600" dirty="0"/>
          </a:p>
        </p:txBody>
      </p:sp>
      <p:sp>
        <p:nvSpPr>
          <p:cNvPr id="19" name="Text 17"/>
          <p:cNvSpPr/>
          <p:nvPr/>
        </p:nvSpPr>
        <p:spPr>
          <a:xfrm>
            <a:off x="804286" y="3684645"/>
            <a:ext cx="1974761" cy="171718"/>
          </a:xfrm>
          <a:prstGeom prst="rect">
            <a:avLst/>
          </a:prstGeom>
          <a:noFill/>
          <a:ln/>
        </p:spPr>
        <p:txBody>
          <a:bodyPr wrap="square" lIns="0" tIns="0" rIns="0" bIns="0" rtlCol="0" anchor="ctr"/>
          <a:lstStyle/>
          <a:p>
            <a:pPr>
              <a:lnSpc>
                <a:spcPct val="120000"/>
              </a:lnSpc>
            </a:pPr>
            <a:r>
              <a:rPr lang="en-US" sz="946" dirty="0">
                <a:solidFill>
                  <a:srgbClr val="F8FAFC">
                    <a:alpha val="70000"/>
                  </a:srgbClr>
                </a:solidFill>
                <a:latin typeface="MiSans" pitchFamily="34" charset="0"/>
                <a:ea typeface="MiSans" pitchFamily="34" charset="-122"/>
                <a:cs typeface="MiSans" pitchFamily="34" charset="-120"/>
              </a:rPr>
              <a:t>Tạo System prompt + User prompt</a:t>
            </a:r>
            <a:endParaRPr lang="en-US" sz="1600" dirty="0"/>
          </a:p>
        </p:txBody>
      </p:sp>
      <p:sp>
        <p:nvSpPr>
          <p:cNvPr id="20" name="Text 18"/>
          <p:cNvSpPr/>
          <p:nvPr/>
        </p:nvSpPr>
        <p:spPr>
          <a:xfrm>
            <a:off x="625055" y="3959394"/>
            <a:ext cx="180304" cy="206062"/>
          </a:xfrm>
          <a:prstGeom prst="rect">
            <a:avLst/>
          </a:prstGeom>
          <a:noFill/>
          <a:ln/>
        </p:spPr>
        <p:txBody>
          <a:bodyPr wrap="square" lIns="0" tIns="0" rIns="0" bIns="0" rtlCol="0" anchor="ctr"/>
          <a:lstStyle/>
          <a:p>
            <a:pPr>
              <a:lnSpc>
                <a:spcPct val="130000"/>
              </a:lnSpc>
            </a:pPr>
            <a:r>
              <a:rPr lang="en-US" sz="1082" b="1" dirty="0">
                <a:solidFill>
                  <a:srgbClr val="10B981"/>
                </a:solidFill>
                <a:latin typeface="MiSans" pitchFamily="34" charset="0"/>
                <a:ea typeface="MiSans" pitchFamily="34" charset="-122"/>
                <a:cs typeface="MiSans" pitchFamily="34" charset="-120"/>
              </a:rPr>
              <a:t>3.</a:t>
            </a:r>
            <a:endParaRPr lang="en-US" sz="1600" dirty="0"/>
          </a:p>
        </p:txBody>
      </p:sp>
      <p:sp>
        <p:nvSpPr>
          <p:cNvPr id="21" name="Text 19"/>
          <p:cNvSpPr/>
          <p:nvPr/>
        </p:nvSpPr>
        <p:spPr>
          <a:xfrm>
            <a:off x="807827" y="3959394"/>
            <a:ext cx="1210614" cy="171718"/>
          </a:xfrm>
          <a:prstGeom prst="rect">
            <a:avLst/>
          </a:prstGeom>
          <a:noFill/>
          <a:ln/>
        </p:spPr>
        <p:txBody>
          <a:bodyPr wrap="square" lIns="0" tIns="0" rIns="0" bIns="0" rtlCol="0" anchor="ctr"/>
          <a:lstStyle/>
          <a:p>
            <a:pPr>
              <a:lnSpc>
                <a:spcPct val="120000"/>
              </a:lnSpc>
            </a:pPr>
            <a:r>
              <a:rPr lang="en-US" sz="946" dirty="0">
                <a:solidFill>
                  <a:srgbClr val="F8FAFC">
                    <a:alpha val="70000"/>
                  </a:srgbClr>
                </a:solidFill>
                <a:latin typeface="MiSans" pitchFamily="34" charset="0"/>
                <a:ea typeface="MiSans" pitchFamily="34" charset="-122"/>
                <a:cs typeface="MiSans" pitchFamily="34" charset="-120"/>
              </a:rPr>
              <a:t>Gọi API GPT-4o-mini</a:t>
            </a:r>
            <a:endParaRPr lang="en-US" sz="1600" dirty="0"/>
          </a:p>
        </p:txBody>
      </p:sp>
      <p:sp>
        <p:nvSpPr>
          <p:cNvPr id="22" name="Text 20"/>
          <p:cNvSpPr/>
          <p:nvPr/>
        </p:nvSpPr>
        <p:spPr>
          <a:xfrm>
            <a:off x="625055" y="4234143"/>
            <a:ext cx="180304" cy="206062"/>
          </a:xfrm>
          <a:prstGeom prst="rect">
            <a:avLst/>
          </a:prstGeom>
          <a:noFill/>
          <a:ln/>
        </p:spPr>
        <p:txBody>
          <a:bodyPr wrap="square" lIns="0" tIns="0" rIns="0" bIns="0" rtlCol="0" anchor="ctr"/>
          <a:lstStyle/>
          <a:p>
            <a:pPr>
              <a:lnSpc>
                <a:spcPct val="130000"/>
              </a:lnSpc>
            </a:pPr>
            <a:r>
              <a:rPr lang="en-US" sz="1082" b="1" dirty="0">
                <a:solidFill>
                  <a:srgbClr val="3B82F6"/>
                </a:solidFill>
                <a:latin typeface="MiSans" pitchFamily="34" charset="0"/>
                <a:ea typeface="MiSans" pitchFamily="34" charset="-122"/>
                <a:cs typeface="MiSans" pitchFamily="34" charset="-120"/>
              </a:rPr>
              <a:t>4.</a:t>
            </a:r>
            <a:endParaRPr lang="en-US" sz="1600" dirty="0"/>
          </a:p>
        </p:txBody>
      </p:sp>
      <p:sp>
        <p:nvSpPr>
          <p:cNvPr id="23" name="Text 21"/>
          <p:cNvSpPr/>
          <p:nvPr/>
        </p:nvSpPr>
        <p:spPr>
          <a:xfrm>
            <a:off x="807505" y="4234143"/>
            <a:ext cx="1923245" cy="171718"/>
          </a:xfrm>
          <a:prstGeom prst="rect">
            <a:avLst/>
          </a:prstGeom>
          <a:noFill/>
          <a:ln/>
        </p:spPr>
        <p:txBody>
          <a:bodyPr wrap="square" lIns="0" tIns="0" rIns="0" bIns="0" rtlCol="0" anchor="ctr"/>
          <a:lstStyle/>
          <a:p>
            <a:pPr>
              <a:lnSpc>
                <a:spcPct val="120000"/>
              </a:lnSpc>
            </a:pPr>
            <a:r>
              <a:rPr lang="en-US" sz="946" dirty="0">
                <a:solidFill>
                  <a:srgbClr val="F8FAFC">
                    <a:alpha val="70000"/>
                  </a:srgbClr>
                </a:solidFill>
                <a:latin typeface="MiSans" pitchFamily="34" charset="0"/>
                <a:ea typeface="MiSans" pitchFamily="34" charset="-122"/>
                <a:cs typeface="MiSans" pitchFamily="34" charset="-120"/>
              </a:rPr>
              <a:t>Nhận docstring theo Google Style</a:t>
            </a:r>
            <a:endParaRPr lang="en-US" sz="1600" dirty="0"/>
          </a:p>
        </p:txBody>
      </p:sp>
      <p:sp>
        <p:nvSpPr>
          <p:cNvPr id="24" name="Shape 22"/>
          <p:cNvSpPr/>
          <p:nvPr/>
        </p:nvSpPr>
        <p:spPr>
          <a:xfrm>
            <a:off x="522024" y="4646267"/>
            <a:ext cx="5314682" cy="515155"/>
          </a:xfrm>
          <a:custGeom>
            <a:avLst/>
            <a:gdLst/>
            <a:ahLst/>
            <a:cxnLst/>
            <a:rect l="l" t="t" r="r" b="b"/>
            <a:pathLst>
              <a:path w="5314682" h="515155">
                <a:moveTo>
                  <a:pt x="68686" y="0"/>
                </a:moveTo>
                <a:lnTo>
                  <a:pt x="5245996" y="0"/>
                </a:lnTo>
                <a:cubicBezTo>
                  <a:pt x="5283930" y="0"/>
                  <a:pt x="5314682" y="30752"/>
                  <a:pt x="5314682" y="68686"/>
                </a:cubicBezTo>
                <a:lnTo>
                  <a:pt x="5314682" y="446469"/>
                </a:lnTo>
                <a:cubicBezTo>
                  <a:pt x="5314682" y="484403"/>
                  <a:pt x="5283930" y="515155"/>
                  <a:pt x="5245996" y="515155"/>
                </a:cubicBezTo>
                <a:lnTo>
                  <a:pt x="68686" y="515155"/>
                </a:lnTo>
                <a:cubicBezTo>
                  <a:pt x="30752" y="515155"/>
                  <a:pt x="0" y="484403"/>
                  <a:pt x="0" y="446469"/>
                </a:cubicBezTo>
                <a:lnTo>
                  <a:pt x="0" y="68686"/>
                </a:lnTo>
                <a:cubicBezTo>
                  <a:pt x="0" y="30777"/>
                  <a:pt x="30777" y="0"/>
                  <a:pt x="68686" y="0"/>
                </a:cubicBezTo>
                <a:close/>
              </a:path>
            </a:pathLst>
          </a:custGeom>
          <a:solidFill>
            <a:srgbClr val="0F172A"/>
          </a:solidFill>
          <a:ln/>
        </p:spPr>
      </p:sp>
      <p:sp>
        <p:nvSpPr>
          <p:cNvPr id="25" name="Text 23"/>
          <p:cNvSpPr/>
          <p:nvPr/>
        </p:nvSpPr>
        <p:spPr>
          <a:xfrm>
            <a:off x="625055" y="4749298"/>
            <a:ext cx="5160135" cy="137375"/>
          </a:xfrm>
          <a:prstGeom prst="rect">
            <a:avLst/>
          </a:prstGeom>
          <a:noFill/>
          <a:ln/>
        </p:spPr>
        <p:txBody>
          <a:bodyPr wrap="square" lIns="0" tIns="0" rIns="0" bIns="0" rtlCol="0" anchor="ctr"/>
          <a:lstStyle/>
          <a:p>
            <a:pPr>
              <a:lnSpc>
                <a:spcPct val="110000"/>
              </a:lnSpc>
            </a:pPr>
            <a:r>
              <a:rPr lang="en-US" sz="811" dirty="0">
                <a:solidFill>
                  <a:srgbClr val="8B5CF6"/>
                </a:solidFill>
                <a:latin typeface="MiSans" pitchFamily="34" charset="0"/>
                <a:ea typeface="MiSans" pitchFamily="34" charset="-122"/>
                <a:cs typeface="MiSans" pitchFamily="34" charset="-120"/>
              </a:rPr>
              <a:t># Lead-in cue:</a:t>
            </a:r>
            <a:endParaRPr lang="en-US" sz="1600" dirty="0"/>
          </a:p>
        </p:txBody>
      </p:sp>
      <p:sp>
        <p:nvSpPr>
          <p:cNvPr id="26" name="Text 24"/>
          <p:cNvSpPr/>
          <p:nvPr/>
        </p:nvSpPr>
        <p:spPr>
          <a:xfrm>
            <a:off x="625055" y="4920912"/>
            <a:ext cx="5160135" cy="137375"/>
          </a:xfrm>
          <a:prstGeom prst="rect">
            <a:avLst/>
          </a:prstGeom>
          <a:noFill/>
          <a:ln/>
        </p:spPr>
        <p:txBody>
          <a:bodyPr wrap="square" lIns="0" tIns="0" rIns="0" bIns="0" rtlCol="0" anchor="ctr"/>
          <a:lstStyle/>
          <a:p>
            <a:pPr>
              <a:lnSpc>
                <a:spcPct val="110000"/>
              </a:lnSpc>
            </a:pPr>
            <a:r>
              <a:rPr lang="en-US" sz="811" dirty="0">
                <a:solidFill>
                  <a:srgbClr val="F8FAFC">
                    <a:alpha val="70000"/>
                  </a:srgbClr>
                </a:solidFill>
                <a:latin typeface="MiSans" pitchFamily="34" charset="0"/>
                <a:ea typeface="MiSans" pitchFamily="34" charset="-122"/>
                <a:cs typeface="MiSans" pitchFamily="34" charset="-120"/>
              </a:rPr>
              <a:t>GOOGLE STYLE DOCSTRING:</a:t>
            </a:r>
            <a:endParaRPr lang="en-US" sz="1600" dirty="0"/>
          </a:p>
        </p:txBody>
      </p:sp>
      <p:sp>
        <p:nvSpPr>
          <p:cNvPr id="27" name="Shape 25"/>
          <p:cNvSpPr/>
          <p:nvPr/>
        </p:nvSpPr>
        <p:spPr>
          <a:xfrm>
            <a:off x="6187118" y="1562637"/>
            <a:ext cx="5664987" cy="3844773"/>
          </a:xfrm>
          <a:custGeom>
            <a:avLst/>
            <a:gdLst/>
            <a:ahLst/>
            <a:cxnLst/>
            <a:rect l="l" t="t" r="r" b="b"/>
            <a:pathLst>
              <a:path w="5664987" h="3844773">
                <a:moveTo>
                  <a:pt x="137374" y="0"/>
                </a:moveTo>
                <a:lnTo>
                  <a:pt x="5527613" y="0"/>
                </a:lnTo>
                <a:cubicBezTo>
                  <a:pt x="5603483" y="0"/>
                  <a:pt x="5664987" y="61504"/>
                  <a:pt x="5664987" y="137374"/>
                </a:cubicBezTo>
                <a:lnTo>
                  <a:pt x="5664987" y="3707399"/>
                </a:lnTo>
                <a:cubicBezTo>
                  <a:pt x="5664987" y="3783269"/>
                  <a:pt x="5603483" y="3844773"/>
                  <a:pt x="5527613" y="3844773"/>
                </a:cubicBezTo>
                <a:lnTo>
                  <a:pt x="137374" y="3844773"/>
                </a:lnTo>
                <a:cubicBezTo>
                  <a:pt x="61504" y="3844773"/>
                  <a:pt x="0" y="3783269"/>
                  <a:pt x="0" y="3707399"/>
                </a:cubicBezTo>
                <a:lnTo>
                  <a:pt x="0" y="137374"/>
                </a:lnTo>
                <a:cubicBezTo>
                  <a:pt x="0" y="61555"/>
                  <a:pt x="61555" y="0"/>
                  <a:pt x="137374" y="0"/>
                </a:cubicBezTo>
                <a:close/>
              </a:path>
            </a:pathLst>
          </a:custGeom>
          <a:gradFill rotWithShape="1" flip="none">
            <a:gsLst>
              <a:gs pos="0">
                <a:srgbClr val="1E293B"/>
              </a:gs>
              <a:gs pos="100000">
                <a:srgbClr val="1E293B">
                  <a:alpha val="50000"/>
                </a:srgbClr>
              </a:gs>
            </a:gsLst>
            <a:lin ang="2700000" scaled="1"/>
          </a:gradFill>
          <a:ln w="10160">
            <a:solidFill>
              <a:srgbClr val="8B5CF6">
                <a:alpha val="30196"/>
              </a:srgbClr>
            </a:solidFill>
            <a:prstDash val="solid"/>
          </a:ln>
        </p:spPr>
      </p:sp>
      <p:sp>
        <p:nvSpPr>
          <p:cNvPr id="28" name="Shape 26"/>
          <p:cNvSpPr/>
          <p:nvPr/>
        </p:nvSpPr>
        <p:spPr>
          <a:xfrm>
            <a:off x="6362271" y="1737788"/>
            <a:ext cx="412124" cy="412124"/>
          </a:xfrm>
          <a:custGeom>
            <a:avLst/>
            <a:gdLst/>
            <a:ahLst/>
            <a:cxnLst/>
            <a:rect l="l" t="t" r="r" b="b"/>
            <a:pathLst>
              <a:path w="412124" h="412124">
                <a:moveTo>
                  <a:pt x="103031" y="0"/>
                </a:moveTo>
                <a:lnTo>
                  <a:pt x="309093" y="0"/>
                </a:lnTo>
                <a:cubicBezTo>
                  <a:pt x="365957" y="0"/>
                  <a:pt x="412124" y="46167"/>
                  <a:pt x="412124" y="103031"/>
                </a:cubicBezTo>
                <a:lnTo>
                  <a:pt x="412124" y="309093"/>
                </a:lnTo>
                <a:cubicBezTo>
                  <a:pt x="412124" y="365957"/>
                  <a:pt x="365957" y="412124"/>
                  <a:pt x="309093" y="412124"/>
                </a:cubicBezTo>
                <a:lnTo>
                  <a:pt x="103031" y="412124"/>
                </a:lnTo>
                <a:cubicBezTo>
                  <a:pt x="46167" y="412124"/>
                  <a:pt x="0" y="365957"/>
                  <a:pt x="0" y="309093"/>
                </a:cubicBezTo>
                <a:lnTo>
                  <a:pt x="0" y="103031"/>
                </a:lnTo>
                <a:cubicBezTo>
                  <a:pt x="0" y="46167"/>
                  <a:pt x="46167" y="0"/>
                  <a:pt x="103031" y="0"/>
                </a:cubicBezTo>
                <a:close/>
              </a:path>
            </a:pathLst>
          </a:custGeom>
          <a:gradFill rotWithShape="1" flip="none">
            <a:gsLst>
              <a:gs pos="0">
                <a:srgbClr val="8B5CF6"/>
              </a:gs>
              <a:gs pos="100000">
                <a:srgbClr val="8B5CF6">
                  <a:alpha val="60000"/>
                </a:srgbClr>
              </a:gs>
            </a:gsLst>
            <a:lin ang="2700000" scaled="1"/>
          </a:gradFill>
          <a:ln/>
        </p:spPr>
      </p:sp>
      <p:sp>
        <p:nvSpPr>
          <p:cNvPr id="29" name="Text 27"/>
          <p:cNvSpPr/>
          <p:nvPr/>
        </p:nvSpPr>
        <p:spPr>
          <a:xfrm>
            <a:off x="6446198" y="1823648"/>
            <a:ext cx="326265" cy="240406"/>
          </a:xfrm>
          <a:prstGeom prst="rect">
            <a:avLst/>
          </a:prstGeom>
          <a:noFill/>
          <a:ln/>
        </p:spPr>
        <p:txBody>
          <a:bodyPr wrap="square" lIns="0" tIns="0" rIns="0" bIns="0" rtlCol="0" anchor="ctr"/>
          <a:lstStyle/>
          <a:p>
            <a:pPr>
              <a:lnSpc>
                <a:spcPct val="120000"/>
              </a:lnSpc>
            </a:pPr>
            <a:r>
              <a:rPr lang="en-US" sz="1352" b="1" dirty="0">
                <a:solidFill>
                  <a:srgbClr val="FFFFFF"/>
                </a:solidFill>
                <a:latin typeface="MiSans" pitchFamily="34" charset="0"/>
                <a:ea typeface="MiSans" pitchFamily="34" charset="-122"/>
                <a:cs typeface="MiSans" pitchFamily="34" charset="-120"/>
              </a:rPr>
              <a:t>5.2</a:t>
            </a:r>
            <a:endParaRPr lang="en-US" sz="1600" dirty="0"/>
          </a:p>
        </p:txBody>
      </p:sp>
      <p:sp>
        <p:nvSpPr>
          <p:cNvPr id="30" name="Text 28"/>
          <p:cNvSpPr/>
          <p:nvPr/>
        </p:nvSpPr>
        <p:spPr>
          <a:xfrm>
            <a:off x="6877426" y="1823648"/>
            <a:ext cx="1347989" cy="240406"/>
          </a:xfrm>
          <a:prstGeom prst="rect">
            <a:avLst/>
          </a:prstGeom>
          <a:noFill/>
          <a:ln/>
        </p:spPr>
        <p:txBody>
          <a:bodyPr wrap="square" lIns="0" tIns="0" rIns="0" bIns="0" rtlCol="0" anchor="ctr"/>
          <a:lstStyle/>
          <a:p>
            <a:pPr>
              <a:lnSpc>
                <a:spcPct val="120000"/>
              </a:lnSpc>
            </a:pPr>
            <a:r>
              <a:rPr lang="en-US" sz="1352" b="1" dirty="0">
                <a:solidFill>
                  <a:srgbClr val="8B5CF6"/>
                </a:solidFill>
                <a:latin typeface="Liter" pitchFamily="34" charset="0"/>
                <a:ea typeface="Liter" pitchFamily="34" charset="-122"/>
                <a:cs typeface="Liter" pitchFamily="34" charset="-120"/>
              </a:rPr>
              <a:t>Sửa lỗi Singleton</a:t>
            </a:r>
            <a:endParaRPr lang="en-US" sz="1600" dirty="0"/>
          </a:p>
        </p:txBody>
      </p:sp>
      <p:sp>
        <p:nvSpPr>
          <p:cNvPr id="31" name="Shape 29"/>
          <p:cNvSpPr/>
          <p:nvPr/>
        </p:nvSpPr>
        <p:spPr>
          <a:xfrm>
            <a:off x="6362271" y="2287287"/>
            <a:ext cx="5314682" cy="678287"/>
          </a:xfrm>
          <a:custGeom>
            <a:avLst/>
            <a:gdLst/>
            <a:ahLst/>
            <a:cxnLst/>
            <a:rect l="l" t="t" r="r" b="b"/>
            <a:pathLst>
              <a:path w="5314682" h="678287">
                <a:moveTo>
                  <a:pt x="68690" y="0"/>
                </a:moveTo>
                <a:lnTo>
                  <a:pt x="5245992" y="0"/>
                </a:lnTo>
                <a:cubicBezTo>
                  <a:pt x="5283928" y="0"/>
                  <a:pt x="5314682" y="30754"/>
                  <a:pt x="5314682" y="68690"/>
                </a:cubicBezTo>
                <a:lnTo>
                  <a:pt x="5314682" y="609597"/>
                </a:lnTo>
                <a:cubicBezTo>
                  <a:pt x="5314682" y="647534"/>
                  <a:pt x="5283928" y="678287"/>
                  <a:pt x="5245992" y="678287"/>
                </a:cubicBezTo>
                <a:lnTo>
                  <a:pt x="68690" y="678287"/>
                </a:lnTo>
                <a:cubicBezTo>
                  <a:pt x="30779" y="678287"/>
                  <a:pt x="0" y="647508"/>
                  <a:pt x="0" y="609597"/>
                </a:cubicBezTo>
                <a:lnTo>
                  <a:pt x="0" y="68690"/>
                </a:lnTo>
                <a:cubicBezTo>
                  <a:pt x="0" y="30779"/>
                  <a:pt x="30779" y="0"/>
                  <a:pt x="68690" y="0"/>
                </a:cubicBezTo>
                <a:close/>
              </a:path>
            </a:pathLst>
          </a:custGeom>
          <a:solidFill>
            <a:srgbClr val="0F172A">
              <a:alpha val="50196"/>
            </a:srgbClr>
          </a:solidFill>
          <a:ln/>
        </p:spPr>
      </p:sp>
      <p:sp>
        <p:nvSpPr>
          <p:cNvPr id="32" name="Text 30"/>
          <p:cNvSpPr/>
          <p:nvPr/>
        </p:nvSpPr>
        <p:spPr>
          <a:xfrm>
            <a:off x="6465302" y="2390318"/>
            <a:ext cx="5177307" cy="206062"/>
          </a:xfrm>
          <a:prstGeom prst="rect">
            <a:avLst/>
          </a:prstGeom>
          <a:noFill/>
          <a:ln/>
        </p:spPr>
        <p:txBody>
          <a:bodyPr wrap="square" lIns="0" tIns="0" rIns="0" bIns="0" rtlCol="0" anchor="ctr"/>
          <a:lstStyle/>
          <a:p>
            <a:pPr>
              <a:lnSpc>
                <a:spcPct val="130000"/>
              </a:lnSpc>
            </a:pPr>
            <a:r>
              <a:rPr lang="en-US" sz="1082" b="1" dirty="0">
                <a:solidFill>
                  <a:srgbClr val="F8FAFC"/>
                </a:solidFill>
                <a:latin typeface="MiSans" pitchFamily="34" charset="0"/>
                <a:ea typeface="MiSans" pitchFamily="34" charset="-122"/>
                <a:cs typeface="MiSans" pitchFamily="34" charset="-120"/>
              </a:rPr>
              <a:t>Mục tiêu</a:t>
            </a:r>
            <a:endParaRPr lang="en-US" sz="1600" dirty="0"/>
          </a:p>
        </p:txBody>
      </p:sp>
      <p:sp>
        <p:nvSpPr>
          <p:cNvPr id="33" name="Text 31"/>
          <p:cNvSpPr/>
          <p:nvPr/>
        </p:nvSpPr>
        <p:spPr>
          <a:xfrm>
            <a:off x="6465302" y="2665067"/>
            <a:ext cx="5168721" cy="197476"/>
          </a:xfrm>
          <a:prstGeom prst="rect">
            <a:avLst/>
          </a:prstGeom>
          <a:noFill/>
          <a:ln/>
        </p:spPr>
        <p:txBody>
          <a:bodyPr wrap="square" lIns="0" tIns="0" rIns="0" bIns="0" rtlCol="0" anchor="ctr"/>
          <a:lstStyle/>
          <a:p>
            <a:pPr>
              <a:lnSpc>
                <a:spcPct val="140000"/>
              </a:lnSpc>
            </a:pPr>
            <a:r>
              <a:rPr lang="en-US" sz="946" dirty="0">
                <a:solidFill>
                  <a:srgbClr val="F8FAFC">
                    <a:alpha val="70000"/>
                  </a:srgbClr>
                </a:solidFill>
                <a:latin typeface="MiSans" pitchFamily="34" charset="0"/>
                <a:ea typeface="MiSans" pitchFamily="34" charset="-122"/>
                <a:cs typeface="MiSans" pitchFamily="34" charset="-120"/>
              </a:rPr>
              <a:t>Phát hiện và sửa lỗi trong triển khai </a:t>
            </a:r>
            <a:pPr>
              <a:lnSpc>
                <a:spcPct val="140000"/>
              </a:lnSpc>
            </a:pPr>
            <a:r>
              <a:rPr lang="en-US" sz="946" dirty="0">
                <a:solidFill>
                  <a:srgbClr val="8B5CF6"/>
                </a:solidFill>
                <a:highlight>
                  <a:srgbClr val="8B5CF6">
                    <a:alpha val="20000"/>
                  </a:srgbClr>
                </a:highlight>
                <a:latin typeface="MiSans" pitchFamily="34" charset="0"/>
                <a:ea typeface="MiSans" pitchFamily="34" charset="-122"/>
                <a:cs typeface="MiSans" pitchFamily="34" charset="-120"/>
              </a:rPr>
              <a:t>Singleton pattern</a:t>
            </a:r>
            <a:endParaRPr lang="en-US" sz="1600" dirty="0"/>
          </a:p>
        </p:txBody>
      </p:sp>
      <p:sp>
        <p:nvSpPr>
          <p:cNvPr id="34" name="Shape 32"/>
          <p:cNvSpPr/>
          <p:nvPr/>
        </p:nvSpPr>
        <p:spPr>
          <a:xfrm>
            <a:off x="6362271" y="3066459"/>
            <a:ext cx="5314682" cy="1442434"/>
          </a:xfrm>
          <a:custGeom>
            <a:avLst/>
            <a:gdLst/>
            <a:ahLst/>
            <a:cxnLst/>
            <a:rect l="l" t="t" r="r" b="b"/>
            <a:pathLst>
              <a:path w="5314682" h="1442434">
                <a:moveTo>
                  <a:pt x="68689" y="0"/>
                </a:moveTo>
                <a:lnTo>
                  <a:pt x="5245993" y="0"/>
                </a:lnTo>
                <a:cubicBezTo>
                  <a:pt x="5283929" y="0"/>
                  <a:pt x="5314682" y="30753"/>
                  <a:pt x="5314682" y="68689"/>
                </a:cubicBezTo>
                <a:lnTo>
                  <a:pt x="5314682" y="1373745"/>
                </a:lnTo>
                <a:cubicBezTo>
                  <a:pt x="5314682" y="1411681"/>
                  <a:pt x="5283929" y="1442434"/>
                  <a:pt x="5245993" y="1442434"/>
                </a:cubicBezTo>
                <a:lnTo>
                  <a:pt x="68689" y="1442434"/>
                </a:lnTo>
                <a:cubicBezTo>
                  <a:pt x="30753" y="1442434"/>
                  <a:pt x="0" y="1411681"/>
                  <a:pt x="0" y="1373745"/>
                </a:cubicBezTo>
                <a:lnTo>
                  <a:pt x="0" y="68689"/>
                </a:lnTo>
                <a:cubicBezTo>
                  <a:pt x="0" y="30753"/>
                  <a:pt x="30753" y="0"/>
                  <a:pt x="68689" y="0"/>
                </a:cubicBezTo>
                <a:close/>
              </a:path>
            </a:pathLst>
          </a:custGeom>
          <a:solidFill>
            <a:srgbClr val="0F172A">
              <a:alpha val="50196"/>
            </a:srgbClr>
          </a:solidFill>
          <a:ln/>
        </p:spPr>
      </p:sp>
      <p:sp>
        <p:nvSpPr>
          <p:cNvPr id="35" name="Shape 33"/>
          <p:cNvSpPr/>
          <p:nvPr/>
        </p:nvSpPr>
        <p:spPr>
          <a:xfrm>
            <a:off x="6474961" y="3203834"/>
            <a:ext cx="135228" cy="120203"/>
          </a:xfrm>
          <a:custGeom>
            <a:avLst/>
            <a:gdLst/>
            <a:ahLst/>
            <a:cxnLst/>
            <a:rect l="l" t="t" r="r" b="b"/>
            <a:pathLst>
              <a:path w="135228" h="120203">
                <a:moveTo>
                  <a:pt x="45076" y="22538"/>
                </a:moveTo>
                <a:cubicBezTo>
                  <a:pt x="45076" y="10095"/>
                  <a:pt x="55171" y="0"/>
                  <a:pt x="67614" y="0"/>
                </a:cubicBezTo>
                <a:cubicBezTo>
                  <a:pt x="80057" y="0"/>
                  <a:pt x="90152" y="10095"/>
                  <a:pt x="90152" y="22538"/>
                </a:cubicBezTo>
                <a:lnTo>
                  <a:pt x="90152" y="23383"/>
                </a:lnTo>
                <a:cubicBezTo>
                  <a:pt x="90152" y="27069"/>
                  <a:pt x="87171" y="30051"/>
                  <a:pt x="83485" y="30051"/>
                </a:cubicBezTo>
                <a:lnTo>
                  <a:pt x="51767" y="30051"/>
                </a:lnTo>
                <a:cubicBezTo>
                  <a:pt x="48081" y="30051"/>
                  <a:pt x="45100" y="27069"/>
                  <a:pt x="45100" y="23383"/>
                </a:cubicBezTo>
                <a:lnTo>
                  <a:pt x="45100" y="22538"/>
                </a:lnTo>
                <a:close/>
                <a:moveTo>
                  <a:pt x="126213" y="25543"/>
                </a:moveTo>
                <a:cubicBezTo>
                  <a:pt x="128702" y="28853"/>
                  <a:pt x="128021" y="33572"/>
                  <a:pt x="124710" y="36061"/>
                </a:cubicBezTo>
                <a:lnTo>
                  <a:pt x="101750" y="53270"/>
                </a:lnTo>
                <a:cubicBezTo>
                  <a:pt x="102994" y="55359"/>
                  <a:pt x="103933" y="57660"/>
                  <a:pt x="104520" y="60101"/>
                </a:cubicBezTo>
                <a:lnTo>
                  <a:pt x="127715" y="60101"/>
                </a:lnTo>
                <a:cubicBezTo>
                  <a:pt x="131871" y="60101"/>
                  <a:pt x="135228" y="63459"/>
                  <a:pt x="135228" y="67614"/>
                </a:cubicBezTo>
                <a:cubicBezTo>
                  <a:pt x="135228" y="71770"/>
                  <a:pt x="131871" y="75127"/>
                  <a:pt x="127715" y="75127"/>
                </a:cubicBezTo>
                <a:lnTo>
                  <a:pt x="105177" y="75127"/>
                </a:lnTo>
                <a:lnTo>
                  <a:pt x="105177" y="82639"/>
                </a:lnTo>
                <a:cubicBezTo>
                  <a:pt x="105177" y="83250"/>
                  <a:pt x="105154" y="83884"/>
                  <a:pt x="105131" y="84494"/>
                </a:cubicBezTo>
                <a:lnTo>
                  <a:pt x="124710" y="99167"/>
                </a:lnTo>
                <a:cubicBezTo>
                  <a:pt x="128021" y="101656"/>
                  <a:pt x="128702" y="106375"/>
                  <a:pt x="126213" y="109685"/>
                </a:cubicBezTo>
                <a:cubicBezTo>
                  <a:pt x="123724" y="112995"/>
                  <a:pt x="119005" y="113676"/>
                  <a:pt x="115695" y="111188"/>
                </a:cubicBezTo>
                <a:lnTo>
                  <a:pt x="100881" y="100083"/>
                </a:lnTo>
                <a:cubicBezTo>
                  <a:pt x="95434" y="110460"/>
                  <a:pt x="85269" y="117972"/>
                  <a:pt x="73249" y="119780"/>
                </a:cubicBezTo>
                <a:lnTo>
                  <a:pt x="73249" y="65736"/>
                </a:lnTo>
                <a:cubicBezTo>
                  <a:pt x="73249" y="62613"/>
                  <a:pt x="70737" y="60101"/>
                  <a:pt x="67614" y="60101"/>
                </a:cubicBezTo>
                <a:cubicBezTo>
                  <a:pt x="64492" y="60101"/>
                  <a:pt x="61980" y="62613"/>
                  <a:pt x="61980" y="65736"/>
                </a:cubicBezTo>
                <a:lnTo>
                  <a:pt x="61980" y="119780"/>
                </a:lnTo>
                <a:cubicBezTo>
                  <a:pt x="49959" y="117972"/>
                  <a:pt x="39794" y="110460"/>
                  <a:pt x="34347" y="100083"/>
                </a:cubicBezTo>
                <a:lnTo>
                  <a:pt x="19533" y="111188"/>
                </a:lnTo>
                <a:cubicBezTo>
                  <a:pt x="16223" y="113676"/>
                  <a:pt x="11504" y="112995"/>
                  <a:pt x="9015" y="109685"/>
                </a:cubicBezTo>
                <a:cubicBezTo>
                  <a:pt x="6527" y="106375"/>
                  <a:pt x="7207" y="101656"/>
                  <a:pt x="10518" y="99167"/>
                </a:cubicBezTo>
                <a:lnTo>
                  <a:pt x="30098" y="84494"/>
                </a:lnTo>
                <a:cubicBezTo>
                  <a:pt x="30074" y="83884"/>
                  <a:pt x="30051" y="83273"/>
                  <a:pt x="30051" y="82639"/>
                </a:cubicBezTo>
                <a:lnTo>
                  <a:pt x="30051" y="75127"/>
                </a:lnTo>
                <a:lnTo>
                  <a:pt x="7513" y="75127"/>
                </a:lnTo>
                <a:cubicBezTo>
                  <a:pt x="3357" y="75127"/>
                  <a:pt x="0" y="71770"/>
                  <a:pt x="0" y="67614"/>
                </a:cubicBezTo>
                <a:cubicBezTo>
                  <a:pt x="0" y="63459"/>
                  <a:pt x="3357" y="60101"/>
                  <a:pt x="7513" y="60101"/>
                </a:cubicBezTo>
                <a:lnTo>
                  <a:pt x="30708" y="60101"/>
                </a:lnTo>
                <a:cubicBezTo>
                  <a:pt x="31295" y="57660"/>
                  <a:pt x="32234" y="55359"/>
                  <a:pt x="33478" y="53270"/>
                </a:cubicBezTo>
                <a:lnTo>
                  <a:pt x="10518" y="36061"/>
                </a:lnTo>
                <a:cubicBezTo>
                  <a:pt x="7207" y="33572"/>
                  <a:pt x="6527" y="28853"/>
                  <a:pt x="9015" y="25543"/>
                </a:cubicBezTo>
                <a:cubicBezTo>
                  <a:pt x="11504" y="22233"/>
                  <a:pt x="16223" y="21552"/>
                  <a:pt x="19533" y="24041"/>
                </a:cubicBezTo>
                <a:lnTo>
                  <a:pt x="45076" y="43198"/>
                </a:lnTo>
                <a:cubicBezTo>
                  <a:pt x="47964" y="42001"/>
                  <a:pt x="51133" y="41320"/>
                  <a:pt x="54467" y="41320"/>
                </a:cubicBezTo>
                <a:lnTo>
                  <a:pt x="80761" y="41320"/>
                </a:lnTo>
                <a:cubicBezTo>
                  <a:pt x="84095" y="41320"/>
                  <a:pt x="87264" y="41977"/>
                  <a:pt x="90152" y="43198"/>
                </a:cubicBezTo>
                <a:lnTo>
                  <a:pt x="115695" y="24041"/>
                </a:lnTo>
                <a:cubicBezTo>
                  <a:pt x="119005" y="21552"/>
                  <a:pt x="123724" y="22233"/>
                  <a:pt x="126213" y="25543"/>
                </a:cubicBezTo>
                <a:close/>
              </a:path>
            </a:pathLst>
          </a:custGeom>
          <a:solidFill>
            <a:srgbClr val="8B5CF6"/>
          </a:solidFill>
          <a:ln/>
        </p:spPr>
      </p:sp>
      <p:sp>
        <p:nvSpPr>
          <p:cNvPr id="36" name="Text 34"/>
          <p:cNvSpPr/>
          <p:nvPr/>
        </p:nvSpPr>
        <p:spPr>
          <a:xfrm>
            <a:off x="6666285" y="3169490"/>
            <a:ext cx="4967738" cy="171718"/>
          </a:xfrm>
          <a:prstGeom prst="rect">
            <a:avLst/>
          </a:prstGeom>
          <a:noFill/>
          <a:ln/>
        </p:spPr>
        <p:txBody>
          <a:bodyPr wrap="square" lIns="0" tIns="0" rIns="0" bIns="0" rtlCol="0" anchor="ctr"/>
          <a:lstStyle/>
          <a:p>
            <a:pPr>
              <a:lnSpc>
                <a:spcPct val="120000"/>
              </a:lnSpc>
            </a:pPr>
            <a:r>
              <a:rPr lang="en-US" sz="946" b="1" dirty="0">
                <a:solidFill>
                  <a:srgbClr val="8B5CF6"/>
                </a:solidFill>
                <a:latin typeface="MiSans" pitchFamily="34" charset="0"/>
                <a:ea typeface="MiSans" pitchFamily="34" charset="-122"/>
                <a:cs typeface="MiSans" pitchFamily="34" charset="-120"/>
              </a:rPr>
              <a:t>Phân tích lỗi</a:t>
            </a:r>
            <a:endParaRPr lang="en-US" sz="1600" dirty="0"/>
          </a:p>
        </p:txBody>
      </p:sp>
      <p:sp>
        <p:nvSpPr>
          <p:cNvPr id="37" name="Shape 35"/>
          <p:cNvSpPr/>
          <p:nvPr/>
        </p:nvSpPr>
        <p:spPr>
          <a:xfrm>
            <a:off x="6465302" y="3409895"/>
            <a:ext cx="5108620" cy="995966"/>
          </a:xfrm>
          <a:custGeom>
            <a:avLst/>
            <a:gdLst/>
            <a:ahLst/>
            <a:cxnLst/>
            <a:rect l="l" t="t" r="r" b="b"/>
            <a:pathLst>
              <a:path w="5108620" h="995966">
                <a:moveTo>
                  <a:pt x="68692" y="0"/>
                </a:moveTo>
                <a:lnTo>
                  <a:pt x="5039928" y="0"/>
                </a:lnTo>
                <a:cubicBezTo>
                  <a:pt x="5077865" y="0"/>
                  <a:pt x="5108620" y="30754"/>
                  <a:pt x="5108620" y="68692"/>
                </a:cubicBezTo>
                <a:lnTo>
                  <a:pt x="5108620" y="927274"/>
                </a:lnTo>
                <a:cubicBezTo>
                  <a:pt x="5108620" y="965212"/>
                  <a:pt x="5077865" y="995966"/>
                  <a:pt x="5039928" y="995966"/>
                </a:cubicBezTo>
                <a:lnTo>
                  <a:pt x="68692" y="995966"/>
                </a:lnTo>
                <a:cubicBezTo>
                  <a:pt x="30754" y="995966"/>
                  <a:pt x="0" y="965212"/>
                  <a:pt x="0" y="927274"/>
                </a:cubicBezTo>
                <a:lnTo>
                  <a:pt x="0" y="68692"/>
                </a:lnTo>
                <a:cubicBezTo>
                  <a:pt x="0" y="30780"/>
                  <a:pt x="30780" y="0"/>
                  <a:pt x="68692" y="0"/>
                </a:cubicBezTo>
                <a:close/>
              </a:path>
            </a:pathLst>
          </a:custGeom>
          <a:solidFill>
            <a:srgbClr val="0F172A"/>
          </a:solidFill>
          <a:ln/>
        </p:spPr>
      </p:sp>
      <p:sp>
        <p:nvSpPr>
          <p:cNvPr id="38" name="Text 36"/>
          <p:cNvSpPr/>
          <p:nvPr/>
        </p:nvSpPr>
        <p:spPr>
          <a:xfrm>
            <a:off x="6533989" y="3478583"/>
            <a:ext cx="5022761" cy="137375"/>
          </a:xfrm>
          <a:prstGeom prst="rect">
            <a:avLst/>
          </a:prstGeom>
          <a:noFill/>
          <a:ln/>
        </p:spPr>
        <p:txBody>
          <a:bodyPr wrap="square" lIns="0" tIns="0" rIns="0" bIns="0" rtlCol="0" anchor="ctr"/>
          <a:lstStyle/>
          <a:p>
            <a:pPr>
              <a:lnSpc>
                <a:spcPct val="110000"/>
              </a:lnSpc>
            </a:pPr>
            <a:r>
              <a:rPr lang="en-US" sz="811" dirty="0">
                <a:solidFill>
                  <a:srgbClr val="EF4444"/>
                </a:solidFill>
                <a:latin typeface="MiSans" pitchFamily="34" charset="0"/>
                <a:ea typeface="MiSans" pitchFamily="34" charset="-122"/>
                <a:cs typeface="MiSans" pitchFamily="34" charset="-120"/>
              </a:rPr>
              <a:t># Bug:</a:t>
            </a:r>
            <a:endParaRPr lang="en-US" sz="1600" dirty="0"/>
          </a:p>
        </p:txBody>
      </p:sp>
      <p:sp>
        <p:nvSpPr>
          <p:cNvPr id="39" name="Text 37"/>
          <p:cNvSpPr/>
          <p:nvPr/>
        </p:nvSpPr>
        <p:spPr>
          <a:xfrm>
            <a:off x="6533989" y="3650196"/>
            <a:ext cx="5022761" cy="137375"/>
          </a:xfrm>
          <a:prstGeom prst="rect">
            <a:avLst/>
          </a:prstGeom>
          <a:noFill/>
          <a:ln/>
        </p:spPr>
        <p:txBody>
          <a:bodyPr wrap="square" lIns="0" tIns="0" rIns="0" bIns="0" rtlCol="0" anchor="ctr"/>
          <a:lstStyle/>
          <a:p>
            <a:pPr>
              <a:lnSpc>
                <a:spcPct val="110000"/>
              </a:lnSpc>
            </a:pPr>
            <a:r>
              <a:rPr lang="en-US" sz="811" dirty="0">
                <a:solidFill>
                  <a:srgbClr val="F8FAFC">
                    <a:alpha val="70000"/>
                  </a:srgbClr>
                </a:solidFill>
                <a:latin typeface="MiSans" pitchFamily="34" charset="0"/>
                <a:ea typeface="MiSans" pitchFamily="34" charset="-122"/>
                <a:cs typeface="MiSans" pitchFamily="34" charset="-120"/>
              </a:rPr>
              <a:t>if cls not in cls._instances</a:t>
            </a:r>
            <a:endParaRPr lang="en-US" sz="1600" dirty="0"/>
          </a:p>
        </p:txBody>
      </p:sp>
      <p:sp>
        <p:nvSpPr>
          <p:cNvPr id="40" name="Text 38"/>
          <p:cNvSpPr/>
          <p:nvPr/>
        </p:nvSpPr>
        <p:spPr>
          <a:xfrm>
            <a:off x="6533989" y="3821806"/>
            <a:ext cx="5022761" cy="137375"/>
          </a:xfrm>
          <a:prstGeom prst="rect">
            <a:avLst/>
          </a:prstGeom>
          <a:noFill/>
          <a:ln/>
        </p:spPr>
        <p:txBody>
          <a:bodyPr wrap="square" lIns="0" tIns="0" rIns="0" bIns="0" rtlCol="0" anchor="ctr"/>
          <a:lstStyle/>
          <a:p>
            <a:pPr>
              <a:lnSpc>
                <a:spcPct val="110000"/>
              </a:lnSpc>
            </a:pPr>
            <a:r>
              <a:rPr lang="en-US" sz="811" dirty="0">
                <a:solidFill>
                  <a:srgbClr val="F8FAFC">
                    <a:alpha val="50000"/>
                  </a:srgbClr>
                </a:solidFill>
                <a:latin typeface="MiSans" pitchFamily="34" charset="0"/>
                <a:ea typeface="MiSans" pitchFamily="34" charset="-122"/>
                <a:cs typeface="MiSans" pitchFamily="34" charset="-120"/>
              </a:rPr>
              <a:t># Nhưng khi lưu:</a:t>
            </a:r>
            <a:endParaRPr lang="en-US" sz="1600" dirty="0"/>
          </a:p>
        </p:txBody>
      </p:sp>
      <p:sp>
        <p:nvSpPr>
          <p:cNvPr id="41" name="Text 39"/>
          <p:cNvSpPr/>
          <p:nvPr/>
        </p:nvSpPr>
        <p:spPr>
          <a:xfrm>
            <a:off x="6533989" y="3993419"/>
            <a:ext cx="5022761" cy="137375"/>
          </a:xfrm>
          <a:prstGeom prst="rect">
            <a:avLst/>
          </a:prstGeom>
          <a:noFill/>
          <a:ln/>
        </p:spPr>
        <p:txBody>
          <a:bodyPr wrap="square" lIns="0" tIns="0" rIns="0" bIns="0" rtlCol="0" anchor="ctr"/>
          <a:lstStyle/>
          <a:p>
            <a:pPr>
              <a:lnSpc>
                <a:spcPct val="110000"/>
              </a:lnSpc>
            </a:pPr>
            <a:r>
              <a:rPr lang="en-US" sz="811" dirty="0">
                <a:solidFill>
                  <a:srgbClr val="F8FAFC">
                    <a:alpha val="70000"/>
                  </a:srgbClr>
                </a:solidFill>
                <a:latin typeface="MiSans" pitchFamily="34" charset="0"/>
                <a:ea typeface="MiSans" pitchFamily="34" charset="-122"/>
                <a:cs typeface="MiSans" pitchFamily="34" charset="-120"/>
              </a:rPr>
              <a:t>cls._instances[cls.__name__]</a:t>
            </a:r>
            <a:endParaRPr lang="en-US" sz="1600" dirty="0"/>
          </a:p>
        </p:txBody>
      </p:sp>
      <p:sp>
        <p:nvSpPr>
          <p:cNvPr id="42" name="Text 40"/>
          <p:cNvSpPr/>
          <p:nvPr/>
        </p:nvSpPr>
        <p:spPr>
          <a:xfrm>
            <a:off x="6533989" y="4199372"/>
            <a:ext cx="5022761" cy="137375"/>
          </a:xfrm>
          <a:prstGeom prst="rect">
            <a:avLst/>
          </a:prstGeom>
          <a:noFill/>
          <a:ln/>
        </p:spPr>
        <p:txBody>
          <a:bodyPr wrap="square" lIns="0" tIns="0" rIns="0" bIns="0" rtlCol="0" anchor="ctr"/>
          <a:lstStyle/>
          <a:p>
            <a:pPr>
              <a:lnSpc>
                <a:spcPct val="110000"/>
              </a:lnSpc>
            </a:pPr>
            <a:r>
              <a:rPr lang="en-US" sz="811" dirty="0">
                <a:solidFill>
                  <a:srgbClr val="10B981"/>
                </a:solidFill>
                <a:latin typeface="MiSans" pitchFamily="34" charset="0"/>
                <a:ea typeface="MiSans" pitchFamily="34" charset="-122"/>
                <a:cs typeface="MiSans" pitchFamily="34" charset="-120"/>
              </a:rPr>
              <a:t># Fix: Đổi thành cls</a:t>
            </a:r>
            <a:endParaRPr lang="en-US" sz="1600" dirty="0"/>
          </a:p>
        </p:txBody>
      </p:sp>
      <p:sp>
        <p:nvSpPr>
          <p:cNvPr id="43" name="Shape 41"/>
          <p:cNvSpPr/>
          <p:nvPr/>
        </p:nvSpPr>
        <p:spPr>
          <a:xfrm>
            <a:off x="6362271" y="4611387"/>
            <a:ext cx="5314682" cy="618186"/>
          </a:xfrm>
          <a:custGeom>
            <a:avLst/>
            <a:gdLst/>
            <a:ahLst/>
            <a:cxnLst/>
            <a:rect l="l" t="t" r="r" b="b"/>
            <a:pathLst>
              <a:path w="5314682" h="618186">
                <a:moveTo>
                  <a:pt x="68687" y="0"/>
                </a:moveTo>
                <a:lnTo>
                  <a:pt x="5245995" y="0"/>
                </a:lnTo>
                <a:cubicBezTo>
                  <a:pt x="5283930" y="0"/>
                  <a:pt x="5314682" y="30752"/>
                  <a:pt x="5314682" y="68687"/>
                </a:cubicBezTo>
                <a:lnTo>
                  <a:pt x="5314682" y="549499"/>
                </a:lnTo>
                <a:cubicBezTo>
                  <a:pt x="5314682" y="587434"/>
                  <a:pt x="5283930" y="618186"/>
                  <a:pt x="5245995" y="618186"/>
                </a:cubicBezTo>
                <a:lnTo>
                  <a:pt x="68687" y="618186"/>
                </a:lnTo>
                <a:cubicBezTo>
                  <a:pt x="30752" y="618186"/>
                  <a:pt x="0" y="587434"/>
                  <a:pt x="0" y="549499"/>
                </a:cubicBezTo>
                <a:lnTo>
                  <a:pt x="0" y="68687"/>
                </a:lnTo>
                <a:cubicBezTo>
                  <a:pt x="0" y="30752"/>
                  <a:pt x="30752" y="0"/>
                  <a:pt x="68687" y="0"/>
                </a:cubicBezTo>
                <a:close/>
              </a:path>
            </a:pathLst>
          </a:custGeom>
          <a:solidFill>
            <a:srgbClr val="0F172A">
              <a:alpha val="50196"/>
            </a:srgbClr>
          </a:solidFill>
          <a:ln/>
        </p:spPr>
      </p:sp>
      <p:sp>
        <p:nvSpPr>
          <p:cNvPr id="44" name="Shape 42"/>
          <p:cNvSpPr/>
          <p:nvPr/>
        </p:nvSpPr>
        <p:spPr>
          <a:xfrm>
            <a:off x="6482474" y="4748762"/>
            <a:ext cx="120203" cy="120203"/>
          </a:xfrm>
          <a:custGeom>
            <a:avLst/>
            <a:gdLst/>
            <a:ahLst/>
            <a:cxnLst/>
            <a:rect l="l" t="t" r="r" b="b"/>
            <a:pathLst>
              <a:path w="120203" h="120203">
                <a:moveTo>
                  <a:pt x="60101" y="120203"/>
                </a:moveTo>
                <a:cubicBezTo>
                  <a:pt x="93272" y="120203"/>
                  <a:pt x="120203" y="93272"/>
                  <a:pt x="120203" y="60101"/>
                </a:cubicBezTo>
                <a:cubicBezTo>
                  <a:pt x="120203" y="26931"/>
                  <a:pt x="93272" y="0"/>
                  <a:pt x="60101" y="0"/>
                </a:cubicBezTo>
                <a:cubicBezTo>
                  <a:pt x="26931" y="0"/>
                  <a:pt x="0" y="26931"/>
                  <a:pt x="0" y="60101"/>
                </a:cubicBezTo>
                <a:cubicBezTo>
                  <a:pt x="0" y="93272"/>
                  <a:pt x="26931" y="120203"/>
                  <a:pt x="60101" y="120203"/>
                </a:cubicBezTo>
                <a:close/>
                <a:moveTo>
                  <a:pt x="79916" y="49936"/>
                </a:moveTo>
                <a:lnTo>
                  <a:pt x="61134" y="79987"/>
                </a:lnTo>
                <a:cubicBezTo>
                  <a:pt x="60148" y="81559"/>
                  <a:pt x="58458" y="82546"/>
                  <a:pt x="56603" y="82639"/>
                </a:cubicBezTo>
                <a:cubicBezTo>
                  <a:pt x="54749" y="82733"/>
                  <a:pt x="52964" y="81888"/>
                  <a:pt x="51861" y="80386"/>
                </a:cubicBezTo>
                <a:lnTo>
                  <a:pt x="40592" y="65360"/>
                </a:lnTo>
                <a:cubicBezTo>
                  <a:pt x="38714" y="62872"/>
                  <a:pt x="39230" y="59350"/>
                  <a:pt x="41719" y="57472"/>
                </a:cubicBezTo>
                <a:cubicBezTo>
                  <a:pt x="44207" y="55594"/>
                  <a:pt x="47729" y="56110"/>
                  <a:pt x="49607" y="58599"/>
                </a:cubicBezTo>
                <a:lnTo>
                  <a:pt x="55946" y="67051"/>
                </a:lnTo>
                <a:lnTo>
                  <a:pt x="70361" y="43973"/>
                </a:lnTo>
                <a:cubicBezTo>
                  <a:pt x="72004" y="41343"/>
                  <a:pt x="75479" y="40521"/>
                  <a:pt x="78132" y="42188"/>
                </a:cubicBezTo>
                <a:cubicBezTo>
                  <a:pt x="80785" y="43855"/>
                  <a:pt x="81583" y="47306"/>
                  <a:pt x="79916" y="49959"/>
                </a:cubicBezTo>
                <a:close/>
              </a:path>
            </a:pathLst>
          </a:custGeom>
          <a:solidFill>
            <a:srgbClr val="10B981"/>
          </a:solidFill>
          <a:ln/>
        </p:spPr>
      </p:sp>
      <p:sp>
        <p:nvSpPr>
          <p:cNvPr id="45" name="Text 43"/>
          <p:cNvSpPr/>
          <p:nvPr/>
        </p:nvSpPr>
        <p:spPr>
          <a:xfrm>
            <a:off x="6666285" y="4714418"/>
            <a:ext cx="4967738" cy="171718"/>
          </a:xfrm>
          <a:prstGeom prst="rect">
            <a:avLst/>
          </a:prstGeom>
          <a:noFill/>
          <a:ln/>
        </p:spPr>
        <p:txBody>
          <a:bodyPr wrap="square" lIns="0" tIns="0" rIns="0" bIns="0" rtlCol="0" anchor="ctr"/>
          <a:lstStyle/>
          <a:p>
            <a:pPr>
              <a:lnSpc>
                <a:spcPct val="120000"/>
              </a:lnSpc>
            </a:pPr>
            <a:r>
              <a:rPr lang="en-US" sz="946" b="1" dirty="0">
                <a:solidFill>
                  <a:srgbClr val="10B981"/>
                </a:solidFill>
                <a:latin typeface="MiSans" pitchFamily="34" charset="0"/>
                <a:ea typeface="MiSans" pitchFamily="34" charset="-122"/>
                <a:cs typeface="MiSans" pitchFamily="34" charset="-120"/>
              </a:rPr>
              <a:t>Kết quả</a:t>
            </a:r>
            <a:endParaRPr lang="en-US" sz="1600" dirty="0"/>
          </a:p>
        </p:txBody>
      </p:sp>
      <p:sp>
        <p:nvSpPr>
          <p:cNvPr id="46" name="Text 44"/>
          <p:cNvSpPr/>
          <p:nvPr/>
        </p:nvSpPr>
        <p:spPr>
          <a:xfrm>
            <a:off x="6465302" y="4954824"/>
            <a:ext cx="5168721" cy="171718"/>
          </a:xfrm>
          <a:prstGeom prst="rect">
            <a:avLst/>
          </a:prstGeom>
          <a:noFill/>
          <a:ln/>
        </p:spPr>
        <p:txBody>
          <a:bodyPr wrap="square" lIns="0" tIns="0" rIns="0" bIns="0" rtlCol="0" anchor="ctr"/>
          <a:lstStyle/>
          <a:p>
            <a:pPr>
              <a:lnSpc>
                <a:spcPct val="120000"/>
              </a:lnSpc>
            </a:pPr>
            <a:r>
              <a:rPr lang="en-US" sz="946" dirty="0">
                <a:solidFill>
                  <a:srgbClr val="F8FAFC">
                    <a:alpha val="70000"/>
                  </a:srgbClr>
                </a:solidFill>
                <a:latin typeface="MiSans" pitchFamily="34" charset="0"/>
                <a:ea typeface="MiSans" pitchFamily="34" charset="-122"/>
                <a:cs typeface="MiSans" pitchFamily="34" charset="-120"/>
              </a:rPr>
              <a:t>Unit test pass: </a:t>
            </a:r>
            <a:pPr>
              <a:lnSpc>
                <a:spcPct val="120000"/>
              </a:lnSpc>
            </a:pPr>
            <a:r>
              <a:rPr lang="en-US" sz="946" dirty="0">
                <a:solidFill>
                  <a:srgbClr val="10B981"/>
                </a:solidFill>
                <a:highlight>
                  <a:srgbClr val="10B981">
                    <a:alpha val="20000"/>
                  </a:srgbClr>
                </a:highlight>
                <a:latin typeface="MiSans" pitchFamily="34" charset="0"/>
                <a:ea typeface="MiSans" pitchFamily="34" charset="-122"/>
                <a:cs typeface="MiSans" pitchFamily="34" charset="-120"/>
              </a:rPr>
              <a:t>assert obj1 is obj2</a:t>
            </a:r>
            <a:endParaRPr lang="en-US" sz="1600" dirty="0"/>
          </a:p>
        </p:txBody>
      </p:sp>
      <p:sp>
        <p:nvSpPr>
          <p:cNvPr id="47" name="Shape 45"/>
          <p:cNvSpPr/>
          <p:nvPr/>
        </p:nvSpPr>
        <p:spPr>
          <a:xfrm>
            <a:off x="346871" y="5548972"/>
            <a:ext cx="11503410" cy="1311928"/>
          </a:xfrm>
          <a:custGeom>
            <a:avLst/>
            <a:gdLst/>
            <a:ahLst/>
            <a:cxnLst/>
            <a:rect l="l" t="t" r="r" b="b"/>
            <a:pathLst>
              <a:path w="11503410" h="1311928">
                <a:moveTo>
                  <a:pt x="137372" y="0"/>
                </a:moveTo>
                <a:lnTo>
                  <a:pt x="11366038" y="0"/>
                </a:lnTo>
                <a:cubicBezTo>
                  <a:pt x="11441906" y="0"/>
                  <a:pt x="11503410" y="61504"/>
                  <a:pt x="11503410" y="137372"/>
                </a:cubicBezTo>
                <a:lnTo>
                  <a:pt x="11503410" y="1174556"/>
                </a:lnTo>
                <a:cubicBezTo>
                  <a:pt x="11503410" y="1250424"/>
                  <a:pt x="11441906" y="1311928"/>
                  <a:pt x="11366038" y="1311928"/>
                </a:cubicBezTo>
                <a:lnTo>
                  <a:pt x="137372" y="1311928"/>
                </a:lnTo>
                <a:cubicBezTo>
                  <a:pt x="61504" y="1311928"/>
                  <a:pt x="0" y="1250424"/>
                  <a:pt x="0" y="1174556"/>
                </a:cubicBezTo>
                <a:lnTo>
                  <a:pt x="0" y="137372"/>
                </a:lnTo>
                <a:cubicBezTo>
                  <a:pt x="0" y="61554"/>
                  <a:pt x="61554" y="0"/>
                  <a:pt x="137372" y="0"/>
                </a:cubicBezTo>
                <a:close/>
              </a:path>
            </a:pathLst>
          </a:custGeom>
          <a:gradFill rotWithShape="1" flip="none">
            <a:gsLst>
              <a:gs pos="0">
                <a:srgbClr val="1E293B"/>
              </a:gs>
              <a:gs pos="100000">
                <a:srgbClr val="1E293B">
                  <a:alpha val="50000"/>
                </a:srgbClr>
              </a:gs>
            </a:gsLst>
            <a:lin ang="0" scaled="1"/>
          </a:gradFill>
          <a:ln w="10160">
            <a:solidFill>
              <a:srgbClr val="10B981">
                <a:alpha val="30196"/>
              </a:srgbClr>
            </a:solidFill>
            <a:prstDash val="solid"/>
          </a:ln>
        </p:spPr>
      </p:sp>
      <p:sp>
        <p:nvSpPr>
          <p:cNvPr id="48" name="Shape 46"/>
          <p:cNvSpPr/>
          <p:nvPr/>
        </p:nvSpPr>
        <p:spPr>
          <a:xfrm>
            <a:off x="564953" y="5758466"/>
            <a:ext cx="128789" cy="171718"/>
          </a:xfrm>
          <a:custGeom>
            <a:avLst/>
            <a:gdLst/>
            <a:ahLst/>
            <a:cxnLst/>
            <a:rect l="l" t="t" r="r" b="b"/>
            <a:pathLst>
              <a:path w="128789" h="171718">
                <a:moveTo>
                  <a:pt x="98235" y="128789"/>
                </a:moveTo>
                <a:cubicBezTo>
                  <a:pt x="100683" y="121310"/>
                  <a:pt x="105580" y="114535"/>
                  <a:pt x="111114" y="108699"/>
                </a:cubicBezTo>
                <a:cubicBezTo>
                  <a:pt x="122081" y="97162"/>
                  <a:pt x="128789" y="81566"/>
                  <a:pt x="128789" y="64394"/>
                </a:cubicBezTo>
                <a:cubicBezTo>
                  <a:pt x="128789" y="28843"/>
                  <a:pt x="99945" y="0"/>
                  <a:pt x="64394" y="0"/>
                </a:cubicBezTo>
                <a:cubicBezTo>
                  <a:pt x="28843" y="0"/>
                  <a:pt x="0" y="28843"/>
                  <a:pt x="0" y="64394"/>
                </a:cubicBezTo>
                <a:cubicBezTo>
                  <a:pt x="0" y="81566"/>
                  <a:pt x="6708" y="97162"/>
                  <a:pt x="17675" y="108699"/>
                </a:cubicBezTo>
                <a:cubicBezTo>
                  <a:pt x="23209" y="114535"/>
                  <a:pt x="28139" y="121310"/>
                  <a:pt x="30554" y="128789"/>
                </a:cubicBezTo>
                <a:lnTo>
                  <a:pt x="98201" y="128789"/>
                </a:lnTo>
                <a:close/>
                <a:moveTo>
                  <a:pt x="96592" y="144887"/>
                </a:moveTo>
                <a:lnTo>
                  <a:pt x="32197" y="144887"/>
                </a:lnTo>
                <a:lnTo>
                  <a:pt x="32197" y="150254"/>
                </a:lnTo>
                <a:cubicBezTo>
                  <a:pt x="32197" y="165078"/>
                  <a:pt x="44204" y="177085"/>
                  <a:pt x="59028" y="177085"/>
                </a:cubicBezTo>
                <a:lnTo>
                  <a:pt x="69761" y="177085"/>
                </a:lnTo>
                <a:cubicBezTo>
                  <a:pt x="84585" y="177085"/>
                  <a:pt x="96592" y="165078"/>
                  <a:pt x="96592" y="150254"/>
                </a:cubicBezTo>
                <a:lnTo>
                  <a:pt x="96592" y="144887"/>
                </a:lnTo>
                <a:close/>
                <a:moveTo>
                  <a:pt x="61711" y="37563"/>
                </a:moveTo>
                <a:cubicBezTo>
                  <a:pt x="48363" y="37563"/>
                  <a:pt x="37563" y="48363"/>
                  <a:pt x="37563" y="61711"/>
                </a:cubicBezTo>
                <a:cubicBezTo>
                  <a:pt x="37563" y="66172"/>
                  <a:pt x="33975" y="69761"/>
                  <a:pt x="29514" y="69761"/>
                </a:cubicBezTo>
                <a:cubicBezTo>
                  <a:pt x="25053" y="69761"/>
                  <a:pt x="21465" y="66172"/>
                  <a:pt x="21465" y="61711"/>
                </a:cubicBezTo>
                <a:cubicBezTo>
                  <a:pt x="21465" y="39475"/>
                  <a:pt x="39475" y="21465"/>
                  <a:pt x="61711" y="21465"/>
                </a:cubicBezTo>
                <a:cubicBezTo>
                  <a:pt x="66172" y="21465"/>
                  <a:pt x="69761" y="25053"/>
                  <a:pt x="69761" y="29514"/>
                </a:cubicBezTo>
                <a:cubicBezTo>
                  <a:pt x="69761" y="33975"/>
                  <a:pt x="66172" y="37563"/>
                  <a:pt x="61711" y="37563"/>
                </a:cubicBezTo>
                <a:close/>
              </a:path>
            </a:pathLst>
          </a:custGeom>
          <a:solidFill>
            <a:srgbClr val="10B981"/>
          </a:solidFill>
          <a:ln/>
        </p:spPr>
      </p:sp>
      <p:sp>
        <p:nvSpPr>
          <p:cNvPr id="49" name="Text 47"/>
          <p:cNvSpPr/>
          <p:nvPr/>
        </p:nvSpPr>
        <p:spPr>
          <a:xfrm>
            <a:off x="736672" y="5724123"/>
            <a:ext cx="11024315" cy="240406"/>
          </a:xfrm>
          <a:prstGeom prst="rect">
            <a:avLst/>
          </a:prstGeom>
          <a:noFill/>
          <a:ln/>
        </p:spPr>
        <p:txBody>
          <a:bodyPr wrap="square" lIns="0" tIns="0" rIns="0" bIns="0" rtlCol="0" anchor="ctr"/>
          <a:lstStyle/>
          <a:p>
            <a:pPr>
              <a:lnSpc>
                <a:spcPct val="120000"/>
              </a:lnSpc>
            </a:pPr>
            <a:r>
              <a:rPr lang="en-US" sz="1352" b="1" dirty="0">
                <a:solidFill>
                  <a:srgbClr val="F8FAFC"/>
                </a:solidFill>
                <a:latin typeface="Liter" pitchFamily="34" charset="0"/>
                <a:ea typeface="Liter" pitchFamily="34" charset="-122"/>
                <a:cs typeface="Liter" pitchFamily="34" charset="-120"/>
              </a:rPr>
              <a:t>Phương pháp luận</a:t>
            </a:r>
            <a:endParaRPr lang="en-US" sz="1600" dirty="0"/>
          </a:p>
        </p:txBody>
      </p:sp>
      <p:sp>
        <p:nvSpPr>
          <p:cNvPr id="50" name="Shape 48"/>
          <p:cNvSpPr/>
          <p:nvPr/>
        </p:nvSpPr>
        <p:spPr>
          <a:xfrm>
            <a:off x="522024" y="6101903"/>
            <a:ext cx="343437" cy="343437"/>
          </a:xfrm>
          <a:custGeom>
            <a:avLst/>
            <a:gdLst/>
            <a:ahLst/>
            <a:cxnLst/>
            <a:rect l="l" t="t" r="r" b="b"/>
            <a:pathLst>
              <a:path w="343437" h="343437">
                <a:moveTo>
                  <a:pt x="68687" y="0"/>
                </a:moveTo>
                <a:lnTo>
                  <a:pt x="274749" y="0"/>
                </a:lnTo>
                <a:cubicBezTo>
                  <a:pt x="312684" y="0"/>
                  <a:pt x="343437" y="30752"/>
                  <a:pt x="343437" y="68687"/>
                </a:cubicBezTo>
                <a:lnTo>
                  <a:pt x="343437" y="274749"/>
                </a:lnTo>
                <a:cubicBezTo>
                  <a:pt x="343437" y="312684"/>
                  <a:pt x="312684" y="343437"/>
                  <a:pt x="274749" y="343437"/>
                </a:cubicBezTo>
                <a:lnTo>
                  <a:pt x="68687" y="343437"/>
                </a:lnTo>
                <a:cubicBezTo>
                  <a:pt x="30752" y="343437"/>
                  <a:pt x="0" y="312684"/>
                  <a:pt x="0" y="274749"/>
                </a:cubicBezTo>
                <a:lnTo>
                  <a:pt x="0" y="68687"/>
                </a:lnTo>
                <a:cubicBezTo>
                  <a:pt x="0" y="30752"/>
                  <a:pt x="30752" y="0"/>
                  <a:pt x="68687" y="0"/>
                </a:cubicBezTo>
                <a:close/>
              </a:path>
            </a:pathLst>
          </a:custGeom>
          <a:gradFill rotWithShape="1" flip="none">
            <a:gsLst>
              <a:gs pos="0">
                <a:srgbClr val="3B82F6"/>
              </a:gs>
              <a:gs pos="100000">
                <a:srgbClr val="3B82F6">
                  <a:alpha val="60000"/>
                </a:srgbClr>
              </a:gs>
            </a:gsLst>
            <a:lin ang="2700000" scaled="1"/>
          </a:gradFill>
          <a:ln/>
        </p:spPr>
      </p:sp>
      <p:sp>
        <p:nvSpPr>
          <p:cNvPr id="51" name="Text 49"/>
          <p:cNvSpPr/>
          <p:nvPr/>
        </p:nvSpPr>
        <p:spPr>
          <a:xfrm>
            <a:off x="487680" y="6101903"/>
            <a:ext cx="412124" cy="343437"/>
          </a:xfrm>
          <a:prstGeom prst="rect">
            <a:avLst/>
          </a:prstGeom>
          <a:noFill/>
          <a:ln/>
        </p:spPr>
        <p:txBody>
          <a:bodyPr wrap="square" lIns="0" tIns="0" rIns="0" bIns="0" rtlCol="0" anchor="ctr"/>
          <a:lstStyle/>
          <a:p>
            <a:pPr algn="ctr">
              <a:lnSpc>
                <a:spcPct val="130000"/>
              </a:lnSpc>
            </a:pPr>
            <a:r>
              <a:rPr lang="en-US" sz="1082" b="1" dirty="0">
                <a:solidFill>
                  <a:srgbClr val="FFFFFF"/>
                </a:solidFill>
                <a:latin typeface="MiSans" pitchFamily="34" charset="0"/>
                <a:ea typeface="MiSans" pitchFamily="34" charset="-122"/>
                <a:cs typeface="MiSans" pitchFamily="34" charset="-120"/>
              </a:rPr>
              <a:t>1</a:t>
            </a:r>
            <a:endParaRPr lang="en-US" sz="1600" dirty="0"/>
          </a:p>
        </p:txBody>
      </p:sp>
      <p:sp>
        <p:nvSpPr>
          <p:cNvPr id="52" name="Text 50"/>
          <p:cNvSpPr/>
          <p:nvPr/>
        </p:nvSpPr>
        <p:spPr>
          <a:xfrm>
            <a:off x="968491" y="6101903"/>
            <a:ext cx="2627290" cy="206062"/>
          </a:xfrm>
          <a:prstGeom prst="rect">
            <a:avLst/>
          </a:prstGeom>
          <a:noFill/>
          <a:ln/>
        </p:spPr>
        <p:txBody>
          <a:bodyPr wrap="square" lIns="0" tIns="0" rIns="0" bIns="0" rtlCol="0" anchor="ctr"/>
          <a:lstStyle/>
          <a:p>
            <a:pPr>
              <a:lnSpc>
                <a:spcPct val="130000"/>
              </a:lnSpc>
            </a:pPr>
            <a:r>
              <a:rPr lang="en-US" sz="1082" b="1" dirty="0">
                <a:solidFill>
                  <a:srgbClr val="F8FAFC"/>
                </a:solidFill>
                <a:latin typeface="MiSans" pitchFamily="34" charset="0"/>
                <a:ea typeface="MiSans" pitchFamily="34" charset="-122"/>
                <a:cs typeface="MiSans" pitchFamily="34" charset="-120"/>
              </a:rPr>
              <a:t>Tách biệt dữ liệu và chỉ dẫn</a:t>
            </a:r>
            <a:endParaRPr lang="en-US" sz="1600" dirty="0"/>
          </a:p>
        </p:txBody>
      </p:sp>
      <p:sp>
        <p:nvSpPr>
          <p:cNvPr id="53" name="Text 51"/>
          <p:cNvSpPr/>
          <p:nvPr/>
        </p:nvSpPr>
        <p:spPr>
          <a:xfrm>
            <a:off x="968491" y="6342308"/>
            <a:ext cx="2618704" cy="171718"/>
          </a:xfrm>
          <a:prstGeom prst="rect">
            <a:avLst/>
          </a:prstGeom>
          <a:noFill/>
          <a:ln/>
        </p:spPr>
        <p:txBody>
          <a:bodyPr wrap="square" lIns="0" tIns="0" rIns="0" bIns="0" rtlCol="0" anchor="ctr"/>
          <a:lstStyle/>
          <a:p>
            <a:pPr>
              <a:lnSpc>
                <a:spcPct val="120000"/>
              </a:lnSpc>
            </a:pPr>
            <a:r>
              <a:rPr lang="en-US" sz="946" dirty="0">
                <a:solidFill>
                  <a:srgbClr val="F8FAFC">
                    <a:alpha val="70000"/>
                  </a:srgbClr>
                </a:solidFill>
                <a:latin typeface="MiSans" pitchFamily="34" charset="0"/>
                <a:ea typeface="MiSans" pitchFamily="34" charset="-122"/>
                <a:cs typeface="MiSans" pitchFamily="34" charset="-120"/>
              </a:rPr>
              <a:t>Sử dụng cấu trúc System/User prompt rõ ràng</a:t>
            </a:r>
            <a:endParaRPr lang="en-US" sz="1600" dirty="0"/>
          </a:p>
        </p:txBody>
      </p:sp>
      <p:sp>
        <p:nvSpPr>
          <p:cNvPr id="54" name="Shape 52"/>
          <p:cNvSpPr/>
          <p:nvPr/>
        </p:nvSpPr>
        <p:spPr>
          <a:xfrm>
            <a:off x="4285016" y="6101903"/>
            <a:ext cx="343437" cy="343437"/>
          </a:xfrm>
          <a:custGeom>
            <a:avLst/>
            <a:gdLst/>
            <a:ahLst/>
            <a:cxnLst/>
            <a:rect l="l" t="t" r="r" b="b"/>
            <a:pathLst>
              <a:path w="343437" h="343437">
                <a:moveTo>
                  <a:pt x="68687" y="0"/>
                </a:moveTo>
                <a:lnTo>
                  <a:pt x="274749" y="0"/>
                </a:lnTo>
                <a:cubicBezTo>
                  <a:pt x="312684" y="0"/>
                  <a:pt x="343437" y="30752"/>
                  <a:pt x="343437" y="68687"/>
                </a:cubicBezTo>
                <a:lnTo>
                  <a:pt x="343437" y="274749"/>
                </a:lnTo>
                <a:cubicBezTo>
                  <a:pt x="343437" y="312684"/>
                  <a:pt x="312684" y="343437"/>
                  <a:pt x="274749" y="343437"/>
                </a:cubicBezTo>
                <a:lnTo>
                  <a:pt x="68687" y="343437"/>
                </a:lnTo>
                <a:cubicBezTo>
                  <a:pt x="30752" y="343437"/>
                  <a:pt x="0" y="312684"/>
                  <a:pt x="0" y="274749"/>
                </a:cubicBezTo>
                <a:lnTo>
                  <a:pt x="0" y="68687"/>
                </a:lnTo>
                <a:cubicBezTo>
                  <a:pt x="0" y="30752"/>
                  <a:pt x="30752" y="0"/>
                  <a:pt x="68687" y="0"/>
                </a:cubicBezTo>
                <a:close/>
              </a:path>
            </a:pathLst>
          </a:custGeom>
          <a:gradFill rotWithShape="1" flip="none">
            <a:gsLst>
              <a:gs pos="0">
                <a:srgbClr val="8B5CF6"/>
              </a:gs>
              <a:gs pos="100000">
                <a:srgbClr val="8B5CF6">
                  <a:alpha val="60000"/>
                </a:srgbClr>
              </a:gs>
            </a:gsLst>
            <a:lin ang="2700000" scaled="1"/>
          </a:gradFill>
          <a:ln/>
        </p:spPr>
      </p:sp>
      <p:sp>
        <p:nvSpPr>
          <p:cNvPr id="55" name="Text 53"/>
          <p:cNvSpPr/>
          <p:nvPr/>
        </p:nvSpPr>
        <p:spPr>
          <a:xfrm>
            <a:off x="4250672" y="6101903"/>
            <a:ext cx="412124" cy="343437"/>
          </a:xfrm>
          <a:prstGeom prst="rect">
            <a:avLst/>
          </a:prstGeom>
          <a:noFill/>
          <a:ln/>
        </p:spPr>
        <p:txBody>
          <a:bodyPr wrap="square" lIns="0" tIns="0" rIns="0" bIns="0" rtlCol="0" anchor="ctr"/>
          <a:lstStyle/>
          <a:p>
            <a:pPr algn="ctr">
              <a:lnSpc>
                <a:spcPct val="130000"/>
              </a:lnSpc>
            </a:pPr>
            <a:r>
              <a:rPr lang="en-US" sz="1082" b="1" dirty="0">
                <a:solidFill>
                  <a:srgbClr val="FFFFFF"/>
                </a:solidFill>
                <a:latin typeface="MiSans" pitchFamily="34" charset="0"/>
                <a:ea typeface="MiSans" pitchFamily="34" charset="-122"/>
                <a:cs typeface="MiSans" pitchFamily="34" charset="-120"/>
              </a:rPr>
              <a:t>2</a:t>
            </a:r>
            <a:endParaRPr lang="en-US" sz="1600" dirty="0"/>
          </a:p>
        </p:txBody>
      </p:sp>
      <p:sp>
        <p:nvSpPr>
          <p:cNvPr id="56" name="Text 54"/>
          <p:cNvSpPr/>
          <p:nvPr/>
        </p:nvSpPr>
        <p:spPr>
          <a:xfrm>
            <a:off x="4731483" y="6101903"/>
            <a:ext cx="3073758" cy="206062"/>
          </a:xfrm>
          <a:prstGeom prst="rect">
            <a:avLst/>
          </a:prstGeom>
          <a:noFill/>
          <a:ln/>
        </p:spPr>
        <p:txBody>
          <a:bodyPr wrap="square" lIns="0" tIns="0" rIns="0" bIns="0" rtlCol="0" anchor="ctr"/>
          <a:lstStyle/>
          <a:p>
            <a:pPr>
              <a:lnSpc>
                <a:spcPct val="130000"/>
              </a:lnSpc>
            </a:pPr>
            <a:r>
              <a:rPr lang="en-US" sz="1082" b="1" dirty="0">
                <a:solidFill>
                  <a:srgbClr val="F8FAFC"/>
                </a:solidFill>
                <a:latin typeface="MiSans" pitchFamily="34" charset="0"/>
                <a:ea typeface="MiSans" pitchFamily="34" charset="-122"/>
                <a:cs typeface="MiSans" pitchFamily="34" charset="-120"/>
              </a:rPr>
              <a:t>Tận dụng ngữ cảnh hiện có</a:t>
            </a:r>
            <a:endParaRPr lang="en-US" sz="1600" dirty="0"/>
          </a:p>
        </p:txBody>
      </p:sp>
      <p:sp>
        <p:nvSpPr>
          <p:cNvPr id="57" name="Text 55"/>
          <p:cNvSpPr/>
          <p:nvPr/>
        </p:nvSpPr>
        <p:spPr>
          <a:xfrm>
            <a:off x="4731483" y="6342308"/>
            <a:ext cx="3065172" cy="171718"/>
          </a:xfrm>
          <a:prstGeom prst="rect">
            <a:avLst/>
          </a:prstGeom>
          <a:noFill/>
          <a:ln/>
        </p:spPr>
        <p:txBody>
          <a:bodyPr wrap="square" lIns="0" tIns="0" rIns="0" bIns="0" rtlCol="0" anchor="ctr"/>
          <a:lstStyle/>
          <a:p>
            <a:pPr>
              <a:lnSpc>
                <a:spcPct val="120000"/>
              </a:lnSpc>
            </a:pPr>
            <a:r>
              <a:rPr lang="en-US" sz="946" dirty="0">
                <a:solidFill>
                  <a:srgbClr val="F8FAFC">
                    <a:alpha val="70000"/>
                  </a:srgbClr>
                </a:solidFill>
                <a:latin typeface="MiSans" pitchFamily="34" charset="0"/>
                <a:ea typeface="MiSans" pitchFamily="34" charset="-122"/>
                <a:cs typeface="MiSans" pitchFamily="34" charset="-120"/>
              </a:rPr>
              <a:t>Dùng inspect cho API và imports/hashtags cho Copilot</a:t>
            </a:r>
            <a:endParaRPr lang="en-US" sz="1600" dirty="0"/>
          </a:p>
        </p:txBody>
      </p:sp>
      <p:sp>
        <p:nvSpPr>
          <p:cNvPr id="58" name="Shape 56"/>
          <p:cNvSpPr/>
          <p:nvPr/>
        </p:nvSpPr>
        <p:spPr>
          <a:xfrm>
            <a:off x="8048008" y="6101903"/>
            <a:ext cx="343437" cy="343437"/>
          </a:xfrm>
          <a:custGeom>
            <a:avLst/>
            <a:gdLst/>
            <a:ahLst/>
            <a:cxnLst/>
            <a:rect l="l" t="t" r="r" b="b"/>
            <a:pathLst>
              <a:path w="343437" h="343437">
                <a:moveTo>
                  <a:pt x="68687" y="0"/>
                </a:moveTo>
                <a:lnTo>
                  <a:pt x="274749" y="0"/>
                </a:lnTo>
                <a:cubicBezTo>
                  <a:pt x="312684" y="0"/>
                  <a:pt x="343437" y="30752"/>
                  <a:pt x="343437" y="68687"/>
                </a:cubicBezTo>
                <a:lnTo>
                  <a:pt x="343437" y="274749"/>
                </a:lnTo>
                <a:cubicBezTo>
                  <a:pt x="343437" y="312684"/>
                  <a:pt x="312684" y="343437"/>
                  <a:pt x="274749" y="343437"/>
                </a:cubicBezTo>
                <a:lnTo>
                  <a:pt x="68687" y="343437"/>
                </a:lnTo>
                <a:cubicBezTo>
                  <a:pt x="30752" y="343437"/>
                  <a:pt x="0" y="312684"/>
                  <a:pt x="0" y="274749"/>
                </a:cubicBezTo>
                <a:lnTo>
                  <a:pt x="0" y="68687"/>
                </a:lnTo>
                <a:cubicBezTo>
                  <a:pt x="0" y="30752"/>
                  <a:pt x="30752" y="0"/>
                  <a:pt x="68687" y="0"/>
                </a:cubicBezTo>
                <a:close/>
              </a:path>
            </a:pathLst>
          </a:custGeom>
          <a:gradFill rotWithShape="1" flip="none">
            <a:gsLst>
              <a:gs pos="0">
                <a:srgbClr val="10B981"/>
              </a:gs>
              <a:gs pos="100000">
                <a:srgbClr val="10B981">
                  <a:alpha val="60000"/>
                </a:srgbClr>
              </a:gs>
            </a:gsLst>
            <a:lin ang="2700000" scaled="1"/>
          </a:gradFill>
          <a:ln/>
        </p:spPr>
      </p:sp>
      <p:sp>
        <p:nvSpPr>
          <p:cNvPr id="59" name="Text 57"/>
          <p:cNvSpPr/>
          <p:nvPr/>
        </p:nvSpPr>
        <p:spPr>
          <a:xfrm>
            <a:off x="8013665" y="6101903"/>
            <a:ext cx="412124" cy="343437"/>
          </a:xfrm>
          <a:prstGeom prst="rect">
            <a:avLst/>
          </a:prstGeom>
          <a:noFill/>
          <a:ln/>
        </p:spPr>
        <p:txBody>
          <a:bodyPr wrap="square" lIns="0" tIns="0" rIns="0" bIns="0" rtlCol="0" anchor="ctr"/>
          <a:lstStyle/>
          <a:p>
            <a:pPr algn="ctr">
              <a:lnSpc>
                <a:spcPct val="130000"/>
              </a:lnSpc>
            </a:pPr>
            <a:r>
              <a:rPr lang="en-US" sz="1082" b="1" dirty="0">
                <a:solidFill>
                  <a:srgbClr val="FFFFFF"/>
                </a:solidFill>
                <a:latin typeface="MiSans" pitchFamily="34" charset="0"/>
                <a:ea typeface="MiSans" pitchFamily="34" charset="-122"/>
                <a:cs typeface="MiSans" pitchFamily="34" charset="-120"/>
              </a:rPr>
              <a:t>3</a:t>
            </a:r>
            <a:endParaRPr lang="en-US" sz="1600" dirty="0"/>
          </a:p>
        </p:txBody>
      </p:sp>
      <p:sp>
        <p:nvSpPr>
          <p:cNvPr id="60" name="Text 58"/>
          <p:cNvSpPr/>
          <p:nvPr/>
        </p:nvSpPr>
        <p:spPr>
          <a:xfrm>
            <a:off x="8494476" y="6101903"/>
            <a:ext cx="3245476" cy="206062"/>
          </a:xfrm>
          <a:prstGeom prst="rect">
            <a:avLst/>
          </a:prstGeom>
          <a:noFill/>
          <a:ln/>
        </p:spPr>
        <p:txBody>
          <a:bodyPr wrap="square" lIns="0" tIns="0" rIns="0" bIns="0" rtlCol="0" anchor="ctr"/>
          <a:lstStyle/>
          <a:p>
            <a:pPr>
              <a:lnSpc>
                <a:spcPct val="130000"/>
              </a:lnSpc>
            </a:pPr>
            <a:r>
              <a:rPr lang="en-US" sz="1082" b="1" dirty="0">
                <a:solidFill>
                  <a:srgbClr val="F8FAFC"/>
                </a:solidFill>
                <a:latin typeface="MiSans" pitchFamily="34" charset="0"/>
                <a:ea typeface="MiSans" pitchFamily="34" charset="-122"/>
                <a:cs typeface="MiSans" pitchFamily="34" charset="-120"/>
              </a:rPr>
              <a:t>Tối ưu cộng tác</a:t>
            </a:r>
            <a:endParaRPr lang="en-US" sz="1600" dirty="0"/>
          </a:p>
        </p:txBody>
      </p:sp>
      <p:sp>
        <p:nvSpPr>
          <p:cNvPr id="61" name="Text 59"/>
          <p:cNvSpPr/>
          <p:nvPr/>
        </p:nvSpPr>
        <p:spPr>
          <a:xfrm>
            <a:off x="8494476" y="6342308"/>
            <a:ext cx="3236890" cy="343437"/>
          </a:xfrm>
          <a:prstGeom prst="rect">
            <a:avLst/>
          </a:prstGeom>
          <a:noFill/>
          <a:ln/>
        </p:spPr>
        <p:txBody>
          <a:bodyPr wrap="square" lIns="0" tIns="0" rIns="0" bIns="0" rtlCol="0" anchor="ctr"/>
          <a:lstStyle/>
          <a:p>
            <a:pPr>
              <a:lnSpc>
                <a:spcPct val="120000"/>
              </a:lnSpc>
            </a:pPr>
            <a:r>
              <a:rPr lang="en-US" sz="946" dirty="0">
                <a:solidFill>
                  <a:srgbClr val="F8FAFC">
                    <a:alpha val="70000"/>
                  </a:srgbClr>
                </a:solidFill>
                <a:latin typeface="MiSans" pitchFamily="34" charset="0"/>
                <a:ea typeface="MiSans" pitchFamily="34" charset="-122"/>
                <a:cs typeface="MiSans" pitchFamily="34" charset="-120"/>
              </a:rPr>
              <a:t>Bắt đầu bằng mã nguồn dẫn dắt thay vì ngôn ngữ tự nhiên</a:t>
            </a:r>
            <a:endParaRPr lang="en-US" sz="1600" dirty="0"/>
          </a:p>
        </p:txBody>
      </p:sp>
    </p:spTree>
  </p:cSld>
  <p:clrMapOvr>
    <a:masterClrMapping/>
  </p:clrMapOvr>
  <p:transition>
    <p:fade/>
    <p:spd val="med"/>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55637" y="355637"/>
            <a:ext cx="1028177" cy="288735"/>
          </a:xfrm>
          <a:custGeom>
            <a:avLst/>
            <a:gdLst/>
            <a:ahLst/>
            <a:cxnLst/>
            <a:rect l="l" t="t" r="r" b="b"/>
            <a:pathLst>
              <a:path w="1028177" h="288735">
                <a:moveTo>
                  <a:pt x="144367" y="0"/>
                </a:moveTo>
                <a:lnTo>
                  <a:pt x="883810" y="0"/>
                </a:lnTo>
                <a:cubicBezTo>
                  <a:pt x="963542" y="0"/>
                  <a:pt x="1028177" y="64635"/>
                  <a:pt x="1028177" y="144367"/>
                </a:cubicBezTo>
                <a:lnTo>
                  <a:pt x="1028177" y="144367"/>
                </a:lnTo>
                <a:cubicBezTo>
                  <a:pt x="1028177" y="224099"/>
                  <a:pt x="963542" y="288735"/>
                  <a:pt x="883810" y="288735"/>
                </a:cubicBezTo>
                <a:lnTo>
                  <a:pt x="144367" y="288735"/>
                </a:lnTo>
                <a:cubicBezTo>
                  <a:pt x="64689" y="288735"/>
                  <a:pt x="0" y="224046"/>
                  <a:pt x="0" y="144367"/>
                </a:cubicBezTo>
                <a:lnTo>
                  <a:pt x="0" y="144367"/>
                </a:lnTo>
                <a:cubicBezTo>
                  <a:pt x="0" y="64689"/>
                  <a:pt x="64689" y="0"/>
                  <a:pt x="144367" y="0"/>
                </a:cubicBezTo>
                <a:close/>
              </a:path>
            </a:pathLst>
          </a:custGeom>
          <a:solidFill>
            <a:srgbClr val="10B981">
              <a:alpha val="20000"/>
            </a:srgbClr>
          </a:solidFill>
          <a:ln w="10160">
            <a:solidFill>
              <a:srgbClr val="10B981">
                <a:alpha val="40000"/>
              </a:srgbClr>
            </a:solidFill>
            <a:prstDash val="solid"/>
          </a:ln>
        </p:spPr>
      </p:sp>
      <p:sp>
        <p:nvSpPr>
          <p:cNvPr id="3" name="Text 1"/>
          <p:cNvSpPr/>
          <p:nvPr/>
        </p:nvSpPr>
        <p:spPr>
          <a:xfrm>
            <a:off x="500004" y="401413"/>
            <a:ext cx="810086" cy="190142"/>
          </a:xfrm>
          <a:prstGeom prst="rect">
            <a:avLst/>
          </a:prstGeom>
          <a:noFill/>
          <a:ln/>
        </p:spPr>
        <p:txBody>
          <a:bodyPr wrap="square" lIns="0" tIns="0" rIns="0" bIns="0" rtlCol="0" anchor="ctr"/>
          <a:lstStyle/>
          <a:p>
            <a:pPr>
              <a:lnSpc>
                <a:spcPct val="130000"/>
              </a:lnSpc>
            </a:pPr>
            <a:r>
              <a:rPr lang="en-US" sz="1109" b="1" spc="55" kern="0" dirty="0">
                <a:solidFill>
                  <a:srgbClr val="10B981"/>
                </a:solidFill>
                <a:latin typeface="MiSans" pitchFamily="34" charset="0"/>
                <a:ea typeface="MiSans" pitchFamily="34" charset="-122"/>
                <a:cs typeface="MiSans" pitchFamily="34" charset="-120"/>
              </a:rPr>
              <a:t>KẾT LUẬN</a:t>
            </a:r>
            <a:endParaRPr lang="en-US" sz="1600" dirty="0"/>
          </a:p>
        </p:txBody>
      </p:sp>
      <p:sp>
        <p:nvSpPr>
          <p:cNvPr id="4" name="Text 2"/>
          <p:cNvSpPr/>
          <p:nvPr/>
        </p:nvSpPr>
        <p:spPr>
          <a:xfrm>
            <a:off x="352116" y="753528"/>
            <a:ext cx="11646221" cy="352116"/>
          </a:xfrm>
          <a:prstGeom prst="rect">
            <a:avLst/>
          </a:prstGeom>
          <a:noFill/>
          <a:ln/>
        </p:spPr>
        <p:txBody>
          <a:bodyPr wrap="square" lIns="0" tIns="0" rIns="0" bIns="0" rtlCol="0" anchor="ctr"/>
          <a:lstStyle/>
          <a:p>
            <a:pPr>
              <a:lnSpc>
                <a:spcPct val="90000"/>
              </a:lnSpc>
            </a:pPr>
            <a:r>
              <a:rPr lang="en-US" sz="2495" b="1" dirty="0">
                <a:solidFill>
                  <a:srgbClr val="F8FAFC"/>
                </a:solidFill>
                <a:latin typeface="Liter" pitchFamily="34" charset="0"/>
                <a:ea typeface="Liter" pitchFamily="34" charset="-122"/>
                <a:cs typeface="Liter" pitchFamily="34" charset="-120"/>
              </a:rPr>
              <a:t>Bài học và Phương pháp luận</a:t>
            </a:r>
            <a:endParaRPr lang="en-US" sz="1600" dirty="0"/>
          </a:p>
        </p:txBody>
      </p:sp>
      <p:sp>
        <p:nvSpPr>
          <p:cNvPr id="5" name="Text 3"/>
          <p:cNvSpPr/>
          <p:nvPr/>
        </p:nvSpPr>
        <p:spPr>
          <a:xfrm>
            <a:off x="352116" y="1176067"/>
            <a:ext cx="11575798" cy="246481"/>
          </a:xfrm>
          <a:prstGeom prst="rect">
            <a:avLst/>
          </a:prstGeom>
          <a:noFill/>
          <a:ln/>
        </p:spPr>
        <p:txBody>
          <a:bodyPr wrap="square" lIns="0" tIns="0" rIns="0" bIns="0" rtlCol="0" anchor="ctr"/>
          <a:lstStyle/>
          <a:p>
            <a:pPr>
              <a:lnSpc>
                <a:spcPct val="120000"/>
              </a:lnSpc>
            </a:pPr>
            <a:r>
              <a:rPr lang="en-US" sz="1386" dirty="0">
                <a:solidFill>
                  <a:srgbClr val="F8FAFC">
                    <a:alpha val="70000"/>
                  </a:srgbClr>
                </a:solidFill>
                <a:latin typeface="MiSans" pitchFamily="34" charset="0"/>
                <a:ea typeface="MiSans" pitchFamily="34" charset="-122"/>
                <a:cs typeface="MiSans" pitchFamily="34" charset="-120"/>
              </a:rPr>
              <a:t>Tư duy lập trình với GenAI</a:t>
            </a:r>
            <a:endParaRPr lang="en-US" sz="1600" dirty="0"/>
          </a:p>
        </p:txBody>
      </p:sp>
      <p:sp>
        <p:nvSpPr>
          <p:cNvPr id="6" name="Shape 4"/>
          <p:cNvSpPr/>
          <p:nvPr/>
        </p:nvSpPr>
        <p:spPr>
          <a:xfrm>
            <a:off x="355637" y="1637342"/>
            <a:ext cx="2181356" cy="2190159"/>
          </a:xfrm>
          <a:custGeom>
            <a:avLst/>
            <a:gdLst/>
            <a:ahLst/>
            <a:cxnLst/>
            <a:rect l="l" t="t" r="r" b="b"/>
            <a:pathLst>
              <a:path w="2181356" h="2190159">
                <a:moveTo>
                  <a:pt x="140850" y="0"/>
                </a:moveTo>
                <a:lnTo>
                  <a:pt x="2040506" y="0"/>
                </a:lnTo>
                <a:cubicBezTo>
                  <a:pt x="2118295" y="0"/>
                  <a:pt x="2181356" y="63061"/>
                  <a:pt x="2181356" y="140850"/>
                </a:cubicBezTo>
                <a:lnTo>
                  <a:pt x="2181356" y="2049308"/>
                </a:lnTo>
                <a:cubicBezTo>
                  <a:pt x="2181356" y="2127098"/>
                  <a:pt x="2118295" y="2190159"/>
                  <a:pt x="2040506" y="2190159"/>
                </a:cubicBezTo>
                <a:lnTo>
                  <a:pt x="140850" y="2190159"/>
                </a:lnTo>
                <a:cubicBezTo>
                  <a:pt x="63061" y="2190159"/>
                  <a:pt x="0" y="2127098"/>
                  <a:pt x="0" y="2049308"/>
                </a:cubicBezTo>
                <a:lnTo>
                  <a:pt x="0" y="140850"/>
                </a:lnTo>
                <a:cubicBezTo>
                  <a:pt x="0" y="63061"/>
                  <a:pt x="63061" y="0"/>
                  <a:pt x="140850" y="0"/>
                </a:cubicBezTo>
                <a:close/>
              </a:path>
            </a:pathLst>
          </a:custGeom>
          <a:gradFill rotWithShape="1" flip="none">
            <a:gsLst>
              <a:gs pos="0">
                <a:srgbClr val="1E293B"/>
              </a:gs>
              <a:gs pos="100000">
                <a:srgbClr val="1E293B">
                  <a:alpha val="50000"/>
                </a:srgbClr>
              </a:gs>
            </a:gsLst>
            <a:lin ang="2700000" scaled="1"/>
          </a:gradFill>
          <a:ln w="10160">
            <a:solidFill>
              <a:srgbClr val="3B82F6">
                <a:alpha val="30196"/>
              </a:srgbClr>
            </a:solidFill>
            <a:prstDash val="solid"/>
          </a:ln>
        </p:spPr>
      </p:sp>
      <p:sp>
        <p:nvSpPr>
          <p:cNvPr id="7" name="Shape 5"/>
          <p:cNvSpPr/>
          <p:nvPr/>
        </p:nvSpPr>
        <p:spPr>
          <a:xfrm>
            <a:off x="535216" y="1816920"/>
            <a:ext cx="422539" cy="422539"/>
          </a:xfrm>
          <a:custGeom>
            <a:avLst/>
            <a:gdLst/>
            <a:ahLst/>
            <a:cxnLst/>
            <a:rect l="l" t="t" r="r" b="b"/>
            <a:pathLst>
              <a:path w="422539" h="422539">
                <a:moveTo>
                  <a:pt x="105635" y="0"/>
                </a:moveTo>
                <a:lnTo>
                  <a:pt x="316904" y="0"/>
                </a:lnTo>
                <a:cubicBezTo>
                  <a:pt x="375244" y="0"/>
                  <a:pt x="422539" y="47294"/>
                  <a:pt x="422539" y="105635"/>
                </a:cubicBezTo>
                <a:lnTo>
                  <a:pt x="422539" y="316904"/>
                </a:lnTo>
                <a:cubicBezTo>
                  <a:pt x="422539" y="375244"/>
                  <a:pt x="375244" y="422539"/>
                  <a:pt x="316904" y="422539"/>
                </a:cubicBezTo>
                <a:lnTo>
                  <a:pt x="105635" y="422539"/>
                </a:lnTo>
                <a:cubicBezTo>
                  <a:pt x="47294" y="422539"/>
                  <a:pt x="0" y="375244"/>
                  <a:pt x="0" y="316904"/>
                </a:cubicBezTo>
                <a:lnTo>
                  <a:pt x="0" y="105635"/>
                </a:lnTo>
                <a:cubicBezTo>
                  <a:pt x="0" y="47333"/>
                  <a:pt x="47333" y="0"/>
                  <a:pt x="105635" y="0"/>
                </a:cubicBezTo>
                <a:close/>
              </a:path>
            </a:pathLst>
          </a:custGeom>
          <a:gradFill rotWithShape="1" flip="none">
            <a:gsLst>
              <a:gs pos="0">
                <a:srgbClr val="3B82F6"/>
              </a:gs>
              <a:gs pos="100000">
                <a:srgbClr val="3B82F6">
                  <a:alpha val="60000"/>
                </a:srgbClr>
              </a:gs>
            </a:gsLst>
            <a:lin ang="2700000" scaled="1"/>
          </a:gradFill>
          <a:ln/>
        </p:spPr>
      </p:sp>
      <p:sp>
        <p:nvSpPr>
          <p:cNvPr id="8" name="Text 6"/>
          <p:cNvSpPr/>
          <p:nvPr/>
        </p:nvSpPr>
        <p:spPr>
          <a:xfrm>
            <a:off x="491201" y="1816920"/>
            <a:ext cx="510568" cy="422539"/>
          </a:xfrm>
          <a:prstGeom prst="rect">
            <a:avLst/>
          </a:prstGeom>
          <a:noFill/>
          <a:ln/>
        </p:spPr>
        <p:txBody>
          <a:bodyPr wrap="square" lIns="0" tIns="0" rIns="0" bIns="0" rtlCol="0" anchor="ctr"/>
          <a:lstStyle/>
          <a:p>
            <a:pPr algn="ctr">
              <a:lnSpc>
                <a:spcPct val="120000"/>
              </a:lnSpc>
            </a:pPr>
            <a:r>
              <a:rPr lang="en-US" sz="1386" b="1" dirty="0">
                <a:solidFill>
                  <a:srgbClr val="FFFFFF"/>
                </a:solidFill>
                <a:latin typeface="MiSans" pitchFamily="34" charset="0"/>
                <a:ea typeface="MiSans" pitchFamily="34" charset="-122"/>
                <a:cs typeface="MiSans" pitchFamily="34" charset="-120"/>
              </a:rPr>
              <a:t>1</a:t>
            </a:r>
            <a:endParaRPr lang="en-US" sz="1600" dirty="0"/>
          </a:p>
        </p:txBody>
      </p:sp>
      <p:sp>
        <p:nvSpPr>
          <p:cNvPr id="9" name="Text 7"/>
          <p:cNvSpPr/>
          <p:nvPr/>
        </p:nvSpPr>
        <p:spPr>
          <a:xfrm>
            <a:off x="535216" y="2380304"/>
            <a:ext cx="1901424" cy="246481"/>
          </a:xfrm>
          <a:prstGeom prst="rect">
            <a:avLst/>
          </a:prstGeom>
          <a:noFill/>
          <a:ln/>
        </p:spPr>
        <p:txBody>
          <a:bodyPr wrap="square" lIns="0" tIns="0" rIns="0" bIns="0" rtlCol="0" anchor="ctr"/>
          <a:lstStyle/>
          <a:p>
            <a:pPr>
              <a:lnSpc>
                <a:spcPct val="130000"/>
              </a:lnSpc>
            </a:pPr>
            <a:r>
              <a:rPr lang="en-US" sz="1248" b="1" dirty="0">
                <a:solidFill>
                  <a:srgbClr val="3B82F6"/>
                </a:solidFill>
                <a:latin typeface="Liter" pitchFamily="34" charset="0"/>
                <a:ea typeface="Liter" pitchFamily="34" charset="-122"/>
                <a:cs typeface="Liter" pitchFamily="34" charset="-120"/>
              </a:rPr>
              <a:t>GenAI trong SDLC</a:t>
            </a:r>
            <a:endParaRPr lang="en-US" sz="1600" dirty="0"/>
          </a:p>
        </p:txBody>
      </p:sp>
      <p:sp>
        <p:nvSpPr>
          <p:cNvPr id="10" name="Text 8"/>
          <p:cNvSpPr/>
          <p:nvPr/>
        </p:nvSpPr>
        <p:spPr>
          <a:xfrm>
            <a:off x="535216" y="2732420"/>
            <a:ext cx="1892621" cy="915500"/>
          </a:xfrm>
          <a:prstGeom prst="rect">
            <a:avLst/>
          </a:prstGeom>
          <a:noFill/>
          <a:ln/>
        </p:spPr>
        <p:txBody>
          <a:bodyPr wrap="square" lIns="0" tIns="0" rIns="0" bIns="0" rtlCol="0" anchor="ctr"/>
          <a:lstStyle/>
          <a:p>
            <a:pPr>
              <a:lnSpc>
                <a:spcPct val="140000"/>
              </a:lnSpc>
            </a:pPr>
            <a:r>
              <a:rPr lang="en-US" sz="1109" dirty="0">
                <a:solidFill>
                  <a:srgbClr val="F8FAFC">
                    <a:alpha val="70000"/>
                  </a:srgbClr>
                </a:solidFill>
                <a:latin typeface="MiSans" pitchFamily="34" charset="0"/>
                <a:ea typeface="MiSans" pitchFamily="34" charset="-122"/>
                <a:cs typeface="MiSans" pitchFamily="34" charset="-120"/>
              </a:rPr>
              <a:t>GenAI là công cụ hỗ trợ </a:t>
            </a:r>
            <a:pPr>
              <a:lnSpc>
                <a:spcPct val="140000"/>
              </a:lnSpc>
            </a:pPr>
            <a:r>
              <a:rPr lang="en-US" sz="1109" dirty="0">
                <a:solidFill>
                  <a:srgbClr val="3B82F6"/>
                </a:solidFill>
                <a:highlight>
                  <a:srgbClr val="3B82F6">
                    <a:alpha val="20000"/>
                  </a:srgbClr>
                </a:highlight>
                <a:latin typeface="MiSans" pitchFamily="34" charset="0"/>
                <a:ea typeface="MiSans" pitchFamily="34" charset="-122"/>
                <a:cs typeface="MiSans" pitchFamily="34" charset="-120"/>
              </a:rPr>
              <a:t>xuyên suốt chu kỳ phát triển phần mềm </a:t>
            </a:r>
            <a:pPr>
              <a:lnSpc>
                <a:spcPct val="140000"/>
              </a:lnSpc>
            </a:pPr>
            <a:r>
              <a:rPr lang="en-US" sz="1109" dirty="0">
                <a:solidFill>
                  <a:srgbClr val="F8FAFC">
                    <a:alpha val="70000"/>
                  </a:srgbClr>
                </a:solidFill>
                <a:latin typeface="MiSans" pitchFamily="34" charset="0"/>
                <a:ea typeface="MiSans" pitchFamily="34" charset="-122"/>
                <a:cs typeface="MiSans" pitchFamily="34" charset="-120"/>
              </a:rPr>
              <a:t>, từ phân tích yêu cầu đến tài liệu hóa</a:t>
            </a:r>
            <a:endParaRPr lang="en-US" sz="1600" dirty="0"/>
          </a:p>
        </p:txBody>
      </p:sp>
      <p:sp>
        <p:nvSpPr>
          <p:cNvPr id="11" name="Shape 9"/>
          <p:cNvSpPr/>
          <p:nvPr/>
        </p:nvSpPr>
        <p:spPr>
          <a:xfrm>
            <a:off x="2681140" y="1637342"/>
            <a:ext cx="2181356" cy="2190159"/>
          </a:xfrm>
          <a:custGeom>
            <a:avLst/>
            <a:gdLst/>
            <a:ahLst/>
            <a:cxnLst/>
            <a:rect l="l" t="t" r="r" b="b"/>
            <a:pathLst>
              <a:path w="2181356" h="2190159">
                <a:moveTo>
                  <a:pt x="140850" y="0"/>
                </a:moveTo>
                <a:lnTo>
                  <a:pt x="2040506" y="0"/>
                </a:lnTo>
                <a:cubicBezTo>
                  <a:pt x="2118295" y="0"/>
                  <a:pt x="2181356" y="63061"/>
                  <a:pt x="2181356" y="140850"/>
                </a:cubicBezTo>
                <a:lnTo>
                  <a:pt x="2181356" y="2049308"/>
                </a:lnTo>
                <a:cubicBezTo>
                  <a:pt x="2181356" y="2127098"/>
                  <a:pt x="2118295" y="2190159"/>
                  <a:pt x="2040506" y="2190159"/>
                </a:cubicBezTo>
                <a:lnTo>
                  <a:pt x="140850" y="2190159"/>
                </a:lnTo>
                <a:cubicBezTo>
                  <a:pt x="63061" y="2190159"/>
                  <a:pt x="0" y="2127098"/>
                  <a:pt x="0" y="2049308"/>
                </a:cubicBezTo>
                <a:lnTo>
                  <a:pt x="0" y="140850"/>
                </a:lnTo>
                <a:cubicBezTo>
                  <a:pt x="0" y="63061"/>
                  <a:pt x="63061" y="0"/>
                  <a:pt x="140850" y="0"/>
                </a:cubicBezTo>
                <a:close/>
              </a:path>
            </a:pathLst>
          </a:custGeom>
          <a:gradFill rotWithShape="1" flip="none">
            <a:gsLst>
              <a:gs pos="0">
                <a:srgbClr val="1E293B"/>
              </a:gs>
              <a:gs pos="100000">
                <a:srgbClr val="1E293B">
                  <a:alpha val="50000"/>
                </a:srgbClr>
              </a:gs>
            </a:gsLst>
            <a:lin ang="2700000" scaled="1"/>
          </a:gradFill>
          <a:ln w="10160">
            <a:solidFill>
              <a:srgbClr val="8B5CF6">
                <a:alpha val="30196"/>
              </a:srgbClr>
            </a:solidFill>
            <a:prstDash val="solid"/>
          </a:ln>
        </p:spPr>
      </p:sp>
      <p:sp>
        <p:nvSpPr>
          <p:cNvPr id="12" name="Shape 10"/>
          <p:cNvSpPr/>
          <p:nvPr/>
        </p:nvSpPr>
        <p:spPr>
          <a:xfrm>
            <a:off x="2860719" y="1816920"/>
            <a:ext cx="422539" cy="422539"/>
          </a:xfrm>
          <a:custGeom>
            <a:avLst/>
            <a:gdLst/>
            <a:ahLst/>
            <a:cxnLst/>
            <a:rect l="l" t="t" r="r" b="b"/>
            <a:pathLst>
              <a:path w="422539" h="422539">
                <a:moveTo>
                  <a:pt x="105635" y="0"/>
                </a:moveTo>
                <a:lnTo>
                  <a:pt x="316904" y="0"/>
                </a:lnTo>
                <a:cubicBezTo>
                  <a:pt x="375244" y="0"/>
                  <a:pt x="422539" y="47294"/>
                  <a:pt x="422539" y="105635"/>
                </a:cubicBezTo>
                <a:lnTo>
                  <a:pt x="422539" y="316904"/>
                </a:lnTo>
                <a:cubicBezTo>
                  <a:pt x="422539" y="375244"/>
                  <a:pt x="375244" y="422539"/>
                  <a:pt x="316904" y="422539"/>
                </a:cubicBezTo>
                <a:lnTo>
                  <a:pt x="105635" y="422539"/>
                </a:lnTo>
                <a:cubicBezTo>
                  <a:pt x="47294" y="422539"/>
                  <a:pt x="0" y="375244"/>
                  <a:pt x="0" y="316904"/>
                </a:cubicBezTo>
                <a:lnTo>
                  <a:pt x="0" y="105635"/>
                </a:lnTo>
                <a:cubicBezTo>
                  <a:pt x="0" y="47333"/>
                  <a:pt x="47333" y="0"/>
                  <a:pt x="105635" y="0"/>
                </a:cubicBezTo>
                <a:close/>
              </a:path>
            </a:pathLst>
          </a:custGeom>
          <a:gradFill rotWithShape="1" flip="none">
            <a:gsLst>
              <a:gs pos="0">
                <a:srgbClr val="8B5CF6"/>
              </a:gs>
              <a:gs pos="100000">
                <a:srgbClr val="8B5CF6">
                  <a:alpha val="60000"/>
                </a:srgbClr>
              </a:gs>
            </a:gsLst>
            <a:lin ang="2700000" scaled="1"/>
          </a:gradFill>
          <a:ln/>
        </p:spPr>
      </p:sp>
      <p:sp>
        <p:nvSpPr>
          <p:cNvPr id="13" name="Text 11"/>
          <p:cNvSpPr/>
          <p:nvPr/>
        </p:nvSpPr>
        <p:spPr>
          <a:xfrm>
            <a:off x="2816704" y="1816920"/>
            <a:ext cx="510568" cy="422539"/>
          </a:xfrm>
          <a:prstGeom prst="rect">
            <a:avLst/>
          </a:prstGeom>
          <a:noFill/>
          <a:ln/>
        </p:spPr>
        <p:txBody>
          <a:bodyPr wrap="square" lIns="0" tIns="0" rIns="0" bIns="0" rtlCol="0" anchor="ctr"/>
          <a:lstStyle/>
          <a:p>
            <a:pPr algn="ctr">
              <a:lnSpc>
                <a:spcPct val="120000"/>
              </a:lnSpc>
            </a:pPr>
            <a:r>
              <a:rPr lang="en-US" sz="1386" b="1" dirty="0">
                <a:solidFill>
                  <a:srgbClr val="FFFFFF"/>
                </a:solidFill>
                <a:latin typeface="MiSans" pitchFamily="34" charset="0"/>
                <a:ea typeface="MiSans" pitchFamily="34" charset="-122"/>
                <a:cs typeface="MiSans" pitchFamily="34" charset="-120"/>
              </a:rPr>
              <a:t>2</a:t>
            </a:r>
            <a:endParaRPr lang="en-US" sz="1600" dirty="0"/>
          </a:p>
        </p:txBody>
      </p:sp>
      <p:sp>
        <p:nvSpPr>
          <p:cNvPr id="14" name="Text 12"/>
          <p:cNvSpPr/>
          <p:nvPr/>
        </p:nvSpPr>
        <p:spPr>
          <a:xfrm>
            <a:off x="2860719" y="2380304"/>
            <a:ext cx="1901424" cy="246481"/>
          </a:xfrm>
          <a:prstGeom prst="rect">
            <a:avLst/>
          </a:prstGeom>
          <a:noFill/>
          <a:ln/>
        </p:spPr>
        <p:txBody>
          <a:bodyPr wrap="square" lIns="0" tIns="0" rIns="0" bIns="0" rtlCol="0" anchor="ctr"/>
          <a:lstStyle/>
          <a:p>
            <a:pPr>
              <a:lnSpc>
                <a:spcPct val="130000"/>
              </a:lnSpc>
            </a:pPr>
            <a:r>
              <a:rPr lang="en-US" sz="1248" b="1" dirty="0">
                <a:solidFill>
                  <a:srgbClr val="8B5CF6"/>
                </a:solidFill>
                <a:latin typeface="Liter" pitchFamily="34" charset="0"/>
                <a:ea typeface="Liter" pitchFamily="34" charset="-122"/>
                <a:cs typeface="Liter" pitchFamily="34" charset="-120"/>
              </a:rPr>
              <a:t>API OpenAI</a:t>
            </a:r>
            <a:endParaRPr lang="en-US" sz="1600" dirty="0"/>
          </a:p>
        </p:txBody>
      </p:sp>
      <p:sp>
        <p:nvSpPr>
          <p:cNvPr id="15" name="Text 13"/>
          <p:cNvSpPr/>
          <p:nvPr/>
        </p:nvSpPr>
        <p:spPr>
          <a:xfrm>
            <a:off x="2860719" y="2732420"/>
            <a:ext cx="1892621" cy="915500"/>
          </a:xfrm>
          <a:prstGeom prst="rect">
            <a:avLst/>
          </a:prstGeom>
          <a:noFill/>
          <a:ln/>
        </p:spPr>
        <p:txBody>
          <a:bodyPr wrap="square" lIns="0" tIns="0" rIns="0" bIns="0" rtlCol="0" anchor="ctr"/>
          <a:lstStyle/>
          <a:p>
            <a:pPr>
              <a:lnSpc>
                <a:spcPct val="140000"/>
              </a:lnSpc>
            </a:pPr>
            <a:r>
              <a:rPr lang="en-US" sz="1109" dirty="0">
                <a:solidFill>
                  <a:srgbClr val="8B5CF6"/>
                </a:solidFill>
                <a:highlight>
                  <a:srgbClr val="8B5CF6">
                    <a:alpha val="20000"/>
                  </a:srgbClr>
                </a:highlight>
                <a:latin typeface="MiSans" pitchFamily="34" charset="0"/>
                <a:ea typeface="MiSans" pitchFamily="34" charset="-122"/>
                <a:cs typeface="MiSans" pitchFamily="34" charset="-120"/>
              </a:rPr>
              <a:t>API </a:t>
            </a:r>
            <a:pPr>
              <a:lnSpc>
                <a:spcPct val="140000"/>
              </a:lnSpc>
            </a:pPr>
            <a:r>
              <a:rPr lang="en-US" sz="1109" dirty="0">
                <a:solidFill>
                  <a:srgbClr val="F8FAFC">
                    <a:alpha val="70000"/>
                  </a:srgbClr>
                </a:solidFill>
                <a:latin typeface="MiSans" pitchFamily="34" charset="0"/>
                <a:ea typeface="MiSans" pitchFamily="34" charset="-122"/>
                <a:cs typeface="MiSans" pitchFamily="34" charset="-120"/>
              </a:rPr>
              <a:t>cho phép tích hợp AI vào ứng dụng và hệ thống tự động, vượt xa cách dùng chat thủ công</a:t>
            </a:r>
            <a:endParaRPr lang="en-US" sz="1600" dirty="0"/>
          </a:p>
        </p:txBody>
      </p:sp>
      <p:sp>
        <p:nvSpPr>
          <p:cNvPr id="16" name="Shape 14"/>
          <p:cNvSpPr/>
          <p:nvPr/>
        </p:nvSpPr>
        <p:spPr>
          <a:xfrm>
            <a:off x="5006643" y="1637342"/>
            <a:ext cx="2181356" cy="2190159"/>
          </a:xfrm>
          <a:custGeom>
            <a:avLst/>
            <a:gdLst/>
            <a:ahLst/>
            <a:cxnLst/>
            <a:rect l="l" t="t" r="r" b="b"/>
            <a:pathLst>
              <a:path w="2181356" h="2190159">
                <a:moveTo>
                  <a:pt x="140850" y="0"/>
                </a:moveTo>
                <a:lnTo>
                  <a:pt x="2040506" y="0"/>
                </a:lnTo>
                <a:cubicBezTo>
                  <a:pt x="2118295" y="0"/>
                  <a:pt x="2181356" y="63061"/>
                  <a:pt x="2181356" y="140850"/>
                </a:cubicBezTo>
                <a:lnTo>
                  <a:pt x="2181356" y="2049308"/>
                </a:lnTo>
                <a:cubicBezTo>
                  <a:pt x="2181356" y="2127098"/>
                  <a:pt x="2118295" y="2190159"/>
                  <a:pt x="2040506" y="2190159"/>
                </a:cubicBezTo>
                <a:lnTo>
                  <a:pt x="140850" y="2190159"/>
                </a:lnTo>
                <a:cubicBezTo>
                  <a:pt x="63061" y="2190159"/>
                  <a:pt x="0" y="2127098"/>
                  <a:pt x="0" y="2049308"/>
                </a:cubicBezTo>
                <a:lnTo>
                  <a:pt x="0" y="140850"/>
                </a:lnTo>
                <a:cubicBezTo>
                  <a:pt x="0" y="63061"/>
                  <a:pt x="63061" y="0"/>
                  <a:pt x="140850" y="0"/>
                </a:cubicBezTo>
                <a:close/>
              </a:path>
            </a:pathLst>
          </a:custGeom>
          <a:gradFill rotWithShape="1" flip="none">
            <a:gsLst>
              <a:gs pos="0">
                <a:srgbClr val="1E293B"/>
              </a:gs>
              <a:gs pos="100000">
                <a:srgbClr val="1E293B">
                  <a:alpha val="50000"/>
                </a:srgbClr>
              </a:gs>
            </a:gsLst>
            <a:lin ang="2700000" scaled="1"/>
          </a:gradFill>
          <a:ln w="10160">
            <a:solidFill>
              <a:srgbClr val="10B981">
                <a:alpha val="30196"/>
              </a:srgbClr>
            </a:solidFill>
            <a:prstDash val="solid"/>
          </a:ln>
        </p:spPr>
      </p:sp>
      <p:sp>
        <p:nvSpPr>
          <p:cNvPr id="17" name="Shape 15"/>
          <p:cNvSpPr/>
          <p:nvPr/>
        </p:nvSpPr>
        <p:spPr>
          <a:xfrm>
            <a:off x="5186222" y="1816920"/>
            <a:ext cx="422539" cy="422539"/>
          </a:xfrm>
          <a:custGeom>
            <a:avLst/>
            <a:gdLst/>
            <a:ahLst/>
            <a:cxnLst/>
            <a:rect l="l" t="t" r="r" b="b"/>
            <a:pathLst>
              <a:path w="422539" h="422539">
                <a:moveTo>
                  <a:pt x="105635" y="0"/>
                </a:moveTo>
                <a:lnTo>
                  <a:pt x="316904" y="0"/>
                </a:lnTo>
                <a:cubicBezTo>
                  <a:pt x="375244" y="0"/>
                  <a:pt x="422539" y="47294"/>
                  <a:pt x="422539" y="105635"/>
                </a:cubicBezTo>
                <a:lnTo>
                  <a:pt x="422539" y="316904"/>
                </a:lnTo>
                <a:cubicBezTo>
                  <a:pt x="422539" y="375244"/>
                  <a:pt x="375244" y="422539"/>
                  <a:pt x="316904" y="422539"/>
                </a:cubicBezTo>
                <a:lnTo>
                  <a:pt x="105635" y="422539"/>
                </a:lnTo>
                <a:cubicBezTo>
                  <a:pt x="47294" y="422539"/>
                  <a:pt x="0" y="375244"/>
                  <a:pt x="0" y="316904"/>
                </a:cubicBezTo>
                <a:lnTo>
                  <a:pt x="0" y="105635"/>
                </a:lnTo>
                <a:cubicBezTo>
                  <a:pt x="0" y="47333"/>
                  <a:pt x="47333" y="0"/>
                  <a:pt x="105635" y="0"/>
                </a:cubicBezTo>
                <a:close/>
              </a:path>
            </a:pathLst>
          </a:custGeom>
          <a:gradFill rotWithShape="1" flip="none">
            <a:gsLst>
              <a:gs pos="0">
                <a:srgbClr val="10B981"/>
              </a:gs>
              <a:gs pos="100000">
                <a:srgbClr val="10B981">
                  <a:alpha val="60000"/>
                </a:srgbClr>
              </a:gs>
            </a:gsLst>
            <a:lin ang="2700000" scaled="1"/>
          </a:gradFill>
          <a:ln/>
        </p:spPr>
      </p:sp>
      <p:sp>
        <p:nvSpPr>
          <p:cNvPr id="18" name="Text 16"/>
          <p:cNvSpPr/>
          <p:nvPr/>
        </p:nvSpPr>
        <p:spPr>
          <a:xfrm>
            <a:off x="5142207" y="1816920"/>
            <a:ext cx="510568" cy="422539"/>
          </a:xfrm>
          <a:prstGeom prst="rect">
            <a:avLst/>
          </a:prstGeom>
          <a:noFill/>
          <a:ln/>
        </p:spPr>
        <p:txBody>
          <a:bodyPr wrap="square" lIns="0" tIns="0" rIns="0" bIns="0" rtlCol="0" anchor="ctr"/>
          <a:lstStyle/>
          <a:p>
            <a:pPr algn="ctr">
              <a:lnSpc>
                <a:spcPct val="120000"/>
              </a:lnSpc>
            </a:pPr>
            <a:r>
              <a:rPr lang="en-US" sz="1386" b="1" dirty="0">
                <a:solidFill>
                  <a:srgbClr val="FFFFFF"/>
                </a:solidFill>
                <a:latin typeface="MiSans" pitchFamily="34" charset="0"/>
                <a:ea typeface="MiSans" pitchFamily="34" charset="-122"/>
                <a:cs typeface="MiSans" pitchFamily="34" charset="-120"/>
              </a:rPr>
              <a:t>3</a:t>
            </a:r>
            <a:endParaRPr lang="en-US" sz="1600" dirty="0"/>
          </a:p>
        </p:txBody>
      </p:sp>
      <p:sp>
        <p:nvSpPr>
          <p:cNvPr id="19" name="Text 17"/>
          <p:cNvSpPr/>
          <p:nvPr/>
        </p:nvSpPr>
        <p:spPr>
          <a:xfrm>
            <a:off x="5186222" y="2380304"/>
            <a:ext cx="1901424" cy="246481"/>
          </a:xfrm>
          <a:prstGeom prst="rect">
            <a:avLst/>
          </a:prstGeom>
          <a:noFill/>
          <a:ln/>
        </p:spPr>
        <p:txBody>
          <a:bodyPr wrap="square" lIns="0" tIns="0" rIns="0" bIns="0" rtlCol="0" anchor="ctr"/>
          <a:lstStyle/>
          <a:p>
            <a:pPr>
              <a:lnSpc>
                <a:spcPct val="130000"/>
              </a:lnSpc>
            </a:pPr>
            <a:r>
              <a:rPr lang="en-US" sz="1248" b="1" dirty="0">
                <a:solidFill>
                  <a:srgbClr val="10B981"/>
                </a:solidFill>
                <a:latin typeface="Liter" pitchFamily="34" charset="0"/>
                <a:ea typeface="Liter" pitchFamily="34" charset="-122"/>
                <a:cs typeface="Liter" pitchFamily="34" charset="-120"/>
              </a:rPr>
              <a:t>GitHub Copilot</a:t>
            </a:r>
            <a:endParaRPr lang="en-US" sz="1600" dirty="0"/>
          </a:p>
        </p:txBody>
      </p:sp>
      <p:sp>
        <p:nvSpPr>
          <p:cNvPr id="20" name="Text 18"/>
          <p:cNvSpPr/>
          <p:nvPr/>
        </p:nvSpPr>
        <p:spPr>
          <a:xfrm>
            <a:off x="5186222" y="2732420"/>
            <a:ext cx="1892621" cy="915500"/>
          </a:xfrm>
          <a:prstGeom prst="rect">
            <a:avLst/>
          </a:prstGeom>
          <a:noFill/>
          <a:ln/>
        </p:spPr>
        <p:txBody>
          <a:bodyPr wrap="square" lIns="0" tIns="0" rIns="0" bIns="0" rtlCol="0" anchor="ctr"/>
          <a:lstStyle/>
          <a:p>
            <a:pPr>
              <a:lnSpc>
                <a:spcPct val="140000"/>
              </a:lnSpc>
            </a:pPr>
            <a:r>
              <a:rPr lang="en-US" sz="1109" dirty="0">
                <a:solidFill>
                  <a:srgbClr val="10B981"/>
                </a:solidFill>
                <a:highlight>
                  <a:srgbClr val="10B981">
                    <a:alpha val="20000"/>
                  </a:srgbClr>
                </a:highlight>
                <a:latin typeface="MiSans" pitchFamily="34" charset="0"/>
                <a:ea typeface="MiSans" pitchFamily="34" charset="-122"/>
                <a:cs typeface="MiSans" pitchFamily="34" charset="-120"/>
              </a:rPr>
              <a:t>Copilot </a:t>
            </a:r>
            <a:pPr>
              <a:lnSpc>
                <a:spcPct val="140000"/>
              </a:lnSpc>
            </a:pPr>
            <a:r>
              <a:rPr lang="en-US" sz="1109" dirty="0">
                <a:solidFill>
                  <a:srgbClr val="F8FAFC">
                    <a:alpha val="70000"/>
                  </a:srgbClr>
                </a:solidFill>
                <a:latin typeface="MiSans" pitchFamily="34" charset="0"/>
                <a:ea typeface="MiSans" pitchFamily="34" charset="-122"/>
                <a:cs typeface="MiSans" pitchFamily="34" charset="-120"/>
              </a:rPr>
              <a:t>phát huy hiệu quả trong IDE khi code có tên hàm, comment và kiểu dữ liệu rõ ràng</a:t>
            </a:r>
            <a:endParaRPr lang="en-US" sz="1600" dirty="0"/>
          </a:p>
        </p:txBody>
      </p:sp>
      <p:sp>
        <p:nvSpPr>
          <p:cNvPr id="21" name="Shape 19"/>
          <p:cNvSpPr/>
          <p:nvPr/>
        </p:nvSpPr>
        <p:spPr>
          <a:xfrm>
            <a:off x="7332146" y="1637342"/>
            <a:ext cx="2181356" cy="2190159"/>
          </a:xfrm>
          <a:custGeom>
            <a:avLst/>
            <a:gdLst/>
            <a:ahLst/>
            <a:cxnLst/>
            <a:rect l="l" t="t" r="r" b="b"/>
            <a:pathLst>
              <a:path w="2181356" h="2190159">
                <a:moveTo>
                  <a:pt x="140850" y="0"/>
                </a:moveTo>
                <a:lnTo>
                  <a:pt x="2040506" y="0"/>
                </a:lnTo>
                <a:cubicBezTo>
                  <a:pt x="2118295" y="0"/>
                  <a:pt x="2181356" y="63061"/>
                  <a:pt x="2181356" y="140850"/>
                </a:cubicBezTo>
                <a:lnTo>
                  <a:pt x="2181356" y="2049308"/>
                </a:lnTo>
                <a:cubicBezTo>
                  <a:pt x="2181356" y="2127098"/>
                  <a:pt x="2118295" y="2190159"/>
                  <a:pt x="2040506" y="2190159"/>
                </a:cubicBezTo>
                <a:lnTo>
                  <a:pt x="140850" y="2190159"/>
                </a:lnTo>
                <a:cubicBezTo>
                  <a:pt x="63061" y="2190159"/>
                  <a:pt x="0" y="2127098"/>
                  <a:pt x="0" y="2049308"/>
                </a:cubicBezTo>
                <a:lnTo>
                  <a:pt x="0" y="140850"/>
                </a:lnTo>
                <a:cubicBezTo>
                  <a:pt x="0" y="63061"/>
                  <a:pt x="63061" y="0"/>
                  <a:pt x="140850" y="0"/>
                </a:cubicBezTo>
                <a:close/>
              </a:path>
            </a:pathLst>
          </a:custGeom>
          <a:gradFill rotWithShape="1" flip="none">
            <a:gsLst>
              <a:gs pos="0">
                <a:srgbClr val="1E293B"/>
              </a:gs>
              <a:gs pos="100000">
                <a:srgbClr val="1E293B">
                  <a:alpha val="50000"/>
                </a:srgbClr>
              </a:gs>
            </a:gsLst>
            <a:lin ang="2700000" scaled="1"/>
          </a:gradFill>
          <a:ln w="10160">
            <a:solidFill>
              <a:srgbClr val="3B82F6">
                <a:alpha val="30196"/>
              </a:srgbClr>
            </a:solidFill>
            <a:prstDash val="solid"/>
          </a:ln>
        </p:spPr>
      </p:sp>
      <p:sp>
        <p:nvSpPr>
          <p:cNvPr id="22" name="Shape 20"/>
          <p:cNvSpPr/>
          <p:nvPr/>
        </p:nvSpPr>
        <p:spPr>
          <a:xfrm>
            <a:off x="7511725" y="1816920"/>
            <a:ext cx="422539" cy="422539"/>
          </a:xfrm>
          <a:custGeom>
            <a:avLst/>
            <a:gdLst/>
            <a:ahLst/>
            <a:cxnLst/>
            <a:rect l="l" t="t" r="r" b="b"/>
            <a:pathLst>
              <a:path w="422539" h="422539">
                <a:moveTo>
                  <a:pt x="105635" y="0"/>
                </a:moveTo>
                <a:lnTo>
                  <a:pt x="316904" y="0"/>
                </a:lnTo>
                <a:cubicBezTo>
                  <a:pt x="375244" y="0"/>
                  <a:pt x="422539" y="47294"/>
                  <a:pt x="422539" y="105635"/>
                </a:cubicBezTo>
                <a:lnTo>
                  <a:pt x="422539" y="316904"/>
                </a:lnTo>
                <a:cubicBezTo>
                  <a:pt x="422539" y="375244"/>
                  <a:pt x="375244" y="422539"/>
                  <a:pt x="316904" y="422539"/>
                </a:cubicBezTo>
                <a:lnTo>
                  <a:pt x="105635" y="422539"/>
                </a:lnTo>
                <a:cubicBezTo>
                  <a:pt x="47294" y="422539"/>
                  <a:pt x="0" y="375244"/>
                  <a:pt x="0" y="316904"/>
                </a:cubicBezTo>
                <a:lnTo>
                  <a:pt x="0" y="105635"/>
                </a:lnTo>
                <a:cubicBezTo>
                  <a:pt x="0" y="47333"/>
                  <a:pt x="47333" y="0"/>
                  <a:pt x="105635" y="0"/>
                </a:cubicBezTo>
                <a:close/>
              </a:path>
            </a:pathLst>
          </a:custGeom>
          <a:gradFill rotWithShape="1" flip="none">
            <a:gsLst>
              <a:gs pos="0">
                <a:srgbClr val="3B82F6"/>
              </a:gs>
              <a:gs pos="100000">
                <a:srgbClr val="3B82F6">
                  <a:alpha val="60000"/>
                </a:srgbClr>
              </a:gs>
            </a:gsLst>
            <a:lin ang="2700000" scaled="1"/>
          </a:gradFill>
          <a:ln/>
        </p:spPr>
      </p:sp>
      <p:sp>
        <p:nvSpPr>
          <p:cNvPr id="23" name="Text 21"/>
          <p:cNvSpPr/>
          <p:nvPr/>
        </p:nvSpPr>
        <p:spPr>
          <a:xfrm>
            <a:off x="7467710" y="1816920"/>
            <a:ext cx="510568" cy="422539"/>
          </a:xfrm>
          <a:prstGeom prst="rect">
            <a:avLst/>
          </a:prstGeom>
          <a:noFill/>
          <a:ln/>
        </p:spPr>
        <p:txBody>
          <a:bodyPr wrap="square" lIns="0" tIns="0" rIns="0" bIns="0" rtlCol="0" anchor="ctr"/>
          <a:lstStyle/>
          <a:p>
            <a:pPr algn="ctr">
              <a:lnSpc>
                <a:spcPct val="120000"/>
              </a:lnSpc>
            </a:pPr>
            <a:r>
              <a:rPr lang="en-US" sz="1386" b="1" dirty="0">
                <a:solidFill>
                  <a:srgbClr val="FFFFFF"/>
                </a:solidFill>
                <a:latin typeface="MiSans" pitchFamily="34" charset="0"/>
                <a:ea typeface="MiSans" pitchFamily="34" charset="-122"/>
                <a:cs typeface="MiSans" pitchFamily="34" charset="-120"/>
              </a:rPr>
              <a:t>4</a:t>
            </a:r>
            <a:endParaRPr lang="en-US" sz="1600" dirty="0"/>
          </a:p>
        </p:txBody>
      </p:sp>
      <p:sp>
        <p:nvSpPr>
          <p:cNvPr id="24" name="Text 22"/>
          <p:cNvSpPr/>
          <p:nvPr/>
        </p:nvSpPr>
        <p:spPr>
          <a:xfrm>
            <a:off x="7511725" y="2380304"/>
            <a:ext cx="1901424" cy="246481"/>
          </a:xfrm>
          <a:prstGeom prst="rect">
            <a:avLst/>
          </a:prstGeom>
          <a:noFill/>
          <a:ln/>
        </p:spPr>
        <p:txBody>
          <a:bodyPr wrap="square" lIns="0" tIns="0" rIns="0" bIns="0" rtlCol="0" anchor="ctr"/>
          <a:lstStyle/>
          <a:p>
            <a:pPr>
              <a:lnSpc>
                <a:spcPct val="130000"/>
              </a:lnSpc>
            </a:pPr>
            <a:r>
              <a:rPr lang="en-US" sz="1248" b="1" dirty="0">
                <a:solidFill>
                  <a:srgbClr val="3B82F6"/>
                </a:solidFill>
                <a:latin typeface="Liter" pitchFamily="34" charset="0"/>
                <a:ea typeface="Liter" pitchFamily="34" charset="-122"/>
                <a:cs typeface="Liter" pitchFamily="34" charset="-120"/>
              </a:rPr>
              <a:t>Prompt Engineering</a:t>
            </a:r>
            <a:endParaRPr lang="en-US" sz="1600" dirty="0"/>
          </a:p>
        </p:txBody>
      </p:sp>
      <p:sp>
        <p:nvSpPr>
          <p:cNvPr id="25" name="Text 23"/>
          <p:cNvSpPr/>
          <p:nvPr/>
        </p:nvSpPr>
        <p:spPr>
          <a:xfrm>
            <a:off x="7511725" y="2732420"/>
            <a:ext cx="1892621" cy="915500"/>
          </a:xfrm>
          <a:prstGeom prst="rect">
            <a:avLst/>
          </a:prstGeom>
          <a:noFill/>
          <a:ln/>
        </p:spPr>
        <p:txBody>
          <a:bodyPr wrap="square" lIns="0" tIns="0" rIns="0" bIns="0" rtlCol="0" anchor="ctr"/>
          <a:lstStyle/>
          <a:p>
            <a:pPr>
              <a:lnSpc>
                <a:spcPct val="140000"/>
              </a:lnSpc>
            </a:pPr>
            <a:r>
              <a:rPr lang="en-US" sz="1109" dirty="0">
                <a:solidFill>
                  <a:srgbClr val="F8FAFC">
                    <a:alpha val="70000"/>
                  </a:srgbClr>
                </a:solidFill>
                <a:latin typeface="MiSans" pitchFamily="34" charset="0"/>
                <a:ea typeface="MiSans" pitchFamily="34" charset="-122"/>
                <a:cs typeface="MiSans" pitchFamily="34" charset="-120"/>
              </a:rPr>
              <a:t>Prompt chất lượng cao cần </a:t>
            </a:r>
            <a:pPr>
              <a:lnSpc>
                <a:spcPct val="140000"/>
              </a:lnSpc>
            </a:pPr>
            <a:r>
              <a:rPr lang="en-US" sz="1109" dirty="0">
                <a:solidFill>
                  <a:srgbClr val="3B82F6"/>
                </a:solidFill>
                <a:highlight>
                  <a:srgbClr val="3B82F6">
                    <a:alpha val="20000"/>
                  </a:srgbClr>
                </a:highlight>
                <a:latin typeface="MiSans" pitchFamily="34" charset="0"/>
                <a:ea typeface="MiSans" pitchFamily="34" charset="-122"/>
                <a:cs typeface="MiSans" pitchFamily="34" charset="-120"/>
              </a:rPr>
              <a:t>cụ thể, có ràng buộc </a:t>
            </a:r>
            <a:pPr>
              <a:lnSpc>
                <a:spcPct val="140000"/>
              </a:lnSpc>
            </a:pPr>
            <a:r>
              <a:rPr lang="en-US" sz="1109" dirty="0">
                <a:solidFill>
                  <a:srgbClr val="F8FAFC">
                    <a:alpha val="70000"/>
                  </a:srgbClr>
                </a:solidFill>
                <a:latin typeface="MiSans" pitchFamily="34" charset="0"/>
                <a:ea typeface="MiSans" pitchFamily="34" charset="-122"/>
                <a:cs typeface="MiSans" pitchFamily="34" charset="-120"/>
              </a:rPr>
              <a:t>và hướng đến dạng đầu ra rõ ràng</a:t>
            </a:r>
            <a:endParaRPr lang="en-US" sz="1600" dirty="0"/>
          </a:p>
        </p:txBody>
      </p:sp>
      <p:sp>
        <p:nvSpPr>
          <p:cNvPr id="26" name="Shape 24"/>
          <p:cNvSpPr/>
          <p:nvPr/>
        </p:nvSpPr>
        <p:spPr>
          <a:xfrm>
            <a:off x="9657649" y="1637342"/>
            <a:ext cx="2181356" cy="2190159"/>
          </a:xfrm>
          <a:custGeom>
            <a:avLst/>
            <a:gdLst/>
            <a:ahLst/>
            <a:cxnLst/>
            <a:rect l="l" t="t" r="r" b="b"/>
            <a:pathLst>
              <a:path w="2181356" h="2190159">
                <a:moveTo>
                  <a:pt x="140850" y="0"/>
                </a:moveTo>
                <a:lnTo>
                  <a:pt x="2040506" y="0"/>
                </a:lnTo>
                <a:cubicBezTo>
                  <a:pt x="2118295" y="0"/>
                  <a:pt x="2181356" y="63061"/>
                  <a:pt x="2181356" y="140850"/>
                </a:cubicBezTo>
                <a:lnTo>
                  <a:pt x="2181356" y="2049308"/>
                </a:lnTo>
                <a:cubicBezTo>
                  <a:pt x="2181356" y="2127098"/>
                  <a:pt x="2118295" y="2190159"/>
                  <a:pt x="2040506" y="2190159"/>
                </a:cubicBezTo>
                <a:lnTo>
                  <a:pt x="140850" y="2190159"/>
                </a:lnTo>
                <a:cubicBezTo>
                  <a:pt x="63061" y="2190159"/>
                  <a:pt x="0" y="2127098"/>
                  <a:pt x="0" y="2049308"/>
                </a:cubicBezTo>
                <a:lnTo>
                  <a:pt x="0" y="140850"/>
                </a:lnTo>
                <a:cubicBezTo>
                  <a:pt x="0" y="63061"/>
                  <a:pt x="63061" y="0"/>
                  <a:pt x="140850" y="0"/>
                </a:cubicBezTo>
                <a:close/>
              </a:path>
            </a:pathLst>
          </a:custGeom>
          <a:gradFill rotWithShape="1" flip="none">
            <a:gsLst>
              <a:gs pos="0">
                <a:srgbClr val="1E293B"/>
              </a:gs>
              <a:gs pos="100000">
                <a:srgbClr val="1E293B">
                  <a:alpha val="50000"/>
                </a:srgbClr>
              </a:gs>
            </a:gsLst>
            <a:lin ang="2700000" scaled="1"/>
          </a:gradFill>
          <a:ln w="10160">
            <a:solidFill>
              <a:srgbClr val="8B5CF6">
                <a:alpha val="30196"/>
              </a:srgbClr>
            </a:solidFill>
            <a:prstDash val="solid"/>
          </a:ln>
        </p:spPr>
      </p:sp>
      <p:sp>
        <p:nvSpPr>
          <p:cNvPr id="27" name="Shape 25"/>
          <p:cNvSpPr/>
          <p:nvPr/>
        </p:nvSpPr>
        <p:spPr>
          <a:xfrm>
            <a:off x="9837227" y="1816920"/>
            <a:ext cx="422539" cy="422539"/>
          </a:xfrm>
          <a:custGeom>
            <a:avLst/>
            <a:gdLst/>
            <a:ahLst/>
            <a:cxnLst/>
            <a:rect l="l" t="t" r="r" b="b"/>
            <a:pathLst>
              <a:path w="422539" h="422539">
                <a:moveTo>
                  <a:pt x="105635" y="0"/>
                </a:moveTo>
                <a:lnTo>
                  <a:pt x="316904" y="0"/>
                </a:lnTo>
                <a:cubicBezTo>
                  <a:pt x="375244" y="0"/>
                  <a:pt x="422539" y="47294"/>
                  <a:pt x="422539" y="105635"/>
                </a:cubicBezTo>
                <a:lnTo>
                  <a:pt x="422539" y="316904"/>
                </a:lnTo>
                <a:cubicBezTo>
                  <a:pt x="422539" y="375244"/>
                  <a:pt x="375244" y="422539"/>
                  <a:pt x="316904" y="422539"/>
                </a:cubicBezTo>
                <a:lnTo>
                  <a:pt x="105635" y="422539"/>
                </a:lnTo>
                <a:cubicBezTo>
                  <a:pt x="47294" y="422539"/>
                  <a:pt x="0" y="375244"/>
                  <a:pt x="0" y="316904"/>
                </a:cubicBezTo>
                <a:lnTo>
                  <a:pt x="0" y="105635"/>
                </a:lnTo>
                <a:cubicBezTo>
                  <a:pt x="0" y="47333"/>
                  <a:pt x="47333" y="0"/>
                  <a:pt x="105635" y="0"/>
                </a:cubicBezTo>
                <a:close/>
              </a:path>
            </a:pathLst>
          </a:custGeom>
          <a:gradFill rotWithShape="1" flip="none">
            <a:gsLst>
              <a:gs pos="0">
                <a:srgbClr val="8B5CF6"/>
              </a:gs>
              <a:gs pos="100000">
                <a:srgbClr val="8B5CF6">
                  <a:alpha val="60000"/>
                </a:srgbClr>
              </a:gs>
            </a:gsLst>
            <a:lin ang="2700000" scaled="1"/>
          </a:gradFill>
          <a:ln/>
        </p:spPr>
      </p:sp>
      <p:sp>
        <p:nvSpPr>
          <p:cNvPr id="28" name="Text 26"/>
          <p:cNvSpPr/>
          <p:nvPr/>
        </p:nvSpPr>
        <p:spPr>
          <a:xfrm>
            <a:off x="9793213" y="1816920"/>
            <a:ext cx="510568" cy="422539"/>
          </a:xfrm>
          <a:prstGeom prst="rect">
            <a:avLst/>
          </a:prstGeom>
          <a:noFill/>
          <a:ln/>
        </p:spPr>
        <p:txBody>
          <a:bodyPr wrap="square" lIns="0" tIns="0" rIns="0" bIns="0" rtlCol="0" anchor="ctr"/>
          <a:lstStyle/>
          <a:p>
            <a:pPr algn="ctr">
              <a:lnSpc>
                <a:spcPct val="120000"/>
              </a:lnSpc>
            </a:pPr>
            <a:r>
              <a:rPr lang="en-US" sz="1386" b="1" dirty="0">
                <a:solidFill>
                  <a:srgbClr val="FFFFFF"/>
                </a:solidFill>
                <a:latin typeface="MiSans" pitchFamily="34" charset="0"/>
                <a:ea typeface="MiSans" pitchFamily="34" charset="-122"/>
                <a:cs typeface="MiSans" pitchFamily="34" charset="-120"/>
              </a:rPr>
              <a:t>5</a:t>
            </a:r>
            <a:endParaRPr lang="en-US" sz="1600" dirty="0"/>
          </a:p>
        </p:txBody>
      </p:sp>
      <p:sp>
        <p:nvSpPr>
          <p:cNvPr id="29" name="Text 27"/>
          <p:cNvSpPr/>
          <p:nvPr/>
        </p:nvSpPr>
        <p:spPr>
          <a:xfrm>
            <a:off x="9837227" y="2380304"/>
            <a:ext cx="1901424" cy="246481"/>
          </a:xfrm>
          <a:prstGeom prst="rect">
            <a:avLst/>
          </a:prstGeom>
          <a:noFill/>
          <a:ln/>
        </p:spPr>
        <p:txBody>
          <a:bodyPr wrap="square" lIns="0" tIns="0" rIns="0" bIns="0" rtlCol="0" anchor="ctr"/>
          <a:lstStyle/>
          <a:p>
            <a:pPr>
              <a:lnSpc>
                <a:spcPct val="130000"/>
              </a:lnSpc>
            </a:pPr>
            <a:r>
              <a:rPr lang="en-US" sz="1248" b="1" dirty="0">
                <a:solidFill>
                  <a:srgbClr val="8B5CF6"/>
                </a:solidFill>
                <a:latin typeface="Liter" pitchFamily="34" charset="0"/>
                <a:ea typeface="Liter" pitchFamily="34" charset="-122"/>
                <a:cs typeface="Liter" pitchFamily="34" charset="-120"/>
              </a:rPr>
              <a:t>Tư duy kỹ thuật</a:t>
            </a:r>
            <a:endParaRPr lang="en-US" sz="1600" dirty="0"/>
          </a:p>
        </p:txBody>
      </p:sp>
      <p:sp>
        <p:nvSpPr>
          <p:cNvPr id="30" name="Text 28"/>
          <p:cNvSpPr/>
          <p:nvPr/>
        </p:nvSpPr>
        <p:spPr>
          <a:xfrm>
            <a:off x="9837227" y="2732420"/>
            <a:ext cx="1892621" cy="686625"/>
          </a:xfrm>
          <a:prstGeom prst="rect">
            <a:avLst/>
          </a:prstGeom>
          <a:noFill/>
          <a:ln/>
        </p:spPr>
        <p:txBody>
          <a:bodyPr wrap="square" lIns="0" tIns="0" rIns="0" bIns="0" rtlCol="0" anchor="ctr"/>
          <a:lstStyle/>
          <a:p>
            <a:pPr>
              <a:lnSpc>
                <a:spcPct val="140000"/>
              </a:lnSpc>
            </a:pPr>
            <a:r>
              <a:rPr lang="en-US" sz="1109" dirty="0">
                <a:solidFill>
                  <a:srgbClr val="F8FAFC">
                    <a:alpha val="70000"/>
                  </a:srgbClr>
                </a:solidFill>
                <a:latin typeface="MiSans" pitchFamily="34" charset="0"/>
                <a:ea typeface="MiSans" pitchFamily="34" charset="-122"/>
                <a:cs typeface="MiSans" pitchFamily="34" charset="-120"/>
              </a:rPr>
              <a:t>Xem GenAI như </a:t>
            </a:r>
            <a:pPr>
              <a:lnSpc>
                <a:spcPct val="140000"/>
              </a:lnSpc>
            </a:pPr>
            <a:r>
              <a:rPr lang="en-US" sz="1109" dirty="0">
                <a:solidFill>
                  <a:srgbClr val="8B5CF6"/>
                </a:solidFill>
                <a:highlight>
                  <a:srgbClr val="8B5CF6">
                    <a:alpha val="20000"/>
                  </a:srgbClr>
                </a:highlight>
                <a:latin typeface="MiSans" pitchFamily="34" charset="0"/>
                <a:ea typeface="MiSans" pitchFamily="34" charset="-122"/>
                <a:cs typeface="MiSans" pitchFamily="34" charset="-120"/>
              </a:rPr>
              <a:t>thành phần kỹ thuật </a:t>
            </a:r>
            <a:pPr>
              <a:lnSpc>
                <a:spcPct val="140000"/>
              </a:lnSpc>
            </a:pPr>
            <a:r>
              <a:rPr lang="en-US" sz="1109" dirty="0">
                <a:solidFill>
                  <a:srgbClr val="F8FAFC">
                    <a:alpha val="70000"/>
                  </a:srgbClr>
                </a:solidFill>
                <a:latin typeface="MiSans" pitchFamily="34" charset="0"/>
                <a:ea typeface="MiSans" pitchFamily="34" charset="-122"/>
                <a:cs typeface="MiSans" pitchFamily="34" charset="-120"/>
              </a:rPr>
              <a:t>có thể thiết kế, đo lường và kiểm soát</a:t>
            </a:r>
            <a:endParaRPr lang="en-US" sz="1600" dirty="0"/>
          </a:p>
        </p:txBody>
      </p:sp>
      <p:sp>
        <p:nvSpPr>
          <p:cNvPr id="31" name="Shape 29"/>
          <p:cNvSpPr/>
          <p:nvPr/>
        </p:nvSpPr>
        <p:spPr>
          <a:xfrm>
            <a:off x="355637" y="4010598"/>
            <a:ext cx="11477205" cy="2383822"/>
          </a:xfrm>
          <a:custGeom>
            <a:avLst/>
            <a:gdLst/>
            <a:ahLst/>
            <a:cxnLst/>
            <a:rect l="l" t="t" r="r" b="b"/>
            <a:pathLst>
              <a:path w="11477205" h="2383822">
                <a:moveTo>
                  <a:pt x="140836" y="0"/>
                </a:moveTo>
                <a:lnTo>
                  <a:pt x="11336369" y="0"/>
                </a:lnTo>
                <a:cubicBezTo>
                  <a:pt x="11414151" y="0"/>
                  <a:pt x="11477205" y="63055"/>
                  <a:pt x="11477205" y="140836"/>
                </a:cubicBezTo>
                <a:lnTo>
                  <a:pt x="11477205" y="2242986"/>
                </a:lnTo>
                <a:cubicBezTo>
                  <a:pt x="11477205" y="2320768"/>
                  <a:pt x="11414151" y="2383822"/>
                  <a:pt x="11336369" y="2383822"/>
                </a:cubicBezTo>
                <a:lnTo>
                  <a:pt x="140836" y="2383822"/>
                </a:lnTo>
                <a:cubicBezTo>
                  <a:pt x="63055" y="2383822"/>
                  <a:pt x="0" y="2320768"/>
                  <a:pt x="0" y="2242986"/>
                </a:cubicBezTo>
                <a:lnTo>
                  <a:pt x="0" y="140836"/>
                </a:lnTo>
                <a:cubicBezTo>
                  <a:pt x="0" y="63107"/>
                  <a:pt x="63107" y="0"/>
                  <a:pt x="140836" y="0"/>
                </a:cubicBezTo>
                <a:close/>
              </a:path>
            </a:pathLst>
          </a:custGeom>
          <a:gradFill rotWithShape="1" flip="none">
            <a:gsLst>
              <a:gs pos="0">
                <a:srgbClr val="1E293B"/>
              </a:gs>
              <a:gs pos="100000">
                <a:srgbClr val="1E293B">
                  <a:alpha val="50000"/>
                </a:srgbClr>
              </a:gs>
            </a:gsLst>
            <a:lin ang="0" scaled="1"/>
          </a:gradFill>
          <a:ln w="10160">
            <a:solidFill>
              <a:srgbClr val="3B82F6">
                <a:alpha val="30196"/>
              </a:srgbClr>
            </a:solidFill>
            <a:prstDash val="solid"/>
          </a:ln>
        </p:spPr>
      </p:sp>
      <p:sp>
        <p:nvSpPr>
          <p:cNvPr id="32" name="Shape 30"/>
          <p:cNvSpPr/>
          <p:nvPr/>
        </p:nvSpPr>
        <p:spPr>
          <a:xfrm>
            <a:off x="583632" y="4260486"/>
            <a:ext cx="237678" cy="211269"/>
          </a:xfrm>
          <a:custGeom>
            <a:avLst/>
            <a:gdLst/>
            <a:ahLst/>
            <a:cxnLst/>
            <a:rect l="l" t="t" r="r" b="b"/>
            <a:pathLst>
              <a:path w="237678" h="211269">
                <a:moveTo>
                  <a:pt x="19806" y="80794"/>
                </a:moveTo>
                <a:lnTo>
                  <a:pt x="106130" y="116322"/>
                </a:lnTo>
                <a:cubicBezTo>
                  <a:pt x="110174" y="117972"/>
                  <a:pt x="114465" y="118839"/>
                  <a:pt x="118839" y="118839"/>
                </a:cubicBezTo>
                <a:cubicBezTo>
                  <a:pt x="123213" y="118839"/>
                  <a:pt x="127504" y="117972"/>
                  <a:pt x="131548" y="116322"/>
                </a:cubicBezTo>
                <a:lnTo>
                  <a:pt x="231571" y="75141"/>
                </a:lnTo>
                <a:cubicBezTo>
                  <a:pt x="235285" y="73614"/>
                  <a:pt x="237678" y="70024"/>
                  <a:pt x="237678" y="66022"/>
                </a:cubicBezTo>
                <a:cubicBezTo>
                  <a:pt x="237678" y="62019"/>
                  <a:pt x="235285" y="58429"/>
                  <a:pt x="231571" y="56902"/>
                </a:cubicBezTo>
                <a:lnTo>
                  <a:pt x="131548" y="15721"/>
                </a:lnTo>
                <a:cubicBezTo>
                  <a:pt x="127504" y="14071"/>
                  <a:pt x="123213" y="13204"/>
                  <a:pt x="118839" y="13204"/>
                </a:cubicBezTo>
                <a:cubicBezTo>
                  <a:pt x="114465" y="13204"/>
                  <a:pt x="110174" y="14071"/>
                  <a:pt x="106130" y="15721"/>
                </a:cubicBezTo>
                <a:lnTo>
                  <a:pt x="6107" y="56902"/>
                </a:lnTo>
                <a:cubicBezTo>
                  <a:pt x="2393" y="58429"/>
                  <a:pt x="0" y="62019"/>
                  <a:pt x="0" y="66022"/>
                </a:cubicBezTo>
                <a:lnTo>
                  <a:pt x="0" y="188162"/>
                </a:lnTo>
                <a:cubicBezTo>
                  <a:pt x="0" y="193650"/>
                  <a:pt x="4415" y="198065"/>
                  <a:pt x="9903" y="198065"/>
                </a:cubicBezTo>
                <a:cubicBezTo>
                  <a:pt x="15391" y="198065"/>
                  <a:pt x="19806" y="193650"/>
                  <a:pt x="19806" y="188162"/>
                </a:cubicBezTo>
                <a:lnTo>
                  <a:pt x="19806" y="80794"/>
                </a:lnTo>
                <a:close/>
                <a:moveTo>
                  <a:pt x="39613" y="110380"/>
                </a:moveTo>
                <a:lnTo>
                  <a:pt x="39613" y="158452"/>
                </a:lnTo>
                <a:cubicBezTo>
                  <a:pt x="39613" y="180322"/>
                  <a:pt x="75100" y="198065"/>
                  <a:pt x="118839" y="198065"/>
                </a:cubicBezTo>
                <a:cubicBezTo>
                  <a:pt x="162578" y="198065"/>
                  <a:pt x="198065" y="180322"/>
                  <a:pt x="198065" y="158452"/>
                </a:cubicBezTo>
                <a:lnTo>
                  <a:pt x="198065" y="110339"/>
                </a:lnTo>
                <a:lnTo>
                  <a:pt x="139099" y="134643"/>
                </a:lnTo>
                <a:cubicBezTo>
                  <a:pt x="132662" y="137284"/>
                  <a:pt x="125813" y="138645"/>
                  <a:pt x="118839" y="138645"/>
                </a:cubicBezTo>
                <a:cubicBezTo>
                  <a:pt x="111865" y="138645"/>
                  <a:pt x="105016" y="137284"/>
                  <a:pt x="98579" y="134643"/>
                </a:cubicBezTo>
                <a:lnTo>
                  <a:pt x="39613" y="110339"/>
                </a:lnTo>
                <a:close/>
              </a:path>
            </a:pathLst>
          </a:custGeom>
          <a:solidFill>
            <a:srgbClr val="3B82F6"/>
          </a:solidFill>
          <a:ln/>
        </p:spPr>
      </p:sp>
      <p:sp>
        <p:nvSpPr>
          <p:cNvPr id="33" name="Text 31"/>
          <p:cNvSpPr/>
          <p:nvPr/>
        </p:nvSpPr>
        <p:spPr>
          <a:xfrm>
            <a:off x="834514" y="4225386"/>
            <a:ext cx="10889173" cy="281692"/>
          </a:xfrm>
          <a:prstGeom prst="rect">
            <a:avLst/>
          </a:prstGeom>
          <a:noFill/>
          <a:ln/>
        </p:spPr>
        <p:txBody>
          <a:bodyPr wrap="square" lIns="0" tIns="0" rIns="0" bIns="0" rtlCol="0" anchor="ctr"/>
          <a:lstStyle/>
          <a:p>
            <a:pPr>
              <a:lnSpc>
                <a:spcPct val="110000"/>
              </a:lnSpc>
            </a:pPr>
            <a:r>
              <a:rPr lang="en-US" sz="1664" b="1" dirty="0">
                <a:solidFill>
                  <a:srgbClr val="F8FAFC"/>
                </a:solidFill>
                <a:latin typeface="Liter" pitchFamily="34" charset="0"/>
                <a:ea typeface="Liter" pitchFamily="34" charset="-122"/>
                <a:cs typeface="Liter" pitchFamily="34" charset="-120"/>
              </a:rPr>
              <a:t>Bài học chính từ 3 mức phân tích</a:t>
            </a:r>
            <a:endParaRPr lang="en-US" sz="1600" dirty="0"/>
          </a:p>
        </p:txBody>
      </p:sp>
      <p:sp>
        <p:nvSpPr>
          <p:cNvPr id="34" name="Shape 32"/>
          <p:cNvSpPr/>
          <p:nvPr/>
        </p:nvSpPr>
        <p:spPr>
          <a:xfrm>
            <a:off x="588033" y="4683025"/>
            <a:ext cx="3547564" cy="1496491"/>
          </a:xfrm>
          <a:custGeom>
            <a:avLst/>
            <a:gdLst/>
            <a:ahLst/>
            <a:cxnLst/>
            <a:rect l="l" t="t" r="r" b="b"/>
            <a:pathLst>
              <a:path w="3547564" h="1496491">
                <a:moveTo>
                  <a:pt x="35212" y="0"/>
                </a:moveTo>
                <a:lnTo>
                  <a:pt x="3441927" y="0"/>
                </a:lnTo>
                <a:cubicBezTo>
                  <a:pt x="3500229" y="0"/>
                  <a:pt x="3547564" y="47334"/>
                  <a:pt x="3547564" y="105637"/>
                </a:cubicBezTo>
                <a:lnTo>
                  <a:pt x="3547564" y="1390854"/>
                </a:lnTo>
                <a:cubicBezTo>
                  <a:pt x="3547564" y="1449156"/>
                  <a:pt x="3500229" y="1496491"/>
                  <a:pt x="3441927" y="1496491"/>
                </a:cubicBezTo>
                <a:lnTo>
                  <a:pt x="35212" y="1496491"/>
                </a:lnTo>
                <a:cubicBezTo>
                  <a:pt x="15765" y="1496491"/>
                  <a:pt x="0" y="1480726"/>
                  <a:pt x="0" y="1461279"/>
                </a:cubicBezTo>
                <a:lnTo>
                  <a:pt x="0" y="35212"/>
                </a:lnTo>
                <a:cubicBezTo>
                  <a:pt x="0" y="15778"/>
                  <a:pt x="15778" y="0"/>
                  <a:pt x="35212" y="0"/>
                </a:cubicBezTo>
                <a:close/>
              </a:path>
            </a:pathLst>
          </a:custGeom>
          <a:solidFill>
            <a:srgbClr val="0F172A">
              <a:alpha val="50196"/>
            </a:srgbClr>
          </a:solidFill>
          <a:ln/>
        </p:spPr>
      </p:sp>
      <p:sp>
        <p:nvSpPr>
          <p:cNvPr id="35" name="Shape 33"/>
          <p:cNvSpPr/>
          <p:nvPr/>
        </p:nvSpPr>
        <p:spPr>
          <a:xfrm>
            <a:off x="588033" y="4683025"/>
            <a:ext cx="35212" cy="1496491"/>
          </a:xfrm>
          <a:custGeom>
            <a:avLst/>
            <a:gdLst/>
            <a:ahLst/>
            <a:cxnLst/>
            <a:rect l="l" t="t" r="r" b="b"/>
            <a:pathLst>
              <a:path w="35212" h="1496491">
                <a:moveTo>
                  <a:pt x="35212" y="0"/>
                </a:moveTo>
                <a:lnTo>
                  <a:pt x="35212" y="0"/>
                </a:lnTo>
                <a:lnTo>
                  <a:pt x="35212" y="1496491"/>
                </a:lnTo>
                <a:lnTo>
                  <a:pt x="35212" y="1496491"/>
                </a:lnTo>
                <a:cubicBezTo>
                  <a:pt x="15765" y="1496491"/>
                  <a:pt x="0" y="1480726"/>
                  <a:pt x="0" y="1461279"/>
                </a:cubicBezTo>
                <a:lnTo>
                  <a:pt x="0" y="35212"/>
                </a:lnTo>
                <a:cubicBezTo>
                  <a:pt x="0" y="15778"/>
                  <a:pt x="15778" y="0"/>
                  <a:pt x="35212" y="0"/>
                </a:cubicBezTo>
                <a:close/>
              </a:path>
            </a:pathLst>
          </a:custGeom>
          <a:solidFill>
            <a:srgbClr val="3B82F6"/>
          </a:solidFill>
          <a:ln/>
        </p:spPr>
      </p:sp>
      <p:sp>
        <p:nvSpPr>
          <p:cNvPr id="36" name="Shape 34"/>
          <p:cNvSpPr/>
          <p:nvPr/>
        </p:nvSpPr>
        <p:spPr>
          <a:xfrm>
            <a:off x="781696" y="4859082"/>
            <a:ext cx="352116" cy="352116"/>
          </a:xfrm>
          <a:custGeom>
            <a:avLst/>
            <a:gdLst/>
            <a:ahLst/>
            <a:cxnLst/>
            <a:rect l="l" t="t" r="r" b="b"/>
            <a:pathLst>
              <a:path w="352116" h="352116">
                <a:moveTo>
                  <a:pt x="70423" y="0"/>
                </a:moveTo>
                <a:lnTo>
                  <a:pt x="281692" y="0"/>
                </a:lnTo>
                <a:cubicBezTo>
                  <a:pt x="320586" y="0"/>
                  <a:pt x="352116" y="31529"/>
                  <a:pt x="352116" y="70423"/>
                </a:cubicBezTo>
                <a:lnTo>
                  <a:pt x="352116" y="281692"/>
                </a:lnTo>
                <a:cubicBezTo>
                  <a:pt x="352116" y="320586"/>
                  <a:pt x="320586" y="352116"/>
                  <a:pt x="281692" y="352116"/>
                </a:cubicBezTo>
                <a:lnTo>
                  <a:pt x="70423" y="352116"/>
                </a:lnTo>
                <a:cubicBezTo>
                  <a:pt x="31529" y="352116"/>
                  <a:pt x="0" y="320586"/>
                  <a:pt x="0" y="281692"/>
                </a:cubicBezTo>
                <a:lnTo>
                  <a:pt x="0" y="70423"/>
                </a:lnTo>
                <a:cubicBezTo>
                  <a:pt x="0" y="31556"/>
                  <a:pt x="31556" y="0"/>
                  <a:pt x="70423" y="0"/>
                </a:cubicBezTo>
                <a:close/>
              </a:path>
            </a:pathLst>
          </a:custGeom>
          <a:gradFill rotWithShape="1" flip="none">
            <a:gsLst>
              <a:gs pos="0">
                <a:srgbClr val="3B82F6"/>
              </a:gs>
              <a:gs pos="100000">
                <a:srgbClr val="3B82F6">
                  <a:alpha val="60000"/>
                </a:srgbClr>
              </a:gs>
            </a:gsLst>
            <a:lin ang="2700000" scaled="1"/>
          </a:gradFill>
          <a:ln/>
        </p:spPr>
      </p:sp>
      <p:sp>
        <p:nvSpPr>
          <p:cNvPr id="37" name="Shape 35"/>
          <p:cNvSpPr/>
          <p:nvPr/>
        </p:nvSpPr>
        <p:spPr>
          <a:xfrm>
            <a:off x="904937" y="4964717"/>
            <a:ext cx="105635" cy="140846"/>
          </a:xfrm>
          <a:custGeom>
            <a:avLst/>
            <a:gdLst/>
            <a:ahLst/>
            <a:cxnLst/>
            <a:rect l="l" t="t" r="r" b="b"/>
            <a:pathLst>
              <a:path w="105635" h="140846">
                <a:moveTo>
                  <a:pt x="80574" y="105635"/>
                </a:moveTo>
                <a:cubicBezTo>
                  <a:pt x="82582" y="99500"/>
                  <a:pt x="86598" y="93943"/>
                  <a:pt x="91137" y="89157"/>
                </a:cubicBezTo>
                <a:cubicBezTo>
                  <a:pt x="100133" y="79694"/>
                  <a:pt x="105635" y="66902"/>
                  <a:pt x="105635" y="52817"/>
                </a:cubicBezTo>
                <a:cubicBezTo>
                  <a:pt x="105635" y="23658"/>
                  <a:pt x="81977" y="0"/>
                  <a:pt x="52817" y="0"/>
                </a:cubicBezTo>
                <a:cubicBezTo>
                  <a:pt x="23658" y="0"/>
                  <a:pt x="0" y="23658"/>
                  <a:pt x="0" y="52817"/>
                </a:cubicBezTo>
                <a:cubicBezTo>
                  <a:pt x="0" y="66902"/>
                  <a:pt x="5502" y="79694"/>
                  <a:pt x="14497" y="89157"/>
                </a:cubicBezTo>
                <a:cubicBezTo>
                  <a:pt x="19036" y="93943"/>
                  <a:pt x="23080" y="99500"/>
                  <a:pt x="25061" y="105635"/>
                </a:cubicBezTo>
                <a:lnTo>
                  <a:pt x="80546" y="105635"/>
                </a:lnTo>
                <a:close/>
                <a:moveTo>
                  <a:pt x="79226" y="118839"/>
                </a:moveTo>
                <a:lnTo>
                  <a:pt x="26409" y="118839"/>
                </a:lnTo>
                <a:lnTo>
                  <a:pt x="26409" y="123240"/>
                </a:lnTo>
                <a:cubicBezTo>
                  <a:pt x="26409" y="135399"/>
                  <a:pt x="36257" y="145248"/>
                  <a:pt x="48416" y="145248"/>
                </a:cubicBezTo>
                <a:lnTo>
                  <a:pt x="57219" y="145248"/>
                </a:lnTo>
                <a:cubicBezTo>
                  <a:pt x="69378" y="145248"/>
                  <a:pt x="79226" y="135399"/>
                  <a:pt x="79226" y="123240"/>
                </a:cubicBezTo>
                <a:lnTo>
                  <a:pt x="79226" y="118839"/>
                </a:lnTo>
                <a:close/>
                <a:moveTo>
                  <a:pt x="50617" y="30810"/>
                </a:moveTo>
                <a:cubicBezTo>
                  <a:pt x="39668" y="30810"/>
                  <a:pt x="30810" y="39668"/>
                  <a:pt x="30810" y="50617"/>
                </a:cubicBezTo>
                <a:cubicBezTo>
                  <a:pt x="30810" y="54275"/>
                  <a:pt x="27867" y="57219"/>
                  <a:pt x="24208" y="57219"/>
                </a:cubicBezTo>
                <a:cubicBezTo>
                  <a:pt x="20549" y="57219"/>
                  <a:pt x="17606" y="54275"/>
                  <a:pt x="17606" y="50617"/>
                </a:cubicBezTo>
                <a:cubicBezTo>
                  <a:pt x="17606" y="32378"/>
                  <a:pt x="32378" y="17606"/>
                  <a:pt x="50617" y="17606"/>
                </a:cubicBezTo>
                <a:cubicBezTo>
                  <a:pt x="54275" y="17606"/>
                  <a:pt x="57219" y="20549"/>
                  <a:pt x="57219" y="24208"/>
                </a:cubicBezTo>
                <a:cubicBezTo>
                  <a:pt x="57219" y="27867"/>
                  <a:pt x="54275" y="30810"/>
                  <a:pt x="50617" y="30810"/>
                </a:cubicBezTo>
                <a:close/>
              </a:path>
            </a:pathLst>
          </a:custGeom>
          <a:solidFill>
            <a:srgbClr val="FFFFFF"/>
          </a:solidFill>
          <a:ln/>
        </p:spPr>
      </p:sp>
      <p:sp>
        <p:nvSpPr>
          <p:cNvPr id="38" name="Text 36"/>
          <p:cNvSpPr/>
          <p:nvPr/>
        </p:nvSpPr>
        <p:spPr>
          <a:xfrm>
            <a:off x="1239447" y="4911900"/>
            <a:ext cx="1012332" cy="246481"/>
          </a:xfrm>
          <a:prstGeom prst="rect">
            <a:avLst/>
          </a:prstGeom>
          <a:noFill/>
          <a:ln/>
        </p:spPr>
        <p:txBody>
          <a:bodyPr wrap="square" lIns="0" tIns="0" rIns="0" bIns="0" rtlCol="0" anchor="ctr"/>
          <a:lstStyle/>
          <a:p>
            <a:pPr>
              <a:lnSpc>
                <a:spcPct val="130000"/>
              </a:lnSpc>
            </a:pPr>
            <a:r>
              <a:rPr lang="en-US" sz="1248" b="1" dirty="0">
                <a:solidFill>
                  <a:srgbClr val="3B82F6"/>
                </a:solidFill>
                <a:latin typeface="MiSans" pitchFamily="34" charset="0"/>
                <a:ea typeface="MiSans" pitchFamily="34" charset="-122"/>
                <a:cs typeface="MiSans" pitchFamily="34" charset="-120"/>
              </a:rPr>
              <a:t>Mức Ý tưởng</a:t>
            </a:r>
            <a:endParaRPr lang="en-US" sz="1600" dirty="0"/>
          </a:p>
        </p:txBody>
      </p:sp>
      <p:sp>
        <p:nvSpPr>
          <p:cNvPr id="39" name="Text 37"/>
          <p:cNvSpPr/>
          <p:nvPr/>
        </p:nvSpPr>
        <p:spPr>
          <a:xfrm>
            <a:off x="781696" y="5316833"/>
            <a:ext cx="3248266" cy="686625"/>
          </a:xfrm>
          <a:prstGeom prst="rect">
            <a:avLst/>
          </a:prstGeom>
          <a:noFill/>
          <a:ln/>
        </p:spPr>
        <p:txBody>
          <a:bodyPr wrap="square" lIns="0" tIns="0" rIns="0" bIns="0" rtlCol="0" anchor="ctr"/>
          <a:lstStyle/>
          <a:p>
            <a:pPr>
              <a:lnSpc>
                <a:spcPct val="140000"/>
              </a:lnSpc>
            </a:pPr>
            <a:r>
              <a:rPr lang="en-US" sz="1109" dirty="0">
                <a:solidFill>
                  <a:srgbClr val="F8FAFC">
                    <a:alpha val="80000"/>
                  </a:srgbClr>
                </a:solidFill>
                <a:latin typeface="MiSans" pitchFamily="34" charset="0"/>
                <a:ea typeface="MiSans" pitchFamily="34" charset="-122"/>
                <a:cs typeface="MiSans" pitchFamily="34" charset="-120"/>
              </a:rPr>
              <a:t>GenAI là </a:t>
            </a:r>
            <a:pPr>
              <a:lnSpc>
                <a:spcPct val="140000"/>
              </a:lnSpc>
            </a:pPr>
            <a:r>
              <a:rPr lang="en-US" sz="1109" dirty="0">
                <a:solidFill>
                  <a:srgbClr val="3B82F6"/>
                </a:solidFill>
                <a:highlight>
                  <a:srgbClr val="3B82F6">
                    <a:alpha val="20000"/>
                  </a:srgbClr>
                </a:highlight>
                <a:latin typeface="MiSans" pitchFamily="34" charset="0"/>
                <a:ea typeface="MiSans" pitchFamily="34" charset="-122"/>
                <a:cs typeface="MiSans" pitchFamily="34" charset="-120"/>
              </a:rPr>
              <a:t>bộ tăng cường năng suất </a:t>
            </a:r>
            <a:pPr>
              <a:lnSpc>
                <a:spcPct val="140000"/>
              </a:lnSpc>
            </a:pPr>
            <a:r>
              <a:rPr lang="en-US" sz="1109" dirty="0">
                <a:solidFill>
                  <a:srgbClr val="F8FAFC">
                    <a:alpha val="80000"/>
                  </a:srgbClr>
                </a:solidFill>
                <a:latin typeface="MiSans" pitchFamily="34" charset="0"/>
                <a:ea typeface="MiSans" pitchFamily="34" charset="-122"/>
                <a:cs typeface="MiSans" pitchFamily="34" charset="-120"/>
              </a:rPr>
              <a:t>, không phải thay thế hoàn toàn. Cần sự kiểm duyệt và định hướng từ con ngườ</a:t>
            </a:r>
            <a:endParaRPr lang="en-US" sz="1600" dirty="0"/>
          </a:p>
        </p:txBody>
      </p:sp>
      <p:sp>
        <p:nvSpPr>
          <p:cNvPr id="40" name="Shape 38"/>
          <p:cNvSpPr/>
          <p:nvPr/>
        </p:nvSpPr>
        <p:spPr>
          <a:xfrm>
            <a:off x="4330031" y="4683025"/>
            <a:ext cx="3547564" cy="1496491"/>
          </a:xfrm>
          <a:custGeom>
            <a:avLst/>
            <a:gdLst/>
            <a:ahLst/>
            <a:cxnLst/>
            <a:rect l="l" t="t" r="r" b="b"/>
            <a:pathLst>
              <a:path w="3547564" h="1496491">
                <a:moveTo>
                  <a:pt x="35212" y="0"/>
                </a:moveTo>
                <a:lnTo>
                  <a:pt x="3441927" y="0"/>
                </a:lnTo>
                <a:cubicBezTo>
                  <a:pt x="3500229" y="0"/>
                  <a:pt x="3547564" y="47334"/>
                  <a:pt x="3547564" y="105637"/>
                </a:cubicBezTo>
                <a:lnTo>
                  <a:pt x="3547564" y="1390854"/>
                </a:lnTo>
                <a:cubicBezTo>
                  <a:pt x="3547564" y="1449156"/>
                  <a:pt x="3500229" y="1496491"/>
                  <a:pt x="3441927" y="1496491"/>
                </a:cubicBezTo>
                <a:lnTo>
                  <a:pt x="35212" y="1496491"/>
                </a:lnTo>
                <a:cubicBezTo>
                  <a:pt x="15765" y="1496491"/>
                  <a:pt x="0" y="1480726"/>
                  <a:pt x="0" y="1461279"/>
                </a:cubicBezTo>
                <a:lnTo>
                  <a:pt x="0" y="35212"/>
                </a:lnTo>
                <a:cubicBezTo>
                  <a:pt x="0" y="15778"/>
                  <a:pt x="15778" y="0"/>
                  <a:pt x="35212" y="0"/>
                </a:cubicBezTo>
                <a:close/>
              </a:path>
            </a:pathLst>
          </a:custGeom>
          <a:solidFill>
            <a:srgbClr val="0F172A">
              <a:alpha val="50196"/>
            </a:srgbClr>
          </a:solidFill>
          <a:ln/>
        </p:spPr>
      </p:sp>
      <p:sp>
        <p:nvSpPr>
          <p:cNvPr id="41" name="Shape 39"/>
          <p:cNvSpPr/>
          <p:nvPr/>
        </p:nvSpPr>
        <p:spPr>
          <a:xfrm>
            <a:off x="4330031" y="4683025"/>
            <a:ext cx="35212" cy="1496491"/>
          </a:xfrm>
          <a:custGeom>
            <a:avLst/>
            <a:gdLst/>
            <a:ahLst/>
            <a:cxnLst/>
            <a:rect l="l" t="t" r="r" b="b"/>
            <a:pathLst>
              <a:path w="35212" h="1496491">
                <a:moveTo>
                  <a:pt x="35212" y="0"/>
                </a:moveTo>
                <a:lnTo>
                  <a:pt x="35212" y="0"/>
                </a:lnTo>
                <a:lnTo>
                  <a:pt x="35212" y="1496491"/>
                </a:lnTo>
                <a:lnTo>
                  <a:pt x="35212" y="1496491"/>
                </a:lnTo>
                <a:cubicBezTo>
                  <a:pt x="15765" y="1496491"/>
                  <a:pt x="0" y="1480726"/>
                  <a:pt x="0" y="1461279"/>
                </a:cubicBezTo>
                <a:lnTo>
                  <a:pt x="0" y="35212"/>
                </a:lnTo>
                <a:cubicBezTo>
                  <a:pt x="0" y="15778"/>
                  <a:pt x="15778" y="0"/>
                  <a:pt x="35212" y="0"/>
                </a:cubicBezTo>
                <a:close/>
              </a:path>
            </a:pathLst>
          </a:custGeom>
          <a:solidFill>
            <a:srgbClr val="8B5CF6"/>
          </a:solidFill>
          <a:ln/>
        </p:spPr>
      </p:sp>
      <p:sp>
        <p:nvSpPr>
          <p:cNvPr id="42" name="Shape 40"/>
          <p:cNvSpPr/>
          <p:nvPr/>
        </p:nvSpPr>
        <p:spPr>
          <a:xfrm>
            <a:off x="4523694" y="4859082"/>
            <a:ext cx="352116" cy="352116"/>
          </a:xfrm>
          <a:custGeom>
            <a:avLst/>
            <a:gdLst/>
            <a:ahLst/>
            <a:cxnLst/>
            <a:rect l="l" t="t" r="r" b="b"/>
            <a:pathLst>
              <a:path w="352116" h="352116">
                <a:moveTo>
                  <a:pt x="70423" y="0"/>
                </a:moveTo>
                <a:lnTo>
                  <a:pt x="281692" y="0"/>
                </a:lnTo>
                <a:cubicBezTo>
                  <a:pt x="320586" y="0"/>
                  <a:pt x="352116" y="31529"/>
                  <a:pt x="352116" y="70423"/>
                </a:cubicBezTo>
                <a:lnTo>
                  <a:pt x="352116" y="281692"/>
                </a:lnTo>
                <a:cubicBezTo>
                  <a:pt x="352116" y="320586"/>
                  <a:pt x="320586" y="352116"/>
                  <a:pt x="281692" y="352116"/>
                </a:cubicBezTo>
                <a:lnTo>
                  <a:pt x="70423" y="352116"/>
                </a:lnTo>
                <a:cubicBezTo>
                  <a:pt x="31529" y="352116"/>
                  <a:pt x="0" y="320586"/>
                  <a:pt x="0" y="281692"/>
                </a:cubicBezTo>
                <a:lnTo>
                  <a:pt x="0" y="70423"/>
                </a:lnTo>
                <a:cubicBezTo>
                  <a:pt x="0" y="31556"/>
                  <a:pt x="31556" y="0"/>
                  <a:pt x="70423" y="0"/>
                </a:cubicBezTo>
                <a:close/>
              </a:path>
            </a:pathLst>
          </a:custGeom>
          <a:gradFill rotWithShape="1" flip="none">
            <a:gsLst>
              <a:gs pos="0">
                <a:srgbClr val="8B5CF6"/>
              </a:gs>
              <a:gs pos="100000">
                <a:srgbClr val="8B5CF6">
                  <a:alpha val="60000"/>
                </a:srgbClr>
              </a:gs>
            </a:gsLst>
            <a:lin ang="2700000" scaled="1"/>
          </a:gradFill>
          <a:ln/>
        </p:spPr>
      </p:sp>
      <p:sp>
        <p:nvSpPr>
          <p:cNvPr id="43" name="Shape 41"/>
          <p:cNvSpPr/>
          <p:nvPr/>
        </p:nvSpPr>
        <p:spPr>
          <a:xfrm>
            <a:off x="4629329" y="4964717"/>
            <a:ext cx="140846" cy="140846"/>
          </a:xfrm>
          <a:custGeom>
            <a:avLst/>
            <a:gdLst/>
            <a:ahLst/>
            <a:cxnLst/>
            <a:rect l="l" t="t" r="r" b="b"/>
            <a:pathLst>
              <a:path w="140846" h="140846">
                <a:moveTo>
                  <a:pt x="0" y="22007"/>
                </a:moveTo>
                <a:cubicBezTo>
                  <a:pt x="0" y="14717"/>
                  <a:pt x="5914" y="8803"/>
                  <a:pt x="13204" y="8803"/>
                </a:cubicBezTo>
                <a:lnTo>
                  <a:pt x="39613" y="8803"/>
                </a:lnTo>
                <a:cubicBezTo>
                  <a:pt x="46903" y="8803"/>
                  <a:pt x="52817" y="14717"/>
                  <a:pt x="52817" y="22007"/>
                </a:cubicBezTo>
                <a:lnTo>
                  <a:pt x="52817" y="26409"/>
                </a:lnTo>
                <a:lnTo>
                  <a:pt x="88029" y="26409"/>
                </a:lnTo>
                <a:lnTo>
                  <a:pt x="88029" y="22007"/>
                </a:lnTo>
                <a:cubicBezTo>
                  <a:pt x="88029" y="14717"/>
                  <a:pt x="93943" y="8803"/>
                  <a:pt x="101233" y="8803"/>
                </a:cubicBezTo>
                <a:lnTo>
                  <a:pt x="127642" y="8803"/>
                </a:lnTo>
                <a:cubicBezTo>
                  <a:pt x="134932" y="8803"/>
                  <a:pt x="140846" y="14717"/>
                  <a:pt x="140846" y="22007"/>
                </a:cubicBezTo>
                <a:lnTo>
                  <a:pt x="140846" y="48416"/>
                </a:lnTo>
                <a:cubicBezTo>
                  <a:pt x="140846" y="55706"/>
                  <a:pt x="134932" y="61620"/>
                  <a:pt x="127642" y="61620"/>
                </a:cubicBezTo>
                <a:lnTo>
                  <a:pt x="101233" y="61620"/>
                </a:lnTo>
                <a:cubicBezTo>
                  <a:pt x="93943" y="61620"/>
                  <a:pt x="88029" y="55706"/>
                  <a:pt x="88029" y="48416"/>
                </a:cubicBezTo>
                <a:lnTo>
                  <a:pt x="88029" y="44014"/>
                </a:lnTo>
                <a:lnTo>
                  <a:pt x="52817" y="44014"/>
                </a:lnTo>
                <a:lnTo>
                  <a:pt x="52817" y="48416"/>
                </a:lnTo>
                <a:cubicBezTo>
                  <a:pt x="52817" y="50424"/>
                  <a:pt x="52350" y="52350"/>
                  <a:pt x="51552" y="54055"/>
                </a:cubicBezTo>
                <a:lnTo>
                  <a:pt x="70423" y="79226"/>
                </a:lnTo>
                <a:lnTo>
                  <a:pt x="92430" y="79226"/>
                </a:lnTo>
                <a:cubicBezTo>
                  <a:pt x="99720" y="79226"/>
                  <a:pt x="105635" y="85140"/>
                  <a:pt x="105635" y="92430"/>
                </a:cubicBezTo>
                <a:lnTo>
                  <a:pt x="105635" y="118839"/>
                </a:lnTo>
                <a:cubicBezTo>
                  <a:pt x="105635" y="126129"/>
                  <a:pt x="99720" y="132043"/>
                  <a:pt x="92430" y="132043"/>
                </a:cubicBezTo>
                <a:lnTo>
                  <a:pt x="66022" y="132043"/>
                </a:lnTo>
                <a:cubicBezTo>
                  <a:pt x="58732" y="132043"/>
                  <a:pt x="52817" y="126129"/>
                  <a:pt x="52817" y="118839"/>
                </a:cubicBezTo>
                <a:lnTo>
                  <a:pt x="52817" y="92430"/>
                </a:lnTo>
                <a:cubicBezTo>
                  <a:pt x="52817" y="90422"/>
                  <a:pt x="53285" y="88497"/>
                  <a:pt x="54083" y="86791"/>
                </a:cubicBezTo>
                <a:lnTo>
                  <a:pt x="35212" y="61620"/>
                </a:lnTo>
                <a:lnTo>
                  <a:pt x="13204" y="61620"/>
                </a:lnTo>
                <a:cubicBezTo>
                  <a:pt x="5914" y="61620"/>
                  <a:pt x="0" y="55706"/>
                  <a:pt x="0" y="48416"/>
                </a:cubicBezTo>
                <a:lnTo>
                  <a:pt x="0" y="22007"/>
                </a:lnTo>
                <a:close/>
              </a:path>
            </a:pathLst>
          </a:custGeom>
          <a:solidFill>
            <a:srgbClr val="FFFFFF"/>
          </a:solidFill>
          <a:ln/>
        </p:spPr>
      </p:sp>
      <p:sp>
        <p:nvSpPr>
          <p:cNvPr id="44" name="Text 42"/>
          <p:cNvSpPr/>
          <p:nvPr/>
        </p:nvSpPr>
        <p:spPr>
          <a:xfrm>
            <a:off x="4981444" y="4911900"/>
            <a:ext cx="968318" cy="246481"/>
          </a:xfrm>
          <a:prstGeom prst="rect">
            <a:avLst/>
          </a:prstGeom>
          <a:noFill/>
          <a:ln/>
        </p:spPr>
        <p:txBody>
          <a:bodyPr wrap="square" lIns="0" tIns="0" rIns="0" bIns="0" rtlCol="0" anchor="ctr"/>
          <a:lstStyle/>
          <a:p>
            <a:pPr>
              <a:lnSpc>
                <a:spcPct val="130000"/>
              </a:lnSpc>
            </a:pPr>
            <a:r>
              <a:rPr lang="en-US" sz="1248" b="1" dirty="0">
                <a:solidFill>
                  <a:srgbClr val="8B5CF6"/>
                </a:solidFill>
                <a:latin typeface="MiSans" pitchFamily="34" charset="0"/>
                <a:ea typeface="MiSans" pitchFamily="34" charset="-122"/>
                <a:cs typeface="MiSans" pitchFamily="34" charset="-120"/>
              </a:rPr>
              <a:t>Mức Luận lý</a:t>
            </a:r>
            <a:endParaRPr lang="en-US" sz="1600" dirty="0"/>
          </a:p>
        </p:txBody>
      </p:sp>
      <p:sp>
        <p:nvSpPr>
          <p:cNvPr id="45" name="Text 43"/>
          <p:cNvSpPr/>
          <p:nvPr/>
        </p:nvSpPr>
        <p:spPr>
          <a:xfrm>
            <a:off x="4523694" y="5316833"/>
            <a:ext cx="3248266" cy="686625"/>
          </a:xfrm>
          <a:prstGeom prst="rect">
            <a:avLst/>
          </a:prstGeom>
          <a:noFill/>
          <a:ln/>
        </p:spPr>
        <p:txBody>
          <a:bodyPr wrap="square" lIns="0" tIns="0" rIns="0" bIns="0" rtlCol="0" anchor="ctr"/>
          <a:lstStyle/>
          <a:p>
            <a:pPr>
              <a:lnSpc>
                <a:spcPct val="140000"/>
              </a:lnSpc>
            </a:pPr>
            <a:r>
              <a:rPr lang="en-US" sz="1109" dirty="0">
                <a:solidFill>
                  <a:srgbClr val="F8FAFC">
                    <a:alpha val="80000"/>
                  </a:srgbClr>
                </a:solidFill>
                <a:latin typeface="MiSans" pitchFamily="34" charset="0"/>
                <a:ea typeface="MiSans" pitchFamily="34" charset="-122"/>
                <a:cs typeface="MiSans" pitchFamily="34" charset="-120"/>
              </a:rPr>
              <a:t>Quy trình theo </a:t>
            </a:r>
            <a:pPr>
              <a:lnSpc>
                <a:spcPct val="140000"/>
              </a:lnSpc>
            </a:pPr>
            <a:r>
              <a:rPr lang="en-US" sz="1109" dirty="0">
                <a:solidFill>
                  <a:srgbClr val="8B5CF6"/>
                </a:solidFill>
                <a:highlight>
                  <a:srgbClr val="8B5CF6">
                    <a:alpha val="20000"/>
                  </a:srgbClr>
                </a:highlight>
                <a:latin typeface="MiSans" pitchFamily="34" charset="0"/>
                <a:ea typeface="MiSans" pitchFamily="34" charset="-122"/>
                <a:cs typeface="MiSans" pitchFamily="34" charset="-120"/>
              </a:rPr>
              <a:t>vòng lặp </a:t>
            </a:r>
            <a:pPr>
              <a:lnSpc>
                <a:spcPct val="140000"/>
              </a:lnSpc>
            </a:pPr>
            <a:r>
              <a:rPr lang="en-US" sz="1109" dirty="0">
                <a:solidFill>
                  <a:srgbClr val="F8FAFC">
                    <a:alpha val="80000"/>
                  </a:srgbClr>
                </a:solidFill>
                <a:latin typeface="MiSans" pitchFamily="34" charset="0"/>
                <a:ea typeface="MiSans" pitchFamily="34" charset="-122"/>
                <a:cs typeface="MiSans" pitchFamily="34" charset="-120"/>
              </a:rPr>
              <a:t>: yêu cầu → prompt → sinh kết quả → đánh giá → hiệu chỉnh. Prompt là giao diện giữa con ngườ và AI</a:t>
            </a:r>
            <a:endParaRPr lang="en-US" sz="1600" dirty="0"/>
          </a:p>
        </p:txBody>
      </p:sp>
      <p:sp>
        <p:nvSpPr>
          <p:cNvPr id="46" name="Shape 44"/>
          <p:cNvSpPr/>
          <p:nvPr/>
        </p:nvSpPr>
        <p:spPr>
          <a:xfrm>
            <a:off x="8072138" y="4683025"/>
            <a:ext cx="3547564" cy="1496491"/>
          </a:xfrm>
          <a:custGeom>
            <a:avLst/>
            <a:gdLst/>
            <a:ahLst/>
            <a:cxnLst/>
            <a:rect l="l" t="t" r="r" b="b"/>
            <a:pathLst>
              <a:path w="3547564" h="1496491">
                <a:moveTo>
                  <a:pt x="35212" y="0"/>
                </a:moveTo>
                <a:lnTo>
                  <a:pt x="3441927" y="0"/>
                </a:lnTo>
                <a:cubicBezTo>
                  <a:pt x="3500229" y="0"/>
                  <a:pt x="3547564" y="47334"/>
                  <a:pt x="3547564" y="105637"/>
                </a:cubicBezTo>
                <a:lnTo>
                  <a:pt x="3547564" y="1390854"/>
                </a:lnTo>
                <a:cubicBezTo>
                  <a:pt x="3547564" y="1449156"/>
                  <a:pt x="3500229" y="1496491"/>
                  <a:pt x="3441927" y="1496491"/>
                </a:cubicBezTo>
                <a:lnTo>
                  <a:pt x="35212" y="1496491"/>
                </a:lnTo>
                <a:cubicBezTo>
                  <a:pt x="15765" y="1496491"/>
                  <a:pt x="0" y="1480726"/>
                  <a:pt x="0" y="1461279"/>
                </a:cubicBezTo>
                <a:lnTo>
                  <a:pt x="0" y="35212"/>
                </a:lnTo>
                <a:cubicBezTo>
                  <a:pt x="0" y="15778"/>
                  <a:pt x="15778" y="0"/>
                  <a:pt x="35212" y="0"/>
                </a:cubicBezTo>
                <a:close/>
              </a:path>
            </a:pathLst>
          </a:custGeom>
          <a:solidFill>
            <a:srgbClr val="0F172A">
              <a:alpha val="50196"/>
            </a:srgbClr>
          </a:solidFill>
          <a:ln/>
        </p:spPr>
      </p:sp>
      <p:sp>
        <p:nvSpPr>
          <p:cNvPr id="47" name="Shape 45"/>
          <p:cNvSpPr/>
          <p:nvPr/>
        </p:nvSpPr>
        <p:spPr>
          <a:xfrm>
            <a:off x="8072138" y="4683025"/>
            <a:ext cx="35212" cy="1496491"/>
          </a:xfrm>
          <a:custGeom>
            <a:avLst/>
            <a:gdLst/>
            <a:ahLst/>
            <a:cxnLst/>
            <a:rect l="l" t="t" r="r" b="b"/>
            <a:pathLst>
              <a:path w="35212" h="1496491">
                <a:moveTo>
                  <a:pt x="35212" y="0"/>
                </a:moveTo>
                <a:lnTo>
                  <a:pt x="35212" y="0"/>
                </a:lnTo>
                <a:lnTo>
                  <a:pt x="35212" y="1496491"/>
                </a:lnTo>
                <a:lnTo>
                  <a:pt x="35212" y="1496491"/>
                </a:lnTo>
                <a:cubicBezTo>
                  <a:pt x="15765" y="1496491"/>
                  <a:pt x="0" y="1480726"/>
                  <a:pt x="0" y="1461279"/>
                </a:cubicBezTo>
                <a:lnTo>
                  <a:pt x="0" y="35212"/>
                </a:lnTo>
                <a:cubicBezTo>
                  <a:pt x="0" y="15778"/>
                  <a:pt x="15778" y="0"/>
                  <a:pt x="35212" y="0"/>
                </a:cubicBezTo>
                <a:close/>
              </a:path>
            </a:pathLst>
          </a:custGeom>
          <a:solidFill>
            <a:srgbClr val="10B981"/>
          </a:solidFill>
          <a:ln/>
        </p:spPr>
      </p:sp>
      <p:sp>
        <p:nvSpPr>
          <p:cNvPr id="48" name="Shape 46"/>
          <p:cNvSpPr/>
          <p:nvPr/>
        </p:nvSpPr>
        <p:spPr>
          <a:xfrm>
            <a:off x="8265802" y="4859082"/>
            <a:ext cx="352116" cy="352116"/>
          </a:xfrm>
          <a:custGeom>
            <a:avLst/>
            <a:gdLst/>
            <a:ahLst/>
            <a:cxnLst/>
            <a:rect l="l" t="t" r="r" b="b"/>
            <a:pathLst>
              <a:path w="352116" h="352116">
                <a:moveTo>
                  <a:pt x="70423" y="0"/>
                </a:moveTo>
                <a:lnTo>
                  <a:pt x="281692" y="0"/>
                </a:lnTo>
                <a:cubicBezTo>
                  <a:pt x="320586" y="0"/>
                  <a:pt x="352116" y="31529"/>
                  <a:pt x="352116" y="70423"/>
                </a:cubicBezTo>
                <a:lnTo>
                  <a:pt x="352116" y="281692"/>
                </a:lnTo>
                <a:cubicBezTo>
                  <a:pt x="352116" y="320586"/>
                  <a:pt x="320586" y="352116"/>
                  <a:pt x="281692" y="352116"/>
                </a:cubicBezTo>
                <a:lnTo>
                  <a:pt x="70423" y="352116"/>
                </a:lnTo>
                <a:cubicBezTo>
                  <a:pt x="31529" y="352116"/>
                  <a:pt x="0" y="320586"/>
                  <a:pt x="0" y="281692"/>
                </a:cubicBezTo>
                <a:lnTo>
                  <a:pt x="0" y="70423"/>
                </a:lnTo>
                <a:cubicBezTo>
                  <a:pt x="0" y="31556"/>
                  <a:pt x="31556" y="0"/>
                  <a:pt x="70423" y="0"/>
                </a:cubicBezTo>
                <a:close/>
              </a:path>
            </a:pathLst>
          </a:custGeom>
          <a:gradFill rotWithShape="1" flip="none">
            <a:gsLst>
              <a:gs pos="0">
                <a:srgbClr val="10B981"/>
              </a:gs>
              <a:gs pos="100000">
                <a:srgbClr val="10B981">
                  <a:alpha val="60000"/>
                </a:srgbClr>
              </a:gs>
            </a:gsLst>
            <a:lin ang="2700000" scaled="1"/>
          </a:gradFill>
          <a:ln/>
        </p:spPr>
      </p:sp>
      <p:sp>
        <p:nvSpPr>
          <p:cNvPr id="49" name="Shape 47"/>
          <p:cNvSpPr/>
          <p:nvPr/>
        </p:nvSpPr>
        <p:spPr>
          <a:xfrm>
            <a:off x="8353831" y="4964717"/>
            <a:ext cx="176058" cy="140846"/>
          </a:xfrm>
          <a:custGeom>
            <a:avLst/>
            <a:gdLst/>
            <a:ahLst/>
            <a:cxnLst/>
            <a:rect l="l" t="t" r="r" b="b"/>
            <a:pathLst>
              <a:path w="176058" h="140846">
                <a:moveTo>
                  <a:pt x="114410" y="57906"/>
                </a:moveTo>
                <a:cubicBezTo>
                  <a:pt x="117766" y="56999"/>
                  <a:pt x="121287" y="58594"/>
                  <a:pt x="122800" y="61703"/>
                </a:cubicBezTo>
                <a:lnTo>
                  <a:pt x="127917" y="72046"/>
                </a:lnTo>
                <a:cubicBezTo>
                  <a:pt x="130750" y="72431"/>
                  <a:pt x="133529" y="73202"/>
                  <a:pt x="136142" y="74274"/>
                </a:cubicBezTo>
                <a:lnTo>
                  <a:pt x="145770" y="67865"/>
                </a:lnTo>
                <a:cubicBezTo>
                  <a:pt x="148659" y="65939"/>
                  <a:pt x="152483" y="66324"/>
                  <a:pt x="154931" y="68773"/>
                </a:cubicBezTo>
                <a:lnTo>
                  <a:pt x="160213" y="74054"/>
                </a:lnTo>
                <a:cubicBezTo>
                  <a:pt x="162661" y="76503"/>
                  <a:pt x="163046" y="80354"/>
                  <a:pt x="161120" y="83215"/>
                </a:cubicBezTo>
                <a:lnTo>
                  <a:pt x="154711" y="92815"/>
                </a:lnTo>
                <a:cubicBezTo>
                  <a:pt x="155233" y="94108"/>
                  <a:pt x="155701" y="95456"/>
                  <a:pt x="156086" y="96859"/>
                </a:cubicBezTo>
                <a:cubicBezTo>
                  <a:pt x="156471" y="98262"/>
                  <a:pt x="156719" y="99638"/>
                  <a:pt x="156911" y="101041"/>
                </a:cubicBezTo>
                <a:lnTo>
                  <a:pt x="167282" y="106157"/>
                </a:lnTo>
                <a:cubicBezTo>
                  <a:pt x="170391" y="107698"/>
                  <a:pt x="171986" y="111219"/>
                  <a:pt x="171079" y="114548"/>
                </a:cubicBezTo>
                <a:lnTo>
                  <a:pt x="169153" y="121755"/>
                </a:lnTo>
                <a:cubicBezTo>
                  <a:pt x="168245" y="125084"/>
                  <a:pt x="165137" y="127339"/>
                  <a:pt x="161671" y="127119"/>
                </a:cubicBezTo>
                <a:lnTo>
                  <a:pt x="150117" y="126376"/>
                </a:lnTo>
                <a:cubicBezTo>
                  <a:pt x="148384" y="128605"/>
                  <a:pt x="146376" y="130668"/>
                  <a:pt x="144092" y="132428"/>
                </a:cubicBezTo>
                <a:lnTo>
                  <a:pt x="144835" y="143955"/>
                </a:lnTo>
                <a:cubicBezTo>
                  <a:pt x="145055" y="147421"/>
                  <a:pt x="142799" y="150557"/>
                  <a:pt x="139471" y="151437"/>
                </a:cubicBezTo>
                <a:lnTo>
                  <a:pt x="132263" y="153363"/>
                </a:lnTo>
                <a:cubicBezTo>
                  <a:pt x="128907" y="154271"/>
                  <a:pt x="125414" y="152675"/>
                  <a:pt x="123873" y="149567"/>
                </a:cubicBezTo>
                <a:lnTo>
                  <a:pt x="118756" y="139223"/>
                </a:lnTo>
                <a:cubicBezTo>
                  <a:pt x="115923" y="138838"/>
                  <a:pt x="113145" y="138068"/>
                  <a:pt x="110531" y="136995"/>
                </a:cubicBezTo>
                <a:lnTo>
                  <a:pt x="100903" y="143405"/>
                </a:lnTo>
                <a:cubicBezTo>
                  <a:pt x="98015" y="145330"/>
                  <a:pt x="94191" y="144945"/>
                  <a:pt x="91743" y="142497"/>
                </a:cubicBezTo>
                <a:lnTo>
                  <a:pt x="86461" y="137215"/>
                </a:lnTo>
                <a:cubicBezTo>
                  <a:pt x="84013" y="134767"/>
                  <a:pt x="83627" y="130943"/>
                  <a:pt x="85553" y="128055"/>
                </a:cubicBezTo>
                <a:lnTo>
                  <a:pt x="91963" y="118426"/>
                </a:lnTo>
                <a:cubicBezTo>
                  <a:pt x="91440" y="117133"/>
                  <a:pt x="90972" y="115785"/>
                  <a:pt x="90587" y="114383"/>
                </a:cubicBezTo>
                <a:cubicBezTo>
                  <a:pt x="90202" y="112980"/>
                  <a:pt x="89955" y="111577"/>
                  <a:pt x="89762" y="110201"/>
                </a:cubicBezTo>
                <a:lnTo>
                  <a:pt x="79391" y="105084"/>
                </a:lnTo>
                <a:cubicBezTo>
                  <a:pt x="76283" y="103544"/>
                  <a:pt x="74715" y="100023"/>
                  <a:pt x="75595" y="96694"/>
                </a:cubicBezTo>
                <a:lnTo>
                  <a:pt x="77520" y="89487"/>
                </a:lnTo>
                <a:cubicBezTo>
                  <a:pt x="78428" y="86158"/>
                  <a:pt x="81537" y="83903"/>
                  <a:pt x="85003" y="84123"/>
                </a:cubicBezTo>
                <a:lnTo>
                  <a:pt x="96529" y="84865"/>
                </a:lnTo>
                <a:cubicBezTo>
                  <a:pt x="98262" y="82637"/>
                  <a:pt x="100270" y="80574"/>
                  <a:pt x="102554" y="78813"/>
                </a:cubicBezTo>
                <a:lnTo>
                  <a:pt x="101811" y="67315"/>
                </a:lnTo>
                <a:cubicBezTo>
                  <a:pt x="101591" y="63848"/>
                  <a:pt x="103847" y="60712"/>
                  <a:pt x="107175" y="59832"/>
                </a:cubicBezTo>
                <a:lnTo>
                  <a:pt x="114383" y="57906"/>
                </a:lnTo>
                <a:close/>
                <a:moveTo>
                  <a:pt x="123350" y="93531"/>
                </a:moveTo>
                <a:cubicBezTo>
                  <a:pt x="116670" y="93538"/>
                  <a:pt x="111253" y="98968"/>
                  <a:pt x="111260" y="105648"/>
                </a:cubicBezTo>
                <a:cubicBezTo>
                  <a:pt x="111268" y="112329"/>
                  <a:pt x="116698" y="117746"/>
                  <a:pt x="123378" y="117739"/>
                </a:cubicBezTo>
                <a:cubicBezTo>
                  <a:pt x="130058" y="117731"/>
                  <a:pt x="135476" y="112301"/>
                  <a:pt x="135468" y="105621"/>
                </a:cubicBezTo>
                <a:cubicBezTo>
                  <a:pt x="135461" y="98941"/>
                  <a:pt x="130031" y="93523"/>
                  <a:pt x="123350" y="93531"/>
                </a:cubicBezTo>
                <a:close/>
                <a:moveTo>
                  <a:pt x="61868" y="-12517"/>
                </a:moveTo>
                <a:lnTo>
                  <a:pt x="69075" y="-10591"/>
                </a:lnTo>
                <a:cubicBezTo>
                  <a:pt x="72404" y="-9683"/>
                  <a:pt x="74659" y="-6547"/>
                  <a:pt x="74439" y="-3109"/>
                </a:cubicBezTo>
                <a:lnTo>
                  <a:pt x="73697" y="8390"/>
                </a:lnTo>
                <a:cubicBezTo>
                  <a:pt x="75980" y="10151"/>
                  <a:pt x="77988" y="12186"/>
                  <a:pt x="79721" y="14442"/>
                </a:cubicBezTo>
                <a:lnTo>
                  <a:pt x="91275" y="13699"/>
                </a:lnTo>
                <a:cubicBezTo>
                  <a:pt x="94714" y="13479"/>
                  <a:pt x="97850" y="15735"/>
                  <a:pt x="98757" y="19064"/>
                </a:cubicBezTo>
                <a:lnTo>
                  <a:pt x="100683" y="26271"/>
                </a:lnTo>
                <a:cubicBezTo>
                  <a:pt x="101563" y="29600"/>
                  <a:pt x="99995" y="33121"/>
                  <a:pt x="96887" y="34661"/>
                </a:cubicBezTo>
                <a:lnTo>
                  <a:pt x="86516" y="39778"/>
                </a:lnTo>
                <a:cubicBezTo>
                  <a:pt x="86323" y="41181"/>
                  <a:pt x="86048" y="42584"/>
                  <a:pt x="85691" y="43959"/>
                </a:cubicBezTo>
                <a:cubicBezTo>
                  <a:pt x="85333" y="45335"/>
                  <a:pt x="84838" y="46710"/>
                  <a:pt x="84315" y="48003"/>
                </a:cubicBezTo>
                <a:lnTo>
                  <a:pt x="90725" y="57631"/>
                </a:lnTo>
                <a:cubicBezTo>
                  <a:pt x="92650" y="60520"/>
                  <a:pt x="92265" y="64344"/>
                  <a:pt x="89817" y="66792"/>
                </a:cubicBezTo>
                <a:lnTo>
                  <a:pt x="84535" y="72074"/>
                </a:lnTo>
                <a:cubicBezTo>
                  <a:pt x="82087" y="74522"/>
                  <a:pt x="78263" y="74907"/>
                  <a:pt x="75375" y="72981"/>
                </a:cubicBezTo>
                <a:lnTo>
                  <a:pt x="65747" y="66572"/>
                </a:lnTo>
                <a:cubicBezTo>
                  <a:pt x="63133" y="67645"/>
                  <a:pt x="60355" y="68415"/>
                  <a:pt x="57521" y="68800"/>
                </a:cubicBezTo>
                <a:lnTo>
                  <a:pt x="52405" y="79143"/>
                </a:lnTo>
                <a:cubicBezTo>
                  <a:pt x="50864" y="82252"/>
                  <a:pt x="47343" y="83820"/>
                  <a:pt x="44014" y="82940"/>
                </a:cubicBezTo>
                <a:lnTo>
                  <a:pt x="36807" y="81014"/>
                </a:lnTo>
                <a:cubicBezTo>
                  <a:pt x="33451" y="80106"/>
                  <a:pt x="31223" y="76970"/>
                  <a:pt x="31443" y="73532"/>
                </a:cubicBezTo>
                <a:lnTo>
                  <a:pt x="32186" y="62005"/>
                </a:lnTo>
                <a:cubicBezTo>
                  <a:pt x="29902" y="60245"/>
                  <a:pt x="27894" y="58209"/>
                  <a:pt x="26161" y="55953"/>
                </a:cubicBezTo>
                <a:lnTo>
                  <a:pt x="14607" y="56696"/>
                </a:lnTo>
                <a:cubicBezTo>
                  <a:pt x="11169" y="56916"/>
                  <a:pt x="8033" y="54660"/>
                  <a:pt x="7125" y="51332"/>
                </a:cubicBezTo>
                <a:lnTo>
                  <a:pt x="5199" y="44124"/>
                </a:lnTo>
                <a:cubicBezTo>
                  <a:pt x="4319" y="40796"/>
                  <a:pt x="5887" y="37275"/>
                  <a:pt x="8995" y="35734"/>
                </a:cubicBezTo>
                <a:lnTo>
                  <a:pt x="19366" y="30618"/>
                </a:lnTo>
                <a:cubicBezTo>
                  <a:pt x="19559" y="29215"/>
                  <a:pt x="19834" y="27839"/>
                  <a:pt x="20192" y="26436"/>
                </a:cubicBezTo>
                <a:cubicBezTo>
                  <a:pt x="20577" y="25033"/>
                  <a:pt x="21017" y="23685"/>
                  <a:pt x="21567" y="22392"/>
                </a:cubicBezTo>
                <a:lnTo>
                  <a:pt x="15157" y="12792"/>
                </a:lnTo>
                <a:cubicBezTo>
                  <a:pt x="13232" y="9903"/>
                  <a:pt x="13617" y="6079"/>
                  <a:pt x="16065" y="3631"/>
                </a:cubicBezTo>
                <a:lnTo>
                  <a:pt x="21347" y="-1651"/>
                </a:lnTo>
                <a:cubicBezTo>
                  <a:pt x="23795" y="-4099"/>
                  <a:pt x="27619" y="-4484"/>
                  <a:pt x="30508" y="-2558"/>
                </a:cubicBezTo>
                <a:lnTo>
                  <a:pt x="40136" y="3851"/>
                </a:lnTo>
                <a:cubicBezTo>
                  <a:pt x="42749" y="2778"/>
                  <a:pt x="45527" y="2008"/>
                  <a:pt x="48361" y="1623"/>
                </a:cubicBezTo>
                <a:lnTo>
                  <a:pt x="53478" y="-8720"/>
                </a:lnTo>
                <a:cubicBezTo>
                  <a:pt x="55018" y="-11829"/>
                  <a:pt x="58512" y="-13397"/>
                  <a:pt x="61868" y="-12517"/>
                </a:cubicBezTo>
                <a:close/>
                <a:moveTo>
                  <a:pt x="52927" y="23108"/>
                </a:moveTo>
                <a:cubicBezTo>
                  <a:pt x="46247" y="23108"/>
                  <a:pt x="40823" y="28531"/>
                  <a:pt x="40823" y="35212"/>
                </a:cubicBezTo>
                <a:cubicBezTo>
                  <a:pt x="40823" y="41892"/>
                  <a:pt x="46247" y="47316"/>
                  <a:pt x="52927" y="47316"/>
                </a:cubicBezTo>
                <a:cubicBezTo>
                  <a:pt x="59608" y="47316"/>
                  <a:pt x="65031" y="41892"/>
                  <a:pt x="65031" y="35212"/>
                </a:cubicBezTo>
                <a:cubicBezTo>
                  <a:pt x="65031" y="28531"/>
                  <a:pt x="59608" y="23108"/>
                  <a:pt x="52927" y="23108"/>
                </a:cubicBezTo>
                <a:close/>
              </a:path>
            </a:pathLst>
          </a:custGeom>
          <a:solidFill>
            <a:srgbClr val="FFFFFF"/>
          </a:solidFill>
          <a:ln/>
        </p:spPr>
      </p:sp>
      <p:sp>
        <p:nvSpPr>
          <p:cNvPr id="50" name="Text 48"/>
          <p:cNvSpPr/>
          <p:nvPr/>
        </p:nvSpPr>
        <p:spPr>
          <a:xfrm>
            <a:off x="8723552" y="4911900"/>
            <a:ext cx="853880" cy="246481"/>
          </a:xfrm>
          <a:prstGeom prst="rect">
            <a:avLst/>
          </a:prstGeom>
          <a:noFill/>
          <a:ln/>
        </p:spPr>
        <p:txBody>
          <a:bodyPr wrap="square" lIns="0" tIns="0" rIns="0" bIns="0" rtlCol="0" anchor="ctr"/>
          <a:lstStyle/>
          <a:p>
            <a:pPr>
              <a:lnSpc>
                <a:spcPct val="130000"/>
              </a:lnSpc>
            </a:pPr>
            <a:r>
              <a:rPr lang="en-US" sz="1248" b="1" dirty="0">
                <a:solidFill>
                  <a:srgbClr val="10B981"/>
                </a:solidFill>
                <a:latin typeface="MiSans" pitchFamily="34" charset="0"/>
                <a:ea typeface="MiSans" pitchFamily="34" charset="-122"/>
                <a:cs typeface="MiSans" pitchFamily="34" charset="-120"/>
              </a:rPr>
              <a:t>Mức Vật lý</a:t>
            </a:r>
            <a:endParaRPr lang="en-US" sz="1600" dirty="0"/>
          </a:p>
        </p:txBody>
      </p:sp>
      <p:sp>
        <p:nvSpPr>
          <p:cNvPr id="51" name="Text 49"/>
          <p:cNvSpPr/>
          <p:nvPr/>
        </p:nvSpPr>
        <p:spPr>
          <a:xfrm>
            <a:off x="8265802" y="5316833"/>
            <a:ext cx="3248266" cy="686625"/>
          </a:xfrm>
          <a:prstGeom prst="rect">
            <a:avLst/>
          </a:prstGeom>
          <a:noFill/>
          <a:ln/>
        </p:spPr>
        <p:txBody>
          <a:bodyPr wrap="square" lIns="0" tIns="0" rIns="0" bIns="0" rtlCol="0" anchor="ctr"/>
          <a:lstStyle/>
          <a:p>
            <a:pPr>
              <a:lnSpc>
                <a:spcPct val="140000"/>
              </a:lnSpc>
            </a:pPr>
            <a:r>
              <a:rPr lang="en-US" sz="1109" dirty="0">
                <a:solidFill>
                  <a:srgbClr val="F8FAFC">
                    <a:alpha val="80000"/>
                  </a:srgbClr>
                </a:solidFill>
                <a:latin typeface="MiSans" pitchFamily="34" charset="0"/>
                <a:ea typeface="MiSans" pitchFamily="34" charset="-122"/>
                <a:cs typeface="MiSans" pitchFamily="34" charset="-120"/>
              </a:rPr>
              <a:t>Sử dụng </a:t>
            </a:r>
            <a:pPr>
              <a:lnSpc>
                <a:spcPct val="140000"/>
              </a:lnSpc>
            </a:pPr>
            <a:r>
              <a:rPr lang="en-US" sz="1109" dirty="0">
                <a:solidFill>
                  <a:srgbClr val="10B981"/>
                </a:solidFill>
                <a:highlight>
                  <a:srgbClr val="10B981">
                    <a:alpha val="20000"/>
                  </a:srgbClr>
                </a:highlight>
                <a:latin typeface="MiSans" pitchFamily="34" charset="0"/>
                <a:ea typeface="MiSans" pitchFamily="34" charset="-122"/>
                <a:cs typeface="MiSans" pitchFamily="34" charset="-120"/>
              </a:rPr>
              <a:t>chat tool, API, plugin IDE </a:t>
            </a:r>
            <a:pPr>
              <a:lnSpc>
                <a:spcPct val="140000"/>
              </a:lnSpc>
            </a:pPr>
            <a:r>
              <a:rPr lang="en-US" sz="1109" dirty="0">
                <a:solidFill>
                  <a:srgbClr val="F8FAFC">
                    <a:alpha val="80000"/>
                  </a:srgbClr>
                </a:solidFill>
                <a:latin typeface="MiSans" pitchFamily="34" charset="0"/>
                <a:ea typeface="MiSans" pitchFamily="34" charset="-122"/>
                <a:cs typeface="MiSans" pitchFamily="34" charset="-120"/>
              </a:rPr>
              <a:t>để hiện thực. API key trong biến môi trường, code trong script Python</a:t>
            </a:r>
            <a:endParaRPr lang="en-US" sz="1600" dirty="0"/>
          </a:p>
        </p:txBody>
      </p:sp>
    </p:spTree>
  </p:cSld>
  <p:clrMapOvr>
    <a:masterClrMapping/>
  </p:clrMapOvr>
  <p:transition>
    <p:fade/>
    <p:spd val="med"/>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pic>
        <p:nvPicPr>
          <p:cNvPr id="2" name="Image 0" descr="https://kimi-web-img.moonshot.cn/img/media.istockphoto.com/9f00fa58d51a7f4af06f793799467804ddac8761.jpg">    </p:cNvPr>
          <p:cNvPicPr>
            <a:picLocks noChangeAspect="1"/>
          </p:cNvPicPr>
          <p:nvPr/>
        </p:nvPicPr>
        <p:blipFill>
          <a:blip r:embed="rId1">
            <a:alphaModFix amt="20000"/>
          </a:blip>
          <a:stretch>
            <a:fillRect/>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0F172A">
                  <a:alpha val="95000"/>
                </a:srgbClr>
              </a:gs>
              <a:gs pos="50000">
                <a:srgbClr val="0F172A">
                  <a:alpha val="90000"/>
                </a:srgbClr>
              </a:gs>
              <a:gs pos="100000">
                <a:srgbClr val="8B5CF6">
                  <a:alpha val="30000"/>
                </a:srgbClr>
              </a:gs>
            </a:gsLst>
            <a:lin ang="2700000" scaled="1"/>
          </a:gradFill>
          <a:ln/>
        </p:spPr>
      </p:sp>
      <p:sp>
        <p:nvSpPr>
          <p:cNvPr id="4" name="Shape 1"/>
          <p:cNvSpPr/>
          <p:nvPr/>
        </p:nvSpPr>
        <p:spPr>
          <a:xfrm>
            <a:off x="5638800" y="397194"/>
            <a:ext cx="914400" cy="914400"/>
          </a:xfrm>
          <a:custGeom>
            <a:avLst/>
            <a:gdLst/>
            <a:ahLst/>
            <a:cxnLst/>
            <a:rect l="l" t="t" r="r" b="b"/>
            <a:pathLst>
              <a:path w="914400" h="914400">
                <a:moveTo>
                  <a:pt x="457200" y="0"/>
                </a:moveTo>
                <a:lnTo>
                  <a:pt x="457200" y="0"/>
                </a:lnTo>
                <a:cubicBezTo>
                  <a:pt x="709536" y="0"/>
                  <a:pt x="914400" y="204864"/>
                  <a:pt x="914400" y="457200"/>
                </a:cubicBezTo>
                <a:lnTo>
                  <a:pt x="914400" y="457200"/>
                </a:lnTo>
                <a:cubicBezTo>
                  <a:pt x="914400" y="709536"/>
                  <a:pt x="709536" y="914400"/>
                  <a:pt x="457200" y="914400"/>
                </a:cubicBezTo>
                <a:lnTo>
                  <a:pt x="457200" y="914400"/>
                </a:lnTo>
                <a:cubicBezTo>
                  <a:pt x="204864" y="914400"/>
                  <a:pt x="0" y="709536"/>
                  <a:pt x="0" y="457200"/>
                </a:cubicBezTo>
                <a:lnTo>
                  <a:pt x="0" y="457200"/>
                </a:lnTo>
                <a:cubicBezTo>
                  <a:pt x="0" y="204864"/>
                  <a:pt x="204864" y="0"/>
                  <a:pt x="457200" y="0"/>
                </a:cubicBezTo>
                <a:close/>
              </a:path>
            </a:pathLst>
          </a:custGeom>
          <a:gradFill rotWithShape="1" flip="none">
            <a:gsLst>
              <a:gs pos="0">
                <a:srgbClr val="3B82F6"/>
              </a:gs>
              <a:gs pos="100000">
                <a:srgbClr val="8B5CF6"/>
              </a:gs>
            </a:gsLst>
            <a:lin ang="2700000" scaled="1"/>
          </a:gradFill>
          <a:ln/>
        </p:spPr>
      </p:sp>
      <p:sp>
        <p:nvSpPr>
          <p:cNvPr id="5" name="Shape 2"/>
          <p:cNvSpPr/>
          <p:nvPr/>
        </p:nvSpPr>
        <p:spPr>
          <a:xfrm>
            <a:off x="5895975" y="625794"/>
            <a:ext cx="400050" cy="457200"/>
          </a:xfrm>
          <a:custGeom>
            <a:avLst/>
            <a:gdLst/>
            <a:ahLst/>
            <a:cxnLst/>
            <a:rect l="l" t="t" r="r" b="b"/>
            <a:pathLst>
              <a:path w="400050" h="457200">
                <a:moveTo>
                  <a:pt x="388263" y="62597"/>
                </a:moveTo>
                <a:cubicBezTo>
                  <a:pt x="401032" y="71884"/>
                  <a:pt x="403890" y="89743"/>
                  <a:pt x="394603" y="102513"/>
                </a:cubicBezTo>
                <a:lnTo>
                  <a:pt x="166003" y="416838"/>
                </a:lnTo>
                <a:cubicBezTo>
                  <a:pt x="161092" y="423624"/>
                  <a:pt x="153501" y="427821"/>
                  <a:pt x="145107" y="428536"/>
                </a:cubicBezTo>
                <a:cubicBezTo>
                  <a:pt x="136714" y="429250"/>
                  <a:pt x="128588" y="426125"/>
                  <a:pt x="122694" y="420231"/>
                </a:cubicBezTo>
                <a:lnTo>
                  <a:pt x="8394" y="305931"/>
                </a:lnTo>
                <a:cubicBezTo>
                  <a:pt x="-2768" y="294769"/>
                  <a:pt x="-2768" y="276642"/>
                  <a:pt x="8394" y="265480"/>
                </a:cubicBezTo>
                <a:cubicBezTo>
                  <a:pt x="19556" y="254318"/>
                  <a:pt x="37683" y="254318"/>
                  <a:pt x="48845" y="265480"/>
                </a:cubicBezTo>
                <a:lnTo>
                  <a:pt x="139482" y="356116"/>
                </a:lnTo>
                <a:lnTo>
                  <a:pt x="348436" y="68848"/>
                </a:lnTo>
                <a:cubicBezTo>
                  <a:pt x="357723" y="56078"/>
                  <a:pt x="375583" y="53221"/>
                  <a:pt x="388352" y="62508"/>
                </a:cubicBezTo>
                <a:close/>
              </a:path>
            </a:pathLst>
          </a:custGeom>
          <a:solidFill>
            <a:srgbClr val="FFFFFF"/>
          </a:solidFill>
          <a:ln/>
        </p:spPr>
      </p:sp>
      <p:sp>
        <p:nvSpPr>
          <p:cNvPr id="6" name="Text 3"/>
          <p:cNvSpPr/>
          <p:nvPr/>
        </p:nvSpPr>
        <p:spPr>
          <a:xfrm>
            <a:off x="2826663" y="1616394"/>
            <a:ext cx="6534150" cy="571500"/>
          </a:xfrm>
          <a:prstGeom prst="rect">
            <a:avLst/>
          </a:prstGeom>
          <a:noFill/>
          <a:ln/>
        </p:spPr>
        <p:txBody>
          <a:bodyPr wrap="square" lIns="0" tIns="0" rIns="0" bIns="0" rtlCol="0" anchor="ctr"/>
          <a:lstStyle/>
          <a:p>
            <a:pPr algn="ctr">
              <a:lnSpc>
                <a:spcPct val="80000"/>
              </a:lnSpc>
            </a:pPr>
            <a:r>
              <a:rPr lang="en-US" sz="4500" b="1" dirty="0">
                <a:solidFill>
                  <a:srgbClr val="F8FAFC"/>
                </a:solidFill>
                <a:latin typeface="Liter" pitchFamily="34" charset="0"/>
                <a:ea typeface="Liter" pitchFamily="34" charset="-122"/>
                <a:cs typeface="Liter" pitchFamily="34" charset="-120"/>
              </a:rPr>
              <a:t>Cảm ơn</a:t>
            </a:r>
            <a:endParaRPr lang="en-US" sz="1600" dirty="0"/>
          </a:p>
        </p:txBody>
      </p:sp>
      <p:sp>
        <p:nvSpPr>
          <p:cNvPr id="7" name="Shape 4"/>
          <p:cNvSpPr/>
          <p:nvPr/>
        </p:nvSpPr>
        <p:spPr>
          <a:xfrm>
            <a:off x="5486400" y="2416494"/>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gradFill rotWithShape="1" flip="none">
            <a:gsLst>
              <a:gs pos="0">
                <a:srgbClr val="3B82F6"/>
              </a:gs>
              <a:gs pos="100000">
                <a:srgbClr val="8B5CF6"/>
              </a:gs>
            </a:gsLst>
            <a:lin ang="0" scaled="1"/>
          </a:gradFill>
          <a:ln/>
        </p:spPr>
      </p:sp>
      <p:sp>
        <p:nvSpPr>
          <p:cNvPr id="8" name="Text 5"/>
          <p:cNvSpPr/>
          <p:nvPr/>
        </p:nvSpPr>
        <p:spPr>
          <a:xfrm>
            <a:off x="2912388" y="2759394"/>
            <a:ext cx="6362700" cy="371475"/>
          </a:xfrm>
          <a:prstGeom prst="rect">
            <a:avLst/>
          </a:prstGeom>
          <a:noFill/>
          <a:ln/>
        </p:spPr>
        <p:txBody>
          <a:bodyPr wrap="square" lIns="0" tIns="0" rIns="0" bIns="0" rtlCol="0" anchor="ctr"/>
          <a:lstStyle/>
          <a:p>
            <a:pPr algn="ctr">
              <a:lnSpc>
                <a:spcPct val="140000"/>
              </a:lnSpc>
            </a:pPr>
            <a:r>
              <a:rPr lang="en-US" sz="1800" dirty="0">
                <a:solidFill>
                  <a:srgbClr val="F8FAFC">
                    <a:alpha val="80000"/>
                  </a:srgbClr>
                </a:solidFill>
                <a:latin typeface="MiSans" pitchFamily="34" charset="0"/>
                <a:ea typeface="MiSans" pitchFamily="34" charset="-122"/>
                <a:cs typeface="MiSans" pitchFamily="34" charset="-120"/>
              </a:rPr>
              <a:t>Cơ sở lập trình với GenAI - Báo cáo tổng hợp Lab thực hành</a:t>
            </a:r>
            <a:endParaRPr lang="en-US" sz="1600" dirty="0"/>
          </a:p>
        </p:txBody>
      </p:sp>
      <p:sp>
        <p:nvSpPr>
          <p:cNvPr id="9" name="Shape 6"/>
          <p:cNvSpPr/>
          <p:nvPr/>
        </p:nvSpPr>
        <p:spPr>
          <a:xfrm>
            <a:off x="2219087" y="3515679"/>
            <a:ext cx="7751445" cy="2293620"/>
          </a:xfrm>
          <a:custGeom>
            <a:avLst/>
            <a:gdLst/>
            <a:ahLst/>
            <a:cxnLst/>
            <a:rect l="l" t="t" r="r" b="b"/>
            <a:pathLst>
              <a:path w="7751445" h="2293620">
                <a:moveTo>
                  <a:pt x="152411" y="0"/>
                </a:moveTo>
                <a:lnTo>
                  <a:pt x="7599034" y="0"/>
                </a:lnTo>
                <a:cubicBezTo>
                  <a:pt x="7683208" y="0"/>
                  <a:pt x="7751445" y="68237"/>
                  <a:pt x="7751445" y="152411"/>
                </a:cubicBezTo>
                <a:lnTo>
                  <a:pt x="7751445" y="2141209"/>
                </a:lnTo>
                <a:cubicBezTo>
                  <a:pt x="7751445" y="2225383"/>
                  <a:pt x="7683208" y="2293620"/>
                  <a:pt x="7599034" y="2293620"/>
                </a:cubicBezTo>
                <a:lnTo>
                  <a:pt x="152411" y="2293620"/>
                </a:lnTo>
                <a:cubicBezTo>
                  <a:pt x="68237" y="2293620"/>
                  <a:pt x="0" y="2225383"/>
                  <a:pt x="0" y="2141209"/>
                </a:cubicBezTo>
                <a:lnTo>
                  <a:pt x="0" y="152411"/>
                </a:lnTo>
                <a:cubicBezTo>
                  <a:pt x="0" y="68293"/>
                  <a:pt x="68293" y="0"/>
                  <a:pt x="152411" y="0"/>
                </a:cubicBezTo>
                <a:close/>
              </a:path>
            </a:pathLst>
          </a:custGeom>
          <a:solidFill>
            <a:srgbClr val="1E293B">
              <a:alpha val="60000"/>
            </a:srgbClr>
          </a:solidFill>
          <a:ln w="10160">
            <a:solidFill>
              <a:srgbClr val="3B82F6">
                <a:alpha val="30196"/>
              </a:srgbClr>
            </a:solidFill>
            <a:prstDash val="solid"/>
          </a:ln>
        </p:spPr>
      </p:sp>
      <p:sp>
        <p:nvSpPr>
          <p:cNvPr id="10" name="Text 7"/>
          <p:cNvSpPr/>
          <p:nvPr/>
        </p:nvSpPr>
        <p:spPr>
          <a:xfrm>
            <a:off x="2480072" y="3824288"/>
            <a:ext cx="7229475" cy="266700"/>
          </a:xfrm>
          <a:prstGeom prst="rect">
            <a:avLst/>
          </a:prstGeom>
          <a:noFill/>
          <a:ln/>
        </p:spPr>
        <p:txBody>
          <a:bodyPr wrap="square" lIns="0" tIns="0" rIns="0" bIns="0" rtlCol="0" anchor="ctr"/>
          <a:lstStyle/>
          <a:p>
            <a:pPr algn="ctr">
              <a:lnSpc>
                <a:spcPct val="120000"/>
              </a:lnSpc>
            </a:pPr>
            <a:r>
              <a:rPr lang="en-US" sz="1500" b="1" dirty="0">
                <a:solidFill>
                  <a:srgbClr val="F8FAFC"/>
                </a:solidFill>
                <a:latin typeface="MiSans" pitchFamily="34" charset="0"/>
                <a:ea typeface="MiSans" pitchFamily="34" charset="-122"/>
                <a:cs typeface="MiSans" pitchFamily="34" charset="-120"/>
              </a:rPr>
              <a:t>Nhóm sinh viên thực hiện</a:t>
            </a:r>
            <a:endParaRPr lang="en-US" sz="1600" dirty="0"/>
          </a:p>
        </p:txBody>
      </p:sp>
      <p:sp>
        <p:nvSpPr>
          <p:cNvPr id="11" name="Shape 8"/>
          <p:cNvSpPr/>
          <p:nvPr/>
        </p:nvSpPr>
        <p:spPr>
          <a:xfrm>
            <a:off x="3029188" y="4319588"/>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gradFill rotWithShape="1" flip="none">
            <a:gsLst>
              <a:gs pos="0">
                <a:srgbClr val="3B82F6"/>
              </a:gs>
              <a:gs pos="100000">
                <a:srgbClr val="3B82F6">
                  <a:alpha val="60000"/>
                </a:srgbClr>
              </a:gs>
            </a:gsLst>
            <a:lin ang="2700000" scaled="1"/>
          </a:gradFill>
          <a:ln/>
        </p:spPr>
      </p:sp>
      <p:sp>
        <p:nvSpPr>
          <p:cNvPr id="12" name="Shape 9"/>
          <p:cNvSpPr/>
          <p:nvPr/>
        </p:nvSpPr>
        <p:spPr>
          <a:xfrm>
            <a:off x="3233976" y="4510088"/>
            <a:ext cx="200025" cy="228600"/>
          </a:xfrm>
          <a:custGeom>
            <a:avLst/>
            <a:gdLst/>
            <a:ahLst/>
            <a:cxnLst/>
            <a:rect l="l" t="t" r="r" b="b"/>
            <a:pathLst>
              <a:path w="200025" h="228600">
                <a:moveTo>
                  <a:pt x="100013" y="110728"/>
                </a:moveTo>
                <a:cubicBezTo>
                  <a:pt x="129583" y="110728"/>
                  <a:pt x="153591" y="86721"/>
                  <a:pt x="153591" y="57150"/>
                </a:cubicBezTo>
                <a:cubicBezTo>
                  <a:pt x="153591" y="27579"/>
                  <a:pt x="129583" y="3572"/>
                  <a:pt x="100013" y="3572"/>
                </a:cubicBezTo>
                <a:cubicBezTo>
                  <a:pt x="70442" y="3572"/>
                  <a:pt x="46434" y="27579"/>
                  <a:pt x="46434" y="57150"/>
                </a:cubicBezTo>
                <a:cubicBezTo>
                  <a:pt x="46434" y="86721"/>
                  <a:pt x="70442" y="110728"/>
                  <a:pt x="100012" y="110728"/>
                </a:cubicBezTo>
                <a:close/>
                <a:moveTo>
                  <a:pt x="86752" y="135731"/>
                </a:moveTo>
                <a:cubicBezTo>
                  <a:pt x="42773" y="135731"/>
                  <a:pt x="7144" y="171361"/>
                  <a:pt x="7144" y="215339"/>
                </a:cubicBezTo>
                <a:cubicBezTo>
                  <a:pt x="7144" y="222662"/>
                  <a:pt x="13082" y="228600"/>
                  <a:pt x="20404" y="228600"/>
                </a:cubicBezTo>
                <a:lnTo>
                  <a:pt x="179621" y="228600"/>
                </a:lnTo>
                <a:cubicBezTo>
                  <a:pt x="186943" y="228600"/>
                  <a:pt x="192881" y="222662"/>
                  <a:pt x="192881" y="215339"/>
                </a:cubicBezTo>
                <a:cubicBezTo>
                  <a:pt x="192881" y="171361"/>
                  <a:pt x="157252" y="135731"/>
                  <a:pt x="113273" y="135731"/>
                </a:cubicBezTo>
                <a:lnTo>
                  <a:pt x="86752" y="135731"/>
                </a:lnTo>
                <a:close/>
              </a:path>
            </a:pathLst>
          </a:custGeom>
          <a:solidFill>
            <a:srgbClr val="FFFFFF"/>
          </a:solidFill>
          <a:ln/>
        </p:spPr>
      </p:sp>
      <p:sp>
        <p:nvSpPr>
          <p:cNvPr id="13" name="Text 10"/>
          <p:cNvSpPr/>
          <p:nvPr/>
        </p:nvSpPr>
        <p:spPr>
          <a:xfrm>
            <a:off x="2489597" y="5043488"/>
            <a:ext cx="1685925" cy="228600"/>
          </a:xfrm>
          <a:prstGeom prst="rect">
            <a:avLst/>
          </a:prstGeom>
          <a:noFill/>
          <a:ln/>
        </p:spPr>
        <p:txBody>
          <a:bodyPr wrap="square" lIns="0" tIns="0" rIns="0" bIns="0" rtlCol="0" anchor="ctr"/>
          <a:lstStyle/>
          <a:p>
            <a:pPr algn="ctr">
              <a:lnSpc>
                <a:spcPct val="130000"/>
              </a:lnSpc>
            </a:pPr>
            <a:r>
              <a:rPr lang="en-US" sz="1200" b="1" dirty="0">
                <a:solidFill>
                  <a:srgbClr val="F8FAFC"/>
                </a:solidFill>
                <a:latin typeface="MiSans" pitchFamily="34" charset="0"/>
                <a:ea typeface="MiSans" pitchFamily="34" charset="-122"/>
                <a:cs typeface="MiSans" pitchFamily="34" charset="-120"/>
              </a:rPr>
              <a:t>Phạm Nhật Phương</a:t>
            </a:r>
            <a:endParaRPr lang="en-US" sz="1600" dirty="0"/>
          </a:p>
        </p:txBody>
      </p:sp>
      <p:sp>
        <p:nvSpPr>
          <p:cNvPr id="14" name="Text 11"/>
          <p:cNvSpPr/>
          <p:nvPr/>
        </p:nvSpPr>
        <p:spPr>
          <a:xfrm>
            <a:off x="2494359" y="5310188"/>
            <a:ext cx="1676400" cy="190500"/>
          </a:xfrm>
          <a:prstGeom prst="rect">
            <a:avLst/>
          </a:prstGeom>
          <a:noFill/>
          <a:ln/>
        </p:spPr>
        <p:txBody>
          <a:bodyPr wrap="square" lIns="0" tIns="0" rIns="0" bIns="0" rtlCol="0" anchor="ctr"/>
          <a:lstStyle/>
          <a:p>
            <a:pPr algn="ctr">
              <a:lnSpc>
                <a:spcPct val="120000"/>
              </a:lnSpc>
            </a:pPr>
            <a:r>
              <a:rPr lang="en-US" sz="1050" dirty="0">
                <a:solidFill>
                  <a:srgbClr val="F8FAFC">
                    <a:alpha val="60000"/>
                  </a:srgbClr>
                </a:solidFill>
                <a:latin typeface="MiSans" pitchFamily="34" charset="0"/>
                <a:ea typeface="MiSans" pitchFamily="34" charset="-122"/>
                <a:cs typeface="MiSans" pitchFamily="34" charset="-120"/>
              </a:rPr>
              <a:t>3122411162</a:t>
            </a:r>
            <a:endParaRPr lang="en-US" sz="1600" dirty="0"/>
          </a:p>
        </p:txBody>
      </p:sp>
      <p:sp>
        <p:nvSpPr>
          <p:cNvPr id="15" name="Shape 12"/>
          <p:cNvSpPr/>
          <p:nvPr/>
        </p:nvSpPr>
        <p:spPr>
          <a:xfrm>
            <a:off x="4870490" y="4319588"/>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gradFill rotWithShape="1" flip="none">
            <a:gsLst>
              <a:gs pos="0">
                <a:srgbClr val="8B5CF6"/>
              </a:gs>
              <a:gs pos="100000">
                <a:srgbClr val="8B5CF6">
                  <a:alpha val="60000"/>
                </a:srgbClr>
              </a:gs>
            </a:gsLst>
            <a:lin ang="2700000" scaled="1"/>
          </a:gradFill>
          <a:ln/>
        </p:spPr>
      </p:sp>
      <p:sp>
        <p:nvSpPr>
          <p:cNvPr id="16" name="Shape 13"/>
          <p:cNvSpPr/>
          <p:nvPr/>
        </p:nvSpPr>
        <p:spPr>
          <a:xfrm>
            <a:off x="5075277" y="4510088"/>
            <a:ext cx="200025" cy="228600"/>
          </a:xfrm>
          <a:custGeom>
            <a:avLst/>
            <a:gdLst/>
            <a:ahLst/>
            <a:cxnLst/>
            <a:rect l="l" t="t" r="r" b="b"/>
            <a:pathLst>
              <a:path w="200025" h="228600">
                <a:moveTo>
                  <a:pt x="100013" y="110728"/>
                </a:moveTo>
                <a:cubicBezTo>
                  <a:pt x="129583" y="110728"/>
                  <a:pt x="153591" y="86721"/>
                  <a:pt x="153591" y="57150"/>
                </a:cubicBezTo>
                <a:cubicBezTo>
                  <a:pt x="153591" y="27579"/>
                  <a:pt x="129583" y="3572"/>
                  <a:pt x="100013" y="3572"/>
                </a:cubicBezTo>
                <a:cubicBezTo>
                  <a:pt x="70442" y="3572"/>
                  <a:pt x="46434" y="27579"/>
                  <a:pt x="46434" y="57150"/>
                </a:cubicBezTo>
                <a:cubicBezTo>
                  <a:pt x="46434" y="86721"/>
                  <a:pt x="70442" y="110728"/>
                  <a:pt x="100012" y="110728"/>
                </a:cubicBezTo>
                <a:close/>
                <a:moveTo>
                  <a:pt x="86752" y="135731"/>
                </a:moveTo>
                <a:cubicBezTo>
                  <a:pt x="42773" y="135731"/>
                  <a:pt x="7144" y="171361"/>
                  <a:pt x="7144" y="215339"/>
                </a:cubicBezTo>
                <a:cubicBezTo>
                  <a:pt x="7144" y="222662"/>
                  <a:pt x="13082" y="228600"/>
                  <a:pt x="20404" y="228600"/>
                </a:cubicBezTo>
                <a:lnTo>
                  <a:pt x="179621" y="228600"/>
                </a:lnTo>
                <a:cubicBezTo>
                  <a:pt x="186943" y="228600"/>
                  <a:pt x="192881" y="222662"/>
                  <a:pt x="192881" y="215339"/>
                </a:cubicBezTo>
                <a:cubicBezTo>
                  <a:pt x="192881" y="171361"/>
                  <a:pt x="157252" y="135731"/>
                  <a:pt x="113273" y="135731"/>
                </a:cubicBezTo>
                <a:lnTo>
                  <a:pt x="86752" y="135731"/>
                </a:lnTo>
                <a:close/>
              </a:path>
            </a:pathLst>
          </a:custGeom>
          <a:solidFill>
            <a:srgbClr val="FFFFFF"/>
          </a:solidFill>
          <a:ln/>
        </p:spPr>
      </p:sp>
      <p:sp>
        <p:nvSpPr>
          <p:cNvPr id="17" name="Text 14"/>
          <p:cNvSpPr/>
          <p:nvPr/>
        </p:nvSpPr>
        <p:spPr>
          <a:xfrm>
            <a:off x="4330898" y="5043488"/>
            <a:ext cx="1685925" cy="228600"/>
          </a:xfrm>
          <a:prstGeom prst="rect">
            <a:avLst/>
          </a:prstGeom>
          <a:noFill/>
          <a:ln/>
        </p:spPr>
        <p:txBody>
          <a:bodyPr wrap="square" lIns="0" tIns="0" rIns="0" bIns="0" rtlCol="0" anchor="ctr"/>
          <a:lstStyle/>
          <a:p>
            <a:pPr algn="ctr">
              <a:lnSpc>
                <a:spcPct val="130000"/>
              </a:lnSpc>
            </a:pPr>
            <a:r>
              <a:rPr lang="en-US" sz="1200" b="1" dirty="0">
                <a:solidFill>
                  <a:srgbClr val="F8FAFC"/>
                </a:solidFill>
                <a:latin typeface="MiSans" pitchFamily="34" charset="0"/>
                <a:ea typeface="MiSans" pitchFamily="34" charset="-122"/>
                <a:cs typeface="MiSans" pitchFamily="34" charset="-120"/>
              </a:rPr>
              <a:t>Nguyễn Minh Kiên</a:t>
            </a:r>
            <a:endParaRPr lang="en-US" sz="1600" dirty="0"/>
          </a:p>
        </p:txBody>
      </p:sp>
      <p:sp>
        <p:nvSpPr>
          <p:cNvPr id="18" name="Text 15"/>
          <p:cNvSpPr/>
          <p:nvPr/>
        </p:nvSpPr>
        <p:spPr>
          <a:xfrm>
            <a:off x="4335661" y="5310188"/>
            <a:ext cx="1676400" cy="190500"/>
          </a:xfrm>
          <a:prstGeom prst="rect">
            <a:avLst/>
          </a:prstGeom>
          <a:noFill/>
          <a:ln/>
        </p:spPr>
        <p:txBody>
          <a:bodyPr wrap="square" lIns="0" tIns="0" rIns="0" bIns="0" rtlCol="0" anchor="ctr"/>
          <a:lstStyle/>
          <a:p>
            <a:pPr algn="ctr">
              <a:lnSpc>
                <a:spcPct val="120000"/>
              </a:lnSpc>
            </a:pPr>
            <a:r>
              <a:rPr lang="en-US" sz="1050" dirty="0">
                <a:solidFill>
                  <a:srgbClr val="F8FAFC">
                    <a:alpha val="60000"/>
                  </a:srgbClr>
                </a:solidFill>
                <a:latin typeface="MiSans" pitchFamily="34" charset="0"/>
                <a:ea typeface="MiSans" pitchFamily="34" charset="-122"/>
                <a:cs typeface="MiSans" pitchFamily="34" charset="-120"/>
              </a:rPr>
              <a:t>3122411103</a:t>
            </a:r>
            <a:endParaRPr lang="en-US" sz="1600" dirty="0"/>
          </a:p>
        </p:txBody>
      </p:sp>
      <p:sp>
        <p:nvSpPr>
          <p:cNvPr id="19" name="Shape 16"/>
          <p:cNvSpPr/>
          <p:nvPr/>
        </p:nvSpPr>
        <p:spPr>
          <a:xfrm>
            <a:off x="6711791" y="4319588"/>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gradFill rotWithShape="1" flip="none">
            <a:gsLst>
              <a:gs pos="0">
                <a:srgbClr val="10B981"/>
              </a:gs>
              <a:gs pos="100000">
                <a:srgbClr val="10B981">
                  <a:alpha val="60000"/>
                </a:srgbClr>
              </a:gs>
            </a:gsLst>
            <a:lin ang="2700000" scaled="1"/>
          </a:gradFill>
          <a:ln/>
        </p:spPr>
      </p:sp>
      <p:sp>
        <p:nvSpPr>
          <p:cNvPr id="20" name="Shape 17"/>
          <p:cNvSpPr/>
          <p:nvPr/>
        </p:nvSpPr>
        <p:spPr>
          <a:xfrm>
            <a:off x="6916579" y="4510088"/>
            <a:ext cx="200025" cy="228600"/>
          </a:xfrm>
          <a:custGeom>
            <a:avLst/>
            <a:gdLst/>
            <a:ahLst/>
            <a:cxnLst/>
            <a:rect l="l" t="t" r="r" b="b"/>
            <a:pathLst>
              <a:path w="200025" h="228600">
                <a:moveTo>
                  <a:pt x="100013" y="110728"/>
                </a:moveTo>
                <a:cubicBezTo>
                  <a:pt x="129583" y="110728"/>
                  <a:pt x="153591" y="86721"/>
                  <a:pt x="153591" y="57150"/>
                </a:cubicBezTo>
                <a:cubicBezTo>
                  <a:pt x="153591" y="27579"/>
                  <a:pt x="129583" y="3572"/>
                  <a:pt x="100013" y="3572"/>
                </a:cubicBezTo>
                <a:cubicBezTo>
                  <a:pt x="70442" y="3572"/>
                  <a:pt x="46434" y="27579"/>
                  <a:pt x="46434" y="57150"/>
                </a:cubicBezTo>
                <a:cubicBezTo>
                  <a:pt x="46434" y="86721"/>
                  <a:pt x="70442" y="110728"/>
                  <a:pt x="100012" y="110728"/>
                </a:cubicBezTo>
                <a:close/>
                <a:moveTo>
                  <a:pt x="86752" y="135731"/>
                </a:moveTo>
                <a:cubicBezTo>
                  <a:pt x="42773" y="135731"/>
                  <a:pt x="7144" y="171361"/>
                  <a:pt x="7144" y="215339"/>
                </a:cubicBezTo>
                <a:cubicBezTo>
                  <a:pt x="7144" y="222662"/>
                  <a:pt x="13082" y="228600"/>
                  <a:pt x="20404" y="228600"/>
                </a:cubicBezTo>
                <a:lnTo>
                  <a:pt x="179621" y="228600"/>
                </a:lnTo>
                <a:cubicBezTo>
                  <a:pt x="186943" y="228600"/>
                  <a:pt x="192881" y="222662"/>
                  <a:pt x="192881" y="215339"/>
                </a:cubicBezTo>
                <a:cubicBezTo>
                  <a:pt x="192881" y="171361"/>
                  <a:pt x="157252" y="135731"/>
                  <a:pt x="113273" y="135731"/>
                </a:cubicBezTo>
                <a:lnTo>
                  <a:pt x="86752" y="135731"/>
                </a:lnTo>
                <a:close/>
              </a:path>
            </a:pathLst>
          </a:custGeom>
          <a:solidFill>
            <a:srgbClr val="FFFFFF"/>
          </a:solidFill>
          <a:ln/>
        </p:spPr>
      </p:sp>
      <p:sp>
        <p:nvSpPr>
          <p:cNvPr id="21" name="Text 18"/>
          <p:cNvSpPr/>
          <p:nvPr/>
        </p:nvSpPr>
        <p:spPr>
          <a:xfrm>
            <a:off x="6172200" y="5043488"/>
            <a:ext cx="1685925" cy="228600"/>
          </a:xfrm>
          <a:prstGeom prst="rect">
            <a:avLst/>
          </a:prstGeom>
          <a:noFill/>
          <a:ln/>
        </p:spPr>
        <p:txBody>
          <a:bodyPr wrap="square" lIns="0" tIns="0" rIns="0" bIns="0" rtlCol="0" anchor="ctr"/>
          <a:lstStyle/>
          <a:p>
            <a:pPr algn="ctr">
              <a:lnSpc>
                <a:spcPct val="130000"/>
              </a:lnSpc>
            </a:pPr>
            <a:r>
              <a:rPr lang="en-US" sz="1200" b="1" dirty="0">
                <a:solidFill>
                  <a:srgbClr val="F8FAFC"/>
                </a:solidFill>
                <a:latin typeface="MiSans" pitchFamily="34" charset="0"/>
                <a:ea typeface="MiSans" pitchFamily="34" charset="-122"/>
                <a:cs typeface="MiSans" pitchFamily="34" charset="-120"/>
              </a:rPr>
              <a:t>Lê Nhựt Huy</a:t>
            </a:r>
            <a:endParaRPr lang="en-US" sz="1600" dirty="0"/>
          </a:p>
        </p:txBody>
      </p:sp>
      <p:sp>
        <p:nvSpPr>
          <p:cNvPr id="22" name="Text 19"/>
          <p:cNvSpPr/>
          <p:nvPr/>
        </p:nvSpPr>
        <p:spPr>
          <a:xfrm>
            <a:off x="6176963" y="5310188"/>
            <a:ext cx="1676400" cy="190500"/>
          </a:xfrm>
          <a:prstGeom prst="rect">
            <a:avLst/>
          </a:prstGeom>
          <a:noFill/>
          <a:ln/>
        </p:spPr>
        <p:txBody>
          <a:bodyPr wrap="square" lIns="0" tIns="0" rIns="0" bIns="0" rtlCol="0" anchor="ctr"/>
          <a:lstStyle/>
          <a:p>
            <a:pPr algn="ctr">
              <a:lnSpc>
                <a:spcPct val="120000"/>
              </a:lnSpc>
            </a:pPr>
            <a:r>
              <a:rPr lang="en-US" sz="1050" dirty="0">
                <a:solidFill>
                  <a:srgbClr val="F8FAFC">
                    <a:alpha val="60000"/>
                  </a:srgbClr>
                </a:solidFill>
                <a:latin typeface="MiSans" pitchFamily="34" charset="0"/>
                <a:ea typeface="MiSans" pitchFamily="34" charset="-122"/>
                <a:cs typeface="MiSans" pitchFamily="34" charset="-120"/>
              </a:rPr>
              <a:t>3122411063</a:t>
            </a:r>
            <a:endParaRPr lang="en-US" sz="1600" dirty="0"/>
          </a:p>
        </p:txBody>
      </p:sp>
      <p:sp>
        <p:nvSpPr>
          <p:cNvPr id="23" name="Shape 20"/>
          <p:cNvSpPr/>
          <p:nvPr/>
        </p:nvSpPr>
        <p:spPr>
          <a:xfrm>
            <a:off x="8553093" y="4319588"/>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gradFill rotWithShape="1" flip="none">
            <a:gsLst>
              <a:gs pos="0">
                <a:srgbClr val="3B82F6"/>
              </a:gs>
              <a:gs pos="100000">
                <a:srgbClr val="3B82F6">
                  <a:alpha val="60000"/>
                </a:srgbClr>
              </a:gs>
            </a:gsLst>
            <a:lin ang="2700000" scaled="1"/>
          </a:gradFill>
          <a:ln/>
        </p:spPr>
      </p:sp>
      <p:sp>
        <p:nvSpPr>
          <p:cNvPr id="24" name="Shape 21"/>
          <p:cNvSpPr/>
          <p:nvPr/>
        </p:nvSpPr>
        <p:spPr>
          <a:xfrm>
            <a:off x="8757881" y="4510088"/>
            <a:ext cx="200025" cy="228600"/>
          </a:xfrm>
          <a:custGeom>
            <a:avLst/>
            <a:gdLst/>
            <a:ahLst/>
            <a:cxnLst/>
            <a:rect l="l" t="t" r="r" b="b"/>
            <a:pathLst>
              <a:path w="200025" h="228600">
                <a:moveTo>
                  <a:pt x="100013" y="110728"/>
                </a:moveTo>
                <a:cubicBezTo>
                  <a:pt x="129583" y="110728"/>
                  <a:pt x="153591" y="86721"/>
                  <a:pt x="153591" y="57150"/>
                </a:cubicBezTo>
                <a:cubicBezTo>
                  <a:pt x="153591" y="27579"/>
                  <a:pt x="129583" y="3572"/>
                  <a:pt x="100013" y="3572"/>
                </a:cubicBezTo>
                <a:cubicBezTo>
                  <a:pt x="70442" y="3572"/>
                  <a:pt x="46434" y="27579"/>
                  <a:pt x="46434" y="57150"/>
                </a:cubicBezTo>
                <a:cubicBezTo>
                  <a:pt x="46434" y="86721"/>
                  <a:pt x="70442" y="110728"/>
                  <a:pt x="100012" y="110728"/>
                </a:cubicBezTo>
                <a:close/>
                <a:moveTo>
                  <a:pt x="86752" y="135731"/>
                </a:moveTo>
                <a:cubicBezTo>
                  <a:pt x="42773" y="135731"/>
                  <a:pt x="7144" y="171361"/>
                  <a:pt x="7144" y="215339"/>
                </a:cubicBezTo>
                <a:cubicBezTo>
                  <a:pt x="7144" y="222662"/>
                  <a:pt x="13082" y="228600"/>
                  <a:pt x="20404" y="228600"/>
                </a:cubicBezTo>
                <a:lnTo>
                  <a:pt x="179621" y="228600"/>
                </a:lnTo>
                <a:cubicBezTo>
                  <a:pt x="186943" y="228600"/>
                  <a:pt x="192881" y="222662"/>
                  <a:pt x="192881" y="215339"/>
                </a:cubicBezTo>
                <a:cubicBezTo>
                  <a:pt x="192881" y="171361"/>
                  <a:pt x="157252" y="135731"/>
                  <a:pt x="113273" y="135731"/>
                </a:cubicBezTo>
                <a:lnTo>
                  <a:pt x="86752" y="135731"/>
                </a:lnTo>
                <a:close/>
              </a:path>
            </a:pathLst>
          </a:custGeom>
          <a:solidFill>
            <a:srgbClr val="FFFFFF"/>
          </a:solidFill>
          <a:ln/>
        </p:spPr>
      </p:sp>
      <p:sp>
        <p:nvSpPr>
          <p:cNvPr id="25" name="Text 22"/>
          <p:cNvSpPr/>
          <p:nvPr/>
        </p:nvSpPr>
        <p:spPr>
          <a:xfrm>
            <a:off x="8013502" y="5043488"/>
            <a:ext cx="1685925" cy="228600"/>
          </a:xfrm>
          <a:prstGeom prst="rect">
            <a:avLst/>
          </a:prstGeom>
          <a:noFill/>
          <a:ln/>
        </p:spPr>
        <p:txBody>
          <a:bodyPr wrap="square" lIns="0" tIns="0" rIns="0" bIns="0" rtlCol="0" anchor="ctr"/>
          <a:lstStyle/>
          <a:p>
            <a:pPr algn="ctr">
              <a:lnSpc>
                <a:spcPct val="130000"/>
              </a:lnSpc>
            </a:pPr>
            <a:r>
              <a:rPr lang="en-US" sz="1200" b="1" dirty="0">
                <a:solidFill>
                  <a:srgbClr val="F8FAFC"/>
                </a:solidFill>
                <a:latin typeface="MiSans" pitchFamily="34" charset="0"/>
                <a:ea typeface="MiSans" pitchFamily="34" charset="-122"/>
                <a:cs typeface="MiSans" pitchFamily="34" charset="-120"/>
              </a:rPr>
              <a:t>Phạm Nguyễn Thế Hào</a:t>
            </a:r>
            <a:endParaRPr lang="en-US" sz="1600" dirty="0"/>
          </a:p>
        </p:txBody>
      </p:sp>
      <p:sp>
        <p:nvSpPr>
          <p:cNvPr id="26" name="Text 23"/>
          <p:cNvSpPr/>
          <p:nvPr/>
        </p:nvSpPr>
        <p:spPr>
          <a:xfrm>
            <a:off x="8018264" y="5310188"/>
            <a:ext cx="1676400" cy="190500"/>
          </a:xfrm>
          <a:prstGeom prst="rect">
            <a:avLst/>
          </a:prstGeom>
          <a:noFill/>
          <a:ln/>
        </p:spPr>
        <p:txBody>
          <a:bodyPr wrap="square" lIns="0" tIns="0" rIns="0" bIns="0" rtlCol="0" anchor="ctr"/>
          <a:lstStyle/>
          <a:p>
            <a:pPr algn="ctr">
              <a:lnSpc>
                <a:spcPct val="120000"/>
              </a:lnSpc>
            </a:pPr>
            <a:r>
              <a:rPr lang="en-US" sz="1050" dirty="0">
                <a:solidFill>
                  <a:srgbClr val="F8FAFC">
                    <a:alpha val="60000"/>
                  </a:srgbClr>
                </a:solidFill>
                <a:latin typeface="MiSans" pitchFamily="34" charset="0"/>
                <a:ea typeface="MiSans" pitchFamily="34" charset="-122"/>
                <a:cs typeface="MiSans" pitchFamily="34" charset="-120"/>
              </a:rPr>
              <a:t>3122411048</a:t>
            </a:r>
            <a:endParaRPr lang="en-US" sz="1600" dirty="0"/>
          </a:p>
        </p:txBody>
      </p:sp>
      <p:sp>
        <p:nvSpPr>
          <p:cNvPr id="27" name="Text 24"/>
          <p:cNvSpPr/>
          <p:nvPr/>
        </p:nvSpPr>
        <p:spPr>
          <a:xfrm>
            <a:off x="4356021" y="6194106"/>
            <a:ext cx="3476625" cy="266700"/>
          </a:xfrm>
          <a:prstGeom prst="rect">
            <a:avLst/>
          </a:prstGeom>
          <a:noFill/>
          <a:ln/>
        </p:spPr>
        <p:txBody>
          <a:bodyPr wrap="square" lIns="0" tIns="0" rIns="0" bIns="0" rtlCol="0" anchor="ctr"/>
          <a:lstStyle/>
          <a:p>
            <a:pPr algn="ctr">
              <a:lnSpc>
                <a:spcPct val="130000"/>
              </a:lnSpc>
            </a:pPr>
            <a:r>
              <a:rPr lang="en-US" sz="1350" dirty="0">
                <a:solidFill>
                  <a:srgbClr val="F8FAFC">
                    <a:alpha val="50000"/>
                  </a:srgbClr>
                </a:solidFill>
                <a:latin typeface="MiSans" pitchFamily="34" charset="0"/>
                <a:ea typeface="MiSans" pitchFamily="34" charset="-122"/>
                <a:cs typeface="MiSans" pitchFamily="34" charset="-120"/>
              </a:rPr>
              <a:t>Thành phố Hồ Chí Minh, tháng 3 năm 2026</a:t>
            </a:r>
            <a:endParaRPr lang="en-US" sz="1600" dirty="0"/>
          </a:p>
        </p:txBody>
      </p:sp>
    </p:spTree>
  </p:cSld>
  <p:clrMapOvr>
    <a:masterClrMapping/>
  </p:clrMapOvr>
  <p:transition>
    <p:fade/>
    <p:spd val="med"/>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Cơ sở lập trình với GenAI</dc:title>
  <dc:subject>Cơ sở lập trình với GenAI</dc:subject>
  <dc:creator>Kimi</dc:creator>
  <cp:lastModifiedBy>Kimi</cp:lastModifiedBy>
  <cp:revision>1</cp:revision>
  <dcterms:created xsi:type="dcterms:W3CDTF">2026-03-12T16:40:54Z</dcterms:created>
  <dcterms:modified xsi:type="dcterms:W3CDTF">2026-03-12T16:40:54Z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{"Label":"Cơ sở lập trình với GenAI","ContentProducer":"001191110108MACG2KBH8F10000","ProduceID":"19ce2e7e-b052-8026-8000-0000f7fad08f","ReservedCode1":"","ContentPropagator":"001191110108MACG2KBH8F20000","PropagateID":"19ce2e7e-b052-8026-8000-0000f7fad08f","ReservedCode2":""}</vt:lpwstr>
  </property>
</Properties>
</file>