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67" r:id="rId4"/>
    <p:sldId id="266" r:id="rId5"/>
    <p:sldId id="259" r:id="rId6"/>
    <p:sldId id="268" r:id="rId7"/>
    <p:sldId id="260" r:id="rId8"/>
    <p:sldId id="261" r:id="rId9"/>
    <p:sldId id="269" r:id="rId10"/>
    <p:sldId id="270" r:id="rId11"/>
    <p:sldId id="262" r:id="rId12"/>
    <p:sldId id="263" r:id="rId13"/>
    <p:sldId id="264" r:id="rId14"/>
    <p:sldId id="265" r:id="rId15"/>
    <p:sldId id="271" r:id="rId16"/>
  </p:sldIdLst>
  <p:sldSz cx="14630400" cy="8229600"/>
  <p:notesSz cx="8229600" cy="14630400"/>
  <p:embeddedFontLst>
    <p:embeddedFont>
      <p:font typeface="Bricolage Grotesque Semi Bold" panose="020B0604020202020204" charset="0"/>
      <p:regular r:id="rId18"/>
    </p:embeddedFont>
    <p:embeddedFont>
      <p:font typeface="Calibri" panose="020F0502020204030204" pitchFamily="34" charset="0"/>
      <p:regular r:id="rId19"/>
      <p:bold r:id="rId20"/>
      <p:italic r:id="rId21"/>
      <p:boldItalic r:id="rId22"/>
    </p:embeddedFont>
    <p:embeddedFont>
      <p:font typeface="Consolas" panose="020B0609020204030204" pitchFamily="49" charset="0"/>
      <p:regular r:id="rId23"/>
      <p:bold r:id="rId24"/>
      <p:italic r:id="rId25"/>
      <p:boldItalic r:id="rId26"/>
    </p:embeddedFont>
    <p:embeddedFont>
      <p:font typeface="Inter"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9924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330184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402692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099037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118388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8011488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672996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jpe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notesSlide" Target="../notesSlides/notesSlide8.xml"/><Relationship Id="rId16" Type="http://schemas.openxmlformats.org/officeDocument/2006/relationships/image" Target="../media/image33.svg"/><Relationship Id="rId1" Type="http://schemas.openxmlformats.org/officeDocument/2006/relationships/slideLayout" Target="../slideLayouts/slideLayout7.xml"/><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sv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svg"/><Relationship Id="rId3" Type="http://schemas.openxmlformats.org/officeDocument/2006/relationships/image" Target="../media/image35.png"/><Relationship Id="rId7" Type="http://schemas.openxmlformats.org/officeDocument/2006/relationships/image" Target="../media/image39.svg"/><Relationship Id="rId12"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sv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image" Target="../media/image49.svg"/><Relationship Id="rId5" Type="http://schemas.openxmlformats.org/officeDocument/2006/relationships/image" Target="../media/image48.pn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298939" y="406010"/>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2C2926"/>
                </a:solidFill>
                <a:latin typeface="Bricolage Grotesque Semi Bold" pitchFamily="34" charset="0"/>
                <a:ea typeface="Bricolage Grotesque Semi Bold" pitchFamily="34" charset="-122"/>
                <a:cs typeface="Bricolage Grotesque Semi Bold" pitchFamily="34" charset="-120"/>
              </a:rPr>
              <a:t>BÁO CÁO HỆ THỐNG PHÂN TÍCH ẢNH ANIME BẰNG AI</a:t>
            </a:r>
            <a:endParaRPr lang="en-US" sz="4450" dirty="0"/>
          </a:p>
        </p:txBody>
      </p:sp>
      <p:sp>
        <p:nvSpPr>
          <p:cNvPr id="4" name="Text 1"/>
          <p:cNvSpPr/>
          <p:nvPr/>
        </p:nvSpPr>
        <p:spPr>
          <a:xfrm>
            <a:off x="298938" y="4920123"/>
            <a:ext cx="7556421" cy="2285493"/>
          </a:xfrm>
          <a:prstGeom prst="rect">
            <a:avLst/>
          </a:prstGeom>
          <a:noFill/>
          <a:ln/>
        </p:spPr>
        <p:txBody>
          <a:bodyPr wrap="square" lIns="0" tIns="0" rIns="0" bIns="0" rtlCol="0" anchor="t"/>
          <a:lstStyle/>
          <a:p>
            <a:pPr marL="0" indent="0" algn="l">
              <a:lnSpc>
                <a:spcPts val="2850"/>
              </a:lnSpc>
              <a:buNone/>
            </a:pPr>
            <a:r>
              <a:rPr lang="en-US" sz="1750" b="1" dirty="0">
                <a:solidFill>
                  <a:srgbClr val="2C2926"/>
                </a:solidFill>
                <a:latin typeface="Inter" pitchFamily="34" charset="0"/>
                <a:ea typeface="Inter" pitchFamily="34" charset="-122"/>
                <a:cs typeface="Inter" pitchFamily="34" charset="-120"/>
              </a:rPr>
              <a:t>GV hướng dẫn:</a:t>
            </a:r>
            <a:r>
              <a:rPr lang="en-US" sz="1750" dirty="0">
                <a:solidFill>
                  <a:srgbClr val="2C2926"/>
                </a:solidFill>
                <a:latin typeface="Inter" pitchFamily="34" charset="0"/>
                <a:ea typeface="Inter" pitchFamily="34" charset="-122"/>
                <a:cs typeface="Inter" pitchFamily="34" charset="-120"/>
              </a:rPr>
              <a:t> Đỗ Như Tài</a:t>
            </a:r>
            <a:endParaRPr lang="en-US" sz="1750" dirty="0"/>
          </a:p>
          <a:p>
            <a:pPr marL="0" indent="0" algn="l">
              <a:lnSpc>
                <a:spcPts val="2850"/>
              </a:lnSpc>
              <a:buNone/>
            </a:pPr>
            <a:r>
              <a:rPr lang="en-US" sz="1750" b="1" dirty="0">
                <a:solidFill>
                  <a:srgbClr val="2C2926"/>
                </a:solidFill>
                <a:latin typeface="Inter" pitchFamily="34" charset="0"/>
                <a:ea typeface="Inter" pitchFamily="34" charset="-122"/>
                <a:cs typeface="Inter" pitchFamily="34" charset="-120"/>
              </a:rPr>
              <a:t>Lớp:</a:t>
            </a:r>
            <a:r>
              <a:rPr lang="en-US" sz="1750" dirty="0">
                <a:solidFill>
                  <a:srgbClr val="2C2926"/>
                </a:solidFill>
                <a:latin typeface="Inter" pitchFamily="34" charset="0"/>
                <a:ea typeface="Inter" pitchFamily="34" charset="-122"/>
                <a:cs typeface="Inter" pitchFamily="34" charset="-120"/>
              </a:rPr>
              <a:t> DCT122C3</a:t>
            </a:r>
            <a:endParaRPr lang="en-US" sz="1750" dirty="0"/>
          </a:p>
          <a:p>
            <a:pPr marL="0" indent="0" algn="l">
              <a:lnSpc>
                <a:spcPts val="2850"/>
              </a:lnSpc>
              <a:buNone/>
            </a:pPr>
            <a:r>
              <a:rPr lang="en-US" sz="1750" b="1" dirty="0">
                <a:solidFill>
                  <a:srgbClr val="2C2926"/>
                </a:solidFill>
                <a:latin typeface="Inter" pitchFamily="34" charset="0"/>
                <a:ea typeface="Inter" pitchFamily="34" charset="-122"/>
                <a:cs typeface="Inter" pitchFamily="34" charset="-120"/>
              </a:rPr>
              <a:t>Sinh viên:</a:t>
            </a:r>
            <a:r>
              <a:rPr lang="en-US" sz="1750" dirty="0">
                <a:solidFill>
                  <a:srgbClr val="2C2926"/>
                </a:solidFill>
                <a:latin typeface="Inter" pitchFamily="34" charset="0"/>
                <a:ea typeface="Inter" pitchFamily="34" charset="-122"/>
                <a:cs typeface="Inter" pitchFamily="34" charset="-120"/>
              </a:rPr>
              <a:t> Phạm Nhật Phương – 3122411162, </a:t>
            </a:r>
          </a:p>
          <a:p>
            <a:pPr marL="0" indent="0" algn="l">
              <a:lnSpc>
                <a:spcPts val="2850"/>
              </a:lnSpc>
              <a:buNone/>
            </a:pPr>
            <a:r>
              <a:rPr lang="en-US" sz="1750" dirty="0">
                <a:solidFill>
                  <a:srgbClr val="2C2926"/>
                </a:solidFill>
                <a:latin typeface="Inter" pitchFamily="34" charset="0"/>
                <a:ea typeface="Inter" pitchFamily="34" charset="-122"/>
                <a:cs typeface="Inter" pitchFamily="34" charset="-120"/>
              </a:rPr>
              <a:t>	   </a:t>
            </a:r>
            <a:r>
              <a:rPr lang="en-US" sz="1750" dirty="0" err="1">
                <a:solidFill>
                  <a:srgbClr val="2C2926"/>
                </a:solidFill>
                <a:latin typeface="Inter" pitchFamily="34" charset="0"/>
                <a:ea typeface="Inter" pitchFamily="34" charset="-122"/>
                <a:cs typeface="Inter" pitchFamily="34" charset="-120"/>
              </a:rPr>
              <a:t>Nguyễn</a:t>
            </a:r>
            <a:r>
              <a:rPr lang="en-US" sz="1750" dirty="0">
                <a:solidFill>
                  <a:srgbClr val="2C2926"/>
                </a:solidFill>
                <a:latin typeface="Inter" pitchFamily="34" charset="0"/>
                <a:ea typeface="Inter" pitchFamily="34" charset="-122"/>
                <a:cs typeface="Inter" pitchFamily="34" charset="-120"/>
              </a:rPr>
              <a:t> Minh Kiên – 3122411103, </a:t>
            </a:r>
          </a:p>
          <a:p>
            <a:pPr marL="0" indent="0" algn="l">
              <a:lnSpc>
                <a:spcPts val="2850"/>
              </a:lnSpc>
              <a:buNone/>
            </a:pPr>
            <a:r>
              <a:rPr lang="en-US" sz="1750" dirty="0">
                <a:solidFill>
                  <a:srgbClr val="2C2926"/>
                </a:solidFill>
                <a:latin typeface="Inter" pitchFamily="34" charset="0"/>
                <a:ea typeface="Inter" pitchFamily="34" charset="-122"/>
                <a:cs typeface="Inter" pitchFamily="34" charset="-120"/>
              </a:rPr>
              <a:t>	   Lê Nhựt Huy – 3122411063, </a:t>
            </a:r>
          </a:p>
          <a:p>
            <a:pPr marL="0" indent="0" algn="l">
              <a:lnSpc>
                <a:spcPts val="2850"/>
              </a:lnSpc>
              <a:buNone/>
            </a:pPr>
            <a:r>
              <a:rPr lang="en-US" sz="1750" dirty="0">
                <a:solidFill>
                  <a:srgbClr val="2C2926"/>
                </a:solidFill>
                <a:latin typeface="Inter" pitchFamily="34" charset="0"/>
                <a:ea typeface="Inter" pitchFamily="34" charset="-122"/>
                <a:cs typeface="Inter" pitchFamily="34" charset="-120"/>
              </a:rPr>
              <a:t>	   </a:t>
            </a:r>
            <a:r>
              <a:rPr lang="en-US" sz="1750" dirty="0" err="1">
                <a:solidFill>
                  <a:srgbClr val="2C2926"/>
                </a:solidFill>
                <a:latin typeface="Inter" pitchFamily="34" charset="0"/>
                <a:ea typeface="Inter" pitchFamily="34" charset="-122"/>
                <a:cs typeface="Inter" pitchFamily="34" charset="-120"/>
              </a:rPr>
              <a:t>Phạm</a:t>
            </a:r>
            <a:r>
              <a:rPr lang="en-US" sz="1750" dirty="0">
                <a:solidFill>
                  <a:srgbClr val="2C2926"/>
                </a:solidFill>
                <a:latin typeface="Inter" pitchFamily="34" charset="0"/>
                <a:ea typeface="Inter" pitchFamily="34" charset="-122"/>
                <a:cs typeface="Inter" pitchFamily="34" charset="-120"/>
              </a:rPr>
              <a:t> Nguyễn Thế Hào – 3122411048</a:t>
            </a:r>
            <a:endParaRPr lang="en-US" sz="1750" dirty="0"/>
          </a:p>
        </p:txBody>
      </p:sp>
      <p:sp>
        <p:nvSpPr>
          <p:cNvPr id="2" name="Rectangle 1">
            <a:extLst>
              <a:ext uri="{FF2B5EF4-FFF2-40B4-BE49-F238E27FC236}">
                <a16:creationId xmlns:a16="http://schemas.microsoft.com/office/drawing/2014/main" id="{BC79B3F8-BE46-3757-5B9F-79FA70857433}"/>
              </a:ext>
            </a:extLst>
          </p:cNvPr>
          <p:cNvSpPr/>
          <p:nvPr/>
        </p:nvSpPr>
        <p:spPr>
          <a:xfrm>
            <a:off x="12790843" y="7508838"/>
            <a:ext cx="1839557" cy="7207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n8n - Wikipedia">
            <a:extLst>
              <a:ext uri="{FF2B5EF4-FFF2-40B4-BE49-F238E27FC236}">
                <a16:creationId xmlns:a16="http://schemas.microsoft.com/office/drawing/2014/main" id="{CE392370-2700-7C5B-DB7B-1116B8A3ED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6723" y="2307890"/>
            <a:ext cx="5006788" cy="20027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nime được tạo ra như thế nào?">
            <a:extLst>
              <a:ext uri="{FF2B5EF4-FFF2-40B4-BE49-F238E27FC236}">
                <a16:creationId xmlns:a16="http://schemas.microsoft.com/office/drawing/2014/main" id="{9F83DC7C-4E24-EB62-1934-97B9800373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2370" y="2112084"/>
            <a:ext cx="4275582" cy="23943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animEffect transition="in" filter="fade">
                                      <p:cBhvr>
                                        <p:cTn id="11" dur="500"/>
                                        <p:tgtEl>
                                          <p:spTgt spid="102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28"/>
                                        </p:tgtEl>
                                        <p:attrNameLst>
                                          <p:attrName>style.visibility</p:attrName>
                                        </p:attrNameLst>
                                      </p:cBhvr>
                                      <p:to>
                                        <p:strVal val="visible"/>
                                      </p:to>
                                    </p:set>
                                    <p:animEffect transition="in" filter="fade">
                                      <p:cBhvr>
                                        <p:cTn id="16" dur="500"/>
                                        <p:tgtEl>
                                          <p:spTgt spid="1028"/>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61248" y="712694"/>
            <a:ext cx="5670590" cy="708779"/>
          </a:xfrm>
          <a:prstGeom prst="rect">
            <a:avLst/>
          </a:prstGeom>
          <a:noFill/>
          <a:ln/>
        </p:spPr>
        <p:txBody>
          <a:bodyPr wrap="none" lIns="0" tIns="0" rIns="0" bIns="0" rtlCol="0" anchor="t"/>
          <a:lstStyle/>
          <a:p>
            <a:pPr marL="0" indent="0" algn="l">
              <a:lnSpc>
                <a:spcPts val="5550"/>
              </a:lnSpc>
              <a:buNone/>
            </a:pPr>
            <a:r>
              <a:rPr lang="vi-VN" sz="4450" dirty="0">
                <a:solidFill>
                  <a:srgbClr val="2C2926"/>
                </a:solidFill>
                <a:latin typeface="Bricolage Grotesque Semi Bold" pitchFamily="34" charset="0"/>
                <a:ea typeface="Bricolage Grotesque Semi Bold" pitchFamily="34" charset="-122"/>
                <a:cs typeface="Bricolage Grotesque Semi Bold" pitchFamily="34" charset="-120"/>
              </a:rPr>
              <a:t>1. </a:t>
            </a:r>
            <a:r>
              <a:rPr lang="en-US" sz="4450" dirty="0" err="1">
                <a:solidFill>
                  <a:srgbClr val="2C2926"/>
                </a:solidFill>
                <a:latin typeface="Bricolage Grotesque Semi Bold" pitchFamily="34" charset="0"/>
                <a:ea typeface="Bricolage Grotesque Semi Bold" pitchFamily="34" charset="-122"/>
                <a:cs typeface="Bricolage Grotesque Semi Bold" pitchFamily="34" charset="-120"/>
              </a:rPr>
              <a:t>Tổng</a:t>
            </a:r>
            <a:r>
              <a:rPr lang="en-US" sz="4450" dirty="0">
                <a:solidFill>
                  <a:srgbClr val="2C2926"/>
                </a:solidFill>
                <a:latin typeface="Bricolage Grotesque Semi Bold" pitchFamily="34" charset="0"/>
                <a:ea typeface="Bricolage Grotesque Semi Bold" pitchFamily="34" charset="-122"/>
                <a:cs typeface="Bricolage Grotesque Semi Bold" pitchFamily="34" charset="-120"/>
              </a:rPr>
              <a:t> Quan Hệ Thống</a:t>
            </a:r>
            <a:endParaRPr lang="en-US" sz="4450" dirty="0"/>
          </a:p>
        </p:txBody>
      </p:sp>
      <p:sp>
        <p:nvSpPr>
          <p:cNvPr id="3" name="Shape 1"/>
          <p:cNvSpPr/>
          <p:nvPr/>
        </p:nvSpPr>
        <p:spPr>
          <a:xfrm>
            <a:off x="8719227" y="2865998"/>
            <a:ext cx="1251137" cy="1883037"/>
          </a:xfrm>
          <a:prstGeom prst="roundRect">
            <a:avLst>
              <a:gd name="adj" fmla="val 2871"/>
            </a:avLst>
          </a:prstGeom>
          <a:solidFill>
            <a:srgbClr val="FFFFFF"/>
          </a:solidFill>
          <a:ln w="7620">
            <a:solidFill>
              <a:srgbClr val="F8ECD3"/>
            </a:solidFill>
            <a:prstDash val="solid"/>
          </a:ln>
        </p:spPr>
      </p:sp>
      <p:pic>
        <p:nvPicPr>
          <p:cNvPr id="4" name="Image 0" descr="preencoded.png"/>
          <p:cNvPicPr>
            <a:picLocks noChangeAspect="1"/>
          </p:cNvPicPr>
          <p:nvPr/>
        </p:nvPicPr>
        <p:blipFill>
          <a:blip r:embed="rId3"/>
          <a:stretch>
            <a:fillRect/>
          </a:stretch>
        </p:blipFill>
        <p:spPr>
          <a:xfrm>
            <a:off x="493336" y="1747361"/>
            <a:ext cx="680442" cy="680442"/>
          </a:xfrm>
          <a:prstGeom prst="rect">
            <a:avLst/>
          </a:prstGeom>
        </p:spPr>
      </p:pic>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0502" y="1934408"/>
            <a:ext cx="306110" cy="306110"/>
          </a:xfrm>
          <a:prstGeom prst="rect">
            <a:avLst/>
          </a:prstGeom>
        </p:spPr>
      </p:pic>
      <p:sp>
        <p:nvSpPr>
          <p:cNvPr id="6" name="Text 2"/>
          <p:cNvSpPr/>
          <p:nvPr/>
        </p:nvSpPr>
        <p:spPr>
          <a:xfrm>
            <a:off x="493336" y="265461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926"/>
                </a:solidFill>
                <a:latin typeface="Bricolage Grotesque Semi Bold" pitchFamily="34" charset="0"/>
                <a:ea typeface="Bricolage Grotesque Semi Bold" pitchFamily="34" charset="-122"/>
                <a:cs typeface="Bricolage Grotesque Semi Bold" pitchFamily="34" charset="-120"/>
              </a:rPr>
              <a:t>Nền tảng n8n</a:t>
            </a:r>
            <a:endParaRPr lang="en-US" sz="2200" dirty="0"/>
          </a:p>
        </p:txBody>
      </p:sp>
      <p:sp>
        <p:nvSpPr>
          <p:cNvPr id="7" name="Text 3"/>
          <p:cNvSpPr/>
          <p:nvPr/>
        </p:nvSpPr>
        <p:spPr>
          <a:xfrm>
            <a:off x="493336" y="3149362"/>
            <a:ext cx="9077384" cy="1451610"/>
          </a:xfrm>
          <a:prstGeom prst="rect">
            <a:avLst/>
          </a:prstGeom>
          <a:noFill/>
          <a:ln/>
        </p:spPr>
        <p:txBody>
          <a:bodyPr wrap="square" lIns="0" tIns="0" rIns="0" bIns="0" rtlCol="0" anchor="t"/>
          <a:lstStyle/>
          <a:p>
            <a:pPr marL="0" indent="0" algn="l">
              <a:lnSpc>
                <a:spcPts val="2850"/>
              </a:lnSpc>
              <a:buNone/>
            </a:pPr>
            <a:r>
              <a:rPr lang="en-US" sz="1750" dirty="0">
                <a:solidFill>
                  <a:srgbClr val="2C2926"/>
                </a:solidFill>
                <a:latin typeface="Inter" pitchFamily="34" charset="0"/>
                <a:ea typeface="Inter" pitchFamily="34" charset="-122"/>
                <a:cs typeface="Inter" pitchFamily="34" charset="-120"/>
              </a:rPr>
              <a:t>Nền tảng tự động hóa quy trình no-code/low-code, kết nối dịch vụ và API qua giao diện kéo-thả trực </a:t>
            </a:r>
            <a:r>
              <a:rPr lang="en-US" sz="1750" dirty="0" err="1">
                <a:solidFill>
                  <a:srgbClr val="2C2926"/>
                </a:solidFill>
                <a:latin typeface="Inter" pitchFamily="34" charset="0"/>
                <a:ea typeface="Inter" pitchFamily="34" charset="-122"/>
                <a:cs typeface="Inter" pitchFamily="34" charset="-120"/>
              </a:rPr>
              <a:t>quan</a:t>
            </a:r>
            <a:r>
              <a:rPr lang="en-US" sz="1750" dirty="0">
                <a:solidFill>
                  <a:srgbClr val="2C2926"/>
                </a:solidFill>
                <a:latin typeface="Inter" pitchFamily="34" charset="0"/>
                <a:ea typeface="Inter" pitchFamily="34" charset="-122"/>
                <a:cs typeface="Inter" pitchFamily="34" charset="-120"/>
              </a:rPr>
              <a:t>.</a:t>
            </a:r>
            <a:r>
              <a:rPr lang="vi-VN" sz="1750" dirty="0">
                <a:solidFill>
                  <a:srgbClr val="2C2926"/>
                </a:solidFill>
                <a:latin typeface="Inter" pitchFamily="34" charset="0"/>
                <a:ea typeface="Inter" pitchFamily="34" charset="-122"/>
                <a:cs typeface="Inter" pitchFamily="34" charset="-120"/>
              </a:rPr>
              <a:t> Người dùng có thể xây dựng luồng xử lý dữ liệu bằng cách liên kết các node chức năng như HTTP Request, AI Model, Telegram Bot, xử lý dữ liệu, điều kiện rẽ nhánh,…</a:t>
            </a:r>
            <a:endParaRPr lang="en-US" sz="1750" dirty="0"/>
          </a:p>
        </p:txBody>
      </p:sp>
      <p:sp>
        <p:nvSpPr>
          <p:cNvPr id="18" name="Rectangle 17">
            <a:extLst>
              <a:ext uri="{FF2B5EF4-FFF2-40B4-BE49-F238E27FC236}">
                <a16:creationId xmlns:a16="http://schemas.microsoft.com/office/drawing/2014/main" id="{5A3FBB8A-BEA4-7DE4-A109-79D5F580395F}"/>
              </a:ext>
            </a:extLst>
          </p:cNvPr>
          <p:cNvSpPr/>
          <p:nvPr/>
        </p:nvSpPr>
        <p:spPr>
          <a:xfrm>
            <a:off x="12790843" y="7508838"/>
            <a:ext cx="1839557" cy="7207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3">
            <a:extLst>
              <a:ext uri="{FF2B5EF4-FFF2-40B4-BE49-F238E27FC236}">
                <a16:creationId xmlns:a16="http://schemas.microsoft.com/office/drawing/2014/main" id="{863367E0-F47A-7F06-5BEC-00EEBC716D46}"/>
              </a:ext>
            </a:extLst>
          </p:cNvPr>
          <p:cNvSpPr/>
          <p:nvPr/>
        </p:nvSpPr>
        <p:spPr>
          <a:xfrm>
            <a:off x="479267" y="4741387"/>
            <a:ext cx="4805680" cy="545207"/>
          </a:xfrm>
          <a:prstGeom prst="rect">
            <a:avLst/>
          </a:prstGeom>
          <a:noFill/>
          <a:ln/>
        </p:spPr>
        <p:txBody>
          <a:bodyPr wrap="square" lIns="0" tIns="0" rIns="0" bIns="0" rtlCol="0" anchor="t"/>
          <a:lstStyle/>
          <a:p>
            <a:pPr marL="0" indent="0" algn="l">
              <a:lnSpc>
                <a:spcPts val="2850"/>
              </a:lnSpc>
              <a:buNone/>
            </a:pPr>
            <a:r>
              <a:rPr lang="en-US" sz="1750" b="1" dirty="0" err="1">
                <a:solidFill>
                  <a:srgbClr val="2C2926"/>
                </a:solidFill>
                <a:latin typeface="Inter" pitchFamily="34" charset="0"/>
                <a:ea typeface="Inter" pitchFamily="34" charset="-122"/>
                <a:cs typeface="Inter" pitchFamily="34" charset="-120"/>
              </a:rPr>
              <a:t>Một</a:t>
            </a:r>
            <a:r>
              <a:rPr lang="en-US" sz="1750" b="1" dirty="0">
                <a:solidFill>
                  <a:srgbClr val="2C2926"/>
                </a:solidFill>
                <a:latin typeface="Inter" pitchFamily="34" charset="0"/>
                <a:ea typeface="Inter" pitchFamily="34" charset="-122"/>
                <a:cs typeface="Inter" pitchFamily="34" charset="-120"/>
              </a:rPr>
              <a:t> </a:t>
            </a:r>
            <a:r>
              <a:rPr lang="en-US" sz="1750" b="1" dirty="0" err="1">
                <a:solidFill>
                  <a:srgbClr val="2C2926"/>
                </a:solidFill>
                <a:latin typeface="Inter" pitchFamily="34" charset="0"/>
                <a:ea typeface="Inter" pitchFamily="34" charset="-122"/>
                <a:cs typeface="Inter" pitchFamily="34" charset="-120"/>
              </a:rPr>
              <a:t>số</a:t>
            </a:r>
            <a:r>
              <a:rPr lang="en-US" sz="1750" b="1" dirty="0">
                <a:solidFill>
                  <a:srgbClr val="2C2926"/>
                </a:solidFill>
                <a:latin typeface="Inter" pitchFamily="34" charset="0"/>
                <a:ea typeface="Inter" pitchFamily="34" charset="-122"/>
                <a:cs typeface="Inter" pitchFamily="34" charset="-120"/>
              </a:rPr>
              <a:t> </a:t>
            </a:r>
            <a:r>
              <a:rPr lang="en-US" sz="1750" b="1" dirty="0" err="1">
                <a:solidFill>
                  <a:srgbClr val="2C2926"/>
                </a:solidFill>
                <a:latin typeface="Inter" pitchFamily="34" charset="0"/>
                <a:ea typeface="Inter" pitchFamily="34" charset="-122"/>
                <a:cs typeface="Inter" pitchFamily="34" charset="-120"/>
              </a:rPr>
              <a:t>đặc</a:t>
            </a:r>
            <a:r>
              <a:rPr lang="en-US" sz="1750" b="1" dirty="0">
                <a:solidFill>
                  <a:srgbClr val="2C2926"/>
                </a:solidFill>
                <a:latin typeface="Inter" pitchFamily="34" charset="0"/>
                <a:ea typeface="Inter" pitchFamily="34" charset="-122"/>
                <a:cs typeface="Inter" pitchFamily="34" charset="-120"/>
              </a:rPr>
              <a:t> </a:t>
            </a:r>
            <a:r>
              <a:rPr lang="en-US" sz="1750" b="1" dirty="0" err="1">
                <a:solidFill>
                  <a:srgbClr val="2C2926"/>
                </a:solidFill>
                <a:latin typeface="Inter" pitchFamily="34" charset="0"/>
                <a:ea typeface="Inter" pitchFamily="34" charset="-122"/>
                <a:cs typeface="Inter" pitchFamily="34" charset="-120"/>
              </a:rPr>
              <a:t>điểm</a:t>
            </a:r>
            <a:r>
              <a:rPr lang="en-US" sz="1750" b="1" dirty="0">
                <a:solidFill>
                  <a:srgbClr val="2C2926"/>
                </a:solidFill>
                <a:latin typeface="Inter" pitchFamily="34" charset="0"/>
                <a:ea typeface="Inter" pitchFamily="34" charset="-122"/>
                <a:cs typeface="Inter" pitchFamily="34" charset="-120"/>
              </a:rPr>
              <a:t> </a:t>
            </a:r>
            <a:r>
              <a:rPr lang="en-US" sz="1750" b="1" dirty="0" err="1">
                <a:solidFill>
                  <a:srgbClr val="2C2926"/>
                </a:solidFill>
                <a:latin typeface="Inter" pitchFamily="34" charset="0"/>
                <a:ea typeface="Inter" pitchFamily="34" charset="-122"/>
                <a:cs typeface="Inter" pitchFamily="34" charset="-120"/>
              </a:rPr>
              <a:t>nổi</a:t>
            </a:r>
            <a:r>
              <a:rPr lang="en-US" sz="1750" b="1" dirty="0">
                <a:solidFill>
                  <a:srgbClr val="2C2926"/>
                </a:solidFill>
                <a:latin typeface="Inter" pitchFamily="34" charset="0"/>
                <a:ea typeface="Inter" pitchFamily="34" charset="-122"/>
                <a:cs typeface="Inter" pitchFamily="34" charset="-120"/>
              </a:rPr>
              <a:t> </a:t>
            </a:r>
            <a:r>
              <a:rPr lang="en-US" sz="1750" b="1" dirty="0" err="1">
                <a:solidFill>
                  <a:srgbClr val="2C2926"/>
                </a:solidFill>
                <a:latin typeface="Inter" pitchFamily="34" charset="0"/>
                <a:ea typeface="Inter" pitchFamily="34" charset="-122"/>
                <a:cs typeface="Inter" pitchFamily="34" charset="-120"/>
              </a:rPr>
              <a:t>bật</a:t>
            </a:r>
            <a:r>
              <a:rPr lang="en-US" sz="1750" b="1" dirty="0">
                <a:solidFill>
                  <a:srgbClr val="2C2926"/>
                </a:solidFill>
                <a:latin typeface="Inter" pitchFamily="34" charset="0"/>
                <a:ea typeface="Inter" pitchFamily="34" charset="-122"/>
                <a:cs typeface="Inter" pitchFamily="34" charset="-120"/>
              </a:rPr>
              <a:t> </a:t>
            </a:r>
            <a:r>
              <a:rPr lang="en-US" sz="1750" b="1" dirty="0" err="1">
                <a:solidFill>
                  <a:srgbClr val="2C2926"/>
                </a:solidFill>
                <a:latin typeface="Inter" pitchFamily="34" charset="0"/>
                <a:ea typeface="Inter" pitchFamily="34" charset="-122"/>
                <a:cs typeface="Inter" pitchFamily="34" charset="-120"/>
              </a:rPr>
              <a:t>của</a:t>
            </a:r>
            <a:r>
              <a:rPr lang="en-US" sz="1750" b="1" dirty="0">
                <a:solidFill>
                  <a:srgbClr val="2C2926"/>
                </a:solidFill>
                <a:latin typeface="Inter" pitchFamily="34" charset="0"/>
                <a:ea typeface="Inter" pitchFamily="34" charset="-122"/>
                <a:cs typeface="Inter" pitchFamily="34" charset="-120"/>
              </a:rPr>
              <a:t> n8n:</a:t>
            </a:r>
            <a:endParaRPr lang="en-US" sz="1750" b="1" dirty="0"/>
          </a:p>
        </p:txBody>
      </p:sp>
      <p:sp>
        <p:nvSpPr>
          <p:cNvPr id="20" name="Text 3">
            <a:extLst>
              <a:ext uri="{FF2B5EF4-FFF2-40B4-BE49-F238E27FC236}">
                <a16:creationId xmlns:a16="http://schemas.microsoft.com/office/drawing/2014/main" id="{CBF443B6-DB15-4623-10F7-3CA292C74D88}"/>
              </a:ext>
            </a:extLst>
          </p:cNvPr>
          <p:cNvSpPr/>
          <p:nvPr/>
        </p:nvSpPr>
        <p:spPr>
          <a:xfrm>
            <a:off x="461248" y="5196374"/>
            <a:ext cx="4805680" cy="545207"/>
          </a:xfrm>
          <a:prstGeom prst="rect">
            <a:avLst/>
          </a:prstGeom>
          <a:noFill/>
          <a:ln/>
        </p:spPr>
        <p:txBody>
          <a:bodyPr wrap="square" lIns="0" tIns="0" rIns="0" bIns="0" rtlCol="0" anchor="t"/>
          <a:lstStyle/>
          <a:p>
            <a:pPr marL="0" indent="0" algn="l">
              <a:lnSpc>
                <a:spcPts val="2850"/>
              </a:lnSpc>
              <a:buNone/>
            </a:pPr>
            <a:r>
              <a:rPr lang="en-US" sz="1800" dirty="0" err="1">
                <a:effectLst/>
                <a:latin typeface="Times New Roman" panose="02020603050405020304" pitchFamily="18" charset="0"/>
                <a:ea typeface="Times New Roman" panose="02020603050405020304" pitchFamily="18" charset="0"/>
              </a:rPr>
              <a:t>Mã</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nguồn</a:t>
            </a:r>
            <a:r>
              <a:rPr lang="en-US" sz="180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mở:</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Có</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tự</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triển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khai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bằng</a:t>
            </a:r>
            <a:r>
              <a:rPr lang="en-US" sz="1800" dirty="0">
                <a:effectLst/>
                <a:latin typeface="Times New Roman" panose="02020603050405020304" pitchFamily="18" charset="0"/>
                <a:ea typeface="Times New Roman" panose="02020603050405020304" pitchFamily="18" charset="0"/>
              </a:rPr>
              <a:t> Docker</a:t>
            </a:r>
            <a:endParaRPr lang="en-US" sz="1750" b="1" dirty="0"/>
          </a:p>
        </p:txBody>
      </p:sp>
      <p:sp>
        <p:nvSpPr>
          <p:cNvPr id="21" name="Text 3">
            <a:extLst>
              <a:ext uri="{FF2B5EF4-FFF2-40B4-BE49-F238E27FC236}">
                <a16:creationId xmlns:a16="http://schemas.microsoft.com/office/drawing/2014/main" id="{94530384-A516-9100-E705-05EED08FB645}"/>
              </a:ext>
            </a:extLst>
          </p:cNvPr>
          <p:cNvSpPr/>
          <p:nvPr/>
        </p:nvSpPr>
        <p:spPr>
          <a:xfrm>
            <a:off x="461248" y="5649620"/>
            <a:ext cx="6051312" cy="545207"/>
          </a:xfrm>
          <a:prstGeom prst="rect">
            <a:avLst/>
          </a:prstGeom>
          <a:noFill/>
          <a:ln/>
        </p:spPr>
        <p:txBody>
          <a:bodyPr wrap="square" lIns="0" tIns="0" rIns="0" bIns="0" rtlCol="0" anchor="t"/>
          <a:lstStyle/>
          <a:p>
            <a:pPr marL="0" indent="0" algn="l">
              <a:lnSpc>
                <a:spcPts val="2850"/>
              </a:lnSpc>
              <a:buNone/>
            </a:pPr>
            <a:r>
              <a:rPr lang="vi-VN" sz="1800" dirty="0">
                <a:effectLst/>
                <a:latin typeface="Times New Roman" panose="02020603050405020304" pitchFamily="18" charset="0"/>
                <a:ea typeface="Times New Roman" panose="02020603050405020304" pitchFamily="18" charset="0"/>
              </a:rPr>
              <a:t>Hỗ trợ tích hợp mạnh mẽ: Kết nối dễ dàng với API bên ngoài</a:t>
            </a:r>
            <a:endParaRPr lang="en-US" sz="1750" b="1" dirty="0"/>
          </a:p>
        </p:txBody>
      </p:sp>
      <p:sp>
        <p:nvSpPr>
          <p:cNvPr id="22" name="Text 3">
            <a:extLst>
              <a:ext uri="{FF2B5EF4-FFF2-40B4-BE49-F238E27FC236}">
                <a16:creationId xmlns:a16="http://schemas.microsoft.com/office/drawing/2014/main" id="{36B5C52A-52AA-7397-B424-4F7B48C71B0D}"/>
              </a:ext>
            </a:extLst>
          </p:cNvPr>
          <p:cNvSpPr/>
          <p:nvPr/>
        </p:nvSpPr>
        <p:spPr>
          <a:xfrm>
            <a:off x="461248" y="6147187"/>
            <a:ext cx="8489712" cy="545207"/>
          </a:xfrm>
          <a:prstGeom prst="rect">
            <a:avLst/>
          </a:prstGeom>
          <a:noFill/>
          <a:ln/>
        </p:spPr>
        <p:txBody>
          <a:bodyPr wrap="square" lIns="0" tIns="0" rIns="0" bIns="0" rtlCol="0" anchor="t"/>
          <a:lstStyle/>
          <a:p>
            <a:pPr marL="0" indent="0" algn="l">
              <a:lnSpc>
                <a:spcPts val="2850"/>
              </a:lnSpc>
              <a:buNone/>
            </a:pPr>
            <a:r>
              <a:rPr lang="vi-VN" sz="1800" dirty="0">
                <a:effectLst/>
                <a:latin typeface="Times New Roman" panose="02020603050405020304" pitchFamily="18" charset="0"/>
                <a:ea typeface="Times New Roman" panose="02020603050405020304" pitchFamily="18" charset="0"/>
              </a:rPr>
              <a:t>Thiết kế workflow trực quan: Giúp mô tả rõ ràng luồng dữ liệu trong hệ thống AI</a:t>
            </a:r>
            <a:endParaRPr lang="en-US" sz="1750" b="1" dirty="0"/>
          </a:p>
        </p:txBody>
      </p:sp>
      <p:pic>
        <p:nvPicPr>
          <p:cNvPr id="2050" name="Picture 2" descr="This n8n AI Agent will AUTOMATE your Social Media">
            <a:extLst>
              <a:ext uri="{FF2B5EF4-FFF2-40B4-BE49-F238E27FC236}">
                <a16:creationId xmlns:a16="http://schemas.microsoft.com/office/drawing/2014/main" id="{60C6187A-F776-A2BA-8A61-5C4532859D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79526" y="2664332"/>
            <a:ext cx="3732970" cy="22734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animEffect transition="in" filter="wipe(down)">
                                      <p:cBhvr>
                                        <p:cTn id="11"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61248" y="712694"/>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C2926"/>
                </a:solidFill>
                <a:latin typeface="Bricolage Grotesque Semi Bold" pitchFamily="34" charset="0"/>
                <a:ea typeface="Bricolage Grotesque Semi Bold" pitchFamily="34" charset="-122"/>
                <a:cs typeface="Bricolage Grotesque Semi Bold" pitchFamily="34" charset="-120"/>
              </a:rPr>
              <a:t>Tổng Quan Hệ Thống</a:t>
            </a:r>
            <a:endParaRPr lang="en-US" sz="4450" dirty="0"/>
          </a:p>
        </p:txBody>
      </p:sp>
      <p:sp>
        <p:nvSpPr>
          <p:cNvPr id="13" name="Shape 7"/>
          <p:cNvSpPr/>
          <p:nvPr/>
        </p:nvSpPr>
        <p:spPr>
          <a:xfrm>
            <a:off x="0" y="1612284"/>
            <a:ext cx="14630400" cy="6617316"/>
          </a:xfrm>
          <a:prstGeom prst="roundRect">
            <a:avLst>
              <a:gd name="adj" fmla="val 2871"/>
            </a:avLst>
          </a:prstGeom>
          <a:solidFill>
            <a:srgbClr val="FFFFFF"/>
          </a:solidFill>
          <a:ln w="7620">
            <a:solidFill>
              <a:srgbClr val="F8ECD3"/>
            </a:solidFill>
            <a:prstDash val="solid"/>
          </a:ln>
        </p:spPr>
      </p:sp>
      <p:pic>
        <p:nvPicPr>
          <p:cNvPr id="14" name="Image 4" descr="preencoded.png"/>
          <p:cNvPicPr>
            <a:picLocks noChangeAspect="1"/>
          </p:cNvPicPr>
          <p:nvPr/>
        </p:nvPicPr>
        <p:blipFill>
          <a:blip r:embed="rId3"/>
          <a:stretch>
            <a:fillRect/>
          </a:stretch>
        </p:blipFill>
        <p:spPr>
          <a:xfrm>
            <a:off x="234435" y="1846718"/>
            <a:ext cx="680442" cy="680442"/>
          </a:xfrm>
          <a:prstGeom prst="rect">
            <a:avLst/>
          </a:prstGeom>
        </p:spPr>
      </p:pic>
      <p:pic>
        <p:nvPicPr>
          <p:cNvPr id="15" name="Image 5"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1601" y="2033765"/>
            <a:ext cx="306110" cy="306110"/>
          </a:xfrm>
          <a:prstGeom prst="rect">
            <a:avLst/>
          </a:prstGeom>
        </p:spPr>
      </p:pic>
      <p:sp>
        <p:nvSpPr>
          <p:cNvPr id="16" name="Text 8"/>
          <p:cNvSpPr/>
          <p:nvPr/>
        </p:nvSpPr>
        <p:spPr>
          <a:xfrm>
            <a:off x="234435" y="275397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926"/>
                </a:solidFill>
                <a:latin typeface="Bricolage Grotesque Semi Bold" pitchFamily="34" charset="0"/>
                <a:ea typeface="Bricolage Grotesque Semi Bold" pitchFamily="34" charset="-122"/>
                <a:cs typeface="Bricolage Grotesque Semi Bold" pitchFamily="34" charset="-120"/>
              </a:rPr>
              <a:t>Lý do chọn n8n</a:t>
            </a:r>
            <a:endParaRPr lang="en-US" sz="2200" dirty="0"/>
          </a:p>
        </p:txBody>
      </p:sp>
      <p:sp>
        <p:nvSpPr>
          <p:cNvPr id="17" name="Text 9"/>
          <p:cNvSpPr/>
          <p:nvPr/>
        </p:nvSpPr>
        <p:spPr>
          <a:xfrm>
            <a:off x="234434" y="3244393"/>
            <a:ext cx="6796285" cy="424457"/>
          </a:xfrm>
          <a:prstGeom prst="rect">
            <a:avLst/>
          </a:prstGeom>
          <a:noFill/>
          <a:ln/>
        </p:spPr>
        <p:txBody>
          <a:bodyPr wrap="square" lIns="0" tIns="0" rIns="0" bIns="0" rtlCol="0" anchor="t"/>
          <a:lstStyle/>
          <a:p>
            <a:pPr marL="0" indent="0" algn="l">
              <a:lnSpc>
                <a:spcPts val="2850"/>
              </a:lnSpc>
              <a:buNone/>
            </a:pPr>
            <a:r>
              <a:rPr lang="en-US" sz="1750" dirty="0">
                <a:solidFill>
                  <a:srgbClr val="2C2926"/>
                </a:solidFill>
                <a:latin typeface="Inter" pitchFamily="34" charset="0"/>
                <a:ea typeface="Inter" pitchFamily="34" charset="-122"/>
                <a:cs typeface="Inter" pitchFamily="34" charset="-120"/>
              </a:rPr>
              <a:t>Giảm phức tạp tích </a:t>
            </a:r>
            <a:r>
              <a:rPr lang="en-US" sz="1750" dirty="0" err="1">
                <a:solidFill>
                  <a:srgbClr val="2C2926"/>
                </a:solidFill>
                <a:latin typeface="Inter" pitchFamily="34" charset="0"/>
                <a:ea typeface="Inter" pitchFamily="34" charset="-122"/>
                <a:cs typeface="Inter" pitchFamily="34" charset="-120"/>
              </a:rPr>
              <a:t>hợp</a:t>
            </a:r>
            <a:r>
              <a:rPr lang="en-US" sz="1750" dirty="0">
                <a:solidFill>
                  <a:srgbClr val="2C2926"/>
                </a:solidFill>
                <a:latin typeface="Inter" pitchFamily="34" charset="0"/>
                <a:ea typeface="Inter" pitchFamily="34" charset="-122"/>
                <a:cs typeface="Inter" pitchFamily="34" charset="-120"/>
              </a:rPr>
              <a:t> AI</a:t>
            </a:r>
            <a:endParaRPr lang="vi-VN" sz="1750" dirty="0">
              <a:solidFill>
                <a:srgbClr val="2C2926"/>
              </a:solidFill>
              <a:latin typeface="Inter" pitchFamily="34" charset="0"/>
              <a:ea typeface="Inter" pitchFamily="34" charset="-122"/>
              <a:cs typeface="Inter" pitchFamily="34" charset="-120"/>
            </a:endParaRPr>
          </a:p>
        </p:txBody>
      </p:sp>
      <p:sp>
        <p:nvSpPr>
          <p:cNvPr id="18" name="Rectangle 17">
            <a:extLst>
              <a:ext uri="{FF2B5EF4-FFF2-40B4-BE49-F238E27FC236}">
                <a16:creationId xmlns:a16="http://schemas.microsoft.com/office/drawing/2014/main" id="{5A3FBB8A-BEA4-7DE4-A109-79D5F580395F}"/>
              </a:ext>
            </a:extLst>
          </p:cNvPr>
          <p:cNvSpPr/>
          <p:nvPr/>
        </p:nvSpPr>
        <p:spPr>
          <a:xfrm>
            <a:off x="12790843" y="7508838"/>
            <a:ext cx="1839557" cy="7207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9">
            <a:extLst>
              <a:ext uri="{FF2B5EF4-FFF2-40B4-BE49-F238E27FC236}">
                <a16:creationId xmlns:a16="http://schemas.microsoft.com/office/drawing/2014/main" id="{675559E0-2B5B-DD50-B1E0-2F86C2889F3A}"/>
              </a:ext>
            </a:extLst>
          </p:cNvPr>
          <p:cNvSpPr/>
          <p:nvPr/>
        </p:nvSpPr>
        <p:spPr>
          <a:xfrm>
            <a:off x="234433" y="3650613"/>
            <a:ext cx="9102607" cy="1451610"/>
          </a:xfrm>
          <a:prstGeom prst="rect">
            <a:avLst/>
          </a:prstGeom>
          <a:noFill/>
          <a:ln/>
        </p:spPr>
        <p:txBody>
          <a:bodyPr wrap="square" lIns="0" tIns="0" rIns="0" bIns="0" rtlCol="0" anchor="t"/>
          <a:lstStyle/>
          <a:p>
            <a:pPr marL="0" indent="0" algn="l">
              <a:lnSpc>
                <a:spcPts val="2850"/>
              </a:lnSpc>
              <a:buNone/>
            </a:pPr>
            <a:r>
              <a:rPr lang="en-US" sz="1750" dirty="0" err="1">
                <a:solidFill>
                  <a:srgbClr val="2C2926"/>
                </a:solidFill>
                <a:latin typeface="Inter" pitchFamily="34" charset="0"/>
                <a:ea typeface="Inter" pitchFamily="34" charset="-122"/>
                <a:cs typeface="Inter" pitchFamily="34" charset="-120"/>
              </a:rPr>
              <a:t>trực</a:t>
            </a:r>
            <a:r>
              <a:rPr lang="en-US" sz="1750" dirty="0">
                <a:solidFill>
                  <a:srgbClr val="2C2926"/>
                </a:solidFill>
                <a:latin typeface="Inter" pitchFamily="34" charset="0"/>
                <a:ea typeface="Inter" pitchFamily="34" charset="-122"/>
                <a:cs typeface="Inter" pitchFamily="34" charset="-120"/>
              </a:rPr>
              <a:t> quan hóa </a:t>
            </a:r>
            <a:r>
              <a:rPr lang="en-US" sz="1750" dirty="0" err="1">
                <a:solidFill>
                  <a:srgbClr val="2C2926"/>
                </a:solidFill>
                <a:latin typeface="Inter" pitchFamily="34" charset="0"/>
                <a:ea typeface="Inter" pitchFamily="34" charset="-122"/>
                <a:cs typeface="Inter" pitchFamily="34" charset="-120"/>
              </a:rPr>
              <a:t>kiến</a:t>
            </a:r>
            <a:r>
              <a:rPr lang="en-US" sz="1750" dirty="0">
                <a:solidFill>
                  <a:srgbClr val="2C2926"/>
                </a:solidFill>
                <a:latin typeface="Inter" pitchFamily="34" charset="0"/>
                <a:ea typeface="Inter" pitchFamily="34" charset="-122"/>
                <a:cs typeface="Inter" pitchFamily="34" charset="-120"/>
              </a:rPr>
              <a:t> </a:t>
            </a:r>
            <a:r>
              <a:rPr lang="en-US" sz="1750" dirty="0" err="1">
                <a:solidFill>
                  <a:srgbClr val="2C2926"/>
                </a:solidFill>
                <a:latin typeface="Inter" pitchFamily="34" charset="0"/>
                <a:ea typeface="Inter" pitchFamily="34" charset="-122"/>
                <a:cs typeface="Inter" pitchFamily="34" charset="-120"/>
              </a:rPr>
              <a:t>trúc</a:t>
            </a:r>
            <a:endParaRPr lang="vi-VN" sz="1750" dirty="0">
              <a:solidFill>
                <a:srgbClr val="2C2926"/>
              </a:solidFill>
              <a:latin typeface="Inter" pitchFamily="34" charset="0"/>
              <a:ea typeface="Inter" pitchFamily="34" charset="-122"/>
              <a:cs typeface="Inter" pitchFamily="34" charset="-120"/>
            </a:endParaRPr>
          </a:p>
        </p:txBody>
      </p:sp>
      <p:sp>
        <p:nvSpPr>
          <p:cNvPr id="20" name="Text 9">
            <a:extLst>
              <a:ext uri="{FF2B5EF4-FFF2-40B4-BE49-F238E27FC236}">
                <a16:creationId xmlns:a16="http://schemas.microsoft.com/office/drawing/2014/main" id="{4F0AFE17-C2F0-DC7C-6720-96D7A32C9BCE}"/>
              </a:ext>
            </a:extLst>
          </p:cNvPr>
          <p:cNvSpPr/>
          <p:nvPr/>
        </p:nvSpPr>
        <p:spPr>
          <a:xfrm>
            <a:off x="234435" y="4133192"/>
            <a:ext cx="6796285" cy="509928"/>
          </a:xfrm>
          <a:prstGeom prst="rect">
            <a:avLst/>
          </a:prstGeom>
          <a:noFill/>
          <a:ln/>
        </p:spPr>
        <p:txBody>
          <a:bodyPr wrap="square" lIns="0" tIns="0" rIns="0" bIns="0" rtlCol="0" anchor="t"/>
          <a:lstStyle/>
          <a:p>
            <a:pPr marL="0" indent="0" algn="l">
              <a:lnSpc>
                <a:spcPts val="2850"/>
              </a:lnSpc>
              <a:buNone/>
            </a:pPr>
            <a:r>
              <a:rPr lang="en-US" sz="1750" dirty="0" err="1">
                <a:solidFill>
                  <a:srgbClr val="2C2926"/>
                </a:solidFill>
                <a:latin typeface="Inter" pitchFamily="34" charset="0"/>
                <a:ea typeface="Inter" pitchFamily="34" charset="-122"/>
                <a:cs typeface="Inter" pitchFamily="34" charset="-120"/>
              </a:rPr>
              <a:t>phù</a:t>
            </a:r>
            <a:r>
              <a:rPr lang="en-US" sz="1750" dirty="0">
                <a:solidFill>
                  <a:srgbClr val="2C2926"/>
                </a:solidFill>
                <a:latin typeface="Inter" pitchFamily="34" charset="0"/>
                <a:ea typeface="Inter" pitchFamily="34" charset="-122"/>
                <a:cs typeface="Inter" pitchFamily="34" charset="-120"/>
              </a:rPr>
              <a:t> hợp mô hình AI Agent </a:t>
            </a:r>
            <a:r>
              <a:rPr lang="en-US" sz="1750" dirty="0" err="1">
                <a:solidFill>
                  <a:srgbClr val="2C2926"/>
                </a:solidFill>
                <a:latin typeface="Inter" pitchFamily="34" charset="0"/>
                <a:ea typeface="Inter" pitchFamily="34" charset="-122"/>
                <a:cs typeface="Inter" pitchFamily="34" charset="-120"/>
              </a:rPr>
              <a:t>hiện</a:t>
            </a:r>
            <a:r>
              <a:rPr lang="en-US" sz="1750" dirty="0">
                <a:solidFill>
                  <a:srgbClr val="2C2926"/>
                </a:solidFill>
                <a:latin typeface="Inter" pitchFamily="34" charset="0"/>
                <a:ea typeface="Inter" pitchFamily="34" charset="-122"/>
                <a:cs typeface="Inter" pitchFamily="34" charset="-120"/>
              </a:rPr>
              <a:t> </a:t>
            </a:r>
            <a:r>
              <a:rPr lang="en-US" sz="1750" dirty="0" err="1">
                <a:solidFill>
                  <a:srgbClr val="2C2926"/>
                </a:solidFill>
                <a:latin typeface="Inter" pitchFamily="34" charset="0"/>
                <a:ea typeface="Inter" pitchFamily="34" charset="-122"/>
                <a:cs typeface="Inter" pitchFamily="34" charset="-120"/>
              </a:rPr>
              <a:t>đại</a:t>
            </a:r>
            <a:endParaRPr lang="vi-VN" sz="1750" dirty="0">
              <a:solidFill>
                <a:srgbClr val="2C2926"/>
              </a:solidFill>
              <a:latin typeface="Inter" pitchFamily="34" charset="0"/>
              <a:ea typeface="Inter" pitchFamily="34" charset="-122"/>
              <a:cs typeface="Inter" pitchFamily="34" charset="-120"/>
            </a:endParaRPr>
          </a:p>
        </p:txBody>
      </p:sp>
      <p:sp>
        <p:nvSpPr>
          <p:cNvPr id="21" name="Text 9">
            <a:extLst>
              <a:ext uri="{FF2B5EF4-FFF2-40B4-BE49-F238E27FC236}">
                <a16:creationId xmlns:a16="http://schemas.microsoft.com/office/drawing/2014/main" id="{17D92B11-C7EC-6F8A-60C0-E0D37D21BDE8}"/>
              </a:ext>
            </a:extLst>
          </p:cNvPr>
          <p:cNvSpPr/>
          <p:nvPr/>
        </p:nvSpPr>
        <p:spPr>
          <a:xfrm>
            <a:off x="234435" y="4671992"/>
            <a:ext cx="6796285" cy="560546"/>
          </a:xfrm>
          <a:prstGeom prst="rect">
            <a:avLst/>
          </a:prstGeom>
          <a:noFill/>
          <a:ln/>
        </p:spPr>
        <p:txBody>
          <a:bodyPr wrap="square" lIns="0" tIns="0" rIns="0" bIns="0" rtlCol="0" anchor="t"/>
          <a:lstStyle/>
          <a:p>
            <a:pPr marL="0" indent="0" algn="l">
              <a:lnSpc>
                <a:spcPts val="2850"/>
              </a:lnSpc>
              <a:buNone/>
            </a:pPr>
            <a:r>
              <a:rPr lang="en-US" sz="1750" dirty="0" err="1">
                <a:solidFill>
                  <a:srgbClr val="2C2926"/>
                </a:solidFill>
                <a:latin typeface="Inter" pitchFamily="34" charset="0"/>
                <a:ea typeface="Inter" pitchFamily="34" charset="-122"/>
                <a:cs typeface="Inter" pitchFamily="34" charset="-120"/>
              </a:rPr>
              <a:t>dễ</a:t>
            </a:r>
            <a:r>
              <a:rPr lang="en-US" sz="1750" dirty="0">
                <a:solidFill>
                  <a:srgbClr val="2C2926"/>
                </a:solidFill>
                <a:latin typeface="Inter" pitchFamily="34" charset="0"/>
                <a:ea typeface="Inter" pitchFamily="34" charset="-122"/>
                <a:cs typeface="Inter" pitchFamily="34" charset="-120"/>
              </a:rPr>
              <a:t> triển khai.</a:t>
            </a:r>
            <a:endParaRPr lang="en-US" sz="1750" dirty="0"/>
          </a:p>
        </p:txBody>
      </p:sp>
      <p:pic>
        <p:nvPicPr>
          <p:cNvPr id="4" name="Picture 3">
            <a:extLst>
              <a:ext uri="{FF2B5EF4-FFF2-40B4-BE49-F238E27FC236}">
                <a16:creationId xmlns:a16="http://schemas.microsoft.com/office/drawing/2014/main" id="{E4892B67-6F00-B11D-5BDE-5D3EA4288B10}"/>
              </a:ext>
            </a:extLst>
          </p:cNvPr>
          <p:cNvPicPr>
            <a:picLocks noChangeAspect="1"/>
          </p:cNvPicPr>
          <p:nvPr/>
        </p:nvPicPr>
        <p:blipFill>
          <a:blip r:embed="rId6"/>
          <a:stretch>
            <a:fillRect/>
          </a:stretch>
        </p:blipFill>
        <p:spPr>
          <a:xfrm>
            <a:off x="4869082" y="1764254"/>
            <a:ext cx="8733394" cy="4180086"/>
          </a:xfrm>
          <a:prstGeom prst="rect">
            <a:avLst/>
          </a:prstGeom>
        </p:spPr>
      </p:pic>
    </p:spTree>
    <p:extLst>
      <p:ext uri="{BB962C8B-B14F-4D97-AF65-F5344CB8AC3E}">
        <p14:creationId xmlns:p14="http://schemas.microsoft.com/office/powerpoint/2010/main" val="1060271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6" grpId="0" animBg="1"/>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61248" y="712694"/>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C2926"/>
                </a:solidFill>
                <a:latin typeface="Bricolage Grotesque Semi Bold" pitchFamily="34" charset="0"/>
                <a:ea typeface="Bricolage Grotesque Semi Bold" pitchFamily="34" charset="-122"/>
                <a:cs typeface="Bricolage Grotesque Semi Bold" pitchFamily="34" charset="-120"/>
              </a:rPr>
              <a:t>Tổng Quan Hệ Thống</a:t>
            </a:r>
            <a:endParaRPr lang="en-US" sz="4450" dirty="0"/>
          </a:p>
        </p:txBody>
      </p:sp>
      <p:sp>
        <p:nvSpPr>
          <p:cNvPr id="8" name="Shape 4"/>
          <p:cNvSpPr/>
          <p:nvPr/>
        </p:nvSpPr>
        <p:spPr>
          <a:xfrm>
            <a:off x="370642" y="1612284"/>
            <a:ext cx="13654682" cy="5896554"/>
          </a:xfrm>
          <a:prstGeom prst="roundRect">
            <a:avLst>
              <a:gd name="adj" fmla="val 2871"/>
            </a:avLst>
          </a:prstGeom>
          <a:solidFill>
            <a:srgbClr val="FFFFFF"/>
          </a:solidFill>
          <a:ln w="7620">
            <a:solidFill>
              <a:srgbClr val="F8ECD3"/>
            </a:solidFill>
            <a:prstDash val="solid"/>
          </a:ln>
        </p:spPr>
      </p:sp>
      <p:pic>
        <p:nvPicPr>
          <p:cNvPr id="9" name="Image 2" descr="preencoded.png"/>
          <p:cNvPicPr>
            <a:picLocks noChangeAspect="1"/>
          </p:cNvPicPr>
          <p:nvPr/>
        </p:nvPicPr>
        <p:blipFill>
          <a:blip r:embed="rId3"/>
          <a:stretch>
            <a:fillRect/>
          </a:stretch>
        </p:blipFill>
        <p:spPr>
          <a:xfrm>
            <a:off x="605076" y="1846718"/>
            <a:ext cx="680442" cy="680442"/>
          </a:xfrm>
          <a:prstGeom prst="rect">
            <a:avLst/>
          </a:prstGeom>
        </p:spPr>
      </p:pic>
      <p:pic>
        <p:nvPicPr>
          <p:cNvPr id="10"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2242" y="2033765"/>
            <a:ext cx="306110" cy="306110"/>
          </a:xfrm>
          <a:prstGeom prst="rect">
            <a:avLst/>
          </a:prstGeom>
        </p:spPr>
      </p:pic>
      <p:sp>
        <p:nvSpPr>
          <p:cNvPr id="11" name="Text 5"/>
          <p:cNvSpPr/>
          <p:nvPr/>
        </p:nvSpPr>
        <p:spPr>
          <a:xfrm>
            <a:off x="605076" y="2753974"/>
            <a:ext cx="2835235" cy="354330"/>
          </a:xfrm>
          <a:prstGeom prst="rect">
            <a:avLst/>
          </a:prstGeom>
          <a:noFill/>
          <a:ln/>
        </p:spPr>
        <p:txBody>
          <a:bodyPr wrap="none" lIns="0" tIns="0" rIns="0" bIns="0" rtlCol="0" anchor="t"/>
          <a:lstStyle/>
          <a:p>
            <a:pPr algn="just">
              <a:spcBef>
                <a:spcPts val="1800"/>
              </a:spcBef>
              <a:spcAft>
                <a:spcPts val="400"/>
              </a:spcAft>
            </a:pPr>
            <a:r>
              <a:rPr lang="en-US" sz="1800" b="1" dirty="0" err="1">
                <a:effectLst/>
                <a:latin typeface="Times New Roman" panose="02020603050405020304" pitchFamily="18" charset="0"/>
              </a:rPr>
              <a:t>Giới</a:t>
            </a:r>
            <a:r>
              <a:rPr lang="vi-VN" sz="1800" b="1" dirty="0">
                <a:effectLst/>
                <a:latin typeface="Times New Roman" panose="02020603050405020304" pitchFamily="18" charset="0"/>
              </a:rPr>
              <a:t> thiệu </a:t>
            </a:r>
            <a:r>
              <a:rPr lang="en-US" sz="1800" b="1" dirty="0" err="1">
                <a:effectLst/>
                <a:latin typeface="Times New Roman" panose="02020603050405020304" pitchFamily="18" charset="0"/>
              </a:rPr>
              <a:t>hệ</a:t>
            </a:r>
            <a:r>
              <a:rPr lang="vi-VN" sz="1800" b="1" dirty="0">
                <a:effectLst/>
                <a:latin typeface="Times New Roman" panose="02020603050405020304" pitchFamily="18" charset="0"/>
              </a:rPr>
              <a:t> thống</a:t>
            </a:r>
            <a:r>
              <a:rPr lang="en-US" sz="1800" b="1" dirty="0">
                <a:effectLst/>
                <a:latin typeface="Times New Roman" panose="02020603050405020304" pitchFamily="18" charset="0"/>
              </a:rPr>
              <a:t> Anime Siu Hay</a:t>
            </a:r>
          </a:p>
        </p:txBody>
      </p:sp>
      <p:sp>
        <p:nvSpPr>
          <p:cNvPr id="12" name="Text 6"/>
          <p:cNvSpPr/>
          <p:nvPr/>
        </p:nvSpPr>
        <p:spPr>
          <a:xfrm>
            <a:off x="605076" y="3244393"/>
            <a:ext cx="7058558" cy="1451610"/>
          </a:xfrm>
          <a:prstGeom prst="rect">
            <a:avLst/>
          </a:prstGeom>
          <a:noFill/>
          <a:ln/>
        </p:spPr>
        <p:txBody>
          <a:bodyPr wrap="square" lIns="0" tIns="0" rIns="0" bIns="0" rtlCol="0" anchor="t"/>
          <a:lstStyle/>
          <a:p>
            <a:r>
              <a:rPr lang="en-US" sz="1800" dirty="0" err="1">
                <a:effectLst/>
                <a:latin typeface="Times New Roman" panose="02020603050405020304" pitchFamily="18" charset="0"/>
                <a:ea typeface="Times New Roman" panose="02020603050405020304" pitchFamily="18" charset="0"/>
              </a:rPr>
              <a:t>Đề</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tài</a:t>
            </a:r>
            <a:r>
              <a:rPr lang="en-US" sz="1800" dirty="0">
                <a:effectLst/>
                <a:latin typeface="Times New Roman" panose="02020603050405020304" pitchFamily="18" charset="0"/>
                <a:ea typeface="Times New Roman" panose="02020603050405020304" pitchFamily="18" charset="0"/>
              </a:rPr>
              <a:t> “Anime Siu Hay” </a:t>
            </a:r>
            <a:r>
              <a:rPr lang="en-US" sz="1800" dirty="0" err="1">
                <a:effectLst/>
                <a:latin typeface="Times New Roman" panose="02020603050405020304" pitchFamily="18" charset="0"/>
                <a:ea typeface="Times New Roman" panose="02020603050405020304" pitchFamily="18" charset="0"/>
              </a:rPr>
              <a:t>được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lựa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chọn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dựa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sự</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kết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hợp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giữa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tính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thực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tiễn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yếu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tố</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công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nghệ</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hiện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đại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sự</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tạo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trong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tiếp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cận</a:t>
            </a:r>
            <a:r>
              <a:rPr lang="en-US" sz="1800" dirty="0">
                <a:effectLst/>
                <a:latin typeface="Times New Roman" panose="02020603050405020304" pitchFamily="18" charset="0"/>
                <a:ea typeface="Times New Roman" panose="02020603050405020304" pitchFamily="18" charset="0"/>
              </a:rPr>
              <a:t>. </a:t>
            </a:r>
          </a:p>
        </p:txBody>
      </p:sp>
      <p:sp>
        <p:nvSpPr>
          <p:cNvPr id="18" name="Rectangle 17">
            <a:extLst>
              <a:ext uri="{FF2B5EF4-FFF2-40B4-BE49-F238E27FC236}">
                <a16:creationId xmlns:a16="http://schemas.microsoft.com/office/drawing/2014/main" id="{5A3FBB8A-BEA4-7DE4-A109-79D5F580395F}"/>
              </a:ext>
            </a:extLst>
          </p:cNvPr>
          <p:cNvSpPr/>
          <p:nvPr/>
        </p:nvSpPr>
        <p:spPr>
          <a:xfrm>
            <a:off x="12790843" y="7508838"/>
            <a:ext cx="1839557" cy="7207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6">
            <a:extLst>
              <a:ext uri="{FF2B5EF4-FFF2-40B4-BE49-F238E27FC236}">
                <a16:creationId xmlns:a16="http://schemas.microsoft.com/office/drawing/2014/main" id="{BA5B7781-8823-2C7E-B9A5-84348D1D91D8}"/>
              </a:ext>
            </a:extLst>
          </p:cNvPr>
          <p:cNvSpPr/>
          <p:nvPr/>
        </p:nvSpPr>
        <p:spPr>
          <a:xfrm>
            <a:off x="605076" y="4159268"/>
            <a:ext cx="6710124" cy="1753851"/>
          </a:xfrm>
          <a:prstGeom prst="rect">
            <a:avLst/>
          </a:prstGeom>
          <a:noFill/>
          <a:ln/>
        </p:spPr>
        <p:txBody>
          <a:bodyPr wrap="square" lIns="0" tIns="0" rIns="0" bIns="0" rtlCol="0" anchor="t"/>
          <a:lstStyle/>
          <a:p>
            <a:r>
              <a:rPr lang="en-US" sz="1800" dirty="0" err="1">
                <a:effectLst/>
                <a:latin typeface="Times New Roman" panose="02020603050405020304" pitchFamily="18" charset="0"/>
                <a:ea typeface="Times New Roman" panose="02020603050405020304" pitchFamily="18" charset="0"/>
              </a:rPr>
              <a:t>Người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dùng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thường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muốn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tìm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phim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thông</a:t>
            </a:r>
            <a:r>
              <a:rPr lang="en-US" sz="1800" dirty="0">
                <a:effectLst/>
                <a:latin typeface="Times New Roman" panose="02020603050405020304" pitchFamily="18" charset="0"/>
                <a:ea typeface="Times New Roman" panose="02020603050405020304" pitchFamily="18" charset="0"/>
              </a:rPr>
              <a:t> qua </a:t>
            </a: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ảnh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chụp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màn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hình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cập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nhật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những</a:t>
            </a:r>
            <a:r>
              <a:rPr lang="en-US" sz="1800" dirty="0">
                <a:effectLst/>
                <a:latin typeface="Times New Roman" panose="02020603050405020304" pitchFamily="18" charset="0"/>
                <a:ea typeface="Times New Roman" panose="02020603050405020304" pitchFamily="18" charset="0"/>
              </a:rPr>
              <a:t> anime </a:t>
            </a:r>
            <a:r>
              <a:rPr lang="en-US" sz="1800" dirty="0" err="1">
                <a:effectLst/>
                <a:latin typeface="Times New Roman" panose="02020603050405020304" pitchFamily="18" charset="0"/>
                <a:ea typeface="Times New Roman" panose="02020603050405020304" pitchFamily="18" charset="0"/>
              </a:rPr>
              <a:t>đang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phát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sóng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trong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tuần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hoặc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nhận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gợi</a:t>
            </a:r>
            <a:r>
              <a:rPr lang="en-US" sz="1800" dirty="0">
                <a:effectLst/>
                <a:latin typeface="Times New Roman" panose="02020603050405020304" pitchFamily="18" charset="0"/>
                <a:ea typeface="Times New Roman" panose="02020603050405020304" pitchFamily="18" charset="0"/>
              </a:rPr>
              <a:t> ý </a:t>
            </a:r>
            <a:r>
              <a:rPr lang="en-US" sz="1800" dirty="0" err="1">
                <a:effectLst/>
                <a:latin typeface="Times New Roman" panose="02020603050405020304" pitchFamily="18" charset="0"/>
                <a:ea typeface="Times New Roman" panose="02020603050405020304" pitchFamily="18" charset="0"/>
              </a:rPr>
              <a:t>xem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nhanh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chóng</a:t>
            </a:r>
            <a:r>
              <a:rPr lang="en-US" sz="1800" dirty="0">
                <a:effectLst/>
                <a:latin typeface="Times New Roman" panose="02020603050405020304" pitchFamily="18" charset="0"/>
                <a:ea typeface="Times New Roman" panose="02020603050405020304" pitchFamily="18" charset="0"/>
              </a:rPr>
              <a:t> qua </a:t>
            </a:r>
            <a:r>
              <a:rPr lang="en-US" sz="1800" dirty="0" err="1">
                <a:effectLst/>
                <a:latin typeface="Times New Roman" panose="02020603050405020304" pitchFamily="18" charset="0"/>
                <a:ea typeface="Times New Roman" panose="02020603050405020304" pitchFamily="18" charset="0"/>
              </a:rPr>
              <a:t>nền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tảng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trò</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chuyện</a:t>
            </a:r>
            <a:r>
              <a:rPr lang="en-US" sz="1800" dirty="0">
                <a:effectLst/>
                <a:latin typeface="Times New Roman" panose="02020603050405020304" pitchFamily="18" charset="0"/>
                <a:ea typeface="Times New Roman" panose="02020603050405020304" pitchFamily="18" charset="0"/>
              </a:rPr>
              <a:t>. “Anime Siu Hay” </a:t>
            </a:r>
            <a:r>
              <a:rPr lang="en-US" sz="1800" dirty="0" err="1">
                <a:effectLst/>
                <a:latin typeface="Times New Roman" panose="02020603050405020304" pitchFamily="18" charset="0"/>
                <a:ea typeface="Times New Roman" panose="02020603050405020304" pitchFamily="18" charset="0"/>
              </a:rPr>
              <a:t>đáp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ứng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trực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tiếp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cầu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này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thông</a:t>
            </a:r>
            <a:r>
              <a:rPr lang="en-US" sz="1800" dirty="0">
                <a:effectLst/>
                <a:latin typeface="Times New Roman" panose="02020603050405020304" pitchFamily="18" charset="0"/>
                <a:ea typeface="Times New Roman" panose="02020603050405020304" pitchFamily="18" charset="0"/>
              </a:rPr>
              <a:t> qua Telegram Bot</a:t>
            </a:r>
          </a:p>
        </p:txBody>
      </p:sp>
      <p:pic>
        <p:nvPicPr>
          <p:cNvPr id="21" name="Picture 20">
            <a:extLst>
              <a:ext uri="{FF2B5EF4-FFF2-40B4-BE49-F238E27FC236}">
                <a16:creationId xmlns:a16="http://schemas.microsoft.com/office/drawing/2014/main" id="{B110BECE-277A-902B-4BA1-9E7CC40B3EE4}"/>
              </a:ext>
            </a:extLst>
          </p:cNvPr>
          <p:cNvPicPr>
            <a:picLocks noChangeAspect="1"/>
          </p:cNvPicPr>
          <p:nvPr/>
        </p:nvPicPr>
        <p:blipFill>
          <a:blip r:embed="rId6"/>
          <a:stretch>
            <a:fillRect/>
          </a:stretch>
        </p:blipFill>
        <p:spPr>
          <a:xfrm>
            <a:off x="8268710" y="2753974"/>
            <a:ext cx="5756614" cy="3087985"/>
          </a:xfrm>
          <a:prstGeom prst="rect">
            <a:avLst/>
          </a:prstGeom>
        </p:spPr>
      </p:pic>
    </p:spTree>
    <p:extLst>
      <p:ext uri="{BB962C8B-B14F-4D97-AF65-F5344CB8AC3E}">
        <p14:creationId xmlns:p14="http://schemas.microsoft.com/office/powerpoint/2010/main" val="208794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arn(inVertical)">
                                      <p:cBhvr>
                                        <p:cTn id="2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504593"/>
            <a:ext cx="5670590" cy="708779"/>
          </a:xfrm>
          <a:prstGeom prst="rect">
            <a:avLst/>
          </a:prstGeom>
          <a:noFill/>
          <a:ln/>
        </p:spPr>
        <p:txBody>
          <a:bodyPr wrap="none" lIns="0" tIns="0" rIns="0" bIns="0" rtlCol="0" anchor="t"/>
          <a:lstStyle/>
          <a:p>
            <a:pPr marL="0" indent="0" algn="l">
              <a:lnSpc>
                <a:spcPts val="5550"/>
              </a:lnSpc>
              <a:buNone/>
            </a:pPr>
            <a:r>
              <a:rPr lang="vi-VN" sz="4450" dirty="0">
                <a:solidFill>
                  <a:srgbClr val="2C2926"/>
                </a:solidFill>
                <a:latin typeface="Bricolage Grotesque Semi Bold" pitchFamily="34" charset="0"/>
                <a:ea typeface="Bricolage Grotesque Semi Bold" pitchFamily="34" charset="-122"/>
                <a:cs typeface="Bricolage Grotesque Semi Bold" pitchFamily="34" charset="-120"/>
              </a:rPr>
              <a:t>2. </a:t>
            </a:r>
            <a:r>
              <a:rPr lang="en-US" sz="4450" dirty="0" err="1">
                <a:solidFill>
                  <a:srgbClr val="2C2926"/>
                </a:solidFill>
                <a:latin typeface="Bricolage Grotesque Semi Bold" pitchFamily="34" charset="0"/>
                <a:ea typeface="Bricolage Grotesque Semi Bold" pitchFamily="34" charset="-122"/>
                <a:cs typeface="Bricolage Grotesque Semi Bold" pitchFamily="34" charset="-120"/>
              </a:rPr>
              <a:t>Kiến</a:t>
            </a:r>
            <a:r>
              <a:rPr lang="en-US" sz="4450" dirty="0">
                <a:solidFill>
                  <a:srgbClr val="2C2926"/>
                </a:solidFill>
                <a:latin typeface="Bricolage Grotesque Semi Bold" pitchFamily="34" charset="0"/>
                <a:ea typeface="Bricolage Grotesque Semi Bold" pitchFamily="34" charset="-122"/>
                <a:cs typeface="Bricolage Grotesque Semi Bold" pitchFamily="34" charset="-120"/>
              </a:rPr>
              <a:t> Trúc Tổng Quan</a:t>
            </a:r>
            <a:endParaRPr lang="en-US" sz="4450" dirty="0"/>
          </a:p>
        </p:txBody>
      </p:sp>
      <p:sp>
        <p:nvSpPr>
          <p:cNvPr id="3" name="Text 1"/>
          <p:cNvSpPr/>
          <p:nvPr/>
        </p:nvSpPr>
        <p:spPr>
          <a:xfrm>
            <a:off x="793790" y="266700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C2926"/>
                </a:solidFill>
                <a:latin typeface="Bricolage Grotesque Light" pitchFamily="34" charset="0"/>
                <a:ea typeface="Bricolage Grotesque Light" pitchFamily="34" charset="-122"/>
                <a:cs typeface="Bricolage Grotesque Light" pitchFamily="34" charset="-120"/>
              </a:rPr>
              <a:t>01</a:t>
            </a:r>
            <a:endParaRPr lang="en-US" sz="1750" dirty="0"/>
          </a:p>
        </p:txBody>
      </p:sp>
      <p:pic>
        <p:nvPicPr>
          <p:cNvPr id="4" name="Image 0" descr="preencoded.png"/>
          <p:cNvPicPr>
            <a:picLocks noChangeAspect="1"/>
          </p:cNvPicPr>
          <p:nvPr/>
        </p:nvPicPr>
        <p:blipFill>
          <a:blip r:embed="rId3"/>
          <a:stretch>
            <a:fillRect/>
          </a:stretch>
        </p:blipFill>
        <p:spPr>
          <a:xfrm>
            <a:off x="793790" y="3022044"/>
            <a:ext cx="6407944" cy="30480"/>
          </a:xfrm>
          <a:prstGeom prst="rect">
            <a:avLst/>
          </a:prstGeom>
        </p:spPr>
      </p:pic>
      <p:sp>
        <p:nvSpPr>
          <p:cNvPr id="5" name="Text 2"/>
          <p:cNvSpPr/>
          <p:nvPr/>
        </p:nvSpPr>
        <p:spPr>
          <a:xfrm>
            <a:off x="793790" y="3196352"/>
            <a:ext cx="3610451" cy="354330"/>
          </a:xfrm>
          <a:prstGeom prst="rect">
            <a:avLst/>
          </a:prstGeom>
          <a:noFill/>
          <a:ln/>
        </p:spPr>
        <p:txBody>
          <a:bodyPr wrap="none" lIns="0" tIns="0" rIns="0" bIns="0" rtlCol="0" anchor="t"/>
          <a:lstStyle/>
          <a:p>
            <a:pPr marL="0" indent="0" algn="l">
              <a:lnSpc>
                <a:spcPts val="2750"/>
              </a:lnSpc>
              <a:buNone/>
            </a:pPr>
            <a:r>
              <a:rPr lang="en-US" sz="2200" dirty="0">
                <a:solidFill>
                  <a:srgbClr val="2C2926"/>
                </a:solidFill>
                <a:latin typeface="Bricolage Grotesque Semi Bold" pitchFamily="34" charset="0"/>
                <a:ea typeface="Bricolage Grotesque Semi Bold" pitchFamily="34" charset="-122"/>
                <a:cs typeface="Bricolage Grotesque Semi Bold" pitchFamily="34" charset="-120"/>
              </a:rPr>
              <a:t>Giai đoạn tiếp nhận dữ liệu</a:t>
            </a:r>
            <a:endParaRPr lang="en-US" sz="2200" dirty="0"/>
          </a:p>
        </p:txBody>
      </p:sp>
      <p:sp>
        <p:nvSpPr>
          <p:cNvPr id="6" name="Text 3"/>
          <p:cNvSpPr/>
          <p:nvPr/>
        </p:nvSpPr>
        <p:spPr>
          <a:xfrm>
            <a:off x="793790" y="3686770"/>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2C2926"/>
                </a:solidFill>
                <a:latin typeface="Inter" pitchFamily="34" charset="0"/>
                <a:ea typeface="Inter" pitchFamily="34" charset="-122"/>
                <a:cs typeface="Inter" pitchFamily="34" charset="-120"/>
              </a:rPr>
              <a:t>Telegram Bot lắng nghe sự kiện, nhận JSON payload qua Webhook khi người dùng gửi tin nhắn/hình ảnh.</a:t>
            </a:r>
            <a:endParaRPr lang="en-US" sz="1750" dirty="0"/>
          </a:p>
        </p:txBody>
      </p:sp>
      <p:sp>
        <p:nvSpPr>
          <p:cNvPr id="7" name="Text 4"/>
          <p:cNvSpPr/>
          <p:nvPr/>
        </p:nvSpPr>
        <p:spPr>
          <a:xfrm>
            <a:off x="7428548" y="266700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C2926"/>
                </a:solidFill>
                <a:latin typeface="Bricolage Grotesque Light" pitchFamily="34" charset="0"/>
                <a:ea typeface="Bricolage Grotesque Light" pitchFamily="34" charset="-122"/>
                <a:cs typeface="Bricolage Grotesque Light" pitchFamily="34" charset="-120"/>
              </a:rPr>
              <a:t>02</a:t>
            </a:r>
            <a:endParaRPr lang="en-US" sz="1750" dirty="0"/>
          </a:p>
        </p:txBody>
      </p:sp>
      <p:pic>
        <p:nvPicPr>
          <p:cNvPr id="8" name="Image 1" descr="preencoded.png"/>
          <p:cNvPicPr>
            <a:picLocks noChangeAspect="1"/>
          </p:cNvPicPr>
          <p:nvPr/>
        </p:nvPicPr>
        <p:blipFill>
          <a:blip r:embed="rId3"/>
          <a:stretch>
            <a:fillRect/>
          </a:stretch>
        </p:blipFill>
        <p:spPr>
          <a:xfrm>
            <a:off x="7428548" y="3022044"/>
            <a:ext cx="6408063" cy="30480"/>
          </a:xfrm>
          <a:prstGeom prst="rect">
            <a:avLst/>
          </a:prstGeom>
        </p:spPr>
      </p:pic>
      <p:sp>
        <p:nvSpPr>
          <p:cNvPr id="9" name="Text 5"/>
          <p:cNvSpPr/>
          <p:nvPr/>
        </p:nvSpPr>
        <p:spPr>
          <a:xfrm>
            <a:off x="7428548" y="3196352"/>
            <a:ext cx="2976562" cy="354330"/>
          </a:xfrm>
          <a:prstGeom prst="rect">
            <a:avLst/>
          </a:prstGeom>
          <a:noFill/>
          <a:ln/>
        </p:spPr>
        <p:txBody>
          <a:bodyPr wrap="none" lIns="0" tIns="0" rIns="0" bIns="0" rtlCol="0" anchor="t"/>
          <a:lstStyle/>
          <a:p>
            <a:pPr marL="0" indent="0" algn="l">
              <a:lnSpc>
                <a:spcPts val="2750"/>
              </a:lnSpc>
              <a:buNone/>
            </a:pPr>
            <a:r>
              <a:rPr lang="en-US" sz="2200" dirty="0">
                <a:solidFill>
                  <a:srgbClr val="2C2926"/>
                </a:solidFill>
                <a:latin typeface="Bricolage Grotesque Semi Bold" pitchFamily="34" charset="0"/>
                <a:ea typeface="Bricolage Grotesque Semi Bold" pitchFamily="34" charset="-122"/>
                <a:cs typeface="Bricolage Grotesque Semi Bold" pitchFamily="34" charset="-120"/>
              </a:rPr>
              <a:t>Giai đoạn xử lý dữ liệu</a:t>
            </a:r>
            <a:endParaRPr lang="en-US" sz="2200" dirty="0"/>
          </a:p>
        </p:txBody>
      </p:sp>
      <p:sp>
        <p:nvSpPr>
          <p:cNvPr id="10" name="Text 6"/>
          <p:cNvSpPr/>
          <p:nvPr/>
        </p:nvSpPr>
        <p:spPr>
          <a:xfrm>
            <a:off x="7428548" y="3686770"/>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2C2926"/>
                </a:solidFill>
                <a:latin typeface="Inter" pitchFamily="34" charset="0"/>
                <a:ea typeface="Inter" pitchFamily="34" charset="-122"/>
                <a:cs typeface="Inter" pitchFamily="34" charset="-120"/>
              </a:rPr>
              <a:t>Phân loại nội dung (text/ảnh), truy xuất metadata, tải dữ liệu nhị phân, chuẩn hóa định dạng MIME type.</a:t>
            </a:r>
            <a:endParaRPr lang="en-US" sz="1750" dirty="0"/>
          </a:p>
        </p:txBody>
      </p:sp>
      <p:sp>
        <p:nvSpPr>
          <p:cNvPr id="11" name="Text 7"/>
          <p:cNvSpPr/>
          <p:nvPr/>
        </p:nvSpPr>
        <p:spPr>
          <a:xfrm>
            <a:off x="793790" y="480941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C2926"/>
                </a:solidFill>
                <a:latin typeface="Bricolage Grotesque Light" pitchFamily="34" charset="0"/>
                <a:ea typeface="Bricolage Grotesque Light" pitchFamily="34" charset="-122"/>
                <a:cs typeface="Bricolage Grotesque Light" pitchFamily="34" charset="-120"/>
              </a:rPr>
              <a:t>03</a:t>
            </a:r>
            <a:endParaRPr lang="en-US" sz="1750" dirty="0"/>
          </a:p>
        </p:txBody>
      </p:sp>
      <p:pic>
        <p:nvPicPr>
          <p:cNvPr id="12" name="Image 2" descr="preencoded.png"/>
          <p:cNvPicPr>
            <a:picLocks noChangeAspect="1"/>
          </p:cNvPicPr>
          <p:nvPr/>
        </p:nvPicPr>
        <p:blipFill>
          <a:blip r:embed="rId3"/>
          <a:stretch>
            <a:fillRect/>
          </a:stretch>
        </p:blipFill>
        <p:spPr>
          <a:xfrm>
            <a:off x="793790" y="5141714"/>
            <a:ext cx="6407944" cy="30480"/>
          </a:xfrm>
          <a:prstGeom prst="rect">
            <a:avLst/>
          </a:prstGeom>
        </p:spPr>
      </p:pic>
      <p:sp>
        <p:nvSpPr>
          <p:cNvPr id="13" name="Text 8"/>
          <p:cNvSpPr/>
          <p:nvPr/>
        </p:nvSpPr>
        <p:spPr>
          <a:xfrm>
            <a:off x="793790" y="5338763"/>
            <a:ext cx="3605689" cy="354330"/>
          </a:xfrm>
          <a:prstGeom prst="rect">
            <a:avLst/>
          </a:prstGeom>
          <a:noFill/>
          <a:ln/>
        </p:spPr>
        <p:txBody>
          <a:bodyPr wrap="none" lIns="0" tIns="0" rIns="0" bIns="0" rtlCol="0" anchor="t"/>
          <a:lstStyle/>
          <a:p>
            <a:pPr marL="0" indent="0" algn="l">
              <a:lnSpc>
                <a:spcPts val="2750"/>
              </a:lnSpc>
              <a:buNone/>
            </a:pPr>
            <a:r>
              <a:rPr lang="en-US" sz="2200" dirty="0">
                <a:solidFill>
                  <a:srgbClr val="2C2926"/>
                </a:solidFill>
                <a:latin typeface="Bricolage Grotesque Semi Bold" pitchFamily="34" charset="0"/>
                <a:ea typeface="Bricolage Grotesque Semi Bold" pitchFamily="34" charset="-122"/>
                <a:cs typeface="Bricolage Grotesque Semi Bold" pitchFamily="34" charset="-120"/>
              </a:rPr>
              <a:t>Giai đoạn phân tích dữ liệu</a:t>
            </a:r>
            <a:endParaRPr lang="en-US" sz="2200" dirty="0"/>
          </a:p>
        </p:txBody>
      </p:sp>
      <p:sp>
        <p:nvSpPr>
          <p:cNvPr id="14" name="Text 9"/>
          <p:cNvSpPr/>
          <p:nvPr/>
        </p:nvSpPr>
        <p:spPr>
          <a:xfrm>
            <a:off x="793790" y="5829181"/>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2C2926"/>
                </a:solidFill>
                <a:latin typeface="Inter" pitchFamily="34" charset="0"/>
                <a:ea typeface="Inter" pitchFamily="34" charset="-122"/>
                <a:cs typeface="Inter" pitchFamily="34" charset="-120"/>
              </a:rPr>
              <a:t>Sử dụng Google Gemini Vision (AI đa phương thức) để nhận diện anime từ hình ảnh, xác định tên, tập phim, tóm tắt.</a:t>
            </a:r>
            <a:endParaRPr lang="en-US" sz="1750" dirty="0"/>
          </a:p>
        </p:txBody>
      </p:sp>
      <p:sp>
        <p:nvSpPr>
          <p:cNvPr id="15" name="Text 10"/>
          <p:cNvSpPr/>
          <p:nvPr/>
        </p:nvSpPr>
        <p:spPr>
          <a:xfrm>
            <a:off x="7428548" y="480941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C2926"/>
                </a:solidFill>
                <a:latin typeface="Bricolage Grotesque Light" pitchFamily="34" charset="0"/>
                <a:ea typeface="Bricolage Grotesque Light" pitchFamily="34" charset="-122"/>
                <a:cs typeface="Bricolage Grotesque Light" pitchFamily="34" charset="-120"/>
              </a:rPr>
              <a:t>04</a:t>
            </a:r>
            <a:endParaRPr lang="en-US" sz="1750" dirty="0"/>
          </a:p>
        </p:txBody>
      </p:sp>
      <p:pic>
        <p:nvPicPr>
          <p:cNvPr id="16" name="Image 3" descr="preencoded.png"/>
          <p:cNvPicPr>
            <a:picLocks noChangeAspect="1"/>
          </p:cNvPicPr>
          <p:nvPr/>
        </p:nvPicPr>
        <p:blipFill>
          <a:blip r:embed="rId3"/>
          <a:stretch>
            <a:fillRect/>
          </a:stretch>
        </p:blipFill>
        <p:spPr>
          <a:xfrm>
            <a:off x="7428548" y="5141714"/>
            <a:ext cx="6408063" cy="30480"/>
          </a:xfrm>
          <a:prstGeom prst="rect">
            <a:avLst/>
          </a:prstGeom>
        </p:spPr>
      </p:pic>
      <p:sp>
        <p:nvSpPr>
          <p:cNvPr id="17" name="Text 11"/>
          <p:cNvSpPr/>
          <p:nvPr/>
        </p:nvSpPr>
        <p:spPr>
          <a:xfrm>
            <a:off x="7428548" y="5338763"/>
            <a:ext cx="4121944" cy="354330"/>
          </a:xfrm>
          <a:prstGeom prst="rect">
            <a:avLst/>
          </a:prstGeom>
          <a:noFill/>
          <a:ln/>
        </p:spPr>
        <p:txBody>
          <a:bodyPr wrap="none" lIns="0" tIns="0" rIns="0" bIns="0" rtlCol="0" anchor="t"/>
          <a:lstStyle/>
          <a:p>
            <a:pPr marL="0" indent="0" algn="l">
              <a:lnSpc>
                <a:spcPts val="2750"/>
              </a:lnSpc>
              <a:buNone/>
            </a:pPr>
            <a:r>
              <a:rPr lang="en-US" sz="2200" dirty="0">
                <a:solidFill>
                  <a:srgbClr val="2C2926"/>
                </a:solidFill>
                <a:latin typeface="Bricolage Grotesque Semi Bold" pitchFamily="34" charset="0"/>
                <a:ea typeface="Bricolage Grotesque Semi Bold" pitchFamily="34" charset="-122"/>
                <a:cs typeface="Bricolage Grotesque Semi Bold" pitchFamily="34" charset="-120"/>
              </a:rPr>
              <a:t>Giai đoạn Response (Phản hồi)</a:t>
            </a:r>
            <a:endParaRPr lang="en-US" sz="2200" dirty="0"/>
          </a:p>
        </p:txBody>
      </p:sp>
      <p:sp>
        <p:nvSpPr>
          <p:cNvPr id="18" name="Text 12"/>
          <p:cNvSpPr/>
          <p:nvPr/>
        </p:nvSpPr>
        <p:spPr>
          <a:xfrm>
            <a:off x="7428548" y="5829181"/>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2C2926"/>
                </a:solidFill>
                <a:latin typeface="Inter" pitchFamily="34" charset="0"/>
                <a:ea typeface="Inter" pitchFamily="34" charset="-122"/>
                <a:cs typeface="Inter" pitchFamily="34" charset="-120"/>
              </a:rPr>
              <a:t>Tổng hợp dữ liệu thành câu trả lời tự nhiên, gửi qua Telegram Bot API. Quá trình diễn ra trong vài giây.</a:t>
            </a:r>
            <a:endParaRPr lang="en-US" sz="1750" dirty="0"/>
          </a:p>
        </p:txBody>
      </p:sp>
      <p:sp>
        <p:nvSpPr>
          <p:cNvPr id="19" name="Rectangle 18">
            <a:extLst>
              <a:ext uri="{FF2B5EF4-FFF2-40B4-BE49-F238E27FC236}">
                <a16:creationId xmlns:a16="http://schemas.microsoft.com/office/drawing/2014/main" id="{ADA8B5CF-AFB9-5FA9-BA50-A64569E27F5C}"/>
              </a:ext>
            </a:extLst>
          </p:cNvPr>
          <p:cNvSpPr/>
          <p:nvPr/>
        </p:nvSpPr>
        <p:spPr>
          <a:xfrm>
            <a:off x="12790843" y="7508838"/>
            <a:ext cx="1839557" cy="7207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504593"/>
            <a:ext cx="5670590" cy="708779"/>
          </a:xfrm>
          <a:prstGeom prst="rect">
            <a:avLst/>
          </a:prstGeom>
          <a:noFill/>
          <a:ln/>
        </p:spPr>
        <p:txBody>
          <a:bodyPr wrap="none" lIns="0" tIns="0" rIns="0" bIns="0" rtlCol="0" anchor="t"/>
          <a:lstStyle/>
          <a:p>
            <a:pPr marL="0" indent="0" algn="l">
              <a:lnSpc>
                <a:spcPts val="5550"/>
              </a:lnSpc>
              <a:buNone/>
            </a:pPr>
            <a:r>
              <a:rPr lang="vi-VN" sz="4450" dirty="0">
                <a:solidFill>
                  <a:srgbClr val="2C2926"/>
                </a:solidFill>
                <a:latin typeface="Bricolage Grotesque Semi Bold" pitchFamily="34" charset="0"/>
                <a:ea typeface="Bricolage Grotesque Semi Bold" pitchFamily="34" charset="-122"/>
                <a:cs typeface="Bricolage Grotesque Semi Bold" pitchFamily="34" charset="-120"/>
              </a:rPr>
              <a:t>2. </a:t>
            </a:r>
            <a:r>
              <a:rPr lang="en-US" sz="4450" dirty="0" err="1">
                <a:solidFill>
                  <a:srgbClr val="2C2926"/>
                </a:solidFill>
                <a:latin typeface="Bricolage Grotesque Semi Bold" pitchFamily="34" charset="0"/>
                <a:ea typeface="Bricolage Grotesque Semi Bold" pitchFamily="34" charset="-122"/>
                <a:cs typeface="Bricolage Grotesque Semi Bold" pitchFamily="34" charset="-120"/>
              </a:rPr>
              <a:t>Kiến</a:t>
            </a:r>
            <a:r>
              <a:rPr lang="en-US" sz="4450" dirty="0">
                <a:solidFill>
                  <a:srgbClr val="2C2926"/>
                </a:solidFill>
                <a:latin typeface="Bricolage Grotesque Semi Bold" pitchFamily="34" charset="0"/>
                <a:ea typeface="Bricolage Grotesque Semi Bold" pitchFamily="34" charset="-122"/>
                <a:cs typeface="Bricolage Grotesque Semi Bold" pitchFamily="34" charset="-120"/>
              </a:rPr>
              <a:t> Trúc Tổng Quan</a:t>
            </a:r>
            <a:endParaRPr lang="en-US" sz="4450" dirty="0"/>
          </a:p>
        </p:txBody>
      </p:sp>
      <p:sp>
        <p:nvSpPr>
          <p:cNvPr id="19" name="Rectangle 18">
            <a:extLst>
              <a:ext uri="{FF2B5EF4-FFF2-40B4-BE49-F238E27FC236}">
                <a16:creationId xmlns:a16="http://schemas.microsoft.com/office/drawing/2014/main" id="{ADA8B5CF-AFB9-5FA9-BA50-A64569E27F5C}"/>
              </a:ext>
            </a:extLst>
          </p:cNvPr>
          <p:cNvSpPr/>
          <p:nvPr/>
        </p:nvSpPr>
        <p:spPr>
          <a:xfrm>
            <a:off x="12790843" y="7508838"/>
            <a:ext cx="1839557" cy="7207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PlantUML Diagram">
            <a:extLst>
              <a:ext uri="{FF2B5EF4-FFF2-40B4-BE49-F238E27FC236}">
                <a16:creationId xmlns:a16="http://schemas.microsoft.com/office/drawing/2014/main" id="{BA25BD92-B03E-BFF4-4DCB-CD509B2DB48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23865" y="2634614"/>
            <a:ext cx="3582670" cy="5405718"/>
          </a:xfrm>
          <a:prstGeom prst="rect">
            <a:avLst/>
          </a:prstGeom>
          <a:noFill/>
          <a:ln>
            <a:noFill/>
          </a:ln>
        </p:spPr>
      </p:pic>
      <p:sp>
        <p:nvSpPr>
          <p:cNvPr id="25" name="Text 3">
            <a:extLst>
              <a:ext uri="{FF2B5EF4-FFF2-40B4-BE49-F238E27FC236}">
                <a16:creationId xmlns:a16="http://schemas.microsoft.com/office/drawing/2014/main" id="{AAF480A6-2B45-74CF-368C-CA3DFDE92659}"/>
              </a:ext>
            </a:extLst>
          </p:cNvPr>
          <p:cNvSpPr/>
          <p:nvPr/>
        </p:nvSpPr>
        <p:spPr>
          <a:xfrm>
            <a:off x="793790" y="2271712"/>
            <a:ext cx="6407944" cy="725805"/>
          </a:xfrm>
          <a:prstGeom prst="rect">
            <a:avLst/>
          </a:prstGeom>
          <a:noFill/>
          <a:ln/>
        </p:spPr>
        <p:txBody>
          <a:bodyPr wrap="square" lIns="0" tIns="0" rIns="0" bIns="0" rtlCol="0" anchor="t"/>
          <a:lstStyle/>
          <a:p>
            <a:pPr marL="0" indent="0" algn="l">
              <a:lnSpc>
                <a:spcPts val="2850"/>
              </a:lnSpc>
              <a:buNone/>
            </a:pPr>
            <a:r>
              <a:rPr lang="vi-VN" sz="1750" dirty="0">
                <a:solidFill>
                  <a:srgbClr val="2C2926"/>
                </a:solidFill>
                <a:latin typeface="Inter" pitchFamily="34" charset="0"/>
                <a:ea typeface="Inter" pitchFamily="34" charset="-122"/>
                <a:cs typeface="Inter" pitchFamily="34" charset="-120"/>
              </a:rPr>
              <a:t>Minh họa cách hoạt động của hệ thống</a:t>
            </a:r>
            <a:endParaRPr lang="en-US" sz="1750" dirty="0"/>
          </a:p>
        </p:txBody>
      </p:sp>
    </p:spTree>
    <p:extLst>
      <p:ext uri="{BB962C8B-B14F-4D97-AF65-F5344CB8AC3E}">
        <p14:creationId xmlns:p14="http://schemas.microsoft.com/office/powerpoint/2010/main" val="2639978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16161" y="562689"/>
            <a:ext cx="8077081" cy="639485"/>
          </a:xfrm>
          <a:prstGeom prst="rect">
            <a:avLst/>
          </a:prstGeom>
          <a:noFill/>
          <a:ln/>
        </p:spPr>
        <p:txBody>
          <a:bodyPr wrap="none" lIns="0" tIns="0" rIns="0" bIns="0" rtlCol="0" anchor="t"/>
          <a:lstStyle/>
          <a:p>
            <a:pPr marL="0" indent="0" algn="l">
              <a:lnSpc>
                <a:spcPts val="5000"/>
              </a:lnSpc>
              <a:buNone/>
            </a:pPr>
            <a:r>
              <a:rPr lang="en-US" sz="4000" dirty="0">
                <a:solidFill>
                  <a:srgbClr val="2C2926"/>
                </a:solidFill>
                <a:latin typeface="Bricolage Grotesque Semi Bold" pitchFamily="34" charset="0"/>
                <a:ea typeface="Bricolage Grotesque Semi Bold" pitchFamily="34" charset="-122"/>
                <a:cs typeface="Bricolage Grotesque Semi Bold" pitchFamily="34" charset="-120"/>
              </a:rPr>
              <a:t>Luồng Xử Lý Yêu Cầu Người Dùng</a:t>
            </a:r>
            <a:endParaRPr lang="en-US" sz="4000" dirty="0"/>
          </a:p>
        </p:txBody>
      </p:sp>
      <p:pic>
        <p:nvPicPr>
          <p:cNvPr id="3" name="Image 0" descr="preencoded.png"/>
          <p:cNvPicPr>
            <a:picLocks noChangeAspect="1"/>
          </p:cNvPicPr>
          <p:nvPr/>
        </p:nvPicPr>
        <p:blipFill>
          <a:blip r:embed="rId3"/>
          <a:stretch>
            <a:fillRect/>
          </a:stretch>
        </p:blipFill>
        <p:spPr>
          <a:xfrm>
            <a:off x="770573" y="1571268"/>
            <a:ext cx="13089255" cy="5644396"/>
          </a:xfrm>
          <a:prstGeom prst="rect">
            <a:avLst/>
          </a:prstGeom>
        </p:spPr>
      </p:pic>
      <p:sp>
        <p:nvSpPr>
          <p:cNvPr id="4" name="Text 1"/>
          <p:cNvSpPr/>
          <p:nvPr/>
        </p:nvSpPr>
        <p:spPr>
          <a:xfrm>
            <a:off x="1651336" y="6145275"/>
            <a:ext cx="2969515" cy="371189"/>
          </a:xfrm>
          <a:prstGeom prst="rect">
            <a:avLst/>
          </a:prstGeom>
          <a:noFill/>
          <a:ln/>
        </p:spPr>
        <p:txBody>
          <a:bodyPr wrap="none" lIns="0" tIns="0" rIns="0" bIns="0" rtlCol="0" anchor="t"/>
          <a:lstStyle/>
          <a:p>
            <a:pPr marL="0" indent="0" algn="l">
              <a:lnSpc>
                <a:spcPts val="2900"/>
              </a:lnSpc>
              <a:buNone/>
            </a:pPr>
            <a:r>
              <a:rPr lang="en-US" sz="2300" dirty="0">
                <a:solidFill>
                  <a:srgbClr val="000000"/>
                </a:solidFill>
                <a:latin typeface="Bricolage Grotesque Semi Bold" pitchFamily="34" charset="0"/>
                <a:ea typeface="Bricolage Grotesque Semi Bold" pitchFamily="34" charset="-122"/>
                <a:cs typeface="Bricolage Grotesque Semi Bold" pitchFamily="34" charset="-120"/>
              </a:rPr>
              <a:t>Send Response</a:t>
            </a:r>
            <a:endParaRPr lang="en-US" sz="2300" dirty="0"/>
          </a:p>
        </p:txBody>
      </p:sp>
      <p:sp>
        <p:nvSpPr>
          <p:cNvPr id="5" name="Text 2"/>
          <p:cNvSpPr/>
          <p:nvPr/>
        </p:nvSpPr>
        <p:spPr>
          <a:xfrm>
            <a:off x="1651336" y="4838688"/>
            <a:ext cx="2969515" cy="371189"/>
          </a:xfrm>
          <a:prstGeom prst="rect">
            <a:avLst/>
          </a:prstGeom>
          <a:noFill/>
          <a:ln/>
        </p:spPr>
        <p:txBody>
          <a:bodyPr wrap="none" lIns="0" tIns="0" rIns="0" bIns="0" rtlCol="0" anchor="t"/>
          <a:lstStyle/>
          <a:p>
            <a:pPr marL="0" indent="0" algn="l">
              <a:lnSpc>
                <a:spcPts val="2900"/>
              </a:lnSpc>
              <a:buNone/>
            </a:pPr>
            <a:r>
              <a:rPr lang="en-US" sz="2300" dirty="0">
                <a:solidFill>
                  <a:srgbClr val="000000"/>
                </a:solidFill>
                <a:latin typeface="Bricolage Grotesque Semi Bold" pitchFamily="34" charset="0"/>
                <a:ea typeface="Bricolage Grotesque Semi Bold" pitchFamily="34" charset="-122"/>
                <a:cs typeface="Bricolage Grotesque Semi Bold" pitchFamily="34" charset="-120"/>
              </a:rPr>
              <a:t>Process Content</a:t>
            </a:r>
            <a:endParaRPr lang="en-US" sz="2300" dirty="0"/>
          </a:p>
        </p:txBody>
      </p:sp>
      <p:sp>
        <p:nvSpPr>
          <p:cNvPr id="6" name="Text 3"/>
          <p:cNvSpPr/>
          <p:nvPr/>
        </p:nvSpPr>
        <p:spPr>
          <a:xfrm>
            <a:off x="1651336" y="3545300"/>
            <a:ext cx="2969515" cy="371189"/>
          </a:xfrm>
          <a:prstGeom prst="rect">
            <a:avLst/>
          </a:prstGeom>
          <a:noFill/>
          <a:ln/>
        </p:spPr>
        <p:txBody>
          <a:bodyPr wrap="none" lIns="0" tIns="0" rIns="0" bIns="0" rtlCol="0" anchor="t"/>
          <a:lstStyle/>
          <a:p>
            <a:pPr marL="0" indent="0" algn="l">
              <a:lnSpc>
                <a:spcPts val="2900"/>
              </a:lnSpc>
              <a:buNone/>
            </a:pPr>
            <a:r>
              <a:rPr lang="en-US" sz="2300" dirty="0">
                <a:solidFill>
                  <a:srgbClr val="000000"/>
                </a:solidFill>
                <a:latin typeface="Bricolage Grotesque Semi Bold" pitchFamily="34" charset="0"/>
                <a:ea typeface="Bricolage Grotesque Semi Bold" pitchFamily="34" charset="-122"/>
                <a:cs typeface="Bricolage Grotesque Semi Bold" pitchFamily="34" charset="-120"/>
              </a:rPr>
              <a:t>Detect Input</a:t>
            </a:r>
            <a:endParaRPr lang="en-US" sz="2300" dirty="0"/>
          </a:p>
        </p:txBody>
      </p:sp>
      <p:sp>
        <p:nvSpPr>
          <p:cNvPr id="7" name="Text 4"/>
          <p:cNvSpPr/>
          <p:nvPr/>
        </p:nvSpPr>
        <p:spPr>
          <a:xfrm>
            <a:off x="1651336" y="2238713"/>
            <a:ext cx="2969515" cy="371189"/>
          </a:xfrm>
          <a:prstGeom prst="rect">
            <a:avLst/>
          </a:prstGeom>
          <a:noFill/>
          <a:ln/>
        </p:spPr>
        <p:txBody>
          <a:bodyPr wrap="none" lIns="0" tIns="0" rIns="0" bIns="0" rtlCol="0" anchor="t"/>
          <a:lstStyle/>
          <a:p>
            <a:pPr marL="0" indent="0" algn="l">
              <a:lnSpc>
                <a:spcPts val="2900"/>
              </a:lnSpc>
              <a:buNone/>
            </a:pPr>
            <a:r>
              <a:rPr lang="en-US" sz="2300" dirty="0">
                <a:solidFill>
                  <a:srgbClr val="000000"/>
                </a:solidFill>
                <a:latin typeface="Bricolage Grotesque Semi Bold" pitchFamily="34" charset="0"/>
                <a:ea typeface="Bricolage Grotesque Semi Bold" pitchFamily="34" charset="-122"/>
                <a:cs typeface="Bricolage Grotesque Semi Bold" pitchFamily="34" charset="-120"/>
              </a:rPr>
              <a:t>n8n Workflow</a:t>
            </a:r>
            <a:endParaRPr lang="en-US" sz="2300" dirty="0"/>
          </a:p>
        </p:txBody>
      </p:sp>
      <p:sp>
        <p:nvSpPr>
          <p:cNvPr id="8" name="Text 5"/>
          <p:cNvSpPr/>
          <p:nvPr/>
        </p:nvSpPr>
        <p:spPr>
          <a:xfrm>
            <a:off x="716161" y="7423309"/>
            <a:ext cx="13198078" cy="311348"/>
          </a:xfrm>
          <a:prstGeom prst="rect">
            <a:avLst/>
          </a:prstGeom>
          <a:noFill/>
          <a:ln/>
        </p:spPr>
        <p:txBody>
          <a:bodyPr wrap="none" lIns="0" tIns="0" rIns="0" bIns="0" rtlCol="0" anchor="t"/>
          <a:lstStyle/>
          <a:p>
            <a:pPr marL="0" indent="0" algn="l">
              <a:lnSpc>
                <a:spcPts val="2450"/>
              </a:lnSpc>
              <a:buNone/>
            </a:pPr>
            <a:r>
              <a:rPr lang="en-US" sz="1600" dirty="0">
                <a:solidFill>
                  <a:srgbClr val="2C2926"/>
                </a:solidFill>
                <a:latin typeface="Inter" pitchFamily="34" charset="0"/>
                <a:ea typeface="Inter" pitchFamily="34" charset="-122"/>
                <a:cs typeface="Inter" pitchFamily="34" charset="-120"/>
              </a:rPr>
              <a:t>Sơ đồ minh họa quy trình xử lý yêu cầu người dùng trong Telegram bot, từ tiếp nhận dữ liệu đến phân tích và phản hồi.</a:t>
            </a:r>
            <a:endParaRPr lang="en-US" sz="1600" dirty="0"/>
          </a:p>
        </p:txBody>
      </p:sp>
      <p:sp>
        <p:nvSpPr>
          <p:cNvPr id="9" name="Rectangle 8">
            <a:extLst>
              <a:ext uri="{FF2B5EF4-FFF2-40B4-BE49-F238E27FC236}">
                <a16:creationId xmlns:a16="http://schemas.microsoft.com/office/drawing/2014/main" id="{51A48CBC-0D65-5505-C460-31E6B011A16E}"/>
              </a:ext>
            </a:extLst>
          </p:cNvPr>
          <p:cNvSpPr/>
          <p:nvPr/>
        </p:nvSpPr>
        <p:spPr>
          <a:xfrm>
            <a:off x="12790843" y="7508838"/>
            <a:ext cx="1839557" cy="7207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92969" y="690324"/>
            <a:ext cx="5545455" cy="581739"/>
          </a:xfrm>
          <a:prstGeom prst="rect">
            <a:avLst/>
          </a:prstGeom>
          <a:noFill/>
          <a:ln/>
        </p:spPr>
        <p:txBody>
          <a:bodyPr wrap="none" lIns="0" tIns="0" rIns="0" bIns="0" rtlCol="0" anchor="t"/>
          <a:lstStyle/>
          <a:p>
            <a:pPr marL="0" indent="0" algn="l">
              <a:lnSpc>
                <a:spcPts val="4550"/>
              </a:lnSpc>
              <a:buNone/>
            </a:pPr>
            <a:r>
              <a:rPr lang="vi-VN" sz="3650" dirty="0">
                <a:solidFill>
                  <a:srgbClr val="2C2926"/>
                </a:solidFill>
                <a:latin typeface="Bricolage Grotesque Semi Bold" pitchFamily="34" charset="0"/>
                <a:ea typeface="Bricolage Grotesque Semi Bold" pitchFamily="34" charset="-122"/>
                <a:cs typeface="Bricolage Grotesque Semi Bold" pitchFamily="34" charset="-120"/>
              </a:rPr>
              <a:t>3. </a:t>
            </a:r>
            <a:r>
              <a:rPr lang="en-US" sz="3650" dirty="0">
                <a:solidFill>
                  <a:srgbClr val="2C2926"/>
                </a:solidFill>
                <a:latin typeface="Bricolage Grotesque Semi Bold" pitchFamily="34" charset="0"/>
                <a:ea typeface="Bricolage Grotesque Semi Bold" pitchFamily="34" charset="-122"/>
                <a:cs typeface="Bricolage Grotesque Semi Bold" pitchFamily="34" charset="-120"/>
              </a:rPr>
              <a:t>Chi Tiết Từng Node Xử Lý</a:t>
            </a:r>
            <a:endParaRPr lang="en-US" sz="3650" dirty="0"/>
          </a:p>
        </p:txBody>
      </p:sp>
      <p:sp>
        <p:nvSpPr>
          <p:cNvPr id="3" name="Shape 1"/>
          <p:cNvSpPr/>
          <p:nvPr/>
        </p:nvSpPr>
        <p:spPr>
          <a:xfrm>
            <a:off x="892969" y="1856780"/>
            <a:ext cx="6345793" cy="1606153"/>
          </a:xfrm>
          <a:prstGeom prst="roundRect">
            <a:avLst>
              <a:gd name="adj" fmla="val 6832"/>
            </a:avLst>
          </a:prstGeom>
          <a:solidFill>
            <a:srgbClr val="FFFFFF">
              <a:alpha val="95000"/>
            </a:srgbClr>
          </a:solidFill>
          <a:ln/>
        </p:spPr>
      </p:sp>
      <p:pic>
        <p:nvPicPr>
          <p:cNvPr id="4" name="Image 0" descr="preencoded.png"/>
          <p:cNvPicPr>
            <a:picLocks noChangeAspect="1"/>
          </p:cNvPicPr>
          <p:nvPr/>
        </p:nvPicPr>
        <p:blipFill>
          <a:blip r:embed="rId3"/>
          <a:stretch>
            <a:fillRect/>
          </a:stretch>
        </p:blipFill>
        <p:spPr>
          <a:xfrm>
            <a:off x="892969" y="1833920"/>
            <a:ext cx="6345793" cy="91440"/>
          </a:xfrm>
          <a:prstGeom prst="rect">
            <a:avLst/>
          </a:prstGeom>
        </p:spPr>
      </p:pic>
      <p:pic>
        <p:nvPicPr>
          <p:cNvPr id="5" name="Image 1" descr="preencoded.png"/>
          <p:cNvPicPr>
            <a:picLocks noChangeAspect="1"/>
          </p:cNvPicPr>
          <p:nvPr/>
        </p:nvPicPr>
        <p:blipFill>
          <a:blip r:embed="rId4"/>
          <a:stretch>
            <a:fillRect/>
          </a:stretch>
        </p:blipFill>
        <p:spPr>
          <a:xfrm>
            <a:off x="3786664" y="1577578"/>
            <a:ext cx="558403" cy="558403"/>
          </a:xfrm>
          <a:prstGeom prst="rect">
            <a:avLst/>
          </a:prstGeom>
        </p:spPr>
      </p:pic>
      <p:pic>
        <p:nvPicPr>
          <p:cNvPr id="6"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54185" y="1744980"/>
            <a:ext cx="223361" cy="223361"/>
          </a:xfrm>
          <a:prstGeom prst="rect">
            <a:avLst/>
          </a:prstGeom>
        </p:spPr>
      </p:pic>
      <p:sp>
        <p:nvSpPr>
          <p:cNvPr id="7" name="Text 2"/>
          <p:cNvSpPr/>
          <p:nvPr/>
        </p:nvSpPr>
        <p:spPr>
          <a:xfrm>
            <a:off x="1101923" y="2322076"/>
            <a:ext cx="2326838" cy="290751"/>
          </a:xfrm>
          <a:prstGeom prst="rect">
            <a:avLst/>
          </a:prstGeom>
          <a:noFill/>
          <a:ln/>
        </p:spPr>
        <p:txBody>
          <a:bodyPr wrap="none" lIns="0" tIns="0" rIns="0" bIns="0" rtlCol="0" anchor="t"/>
          <a:lstStyle/>
          <a:p>
            <a:pPr marL="0" indent="0" algn="l">
              <a:lnSpc>
                <a:spcPts val="2250"/>
              </a:lnSpc>
              <a:buNone/>
            </a:pPr>
            <a:r>
              <a:rPr lang="en-US" sz="1800" dirty="0">
                <a:solidFill>
                  <a:srgbClr val="2C2926"/>
                </a:solidFill>
                <a:latin typeface="Bricolage Grotesque Semi Bold" pitchFamily="34" charset="0"/>
                <a:ea typeface="Bricolage Grotesque Semi Bold" pitchFamily="34" charset="-122"/>
                <a:cs typeface="Bricolage Grotesque Semi Bold" pitchFamily="34" charset="-120"/>
              </a:rPr>
              <a:t>Telegram Trigger</a:t>
            </a:r>
            <a:endParaRPr lang="en-US" sz="1800" dirty="0"/>
          </a:p>
        </p:txBody>
      </p:sp>
      <p:sp>
        <p:nvSpPr>
          <p:cNvPr id="8" name="Text 3"/>
          <p:cNvSpPr/>
          <p:nvPr/>
        </p:nvSpPr>
        <p:spPr>
          <a:xfrm>
            <a:off x="1101923" y="2704386"/>
            <a:ext cx="5927884" cy="541972"/>
          </a:xfrm>
          <a:prstGeom prst="rect">
            <a:avLst/>
          </a:prstGeom>
          <a:noFill/>
          <a:ln/>
        </p:spPr>
        <p:txBody>
          <a:bodyPr wrap="square" lIns="0" tIns="0" rIns="0" bIns="0" rtlCol="0" anchor="t"/>
          <a:lstStyle/>
          <a:p>
            <a:pPr marL="0" indent="0" algn="l">
              <a:lnSpc>
                <a:spcPts val="2100"/>
              </a:lnSpc>
              <a:buNone/>
            </a:pPr>
            <a:r>
              <a:rPr lang="en-US" sz="1450" dirty="0">
                <a:solidFill>
                  <a:srgbClr val="2C2926"/>
                </a:solidFill>
                <a:latin typeface="Inter" pitchFamily="34" charset="0"/>
                <a:ea typeface="Inter" pitchFamily="34" charset="-122"/>
                <a:cs typeface="Inter" pitchFamily="34" charset="-120"/>
              </a:rPr>
              <a:t>Cổng lắng nghe, kích hoạt workflow khi có tin nhắn mới qua Webhook.</a:t>
            </a:r>
            <a:endParaRPr lang="en-US" sz="1450" dirty="0"/>
          </a:p>
        </p:txBody>
      </p:sp>
      <p:sp>
        <p:nvSpPr>
          <p:cNvPr id="9" name="Shape 4"/>
          <p:cNvSpPr/>
          <p:nvPr/>
        </p:nvSpPr>
        <p:spPr>
          <a:xfrm>
            <a:off x="7391519" y="1856780"/>
            <a:ext cx="6345793" cy="1606153"/>
          </a:xfrm>
          <a:prstGeom prst="roundRect">
            <a:avLst>
              <a:gd name="adj" fmla="val 6832"/>
            </a:avLst>
          </a:prstGeom>
          <a:solidFill>
            <a:srgbClr val="FFFFFF">
              <a:alpha val="95000"/>
            </a:srgbClr>
          </a:solidFill>
          <a:ln/>
        </p:spPr>
      </p:sp>
      <p:pic>
        <p:nvPicPr>
          <p:cNvPr id="10" name="Image 3" descr="preencoded.png"/>
          <p:cNvPicPr>
            <a:picLocks noChangeAspect="1"/>
          </p:cNvPicPr>
          <p:nvPr/>
        </p:nvPicPr>
        <p:blipFill>
          <a:blip r:embed="rId3"/>
          <a:stretch>
            <a:fillRect/>
          </a:stretch>
        </p:blipFill>
        <p:spPr>
          <a:xfrm>
            <a:off x="7391519" y="1833920"/>
            <a:ext cx="6345793" cy="91440"/>
          </a:xfrm>
          <a:prstGeom prst="rect">
            <a:avLst/>
          </a:prstGeom>
        </p:spPr>
      </p:pic>
      <p:pic>
        <p:nvPicPr>
          <p:cNvPr id="11" name="Image 4" descr="preencoded.png"/>
          <p:cNvPicPr>
            <a:picLocks noChangeAspect="1"/>
          </p:cNvPicPr>
          <p:nvPr/>
        </p:nvPicPr>
        <p:blipFill>
          <a:blip r:embed="rId4"/>
          <a:stretch>
            <a:fillRect/>
          </a:stretch>
        </p:blipFill>
        <p:spPr>
          <a:xfrm>
            <a:off x="10285214" y="1577578"/>
            <a:ext cx="558403" cy="558403"/>
          </a:xfrm>
          <a:prstGeom prst="rect">
            <a:avLst/>
          </a:prstGeom>
        </p:spPr>
      </p:pic>
      <p:pic>
        <p:nvPicPr>
          <p:cNvPr id="12"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52735" y="1744980"/>
            <a:ext cx="223361" cy="223361"/>
          </a:xfrm>
          <a:prstGeom prst="rect">
            <a:avLst/>
          </a:prstGeom>
        </p:spPr>
      </p:pic>
      <p:sp>
        <p:nvSpPr>
          <p:cNvPr id="13" name="Text 5"/>
          <p:cNvSpPr/>
          <p:nvPr/>
        </p:nvSpPr>
        <p:spPr>
          <a:xfrm>
            <a:off x="7600474" y="2322076"/>
            <a:ext cx="2326838" cy="290751"/>
          </a:xfrm>
          <a:prstGeom prst="rect">
            <a:avLst/>
          </a:prstGeom>
          <a:noFill/>
          <a:ln/>
        </p:spPr>
        <p:txBody>
          <a:bodyPr wrap="none" lIns="0" tIns="0" rIns="0" bIns="0" rtlCol="0" anchor="t"/>
          <a:lstStyle/>
          <a:p>
            <a:pPr marL="0" indent="0" algn="l">
              <a:lnSpc>
                <a:spcPts val="2250"/>
              </a:lnSpc>
              <a:buNone/>
            </a:pPr>
            <a:r>
              <a:rPr lang="en-US" sz="1800" dirty="0">
                <a:solidFill>
                  <a:srgbClr val="2C2926"/>
                </a:solidFill>
                <a:latin typeface="Bricolage Grotesque Semi Bold" pitchFamily="34" charset="0"/>
                <a:ea typeface="Bricolage Grotesque Semi Bold" pitchFamily="34" charset="-122"/>
                <a:cs typeface="Bricolage Grotesque Semi Bold" pitchFamily="34" charset="-120"/>
              </a:rPr>
              <a:t>Node If</a:t>
            </a:r>
            <a:endParaRPr lang="en-US" sz="1800" dirty="0"/>
          </a:p>
        </p:txBody>
      </p:sp>
      <p:sp>
        <p:nvSpPr>
          <p:cNvPr id="14" name="Text 6"/>
          <p:cNvSpPr/>
          <p:nvPr/>
        </p:nvSpPr>
        <p:spPr>
          <a:xfrm>
            <a:off x="7600474" y="2704386"/>
            <a:ext cx="5927884" cy="549593"/>
          </a:xfrm>
          <a:prstGeom prst="rect">
            <a:avLst/>
          </a:prstGeom>
          <a:noFill/>
          <a:ln/>
        </p:spPr>
        <p:txBody>
          <a:bodyPr wrap="square" lIns="0" tIns="0" rIns="0" bIns="0" rtlCol="0" anchor="t"/>
          <a:lstStyle/>
          <a:p>
            <a:pPr marL="0" indent="0" algn="l">
              <a:lnSpc>
                <a:spcPts val="2100"/>
              </a:lnSpc>
              <a:buNone/>
            </a:pPr>
            <a:r>
              <a:rPr lang="en-US" sz="1450" dirty="0">
                <a:solidFill>
                  <a:srgbClr val="2C2926"/>
                </a:solidFill>
                <a:latin typeface="Inter" pitchFamily="34" charset="0"/>
                <a:ea typeface="Inter" pitchFamily="34" charset="-122"/>
                <a:cs typeface="Inter" pitchFamily="34" charset="-120"/>
              </a:rPr>
              <a:t>Phân loại tin nhắn (Text vs Image) dựa trên sự tồn tại của trường </a:t>
            </a:r>
            <a:r>
              <a:rPr lang="en-US" sz="1450" dirty="0">
                <a:solidFill>
                  <a:srgbClr val="2C2926"/>
                </a:solidFill>
                <a:highlight>
                  <a:srgbClr val="F2F2F2"/>
                </a:highlight>
                <a:latin typeface="Consolas" pitchFamily="34" charset="0"/>
                <a:ea typeface="Consolas" pitchFamily="34" charset="-122"/>
                <a:cs typeface="Consolas" pitchFamily="34" charset="-120"/>
              </a:rPr>
              <a:t>message.text</a:t>
            </a:r>
            <a:r>
              <a:rPr lang="en-US" sz="1450" dirty="0">
                <a:solidFill>
                  <a:srgbClr val="2C2926"/>
                </a:solidFill>
                <a:latin typeface="Inter" pitchFamily="34" charset="0"/>
                <a:ea typeface="Inter" pitchFamily="34" charset="-122"/>
                <a:cs typeface="Inter" pitchFamily="34" charset="-120"/>
              </a:rPr>
              <a:t>.</a:t>
            </a:r>
            <a:endParaRPr lang="en-US" sz="1450" dirty="0"/>
          </a:p>
        </p:txBody>
      </p:sp>
      <p:sp>
        <p:nvSpPr>
          <p:cNvPr id="15" name="Shape 7"/>
          <p:cNvSpPr/>
          <p:nvPr/>
        </p:nvSpPr>
        <p:spPr>
          <a:xfrm>
            <a:off x="892969" y="3894892"/>
            <a:ext cx="6345793" cy="1606153"/>
          </a:xfrm>
          <a:prstGeom prst="roundRect">
            <a:avLst>
              <a:gd name="adj" fmla="val 6832"/>
            </a:avLst>
          </a:prstGeom>
          <a:solidFill>
            <a:srgbClr val="FFFFFF">
              <a:alpha val="95000"/>
            </a:srgbClr>
          </a:solidFill>
          <a:ln/>
        </p:spPr>
      </p:sp>
      <p:pic>
        <p:nvPicPr>
          <p:cNvPr id="16" name="Image 6" descr="preencoded.png"/>
          <p:cNvPicPr>
            <a:picLocks noChangeAspect="1"/>
          </p:cNvPicPr>
          <p:nvPr/>
        </p:nvPicPr>
        <p:blipFill>
          <a:blip r:embed="rId3"/>
          <a:stretch>
            <a:fillRect/>
          </a:stretch>
        </p:blipFill>
        <p:spPr>
          <a:xfrm>
            <a:off x="892969" y="3872032"/>
            <a:ext cx="6345793" cy="91440"/>
          </a:xfrm>
          <a:prstGeom prst="rect">
            <a:avLst/>
          </a:prstGeom>
        </p:spPr>
      </p:pic>
      <p:pic>
        <p:nvPicPr>
          <p:cNvPr id="17" name="Image 7" descr="preencoded.png"/>
          <p:cNvPicPr>
            <a:picLocks noChangeAspect="1"/>
          </p:cNvPicPr>
          <p:nvPr/>
        </p:nvPicPr>
        <p:blipFill>
          <a:blip r:embed="rId4"/>
          <a:stretch>
            <a:fillRect/>
          </a:stretch>
        </p:blipFill>
        <p:spPr>
          <a:xfrm>
            <a:off x="3786664" y="3615690"/>
            <a:ext cx="558403" cy="558403"/>
          </a:xfrm>
          <a:prstGeom prst="rect">
            <a:avLst/>
          </a:prstGeom>
        </p:spPr>
      </p:pic>
      <p:pic>
        <p:nvPicPr>
          <p:cNvPr id="18" name="Image 8"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954185" y="3783092"/>
            <a:ext cx="223361" cy="223361"/>
          </a:xfrm>
          <a:prstGeom prst="rect">
            <a:avLst/>
          </a:prstGeom>
        </p:spPr>
      </p:pic>
      <p:sp>
        <p:nvSpPr>
          <p:cNvPr id="19" name="Text 8"/>
          <p:cNvSpPr/>
          <p:nvPr/>
        </p:nvSpPr>
        <p:spPr>
          <a:xfrm>
            <a:off x="1101923" y="4360188"/>
            <a:ext cx="2326838" cy="290751"/>
          </a:xfrm>
          <a:prstGeom prst="rect">
            <a:avLst/>
          </a:prstGeom>
          <a:noFill/>
          <a:ln/>
        </p:spPr>
        <p:txBody>
          <a:bodyPr wrap="none" lIns="0" tIns="0" rIns="0" bIns="0" rtlCol="0" anchor="t"/>
          <a:lstStyle/>
          <a:p>
            <a:pPr marL="0" indent="0" algn="l">
              <a:lnSpc>
                <a:spcPts val="2250"/>
              </a:lnSpc>
              <a:buNone/>
            </a:pPr>
            <a:r>
              <a:rPr lang="en-US" sz="1800" dirty="0">
                <a:solidFill>
                  <a:srgbClr val="2C2926"/>
                </a:solidFill>
                <a:latin typeface="Bricolage Grotesque Semi Bold" pitchFamily="34" charset="0"/>
                <a:ea typeface="Bricolage Grotesque Semi Bold" pitchFamily="34" charset="-122"/>
                <a:cs typeface="Bricolage Grotesque Semi Bold" pitchFamily="34" charset="-120"/>
              </a:rPr>
              <a:t>Node Switch</a:t>
            </a:r>
            <a:endParaRPr lang="en-US" sz="1800" dirty="0"/>
          </a:p>
        </p:txBody>
      </p:sp>
      <p:sp>
        <p:nvSpPr>
          <p:cNvPr id="20" name="Text 9"/>
          <p:cNvSpPr/>
          <p:nvPr/>
        </p:nvSpPr>
        <p:spPr>
          <a:xfrm>
            <a:off x="1101923" y="4742498"/>
            <a:ext cx="5927884" cy="541972"/>
          </a:xfrm>
          <a:prstGeom prst="rect">
            <a:avLst/>
          </a:prstGeom>
          <a:noFill/>
          <a:ln/>
        </p:spPr>
        <p:txBody>
          <a:bodyPr wrap="square" lIns="0" tIns="0" rIns="0" bIns="0" rtlCol="0" anchor="t"/>
          <a:lstStyle/>
          <a:p>
            <a:pPr marL="0" indent="0" algn="l">
              <a:lnSpc>
                <a:spcPts val="2100"/>
              </a:lnSpc>
              <a:buNone/>
            </a:pPr>
            <a:r>
              <a:rPr lang="en-US" sz="1450" dirty="0">
                <a:solidFill>
                  <a:srgbClr val="2C2926"/>
                </a:solidFill>
                <a:latin typeface="Inter" pitchFamily="34" charset="0"/>
                <a:ea typeface="Inter" pitchFamily="34" charset="-122"/>
                <a:cs typeface="Inter" pitchFamily="34" charset="-120"/>
              </a:rPr>
              <a:t>Phân loại các lệnh text (ví dụ: '/tuannaycogi', '/anime') bằng định tuyến dựa trên quy tắc.</a:t>
            </a:r>
            <a:endParaRPr lang="en-US" sz="1450" dirty="0"/>
          </a:p>
        </p:txBody>
      </p:sp>
      <p:sp>
        <p:nvSpPr>
          <p:cNvPr id="21" name="Shape 10"/>
          <p:cNvSpPr/>
          <p:nvPr/>
        </p:nvSpPr>
        <p:spPr>
          <a:xfrm>
            <a:off x="7391519" y="3894892"/>
            <a:ext cx="6345793" cy="1606153"/>
          </a:xfrm>
          <a:prstGeom prst="roundRect">
            <a:avLst>
              <a:gd name="adj" fmla="val 6832"/>
            </a:avLst>
          </a:prstGeom>
          <a:solidFill>
            <a:srgbClr val="FFFFFF">
              <a:alpha val="95000"/>
            </a:srgbClr>
          </a:solidFill>
          <a:ln/>
        </p:spPr>
      </p:sp>
      <p:pic>
        <p:nvPicPr>
          <p:cNvPr id="22" name="Image 9" descr="preencoded.png"/>
          <p:cNvPicPr>
            <a:picLocks noChangeAspect="1"/>
          </p:cNvPicPr>
          <p:nvPr/>
        </p:nvPicPr>
        <p:blipFill>
          <a:blip r:embed="rId3"/>
          <a:stretch>
            <a:fillRect/>
          </a:stretch>
        </p:blipFill>
        <p:spPr>
          <a:xfrm>
            <a:off x="7391519" y="3872032"/>
            <a:ext cx="6345793" cy="91440"/>
          </a:xfrm>
          <a:prstGeom prst="rect">
            <a:avLst/>
          </a:prstGeom>
        </p:spPr>
      </p:pic>
      <p:pic>
        <p:nvPicPr>
          <p:cNvPr id="23" name="Image 10" descr="preencoded.png"/>
          <p:cNvPicPr>
            <a:picLocks noChangeAspect="1"/>
          </p:cNvPicPr>
          <p:nvPr/>
        </p:nvPicPr>
        <p:blipFill>
          <a:blip r:embed="rId4"/>
          <a:stretch>
            <a:fillRect/>
          </a:stretch>
        </p:blipFill>
        <p:spPr>
          <a:xfrm>
            <a:off x="10285214" y="3615690"/>
            <a:ext cx="558403" cy="558403"/>
          </a:xfrm>
          <a:prstGeom prst="rect">
            <a:avLst/>
          </a:prstGeom>
        </p:spPr>
      </p:pic>
      <p:pic>
        <p:nvPicPr>
          <p:cNvPr id="24" name="Image 11"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452735" y="3783092"/>
            <a:ext cx="223361" cy="223361"/>
          </a:xfrm>
          <a:prstGeom prst="rect">
            <a:avLst/>
          </a:prstGeom>
        </p:spPr>
      </p:pic>
      <p:sp>
        <p:nvSpPr>
          <p:cNvPr id="25" name="Text 11"/>
          <p:cNvSpPr/>
          <p:nvPr/>
        </p:nvSpPr>
        <p:spPr>
          <a:xfrm>
            <a:off x="7600474" y="4360188"/>
            <a:ext cx="2326838" cy="290751"/>
          </a:xfrm>
          <a:prstGeom prst="rect">
            <a:avLst/>
          </a:prstGeom>
          <a:noFill/>
          <a:ln/>
        </p:spPr>
        <p:txBody>
          <a:bodyPr wrap="none" lIns="0" tIns="0" rIns="0" bIns="0" rtlCol="0" anchor="t"/>
          <a:lstStyle/>
          <a:p>
            <a:pPr marL="0" indent="0" algn="l">
              <a:lnSpc>
                <a:spcPts val="2250"/>
              </a:lnSpc>
              <a:buNone/>
            </a:pPr>
            <a:r>
              <a:rPr lang="en-US" sz="1800" dirty="0">
                <a:solidFill>
                  <a:srgbClr val="2C2926"/>
                </a:solidFill>
                <a:latin typeface="Bricolage Grotesque Semi Bold" pitchFamily="34" charset="0"/>
                <a:ea typeface="Bricolage Grotesque Semi Bold" pitchFamily="34" charset="-122"/>
                <a:cs typeface="Bricolage Grotesque Semi Bold" pitchFamily="34" charset="-120"/>
              </a:rPr>
              <a:t>Telegram | Get File</a:t>
            </a:r>
            <a:endParaRPr lang="en-US" sz="1800" dirty="0"/>
          </a:p>
        </p:txBody>
      </p:sp>
      <p:sp>
        <p:nvSpPr>
          <p:cNvPr id="26" name="Text 12"/>
          <p:cNvSpPr/>
          <p:nvPr/>
        </p:nvSpPr>
        <p:spPr>
          <a:xfrm>
            <a:off x="7600474" y="4742498"/>
            <a:ext cx="5927884" cy="549593"/>
          </a:xfrm>
          <a:prstGeom prst="rect">
            <a:avLst/>
          </a:prstGeom>
          <a:noFill/>
          <a:ln/>
        </p:spPr>
        <p:txBody>
          <a:bodyPr wrap="square" lIns="0" tIns="0" rIns="0" bIns="0" rtlCol="0" anchor="t"/>
          <a:lstStyle/>
          <a:p>
            <a:pPr marL="0" indent="0" algn="l">
              <a:lnSpc>
                <a:spcPts val="2100"/>
              </a:lnSpc>
              <a:buNone/>
            </a:pPr>
            <a:r>
              <a:rPr lang="en-US" sz="1450" dirty="0">
                <a:solidFill>
                  <a:srgbClr val="2C2926"/>
                </a:solidFill>
                <a:latin typeface="Inter" pitchFamily="34" charset="0"/>
                <a:ea typeface="Inter" pitchFamily="34" charset="-122"/>
                <a:cs typeface="Inter" pitchFamily="34" charset="-120"/>
              </a:rPr>
              <a:t>Lấy metadata và </a:t>
            </a:r>
            <a:r>
              <a:rPr lang="en-US" sz="1450" dirty="0">
                <a:solidFill>
                  <a:srgbClr val="2C2926"/>
                </a:solidFill>
                <a:highlight>
                  <a:srgbClr val="F2F2F2"/>
                </a:highlight>
                <a:latin typeface="Consolas" pitchFamily="34" charset="0"/>
                <a:ea typeface="Consolas" pitchFamily="34" charset="-122"/>
                <a:cs typeface="Consolas" pitchFamily="34" charset="-120"/>
              </a:rPr>
              <a:t>file_path</a:t>
            </a:r>
            <a:r>
              <a:rPr lang="en-US" sz="1450" dirty="0">
                <a:solidFill>
                  <a:srgbClr val="2C2926"/>
                </a:solidFill>
                <a:latin typeface="Inter" pitchFamily="34" charset="0"/>
                <a:ea typeface="Inter" pitchFamily="34" charset="-122"/>
                <a:cs typeface="Inter" pitchFamily="34" charset="-120"/>
              </a:rPr>
              <a:t> của file từ Telegram API, chọn ảnh chất lượng tốt nhất.</a:t>
            </a:r>
            <a:endParaRPr lang="en-US" sz="1450" dirty="0"/>
          </a:p>
        </p:txBody>
      </p:sp>
      <p:sp>
        <p:nvSpPr>
          <p:cNvPr id="27" name="Shape 13"/>
          <p:cNvSpPr/>
          <p:nvPr/>
        </p:nvSpPr>
        <p:spPr>
          <a:xfrm>
            <a:off x="892969" y="5933003"/>
            <a:ext cx="6345793" cy="1606153"/>
          </a:xfrm>
          <a:prstGeom prst="roundRect">
            <a:avLst>
              <a:gd name="adj" fmla="val 6832"/>
            </a:avLst>
          </a:prstGeom>
          <a:solidFill>
            <a:srgbClr val="FFFFFF">
              <a:alpha val="95000"/>
            </a:srgbClr>
          </a:solidFill>
          <a:ln/>
        </p:spPr>
      </p:sp>
      <p:pic>
        <p:nvPicPr>
          <p:cNvPr id="28" name="Image 12" descr="preencoded.png"/>
          <p:cNvPicPr>
            <a:picLocks noChangeAspect="1"/>
          </p:cNvPicPr>
          <p:nvPr/>
        </p:nvPicPr>
        <p:blipFill>
          <a:blip r:embed="rId3"/>
          <a:stretch>
            <a:fillRect/>
          </a:stretch>
        </p:blipFill>
        <p:spPr>
          <a:xfrm>
            <a:off x="892969" y="5910143"/>
            <a:ext cx="6345793" cy="91440"/>
          </a:xfrm>
          <a:prstGeom prst="rect">
            <a:avLst/>
          </a:prstGeom>
        </p:spPr>
      </p:pic>
      <p:pic>
        <p:nvPicPr>
          <p:cNvPr id="29" name="Image 13" descr="preencoded.png"/>
          <p:cNvPicPr>
            <a:picLocks noChangeAspect="1"/>
          </p:cNvPicPr>
          <p:nvPr/>
        </p:nvPicPr>
        <p:blipFill>
          <a:blip r:embed="rId4"/>
          <a:stretch>
            <a:fillRect/>
          </a:stretch>
        </p:blipFill>
        <p:spPr>
          <a:xfrm>
            <a:off x="3786664" y="5653802"/>
            <a:ext cx="558403" cy="558403"/>
          </a:xfrm>
          <a:prstGeom prst="rect">
            <a:avLst/>
          </a:prstGeom>
        </p:spPr>
      </p:pic>
      <p:pic>
        <p:nvPicPr>
          <p:cNvPr id="30" name="Image 14"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954185" y="5821204"/>
            <a:ext cx="223361" cy="223361"/>
          </a:xfrm>
          <a:prstGeom prst="rect">
            <a:avLst/>
          </a:prstGeom>
        </p:spPr>
      </p:pic>
      <p:sp>
        <p:nvSpPr>
          <p:cNvPr id="31" name="Text 14"/>
          <p:cNvSpPr/>
          <p:nvPr/>
        </p:nvSpPr>
        <p:spPr>
          <a:xfrm>
            <a:off x="1101923" y="6398300"/>
            <a:ext cx="2326838" cy="290751"/>
          </a:xfrm>
          <a:prstGeom prst="rect">
            <a:avLst/>
          </a:prstGeom>
          <a:noFill/>
          <a:ln/>
        </p:spPr>
        <p:txBody>
          <a:bodyPr wrap="none" lIns="0" tIns="0" rIns="0" bIns="0" rtlCol="0" anchor="t"/>
          <a:lstStyle/>
          <a:p>
            <a:pPr marL="0" indent="0" algn="l">
              <a:lnSpc>
                <a:spcPts val="2250"/>
              </a:lnSpc>
              <a:buNone/>
            </a:pPr>
            <a:r>
              <a:rPr lang="en-US" sz="1800" dirty="0">
                <a:solidFill>
                  <a:srgbClr val="2C2926"/>
                </a:solidFill>
                <a:latin typeface="Bricolage Grotesque Semi Bold" pitchFamily="34" charset="0"/>
                <a:ea typeface="Bricolage Grotesque Semi Bold" pitchFamily="34" charset="-122"/>
                <a:cs typeface="Bricolage Grotesque Semi Bold" pitchFamily="34" charset="-120"/>
              </a:rPr>
              <a:t>HTTP Request</a:t>
            </a:r>
            <a:endParaRPr lang="en-US" sz="1800" dirty="0"/>
          </a:p>
        </p:txBody>
      </p:sp>
      <p:sp>
        <p:nvSpPr>
          <p:cNvPr id="32" name="Text 15"/>
          <p:cNvSpPr/>
          <p:nvPr/>
        </p:nvSpPr>
        <p:spPr>
          <a:xfrm>
            <a:off x="1101923" y="6780609"/>
            <a:ext cx="5927884" cy="549593"/>
          </a:xfrm>
          <a:prstGeom prst="rect">
            <a:avLst/>
          </a:prstGeom>
          <a:noFill/>
          <a:ln/>
        </p:spPr>
        <p:txBody>
          <a:bodyPr wrap="square" lIns="0" tIns="0" rIns="0" bIns="0" rtlCol="0" anchor="t"/>
          <a:lstStyle/>
          <a:p>
            <a:pPr marL="0" indent="0" algn="l">
              <a:lnSpc>
                <a:spcPts val="2100"/>
              </a:lnSpc>
              <a:buNone/>
            </a:pPr>
            <a:r>
              <a:rPr lang="en-US" sz="1450" dirty="0">
                <a:solidFill>
                  <a:srgbClr val="2C2926"/>
                </a:solidFill>
                <a:latin typeface="Inter" pitchFamily="34" charset="0"/>
                <a:ea typeface="Inter" pitchFamily="34" charset="-122"/>
                <a:cs typeface="Inter" pitchFamily="34" charset="-120"/>
              </a:rPr>
              <a:t>Chuyển đổi dữ liệu từ Metadata sang Binary Stream, tự động gán MIME type </a:t>
            </a:r>
            <a:r>
              <a:rPr lang="en-US" sz="1450" dirty="0">
                <a:solidFill>
                  <a:srgbClr val="2C2926"/>
                </a:solidFill>
                <a:highlight>
                  <a:srgbClr val="F2F2F2"/>
                </a:highlight>
                <a:latin typeface="Consolas" pitchFamily="34" charset="0"/>
                <a:ea typeface="Consolas" pitchFamily="34" charset="-122"/>
                <a:cs typeface="Consolas" pitchFamily="34" charset="-120"/>
              </a:rPr>
              <a:t>image/jpeg</a:t>
            </a:r>
            <a:r>
              <a:rPr lang="en-US" sz="1450" dirty="0">
                <a:solidFill>
                  <a:srgbClr val="2C2926"/>
                </a:solidFill>
                <a:latin typeface="Inter" pitchFamily="34" charset="0"/>
                <a:ea typeface="Inter" pitchFamily="34" charset="-122"/>
                <a:cs typeface="Inter" pitchFamily="34" charset="-120"/>
              </a:rPr>
              <a:t>.</a:t>
            </a:r>
            <a:endParaRPr lang="en-US" sz="1450" dirty="0"/>
          </a:p>
        </p:txBody>
      </p:sp>
      <p:sp>
        <p:nvSpPr>
          <p:cNvPr id="33" name="Shape 16"/>
          <p:cNvSpPr/>
          <p:nvPr/>
        </p:nvSpPr>
        <p:spPr>
          <a:xfrm>
            <a:off x="7391519" y="5933003"/>
            <a:ext cx="6345793" cy="1606153"/>
          </a:xfrm>
          <a:prstGeom prst="roundRect">
            <a:avLst>
              <a:gd name="adj" fmla="val 6832"/>
            </a:avLst>
          </a:prstGeom>
          <a:solidFill>
            <a:srgbClr val="FFFFFF">
              <a:alpha val="95000"/>
            </a:srgbClr>
          </a:solidFill>
          <a:ln/>
        </p:spPr>
      </p:sp>
      <p:pic>
        <p:nvPicPr>
          <p:cNvPr id="34" name="Image 15" descr="preencoded.png"/>
          <p:cNvPicPr>
            <a:picLocks noChangeAspect="1"/>
          </p:cNvPicPr>
          <p:nvPr/>
        </p:nvPicPr>
        <p:blipFill>
          <a:blip r:embed="rId3"/>
          <a:stretch>
            <a:fillRect/>
          </a:stretch>
        </p:blipFill>
        <p:spPr>
          <a:xfrm>
            <a:off x="7391519" y="5910143"/>
            <a:ext cx="6345793" cy="91440"/>
          </a:xfrm>
          <a:prstGeom prst="rect">
            <a:avLst/>
          </a:prstGeom>
        </p:spPr>
      </p:pic>
      <p:pic>
        <p:nvPicPr>
          <p:cNvPr id="35" name="Image 16" descr="preencoded.png"/>
          <p:cNvPicPr>
            <a:picLocks noChangeAspect="1"/>
          </p:cNvPicPr>
          <p:nvPr/>
        </p:nvPicPr>
        <p:blipFill>
          <a:blip r:embed="rId4"/>
          <a:stretch>
            <a:fillRect/>
          </a:stretch>
        </p:blipFill>
        <p:spPr>
          <a:xfrm>
            <a:off x="10285214" y="5653802"/>
            <a:ext cx="558403" cy="558403"/>
          </a:xfrm>
          <a:prstGeom prst="rect">
            <a:avLst/>
          </a:prstGeom>
        </p:spPr>
      </p:pic>
      <p:pic>
        <p:nvPicPr>
          <p:cNvPr id="36" name="Image 17"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452735" y="5821204"/>
            <a:ext cx="223361" cy="223361"/>
          </a:xfrm>
          <a:prstGeom prst="rect">
            <a:avLst/>
          </a:prstGeom>
        </p:spPr>
      </p:pic>
      <p:sp>
        <p:nvSpPr>
          <p:cNvPr id="37" name="Text 17"/>
          <p:cNvSpPr/>
          <p:nvPr/>
        </p:nvSpPr>
        <p:spPr>
          <a:xfrm>
            <a:off x="7600474" y="6398300"/>
            <a:ext cx="3045738" cy="290751"/>
          </a:xfrm>
          <a:prstGeom prst="rect">
            <a:avLst/>
          </a:prstGeom>
          <a:noFill/>
          <a:ln/>
        </p:spPr>
        <p:txBody>
          <a:bodyPr wrap="none" lIns="0" tIns="0" rIns="0" bIns="0" rtlCol="0" anchor="t"/>
          <a:lstStyle/>
          <a:p>
            <a:pPr marL="0" indent="0" algn="l">
              <a:lnSpc>
                <a:spcPts val="2250"/>
              </a:lnSpc>
              <a:buNone/>
            </a:pPr>
            <a:r>
              <a:rPr lang="en-US" sz="1800" dirty="0">
                <a:solidFill>
                  <a:srgbClr val="2C2926"/>
                </a:solidFill>
                <a:latin typeface="Bricolage Grotesque Semi Bold" pitchFamily="34" charset="0"/>
                <a:ea typeface="Bricolage Grotesque Semi Bold" pitchFamily="34" charset="-122"/>
                <a:cs typeface="Bricolage Grotesque Semi Bold" pitchFamily="34" charset="-120"/>
              </a:rPr>
              <a:t>Google Gemini (AI Analysis)</a:t>
            </a:r>
            <a:endParaRPr lang="en-US" sz="1800" dirty="0"/>
          </a:p>
        </p:txBody>
      </p:sp>
      <p:sp>
        <p:nvSpPr>
          <p:cNvPr id="38" name="Text 18"/>
          <p:cNvSpPr/>
          <p:nvPr/>
        </p:nvSpPr>
        <p:spPr>
          <a:xfrm>
            <a:off x="7600474" y="6780609"/>
            <a:ext cx="5927884" cy="549593"/>
          </a:xfrm>
          <a:prstGeom prst="rect">
            <a:avLst/>
          </a:prstGeom>
          <a:noFill/>
          <a:ln/>
        </p:spPr>
        <p:txBody>
          <a:bodyPr wrap="square" lIns="0" tIns="0" rIns="0" bIns="0" rtlCol="0" anchor="t"/>
          <a:lstStyle/>
          <a:p>
            <a:pPr marL="0" indent="0" algn="l">
              <a:lnSpc>
                <a:spcPts val="2100"/>
              </a:lnSpc>
              <a:buNone/>
            </a:pPr>
            <a:r>
              <a:rPr lang="en-US" sz="1450" dirty="0">
                <a:solidFill>
                  <a:srgbClr val="2C2926"/>
                </a:solidFill>
                <a:latin typeface="Inter" pitchFamily="34" charset="0"/>
                <a:ea typeface="Inter" pitchFamily="34" charset="-122"/>
                <a:cs typeface="Inter" pitchFamily="34" charset="-120"/>
              </a:rPr>
              <a:t>Sử dụng mô hình </a:t>
            </a:r>
            <a:r>
              <a:rPr lang="en-US" sz="1450" dirty="0">
                <a:solidFill>
                  <a:srgbClr val="2C2926"/>
                </a:solidFill>
                <a:highlight>
                  <a:srgbClr val="F2F2F2"/>
                </a:highlight>
                <a:latin typeface="Consolas" pitchFamily="34" charset="0"/>
                <a:ea typeface="Consolas" pitchFamily="34" charset="-122"/>
                <a:cs typeface="Consolas" pitchFamily="34" charset="-120"/>
              </a:rPr>
              <a:t>gemini-2.5-flash</a:t>
            </a:r>
            <a:r>
              <a:rPr lang="en-US" sz="1450" dirty="0">
                <a:solidFill>
                  <a:srgbClr val="2C2926"/>
                </a:solidFill>
                <a:latin typeface="Inter" pitchFamily="34" charset="0"/>
                <a:ea typeface="Inter" pitchFamily="34" charset="-122"/>
                <a:cs typeface="Inter" pitchFamily="34" charset="-120"/>
              </a:rPr>
              <a:t> để phân tích ảnh, nhận diện anime và trích xuất thông tin.</a:t>
            </a:r>
            <a:endParaRPr lang="en-US" sz="1450" dirty="0"/>
          </a:p>
        </p:txBody>
      </p:sp>
      <p:sp>
        <p:nvSpPr>
          <p:cNvPr id="39" name="Rectangle 38">
            <a:extLst>
              <a:ext uri="{FF2B5EF4-FFF2-40B4-BE49-F238E27FC236}">
                <a16:creationId xmlns:a16="http://schemas.microsoft.com/office/drawing/2014/main" id="{A6F9055E-0CFF-2B3D-982C-656209D97871}"/>
              </a:ext>
            </a:extLst>
          </p:cNvPr>
          <p:cNvSpPr/>
          <p:nvPr/>
        </p:nvSpPr>
        <p:spPr>
          <a:xfrm>
            <a:off x="12790843" y="7508838"/>
            <a:ext cx="1839557" cy="7207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00"/>
                                        <p:tgtEl>
                                          <p:spTgt spid="2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00"/>
                                        <p:tgtEl>
                                          <p:spTgt spid="2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500"/>
                                        <p:tgtEl>
                                          <p:spTgt spid="2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500"/>
                                        <p:tgtEl>
                                          <p:spTgt spid="2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500"/>
                                        <p:tgtEl>
                                          <p:spTgt spid="3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500"/>
                                        <p:tgtEl>
                                          <p:spTgt spid="3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500"/>
                                        <p:tgtEl>
                                          <p:spTgt spid="3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fade">
                                      <p:cBhvr>
                                        <p:cTn id="66" dur="500"/>
                                        <p:tgtEl>
                                          <p:spTgt spid="3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fade">
                                      <p:cBhvr>
                                        <p:cTn id="6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13" grpId="0" animBg="1"/>
      <p:bldP spid="14" grpId="0" animBg="1"/>
      <p:bldP spid="19" grpId="0" animBg="1"/>
      <p:bldP spid="20" grpId="0" animBg="1"/>
      <p:bldP spid="25" grpId="0" animBg="1"/>
      <p:bldP spid="26" grpId="0" animBg="1"/>
      <p:bldP spid="31" grpId="0" animBg="1"/>
      <p:bldP spid="32" grpId="0" animBg="1"/>
      <p:bldP spid="37" grpId="0" animBg="1"/>
      <p:bldP spid="3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16161" y="562689"/>
            <a:ext cx="7470934" cy="639485"/>
          </a:xfrm>
          <a:prstGeom prst="rect">
            <a:avLst/>
          </a:prstGeom>
          <a:noFill/>
          <a:ln/>
        </p:spPr>
        <p:txBody>
          <a:bodyPr wrap="none" lIns="0" tIns="0" rIns="0" bIns="0" rtlCol="0" anchor="t"/>
          <a:lstStyle/>
          <a:p>
            <a:pPr marL="0" indent="0" algn="l">
              <a:lnSpc>
                <a:spcPts val="5000"/>
              </a:lnSpc>
              <a:buNone/>
            </a:pPr>
            <a:r>
              <a:rPr lang="vi-VN" sz="4000" dirty="0">
                <a:solidFill>
                  <a:srgbClr val="2C2926"/>
                </a:solidFill>
                <a:latin typeface="Bricolage Grotesque Semi Bold" pitchFamily="34" charset="0"/>
                <a:ea typeface="Bricolage Grotesque Semi Bold" pitchFamily="34" charset="-122"/>
                <a:cs typeface="Bricolage Grotesque Semi Bold" pitchFamily="34" charset="-120"/>
              </a:rPr>
              <a:t>Cấu hình Prompt</a:t>
            </a:r>
            <a:endParaRPr lang="en-US" sz="4000" dirty="0"/>
          </a:p>
        </p:txBody>
      </p:sp>
      <p:sp>
        <p:nvSpPr>
          <p:cNvPr id="9" name="Rectangle 8">
            <a:extLst>
              <a:ext uri="{FF2B5EF4-FFF2-40B4-BE49-F238E27FC236}">
                <a16:creationId xmlns:a16="http://schemas.microsoft.com/office/drawing/2014/main" id="{D7E7781D-0C3E-1021-F266-DF1F862AFE9C}"/>
              </a:ext>
            </a:extLst>
          </p:cNvPr>
          <p:cNvSpPr/>
          <p:nvPr/>
        </p:nvSpPr>
        <p:spPr>
          <a:xfrm>
            <a:off x="12790843" y="7508838"/>
            <a:ext cx="1839557" cy="7207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B6065D2-44FB-1CFA-5AAE-B41C51A15F53}"/>
              </a:ext>
            </a:extLst>
          </p:cNvPr>
          <p:cNvSpPr txBox="1"/>
          <p:nvPr/>
        </p:nvSpPr>
        <p:spPr>
          <a:xfrm>
            <a:off x="791488" y="1324094"/>
            <a:ext cx="7320280" cy="369332"/>
          </a:xfrm>
          <a:prstGeom prst="rect">
            <a:avLst/>
          </a:prstGeom>
          <a:noFill/>
        </p:spPr>
        <p:txBody>
          <a:bodyPr wrap="square">
            <a:spAutoFit/>
          </a:bodyPr>
          <a:lstStyle/>
          <a:p>
            <a:pPr lvl="0">
              <a:spcAft>
                <a:spcPts val="840"/>
              </a:spcAft>
              <a:buSzPts val="1000"/>
              <a:tabLst>
                <a:tab pos="457200" algn="l"/>
              </a:tabLst>
            </a:pPr>
            <a:r>
              <a:rPr lang="en-GB" sz="1800" b="1" dirty="0">
                <a:effectLst/>
                <a:latin typeface="Times New Roman" panose="02020603050405020304" pitchFamily="18" charset="0"/>
                <a:ea typeface="Times New Roman" panose="02020603050405020304" pitchFamily="18" charset="0"/>
              </a:rPr>
              <a:t>System Prompt</a:t>
            </a:r>
            <a:r>
              <a:rPr lang="en-GB" sz="1800" dirty="0">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p:txBody>
      </p:sp>
      <p:sp>
        <p:nvSpPr>
          <p:cNvPr id="13" name="TextBox 12">
            <a:extLst>
              <a:ext uri="{FF2B5EF4-FFF2-40B4-BE49-F238E27FC236}">
                <a16:creationId xmlns:a16="http://schemas.microsoft.com/office/drawing/2014/main" id="{3A59B6EC-8F96-AE4B-10BB-0C2A00AEEADA}"/>
              </a:ext>
            </a:extLst>
          </p:cNvPr>
          <p:cNvSpPr txBox="1"/>
          <p:nvPr/>
        </p:nvSpPr>
        <p:spPr>
          <a:xfrm>
            <a:off x="977900" y="1932841"/>
            <a:ext cx="6134100" cy="2923877"/>
          </a:xfrm>
          <a:prstGeom prst="rect">
            <a:avLst/>
          </a:prstGeom>
          <a:noFill/>
        </p:spPr>
        <p:txBody>
          <a:bodyPr wrap="square">
            <a:spAutoFit/>
          </a:bodyPr>
          <a:lstStyle/>
          <a:p>
            <a:pPr>
              <a:spcAft>
                <a:spcPts val="840"/>
              </a:spcAft>
            </a:pPr>
            <a:r>
              <a:rPr lang="en-GB" sz="1800" dirty="0">
                <a:effectLst/>
                <a:latin typeface="Times New Roman" panose="02020603050405020304" pitchFamily="18" charset="0"/>
                <a:ea typeface="Times New Roman" panose="02020603050405020304" pitchFamily="18" charset="0"/>
              </a:rPr>
              <a:t>You are an anime assistant bot for Telegram.</a:t>
            </a:r>
            <a:endParaRPr lang="en-US" sz="1600" dirty="0">
              <a:effectLst/>
              <a:latin typeface="Times New Roman" panose="02020603050405020304" pitchFamily="18" charset="0"/>
              <a:ea typeface="Times New Roman" panose="02020603050405020304" pitchFamily="18" charset="0"/>
            </a:endParaRPr>
          </a:p>
          <a:p>
            <a:pPr>
              <a:spcAft>
                <a:spcPts val="840"/>
              </a:spcAft>
            </a:pPr>
            <a:r>
              <a:rPr lang="en-GB" sz="1800" dirty="0">
                <a:effectLst/>
                <a:latin typeface="Times New Roman" panose="02020603050405020304" pitchFamily="18" charset="0"/>
                <a:ea typeface="Times New Roman" panose="02020603050405020304" pitchFamily="18" charset="0"/>
              </a:rPr>
              <a:t>•	Reply in Vietnamese.</a:t>
            </a:r>
            <a:endParaRPr lang="en-US" sz="1600" dirty="0">
              <a:effectLst/>
              <a:latin typeface="Times New Roman" panose="02020603050405020304" pitchFamily="18" charset="0"/>
              <a:ea typeface="Times New Roman" panose="02020603050405020304" pitchFamily="18" charset="0"/>
            </a:endParaRPr>
          </a:p>
          <a:p>
            <a:pPr>
              <a:spcAft>
                <a:spcPts val="840"/>
              </a:spcAft>
            </a:pPr>
            <a:r>
              <a:rPr lang="en-GB" sz="1800" dirty="0">
                <a:effectLst/>
                <a:latin typeface="Times New Roman" panose="02020603050405020304" pitchFamily="18" charset="0"/>
                <a:ea typeface="Times New Roman" panose="02020603050405020304" pitchFamily="18" charset="0"/>
              </a:rPr>
              <a:t>•	Be friendly, concise, and clear.</a:t>
            </a:r>
            <a:endParaRPr lang="en-US" sz="1600" dirty="0">
              <a:effectLst/>
              <a:latin typeface="Times New Roman" panose="02020603050405020304" pitchFamily="18" charset="0"/>
              <a:ea typeface="Times New Roman" panose="02020603050405020304" pitchFamily="18" charset="0"/>
            </a:endParaRPr>
          </a:p>
          <a:p>
            <a:pPr>
              <a:spcAft>
                <a:spcPts val="840"/>
              </a:spcAft>
            </a:pPr>
            <a:r>
              <a:rPr lang="en-GB" sz="1800" dirty="0">
                <a:effectLst/>
                <a:latin typeface="Times New Roman" panose="02020603050405020304" pitchFamily="18" charset="0"/>
                <a:ea typeface="Times New Roman" panose="02020603050405020304" pitchFamily="18" charset="0"/>
              </a:rPr>
              <a:t>•	Use emojis moderately.</a:t>
            </a:r>
            <a:endParaRPr lang="en-US" sz="1600" dirty="0">
              <a:effectLst/>
              <a:latin typeface="Times New Roman" panose="02020603050405020304" pitchFamily="18" charset="0"/>
              <a:ea typeface="Times New Roman" panose="02020603050405020304" pitchFamily="18" charset="0"/>
            </a:endParaRPr>
          </a:p>
          <a:p>
            <a:pPr>
              <a:spcAft>
                <a:spcPts val="840"/>
              </a:spcAft>
            </a:pPr>
            <a:r>
              <a:rPr lang="en-GB" sz="1800" dirty="0">
                <a:effectLst/>
                <a:latin typeface="Times New Roman" panose="02020603050405020304" pitchFamily="18" charset="0"/>
                <a:ea typeface="Times New Roman" panose="02020603050405020304" pitchFamily="18" charset="0"/>
              </a:rPr>
              <a:t>•	Do not invent information.</a:t>
            </a:r>
            <a:endParaRPr lang="en-US" sz="1600" dirty="0">
              <a:effectLst/>
              <a:latin typeface="Times New Roman" panose="02020603050405020304" pitchFamily="18" charset="0"/>
              <a:ea typeface="Times New Roman" panose="02020603050405020304" pitchFamily="18" charset="0"/>
            </a:endParaRPr>
          </a:p>
          <a:p>
            <a:pPr>
              <a:spcAft>
                <a:spcPts val="840"/>
              </a:spcAft>
            </a:pPr>
            <a:r>
              <a:rPr lang="en-GB" sz="1800" dirty="0">
                <a:effectLst/>
                <a:latin typeface="Times New Roman" panose="02020603050405020304" pitchFamily="18" charset="0"/>
                <a:ea typeface="Times New Roman" panose="02020603050405020304" pitchFamily="18" charset="0"/>
              </a:rPr>
              <a:t>•	Only use the data provided by the user.</a:t>
            </a:r>
            <a:endParaRPr lang="en-US" sz="16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Format the answer so it looks good in a Telegram message.</a:t>
            </a:r>
            <a:endParaRPr lang="en-US" dirty="0"/>
          </a:p>
        </p:txBody>
      </p:sp>
      <p:sp>
        <p:nvSpPr>
          <p:cNvPr id="14" name="TextBox 13">
            <a:extLst>
              <a:ext uri="{FF2B5EF4-FFF2-40B4-BE49-F238E27FC236}">
                <a16:creationId xmlns:a16="http://schemas.microsoft.com/office/drawing/2014/main" id="{ECDFAFBC-C2D8-4357-E9D6-706D8C0373F1}"/>
              </a:ext>
            </a:extLst>
          </p:cNvPr>
          <p:cNvSpPr txBox="1"/>
          <p:nvPr/>
        </p:nvSpPr>
        <p:spPr>
          <a:xfrm>
            <a:off x="8421648" y="1324094"/>
            <a:ext cx="7320280" cy="369332"/>
          </a:xfrm>
          <a:prstGeom prst="rect">
            <a:avLst/>
          </a:prstGeom>
          <a:noFill/>
        </p:spPr>
        <p:txBody>
          <a:bodyPr wrap="square">
            <a:spAutoFit/>
          </a:bodyPr>
          <a:lstStyle/>
          <a:p>
            <a:pPr lvl="0">
              <a:spcAft>
                <a:spcPts val="840"/>
              </a:spcAft>
              <a:buSzPts val="1000"/>
              <a:tabLst>
                <a:tab pos="457200" algn="l"/>
              </a:tabLst>
            </a:pPr>
            <a:r>
              <a:rPr lang="en-GB" sz="1800" b="1" dirty="0">
                <a:effectLst/>
                <a:latin typeface="Times New Roman" panose="02020603050405020304" pitchFamily="18" charset="0"/>
                <a:ea typeface="Times New Roman" panose="02020603050405020304" pitchFamily="18" charset="0"/>
              </a:rPr>
              <a:t>User Prompt:</a:t>
            </a:r>
            <a:endParaRPr lang="en-US" sz="1600" dirty="0">
              <a:effectLst/>
              <a:latin typeface="Times New Roman" panose="02020603050405020304" pitchFamily="18" charset="0"/>
              <a:ea typeface="Times New Roman" panose="02020603050405020304" pitchFamily="18" charset="0"/>
            </a:endParaRPr>
          </a:p>
        </p:txBody>
      </p:sp>
      <p:sp>
        <p:nvSpPr>
          <p:cNvPr id="15" name="TextBox 14">
            <a:extLst>
              <a:ext uri="{FF2B5EF4-FFF2-40B4-BE49-F238E27FC236}">
                <a16:creationId xmlns:a16="http://schemas.microsoft.com/office/drawing/2014/main" id="{54421B0E-E8DA-5766-76FA-4A554E4D3A82}"/>
              </a:ext>
            </a:extLst>
          </p:cNvPr>
          <p:cNvSpPr txBox="1"/>
          <p:nvPr/>
        </p:nvSpPr>
        <p:spPr>
          <a:xfrm>
            <a:off x="8111768" y="1922681"/>
            <a:ext cx="7320280" cy="2646878"/>
          </a:xfrm>
          <a:prstGeom prst="rect">
            <a:avLst/>
          </a:prstGeom>
          <a:noFill/>
        </p:spPr>
        <p:txBody>
          <a:bodyPr wrap="square">
            <a:spAutoFit/>
          </a:bodyPr>
          <a:lstStyle/>
          <a:p>
            <a:pPr>
              <a:spcAft>
                <a:spcPts val="840"/>
              </a:spcAft>
            </a:pP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Bạn</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là</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một</a:t>
            </a:r>
            <a:r>
              <a:rPr lang="en-GB" sz="1800" dirty="0">
                <a:effectLst/>
                <a:latin typeface="Times New Roman" panose="02020603050405020304" pitchFamily="18" charset="0"/>
                <a:ea typeface="Times New Roman" panose="02020603050405020304" pitchFamily="18" charset="0"/>
              </a:rPr>
              <a:t> chatbot </a:t>
            </a:r>
            <a:r>
              <a:rPr lang="en-GB" sz="1800" dirty="0" err="1">
                <a:effectLst/>
                <a:latin typeface="Times New Roman" panose="02020603050405020304" pitchFamily="18" charset="0"/>
                <a:ea typeface="Times New Roman" panose="02020603050405020304" pitchFamily="18" charset="0"/>
              </a:rPr>
              <a:t>gợi</a:t>
            </a:r>
            <a:r>
              <a:rPr lang="en-GB" sz="1800" dirty="0">
                <a:effectLst/>
                <a:latin typeface="Times New Roman" panose="02020603050405020304" pitchFamily="18" charset="0"/>
                <a:ea typeface="Times New Roman" panose="02020603050405020304" pitchFamily="18" charset="0"/>
              </a:rPr>
              <a:t> ý anime </a:t>
            </a:r>
            <a:r>
              <a:rPr lang="en-GB" sz="1800" dirty="0" err="1">
                <a:effectLst/>
                <a:latin typeface="Times New Roman" panose="02020603050405020304" pitchFamily="18" charset="0"/>
                <a:ea typeface="Times New Roman" panose="02020603050405020304" pitchFamily="18" charset="0"/>
              </a:rPr>
              <a:t>thân</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thiện</a:t>
            </a:r>
            <a:r>
              <a:rPr lang="en-GB" sz="1800" dirty="0">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a:p>
            <a:pPr>
              <a:spcAft>
                <a:spcPts val="840"/>
              </a:spcAft>
            </a:pP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Người</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dùng</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hỏi</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Tuần</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này</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có</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gì</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đáng</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xem</a:t>
            </a:r>
            <a:r>
              <a:rPr lang="en-GB" sz="1800" dirty="0">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a:p>
            <a:pPr>
              <a:spcAft>
                <a:spcPts val="840"/>
              </a:spcAft>
            </a:pP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Dựa</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trên</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dữ</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liệu</a:t>
            </a:r>
            <a:r>
              <a:rPr lang="en-GB" sz="1800" dirty="0">
                <a:effectLst/>
                <a:latin typeface="Times New Roman" panose="02020603050405020304" pitchFamily="18" charset="0"/>
                <a:ea typeface="Times New Roman" panose="02020603050405020304" pitchFamily="18" charset="0"/>
              </a:rPr>
              <a:t> anime </a:t>
            </a:r>
            <a:r>
              <a:rPr lang="en-GB" sz="1800" dirty="0" err="1">
                <a:effectLst/>
                <a:latin typeface="Times New Roman" panose="02020603050405020304" pitchFamily="18" charset="0"/>
                <a:ea typeface="Times New Roman" panose="02020603050405020304" pitchFamily="18" charset="0"/>
              </a:rPr>
              <a:t>đang</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chiếu</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được</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cung</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cấp</a:t>
            </a:r>
            <a:endParaRPr lang="en-US" sz="1600" dirty="0">
              <a:effectLst/>
              <a:latin typeface="Times New Roman" panose="02020603050405020304" pitchFamily="18" charset="0"/>
              <a:ea typeface="Times New Roman" panose="02020603050405020304" pitchFamily="18" charset="0"/>
            </a:endParaRPr>
          </a:p>
          <a:p>
            <a:pPr>
              <a:spcAft>
                <a:spcPts val="840"/>
              </a:spcAft>
            </a:pP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Chọn</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từ</a:t>
            </a:r>
            <a:r>
              <a:rPr lang="en-GB" sz="1800" dirty="0">
                <a:effectLst/>
                <a:latin typeface="Times New Roman" panose="02020603050405020304" pitchFamily="18" charset="0"/>
                <a:ea typeface="Times New Roman" panose="02020603050405020304" pitchFamily="18" charset="0"/>
              </a:rPr>
              <a:t> 3 </a:t>
            </a:r>
            <a:r>
              <a:rPr lang="en-GB" sz="1800" dirty="0" err="1">
                <a:effectLst/>
                <a:latin typeface="Times New Roman" panose="02020603050405020304" pitchFamily="18" charset="0"/>
                <a:ea typeface="Times New Roman" panose="02020603050405020304" pitchFamily="18" charset="0"/>
              </a:rPr>
              <a:t>đến</a:t>
            </a:r>
            <a:r>
              <a:rPr lang="en-GB" sz="1800" dirty="0">
                <a:effectLst/>
                <a:latin typeface="Times New Roman" panose="02020603050405020304" pitchFamily="18" charset="0"/>
                <a:ea typeface="Times New Roman" panose="02020603050405020304" pitchFamily="18" charset="0"/>
              </a:rPr>
              <a:t> 5 anime </a:t>
            </a:r>
            <a:r>
              <a:rPr lang="en-GB" sz="1800" dirty="0" err="1">
                <a:effectLst/>
                <a:latin typeface="Times New Roman" panose="02020603050405020304" pitchFamily="18" charset="0"/>
                <a:ea typeface="Times New Roman" panose="02020603050405020304" pitchFamily="18" charset="0"/>
              </a:rPr>
              <a:t>nổi</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bật</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nhất</a:t>
            </a:r>
            <a:endParaRPr lang="en-US" sz="1600" dirty="0">
              <a:effectLst/>
              <a:latin typeface="Times New Roman" panose="02020603050405020304" pitchFamily="18" charset="0"/>
              <a:ea typeface="Times New Roman" panose="02020603050405020304" pitchFamily="18" charset="0"/>
            </a:endParaRPr>
          </a:p>
          <a:p>
            <a:pPr>
              <a:spcAft>
                <a:spcPts val="840"/>
              </a:spcAft>
            </a:pP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Ưu</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tiên</a:t>
            </a:r>
            <a:r>
              <a:rPr lang="en-GB" sz="1800" dirty="0">
                <a:effectLst/>
                <a:latin typeface="Times New Roman" panose="02020603050405020304" pitchFamily="18" charset="0"/>
                <a:ea typeface="Times New Roman" panose="02020603050405020304" pitchFamily="18" charset="0"/>
              </a:rPr>
              <a:t> anime </a:t>
            </a:r>
            <a:r>
              <a:rPr lang="en-GB" sz="1800" dirty="0" err="1">
                <a:effectLst/>
                <a:latin typeface="Times New Roman" panose="02020603050405020304" pitchFamily="18" charset="0"/>
                <a:ea typeface="Times New Roman" panose="02020603050405020304" pitchFamily="18" charset="0"/>
              </a:rPr>
              <a:t>đang</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được</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nhiều</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người</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quan</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tâm</a:t>
            </a:r>
            <a:endParaRPr lang="en-US" sz="1600" dirty="0">
              <a:effectLst/>
              <a:latin typeface="Times New Roman" panose="02020603050405020304" pitchFamily="18" charset="0"/>
              <a:ea typeface="Times New Roman" panose="02020603050405020304" pitchFamily="18" charset="0"/>
            </a:endParaRPr>
          </a:p>
          <a:p>
            <a:pPr>
              <a:spcAft>
                <a:spcPts val="840"/>
              </a:spcAft>
            </a:pP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Viết</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nội</a:t>
            </a:r>
            <a:r>
              <a:rPr lang="en-GB" sz="1800" dirty="0">
                <a:effectLst/>
                <a:latin typeface="Times New Roman" panose="02020603050405020304" pitchFamily="18" charset="0"/>
                <a:ea typeface="Times New Roman" panose="02020603050405020304" pitchFamily="18" charset="0"/>
              </a:rPr>
              <a:t> dung </a:t>
            </a:r>
            <a:r>
              <a:rPr lang="en-GB" sz="1800" dirty="0" err="1">
                <a:effectLst/>
                <a:latin typeface="Times New Roman" panose="02020603050405020304" pitchFamily="18" charset="0"/>
                <a:ea typeface="Times New Roman" panose="02020603050405020304" pitchFamily="18" charset="0"/>
              </a:rPr>
              <a:t>như</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một</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lời</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gợi</a:t>
            </a:r>
            <a:r>
              <a:rPr lang="en-GB" sz="1800" dirty="0">
                <a:effectLst/>
                <a:latin typeface="Times New Roman" panose="02020603050405020304" pitchFamily="18" charset="0"/>
                <a:ea typeface="Times New Roman" panose="02020603050405020304" pitchFamily="18" charset="0"/>
              </a:rPr>
              <a:t> ý </a:t>
            </a:r>
            <a:r>
              <a:rPr lang="en-GB" sz="1800" dirty="0" err="1">
                <a:effectLst/>
                <a:latin typeface="Times New Roman" panose="02020603050405020304" pitchFamily="18" charset="0"/>
                <a:ea typeface="Times New Roman" panose="02020603050405020304" pitchFamily="18" charset="0"/>
              </a:rPr>
              <a:t>nhẹ</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nhàng</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dễ</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đọc</a:t>
            </a:r>
            <a:endParaRPr lang="en-US" sz="1600" dirty="0">
              <a:effectLst/>
              <a:latin typeface="Times New Roman" panose="02020603050405020304" pitchFamily="18" charset="0"/>
              <a:ea typeface="Times New Roman" panose="02020603050405020304" pitchFamily="18" charset="0"/>
            </a:endParaRPr>
          </a:p>
          <a:p>
            <a:pPr>
              <a:spcAft>
                <a:spcPts val="840"/>
              </a:spcAft>
            </a:pP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Tối</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đa</a:t>
            </a:r>
            <a:r>
              <a:rPr lang="en-GB" sz="1800" dirty="0">
                <a:effectLst/>
                <a:latin typeface="Times New Roman" panose="02020603050405020304" pitchFamily="18" charset="0"/>
                <a:ea typeface="Times New Roman" panose="02020603050405020304" pitchFamily="18" charset="0"/>
              </a:rPr>
              <a:t> 6 </a:t>
            </a:r>
            <a:r>
              <a:rPr lang="en-GB" sz="1800" dirty="0" err="1">
                <a:effectLst/>
                <a:latin typeface="Times New Roman" panose="02020603050405020304" pitchFamily="18" charset="0"/>
                <a:ea typeface="Times New Roman" panose="02020603050405020304" pitchFamily="18" charset="0"/>
              </a:rPr>
              <a:t>đến</a:t>
            </a:r>
            <a:r>
              <a:rPr lang="en-GB" sz="1800" dirty="0">
                <a:effectLst/>
                <a:latin typeface="Times New Roman" panose="02020603050405020304" pitchFamily="18" charset="0"/>
                <a:ea typeface="Times New Roman" panose="02020603050405020304" pitchFamily="18" charset="0"/>
              </a:rPr>
              <a:t> 7 </a:t>
            </a:r>
            <a:r>
              <a:rPr lang="en-GB" sz="1800" dirty="0" err="1">
                <a:effectLst/>
                <a:latin typeface="Times New Roman" panose="02020603050405020304" pitchFamily="18" charset="0"/>
                <a:ea typeface="Times New Roman" panose="02020603050405020304" pitchFamily="18" charset="0"/>
              </a:rPr>
              <a:t>dòng</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ngắn</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319173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4">
                                            <p:txEl>
                                              <p:pRg st="0" end="0"/>
                                            </p:txEl>
                                          </p:spTgt>
                                        </p:tgtEl>
                                        <p:attrNameLst>
                                          <p:attrName>style.visibility</p:attrName>
                                        </p:attrNameLst>
                                      </p:cBhvr>
                                      <p:to>
                                        <p:strVal val="visible"/>
                                      </p:to>
                                    </p:set>
                                    <p:animEffect transition="in" filter="fade">
                                      <p:cBhvr>
                                        <p:cTn id="21" dur="500"/>
                                        <p:tgtEl>
                                          <p:spTgt spid="14">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5">
                                            <p:txEl>
                                              <p:pRg st="2" end="2"/>
                                            </p:txEl>
                                          </p:spTgt>
                                        </p:tgtEl>
                                        <p:attrNameLst>
                                          <p:attrName>style.visibility</p:attrName>
                                        </p:attrNameLst>
                                      </p:cBhvr>
                                      <p:to>
                                        <p:strVal val="visible"/>
                                      </p:to>
                                    </p:set>
                                    <p:animEffect transition="in" filter="fade">
                                      <p:cBhvr>
                                        <p:cTn id="26"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55821"/>
            <a:ext cx="6782753" cy="708779"/>
          </a:xfrm>
          <a:prstGeom prst="rect">
            <a:avLst/>
          </a:prstGeom>
          <a:noFill/>
          <a:ln/>
        </p:spPr>
        <p:txBody>
          <a:bodyPr wrap="none" lIns="0" tIns="0" rIns="0" bIns="0" rtlCol="0" anchor="t"/>
          <a:lstStyle/>
          <a:p>
            <a:pPr marL="0" indent="0" algn="l">
              <a:lnSpc>
                <a:spcPts val="5550"/>
              </a:lnSpc>
              <a:buNone/>
            </a:pPr>
            <a:r>
              <a:rPr lang="vi-VN" sz="4450" dirty="0">
                <a:solidFill>
                  <a:srgbClr val="2C2926"/>
                </a:solidFill>
                <a:latin typeface="Bricolage Grotesque Semi Bold" pitchFamily="34" charset="0"/>
                <a:ea typeface="Bricolage Grotesque Semi Bold" pitchFamily="34" charset="-122"/>
                <a:cs typeface="Bricolage Grotesque Semi Bold" pitchFamily="34" charset="-120"/>
              </a:rPr>
              <a:t>4. </a:t>
            </a:r>
            <a:r>
              <a:rPr lang="en-US" sz="4450" dirty="0" err="1">
                <a:solidFill>
                  <a:srgbClr val="2C2926"/>
                </a:solidFill>
                <a:latin typeface="Bricolage Grotesque Semi Bold" pitchFamily="34" charset="0"/>
                <a:ea typeface="Bricolage Grotesque Semi Bold" pitchFamily="34" charset="-122"/>
                <a:cs typeface="Bricolage Grotesque Semi Bold" pitchFamily="34" charset="-120"/>
              </a:rPr>
              <a:t>Luồng</a:t>
            </a:r>
            <a:r>
              <a:rPr lang="en-US" sz="4450" dirty="0">
                <a:solidFill>
                  <a:srgbClr val="2C2926"/>
                </a:solidFill>
                <a:latin typeface="Bricolage Grotesque Semi Bold" pitchFamily="34" charset="0"/>
                <a:ea typeface="Bricolage Grotesque Semi Bold" pitchFamily="34" charset="-122"/>
                <a:cs typeface="Bricolage Grotesque Semi Bold" pitchFamily="34" charset="-120"/>
              </a:rPr>
              <a:t> </a:t>
            </a:r>
            <a:r>
              <a:rPr lang="en-US" sz="4450" dirty="0" err="1">
                <a:solidFill>
                  <a:srgbClr val="2C2926"/>
                </a:solidFill>
                <a:latin typeface="Bricolage Grotesque Semi Bold" pitchFamily="34" charset="0"/>
                <a:ea typeface="Bricolage Grotesque Semi Bold" pitchFamily="34" charset="-122"/>
                <a:cs typeface="Bricolage Grotesque Semi Bold" pitchFamily="34" charset="-120"/>
              </a:rPr>
              <a:t>Dữ</a:t>
            </a:r>
            <a:r>
              <a:rPr lang="en-US" sz="4450" dirty="0">
                <a:solidFill>
                  <a:srgbClr val="2C2926"/>
                </a:solidFill>
                <a:latin typeface="Bricolage Grotesque Semi Bold" pitchFamily="34" charset="0"/>
                <a:ea typeface="Bricolage Grotesque Semi Bold" pitchFamily="34" charset="-122"/>
                <a:cs typeface="Bricolage Grotesque Semi Bold" pitchFamily="34" charset="-120"/>
              </a:rPr>
              <a:t> </a:t>
            </a:r>
            <a:r>
              <a:rPr lang="en-US" sz="4450" dirty="0" err="1">
                <a:solidFill>
                  <a:srgbClr val="2C2926"/>
                </a:solidFill>
                <a:latin typeface="Bricolage Grotesque Semi Bold" pitchFamily="34" charset="0"/>
                <a:ea typeface="Bricolage Grotesque Semi Bold" pitchFamily="34" charset="-122"/>
                <a:cs typeface="Bricolage Grotesque Semi Bold" pitchFamily="34" charset="-120"/>
              </a:rPr>
              <a:t>Liệu</a:t>
            </a:r>
            <a:endParaRPr lang="en-US" sz="4450" dirty="0"/>
          </a:p>
        </p:txBody>
      </p:sp>
      <p:sp>
        <p:nvSpPr>
          <p:cNvPr id="15" name="Rectangle 14">
            <a:extLst>
              <a:ext uri="{FF2B5EF4-FFF2-40B4-BE49-F238E27FC236}">
                <a16:creationId xmlns:a16="http://schemas.microsoft.com/office/drawing/2014/main" id="{F1FB2CA2-21DD-17C2-59D3-7A0A8097BDB9}"/>
              </a:ext>
            </a:extLst>
          </p:cNvPr>
          <p:cNvSpPr/>
          <p:nvPr/>
        </p:nvSpPr>
        <p:spPr>
          <a:xfrm>
            <a:off x="12790843" y="7508838"/>
            <a:ext cx="1839557" cy="7207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16918B3F-A41A-3B94-1AED-7680F71B35B9}"/>
              </a:ext>
            </a:extLst>
          </p:cNvPr>
          <p:cNvPicPr>
            <a:picLocks noChangeAspect="1"/>
          </p:cNvPicPr>
          <p:nvPr/>
        </p:nvPicPr>
        <p:blipFill>
          <a:blip r:embed="rId3"/>
          <a:stretch>
            <a:fillRect/>
          </a:stretch>
        </p:blipFill>
        <p:spPr>
          <a:xfrm>
            <a:off x="8611010" y="1885799"/>
            <a:ext cx="4717644" cy="3307934"/>
          </a:xfrm>
          <a:prstGeom prst="rect">
            <a:avLst/>
          </a:prstGeom>
        </p:spPr>
      </p:pic>
      <p:sp>
        <p:nvSpPr>
          <p:cNvPr id="20" name="TextBox 19">
            <a:extLst>
              <a:ext uri="{FF2B5EF4-FFF2-40B4-BE49-F238E27FC236}">
                <a16:creationId xmlns:a16="http://schemas.microsoft.com/office/drawing/2014/main" id="{53F887B5-D7BE-E0AD-45AD-4FBE79D4E699}"/>
              </a:ext>
            </a:extLst>
          </p:cNvPr>
          <p:cNvSpPr txBox="1"/>
          <p:nvPr/>
        </p:nvSpPr>
        <p:spPr>
          <a:xfrm>
            <a:off x="793790" y="2331411"/>
            <a:ext cx="7320280" cy="2862322"/>
          </a:xfrm>
          <a:prstGeom prst="rect">
            <a:avLst/>
          </a:prstGeom>
          <a:noFill/>
        </p:spPr>
        <p:txBody>
          <a:bodyPr wrap="square">
            <a:spAutoFit/>
          </a:bodyPr>
          <a:lstStyle/>
          <a:p>
            <a:r>
              <a:rPr lang="en-GB" sz="1800" dirty="0">
                <a:effectLst/>
                <a:latin typeface="Times New Roman" panose="02020603050405020304" pitchFamily="18" charset="0"/>
                <a:ea typeface="Times New Roman" panose="02020603050405020304" pitchFamily="18" charset="0"/>
              </a:rPr>
              <a:t>JSON → If Check: </a:t>
            </a:r>
            <a:r>
              <a:rPr lang="en-GB" sz="1800" dirty="0" err="1">
                <a:effectLst/>
                <a:latin typeface="Times New Roman" panose="02020603050405020304" pitchFamily="18" charset="0"/>
                <a:ea typeface="Times New Roman" panose="02020603050405020304" pitchFamily="18" charset="0"/>
              </a:rPr>
              <a:t>Kiểm</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tra</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loại</a:t>
            </a:r>
            <a:r>
              <a:rPr lang="en-GB" sz="1800" dirty="0">
                <a:effectLst/>
                <a:latin typeface="Times New Roman" panose="02020603050405020304" pitchFamily="18" charset="0"/>
                <a:ea typeface="Times New Roman" panose="02020603050405020304" pitchFamily="18" charset="0"/>
              </a:rPr>
              <a:t> tin </a:t>
            </a:r>
            <a:r>
              <a:rPr lang="en-GB" sz="1800" dirty="0" err="1">
                <a:effectLst/>
                <a:latin typeface="Times New Roman" panose="02020603050405020304" pitchFamily="18" charset="0"/>
                <a:ea typeface="Times New Roman" panose="02020603050405020304" pitchFamily="18" charset="0"/>
              </a:rPr>
              <a:t>nhắn</a:t>
            </a:r>
            <a:r>
              <a:rPr lang="en-GB" sz="1800" dirty="0">
                <a:effectLst/>
                <a:latin typeface="Times New Roman" panose="02020603050405020304" pitchFamily="18" charset="0"/>
                <a:ea typeface="Times New Roman" panose="02020603050405020304" pitchFamily="18" charset="0"/>
              </a:rPr>
              <a:t> (text hay image)</a:t>
            </a:r>
            <a:endParaRPr lang="en-US" sz="16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2.	JSON → String (File ID): </a:t>
            </a:r>
            <a:r>
              <a:rPr lang="en-GB" sz="1800" dirty="0" err="1">
                <a:effectLst/>
                <a:latin typeface="Times New Roman" panose="02020603050405020304" pitchFamily="18" charset="0"/>
                <a:ea typeface="Times New Roman" panose="02020603050405020304" pitchFamily="18" charset="0"/>
              </a:rPr>
              <a:t>Trích</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xuất</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file_id</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từ</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mảng</a:t>
            </a:r>
            <a:r>
              <a:rPr lang="en-GB" sz="1800" dirty="0">
                <a:effectLst/>
                <a:latin typeface="Times New Roman" panose="02020603050405020304" pitchFamily="18" charset="0"/>
                <a:ea typeface="Times New Roman" panose="02020603050405020304" pitchFamily="18" charset="0"/>
              </a:rPr>
              <a:t> photo </a:t>
            </a:r>
            <a:r>
              <a:rPr lang="en-GB" sz="1800" dirty="0" err="1">
                <a:effectLst/>
                <a:latin typeface="Times New Roman" panose="02020603050405020304" pitchFamily="18" charset="0"/>
                <a:ea typeface="Times New Roman" panose="02020603050405020304" pitchFamily="18" charset="0"/>
              </a:rPr>
              <a:t>bằng</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thuật</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toán</a:t>
            </a:r>
            <a:r>
              <a:rPr lang="en-GB" sz="1800" dirty="0">
                <a:effectLst/>
                <a:latin typeface="Times New Roman" panose="02020603050405020304" pitchFamily="18" charset="0"/>
                <a:ea typeface="Times New Roman" panose="02020603050405020304" pitchFamily="18" charset="0"/>
              </a:rPr>
              <a:t> reverse()[0]</a:t>
            </a:r>
            <a:endParaRPr lang="en-US" sz="16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3.	String (File ID) → String (File Path): </a:t>
            </a:r>
            <a:r>
              <a:rPr lang="en-GB" sz="1800" dirty="0" err="1">
                <a:effectLst/>
                <a:latin typeface="Times New Roman" panose="02020603050405020304" pitchFamily="18" charset="0"/>
                <a:ea typeface="Times New Roman" panose="02020603050405020304" pitchFamily="18" charset="0"/>
              </a:rPr>
              <a:t>Gọi</a:t>
            </a:r>
            <a:r>
              <a:rPr lang="en-GB" sz="1800" dirty="0">
                <a:effectLst/>
                <a:latin typeface="Times New Roman" panose="02020603050405020304" pitchFamily="18" charset="0"/>
                <a:ea typeface="Times New Roman" panose="02020603050405020304" pitchFamily="18" charset="0"/>
              </a:rPr>
              <a:t> Telegram API </a:t>
            </a:r>
            <a:r>
              <a:rPr lang="en-GB" sz="1800" dirty="0" err="1">
                <a:effectLst/>
                <a:latin typeface="Times New Roman" panose="02020603050405020304" pitchFamily="18" charset="0"/>
                <a:ea typeface="Times New Roman" panose="02020603050405020304" pitchFamily="18" charset="0"/>
              </a:rPr>
              <a:t>getFile</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để</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lấy</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file_path</a:t>
            </a:r>
            <a:endParaRPr lang="en-US" sz="16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4.	String (File Path) → Binary Image: </a:t>
            </a:r>
            <a:r>
              <a:rPr lang="en-GB" sz="1800" dirty="0" err="1">
                <a:effectLst/>
                <a:latin typeface="Times New Roman" panose="02020603050405020304" pitchFamily="18" charset="0"/>
                <a:ea typeface="Times New Roman" panose="02020603050405020304" pitchFamily="18" charset="0"/>
              </a:rPr>
              <a:t>Tải</a:t>
            </a:r>
            <a:r>
              <a:rPr lang="en-GB" sz="1800" dirty="0">
                <a:effectLst/>
                <a:latin typeface="Times New Roman" panose="02020603050405020304" pitchFamily="18" charset="0"/>
                <a:ea typeface="Times New Roman" panose="02020603050405020304" pitchFamily="18" charset="0"/>
              </a:rPr>
              <a:t> file </a:t>
            </a:r>
            <a:r>
              <a:rPr lang="en-GB" sz="1800" dirty="0" err="1">
                <a:effectLst/>
                <a:latin typeface="Times New Roman" panose="02020603050405020304" pitchFamily="18" charset="0"/>
                <a:ea typeface="Times New Roman" panose="02020603050405020304" pitchFamily="18" charset="0"/>
              </a:rPr>
              <a:t>từ</a:t>
            </a:r>
            <a:r>
              <a:rPr lang="en-GB" sz="1800" dirty="0">
                <a:effectLst/>
                <a:latin typeface="Times New Roman" panose="02020603050405020304" pitchFamily="18" charset="0"/>
                <a:ea typeface="Times New Roman" panose="02020603050405020304" pitchFamily="18" charset="0"/>
              </a:rPr>
              <a:t> Telegram server </a:t>
            </a:r>
            <a:r>
              <a:rPr lang="en-GB" sz="1800" dirty="0" err="1">
                <a:effectLst/>
                <a:latin typeface="Times New Roman" panose="02020603050405020304" pitchFamily="18" charset="0"/>
                <a:ea typeface="Times New Roman" panose="02020603050405020304" pitchFamily="18" charset="0"/>
              </a:rPr>
              <a:t>và</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tự</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động</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gán</a:t>
            </a:r>
            <a:r>
              <a:rPr lang="en-GB" sz="1800" dirty="0">
                <a:effectLst/>
                <a:latin typeface="Times New Roman" panose="02020603050405020304" pitchFamily="18" charset="0"/>
                <a:ea typeface="Times New Roman" panose="02020603050405020304" pitchFamily="18" charset="0"/>
              </a:rPr>
              <a:t> MIME type image/jpeg </a:t>
            </a:r>
            <a:r>
              <a:rPr lang="en-GB" sz="1800" dirty="0" err="1">
                <a:effectLst/>
                <a:latin typeface="Times New Roman" panose="02020603050405020304" pitchFamily="18" charset="0"/>
                <a:ea typeface="Times New Roman" panose="02020603050405020304" pitchFamily="18" charset="0"/>
              </a:rPr>
              <a:t>thông</a:t>
            </a:r>
            <a:r>
              <a:rPr lang="en-GB" sz="1800" dirty="0">
                <a:effectLst/>
                <a:latin typeface="Times New Roman" panose="02020603050405020304" pitchFamily="18" charset="0"/>
                <a:ea typeface="Times New Roman" panose="02020603050405020304" pitchFamily="18" charset="0"/>
              </a:rPr>
              <a:t> qua </a:t>
            </a:r>
            <a:r>
              <a:rPr lang="en-GB" sz="1800" dirty="0" err="1">
                <a:effectLst/>
                <a:latin typeface="Times New Roman" panose="02020603050405020304" pitchFamily="18" charset="0"/>
                <a:ea typeface="Times New Roman" panose="02020603050405020304" pitchFamily="18" charset="0"/>
              </a:rPr>
              <a:t>outputPropertyName</a:t>
            </a:r>
            <a:endParaRPr lang="en-US" sz="16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5.	Binary Image → Text: </a:t>
            </a:r>
            <a:r>
              <a:rPr lang="en-GB" sz="1800" dirty="0" err="1">
                <a:effectLst/>
                <a:latin typeface="Times New Roman" panose="02020603050405020304" pitchFamily="18" charset="0"/>
                <a:ea typeface="Times New Roman" panose="02020603050405020304" pitchFamily="18" charset="0"/>
              </a:rPr>
              <a:t>Xử</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lý</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bằng</a:t>
            </a:r>
            <a:r>
              <a:rPr lang="en-GB" sz="1800" dirty="0">
                <a:effectLst/>
                <a:latin typeface="Times New Roman" panose="02020603050405020304" pitchFamily="18" charset="0"/>
                <a:ea typeface="Times New Roman" panose="02020603050405020304" pitchFamily="18" charset="0"/>
              </a:rPr>
              <a:t> Google Gemini 2.5 Flash </a:t>
            </a:r>
            <a:r>
              <a:rPr lang="en-GB" sz="1800" dirty="0" err="1">
                <a:effectLst/>
                <a:latin typeface="Times New Roman" panose="02020603050405020304" pitchFamily="18" charset="0"/>
                <a:ea typeface="Times New Roman" panose="02020603050405020304" pitchFamily="18" charset="0"/>
              </a:rPr>
              <a:t>để</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phân</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tích</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và</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trích</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xuất</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thông</a:t>
            </a:r>
            <a:r>
              <a:rPr lang="en-GB" sz="1800" dirty="0">
                <a:effectLst/>
                <a:latin typeface="Times New Roman" panose="02020603050405020304" pitchFamily="18" charset="0"/>
                <a:ea typeface="Times New Roman" panose="02020603050405020304" pitchFamily="18" charset="0"/>
              </a:rPr>
              <a:t> tin</a:t>
            </a:r>
            <a:endParaRPr lang="en-US" sz="16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6.	Text → User: </a:t>
            </a:r>
            <a:r>
              <a:rPr lang="en-GB" sz="1800" dirty="0" err="1">
                <a:effectLst/>
                <a:latin typeface="Times New Roman" panose="02020603050405020304" pitchFamily="18" charset="0"/>
                <a:ea typeface="Times New Roman" panose="02020603050405020304" pitchFamily="18" charset="0"/>
              </a:rPr>
              <a:t>Gửi</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kết</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quả</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về</a:t>
            </a:r>
            <a:r>
              <a:rPr lang="en-GB" sz="1800" dirty="0">
                <a:effectLst/>
                <a:latin typeface="Times New Roman" panose="02020603050405020304" pitchFamily="18" charset="0"/>
                <a:ea typeface="Times New Roman" panose="02020603050405020304" pitchFamily="18" charset="0"/>
              </a:rPr>
              <a:t> Telegram </a:t>
            </a:r>
            <a:r>
              <a:rPr lang="en-GB" sz="1800" dirty="0" err="1">
                <a:effectLst/>
                <a:latin typeface="Times New Roman" panose="02020603050405020304" pitchFamily="18" charset="0"/>
                <a:ea typeface="Times New Roman" panose="02020603050405020304" pitchFamily="18" charset="0"/>
              </a:rPr>
              <a:t>cho</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người</a:t>
            </a:r>
            <a:r>
              <a:rPr lang="en-GB" sz="1800" dirty="0">
                <a:effectLst/>
                <a:latin typeface="Times New Roman" panose="02020603050405020304" pitchFamily="18" charset="0"/>
                <a:ea typeface="Times New Roman" panose="02020603050405020304" pitchFamily="18" charset="0"/>
              </a:rPr>
              <a:t> dung</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167263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855821"/>
            <a:ext cx="6782753" cy="708779"/>
          </a:xfrm>
          <a:prstGeom prst="rect">
            <a:avLst/>
          </a:prstGeom>
          <a:noFill/>
          <a:ln/>
        </p:spPr>
        <p:txBody>
          <a:bodyPr wrap="none" lIns="0" tIns="0" rIns="0" bIns="0" rtlCol="0" anchor="t"/>
          <a:lstStyle/>
          <a:p>
            <a:pPr marL="0" indent="0" algn="l">
              <a:lnSpc>
                <a:spcPts val="5550"/>
              </a:lnSpc>
              <a:buNone/>
            </a:pPr>
            <a:r>
              <a:rPr lang="en-US" sz="4450" dirty="0">
                <a:solidFill>
                  <a:srgbClr val="2C2926"/>
                </a:solidFill>
                <a:latin typeface="Bricolage Grotesque Semi Bold" pitchFamily="34" charset="0"/>
                <a:ea typeface="Bricolage Grotesque Semi Bold" pitchFamily="34" charset="-122"/>
                <a:cs typeface="Bricolage Grotesque Semi Bold" pitchFamily="34" charset="-120"/>
              </a:rPr>
              <a:t>Luồng Dữ Liệu: Xử Lý Ảnh</a:t>
            </a:r>
            <a:endParaRPr lang="en-US" sz="4450" dirty="0"/>
          </a:p>
        </p:txBody>
      </p:sp>
      <p:pic>
        <p:nvPicPr>
          <p:cNvPr id="3" name="Image 0" descr="preencoded.png"/>
          <p:cNvPicPr>
            <a:picLocks noChangeAspect="1"/>
          </p:cNvPicPr>
          <p:nvPr/>
        </p:nvPicPr>
        <p:blipFill>
          <a:blip r:embed="rId3"/>
          <a:stretch>
            <a:fillRect/>
          </a:stretch>
        </p:blipFill>
        <p:spPr>
          <a:xfrm>
            <a:off x="1002625" y="2018228"/>
            <a:ext cx="12625030" cy="4737497"/>
          </a:xfrm>
          <a:prstGeom prst="rect">
            <a:avLst/>
          </a:prstGeom>
        </p:spPr>
      </p:pic>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784546" y="3224954"/>
            <a:ext cx="652135" cy="652135"/>
          </a:xfrm>
          <a:prstGeom prst="rect">
            <a:avLst/>
          </a:prstGeom>
        </p:spPr>
      </p:pic>
      <p:sp>
        <p:nvSpPr>
          <p:cNvPr id="5" name="Text 1"/>
          <p:cNvSpPr/>
          <p:nvPr/>
        </p:nvSpPr>
        <p:spPr>
          <a:xfrm>
            <a:off x="11203535" y="5422241"/>
            <a:ext cx="1904234" cy="733652"/>
          </a:xfrm>
          <a:prstGeom prst="rect">
            <a:avLst/>
          </a:prstGeom>
          <a:noFill/>
          <a:ln/>
        </p:spPr>
        <p:txBody>
          <a:bodyPr wrap="square" lIns="0" tIns="0" rIns="0" bIns="0" rtlCol="0" anchor="t"/>
          <a:lstStyle/>
          <a:p>
            <a:pPr marL="0" indent="0" algn="ctr">
              <a:lnSpc>
                <a:spcPts val="2850"/>
              </a:lnSpc>
              <a:buNone/>
            </a:pPr>
            <a:r>
              <a:rPr lang="en-US" sz="2300" dirty="0">
                <a:solidFill>
                  <a:srgbClr val="2C2926"/>
                </a:solidFill>
                <a:latin typeface="Bricolage Grotesque Semi Bold" pitchFamily="34" charset="0"/>
                <a:ea typeface="Bricolage Grotesque Semi Bold" pitchFamily="34" charset="-122"/>
                <a:cs typeface="Bricolage Grotesque Semi Bold" pitchFamily="34" charset="-120"/>
              </a:rPr>
              <a:t>Download &amp; Analyze</a:t>
            </a:r>
            <a:endParaRPr lang="en-US" sz="2300" dirty="0"/>
          </a:p>
        </p:txBody>
      </p:sp>
      <p:pic>
        <p:nvPicPr>
          <p:cNvPr id="6"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97120" y="3226177"/>
            <a:ext cx="652135" cy="652135"/>
          </a:xfrm>
          <a:prstGeom prst="rect">
            <a:avLst/>
          </a:prstGeom>
        </p:spPr>
      </p:pic>
      <p:sp>
        <p:nvSpPr>
          <p:cNvPr id="7" name="Text 2"/>
          <p:cNvSpPr/>
          <p:nvPr/>
        </p:nvSpPr>
        <p:spPr>
          <a:xfrm>
            <a:off x="8803678" y="5422241"/>
            <a:ext cx="1904234" cy="733652"/>
          </a:xfrm>
          <a:prstGeom prst="rect">
            <a:avLst/>
          </a:prstGeom>
          <a:noFill/>
          <a:ln/>
        </p:spPr>
        <p:txBody>
          <a:bodyPr wrap="square" lIns="0" tIns="0" rIns="0" bIns="0" rtlCol="0" anchor="t"/>
          <a:lstStyle/>
          <a:p>
            <a:pPr marL="0" indent="0" algn="ctr">
              <a:lnSpc>
                <a:spcPts val="2850"/>
              </a:lnSpc>
              <a:buNone/>
            </a:pPr>
            <a:r>
              <a:rPr lang="en-US" sz="2300" dirty="0">
                <a:solidFill>
                  <a:srgbClr val="2C2926"/>
                </a:solidFill>
                <a:latin typeface="Bricolage Grotesque Semi Bold" pitchFamily="34" charset="0"/>
                <a:ea typeface="Bricolage Grotesque Semi Bold" pitchFamily="34" charset="-122"/>
                <a:cs typeface="Bricolage Grotesque Semi Bold" pitchFamily="34" charset="-120"/>
              </a:rPr>
              <a:t>Extract file_id</a:t>
            </a:r>
            <a:endParaRPr lang="en-US" sz="2300" dirty="0"/>
          </a:p>
        </p:txBody>
      </p:sp>
      <p:pic>
        <p:nvPicPr>
          <p:cNvPr id="8"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10307" y="3226177"/>
            <a:ext cx="652135" cy="652135"/>
          </a:xfrm>
          <a:prstGeom prst="rect">
            <a:avLst/>
          </a:prstGeom>
        </p:spPr>
      </p:pic>
      <p:sp>
        <p:nvSpPr>
          <p:cNvPr id="9" name="Text 3"/>
          <p:cNvSpPr/>
          <p:nvPr/>
        </p:nvSpPr>
        <p:spPr>
          <a:xfrm>
            <a:off x="6416864" y="5422241"/>
            <a:ext cx="1904234" cy="733652"/>
          </a:xfrm>
          <a:prstGeom prst="rect">
            <a:avLst/>
          </a:prstGeom>
          <a:noFill/>
          <a:ln/>
        </p:spPr>
        <p:txBody>
          <a:bodyPr wrap="square" lIns="0" tIns="0" rIns="0" bIns="0" rtlCol="0" anchor="t"/>
          <a:lstStyle/>
          <a:p>
            <a:pPr marL="0" indent="0" algn="ctr">
              <a:lnSpc>
                <a:spcPts val="2850"/>
              </a:lnSpc>
              <a:buNone/>
            </a:pPr>
            <a:r>
              <a:rPr lang="en-US" sz="2300" dirty="0">
                <a:solidFill>
                  <a:srgbClr val="2C2926"/>
                </a:solidFill>
                <a:latin typeface="Bricolage Grotesque Semi Bold" pitchFamily="34" charset="0"/>
                <a:ea typeface="Bricolage Grotesque Semi Bold" pitchFamily="34" charset="-122"/>
                <a:cs typeface="Bricolage Grotesque Semi Bold" pitchFamily="34" charset="-120"/>
              </a:rPr>
              <a:t>Text Processing</a:t>
            </a:r>
            <a:endParaRPr lang="en-US" sz="2300" dirty="0"/>
          </a:p>
        </p:txBody>
      </p:sp>
      <p:pic>
        <p:nvPicPr>
          <p:cNvPr id="10"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23493" y="3226177"/>
            <a:ext cx="652135" cy="652135"/>
          </a:xfrm>
          <a:prstGeom prst="rect">
            <a:avLst/>
          </a:prstGeom>
        </p:spPr>
      </p:pic>
      <p:sp>
        <p:nvSpPr>
          <p:cNvPr id="11" name="Text 4"/>
          <p:cNvSpPr/>
          <p:nvPr/>
        </p:nvSpPr>
        <p:spPr>
          <a:xfrm>
            <a:off x="4030050" y="5605654"/>
            <a:ext cx="1904234" cy="366826"/>
          </a:xfrm>
          <a:prstGeom prst="rect">
            <a:avLst/>
          </a:prstGeom>
          <a:noFill/>
          <a:ln/>
        </p:spPr>
        <p:txBody>
          <a:bodyPr wrap="none" lIns="0" tIns="0" rIns="0" bIns="0" rtlCol="0" anchor="t"/>
          <a:lstStyle/>
          <a:p>
            <a:pPr marL="0" indent="0" algn="ctr">
              <a:lnSpc>
                <a:spcPts val="2850"/>
              </a:lnSpc>
              <a:buNone/>
            </a:pPr>
            <a:r>
              <a:rPr lang="en-US" sz="2300" dirty="0">
                <a:solidFill>
                  <a:srgbClr val="2C2926"/>
                </a:solidFill>
                <a:latin typeface="Bricolage Grotesque Semi Bold" pitchFamily="34" charset="0"/>
                <a:ea typeface="Bricolage Grotesque Semi Bold" pitchFamily="34" charset="-122"/>
                <a:cs typeface="Bricolage Grotesque Semi Bold" pitchFamily="34" charset="-120"/>
              </a:rPr>
              <a:t>Check Text?</a:t>
            </a:r>
            <a:endParaRPr lang="en-US" sz="2300" dirty="0"/>
          </a:p>
        </p:txBody>
      </p:sp>
      <p:pic>
        <p:nvPicPr>
          <p:cNvPr id="12" name="Image 5"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223636" y="3226177"/>
            <a:ext cx="652135" cy="652135"/>
          </a:xfrm>
          <a:prstGeom prst="rect">
            <a:avLst/>
          </a:prstGeom>
        </p:spPr>
      </p:pic>
      <p:sp>
        <p:nvSpPr>
          <p:cNvPr id="13" name="Text 5"/>
          <p:cNvSpPr/>
          <p:nvPr/>
        </p:nvSpPr>
        <p:spPr>
          <a:xfrm>
            <a:off x="1591065" y="5422241"/>
            <a:ext cx="1904234" cy="733652"/>
          </a:xfrm>
          <a:prstGeom prst="rect">
            <a:avLst/>
          </a:prstGeom>
          <a:noFill/>
          <a:ln/>
        </p:spPr>
        <p:txBody>
          <a:bodyPr wrap="square" lIns="0" tIns="0" rIns="0" bIns="0" rtlCol="0" anchor="t"/>
          <a:lstStyle/>
          <a:p>
            <a:pPr marL="0" indent="0" algn="ctr">
              <a:lnSpc>
                <a:spcPts val="2850"/>
              </a:lnSpc>
              <a:buNone/>
            </a:pPr>
            <a:r>
              <a:rPr lang="en-US" sz="2300" dirty="0">
                <a:solidFill>
                  <a:srgbClr val="2C2926"/>
                </a:solidFill>
                <a:latin typeface="Bricolage Grotesque Semi Bold" pitchFamily="34" charset="0"/>
                <a:ea typeface="Bricolage Grotesque Semi Bold" pitchFamily="34" charset="-122"/>
                <a:cs typeface="Bricolage Grotesque Semi Bold" pitchFamily="34" charset="-120"/>
              </a:rPr>
              <a:t>Telegram Trigger</a:t>
            </a:r>
            <a:endParaRPr lang="en-US" sz="2300" dirty="0"/>
          </a:p>
        </p:txBody>
      </p:sp>
      <p:sp>
        <p:nvSpPr>
          <p:cNvPr id="14" name="Text 6"/>
          <p:cNvSpPr/>
          <p:nvPr/>
        </p:nvSpPr>
        <p:spPr>
          <a:xfrm>
            <a:off x="793790" y="7010876"/>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C2926"/>
                </a:solidFill>
                <a:latin typeface="Inter" pitchFamily="34" charset="0"/>
                <a:ea typeface="Inter" pitchFamily="34" charset="-122"/>
                <a:cs typeface="Inter" pitchFamily="34" charset="-120"/>
              </a:rPr>
              <a:t>Quy trình biến đổi dữ liệu khi người dùng gửi ảnh, từ JSON đến phân tích AI và phản hồi.</a:t>
            </a:r>
            <a:endParaRPr lang="en-US" sz="1750" dirty="0"/>
          </a:p>
        </p:txBody>
      </p:sp>
      <p:sp>
        <p:nvSpPr>
          <p:cNvPr id="15" name="Rectangle 14">
            <a:extLst>
              <a:ext uri="{FF2B5EF4-FFF2-40B4-BE49-F238E27FC236}">
                <a16:creationId xmlns:a16="http://schemas.microsoft.com/office/drawing/2014/main" id="{F1FB2CA2-21DD-17C2-59D3-7A0A8097BDB9}"/>
              </a:ext>
            </a:extLst>
          </p:cNvPr>
          <p:cNvSpPr/>
          <p:nvPr/>
        </p:nvSpPr>
        <p:spPr>
          <a:xfrm>
            <a:off x="12790843" y="7508838"/>
            <a:ext cx="1839557" cy="7207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6161" y="562689"/>
            <a:ext cx="7470934" cy="639485"/>
          </a:xfrm>
          <a:prstGeom prst="rect">
            <a:avLst/>
          </a:prstGeom>
          <a:noFill/>
          <a:ln/>
        </p:spPr>
        <p:txBody>
          <a:bodyPr wrap="none" lIns="0" tIns="0" rIns="0" bIns="0" rtlCol="0" anchor="t"/>
          <a:lstStyle/>
          <a:p>
            <a:pPr marL="0" indent="0" algn="l">
              <a:lnSpc>
                <a:spcPts val="5000"/>
              </a:lnSpc>
              <a:buNone/>
            </a:pPr>
            <a:r>
              <a:rPr lang="en-US" sz="4000" dirty="0">
                <a:solidFill>
                  <a:srgbClr val="2C2926"/>
                </a:solidFill>
                <a:latin typeface="Bricolage Grotesque Semi Bold" pitchFamily="34" charset="0"/>
                <a:ea typeface="Bricolage Grotesque Semi Bold" pitchFamily="34" charset="-122"/>
                <a:cs typeface="Bricolage Grotesque Semi Bold" pitchFamily="34" charset="-120"/>
              </a:rPr>
              <a:t>Luồng Dữ Liệu: Xử Lý Lệnh Text</a:t>
            </a:r>
            <a:endParaRPr lang="en-US" sz="4000" dirty="0"/>
          </a:p>
        </p:txBody>
      </p:sp>
      <p:pic>
        <p:nvPicPr>
          <p:cNvPr id="3" name="Image 0" descr="preencoded.png"/>
          <p:cNvPicPr>
            <a:picLocks noChangeAspect="1"/>
          </p:cNvPicPr>
          <p:nvPr/>
        </p:nvPicPr>
        <p:blipFill>
          <a:blip r:embed="rId3"/>
          <a:stretch>
            <a:fillRect/>
          </a:stretch>
        </p:blipFill>
        <p:spPr>
          <a:xfrm>
            <a:off x="770573" y="1571268"/>
            <a:ext cx="13089255" cy="5644396"/>
          </a:xfrm>
          <a:prstGeom prst="rect">
            <a:avLst/>
          </a:prstGeom>
        </p:spPr>
      </p:pic>
      <p:sp>
        <p:nvSpPr>
          <p:cNvPr id="4" name="Text 1"/>
          <p:cNvSpPr/>
          <p:nvPr/>
        </p:nvSpPr>
        <p:spPr>
          <a:xfrm>
            <a:off x="1651336" y="6145275"/>
            <a:ext cx="2969515" cy="371189"/>
          </a:xfrm>
          <a:prstGeom prst="rect">
            <a:avLst/>
          </a:prstGeom>
          <a:noFill/>
          <a:ln/>
        </p:spPr>
        <p:txBody>
          <a:bodyPr wrap="none" lIns="0" tIns="0" rIns="0" bIns="0" rtlCol="0" anchor="t"/>
          <a:lstStyle/>
          <a:p>
            <a:pPr marL="0" indent="0" algn="l">
              <a:lnSpc>
                <a:spcPts val="2900"/>
              </a:lnSpc>
              <a:buNone/>
            </a:pPr>
            <a:r>
              <a:rPr lang="en-US" sz="2300" dirty="0">
                <a:solidFill>
                  <a:srgbClr val="000000"/>
                </a:solidFill>
                <a:latin typeface="Bricolage Grotesque Semi Bold" pitchFamily="34" charset="0"/>
                <a:ea typeface="Bricolage Grotesque Semi Bold" pitchFamily="34" charset="-122"/>
                <a:cs typeface="Bricolage Grotesque Semi Bold" pitchFamily="34" charset="-120"/>
              </a:rPr>
              <a:t>Generate &amp; Send</a:t>
            </a:r>
            <a:endParaRPr lang="en-US" sz="2300" dirty="0"/>
          </a:p>
        </p:txBody>
      </p:sp>
      <p:sp>
        <p:nvSpPr>
          <p:cNvPr id="5" name="Text 2"/>
          <p:cNvSpPr/>
          <p:nvPr/>
        </p:nvSpPr>
        <p:spPr>
          <a:xfrm>
            <a:off x="1651336" y="4838688"/>
            <a:ext cx="2969515" cy="371189"/>
          </a:xfrm>
          <a:prstGeom prst="rect">
            <a:avLst/>
          </a:prstGeom>
          <a:noFill/>
          <a:ln/>
        </p:spPr>
        <p:txBody>
          <a:bodyPr wrap="none" lIns="0" tIns="0" rIns="0" bIns="0" rtlCol="0" anchor="t"/>
          <a:lstStyle/>
          <a:p>
            <a:pPr marL="0" indent="0" algn="l">
              <a:lnSpc>
                <a:spcPts val="2900"/>
              </a:lnSpc>
              <a:buNone/>
            </a:pPr>
            <a:r>
              <a:rPr lang="en-US" sz="2300" dirty="0">
                <a:solidFill>
                  <a:srgbClr val="000000"/>
                </a:solidFill>
                <a:latin typeface="Bricolage Grotesque Semi Bold" pitchFamily="34" charset="0"/>
                <a:ea typeface="Bricolage Grotesque Semi Bold" pitchFamily="34" charset="-122"/>
                <a:cs typeface="Bricolage Grotesque Semi Bold" pitchFamily="34" charset="-120"/>
              </a:rPr>
              <a:t>Switch Router</a:t>
            </a:r>
            <a:endParaRPr lang="en-US" sz="2300" dirty="0"/>
          </a:p>
        </p:txBody>
      </p:sp>
      <p:sp>
        <p:nvSpPr>
          <p:cNvPr id="6" name="Text 3"/>
          <p:cNvSpPr/>
          <p:nvPr/>
        </p:nvSpPr>
        <p:spPr>
          <a:xfrm>
            <a:off x="1651336" y="3545300"/>
            <a:ext cx="2969515" cy="371189"/>
          </a:xfrm>
          <a:prstGeom prst="rect">
            <a:avLst/>
          </a:prstGeom>
          <a:noFill/>
          <a:ln/>
        </p:spPr>
        <p:txBody>
          <a:bodyPr wrap="none" lIns="0" tIns="0" rIns="0" bIns="0" rtlCol="0" anchor="t"/>
          <a:lstStyle/>
          <a:p>
            <a:pPr marL="0" indent="0" algn="l">
              <a:lnSpc>
                <a:spcPts val="2900"/>
              </a:lnSpc>
              <a:buNone/>
            </a:pPr>
            <a:r>
              <a:rPr lang="en-US" sz="2300" dirty="0">
                <a:solidFill>
                  <a:srgbClr val="000000"/>
                </a:solidFill>
                <a:latin typeface="Bricolage Grotesque Semi Bold" pitchFamily="34" charset="0"/>
                <a:ea typeface="Bricolage Grotesque Semi Bold" pitchFamily="34" charset="-122"/>
                <a:cs typeface="Bricolage Grotesque Semi Bold" pitchFamily="34" charset="-120"/>
              </a:rPr>
              <a:t>Check Text</a:t>
            </a:r>
            <a:endParaRPr lang="en-US" sz="2300" dirty="0"/>
          </a:p>
        </p:txBody>
      </p:sp>
      <p:sp>
        <p:nvSpPr>
          <p:cNvPr id="7" name="Text 4"/>
          <p:cNvSpPr/>
          <p:nvPr/>
        </p:nvSpPr>
        <p:spPr>
          <a:xfrm>
            <a:off x="1651336" y="2238713"/>
            <a:ext cx="2969515" cy="371189"/>
          </a:xfrm>
          <a:prstGeom prst="rect">
            <a:avLst/>
          </a:prstGeom>
          <a:noFill/>
          <a:ln/>
        </p:spPr>
        <p:txBody>
          <a:bodyPr wrap="none" lIns="0" tIns="0" rIns="0" bIns="0" rtlCol="0" anchor="t"/>
          <a:lstStyle/>
          <a:p>
            <a:pPr marL="0" indent="0" algn="l">
              <a:lnSpc>
                <a:spcPts val="2900"/>
              </a:lnSpc>
              <a:buNone/>
            </a:pPr>
            <a:r>
              <a:rPr lang="en-US" sz="2300" dirty="0">
                <a:solidFill>
                  <a:srgbClr val="000000"/>
                </a:solidFill>
                <a:latin typeface="Bricolage Grotesque Semi Bold" pitchFamily="34" charset="0"/>
                <a:ea typeface="Bricolage Grotesque Semi Bold" pitchFamily="34" charset="-122"/>
                <a:cs typeface="Bricolage Grotesque Semi Bold" pitchFamily="34" charset="-120"/>
              </a:rPr>
              <a:t>Receive JSON</a:t>
            </a:r>
            <a:endParaRPr lang="en-US" sz="2300" dirty="0"/>
          </a:p>
        </p:txBody>
      </p:sp>
      <p:sp>
        <p:nvSpPr>
          <p:cNvPr id="8" name="Text 5"/>
          <p:cNvSpPr/>
          <p:nvPr/>
        </p:nvSpPr>
        <p:spPr>
          <a:xfrm>
            <a:off x="716161" y="7423309"/>
            <a:ext cx="13198078" cy="311348"/>
          </a:xfrm>
          <a:prstGeom prst="rect">
            <a:avLst/>
          </a:prstGeom>
          <a:noFill/>
          <a:ln/>
        </p:spPr>
        <p:txBody>
          <a:bodyPr wrap="none" lIns="0" tIns="0" rIns="0" bIns="0" rtlCol="0" anchor="t"/>
          <a:lstStyle/>
          <a:p>
            <a:pPr marL="0" indent="0" algn="l">
              <a:lnSpc>
                <a:spcPts val="2450"/>
              </a:lnSpc>
              <a:buNone/>
            </a:pPr>
            <a:r>
              <a:rPr lang="en-US" sz="1600" dirty="0">
                <a:solidFill>
                  <a:srgbClr val="2C2926"/>
                </a:solidFill>
                <a:latin typeface="Inter" pitchFamily="34" charset="0"/>
                <a:ea typeface="Inter" pitchFamily="34" charset="-122"/>
                <a:cs typeface="Inter" pitchFamily="34" charset="-120"/>
              </a:rPr>
              <a:t>Sơ đồ minh họa cách bot Telegram xử lý các lệnh văn bản, đặc biệt là lệnh gợi ý anime.</a:t>
            </a:r>
            <a:endParaRPr lang="en-US" sz="1600" dirty="0"/>
          </a:p>
        </p:txBody>
      </p:sp>
      <p:sp>
        <p:nvSpPr>
          <p:cNvPr id="9" name="Rectangle 8">
            <a:extLst>
              <a:ext uri="{FF2B5EF4-FFF2-40B4-BE49-F238E27FC236}">
                <a16:creationId xmlns:a16="http://schemas.microsoft.com/office/drawing/2014/main" id="{D7E7781D-0C3E-1021-F266-DF1F862AFE9C}"/>
              </a:ext>
            </a:extLst>
          </p:cNvPr>
          <p:cNvSpPr/>
          <p:nvPr/>
        </p:nvSpPr>
        <p:spPr>
          <a:xfrm>
            <a:off x="12790843" y="7508838"/>
            <a:ext cx="1839557" cy="7207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727597"/>
            <a:ext cx="6155174" cy="708779"/>
          </a:xfrm>
          <a:prstGeom prst="rect">
            <a:avLst/>
          </a:prstGeom>
          <a:noFill/>
          <a:ln/>
        </p:spPr>
        <p:txBody>
          <a:bodyPr wrap="none" lIns="0" tIns="0" rIns="0" bIns="0" rtlCol="0" anchor="t"/>
          <a:lstStyle/>
          <a:p>
            <a:pPr marL="0" indent="0" algn="l">
              <a:lnSpc>
                <a:spcPts val="5550"/>
              </a:lnSpc>
              <a:buNone/>
            </a:pPr>
            <a:r>
              <a:rPr lang="vi-VN" sz="4450" dirty="0">
                <a:solidFill>
                  <a:srgbClr val="2C2926"/>
                </a:solidFill>
                <a:latin typeface="Bricolage Grotesque Semi Bold" pitchFamily="34" charset="0"/>
                <a:ea typeface="Bricolage Grotesque Semi Bold" pitchFamily="34" charset="-122"/>
                <a:cs typeface="Bricolage Grotesque Semi Bold" pitchFamily="34" charset="-120"/>
              </a:rPr>
              <a:t>5. </a:t>
            </a:r>
            <a:r>
              <a:rPr lang="en-US" sz="4450" dirty="0" err="1">
                <a:solidFill>
                  <a:srgbClr val="2C2926"/>
                </a:solidFill>
                <a:latin typeface="Bricolage Grotesque Semi Bold" pitchFamily="34" charset="0"/>
                <a:ea typeface="Bricolage Grotesque Semi Bold" pitchFamily="34" charset="-122"/>
                <a:cs typeface="Bricolage Grotesque Semi Bold" pitchFamily="34" charset="-120"/>
              </a:rPr>
              <a:t>Điểm</a:t>
            </a:r>
            <a:r>
              <a:rPr lang="en-US" sz="4450" dirty="0">
                <a:solidFill>
                  <a:srgbClr val="2C2926"/>
                </a:solidFill>
                <a:latin typeface="Bricolage Grotesque Semi Bold" pitchFamily="34" charset="0"/>
                <a:ea typeface="Bricolage Grotesque Semi Bold" pitchFamily="34" charset="-122"/>
                <a:cs typeface="Bricolage Grotesque Semi Bold" pitchFamily="34" charset="-120"/>
              </a:rPr>
              <a:t> Nhấn Công Nghệ</a:t>
            </a:r>
            <a:endParaRPr lang="en-US" sz="44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2890004"/>
            <a:ext cx="566976" cy="566976"/>
          </a:xfrm>
          <a:prstGeom prst="rect">
            <a:avLst/>
          </a:prstGeom>
        </p:spPr>
      </p:pic>
      <p:sp>
        <p:nvSpPr>
          <p:cNvPr id="4" name="Text 1"/>
          <p:cNvSpPr/>
          <p:nvPr/>
        </p:nvSpPr>
        <p:spPr>
          <a:xfrm>
            <a:off x="1644253" y="2890004"/>
            <a:ext cx="3138607" cy="354330"/>
          </a:xfrm>
          <a:prstGeom prst="rect">
            <a:avLst/>
          </a:prstGeom>
          <a:noFill/>
          <a:ln/>
        </p:spPr>
        <p:txBody>
          <a:bodyPr wrap="none" lIns="0" tIns="0" rIns="0" bIns="0" rtlCol="0" anchor="t"/>
          <a:lstStyle/>
          <a:p>
            <a:pPr marL="0" indent="0" algn="l">
              <a:lnSpc>
                <a:spcPts val="2750"/>
              </a:lnSpc>
              <a:buNone/>
            </a:pPr>
            <a:r>
              <a:rPr lang="en-US" sz="2200" dirty="0">
                <a:solidFill>
                  <a:srgbClr val="2C2926"/>
                </a:solidFill>
                <a:latin typeface="Bricolage Grotesque Semi Bold" pitchFamily="34" charset="0"/>
                <a:ea typeface="Bricolage Grotesque Semi Bold" pitchFamily="34" charset="-122"/>
                <a:cs typeface="Bricolage Grotesque Semi Bold" pitchFamily="34" charset="-120"/>
              </a:rPr>
              <a:t>Multimodal Processing</a:t>
            </a:r>
            <a:endParaRPr lang="en-US" sz="2200" dirty="0"/>
          </a:p>
        </p:txBody>
      </p:sp>
      <p:sp>
        <p:nvSpPr>
          <p:cNvPr id="5" name="Text 2"/>
          <p:cNvSpPr/>
          <p:nvPr/>
        </p:nvSpPr>
        <p:spPr>
          <a:xfrm>
            <a:off x="1644253" y="3380423"/>
            <a:ext cx="5529143" cy="1088708"/>
          </a:xfrm>
          <a:prstGeom prst="rect">
            <a:avLst/>
          </a:prstGeom>
          <a:noFill/>
          <a:ln/>
        </p:spPr>
        <p:txBody>
          <a:bodyPr wrap="square" lIns="0" tIns="0" rIns="0" bIns="0" rtlCol="0" anchor="t"/>
          <a:lstStyle/>
          <a:p>
            <a:pPr marL="0" indent="0" algn="l">
              <a:lnSpc>
                <a:spcPts val="2850"/>
              </a:lnSpc>
              <a:buNone/>
            </a:pPr>
            <a:r>
              <a:rPr lang="en-US" sz="1750" dirty="0">
                <a:solidFill>
                  <a:srgbClr val="2C2926"/>
                </a:solidFill>
                <a:latin typeface="Inter" pitchFamily="34" charset="0"/>
                <a:ea typeface="Inter" pitchFamily="34" charset="-122"/>
                <a:cs typeface="Inter" pitchFamily="34" charset="-120"/>
              </a:rPr>
              <a:t>Xử lý đa phương thức (ảnh + chữ) với Gemini 2.5 Flash, phân tích hình ảnh chính xác, hỗ trợ tiếng Việt.</a:t>
            </a:r>
            <a:endParaRPr lang="en-US" sz="175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56884" y="2890004"/>
            <a:ext cx="566976" cy="566976"/>
          </a:xfrm>
          <a:prstGeom prst="rect">
            <a:avLst/>
          </a:prstGeom>
        </p:spPr>
      </p:pic>
      <p:sp>
        <p:nvSpPr>
          <p:cNvPr id="7" name="Text 3"/>
          <p:cNvSpPr/>
          <p:nvPr/>
        </p:nvSpPr>
        <p:spPr>
          <a:xfrm>
            <a:off x="8307348" y="289000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926"/>
                </a:solidFill>
                <a:latin typeface="Bricolage Grotesque Semi Bold" pitchFamily="34" charset="0"/>
                <a:ea typeface="Bricolage Grotesque Semi Bold" pitchFamily="34" charset="-122"/>
                <a:cs typeface="Bricolage Grotesque Semi Bold" pitchFamily="34" charset="-120"/>
              </a:rPr>
              <a:t>Dockerization</a:t>
            </a:r>
            <a:endParaRPr lang="en-US" sz="2200" dirty="0"/>
          </a:p>
        </p:txBody>
      </p:sp>
      <p:sp>
        <p:nvSpPr>
          <p:cNvPr id="8" name="Text 4"/>
          <p:cNvSpPr/>
          <p:nvPr/>
        </p:nvSpPr>
        <p:spPr>
          <a:xfrm>
            <a:off x="8307348" y="3380423"/>
            <a:ext cx="5529263" cy="1088708"/>
          </a:xfrm>
          <a:prstGeom prst="rect">
            <a:avLst/>
          </a:prstGeom>
          <a:noFill/>
          <a:ln/>
        </p:spPr>
        <p:txBody>
          <a:bodyPr wrap="square" lIns="0" tIns="0" rIns="0" bIns="0" rtlCol="0" anchor="t"/>
          <a:lstStyle/>
          <a:p>
            <a:pPr marL="0" indent="0" algn="l">
              <a:lnSpc>
                <a:spcPts val="2850"/>
              </a:lnSpc>
              <a:buNone/>
            </a:pPr>
            <a:r>
              <a:rPr lang="en-US" sz="1750" dirty="0">
                <a:solidFill>
                  <a:srgbClr val="2C2926"/>
                </a:solidFill>
                <a:latin typeface="Inter" pitchFamily="34" charset="0"/>
                <a:ea typeface="Inter" pitchFamily="34" charset="-122"/>
                <a:cs typeface="Inter" pitchFamily="34" charset="-120"/>
              </a:rPr>
              <a:t>Đóng gói hệ thống trong Docker Container, đảm bảo tính nhất quán môi trường, dễ triển khai và cô lập dịch vụ.</a:t>
            </a:r>
            <a:endParaRPr lang="en-US" sz="175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3790" y="4922758"/>
            <a:ext cx="566976" cy="566976"/>
          </a:xfrm>
          <a:prstGeom prst="rect">
            <a:avLst/>
          </a:prstGeom>
        </p:spPr>
      </p:pic>
      <p:sp>
        <p:nvSpPr>
          <p:cNvPr id="10" name="Text 5"/>
          <p:cNvSpPr/>
          <p:nvPr/>
        </p:nvSpPr>
        <p:spPr>
          <a:xfrm>
            <a:off x="1644253" y="4922758"/>
            <a:ext cx="4237315" cy="354330"/>
          </a:xfrm>
          <a:prstGeom prst="rect">
            <a:avLst/>
          </a:prstGeom>
          <a:noFill/>
          <a:ln/>
        </p:spPr>
        <p:txBody>
          <a:bodyPr wrap="none" lIns="0" tIns="0" rIns="0" bIns="0" rtlCol="0" anchor="t"/>
          <a:lstStyle/>
          <a:p>
            <a:pPr marL="0" indent="0" algn="l">
              <a:lnSpc>
                <a:spcPts val="2750"/>
              </a:lnSpc>
              <a:buNone/>
            </a:pPr>
            <a:r>
              <a:rPr lang="en-US" sz="2200" dirty="0">
                <a:solidFill>
                  <a:srgbClr val="2C2926"/>
                </a:solidFill>
                <a:latin typeface="Bricolage Grotesque Semi Bold" pitchFamily="34" charset="0"/>
                <a:ea typeface="Bricolage Grotesque Semi Bold" pitchFamily="34" charset="-122"/>
                <a:cs typeface="Bricolage Grotesque Semi Bold" pitchFamily="34" charset="-120"/>
              </a:rPr>
              <a:t>No-Code/Low-Code Integration</a:t>
            </a:r>
            <a:endParaRPr lang="en-US" sz="2200" dirty="0"/>
          </a:p>
        </p:txBody>
      </p:sp>
      <p:sp>
        <p:nvSpPr>
          <p:cNvPr id="11" name="Text 6"/>
          <p:cNvSpPr/>
          <p:nvPr/>
        </p:nvSpPr>
        <p:spPr>
          <a:xfrm>
            <a:off x="1644253" y="5413177"/>
            <a:ext cx="5529143" cy="1088708"/>
          </a:xfrm>
          <a:prstGeom prst="rect">
            <a:avLst/>
          </a:prstGeom>
          <a:noFill/>
          <a:ln/>
        </p:spPr>
        <p:txBody>
          <a:bodyPr wrap="square" lIns="0" tIns="0" rIns="0" bIns="0" rtlCol="0" anchor="t"/>
          <a:lstStyle/>
          <a:p>
            <a:pPr marL="0" indent="0" algn="l">
              <a:lnSpc>
                <a:spcPts val="2850"/>
              </a:lnSpc>
              <a:buNone/>
            </a:pPr>
            <a:r>
              <a:rPr lang="en-US" sz="1750" dirty="0">
                <a:solidFill>
                  <a:srgbClr val="2C2926"/>
                </a:solidFill>
                <a:latin typeface="Inter" pitchFamily="34" charset="0"/>
                <a:ea typeface="Inter" pitchFamily="34" charset="-122"/>
                <a:cs typeface="Inter" pitchFamily="34" charset="-120"/>
              </a:rPr>
              <a:t>Sử dụng n8n giảm thiểu code thủ công, tăng tốc phát triển, tập trung vào logic nghiệp vụ và dễ bảo trì.</a:t>
            </a:r>
            <a:endParaRPr lang="en-US" sz="1750" dirty="0"/>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56884" y="4922758"/>
            <a:ext cx="566976" cy="566976"/>
          </a:xfrm>
          <a:prstGeom prst="rect">
            <a:avLst/>
          </a:prstGeom>
        </p:spPr>
      </p:pic>
      <p:sp>
        <p:nvSpPr>
          <p:cNvPr id="13" name="Text 7"/>
          <p:cNvSpPr/>
          <p:nvPr/>
        </p:nvSpPr>
        <p:spPr>
          <a:xfrm>
            <a:off x="8307348" y="4922758"/>
            <a:ext cx="3660100" cy="354330"/>
          </a:xfrm>
          <a:prstGeom prst="rect">
            <a:avLst/>
          </a:prstGeom>
          <a:noFill/>
          <a:ln/>
        </p:spPr>
        <p:txBody>
          <a:bodyPr wrap="none" lIns="0" tIns="0" rIns="0" bIns="0" rtlCol="0" anchor="t"/>
          <a:lstStyle/>
          <a:p>
            <a:pPr marL="0" indent="0" algn="l">
              <a:lnSpc>
                <a:spcPts val="2750"/>
              </a:lnSpc>
              <a:buNone/>
            </a:pPr>
            <a:r>
              <a:rPr lang="en-US" sz="2200" dirty="0">
                <a:solidFill>
                  <a:srgbClr val="2C2926"/>
                </a:solidFill>
                <a:latin typeface="Bricolage Grotesque Semi Bold" pitchFamily="34" charset="0"/>
                <a:ea typeface="Bricolage Grotesque Semi Bold" pitchFamily="34" charset="-122"/>
                <a:cs typeface="Bricolage Grotesque Semi Bold" pitchFamily="34" charset="-120"/>
              </a:rPr>
              <a:t>Data Pipeline Management</a:t>
            </a:r>
            <a:endParaRPr lang="en-US" sz="2200" dirty="0"/>
          </a:p>
        </p:txBody>
      </p:sp>
      <p:sp>
        <p:nvSpPr>
          <p:cNvPr id="14" name="Text 8"/>
          <p:cNvSpPr/>
          <p:nvPr/>
        </p:nvSpPr>
        <p:spPr>
          <a:xfrm>
            <a:off x="8307348" y="5413177"/>
            <a:ext cx="5529263" cy="1088708"/>
          </a:xfrm>
          <a:prstGeom prst="rect">
            <a:avLst/>
          </a:prstGeom>
          <a:noFill/>
          <a:ln/>
        </p:spPr>
        <p:txBody>
          <a:bodyPr wrap="square" lIns="0" tIns="0" rIns="0" bIns="0" rtlCol="0" anchor="t"/>
          <a:lstStyle/>
          <a:p>
            <a:pPr marL="0" indent="0" algn="l">
              <a:lnSpc>
                <a:spcPts val="2850"/>
              </a:lnSpc>
              <a:buNone/>
            </a:pPr>
            <a:r>
              <a:rPr lang="en-US" sz="1750" dirty="0">
                <a:solidFill>
                  <a:srgbClr val="2C2926"/>
                </a:solidFill>
                <a:latin typeface="Inter" pitchFamily="34" charset="0"/>
                <a:ea typeface="Inter" pitchFamily="34" charset="-122"/>
                <a:cs typeface="Inter" pitchFamily="34" charset="-120"/>
              </a:rPr>
              <a:t>Xử lý chuyển đổi định dạng dữ liệu (MIME Type Handling), đảm bảo tính toàn vẹn và tương thích API.</a:t>
            </a:r>
            <a:endParaRPr lang="en-US" sz="1750" dirty="0"/>
          </a:p>
        </p:txBody>
      </p:sp>
      <p:sp>
        <p:nvSpPr>
          <p:cNvPr id="15" name="Rectangle 14">
            <a:extLst>
              <a:ext uri="{FF2B5EF4-FFF2-40B4-BE49-F238E27FC236}">
                <a16:creationId xmlns:a16="http://schemas.microsoft.com/office/drawing/2014/main" id="{6055E5FA-1347-52AF-8AA8-C78697AE749A}"/>
              </a:ext>
            </a:extLst>
          </p:cNvPr>
          <p:cNvSpPr/>
          <p:nvPr/>
        </p:nvSpPr>
        <p:spPr>
          <a:xfrm>
            <a:off x="12790843" y="7508838"/>
            <a:ext cx="1839557" cy="7207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7" grpId="0" animBg="1"/>
      <p:bldP spid="8" grpId="0" animBg="1"/>
      <p:bldP spid="10" grpId="0" animBg="1"/>
      <p:bldP spid="11" grpId="0" animBg="1"/>
      <p:bldP spid="13"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7252" y="1142523"/>
            <a:ext cx="5647492" cy="515183"/>
          </a:xfrm>
          <a:prstGeom prst="rect">
            <a:avLst/>
          </a:prstGeom>
          <a:noFill/>
          <a:ln/>
        </p:spPr>
        <p:txBody>
          <a:bodyPr wrap="none" lIns="0" tIns="0" rIns="0" bIns="0" rtlCol="0" anchor="t"/>
          <a:lstStyle/>
          <a:p>
            <a:pPr marL="0" indent="0" algn="l">
              <a:lnSpc>
                <a:spcPts val="4050"/>
              </a:lnSpc>
              <a:buNone/>
            </a:pPr>
            <a:r>
              <a:rPr lang="vi-VN" sz="3200" dirty="0">
                <a:solidFill>
                  <a:srgbClr val="2C2926"/>
                </a:solidFill>
                <a:latin typeface="Bricolage Grotesque Semi Bold" pitchFamily="34" charset="0"/>
                <a:ea typeface="Bricolage Grotesque Semi Bold" pitchFamily="34" charset="-122"/>
                <a:cs typeface="Bricolage Grotesque Semi Bold" pitchFamily="34" charset="-120"/>
              </a:rPr>
              <a:t>6. </a:t>
            </a:r>
            <a:r>
              <a:rPr lang="en-US" sz="3200" dirty="0" err="1">
                <a:solidFill>
                  <a:srgbClr val="2C2926"/>
                </a:solidFill>
                <a:latin typeface="Bricolage Grotesque Semi Bold" pitchFamily="34" charset="0"/>
                <a:ea typeface="Bricolage Grotesque Semi Bold" pitchFamily="34" charset="-122"/>
                <a:cs typeface="Bricolage Grotesque Semi Bold" pitchFamily="34" charset="-120"/>
              </a:rPr>
              <a:t>Kết</a:t>
            </a:r>
            <a:r>
              <a:rPr lang="en-US" sz="3200" dirty="0">
                <a:solidFill>
                  <a:srgbClr val="2C2926"/>
                </a:solidFill>
                <a:latin typeface="Bricolage Grotesque Semi Bold" pitchFamily="34" charset="0"/>
                <a:ea typeface="Bricolage Grotesque Semi Bold" pitchFamily="34" charset="-122"/>
                <a:cs typeface="Bricolage Grotesque Semi Bold" pitchFamily="34" charset="-120"/>
              </a:rPr>
              <a:t> Luận &amp; Hướng Phát Triển</a:t>
            </a:r>
            <a:endParaRPr lang="en-US" sz="3200" dirty="0"/>
          </a:p>
        </p:txBody>
      </p:sp>
      <p:sp>
        <p:nvSpPr>
          <p:cNvPr id="3" name="Text 1"/>
          <p:cNvSpPr/>
          <p:nvPr/>
        </p:nvSpPr>
        <p:spPr>
          <a:xfrm>
            <a:off x="1067594" y="1789586"/>
            <a:ext cx="2473404" cy="309086"/>
          </a:xfrm>
          <a:prstGeom prst="rect">
            <a:avLst/>
          </a:prstGeom>
          <a:noFill/>
          <a:ln/>
        </p:spPr>
        <p:txBody>
          <a:bodyPr wrap="none" lIns="0" tIns="0" rIns="0" bIns="0" rtlCol="0" anchor="t"/>
          <a:lstStyle/>
          <a:p>
            <a:pPr marL="0" indent="0" algn="l">
              <a:lnSpc>
                <a:spcPts val="2400"/>
              </a:lnSpc>
              <a:buNone/>
            </a:pPr>
            <a:r>
              <a:rPr lang="en-US" sz="2000" dirty="0">
                <a:solidFill>
                  <a:srgbClr val="2C2926"/>
                </a:solidFill>
                <a:latin typeface="Bricolage Grotesque Semi Bold" pitchFamily="34" charset="0"/>
                <a:ea typeface="Bricolage Grotesque Semi Bold" pitchFamily="34" charset="-122"/>
                <a:cs typeface="Bricolage Grotesque Semi Bold" pitchFamily="34" charset="-120"/>
              </a:rPr>
              <a:t>Kết Luận</a:t>
            </a:r>
            <a:endParaRPr lang="en-US" sz="2000" dirty="0"/>
          </a:p>
        </p:txBody>
      </p:sp>
      <p:sp>
        <p:nvSpPr>
          <p:cNvPr id="4" name="Text 2"/>
          <p:cNvSpPr/>
          <p:nvPr/>
        </p:nvSpPr>
        <p:spPr>
          <a:xfrm>
            <a:off x="1067592" y="2314520"/>
            <a:ext cx="7254597" cy="683300"/>
          </a:xfrm>
          <a:prstGeom prst="rect">
            <a:avLst/>
          </a:prstGeom>
          <a:noFill/>
          <a:ln/>
        </p:spPr>
        <p:txBody>
          <a:bodyPr wrap="square" lIns="0" tIns="0" rIns="0" bIns="0" rtlCol="0" anchor="t"/>
          <a:lstStyle/>
          <a:p>
            <a:pPr marL="0" indent="0" algn="l">
              <a:buNone/>
            </a:pPr>
            <a:r>
              <a:rPr lang="en-US" sz="2000" dirty="0">
                <a:solidFill>
                  <a:srgbClr val="2C2926"/>
                </a:solidFill>
                <a:latin typeface="Inter" pitchFamily="34" charset="0"/>
                <a:ea typeface="Inter" pitchFamily="34" charset="-122"/>
                <a:cs typeface="Inter" pitchFamily="34" charset="-120"/>
              </a:rPr>
              <a:t>Hệ thống phân tích ảnh anime bằng AI đã thành công kết hợp Telegram Bot, n8n Workflow và Google Gemini AI. Pipeline xử lý hiệu quả, tận dụng nhiều nguồn dữ liệu và triển khai linh hoạt qua Docker.</a:t>
            </a:r>
            <a:endParaRPr lang="en-US" sz="2000" dirty="0"/>
          </a:p>
        </p:txBody>
      </p:sp>
      <p:sp>
        <p:nvSpPr>
          <p:cNvPr id="6" name="Text 3"/>
          <p:cNvSpPr/>
          <p:nvPr/>
        </p:nvSpPr>
        <p:spPr>
          <a:xfrm>
            <a:off x="1067594" y="5052733"/>
            <a:ext cx="2473404" cy="309086"/>
          </a:xfrm>
          <a:prstGeom prst="rect">
            <a:avLst/>
          </a:prstGeom>
          <a:noFill/>
          <a:ln/>
        </p:spPr>
        <p:txBody>
          <a:bodyPr wrap="none" lIns="0" tIns="0" rIns="0" bIns="0" rtlCol="0" anchor="t"/>
          <a:lstStyle/>
          <a:p>
            <a:pPr marL="0" indent="0" algn="l">
              <a:lnSpc>
                <a:spcPts val="2400"/>
              </a:lnSpc>
              <a:buNone/>
            </a:pPr>
            <a:r>
              <a:rPr lang="en-US" sz="1900" dirty="0">
                <a:solidFill>
                  <a:srgbClr val="2C2926"/>
                </a:solidFill>
                <a:latin typeface="Bricolage Grotesque Semi Bold" pitchFamily="34" charset="0"/>
                <a:ea typeface="Bricolage Grotesque Semi Bold" pitchFamily="34" charset="-122"/>
                <a:cs typeface="Bricolage Grotesque Semi Bold" pitchFamily="34" charset="-120"/>
              </a:rPr>
              <a:t>Hướng Phát Triển</a:t>
            </a:r>
            <a:endParaRPr lang="en-US" sz="1900" dirty="0"/>
          </a:p>
        </p:txBody>
      </p:sp>
      <p:sp>
        <p:nvSpPr>
          <p:cNvPr id="7" name="Text 4"/>
          <p:cNvSpPr/>
          <p:nvPr/>
        </p:nvSpPr>
        <p:spPr>
          <a:xfrm>
            <a:off x="1067591" y="5554995"/>
            <a:ext cx="10870409" cy="359591"/>
          </a:xfrm>
          <a:prstGeom prst="rect">
            <a:avLst/>
          </a:prstGeom>
          <a:noFill/>
          <a:ln/>
        </p:spPr>
        <p:txBody>
          <a:bodyPr wrap="square" lIns="0" tIns="0" rIns="0" bIns="0" rtlCol="0" anchor="t"/>
          <a:lstStyle/>
          <a:p>
            <a:pPr algn="l">
              <a:lnSpc>
                <a:spcPts val="1750"/>
              </a:lnSpc>
              <a:buSzPct val="100000"/>
            </a:pPr>
            <a:r>
              <a:rPr lang="vi-VN" sz="2000" dirty="0">
                <a:solidFill>
                  <a:srgbClr val="2C2926"/>
                </a:solidFill>
                <a:latin typeface="Inter" pitchFamily="34" charset="0"/>
                <a:ea typeface="Inter" pitchFamily="34" charset="-122"/>
                <a:cs typeface="Inter" pitchFamily="34" charset="-120"/>
              </a:rPr>
              <a:t>1. Hệ thống có thể tiếp tục được mở rộng để trở nên mạnh mẽ và thông minh hơn như:</a:t>
            </a:r>
            <a:endParaRPr lang="en-US" sz="2000" dirty="0"/>
          </a:p>
        </p:txBody>
      </p:sp>
      <p:sp>
        <p:nvSpPr>
          <p:cNvPr id="5" name="Rectangle 4">
            <a:extLst>
              <a:ext uri="{FF2B5EF4-FFF2-40B4-BE49-F238E27FC236}">
                <a16:creationId xmlns:a16="http://schemas.microsoft.com/office/drawing/2014/main" id="{655A8BFD-311C-24DF-F055-E71706AF651C}"/>
              </a:ext>
            </a:extLst>
          </p:cNvPr>
          <p:cNvSpPr/>
          <p:nvPr/>
        </p:nvSpPr>
        <p:spPr>
          <a:xfrm>
            <a:off x="12790843" y="7508838"/>
            <a:ext cx="1839557" cy="7207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2">
            <a:extLst>
              <a:ext uri="{FF2B5EF4-FFF2-40B4-BE49-F238E27FC236}">
                <a16:creationId xmlns:a16="http://schemas.microsoft.com/office/drawing/2014/main" id="{2828A821-0919-3A52-F748-89651BB9C3E3}"/>
              </a:ext>
            </a:extLst>
          </p:cNvPr>
          <p:cNvSpPr/>
          <p:nvPr/>
        </p:nvSpPr>
        <p:spPr>
          <a:xfrm>
            <a:off x="1067591" y="3664979"/>
            <a:ext cx="7254597" cy="683300"/>
          </a:xfrm>
          <a:prstGeom prst="rect">
            <a:avLst/>
          </a:prstGeom>
          <a:noFill/>
          <a:ln/>
        </p:spPr>
        <p:txBody>
          <a:bodyPr wrap="square" lIns="0" tIns="0" rIns="0" bIns="0" rtlCol="0" anchor="t"/>
          <a:lstStyle/>
          <a:p>
            <a:pPr marL="0" indent="0" algn="l">
              <a:buNone/>
            </a:pPr>
            <a:r>
              <a:rPr lang="vi-VN" sz="2000" dirty="0">
                <a:solidFill>
                  <a:srgbClr val="2C2926"/>
                </a:solidFill>
                <a:latin typeface="Inter" pitchFamily="34" charset="0"/>
                <a:ea typeface="Inter" pitchFamily="34" charset="-122"/>
                <a:cs typeface="Inter" pitchFamily="34" charset="-120"/>
              </a:rPr>
              <a:t>Pipeline xử lý được thiết kế hiệu quả, cho phép chuyển đổi dữ liệu từ JSON sang Binary rồi thành nội dung văn bản phân tích mà không làm gián đoạn luồng xử lý</a:t>
            </a:r>
            <a:endParaRPr lang="en-US" sz="2000" dirty="0"/>
          </a:p>
        </p:txBody>
      </p:sp>
      <p:sp>
        <p:nvSpPr>
          <p:cNvPr id="14" name="Text 4">
            <a:extLst>
              <a:ext uri="{FF2B5EF4-FFF2-40B4-BE49-F238E27FC236}">
                <a16:creationId xmlns:a16="http://schemas.microsoft.com/office/drawing/2014/main" id="{1B012A97-7DA9-C418-964E-5396D548D76E}"/>
              </a:ext>
            </a:extLst>
          </p:cNvPr>
          <p:cNvSpPr/>
          <p:nvPr/>
        </p:nvSpPr>
        <p:spPr>
          <a:xfrm>
            <a:off x="1067594" y="5913479"/>
            <a:ext cx="10870409" cy="359591"/>
          </a:xfrm>
          <a:prstGeom prst="rect">
            <a:avLst/>
          </a:prstGeom>
          <a:noFill/>
          <a:ln/>
        </p:spPr>
        <p:txBody>
          <a:bodyPr wrap="square" lIns="0" tIns="0" rIns="0" bIns="0" rtlCol="0" anchor="t"/>
          <a:lstStyle/>
          <a:p>
            <a:r>
              <a:rPr lang="vi-VN" sz="2400" dirty="0">
                <a:effectLst/>
                <a:latin typeface="Times New Roman" panose="02020603050405020304" pitchFamily="18" charset="0"/>
                <a:ea typeface="Times New Roman" panose="02020603050405020304" pitchFamily="18" charset="0"/>
              </a:rPr>
              <a:t>2. Bổ sung khả năng phân tích video nhằm nhận diện anime từ các đoạn clip ngắn</a:t>
            </a:r>
            <a:endParaRPr lang="en-US" sz="2400" dirty="0">
              <a:effectLst/>
              <a:latin typeface="Times New Roman" panose="02020603050405020304" pitchFamily="18" charset="0"/>
              <a:ea typeface="Times New Roman" panose="02020603050405020304" pitchFamily="18" charset="0"/>
            </a:endParaRPr>
          </a:p>
        </p:txBody>
      </p:sp>
      <p:sp>
        <p:nvSpPr>
          <p:cNvPr id="15" name="Text 4">
            <a:extLst>
              <a:ext uri="{FF2B5EF4-FFF2-40B4-BE49-F238E27FC236}">
                <a16:creationId xmlns:a16="http://schemas.microsoft.com/office/drawing/2014/main" id="{D1FA97B2-9647-B3AB-3FB3-2945E98A4CCE}"/>
              </a:ext>
            </a:extLst>
          </p:cNvPr>
          <p:cNvSpPr/>
          <p:nvPr/>
        </p:nvSpPr>
        <p:spPr>
          <a:xfrm>
            <a:off x="1067590" y="6392847"/>
            <a:ext cx="10870409" cy="359591"/>
          </a:xfrm>
          <a:prstGeom prst="rect">
            <a:avLst/>
          </a:prstGeom>
          <a:noFill/>
          <a:ln/>
        </p:spPr>
        <p:txBody>
          <a:bodyPr wrap="square" lIns="0" tIns="0" rIns="0" bIns="0" rtlCol="0" anchor="t"/>
          <a:lstStyle/>
          <a:p>
            <a:r>
              <a:rPr lang="vi-VN" sz="2400" dirty="0">
                <a:latin typeface="Times New Roman" panose="02020603050405020304" pitchFamily="18" charset="0"/>
                <a:ea typeface="Times New Roman" panose="02020603050405020304" pitchFamily="18" charset="0"/>
              </a:rPr>
              <a:t>3. T</a:t>
            </a:r>
            <a:r>
              <a:rPr lang="vi-VN" sz="2400" dirty="0">
                <a:effectLst/>
                <a:latin typeface="Times New Roman" panose="02020603050405020304" pitchFamily="18" charset="0"/>
                <a:ea typeface="Times New Roman" panose="02020603050405020304" pitchFamily="18" charset="0"/>
              </a:rPr>
              <a:t>ích hợp cơ sở dữ liệu để lưu trữ lịch sử phân tích của người dùng</a:t>
            </a:r>
            <a:endParaRPr lang="en-US" sz="2400" dirty="0">
              <a:effectLst/>
              <a:latin typeface="Times New Roman" panose="02020603050405020304" pitchFamily="18" charset="0"/>
              <a:ea typeface="Times New Roman" panose="02020603050405020304" pitchFamily="18" charset="0"/>
            </a:endParaRPr>
          </a:p>
        </p:txBody>
      </p:sp>
      <p:sp>
        <p:nvSpPr>
          <p:cNvPr id="16" name="Text 4">
            <a:extLst>
              <a:ext uri="{FF2B5EF4-FFF2-40B4-BE49-F238E27FC236}">
                <a16:creationId xmlns:a16="http://schemas.microsoft.com/office/drawing/2014/main" id="{8BAC05B8-005B-21EF-F5FA-03F9EDE3B295}"/>
              </a:ext>
            </a:extLst>
          </p:cNvPr>
          <p:cNvSpPr/>
          <p:nvPr/>
        </p:nvSpPr>
        <p:spPr>
          <a:xfrm>
            <a:off x="1067594" y="6872215"/>
            <a:ext cx="10870409" cy="359591"/>
          </a:xfrm>
          <a:prstGeom prst="rect">
            <a:avLst/>
          </a:prstGeom>
          <a:noFill/>
          <a:ln/>
        </p:spPr>
        <p:txBody>
          <a:bodyPr wrap="square" lIns="0" tIns="0" rIns="0" bIns="0" rtlCol="0" anchor="t"/>
          <a:lstStyle/>
          <a:p>
            <a:r>
              <a:rPr lang="vi-VN" sz="2400" dirty="0">
                <a:effectLst/>
                <a:latin typeface="Times New Roman" panose="02020603050405020304" pitchFamily="18" charset="0"/>
                <a:ea typeface="Times New Roman" panose="02020603050405020304" pitchFamily="18" charset="0"/>
              </a:rPr>
              <a:t>4. Tối ưu hóa prompt cho mô hình AI có thể cải thiện độ chính xác trong nhận diện nội dung</a:t>
            </a:r>
            <a:endParaRPr lang="en-US" sz="2400" dirty="0">
              <a:effectLst/>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
                                            <p:txEl>
                                              <p:pRg st="0" end="0"/>
                                            </p:txEl>
                                          </p:spTgt>
                                        </p:tgtEl>
                                        <p:attrNameLst>
                                          <p:attrName>style.visibility</p:attrName>
                                        </p:attrNameLst>
                                      </p:cBhvr>
                                      <p:to>
                                        <p:strVal val="visible"/>
                                      </p:to>
                                    </p:set>
                                    <p:animEffect transition="in" filter="fade">
                                      <p:cBhvr>
                                        <p:cTn id="16" dur="500"/>
                                        <p:tgtEl>
                                          <p:spTgt spid="4">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
                                            <p:txEl>
                                              <p:pRg st="0" end="0"/>
                                            </p:txEl>
                                          </p:spTgt>
                                        </p:tgtEl>
                                        <p:attrNameLst>
                                          <p:attrName>style.visibility</p:attrName>
                                        </p:attrNameLst>
                                      </p:cBhvr>
                                      <p:to>
                                        <p:strVal val="visible"/>
                                      </p:to>
                                    </p:set>
                                    <p:animEffect transition="in" filter="fade">
                                      <p:cBhvr>
                                        <p:cTn id="26" dur="500"/>
                                        <p:tgtEl>
                                          <p:spTgt spid="6">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fade">
                                      <p:cBhvr>
                                        <p:cTn id="31" dur="500"/>
                                        <p:tgtEl>
                                          <p:spTgt spid="7">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4">
                                            <p:txEl>
                                              <p:pRg st="0" end="0"/>
                                            </p:txEl>
                                          </p:spTgt>
                                        </p:tgtEl>
                                        <p:attrNameLst>
                                          <p:attrName>style.visibility</p:attrName>
                                        </p:attrNameLst>
                                      </p:cBhvr>
                                      <p:to>
                                        <p:strVal val="visible"/>
                                      </p:to>
                                    </p:set>
                                    <p:animEffect transition="in" filter="fade">
                                      <p:cBhvr>
                                        <p:cTn id="36" dur="500"/>
                                        <p:tgtEl>
                                          <p:spTgt spid="14">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5">
                                            <p:txEl>
                                              <p:pRg st="0" end="0"/>
                                            </p:txEl>
                                          </p:spTgt>
                                        </p:tgtEl>
                                        <p:attrNameLst>
                                          <p:attrName>style.visibility</p:attrName>
                                        </p:attrNameLst>
                                      </p:cBhvr>
                                      <p:to>
                                        <p:strVal val="visible"/>
                                      </p:to>
                                    </p:set>
                                    <p:animEffect transition="in" filter="fade">
                                      <p:cBhvr>
                                        <p:cTn id="41" dur="500"/>
                                        <p:tgtEl>
                                          <p:spTgt spid="15">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6">
                                            <p:txEl>
                                              <p:pRg st="0" end="0"/>
                                            </p:txEl>
                                          </p:spTgt>
                                        </p:tgtEl>
                                        <p:attrNameLst>
                                          <p:attrName>style.visibility</p:attrName>
                                        </p:attrNameLst>
                                      </p:cBhvr>
                                      <p:to>
                                        <p:strVal val="visible"/>
                                      </p:to>
                                    </p:set>
                                    <p:animEffect transition="in" filter="fade">
                                      <p:cBhvr>
                                        <p:cTn id="46"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32532" y="3857208"/>
            <a:ext cx="5647492" cy="515183"/>
          </a:xfrm>
          <a:prstGeom prst="rect">
            <a:avLst/>
          </a:prstGeom>
          <a:noFill/>
          <a:ln/>
        </p:spPr>
        <p:txBody>
          <a:bodyPr wrap="none" lIns="0" tIns="0" rIns="0" bIns="0" rtlCol="0" anchor="t"/>
          <a:lstStyle/>
          <a:p>
            <a:pPr marL="0" indent="0" algn="l">
              <a:lnSpc>
                <a:spcPts val="4050"/>
              </a:lnSpc>
              <a:buNone/>
            </a:pPr>
            <a:r>
              <a:rPr lang="vi-VN" sz="7200" dirty="0">
                <a:solidFill>
                  <a:srgbClr val="2C2926"/>
                </a:solidFill>
                <a:latin typeface="Bricolage Grotesque Semi Bold" pitchFamily="34" charset="0"/>
                <a:ea typeface="Bricolage Grotesque Semi Bold" pitchFamily="34" charset="-122"/>
                <a:cs typeface="Bricolage Grotesque Semi Bold" pitchFamily="34" charset="-120"/>
              </a:rPr>
              <a:t>HẾT</a:t>
            </a:r>
            <a:endParaRPr lang="en-US" sz="7200" dirty="0"/>
          </a:p>
        </p:txBody>
      </p:sp>
      <p:sp>
        <p:nvSpPr>
          <p:cNvPr id="5" name="Rectangle 4">
            <a:extLst>
              <a:ext uri="{FF2B5EF4-FFF2-40B4-BE49-F238E27FC236}">
                <a16:creationId xmlns:a16="http://schemas.microsoft.com/office/drawing/2014/main" id="{655A8BFD-311C-24DF-F055-E71706AF651C}"/>
              </a:ext>
            </a:extLst>
          </p:cNvPr>
          <p:cNvSpPr/>
          <p:nvPr/>
        </p:nvSpPr>
        <p:spPr>
          <a:xfrm>
            <a:off x="12790843" y="7508838"/>
            <a:ext cx="1839557" cy="7207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0">
            <a:extLst>
              <a:ext uri="{FF2B5EF4-FFF2-40B4-BE49-F238E27FC236}">
                <a16:creationId xmlns:a16="http://schemas.microsoft.com/office/drawing/2014/main" id="{274EBD10-78A4-D7CD-0236-E70B0D154AC7}"/>
              </a:ext>
            </a:extLst>
          </p:cNvPr>
          <p:cNvSpPr/>
          <p:nvPr/>
        </p:nvSpPr>
        <p:spPr>
          <a:xfrm>
            <a:off x="2699867" y="4701003"/>
            <a:ext cx="5647492" cy="515183"/>
          </a:xfrm>
          <a:prstGeom prst="rect">
            <a:avLst/>
          </a:prstGeom>
          <a:noFill/>
          <a:ln/>
        </p:spPr>
        <p:txBody>
          <a:bodyPr wrap="none" lIns="0" tIns="0" rIns="0" bIns="0" rtlCol="0" anchor="t"/>
          <a:lstStyle/>
          <a:p>
            <a:pPr marL="0" indent="0" algn="l">
              <a:lnSpc>
                <a:spcPts val="4050"/>
              </a:lnSpc>
              <a:buNone/>
            </a:pPr>
            <a:r>
              <a:rPr lang="vi-VN" sz="4000" dirty="0">
                <a:solidFill>
                  <a:srgbClr val="2C2926"/>
                </a:solidFill>
                <a:latin typeface="Bricolage Grotesque Semi Bold" pitchFamily="34" charset="0"/>
                <a:ea typeface="Bricolage Grotesque Semi Bold" pitchFamily="34" charset="-122"/>
                <a:cs typeface="Bricolage Grotesque Semi Bold" pitchFamily="34" charset="-120"/>
              </a:rPr>
              <a:t>Cảm ơn mọi người đã chú ý lắng nghe</a:t>
            </a:r>
            <a:endParaRPr lang="en-US" sz="4000" dirty="0"/>
          </a:p>
        </p:txBody>
      </p:sp>
    </p:spTree>
    <p:extLst>
      <p:ext uri="{BB962C8B-B14F-4D97-AF65-F5344CB8AC3E}">
        <p14:creationId xmlns:p14="http://schemas.microsoft.com/office/powerpoint/2010/main" val="3369103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1331</Words>
  <Application>Microsoft Office PowerPoint</Application>
  <PresentationFormat>Custom</PresentationFormat>
  <Paragraphs>130</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Calibri</vt:lpstr>
      <vt:lpstr>Consolas</vt:lpstr>
      <vt:lpstr>Times New Roman</vt:lpstr>
      <vt:lpstr>Arial</vt:lpstr>
      <vt:lpstr>Bricolage Grotesque Light</vt:lpstr>
      <vt:lpstr>Bricolage Grotesque Semi Bold</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Dell-15</cp:lastModifiedBy>
  <cp:revision>7</cp:revision>
  <dcterms:created xsi:type="dcterms:W3CDTF">2026-02-05T11:30:00Z</dcterms:created>
  <dcterms:modified xsi:type="dcterms:W3CDTF">2026-02-05T16:00:50Z</dcterms:modified>
</cp:coreProperties>
</file>