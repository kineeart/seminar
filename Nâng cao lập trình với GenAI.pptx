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embeddedFontLst>
    <p:embeddedFont>
      <p:font typeface="微软雅黑" panose="020B0503020204020204" pitchFamily="34" charset="-122"/>
      <p:regular r:id="rId34"/>
      <p:bold r:id="rId35"/>
    </p:embeddedFont>
    <p:embeddedFont>
      <p:font typeface="MiSans" panose="020B0604020202020204" charset="-122"/>
      <p:regular r:id="rId36"/>
    </p:embeddedFont>
    <p:embeddedFont>
      <p:font typeface="Noto Sans SC" panose="020B0604020202020204" charset="-128"/>
      <p:regular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Hedvig Letters Sans" panose="020B0604020202020204" charset="0"/>
      <p:regular r:id="rId42"/>
    </p:embeddedFont>
    <p:embeddedFont>
      <p:font typeface="Liter" panose="020B0604020202020204" charset="0"/>
      <p:regular r:id="rId43"/>
    </p:embeddedFont>
    <p:embeddedFont>
      <p:font typeface="Quattrocento Sans" panose="020B0502050000020003" pitchFamily="34" charset="0"/>
      <p:regular r:id="rId44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20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10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4b28e96ec13702c0bae2fc35b996633bd297535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5652" b="565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85000"/>
                </a:srgbClr>
              </a:gs>
              <a:gs pos="100000">
                <a:srgbClr val="3B82F6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47072" y="1004887"/>
            <a:ext cx="1895475" cy="390525"/>
          </a:xfrm>
          <a:custGeom>
            <a:avLst/>
            <a:gdLst/>
            <a:ahLst/>
            <a:cxnLst/>
            <a:rect l="l" t="t" r="r" b="b"/>
            <a:pathLst>
              <a:path w="1895475" h="390525">
                <a:moveTo>
                  <a:pt x="195263" y="0"/>
                </a:moveTo>
                <a:lnTo>
                  <a:pt x="1700213" y="0"/>
                </a:lnTo>
                <a:cubicBezTo>
                  <a:pt x="1807981" y="0"/>
                  <a:pt x="1895475" y="87494"/>
                  <a:pt x="1895475" y="195263"/>
                </a:cubicBezTo>
                <a:lnTo>
                  <a:pt x="1895475" y="195263"/>
                </a:lnTo>
                <a:cubicBezTo>
                  <a:pt x="1895475" y="303031"/>
                  <a:pt x="1807981" y="390525"/>
                  <a:pt x="17002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42334" y="1114425"/>
            <a:ext cx="15073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BÁO CÁO HỌC TẬP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26891" y="1562100"/>
            <a:ext cx="5738217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gradFill flip="none" rotWithShape="1">
                  <a:gsLst>
                    <a:gs pos="0">
                      <a:srgbClr val="3B82F6"/>
                    </a:gs>
                    <a:gs pos="50000">
                      <a:srgbClr val="8B5CF6"/>
                    </a:gs>
                    <a:gs pos="100000">
                      <a:srgbClr val="10B981"/>
                    </a:gs>
                  </a:gsLst>
                  <a:lin ang="0" scaled="1"/>
                </a:gradFill>
                <a:latin typeface="Liter" pitchFamily="34" charset="0"/>
                <a:ea typeface="Liter" pitchFamily="34" charset="-122"/>
                <a:cs typeface="Liter" pitchFamily="34" charset="-120"/>
              </a:rPr>
              <a:t>Nâng cao lập trình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28381" y="2419350"/>
            <a:ext cx="3335089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với GenAI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4956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341191" y="3838575"/>
            <a:ext cx="5505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Lớp DCT122C3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79241" y="4924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103066" y="5038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3474541" y="4905375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Nhóm trưởng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541" y="5095875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Nguyễn Minh Kiên - 3122411103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24600" y="4924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448425" y="5038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6819900" y="4905375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Thành viên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19900" y="5095875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Phạm Nhật Phương - 3122411162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979241" y="545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3103066" y="5572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3474541" y="5438775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Thành viên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474541" y="5629275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Lê Nhựt Huy - 3122411063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324600" y="545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448425" y="5572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6819900" y="543877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Thành viên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19900" y="5629275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Phạm Nguyễn Thế Hào - 3122411048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829175" y="59817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Thành phố Hồ Chí Minh, tháng 3 năm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Mục lục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566863"/>
            <a:ext cx="5629275" cy="1695450"/>
          </a:xfrm>
          <a:custGeom>
            <a:avLst/>
            <a:gdLst/>
            <a:ahLst/>
            <a:cxnLst/>
            <a:rect l="l" t="t" r="r" b="b"/>
            <a:pathLst>
              <a:path w="5629275" h="1695450">
                <a:moveTo>
                  <a:pt x="114307" y="0"/>
                </a:moveTo>
                <a:lnTo>
                  <a:pt x="5514968" y="0"/>
                </a:lnTo>
                <a:cubicBezTo>
                  <a:pt x="5578098" y="0"/>
                  <a:pt x="5629275" y="51177"/>
                  <a:pt x="5629275" y="114307"/>
                </a:cubicBezTo>
                <a:lnTo>
                  <a:pt x="5629275" y="1581143"/>
                </a:lnTo>
                <a:cubicBezTo>
                  <a:pt x="5629275" y="1644273"/>
                  <a:pt x="5578098" y="1695450"/>
                  <a:pt x="5514968" y="1695450"/>
                </a:cubicBezTo>
                <a:lnTo>
                  <a:pt x="114307" y="1695450"/>
                </a:lnTo>
                <a:cubicBezTo>
                  <a:pt x="51177" y="1695450"/>
                  <a:pt x="0" y="1644273"/>
                  <a:pt x="0" y="15811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762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7295" y="1876425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6825" y="176212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Đằng sau hậu trường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6825" y="2105025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Cách ChatGPT, GitHub Copilot và các LLM hoạt động thông qua mô hình n-gram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6963" y="1566863"/>
            <a:ext cx="5629275" cy="1695450"/>
          </a:xfrm>
          <a:custGeom>
            <a:avLst/>
            <a:gdLst/>
            <a:ahLst/>
            <a:cxnLst/>
            <a:rect l="l" t="t" r="r" b="b"/>
            <a:pathLst>
              <a:path w="5629275" h="1695450">
                <a:moveTo>
                  <a:pt x="114307" y="0"/>
                </a:moveTo>
                <a:lnTo>
                  <a:pt x="5514968" y="0"/>
                </a:lnTo>
                <a:cubicBezTo>
                  <a:pt x="5578098" y="0"/>
                  <a:pt x="5629275" y="51177"/>
                  <a:pt x="5629275" y="114307"/>
                </a:cubicBezTo>
                <a:lnTo>
                  <a:pt x="5629275" y="1581143"/>
                </a:lnTo>
                <a:cubicBezTo>
                  <a:pt x="5629275" y="1644273"/>
                  <a:pt x="5578098" y="1695450"/>
                  <a:pt x="5514968" y="1695450"/>
                </a:cubicBezTo>
                <a:lnTo>
                  <a:pt x="114307" y="1695450"/>
                </a:lnTo>
                <a:cubicBezTo>
                  <a:pt x="51177" y="1695450"/>
                  <a:pt x="0" y="1644273"/>
                  <a:pt x="0" y="15811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1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2225" y="1762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6506468" y="18764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8025" y="1762125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Đọc và hiểu cơ sở mã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8025" y="2105025"/>
            <a:ext cx="3819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Xây dựng microservice Manhattan Distance API với Flask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420963"/>
            <a:ext cx="5629275" cy="1447800"/>
          </a:xfrm>
          <a:custGeom>
            <a:avLst/>
            <a:gdLst/>
            <a:ahLst/>
            <a:cxnLst/>
            <a:rect l="l" t="t" r="r" b="b"/>
            <a:pathLst>
              <a:path w="5629275" h="144780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333496"/>
                </a:lnTo>
                <a:cubicBezTo>
                  <a:pt x="5629275" y="1396624"/>
                  <a:pt x="5578099" y="1447800"/>
                  <a:pt x="5514971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025" y="36162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12291" y="373052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6825" y="3616226"/>
            <a:ext cx="286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Giới thiệu Prompt Engineering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6825" y="3959126"/>
            <a:ext cx="2847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Learning và các kỹ thuật cơ bản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963" y="3420963"/>
            <a:ext cx="5629275" cy="1447800"/>
          </a:xfrm>
          <a:custGeom>
            <a:avLst/>
            <a:gdLst/>
            <a:ahLst/>
            <a:cxnLst/>
            <a:rect l="l" t="t" r="r" b="b"/>
            <a:pathLst>
              <a:path w="5629275" h="144780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333496"/>
                </a:lnTo>
                <a:cubicBezTo>
                  <a:pt x="5629275" y="1396624"/>
                  <a:pt x="5578099" y="1447800"/>
                  <a:pt x="5514971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2225" y="36162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506617" y="373052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8025" y="3616226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Engineering Nâng cao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58025" y="3959126"/>
            <a:ext cx="2590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Chain-of-Thought và Prompt Chaining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5027563"/>
            <a:ext cx="5629275" cy="1447800"/>
          </a:xfrm>
          <a:custGeom>
            <a:avLst/>
            <a:gdLst/>
            <a:ahLst/>
            <a:cxnLst/>
            <a:rect l="l" t="t" r="r" b="b"/>
            <a:pathLst>
              <a:path w="5629275" h="144780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333496"/>
                </a:lnTo>
                <a:cubicBezTo>
                  <a:pt x="5629275" y="1396624"/>
                  <a:pt x="5578099" y="1447800"/>
                  <a:pt x="5514971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EC4899">
                  <a:alpha val="10000"/>
                </a:srgbClr>
              </a:gs>
              <a:gs pos="100000">
                <a:srgbClr val="EC4899">
                  <a:alpha val="5000"/>
                </a:srgbClr>
              </a:gs>
            </a:gsLst>
            <a:lin ang="2700000" scaled="1"/>
          </a:gradFill>
          <a:ln w="12700">
            <a:solidFill>
              <a:srgbClr val="EC4899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1025" y="5222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711994" y="53371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66825" y="52228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Tái cấu trúc mã với GenAI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66825" y="5565725"/>
            <a:ext cx="3228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Refactoring: Readability, Structure, Performance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6963" y="5027563"/>
            <a:ext cx="5629275" cy="1447800"/>
          </a:xfrm>
          <a:custGeom>
            <a:avLst/>
            <a:gdLst/>
            <a:ahLst/>
            <a:cxnLst/>
            <a:rect l="l" t="t" r="r" b="b"/>
            <a:pathLst>
              <a:path w="5629275" h="144780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333496"/>
                </a:lnTo>
                <a:cubicBezTo>
                  <a:pt x="5629275" y="1396624"/>
                  <a:pt x="5578099" y="1447800"/>
                  <a:pt x="5514971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>
                  <a:alpha val="1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270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2225" y="5222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501705" y="53371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58025" y="5222825"/>
            <a:ext cx="280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Tinh chỉnh mô hình với OpenAI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58025" y="5565725"/>
            <a:ext cx="2781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Models và pipeline triển khai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e1443d25194f9856776fc6256636a1deb24ae1bc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5603" b="560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053828"/>
            <a:ext cx="1171575" cy="390525"/>
          </a:xfrm>
          <a:custGeom>
            <a:avLst/>
            <a:gdLst/>
            <a:ahLst/>
            <a:cxnLst/>
            <a:rect l="l" t="t" r="r" b="b"/>
            <a:pathLst>
              <a:path w="1171575" h="390525">
                <a:moveTo>
                  <a:pt x="195263" y="0"/>
                </a:moveTo>
                <a:lnTo>
                  <a:pt x="976312" y="0"/>
                </a:lnTo>
                <a:cubicBezTo>
                  <a:pt x="1084081" y="0"/>
                  <a:pt x="1171575" y="87494"/>
                  <a:pt x="1171575" y="195263"/>
                </a:cubicBezTo>
                <a:lnTo>
                  <a:pt x="1171575" y="195263"/>
                </a:lnTo>
                <a:cubicBezTo>
                  <a:pt x="1171575" y="303031"/>
                  <a:pt x="1084081" y="390525"/>
                  <a:pt x="976312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2163366"/>
            <a:ext cx="9298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830116"/>
            <a:ext cx="1171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Đằng sau hậu trường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773091"/>
            <a:ext cx="86772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1F5F9">
                    <a:alpha val="8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Cách ChatGPT, GitHub Copilot và Các LLM khác hoạt động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45612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4542234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hình hóa ngôn ngữ với n-gram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6: ĐẰNG SAU HẬU TRƯỜNG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Mục tiêu và Dữ liệu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5448300" cy="3743325"/>
          </a:xfrm>
          <a:custGeom>
            <a:avLst/>
            <a:gdLst/>
            <a:ahLst/>
            <a:cxnLst/>
            <a:rect l="l" t="t" r="r" b="b"/>
            <a:pathLst>
              <a:path w="5448300" h="3743325">
                <a:moveTo>
                  <a:pt x="114284" y="0"/>
                </a:moveTo>
                <a:lnTo>
                  <a:pt x="5334016" y="0"/>
                </a:lnTo>
                <a:cubicBezTo>
                  <a:pt x="5397133" y="0"/>
                  <a:pt x="5448300" y="51167"/>
                  <a:pt x="5448300" y="114284"/>
                </a:cubicBezTo>
                <a:lnTo>
                  <a:pt x="5448300" y="3629041"/>
                </a:lnTo>
                <a:cubicBezTo>
                  <a:pt x="5448300" y="3692158"/>
                  <a:pt x="5397133" y="3743325"/>
                  <a:pt x="5334016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Mục tiêu bài thực hành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975" y="22621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47725" y="2224088"/>
            <a:ext cx="490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Tái tạo các Figure 6.1 → 6.9 để minh họa cách mô hình hóa ngôn ngữ bằng thống kê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n-gram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1975" y="31861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47725" y="3148013"/>
            <a:ext cx="458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Khai thác tập văn bản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Reuters-21578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làm sạch và chuẩn hóa dữ liệu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38814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47725" y="3843338"/>
            <a:ext cx="418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Tính tần suất ký tự và n-gram (1→7) để tạo phân phối xác suất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975" y="45767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25" y="4538663"/>
            <a:ext cx="454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Sinh văn bản ngẫu nhiên và so sánh chất lượng theo mức ngữ cảnh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5281613"/>
            <a:ext cx="5448300" cy="1190625"/>
          </a:xfrm>
          <a:custGeom>
            <a:avLst/>
            <a:gdLst/>
            <a:ahLst/>
            <a:cxnLst/>
            <a:rect l="l" t="t" r="r" b="b"/>
            <a:pathLst>
              <a:path w="5448300" h="1190625">
                <a:moveTo>
                  <a:pt x="114300" y="0"/>
                </a:moveTo>
                <a:lnTo>
                  <a:pt x="5334000" y="0"/>
                </a:lnTo>
                <a:cubicBezTo>
                  <a:pt x="5397084" y="0"/>
                  <a:pt x="5448300" y="51216"/>
                  <a:pt x="5448300" y="114300"/>
                </a:cubicBezTo>
                <a:lnTo>
                  <a:pt x="5448300" y="1076325"/>
                </a:lnTo>
                <a:cubicBezTo>
                  <a:pt x="5448300" y="1139409"/>
                  <a:pt x="5397084" y="1190625"/>
                  <a:pt x="5334000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1000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550" y="54768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95350" y="5438775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Ý nghĩa thực nghiệm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2925" y="5819775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Thực nghiệm cơ bản nhưng quan trọng để hiểu mối liên hệ giữa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dữ liệu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ngữ cảnh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và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chất lượng văn bản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sinh ra.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4088" y="1376363"/>
            <a:ext cx="5772150" cy="5095875"/>
          </a:xfrm>
          <a:custGeom>
            <a:avLst/>
            <a:gdLst/>
            <a:ahLst/>
            <a:cxnLst/>
            <a:rect l="l" t="t" r="r" b="b"/>
            <a:pathLst>
              <a:path w="5772150" h="5095875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4981575"/>
                </a:lnTo>
                <a:cubicBezTo>
                  <a:pt x="5772150" y="5044701"/>
                  <a:pt x="5720976" y="5095875"/>
                  <a:pt x="5657850" y="5095875"/>
                </a:cubicBezTo>
                <a:lnTo>
                  <a:pt x="114300" y="5095875"/>
                </a:lnTo>
                <a:cubicBezTo>
                  <a:pt x="51174" y="5095875"/>
                  <a:pt x="0" y="5044701"/>
                  <a:pt x="0" y="4981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1250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98406" y="16287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686550" y="159067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Dữ liệu Reuters-21578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2119313"/>
            <a:ext cx="5457825" cy="762000"/>
          </a:xfrm>
          <a:custGeom>
            <a:avLst/>
            <a:gdLst/>
            <a:ahLst/>
            <a:cxnLst/>
            <a:rect l="l" t="t" r="r" b="b"/>
            <a:pathLst>
              <a:path w="5457825" h="762000">
                <a:moveTo>
                  <a:pt x="76200" y="0"/>
                </a:moveTo>
                <a:lnTo>
                  <a:pt x="5381625" y="0"/>
                </a:lnTo>
                <a:cubicBezTo>
                  <a:pt x="5423681" y="0"/>
                  <a:pt x="5457825" y="34144"/>
                  <a:pt x="5457825" y="76200"/>
                </a:cubicBezTo>
                <a:lnTo>
                  <a:pt x="5457825" y="685800"/>
                </a:lnTo>
                <a:cubicBezTo>
                  <a:pt x="5457825" y="727856"/>
                  <a:pt x="5423681" y="762000"/>
                  <a:pt x="53816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6315075" y="227171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6669" y="67151"/>
                </a:moveTo>
                <a:lnTo>
                  <a:pt x="9644" y="88166"/>
                </a:lnTo>
                <a:lnTo>
                  <a:pt x="9644" y="28575"/>
                </a:lnTo>
                <a:cubicBezTo>
                  <a:pt x="9644" y="18068"/>
                  <a:pt x="18187" y="9525"/>
                  <a:pt x="28694" y="9525"/>
                </a:cubicBezTo>
                <a:lnTo>
                  <a:pt x="69979" y="9525"/>
                </a:lnTo>
                <a:cubicBezTo>
                  <a:pt x="74087" y="9525"/>
                  <a:pt x="78105" y="10864"/>
                  <a:pt x="81409" y="13335"/>
                </a:cubicBezTo>
                <a:lnTo>
                  <a:pt x="92839" y="21908"/>
                </a:lnTo>
                <a:cubicBezTo>
                  <a:pt x="94476" y="23158"/>
                  <a:pt x="96500" y="23813"/>
                  <a:pt x="98554" y="23813"/>
                </a:cubicBezTo>
                <a:lnTo>
                  <a:pt x="133469" y="23813"/>
                </a:lnTo>
                <a:cubicBezTo>
                  <a:pt x="143976" y="23813"/>
                  <a:pt x="152519" y="32355"/>
                  <a:pt x="152519" y="42863"/>
                </a:cubicBezTo>
                <a:lnTo>
                  <a:pt x="152519" y="47625"/>
                </a:lnTo>
                <a:lnTo>
                  <a:pt x="43755" y="47625"/>
                </a:lnTo>
                <a:cubicBezTo>
                  <a:pt x="31462" y="47625"/>
                  <a:pt x="20538" y="55483"/>
                  <a:pt x="16639" y="67151"/>
                </a:cubicBezTo>
                <a:close/>
                <a:moveTo>
                  <a:pt x="142220" y="133350"/>
                </a:moveTo>
                <a:lnTo>
                  <a:pt x="29468" y="133350"/>
                </a:lnTo>
                <a:cubicBezTo>
                  <a:pt x="19705" y="133350"/>
                  <a:pt x="12829" y="123795"/>
                  <a:pt x="15925" y="114538"/>
                </a:cubicBezTo>
                <a:lnTo>
                  <a:pt x="30212" y="71676"/>
                </a:lnTo>
                <a:cubicBezTo>
                  <a:pt x="32147" y="65842"/>
                  <a:pt x="37624" y="61912"/>
                  <a:pt x="43755" y="61912"/>
                </a:cubicBezTo>
                <a:lnTo>
                  <a:pt x="156508" y="61912"/>
                </a:lnTo>
                <a:cubicBezTo>
                  <a:pt x="166271" y="61912"/>
                  <a:pt x="173147" y="71467"/>
                  <a:pt x="170051" y="80724"/>
                </a:cubicBezTo>
                <a:lnTo>
                  <a:pt x="155764" y="123587"/>
                </a:lnTo>
                <a:cubicBezTo>
                  <a:pt x="153829" y="129421"/>
                  <a:pt x="148352" y="133350"/>
                  <a:pt x="142220" y="1333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572250" y="2233613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Nguồn dữ liệu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5550" y="2538413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file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.sgm</a:t>
            </a: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chứa mẩu tin tức tài chính/kinh tế, giải nén vào thư mục ch6/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3176588"/>
            <a:ext cx="5457825" cy="990600"/>
          </a:xfrm>
          <a:custGeom>
            <a:avLst/>
            <a:gdLst/>
            <a:ahLst/>
            <a:cxnLst/>
            <a:rect l="l" t="t" r="r" b="b"/>
            <a:pathLst>
              <a:path w="5457825" h="990600">
                <a:moveTo>
                  <a:pt x="76197" y="0"/>
                </a:moveTo>
                <a:lnTo>
                  <a:pt x="5381628" y="0"/>
                </a:lnTo>
                <a:cubicBezTo>
                  <a:pt x="5423710" y="0"/>
                  <a:pt x="5457825" y="34115"/>
                  <a:pt x="5457825" y="76197"/>
                </a:cubicBezTo>
                <a:lnTo>
                  <a:pt x="5457825" y="914403"/>
                </a:lnTo>
                <a:cubicBezTo>
                  <a:pt x="5457825" y="956485"/>
                  <a:pt x="5423710" y="990600"/>
                  <a:pt x="53816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43650" y="33289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572250" y="3290888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Cấu trúc dữ liệu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5550" y="3595688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Mỗi file chứa nhiều bài tin với thẻ . Chỉ lấy nội dung văn bản chính, loại ký tự ngoài [a-z ].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1250" y="4462463"/>
            <a:ext cx="5457825" cy="990600"/>
          </a:xfrm>
          <a:custGeom>
            <a:avLst/>
            <a:gdLst/>
            <a:ahLst/>
            <a:cxnLst/>
            <a:rect l="l" t="t" r="r" b="b"/>
            <a:pathLst>
              <a:path w="5457825" h="990600">
                <a:moveTo>
                  <a:pt x="76197" y="0"/>
                </a:moveTo>
                <a:lnTo>
                  <a:pt x="5381628" y="0"/>
                </a:lnTo>
                <a:cubicBezTo>
                  <a:pt x="5423710" y="0"/>
                  <a:pt x="5457825" y="34115"/>
                  <a:pt x="5457825" y="76197"/>
                </a:cubicBezTo>
                <a:lnTo>
                  <a:pt x="5457825" y="914403"/>
                </a:lnTo>
                <a:cubicBezTo>
                  <a:pt x="5457825" y="956485"/>
                  <a:pt x="5423710" y="990600"/>
                  <a:pt x="53816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4" name="Shape 32"/>
          <p:cNvSpPr/>
          <p:nvPr/>
        </p:nvSpPr>
        <p:spPr>
          <a:xfrm>
            <a:off x="6324600" y="46148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572250" y="4576763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Đặc điểm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5550" y="4881563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Văn bản tin tức có cấu trúc nhẹ, giàu từ vựng chuyên ngành. Các mẫu n-gram phổ biến phản ánh cấu trúc câu báo chí.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6013" y="5753100"/>
            <a:ext cx="5448300" cy="466725"/>
          </a:xfrm>
          <a:custGeom>
            <a:avLst/>
            <a:gdLst/>
            <a:ahLst/>
            <a:cxnLst/>
            <a:rect l="l" t="t" r="r" b="b"/>
            <a:pathLst>
              <a:path w="5448300" h="466725">
                <a:moveTo>
                  <a:pt x="76202" y="0"/>
                </a:moveTo>
                <a:lnTo>
                  <a:pt x="5372098" y="0"/>
                </a:lnTo>
                <a:cubicBezTo>
                  <a:pt x="5414183" y="0"/>
                  <a:pt x="5448300" y="34117"/>
                  <a:pt x="5448300" y="76202"/>
                </a:cubicBezTo>
                <a:lnTo>
                  <a:pt x="5448300" y="390523"/>
                </a:lnTo>
                <a:cubicBezTo>
                  <a:pt x="5448300" y="432608"/>
                  <a:pt x="5414183" y="466725"/>
                  <a:pt x="53720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4125" y="59102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562725" y="5872163"/>
            <a:ext cx="503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Ví dụ patterns:</a:t>
            </a: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"said"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"market"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"company"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6: ĐẰNG SAU HẬU TRƯỜNG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Phương pháp luận: 3 Mức độ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3695700" cy="5095875"/>
          </a:xfrm>
          <a:custGeom>
            <a:avLst/>
            <a:gdLst/>
            <a:ahLst/>
            <a:cxnLst/>
            <a:rect l="l" t="t" r="r" b="b"/>
            <a:pathLst>
              <a:path w="3695700" h="509587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981567"/>
                </a:lnTo>
                <a:cubicBezTo>
                  <a:pt x="3695700" y="5044698"/>
                  <a:pt x="3644523" y="5095875"/>
                  <a:pt x="3581392" y="5095875"/>
                </a:cubicBezTo>
                <a:lnTo>
                  <a:pt x="114308" y="5095875"/>
                </a:lnTo>
                <a:cubicBezTo>
                  <a:pt x="51177" y="5095875"/>
                  <a:pt x="0" y="5044698"/>
                  <a:pt x="0" y="49815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61095" y="1609725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4425" y="1628775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Mức ý tưởng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225576"/>
            <a:ext cx="3381375" cy="1276350"/>
          </a:xfrm>
          <a:custGeom>
            <a:avLst/>
            <a:gdLst/>
            <a:ahLst/>
            <a:cxnLst/>
            <a:rect l="l" t="t" r="r" b="b"/>
            <a:pathLst>
              <a:path w="3381375" h="127635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1200152"/>
                </a:lnTo>
                <a:cubicBezTo>
                  <a:pt x="3381375" y="1242235"/>
                  <a:pt x="3347260" y="1276350"/>
                  <a:pt x="3305177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2339876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Ý tưởng cốt lõi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644676"/>
            <a:ext cx="32289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hình hóa ngôn ngữ bằng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xác suất có điều kiện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Với n-gram, xác suất ký tự tiếp theo phụ thuộc vào chuỗi ký tự trước đó.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3857476"/>
            <a:ext cx="3381375" cy="1276350"/>
          </a:xfrm>
          <a:custGeom>
            <a:avLst/>
            <a:gdLst/>
            <a:ahLst/>
            <a:cxnLst/>
            <a:rect l="l" t="t" r="r" b="b"/>
            <a:pathLst>
              <a:path w="3381375" h="127635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1200152"/>
                </a:lnTo>
                <a:cubicBezTo>
                  <a:pt x="3381375" y="1242235"/>
                  <a:pt x="3347260" y="1276350"/>
                  <a:pt x="3305177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57225" y="3971776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Nguyên lý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4276576"/>
            <a:ext cx="32289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Khi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càng lớn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ngữ cảnh càng giàu thông tin, chuỗi sinh ra có khả năng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"giống ngôn ngữ thật"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hơn.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7688" y="5494288"/>
            <a:ext cx="3371850" cy="695325"/>
          </a:xfrm>
          <a:custGeom>
            <a:avLst/>
            <a:gdLst/>
            <a:ahLst/>
            <a:cxnLst/>
            <a:rect l="l" t="t" r="r" b="b"/>
            <a:pathLst>
              <a:path w="3371850" h="695325">
                <a:moveTo>
                  <a:pt x="76201" y="0"/>
                </a:moveTo>
                <a:lnTo>
                  <a:pt x="3295649" y="0"/>
                </a:lnTo>
                <a:cubicBezTo>
                  <a:pt x="3337734" y="0"/>
                  <a:pt x="3371850" y="34116"/>
                  <a:pt x="3371850" y="76201"/>
                </a:cubicBezTo>
                <a:lnTo>
                  <a:pt x="3371850" y="619124"/>
                </a:lnTo>
                <a:cubicBezTo>
                  <a:pt x="3371850" y="661209"/>
                  <a:pt x="3337734" y="695325"/>
                  <a:pt x="32956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850" y="56514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613350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Cách tiếp cận kinh điển trước khi có học sâu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6513" y="1376363"/>
            <a:ext cx="3695700" cy="5095875"/>
          </a:xfrm>
          <a:custGeom>
            <a:avLst/>
            <a:gdLst/>
            <a:ahLst/>
            <a:cxnLst/>
            <a:rect l="l" t="t" r="r" b="b"/>
            <a:pathLst>
              <a:path w="3695700" h="509587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981567"/>
                </a:lnTo>
                <a:cubicBezTo>
                  <a:pt x="3695700" y="5044698"/>
                  <a:pt x="3644523" y="5095875"/>
                  <a:pt x="3581392" y="5095875"/>
                </a:cubicBezTo>
                <a:lnTo>
                  <a:pt x="114308" y="5095875"/>
                </a:lnTo>
                <a:cubicBezTo>
                  <a:pt x="51177" y="5095875"/>
                  <a:pt x="0" y="5044698"/>
                  <a:pt x="0" y="49815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1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36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499818" y="16097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75175" y="162877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Mức luận lý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03675" y="2138363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495302"/>
                </a:lnTo>
                <a:cubicBezTo>
                  <a:pt x="3381375" y="537385"/>
                  <a:pt x="3347260" y="571500"/>
                  <a:pt x="33051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4479875" y="22336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893" y="2252663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84675" y="2214563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Trích xuất nội dung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84675" y="2443163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Lấy văn bản trong thẻ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3675" y="2852738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495302"/>
                </a:lnTo>
                <a:cubicBezTo>
                  <a:pt x="3381375" y="537385"/>
                  <a:pt x="3347260" y="571500"/>
                  <a:pt x="33051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8" name="Shape 26"/>
          <p:cNvSpPr/>
          <p:nvPr/>
        </p:nvSpPr>
        <p:spPr>
          <a:xfrm>
            <a:off x="4479875" y="29479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60094" y="2967038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84675" y="2928938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Tiền xử lý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84675" y="3157538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Chữ thường, loại ký tự không hợp lệ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03675" y="3567113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495302"/>
                </a:lnTo>
                <a:cubicBezTo>
                  <a:pt x="3381375" y="537385"/>
                  <a:pt x="3347260" y="571500"/>
                  <a:pt x="33051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9875" y="36623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58457" y="3681413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84675" y="3643313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Tính tần suất n-gram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84675" y="3871913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Trượt cửa sổ độ dài n, lưu freq#.pkl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03675" y="4281488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495302"/>
                </a:lnTo>
                <a:cubicBezTo>
                  <a:pt x="3381375" y="537385"/>
                  <a:pt x="3347260" y="571500"/>
                  <a:pt x="33051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Shape 36"/>
          <p:cNvSpPr/>
          <p:nvPr/>
        </p:nvSpPr>
        <p:spPr>
          <a:xfrm>
            <a:off x="4479875" y="43767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560243" y="4395788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84675" y="4357688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Tần suất chữ cái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84675" y="4586288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letter_frequencies.csv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03675" y="4995863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495302"/>
                </a:lnTo>
                <a:cubicBezTo>
                  <a:pt x="3381375" y="537385"/>
                  <a:pt x="3347260" y="571500"/>
                  <a:pt x="33051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3" name="Shape 41"/>
          <p:cNvSpPr/>
          <p:nvPr/>
        </p:nvSpPr>
        <p:spPr>
          <a:xfrm>
            <a:off x="4479875" y="50911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558159" y="5110163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784675" y="507206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Bảng xác suất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784675" y="5300663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Từ freq2.pkl → bảng 26×26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03675" y="5710238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495302"/>
                </a:lnTo>
                <a:cubicBezTo>
                  <a:pt x="3381375" y="537385"/>
                  <a:pt x="3347260" y="571500"/>
                  <a:pt x="33051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8" name="Shape 46"/>
          <p:cNvSpPr/>
          <p:nvPr/>
        </p:nvSpPr>
        <p:spPr>
          <a:xfrm>
            <a:off x="4479875" y="58054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557415" y="5824538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784675" y="5786438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Sinh văn bản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784675" y="6015038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n=1: phân phối toàn cục; n≥2: có điều kiện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07263" y="1376363"/>
            <a:ext cx="3695700" cy="5095875"/>
          </a:xfrm>
          <a:custGeom>
            <a:avLst/>
            <a:gdLst/>
            <a:ahLst/>
            <a:cxnLst/>
            <a:rect l="l" t="t" r="r" b="b"/>
            <a:pathLst>
              <a:path w="3695700" h="509587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981567"/>
                </a:lnTo>
                <a:cubicBezTo>
                  <a:pt x="3695700" y="5044698"/>
                  <a:pt x="3644523" y="5095875"/>
                  <a:pt x="3581392" y="5095875"/>
                </a:cubicBezTo>
                <a:lnTo>
                  <a:pt x="114308" y="5095875"/>
                </a:lnTo>
                <a:cubicBezTo>
                  <a:pt x="51177" y="5095875"/>
                  <a:pt x="0" y="5044698"/>
                  <a:pt x="0" y="49815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4426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8357592" y="16097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835926" y="1628775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Mức vật lý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64426" y="2150269"/>
            <a:ext cx="3381375" cy="762000"/>
          </a:xfrm>
          <a:custGeom>
            <a:avLst/>
            <a:gdLst/>
            <a:ahLst/>
            <a:cxnLst/>
            <a:rect l="l" t="t" r="r" b="b"/>
            <a:pathLst>
              <a:path w="3381375" h="762000">
                <a:moveTo>
                  <a:pt x="76200" y="0"/>
                </a:moveTo>
                <a:lnTo>
                  <a:pt x="3305175" y="0"/>
                </a:lnTo>
                <a:cubicBezTo>
                  <a:pt x="3347231" y="0"/>
                  <a:pt x="3381375" y="34144"/>
                  <a:pt x="3381375" y="76200"/>
                </a:cubicBezTo>
                <a:lnTo>
                  <a:pt x="3381375" y="685800"/>
                </a:lnTo>
                <a:cubicBezTo>
                  <a:pt x="3381375" y="727856"/>
                  <a:pt x="3347231" y="762000"/>
                  <a:pt x="33051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7" name="Shape 55"/>
          <p:cNvSpPr/>
          <p:nvPr/>
        </p:nvSpPr>
        <p:spPr>
          <a:xfrm>
            <a:off x="8378726" y="230266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171450" y="100013"/>
                </a:lnTo>
                <a:lnTo>
                  <a:pt x="152400" y="100013"/>
                </a:lnTo>
                <a:lnTo>
                  <a:pt x="152400" y="28575"/>
                </a:lnTo>
                <a:lnTo>
                  <a:pt x="38100" y="28575"/>
                </a:lnTo>
                <a:lnTo>
                  <a:pt x="38100" y="100013"/>
                </a:lnTo>
                <a:lnTo>
                  <a:pt x="19050" y="100013"/>
                </a:lnTo>
                <a:lnTo>
                  <a:pt x="19050" y="28575"/>
                </a:lnTo>
                <a:close/>
                <a:moveTo>
                  <a:pt x="0" y="120015"/>
                </a:moveTo>
                <a:cubicBezTo>
                  <a:pt x="0" y="116860"/>
                  <a:pt x="2560" y="114300"/>
                  <a:pt x="5715" y="114300"/>
                </a:cubicBezTo>
                <a:lnTo>
                  <a:pt x="184785" y="114300"/>
                </a:lnTo>
                <a:cubicBezTo>
                  <a:pt x="187940" y="114300"/>
                  <a:pt x="190500" y="116860"/>
                  <a:pt x="190500" y="120015"/>
                </a:cubicBezTo>
                <a:cubicBezTo>
                  <a:pt x="190500" y="132636"/>
                  <a:pt x="180261" y="142875"/>
                  <a:pt x="167640" y="142875"/>
                </a:cubicBezTo>
                <a:lnTo>
                  <a:pt x="22860" y="142875"/>
                </a:lnTo>
                <a:cubicBezTo>
                  <a:pt x="10239" y="142875"/>
                  <a:pt x="0" y="132636"/>
                  <a:pt x="0" y="120015"/>
                </a:cubicBezTo>
                <a:close/>
                <a:moveTo>
                  <a:pt x="83641" y="62210"/>
                </a:moveTo>
                <a:lnTo>
                  <a:pt x="74414" y="71438"/>
                </a:lnTo>
                <a:lnTo>
                  <a:pt x="83641" y="80665"/>
                </a:lnTo>
                <a:cubicBezTo>
                  <a:pt x="86439" y="83463"/>
                  <a:pt x="86439" y="87987"/>
                  <a:pt x="83641" y="90755"/>
                </a:cubicBezTo>
                <a:cubicBezTo>
                  <a:pt x="80843" y="93524"/>
                  <a:pt x="76319" y="93553"/>
                  <a:pt x="73551" y="90755"/>
                </a:cubicBezTo>
                <a:lnTo>
                  <a:pt x="59263" y="76468"/>
                </a:lnTo>
                <a:cubicBezTo>
                  <a:pt x="56465" y="73670"/>
                  <a:pt x="56465" y="69146"/>
                  <a:pt x="59263" y="66377"/>
                </a:cubicBezTo>
                <a:lnTo>
                  <a:pt x="73551" y="52090"/>
                </a:lnTo>
                <a:cubicBezTo>
                  <a:pt x="76349" y="49292"/>
                  <a:pt x="80873" y="49292"/>
                  <a:pt x="83641" y="52090"/>
                </a:cubicBezTo>
                <a:cubicBezTo>
                  <a:pt x="86410" y="54888"/>
                  <a:pt x="86439" y="59412"/>
                  <a:pt x="83641" y="62180"/>
                </a:cubicBezTo>
                <a:close/>
                <a:moveTo>
                  <a:pt x="116979" y="52090"/>
                </a:moveTo>
                <a:lnTo>
                  <a:pt x="131266" y="66377"/>
                </a:lnTo>
                <a:cubicBezTo>
                  <a:pt x="134064" y="69175"/>
                  <a:pt x="134064" y="73700"/>
                  <a:pt x="131266" y="76468"/>
                </a:cubicBezTo>
                <a:lnTo>
                  <a:pt x="116979" y="90755"/>
                </a:lnTo>
                <a:cubicBezTo>
                  <a:pt x="114181" y="93553"/>
                  <a:pt x="109657" y="93553"/>
                  <a:pt x="106888" y="90755"/>
                </a:cubicBezTo>
                <a:cubicBezTo>
                  <a:pt x="104120" y="87957"/>
                  <a:pt x="104090" y="83433"/>
                  <a:pt x="106888" y="80665"/>
                </a:cubicBezTo>
                <a:lnTo>
                  <a:pt x="116116" y="71438"/>
                </a:lnTo>
                <a:lnTo>
                  <a:pt x="106888" y="62210"/>
                </a:lnTo>
                <a:cubicBezTo>
                  <a:pt x="104090" y="59412"/>
                  <a:pt x="104090" y="54888"/>
                  <a:pt x="106888" y="52120"/>
                </a:cubicBezTo>
                <a:cubicBezTo>
                  <a:pt x="109686" y="49351"/>
                  <a:pt x="114211" y="49322"/>
                  <a:pt x="116979" y="5212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8645426" y="2264569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Triển khai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78726" y="2569369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Notebook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generate_statistical_text.ipynb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64426" y="3117056"/>
            <a:ext cx="3381375" cy="762000"/>
          </a:xfrm>
          <a:custGeom>
            <a:avLst/>
            <a:gdLst/>
            <a:ahLst/>
            <a:cxnLst/>
            <a:rect l="l" t="t" r="r" b="b"/>
            <a:pathLst>
              <a:path w="3381375" h="762000">
                <a:moveTo>
                  <a:pt x="76200" y="0"/>
                </a:moveTo>
                <a:lnTo>
                  <a:pt x="3305175" y="0"/>
                </a:lnTo>
                <a:cubicBezTo>
                  <a:pt x="3347231" y="0"/>
                  <a:pt x="3381375" y="34144"/>
                  <a:pt x="3381375" y="76200"/>
                </a:cubicBezTo>
                <a:lnTo>
                  <a:pt x="3381375" y="685800"/>
                </a:lnTo>
                <a:cubicBezTo>
                  <a:pt x="3381375" y="727856"/>
                  <a:pt x="3347231" y="762000"/>
                  <a:pt x="33051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1" name="Shape 59"/>
          <p:cNvSpPr/>
          <p:nvPr/>
        </p:nvSpPr>
        <p:spPr>
          <a:xfrm>
            <a:off x="8397776" y="32694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33350"/>
                </a:move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42863"/>
                </a:lnTo>
                <a:cubicBezTo>
                  <a:pt x="152400" y="32355"/>
                  <a:pt x="143857" y="23813"/>
                  <a:pt x="133350" y="23813"/>
                </a:cubicBezTo>
                <a:lnTo>
                  <a:pt x="88910" y="23813"/>
                </a:lnTo>
                <a:cubicBezTo>
                  <a:pt x="86856" y="23813"/>
                  <a:pt x="84832" y="23158"/>
                  <a:pt x="83195" y="21908"/>
                </a:cubicBezTo>
                <a:lnTo>
                  <a:pt x="71765" y="13335"/>
                </a:lnTo>
                <a:cubicBezTo>
                  <a:pt x="68461" y="10864"/>
                  <a:pt x="64443" y="9525"/>
                  <a:pt x="60335" y="9525"/>
                </a:cubicBez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8645426" y="32313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Dữ liệu đầu vào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78726" y="3536156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Thư mục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ch6/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chứa các file .sgm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64426" y="4083844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76197" y="0"/>
                </a:moveTo>
                <a:lnTo>
                  <a:pt x="3305178" y="0"/>
                </a:lnTo>
                <a:cubicBezTo>
                  <a:pt x="3347260" y="0"/>
                  <a:pt x="3381375" y="34115"/>
                  <a:pt x="3381375" y="76197"/>
                </a:cubicBezTo>
                <a:lnTo>
                  <a:pt x="3381375" y="914403"/>
                </a:lnTo>
                <a:cubicBezTo>
                  <a:pt x="3381375" y="956485"/>
                  <a:pt x="3347260" y="990600"/>
                  <a:pt x="3305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5" name="Shape 63"/>
          <p:cNvSpPr/>
          <p:nvPr/>
        </p:nvSpPr>
        <p:spPr>
          <a:xfrm>
            <a:off x="8407301" y="423624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51584"/>
                </a:lnTo>
                <a:cubicBezTo>
                  <a:pt x="133350" y="46524"/>
                  <a:pt x="131356" y="41672"/>
                  <a:pt x="127784" y="38100"/>
                </a:cubicBezTo>
                <a:lnTo>
                  <a:pt x="104775" y="15091"/>
                </a:lnTo>
                <a:cubicBezTo>
                  <a:pt x="101203" y="11519"/>
                  <a:pt x="96351" y="9525"/>
                  <a:pt x="91291" y="9525"/>
                </a:cubicBezTo>
                <a:lnTo>
                  <a:pt x="19050" y="9525"/>
                </a:lnTo>
                <a:close/>
                <a:moveTo>
                  <a:pt x="28575" y="38100"/>
                </a:moveTo>
                <a:cubicBezTo>
                  <a:pt x="28575" y="32831"/>
                  <a:pt x="32831" y="28575"/>
                  <a:pt x="38100" y="28575"/>
                </a:cubicBezTo>
                <a:lnTo>
                  <a:pt x="85725" y="28575"/>
                </a:lnTo>
                <a:cubicBezTo>
                  <a:pt x="90994" y="28575"/>
                  <a:pt x="95250" y="32831"/>
                  <a:pt x="95250" y="38100"/>
                </a:cubicBezTo>
                <a:lnTo>
                  <a:pt x="95250" y="57150"/>
                </a:lnTo>
                <a:cubicBezTo>
                  <a:pt x="95250" y="62419"/>
                  <a:pt x="90994" y="66675"/>
                  <a:pt x="85725" y="66675"/>
                </a:cubicBezTo>
                <a:lnTo>
                  <a:pt x="38100" y="66675"/>
                </a:lnTo>
                <a:cubicBezTo>
                  <a:pt x="32831" y="66675"/>
                  <a:pt x="28575" y="62419"/>
                  <a:pt x="28575" y="57150"/>
                </a:cubicBezTo>
                <a:lnTo>
                  <a:pt x="28575" y="38100"/>
                </a:lnTo>
                <a:close/>
                <a:moveTo>
                  <a:pt x="66675" y="85725"/>
                </a:moveTo>
                <a:cubicBezTo>
                  <a:pt x="77189" y="85725"/>
                  <a:pt x="85725" y="94261"/>
                  <a:pt x="85725" y="104775"/>
                </a:cubicBezTo>
                <a:cubicBezTo>
                  <a:pt x="85725" y="115289"/>
                  <a:pt x="77189" y="123825"/>
                  <a:pt x="66675" y="123825"/>
                </a:cubicBezTo>
                <a:cubicBezTo>
                  <a:pt x="56161" y="123825"/>
                  <a:pt x="47625" y="115289"/>
                  <a:pt x="47625" y="104775"/>
                </a:cubicBezTo>
                <a:cubicBezTo>
                  <a:pt x="47625" y="94261"/>
                  <a:pt x="56161" y="85725"/>
                  <a:pt x="66675" y="8572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8645426" y="4198144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Dữ liệu trung gian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78726" y="4502944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file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.pkl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lưu tần suất n-gram và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.csv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để visualize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64426" y="5279231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76197" y="0"/>
                </a:moveTo>
                <a:lnTo>
                  <a:pt x="3305178" y="0"/>
                </a:lnTo>
                <a:cubicBezTo>
                  <a:pt x="3347260" y="0"/>
                  <a:pt x="3381375" y="34115"/>
                  <a:pt x="3381375" y="76197"/>
                </a:cubicBezTo>
                <a:lnTo>
                  <a:pt x="3381375" y="914403"/>
                </a:lnTo>
                <a:cubicBezTo>
                  <a:pt x="3381375" y="956485"/>
                  <a:pt x="3347260" y="990600"/>
                  <a:pt x="3305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9" name="Shape 67"/>
          <p:cNvSpPr/>
          <p:nvPr/>
        </p:nvSpPr>
        <p:spPr>
          <a:xfrm>
            <a:off x="8388251" y="543163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724" y="0"/>
                </a:moveTo>
                <a:cubicBezTo>
                  <a:pt x="18217" y="0"/>
                  <a:pt x="9674" y="8543"/>
                  <a:pt x="9674" y="19050"/>
                </a:cubicBezTo>
                <a:lnTo>
                  <a:pt x="9674" y="133350"/>
                </a:lnTo>
                <a:cubicBezTo>
                  <a:pt x="9674" y="143857"/>
                  <a:pt x="18217" y="152400"/>
                  <a:pt x="28724" y="152400"/>
                </a:cubicBezTo>
                <a:lnTo>
                  <a:pt x="104924" y="152400"/>
                </a:lnTo>
                <a:cubicBezTo>
                  <a:pt x="115431" y="152400"/>
                  <a:pt x="123974" y="143857"/>
                  <a:pt x="123974" y="133350"/>
                </a:cubicBezTo>
                <a:lnTo>
                  <a:pt x="123974" y="104775"/>
                </a:lnTo>
                <a:lnTo>
                  <a:pt x="147221" y="104775"/>
                </a:lnTo>
                <a:lnTo>
                  <a:pt x="137993" y="114002"/>
                </a:lnTo>
                <a:cubicBezTo>
                  <a:pt x="135195" y="116800"/>
                  <a:pt x="135195" y="121325"/>
                  <a:pt x="137993" y="124093"/>
                </a:cubicBezTo>
                <a:cubicBezTo>
                  <a:pt x="140791" y="126861"/>
                  <a:pt x="145316" y="126891"/>
                  <a:pt x="148084" y="124093"/>
                </a:cubicBezTo>
                <a:lnTo>
                  <a:pt x="169515" y="102662"/>
                </a:lnTo>
                <a:cubicBezTo>
                  <a:pt x="172313" y="99864"/>
                  <a:pt x="172313" y="95339"/>
                  <a:pt x="169515" y="92571"/>
                </a:cubicBezTo>
                <a:lnTo>
                  <a:pt x="148084" y="71140"/>
                </a:lnTo>
                <a:cubicBezTo>
                  <a:pt x="145286" y="68342"/>
                  <a:pt x="140762" y="68342"/>
                  <a:pt x="137993" y="71140"/>
                </a:cubicBezTo>
                <a:cubicBezTo>
                  <a:pt x="135225" y="73938"/>
                  <a:pt x="135195" y="78462"/>
                  <a:pt x="137993" y="81230"/>
                </a:cubicBezTo>
                <a:lnTo>
                  <a:pt x="147221" y="90458"/>
                </a:lnTo>
                <a:lnTo>
                  <a:pt x="123974" y="90458"/>
                </a:lnTo>
                <a:lnTo>
                  <a:pt x="123974" y="50721"/>
                </a:lnTo>
                <a:cubicBezTo>
                  <a:pt x="123974" y="45660"/>
                  <a:pt x="121980" y="40809"/>
                  <a:pt x="118408" y="37237"/>
                </a:cubicBezTo>
                <a:lnTo>
                  <a:pt x="86678" y="5566"/>
                </a:lnTo>
                <a:cubicBezTo>
                  <a:pt x="83106" y="1994"/>
                  <a:pt x="78284" y="0"/>
                  <a:pt x="73223" y="0"/>
                </a:cubicBezTo>
                <a:lnTo>
                  <a:pt x="28724" y="0"/>
                </a:lnTo>
                <a:close/>
                <a:moveTo>
                  <a:pt x="106561" y="52388"/>
                </a:moveTo>
                <a:lnTo>
                  <a:pt x="78730" y="52388"/>
                </a:lnTo>
                <a:cubicBezTo>
                  <a:pt x="74771" y="52388"/>
                  <a:pt x="71586" y="49203"/>
                  <a:pt x="71586" y="45244"/>
                </a:cubicBezTo>
                <a:lnTo>
                  <a:pt x="71586" y="17413"/>
                </a:lnTo>
                <a:lnTo>
                  <a:pt x="106561" y="52388"/>
                </a:lnTo>
                <a:close/>
                <a:moveTo>
                  <a:pt x="66824" y="97631"/>
                </a:moveTo>
                <a:cubicBezTo>
                  <a:pt x="66824" y="93672"/>
                  <a:pt x="70009" y="90488"/>
                  <a:pt x="73968" y="90488"/>
                </a:cubicBezTo>
                <a:lnTo>
                  <a:pt x="104924" y="90488"/>
                </a:lnTo>
                <a:lnTo>
                  <a:pt x="104924" y="104775"/>
                </a:lnTo>
                <a:lnTo>
                  <a:pt x="73968" y="104775"/>
                </a:lnTo>
                <a:cubicBezTo>
                  <a:pt x="70009" y="104775"/>
                  <a:pt x="66824" y="101590"/>
                  <a:pt x="66824" y="976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8645426" y="5393531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quả đầu ra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78726" y="5698331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Chuỗi văn bản sinh ngẫu nhiên và biểu đồ minh họa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6: ĐẰNG SAU HẬU TRƯỜNG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quả: Tần suất n-gram và Kích thước dữ liệu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00163"/>
            <a:ext cx="6343650" cy="5172075"/>
          </a:xfrm>
          <a:custGeom>
            <a:avLst/>
            <a:gdLst/>
            <a:ahLst/>
            <a:cxnLst/>
            <a:rect l="l" t="t" r="r" b="b"/>
            <a:pathLst>
              <a:path w="6343650" h="5172075">
                <a:moveTo>
                  <a:pt x="114303" y="0"/>
                </a:moveTo>
                <a:lnTo>
                  <a:pt x="6229347" y="0"/>
                </a:lnTo>
                <a:cubicBezTo>
                  <a:pt x="6292433" y="0"/>
                  <a:pt x="6343650" y="51217"/>
                  <a:pt x="6343650" y="114303"/>
                </a:cubicBezTo>
                <a:lnTo>
                  <a:pt x="6343650" y="5057772"/>
                </a:lnTo>
                <a:cubicBezTo>
                  <a:pt x="6343650" y="5120858"/>
                  <a:pt x="6292433" y="5172075"/>
                  <a:pt x="6229347" y="5172075"/>
                </a:cubicBezTo>
                <a:lnTo>
                  <a:pt x="114303" y="5172075"/>
                </a:lnTo>
                <a:cubicBezTo>
                  <a:pt x="51217" y="5172075"/>
                  <a:pt x="0" y="5120858"/>
                  <a:pt x="0" y="50577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57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552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14475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Tần suất n-gram (1 → 7)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1952625"/>
            <a:ext cx="6029325" cy="3543300"/>
          </a:xfrm>
          <a:custGeom>
            <a:avLst/>
            <a:gdLst/>
            <a:ahLst/>
            <a:cxnLst/>
            <a:rect l="l" t="t" r="r" b="b"/>
            <a:pathLst>
              <a:path w="6029325" h="3543300">
                <a:moveTo>
                  <a:pt x="76216" y="0"/>
                </a:moveTo>
                <a:lnTo>
                  <a:pt x="5953109" y="0"/>
                </a:lnTo>
                <a:cubicBezTo>
                  <a:pt x="5995202" y="0"/>
                  <a:pt x="6029325" y="34123"/>
                  <a:pt x="6029325" y="76216"/>
                </a:cubicBezTo>
                <a:lnTo>
                  <a:pt x="6029325" y="3467084"/>
                </a:lnTo>
                <a:cubicBezTo>
                  <a:pt x="6029325" y="3509177"/>
                  <a:pt x="5995202" y="3543300"/>
                  <a:pt x="5953109" y="3543300"/>
                </a:cubicBezTo>
                <a:lnTo>
                  <a:pt x="76216" y="3543300"/>
                </a:lnTo>
                <a:cubicBezTo>
                  <a:pt x="34123" y="3543300"/>
                  <a:pt x="0" y="3509177"/>
                  <a:pt x="0" y="34670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7225" y="2066925"/>
          <a:ext cx="5800725" cy="2809872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234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n-gram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Số lượng tổ hợp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Tăng trưởng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23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 =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23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 = 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703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26.0x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3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 = 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9,860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14.0x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23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 = 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53,912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5.5x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23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 = 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172,338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3.2x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23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 = 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420,485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2.4x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23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 = 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823,342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2.0x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7688" y="5614988"/>
            <a:ext cx="6019800" cy="695325"/>
          </a:xfrm>
          <a:custGeom>
            <a:avLst/>
            <a:gdLst/>
            <a:ahLst/>
            <a:cxnLst/>
            <a:rect l="l" t="t" r="r" b="b"/>
            <a:pathLst>
              <a:path w="6019800" h="695325">
                <a:moveTo>
                  <a:pt x="76201" y="0"/>
                </a:moveTo>
                <a:lnTo>
                  <a:pt x="5943599" y="0"/>
                </a:lnTo>
                <a:cubicBezTo>
                  <a:pt x="5985684" y="0"/>
                  <a:pt x="6019800" y="34116"/>
                  <a:pt x="6019800" y="76201"/>
                </a:cubicBezTo>
                <a:lnTo>
                  <a:pt x="6019800" y="619124"/>
                </a:lnTo>
                <a:cubicBezTo>
                  <a:pt x="6019800" y="661209"/>
                  <a:pt x="5985684" y="695325"/>
                  <a:pt x="59435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1000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5772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5734050"/>
            <a:ext cx="5610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Nhận xét: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Tăng n làm số lượng tổ hợp tăng theo cấp số nhân, phản ánh độ phong phú của ngữ cảnh.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86575" y="1300163"/>
            <a:ext cx="4924425" cy="3476625"/>
          </a:xfrm>
          <a:custGeom>
            <a:avLst/>
            <a:gdLst/>
            <a:ahLst/>
            <a:cxnLst/>
            <a:rect l="l" t="t" r="r" b="b"/>
            <a:pathLst>
              <a:path w="4924425" h="3476625">
                <a:moveTo>
                  <a:pt x="114311" y="0"/>
                </a:moveTo>
                <a:lnTo>
                  <a:pt x="4810114" y="0"/>
                </a:lnTo>
                <a:cubicBezTo>
                  <a:pt x="4873246" y="0"/>
                  <a:pt x="4924425" y="51179"/>
                  <a:pt x="4924425" y="114311"/>
                </a:cubicBezTo>
                <a:lnTo>
                  <a:pt x="4924425" y="3362314"/>
                </a:lnTo>
                <a:cubicBezTo>
                  <a:pt x="4924425" y="3425446"/>
                  <a:pt x="4873246" y="3476625"/>
                  <a:pt x="4810114" y="3476625"/>
                </a:cubicBezTo>
                <a:lnTo>
                  <a:pt x="114311" y="3476625"/>
                </a:lnTo>
                <a:cubicBezTo>
                  <a:pt x="51179" y="3476625"/>
                  <a:pt x="0" y="3425446"/>
                  <a:pt x="0" y="3362314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3738" y="1457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150894" y="15525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7539037" y="151447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Kích thước tập dữ liệu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043738" y="1968401"/>
            <a:ext cx="4610100" cy="895350"/>
          </a:xfrm>
          <a:custGeom>
            <a:avLst/>
            <a:gdLst/>
            <a:ahLst/>
            <a:cxnLst/>
            <a:rect l="l" t="t" r="r" b="b"/>
            <a:pathLst>
              <a:path w="4610100" h="895350">
                <a:moveTo>
                  <a:pt x="76203" y="0"/>
                </a:moveTo>
                <a:lnTo>
                  <a:pt x="4533897" y="0"/>
                </a:lnTo>
                <a:cubicBezTo>
                  <a:pt x="4575983" y="0"/>
                  <a:pt x="4610100" y="34117"/>
                  <a:pt x="4610100" y="76203"/>
                </a:cubicBezTo>
                <a:lnTo>
                  <a:pt x="4610100" y="819147"/>
                </a:lnTo>
                <a:cubicBezTo>
                  <a:pt x="4610100" y="861233"/>
                  <a:pt x="4575983" y="895350"/>
                  <a:pt x="45338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9" name="Text 16"/>
          <p:cNvSpPr/>
          <p:nvPr/>
        </p:nvSpPr>
        <p:spPr>
          <a:xfrm>
            <a:off x="7158038" y="2101751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Uncleaned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487323" y="2082701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16,372,459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58038" y="2425601"/>
            <a:ext cx="4381500" cy="95250"/>
          </a:xfrm>
          <a:custGeom>
            <a:avLst/>
            <a:gdLst/>
            <a:ahLst/>
            <a:cxnLst/>
            <a:rect l="l" t="t" r="r" b="b"/>
            <a:pathLst>
              <a:path w="4381500" h="95250">
                <a:moveTo>
                  <a:pt x="47625" y="0"/>
                </a:moveTo>
                <a:lnTo>
                  <a:pt x="4333875" y="0"/>
                </a:lnTo>
                <a:cubicBezTo>
                  <a:pt x="4360160" y="0"/>
                  <a:pt x="4381500" y="21340"/>
                  <a:pt x="4381500" y="47625"/>
                </a:cubicBezTo>
                <a:lnTo>
                  <a:pt x="4381500" y="47625"/>
                </a:lnTo>
                <a:cubicBezTo>
                  <a:pt x="4381500" y="73910"/>
                  <a:pt x="4360160" y="95250"/>
                  <a:pt x="43338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2" name="Shape 19"/>
          <p:cNvSpPr/>
          <p:nvPr/>
        </p:nvSpPr>
        <p:spPr>
          <a:xfrm>
            <a:off x="7158038" y="2425601"/>
            <a:ext cx="4381500" cy="95250"/>
          </a:xfrm>
          <a:custGeom>
            <a:avLst/>
            <a:gdLst/>
            <a:ahLst/>
            <a:cxnLst/>
            <a:rect l="l" t="t" r="r" b="b"/>
            <a:pathLst>
              <a:path w="4381500" h="95250">
                <a:moveTo>
                  <a:pt x="47625" y="0"/>
                </a:moveTo>
                <a:lnTo>
                  <a:pt x="4333875" y="0"/>
                </a:lnTo>
                <a:cubicBezTo>
                  <a:pt x="4360160" y="0"/>
                  <a:pt x="4381500" y="21340"/>
                  <a:pt x="4381500" y="47625"/>
                </a:cubicBezTo>
                <a:lnTo>
                  <a:pt x="4381500" y="47625"/>
                </a:lnTo>
                <a:cubicBezTo>
                  <a:pt x="4381500" y="73910"/>
                  <a:pt x="4360160" y="95250"/>
                  <a:pt x="43338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7158038" y="2558951"/>
            <a:ext cx="444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ký tự trước làm sạch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043738" y="3009751"/>
            <a:ext cx="4610100" cy="895350"/>
          </a:xfrm>
          <a:custGeom>
            <a:avLst/>
            <a:gdLst/>
            <a:ahLst/>
            <a:cxnLst/>
            <a:rect l="l" t="t" r="r" b="b"/>
            <a:pathLst>
              <a:path w="4610100" h="895350">
                <a:moveTo>
                  <a:pt x="76203" y="0"/>
                </a:moveTo>
                <a:lnTo>
                  <a:pt x="4533897" y="0"/>
                </a:lnTo>
                <a:cubicBezTo>
                  <a:pt x="4575983" y="0"/>
                  <a:pt x="4610100" y="34117"/>
                  <a:pt x="4610100" y="76203"/>
                </a:cubicBezTo>
                <a:lnTo>
                  <a:pt x="4610100" y="819147"/>
                </a:lnTo>
                <a:cubicBezTo>
                  <a:pt x="4610100" y="861233"/>
                  <a:pt x="4575983" y="895350"/>
                  <a:pt x="45338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5" name="Text 22"/>
          <p:cNvSpPr/>
          <p:nvPr/>
        </p:nvSpPr>
        <p:spPr>
          <a:xfrm>
            <a:off x="7158038" y="3143101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Cleaned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487323" y="3124051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15,620,895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158038" y="3466951"/>
            <a:ext cx="4381500" cy="95250"/>
          </a:xfrm>
          <a:custGeom>
            <a:avLst/>
            <a:gdLst/>
            <a:ahLst/>
            <a:cxnLst/>
            <a:rect l="l" t="t" r="r" b="b"/>
            <a:pathLst>
              <a:path w="4381500" h="95250">
                <a:moveTo>
                  <a:pt x="47625" y="0"/>
                </a:moveTo>
                <a:lnTo>
                  <a:pt x="4333875" y="0"/>
                </a:lnTo>
                <a:cubicBezTo>
                  <a:pt x="4360160" y="0"/>
                  <a:pt x="4381500" y="21340"/>
                  <a:pt x="4381500" y="47625"/>
                </a:cubicBezTo>
                <a:lnTo>
                  <a:pt x="4381500" y="47625"/>
                </a:lnTo>
                <a:cubicBezTo>
                  <a:pt x="4381500" y="73910"/>
                  <a:pt x="4360160" y="95250"/>
                  <a:pt x="43338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8" name="Shape 25"/>
          <p:cNvSpPr/>
          <p:nvPr/>
        </p:nvSpPr>
        <p:spPr>
          <a:xfrm>
            <a:off x="7158038" y="3466951"/>
            <a:ext cx="4171950" cy="95250"/>
          </a:xfrm>
          <a:custGeom>
            <a:avLst/>
            <a:gdLst/>
            <a:ahLst/>
            <a:cxnLst/>
            <a:rect l="l" t="t" r="r" b="b"/>
            <a:pathLst>
              <a:path w="4171950" h="95250">
                <a:moveTo>
                  <a:pt x="47625" y="0"/>
                </a:moveTo>
                <a:lnTo>
                  <a:pt x="4124325" y="0"/>
                </a:lnTo>
                <a:cubicBezTo>
                  <a:pt x="4150610" y="0"/>
                  <a:pt x="4171950" y="21340"/>
                  <a:pt x="4171950" y="47625"/>
                </a:cubicBezTo>
                <a:lnTo>
                  <a:pt x="4171950" y="47625"/>
                </a:lnTo>
                <a:cubicBezTo>
                  <a:pt x="4171950" y="73910"/>
                  <a:pt x="4150610" y="95250"/>
                  <a:pt x="41243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6"/>
          <p:cNvSpPr/>
          <p:nvPr/>
        </p:nvSpPr>
        <p:spPr>
          <a:xfrm>
            <a:off x="7158038" y="3600301"/>
            <a:ext cx="444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ký tự sau làm sạch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048500" y="4056013"/>
            <a:ext cx="4600575" cy="542925"/>
          </a:xfrm>
          <a:custGeom>
            <a:avLst/>
            <a:gdLst/>
            <a:ahLst/>
            <a:cxnLst/>
            <a:rect l="l" t="t" r="r" b="b"/>
            <a:pathLst>
              <a:path w="4600575" h="542925">
                <a:moveTo>
                  <a:pt x="76200" y="0"/>
                </a:moveTo>
                <a:lnTo>
                  <a:pt x="4524375" y="0"/>
                </a:lnTo>
                <a:cubicBezTo>
                  <a:pt x="4566459" y="0"/>
                  <a:pt x="4600575" y="34116"/>
                  <a:pt x="4600575" y="76200"/>
                </a:cubicBezTo>
                <a:lnTo>
                  <a:pt x="4600575" y="466725"/>
                </a:lnTo>
                <a:cubicBezTo>
                  <a:pt x="4600575" y="508809"/>
                  <a:pt x="4566459" y="542925"/>
                  <a:pt x="45243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67563" y="4213175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Tỷ lệ giữ lại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896749" y="4175075"/>
            <a:ext cx="74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95.4%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886575" y="4938713"/>
            <a:ext cx="4924425" cy="1533525"/>
          </a:xfrm>
          <a:custGeom>
            <a:avLst/>
            <a:gdLst/>
            <a:ahLst/>
            <a:cxnLst/>
            <a:rect l="l" t="t" r="r" b="b"/>
            <a:pathLst>
              <a:path w="4924425" h="1533525">
                <a:moveTo>
                  <a:pt x="114294" y="0"/>
                </a:moveTo>
                <a:lnTo>
                  <a:pt x="4810131" y="0"/>
                </a:lnTo>
                <a:cubicBezTo>
                  <a:pt x="4873254" y="0"/>
                  <a:pt x="4924425" y="51171"/>
                  <a:pt x="4924425" y="114294"/>
                </a:cubicBezTo>
                <a:lnTo>
                  <a:pt x="4924425" y="1419231"/>
                </a:lnTo>
                <a:cubicBezTo>
                  <a:pt x="4924425" y="1482354"/>
                  <a:pt x="4873254" y="1533525"/>
                  <a:pt x="481013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67550" y="5133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2"/>
          <p:cNvSpPr/>
          <p:nvPr/>
        </p:nvSpPr>
        <p:spPr>
          <a:xfrm>
            <a:off x="7396162" y="5095875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Phân tích dữ liệu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062788" y="55340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7" name="Text 34"/>
          <p:cNvSpPr/>
          <p:nvPr/>
        </p:nvSpPr>
        <p:spPr>
          <a:xfrm>
            <a:off x="7272338" y="5476875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Dữ liệu giảm sau làm sạch do loại ký tự không hợp lệ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062788" y="5838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6"/>
          <p:cNvSpPr/>
          <p:nvPr/>
        </p:nvSpPr>
        <p:spPr>
          <a:xfrm>
            <a:off x="7272338" y="5781675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Tỷ lệ giảm không quá lớn, chứng tỏ dữ liệu nguồn khá sạch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062788" y="6143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8"/>
          <p:cNvSpPr/>
          <p:nvPr/>
        </p:nvSpPr>
        <p:spPr>
          <a:xfrm>
            <a:off x="7272338" y="6086475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Vẫn chứa ký tự không hợp lệ cần xử lý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19" y="354419"/>
            <a:ext cx="11554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kern="0" spc="56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6: ĐẰNG SAU HẬU TRƯỜNG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419" y="602512"/>
            <a:ext cx="11642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quả: Sinh văn bản theo n-gram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4419" y="1027814"/>
            <a:ext cx="850605" cy="35442"/>
          </a:xfrm>
          <a:custGeom>
            <a:avLst/>
            <a:gdLst/>
            <a:ahLst/>
            <a:cxn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58849" y="1138570"/>
            <a:ext cx="5679558" cy="1825256"/>
          </a:xfrm>
          <a:custGeom>
            <a:avLst/>
            <a:gdLst/>
            <a:ahLst/>
            <a:cxnLst/>
            <a:rect l="l" t="t" r="r" b="b"/>
            <a:pathLst>
              <a:path w="5679558" h="1825256">
                <a:moveTo>
                  <a:pt x="106321" y="0"/>
                </a:moveTo>
                <a:lnTo>
                  <a:pt x="5573237" y="0"/>
                </a:lnTo>
                <a:cubicBezTo>
                  <a:pt x="5631957" y="0"/>
                  <a:pt x="5679558" y="47602"/>
                  <a:pt x="5679558" y="106321"/>
                </a:cubicBezTo>
                <a:lnTo>
                  <a:pt x="5679558" y="1718935"/>
                </a:lnTo>
                <a:cubicBezTo>
                  <a:pt x="5679558" y="1777654"/>
                  <a:pt x="5631957" y="1825256"/>
                  <a:pt x="5573237" y="1825256"/>
                </a:cubicBezTo>
                <a:lnTo>
                  <a:pt x="106321" y="1825256"/>
                </a:lnTo>
                <a:cubicBezTo>
                  <a:pt x="47602" y="1825256"/>
                  <a:pt x="0" y="1777654"/>
                  <a:pt x="0" y="1718935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9605" y="1249326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70884" y="0"/>
                </a:moveTo>
                <a:lnTo>
                  <a:pt x="212651" y="0"/>
                </a:lnTo>
                <a:cubicBezTo>
                  <a:pt x="251773" y="0"/>
                  <a:pt x="283535" y="31762"/>
                  <a:pt x="283535" y="70884"/>
                </a:cubicBezTo>
                <a:lnTo>
                  <a:pt x="283535" y="212651"/>
                </a:lnTo>
                <a:cubicBezTo>
                  <a:pt x="283535" y="251773"/>
                  <a:pt x="251773" y="283535"/>
                  <a:pt x="21265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86037" y="1267047"/>
            <a:ext cx="13290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4023" y="1267047"/>
            <a:ext cx="170120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1 (Không ngữ cảnh)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9605" y="1603744"/>
            <a:ext cx="5458047" cy="806302"/>
          </a:xfrm>
          <a:custGeom>
            <a:avLst/>
            <a:gdLst/>
            <a:ahLst/>
            <a:cxnLst/>
            <a:rect l="l" t="t" r="r" b="b"/>
            <a:pathLst>
              <a:path w="5458047" h="806302">
                <a:moveTo>
                  <a:pt x="70882" y="0"/>
                </a:moveTo>
                <a:lnTo>
                  <a:pt x="5387164" y="0"/>
                </a:lnTo>
                <a:cubicBezTo>
                  <a:pt x="5426312" y="0"/>
                  <a:pt x="5458047" y="31735"/>
                  <a:pt x="5458047" y="70882"/>
                </a:cubicBezTo>
                <a:lnTo>
                  <a:pt x="5458047" y="735420"/>
                </a:lnTo>
                <a:cubicBezTo>
                  <a:pt x="5458047" y="774567"/>
                  <a:pt x="5426312" y="806302"/>
                  <a:pt x="5387164" y="806302"/>
                </a:cubicBezTo>
                <a:lnTo>
                  <a:pt x="70882" y="806302"/>
                </a:lnTo>
                <a:cubicBezTo>
                  <a:pt x="31735" y="806302"/>
                  <a:pt x="0" y="774567"/>
                  <a:pt x="0" y="735420"/>
                </a:cubicBezTo>
                <a:lnTo>
                  <a:pt x="0" y="70882"/>
                </a:lnTo>
                <a:cubicBezTo>
                  <a:pt x="0" y="31735"/>
                  <a:pt x="31735" y="0"/>
                  <a:pt x="7088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75930" y="1710070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eelnin ungia wwuetthgsaaeuuoiolifs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5930" y="1858898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ttelaroi ic so u dnli ohsaadoiolid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5930" y="2007726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 ape ui preirl y ldueeseihenw eio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5930" y="2156554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xtincplastmtcteughct ivlrwataartrbi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4035" y="2487022"/>
            <a:ext cx="5449186" cy="363279"/>
          </a:xfrm>
          <a:custGeom>
            <a:avLst/>
            <a:gdLst/>
            <a:ahLst/>
            <a:cxnLst/>
            <a:rect l="l" t="t" r="r" b="b"/>
            <a:pathLst>
              <a:path w="5449186" h="363279">
                <a:moveTo>
                  <a:pt x="70883" y="0"/>
                </a:moveTo>
                <a:lnTo>
                  <a:pt x="5378303" y="0"/>
                </a:lnTo>
                <a:cubicBezTo>
                  <a:pt x="5417451" y="0"/>
                  <a:pt x="5449186" y="31735"/>
                  <a:pt x="5449186" y="70883"/>
                </a:cubicBezTo>
                <a:lnTo>
                  <a:pt x="5449186" y="292396"/>
                </a:lnTo>
                <a:cubicBezTo>
                  <a:pt x="5449186" y="331544"/>
                  <a:pt x="5417451" y="363279"/>
                  <a:pt x="5378303" y="363279"/>
                </a:cubicBezTo>
                <a:lnTo>
                  <a:pt x="70883" y="363279"/>
                </a:lnTo>
                <a:cubicBezTo>
                  <a:pt x="31762" y="363279"/>
                  <a:pt x="0" y="331517"/>
                  <a:pt x="0" y="292396"/>
                </a:cubicBezTo>
                <a:lnTo>
                  <a:pt x="0" y="70883"/>
                </a:lnTo>
                <a:cubicBezTo>
                  <a:pt x="0" y="31762"/>
                  <a:pt x="31762" y="0"/>
                  <a:pt x="70883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270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070" y="2597778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46241" y="46241"/>
                </a:moveTo>
                <a:cubicBezTo>
                  <a:pt x="48843" y="43638"/>
                  <a:pt x="53052" y="43638"/>
                  <a:pt x="55627" y="46241"/>
                </a:cubicBezTo>
                <a:lnTo>
                  <a:pt x="70856" y="61469"/>
                </a:lnTo>
                <a:lnTo>
                  <a:pt x="86085" y="46241"/>
                </a:lnTo>
                <a:cubicBezTo>
                  <a:pt x="88688" y="43638"/>
                  <a:pt x="92896" y="43638"/>
                  <a:pt x="95472" y="46241"/>
                </a:cubicBezTo>
                <a:cubicBezTo>
                  <a:pt x="98047" y="48843"/>
                  <a:pt x="98074" y="53052"/>
                  <a:pt x="95472" y="55627"/>
                </a:cubicBezTo>
                <a:lnTo>
                  <a:pt x="80243" y="70856"/>
                </a:lnTo>
                <a:lnTo>
                  <a:pt x="95472" y="86085"/>
                </a:lnTo>
                <a:cubicBezTo>
                  <a:pt x="98074" y="88688"/>
                  <a:pt x="98074" y="92896"/>
                  <a:pt x="95472" y="95472"/>
                </a:cubicBezTo>
                <a:cubicBezTo>
                  <a:pt x="92869" y="98047"/>
                  <a:pt x="88660" y="98074"/>
                  <a:pt x="86085" y="95472"/>
                </a:cubicBezTo>
                <a:lnTo>
                  <a:pt x="70856" y="80243"/>
                </a:lnTo>
                <a:lnTo>
                  <a:pt x="55627" y="95472"/>
                </a:lnTo>
                <a:cubicBezTo>
                  <a:pt x="53024" y="98074"/>
                  <a:pt x="48816" y="98074"/>
                  <a:pt x="46241" y="95472"/>
                </a:cubicBezTo>
                <a:cubicBezTo>
                  <a:pt x="43665" y="92869"/>
                  <a:pt x="43638" y="88660"/>
                  <a:pt x="46241" y="86085"/>
                </a:cubicBezTo>
                <a:lnTo>
                  <a:pt x="61469" y="70856"/>
                </a:lnTo>
                <a:lnTo>
                  <a:pt x="46241" y="55627"/>
                </a:lnTo>
                <a:cubicBezTo>
                  <a:pt x="43638" y="53024"/>
                  <a:pt x="43638" y="48816"/>
                  <a:pt x="46241" y="46241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76012" y="2562336"/>
            <a:ext cx="514277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Vô nghĩa:</a:t>
            </a:r>
            <a:r>
              <a:rPr lang="en-US" sz="111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Không có ngữ cảnh, mỗi ký tự độc lập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53593" y="1138570"/>
            <a:ext cx="5679558" cy="1825256"/>
          </a:xfrm>
          <a:custGeom>
            <a:avLst/>
            <a:gdLst/>
            <a:ahLst/>
            <a:cxnLst/>
            <a:rect l="l" t="t" r="r" b="b"/>
            <a:pathLst>
              <a:path w="5679558" h="1825256">
                <a:moveTo>
                  <a:pt x="106321" y="0"/>
                </a:moveTo>
                <a:lnTo>
                  <a:pt x="5573237" y="0"/>
                </a:lnTo>
                <a:cubicBezTo>
                  <a:pt x="5631957" y="0"/>
                  <a:pt x="5679558" y="47602"/>
                  <a:pt x="5679558" y="106321"/>
                </a:cubicBezTo>
                <a:lnTo>
                  <a:pt x="5679558" y="1718935"/>
                </a:lnTo>
                <a:cubicBezTo>
                  <a:pt x="5679558" y="1777654"/>
                  <a:pt x="5631957" y="1825256"/>
                  <a:pt x="5573237" y="1825256"/>
                </a:cubicBezTo>
                <a:lnTo>
                  <a:pt x="106321" y="1825256"/>
                </a:lnTo>
                <a:cubicBezTo>
                  <a:pt x="47602" y="1825256"/>
                  <a:pt x="0" y="1777654"/>
                  <a:pt x="0" y="1718935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4349" y="1249326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70884" y="0"/>
                </a:moveTo>
                <a:lnTo>
                  <a:pt x="212651" y="0"/>
                </a:lnTo>
                <a:cubicBezTo>
                  <a:pt x="251773" y="0"/>
                  <a:pt x="283535" y="31762"/>
                  <a:pt x="283535" y="70884"/>
                </a:cubicBezTo>
                <a:lnTo>
                  <a:pt x="283535" y="212651"/>
                </a:lnTo>
                <a:cubicBezTo>
                  <a:pt x="283535" y="251773"/>
                  <a:pt x="251773" y="283535"/>
                  <a:pt x="21265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65414" y="1267047"/>
            <a:ext cx="15948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8767" y="1267047"/>
            <a:ext cx="160374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2 (Kế tiếp chữ cái)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4349" y="1603744"/>
            <a:ext cx="5458047" cy="806302"/>
          </a:xfrm>
          <a:custGeom>
            <a:avLst/>
            <a:gdLst/>
            <a:ahLst/>
            <a:cxnLst/>
            <a:rect l="l" t="t" r="r" b="b"/>
            <a:pathLst>
              <a:path w="5458047" h="806302">
                <a:moveTo>
                  <a:pt x="70882" y="0"/>
                </a:moveTo>
                <a:lnTo>
                  <a:pt x="5387164" y="0"/>
                </a:lnTo>
                <a:cubicBezTo>
                  <a:pt x="5426312" y="0"/>
                  <a:pt x="5458047" y="31735"/>
                  <a:pt x="5458047" y="70882"/>
                </a:cubicBezTo>
                <a:lnTo>
                  <a:pt x="5458047" y="735420"/>
                </a:lnTo>
                <a:cubicBezTo>
                  <a:pt x="5458047" y="774567"/>
                  <a:pt x="5426312" y="806302"/>
                  <a:pt x="5387164" y="806302"/>
                </a:cubicBezTo>
                <a:lnTo>
                  <a:pt x="70882" y="806302"/>
                </a:lnTo>
                <a:cubicBezTo>
                  <a:pt x="31735" y="806302"/>
                  <a:pt x="0" y="774567"/>
                  <a:pt x="0" y="735420"/>
                </a:cubicBezTo>
                <a:lnTo>
                  <a:pt x="0" y="70882"/>
                </a:lnTo>
                <a:cubicBezTo>
                  <a:pt x="0" y="31735"/>
                  <a:pt x="31735" y="0"/>
                  <a:pt x="7088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370674" y="1710070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wmarerye icose verhe herer duvoucrpa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0674" y="1858898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tilllarast itout f cts coles t tere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0674" y="2007726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quron ryeurod g tst venk es wedus 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0674" y="2156554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pll inopo antopcol ediomoforen f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8779" y="2487022"/>
            <a:ext cx="5449186" cy="363279"/>
          </a:xfrm>
          <a:custGeom>
            <a:avLst/>
            <a:gdLst/>
            <a:ahLst/>
            <a:cxnLst/>
            <a:rect l="l" t="t" r="r" b="b"/>
            <a:pathLst>
              <a:path w="5449186" h="363279">
                <a:moveTo>
                  <a:pt x="70883" y="0"/>
                </a:moveTo>
                <a:lnTo>
                  <a:pt x="5378303" y="0"/>
                </a:lnTo>
                <a:cubicBezTo>
                  <a:pt x="5417451" y="0"/>
                  <a:pt x="5449186" y="31735"/>
                  <a:pt x="5449186" y="70883"/>
                </a:cubicBezTo>
                <a:lnTo>
                  <a:pt x="5449186" y="292396"/>
                </a:lnTo>
                <a:cubicBezTo>
                  <a:pt x="5449186" y="331544"/>
                  <a:pt x="5417451" y="363279"/>
                  <a:pt x="5378303" y="363279"/>
                </a:cubicBezTo>
                <a:lnTo>
                  <a:pt x="70883" y="363279"/>
                </a:lnTo>
                <a:cubicBezTo>
                  <a:pt x="31762" y="363279"/>
                  <a:pt x="0" y="331517"/>
                  <a:pt x="0" y="292396"/>
                </a:cubicBezTo>
                <a:lnTo>
                  <a:pt x="0" y="70883"/>
                </a:lnTo>
                <a:cubicBezTo>
                  <a:pt x="0" y="31762"/>
                  <a:pt x="31762" y="0"/>
                  <a:pt x="70883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1814" y="2597778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46517" y="64238"/>
                </a:moveTo>
                <a:lnTo>
                  <a:pt x="95250" y="64238"/>
                </a:lnTo>
                <a:cubicBezTo>
                  <a:pt x="98933" y="64238"/>
                  <a:pt x="101895" y="67201"/>
                  <a:pt x="101895" y="70884"/>
                </a:cubicBezTo>
                <a:cubicBezTo>
                  <a:pt x="101895" y="74566"/>
                  <a:pt x="98933" y="77529"/>
                  <a:pt x="95250" y="77529"/>
                </a:cubicBezTo>
                <a:lnTo>
                  <a:pt x="46517" y="77529"/>
                </a:lnTo>
                <a:cubicBezTo>
                  <a:pt x="42835" y="77529"/>
                  <a:pt x="39872" y="74566"/>
                  <a:pt x="39872" y="70884"/>
                </a:cubicBezTo>
                <a:cubicBezTo>
                  <a:pt x="39872" y="67201"/>
                  <a:pt x="42835" y="64238"/>
                  <a:pt x="46517" y="642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570756" y="2562336"/>
            <a:ext cx="514277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Chưa tạo được từ:</a:t>
            </a:r>
            <a:r>
              <a:rPr lang="en-US" sz="111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Chỉ đảm bảo kế tiếp chữ cái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8849" y="3080673"/>
            <a:ext cx="5679558" cy="1825256"/>
          </a:xfrm>
          <a:custGeom>
            <a:avLst/>
            <a:gdLst/>
            <a:ahLst/>
            <a:cxnLst/>
            <a:rect l="l" t="t" r="r" b="b"/>
            <a:pathLst>
              <a:path w="5679558" h="1825256">
                <a:moveTo>
                  <a:pt x="106321" y="0"/>
                </a:moveTo>
                <a:lnTo>
                  <a:pt x="5573237" y="0"/>
                </a:lnTo>
                <a:cubicBezTo>
                  <a:pt x="5631957" y="0"/>
                  <a:pt x="5679558" y="47602"/>
                  <a:pt x="5679558" y="106321"/>
                </a:cubicBezTo>
                <a:lnTo>
                  <a:pt x="5679558" y="1718935"/>
                </a:lnTo>
                <a:cubicBezTo>
                  <a:pt x="5679558" y="1777654"/>
                  <a:pt x="5631957" y="1825256"/>
                  <a:pt x="5573237" y="1825256"/>
                </a:cubicBezTo>
                <a:lnTo>
                  <a:pt x="106321" y="1825256"/>
                </a:lnTo>
                <a:cubicBezTo>
                  <a:pt x="47602" y="1825256"/>
                  <a:pt x="0" y="1777654"/>
                  <a:pt x="0" y="1718935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605" y="3191429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70884" y="0"/>
                </a:moveTo>
                <a:lnTo>
                  <a:pt x="212651" y="0"/>
                </a:lnTo>
                <a:cubicBezTo>
                  <a:pt x="251773" y="0"/>
                  <a:pt x="283535" y="31762"/>
                  <a:pt x="283535" y="70884"/>
                </a:cubicBezTo>
                <a:lnTo>
                  <a:pt x="283535" y="212651"/>
                </a:lnTo>
                <a:cubicBezTo>
                  <a:pt x="283535" y="251773"/>
                  <a:pt x="251773" y="283535"/>
                  <a:pt x="21265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68593" y="3209150"/>
            <a:ext cx="16834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4023" y="3209150"/>
            <a:ext cx="1896140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3 (Bắt đầu có cấu trúc)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9605" y="3545847"/>
            <a:ext cx="5458047" cy="806302"/>
          </a:xfrm>
          <a:custGeom>
            <a:avLst/>
            <a:gdLst/>
            <a:ahLst/>
            <a:cxnLst/>
            <a:rect l="l" t="t" r="r" b="b"/>
            <a:pathLst>
              <a:path w="5458047" h="806302">
                <a:moveTo>
                  <a:pt x="70882" y="0"/>
                </a:moveTo>
                <a:lnTo>
                  <a:pt x="5387164" y="0"/>
                </a:lnTo>
                <a:cubicBezTo>
                  <a:pt x="5426312" y="0"/>
                  <a:pt x="5458047" y="31735"/>
                  <a:pt x="5458047" y="70882"/>
                </a:cubicBezTo>
                <a:lnTo>
                  <a:pt x="5458047" y="735420"/>
                </a:lnTo>
                <a:cubicBezTo>
                  <a:pt x="5458047" y="774567"/>
                  <a:pt x="5426312" y="806302"/>
                  <a:pt x="5387164" y="806302"/>
                </a:cubicBezTo>
                <a:lnTo>
                  <a:pt x="70882" y="806302"/>
                </a:lnTo>
                <a:cubicBezTo>
                  <a:pt x="31735" y="806302"/>
                  <a:pt x="0" y="774567"/>
                  <a:pt x="0" y="735420"/>
                </a:cubicBezTo>
                <a:lnTo>
                  <a:pt x="0" y="70882"/>
                </a:lnTo>
                <a:cubicBezTo>
                  <a:pt x="0" y="31735"/>
                  <a:pt x="31735" y="0"/>
                  <a:pt x="7088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575930" y="3652173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mught th any sh wilz showns isr reu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5930" y="3801001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gaididit a yearthe lonturriefed the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5930" y="3949829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dl sciall appoilliv the takems red 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5930" y="4098657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richater jappetted siserseparcess fe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4035" y="4429125"/>
            <a:ext cx="5449186" cy="363279"/>
          </a:xfrm>
          <a:custGeom>
            <a:avLst/>
            <a:gdLst/>
            <a:ahLst/>
            <a:cxnLst/>
            <a:rect l="l" t="t" r="r" b="b"/>
            <a:pathLst>
              <a:path w="5449186" h="363279">
                <a:moveTo>
                  <a:pt x="70883" y="0"/>
                </a:moveTo>
                <a:lnTo>
                  <a:pt x="5378303" y="0"/>
                </a:lnTo>
                <a:cubicBezTo>
                  <a:pt x="5417451" y="0"/>
                  <a:pt x="5449186" y="31735"/>
                  <a:pt x="5449186" y="70883"/>
                </a:cubicBezTo>
                <a:lnTo>
                  <a:pt x="5449186" y="292396"/>
                </a:lnTo>
                <a:cubicBezTo>
                  <a:pt x="5449186" y="331544"/>
                  <a:pt x="5417451" y="363279"/>
                  <a:pt x="5378303" y="363279"/>
                </a:cubicBezTo>
                <a:lnTo>
                  <a:pt x="70883" y="363279"/>
                </a:lnTo>
                <a:cubicBezTo>
                  <a:pt x="31762" y="363279"/>
                  <a:pt x="0" y="331517"/>
                  <a:pt x="0" y="292396"/>
                </a:cubicBezTo>
                <a:lnTo>
                  <a:pt x="0" y="70883"/>
                </a:lnTo>
                <a:cubicBezTo>
                  <a:pt x="0" y="31762"/>
                  <a:pt x="31762" y="0"/>
                  <a:pt x="70883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7070" y="4539881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46517" y="64238"/>
                </a:moveTo>
                <a:lnTo>
                  <a:pt x="95250" y="64238"/>
                </a:lnTo>
                <a:cubicBezTo>
                  <a:pt x="98933" y="64238"/>
                  <a:pt x="101895" y="67201"/>
                  <a:pt x="101895" y="70884"/>
                </a:cubicBezTo>
                <a:cubicBezTo>
                  <a:pt x="101895" y="74566"/>
                  <a:pt x="98933" y="77529"/>
                  <a:pt x="95250" y="77529"/>
                </a:cubicBezTo>
                <a:lnTo>
                  <a:pt x="46517" y="77529"/>
                </a:lnTo>
                <a:cubicBezTo>
                  <a:pt x="42835" y="77529"/>
                  <a:pt x="39872" y="74566"/>
                  <a:pt x="39872" y="70884"/>
                </a:cubicBezTo>
                <a:cubicBezTo>
                  <a:pt x="39872" y="67201"/>
                  <a:pt x="42835" y="64238"/>
                  <a:pt x="46517" y="642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76012" y="4504439"/>
            <a:ext cx="514277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Cấu trúc xuất hiện:</a:t>
            </a:r>
            <a:r>
              <a:rPr lang="en-US" sz="111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Bắt đầu có dạng từ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53593" y="3080673"/>
            <a:ext cx="5679558" cy="1825256"/>
          </a:xfrm>
          <a:custGeom>
            <a:avLst/>
            <a:gdLst/>
            <a:ahLst/>
            <a:cxnLst/>
            <a:rect l="l" t="t" r="r" b="b"/>
            <a:pathLst>
              <a:path w="5679558" h="1825256">
                <a:moveTo>
                  <a:pt x="106321" y="0"/>
                </a:moveTo>
                <a:lnTo>
                  <a:pt x="5573237" y="0"/>
                </a:lnTo>
                <a:cubicBezTo>
                  <a:pt x="5631957" y="0"/>
                  <a:pt x="5679558" y="47602"/>
                  <a:pt x="5679558" y="106321"/>
                </a:cubicBezTo>
                <a:lnTo>
                  <a:pt x="5679558" y="1718935"/>
                </a:lnTo>
                <a:cubicBezTo>
                  <a:pt x="5679558" y="1777654"/>
                  <a:pt x="5631957" y="1825256"/>
                  <a:pt x="5573237" y="1825256"/>
                </a:cubicBezTo>
                <a:lnTo>
                  <a:pt x="106321" y="1825256"/>
                </a:lnTo>
                <a:cubicBezTo>
                  <a:pt x="47602" y="1825256"/>
                  <a:pt x="0" y="1777654"/>
                  <a:pt x="0" y="1718935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4349" y="3191429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70884" y="0"/>
                </a:moveTo>
                <a:lnTo>
                  <a:pt x="212651" y="0"/>
                </a:lnTo>
                <a:cubicBezTo>
                  <a:pt x="251773" y="0"/>
                  <a:pt x="283535" y="31762"/>
                  <a:pt x="283535" y="70884"/>
                </a:cubicBezTo>
                <a:lnTo>
                  <a:pt x="283535" y="212651"/>
                </a:lnTo>
                <a:cubicBezTo>
                  <a:pt x="283535" y="251773"/>
                  <a:pt x="251773" y="283535"/>
                  <a:pt x="21265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65552" y="3209150"/>
            <a:ext cx="15948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18767" y="3209150"/>
            <a:ext cx="194930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4-5 (Từ tiếng Anh thật)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64349" y="3545847"/>
            <a:ext cx="5458047" cy="806302"/>
          </a:xfrm>
          <a:custGeom>
            <a:avLst/>
            <a:gdLst/>
            <a:ahLst/>
            <a:cxnLst/>
            <a:rect l="l" t="t" r="r" b="b"/>
            <a:pathLst>
              <a:path w="5458047" h="806302">
                <a:moveTo>
                  <a:pt x="70882" y="0"/>
                </a:moveTo>
                <a:lnTo>
                  <a:pt x="5387164" y="0"/>
                </a:lnTo>
                <a:cubicBezTo>
                  <a:pt x="5426312" y="0"/>
                  <a:pt x="5458047" y="31735"/>
                  <a:pt x="5458047" y="70882"/>
                </a:cubicBezTo>
                <a:lnTo>
                  <a:pt x="5458047" y="735420"/>
                </a:lnTo>
                <a:cubicBezTo>
                  <a:pt x="5458047" y="774567"/>
                  <a:pt x="5426312" y="806302"/>
                  <a:pt x="5387164" y="806302"/>
                </a:cubicBezTo>
                <a:lnTo>
                  <a:pt x="70882" y="806302"/>
                </a:lnTo>
                <a:cubicBezTo>
                  <a:pt x="31735" y="806302"/>
                  <a:pt x="0" y="774567"/>
                  <a:pt x="0" y="735420"/>
                </a:cubicBezTo>
                <a:lnTo>
                  <a:pt x="0" y="70882"/>
                </a:lnTo>
                <a:cubicBezTo>
                  <a:pt x="0" y="31735"/>
                  <a:pt x="31735" y="0"/>
                  <a:pt x="7088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6370674" y="3652173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cumven pres hase resmand its usg sys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70674" y="3801001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 owns an in availy reuteration cr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70674" y="3958690"/>
            <a:ext cx="2031262" cy="12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said it fob said bill ger royal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70674" y="4107518"/>
            <a:ext cx="1520816" cy="12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february for the they w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68779" y="4429125"/>
            <a:ext cx="5449186" cy="363279"/>
          </a:xfrm>
          <a:custGeom>
            <a:avLst/>
            <a:gdLst/>
            <a:ahLst/>
            <a:cxnLst/>
            <a:rect l="l" t="t" r="r" b="b"/>
            <a:pathLst>
              <a:path w="5449186" h="363279">
                <a:moveTo>
                  <a:pt x="70883" y="0"/>
                </a:moveTo>
                <a:lnTo>
                  <a:pt x="5378303" y="0"/>
                </a:lnTo>
                <a:cubicBezTo>
                  <a:pt x="5417451" y="0"/>
                  <a:pt x="5449186" y="31735"/>
                  <a:pt x="5449186" y="70883"/>
                </a:cubicBezTo>
                <a:lnTo>
                  <a:pt x="5449186" y="292396"/>
                </a:lnTo>
                <a:cubicBezTo>
                  <a:pt x="5449186" y="331544"/>
                  <a:pt x="5417451" y="363279"/>
                  <a:pt x="5378303" y="363279"/>
                </a:cubicBezTo>
                <a:lnTo>
                  <a:pt x="70883" y="363279"/>
                </a:lnTo>
                <a:cubicBezTo>
                  <a:pt x="31762" y="363279"/>
                  <a:pt x="0" y="331517"/>
                  <a:pt x="0" y="292396"/>
                </a:cubicBezTo>
                <a:lnTo>
                  <a:pt x="0" y="70883"/>
                </a:lnTo>
                <a:cubicBezTo>
                  <a:pt x="0" y="31762"/>
                  <a:pt x="31762" y="0"/>
                  <a:pt x="7088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61814" y="4539881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94253" y="58894"/>
                </a:moveTo>
                <a:lnTo>
                  <a:pt x="72102" y="94336"/>
                </a:lnTo>
                <a:cubicBezTo>
                  <a:pt x="70939" y="96191"/>
                  <a:pt x="68945" y="97354"/>
                  <a:pt x="66758" y="97465"/>
                </a:cubicBezTo>
                <a:cubicBezTo>
                  <a:pt x="64571" y="97576"/>
                  <a:pt x="62466" y="96579"/>
                  <a:pt x="61165" y="94807"/>
                </a:cubicBezTo>
                <a:lnTo>
                  <a:pt x="47874" y="77086"/>
                </a:lnTo>
                <a:cubicBezTo>
                  <a:pt x="45659" y="74151"/>
                  <a:pt x="46268" y="69998"/>
                  <a:pt x="49203" y="67783"/>
                </a:cubicBezTo>
                <a:cubicBezTo>
                  <a:pt x="52138" y="65567"/>
                  <a:pt x="56292" y="66177"/>
                  <a:pt x="58507" y="69112"/>
                </a:cubicBezTo>
                <a:lnTo>
                  <a:pt x="65983" y="79080"/>
                </a:lnTo>
                <a:lnTo>
                  <a:pt x="82984" y="51861"/>
                </a:lnTo>
                <a:cubicBezTo>
                  <a:pt x="84922" y="48760"/>
                  <a:pt x="89020" y="47791"/>
                  <a:pt x="92149" y="49757"/>
                </a:cubicBezTo>
                <a:cubicBezTo>
                  <a:pt x="95278" y="51723"/>
                  <a:pt x="96219" y="55793"/>
                  <a:pt x="94253" y="589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6626936" y="4531020"/>
            <a:ext cx="1171520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Từ thật xuất hiện: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762321" y="4531020"/>
            <a:ext cx="1263724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said, market, report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58849" y="5022776"/>
            <a:ext cx="5679558" cy="1825256"/>
          </a:xfrm>
          <a:custGeom>
            <a:avLst/>
            <a:gdLst/>
            <a:ahLst/>
            <a:cxnLst/>
            <a:rect l="l" t="t" r="r" b="b"/>
            <a:pathLst>
              <a:path w="5679558" h="1825256">
                <a:moveTo>
                  <a:pt x="106321" y="0"/>
                </a:moveTo>
                <a:lnTo>
                  <a:pt x="5573237" y="0"/>
                </a:lnTo>
                <a:cubicBezTo>
                  <a:pt x="5631957" y="0"/>
                  <a:pt x="5679558" y="47602"/>
                  <a:pt x="5679558" y="106321"/>
                </a:cubicBezTo>
                <a:lnTo>
                  <a:pt x="5679558" y="1718935"/>
                </a:lnTo>
                <a:cubicBezTo>
                  <a:pt x="5679558" y="1777654"/>
                  <a:pt x="5631957" y="1825256"/>
                  <a:pt x="5573237" y="1825256"/>
                </a:cubicBezTo>
                <a:lnTo>
                  <a:pt x="106321" y="1825256"/>
                </a:lnTo>
                <a:cubicBezTo>
                  <a:pt x="47602" y="1825256"/>
                  <a:pt x="0" y="1777654"/>
                  <a:pt x="0" y="1718935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9605" y="5133532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70884" y="0"/>
                </a:moveTo>
                <a:lnTo>
                  <a:pt x="212651" y="0"/>
                </a:lnTo>
                <a:cubicBezTo>
                  <a:pt x="251773" y="0"/>
                  <a:pt x="283535" y="31762"/>
                  <a:pt x="283535" y="70884"/>
                </a:cubicBezTo>
                <a:lnTo>
                  <a:pt x="283535" y="212651"/>
                </a:lnTo>
                <a:cubicBezTo>
                  <a:pt x="283535" y="251773"/>
                  <a:pt x="251773" y="283535"/>
                  <a:pt x="21265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67347" y="5151253"/>
            <a:ext cx="16834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4023" y="5151253"/>
            <a:ext cx="176323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6 (Nhịp điệu rõ ràng)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69605" y="5487951"/>
            <a:ext cx="5458047" cy="806302"/>
          </a:xfrm>
          <a:custGeom>
            <a:avLst/>
            <a:gdLst/>
            <a:ahLst/>
            <a:cxnLst/>
            <a:rect l="l" t="t" r="r" b="b"/>
            <a:pathLst>
              <a:path w="5458047" h="806302">
                <a:moveTo>
                  <a:pt x="70882" y="0"/>
                </a:moveTo>
                <a:lnTo>
                  <a:pt x="5387164" y="0"/>
                </a:lnTo>
                <a:cubicBezTo>
                  <a:pt x="5426312" y="0"/>
                  <a:pt x="5458047" y="31735"/>
                  <a:pt x="5458047" y="70882"/>
                </a:cubicBezTo>
                <a:lnTo>
                  <a:pt x="5458047" y="735420"/>
                </a:lnTo>
                <a:cubicBezTo>
                  <a:pt x="5458047" y="774567"/>
                  <a:pt x="5426312" y="806302"/>
                  <a:pt x="5387164" y="806302"/>
                </a:cubicBezTo>
                <a:lnTo>
                  <a:pt x="70882" y="806302"/>
                </a:lnTo>
                <a:cubicBezTo>
                  <a:pt x="31735" y="806302"/>
                  <a:pt x="0" y="774567"/>
                  <a:pt x="0" y="735420"/>
                </a:cubicBezTo>
                <a:lnTo>
                  <a:pt x="0" y="70882"/>
                </a:lnTo>
                <a:cubicBezTo>
                  <a:pt x="0" y="31735"/>
                  <a:pt x="31735" y="0"/>
                  <a:pt x="7088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9" name="Text 57"/>
          <p:cNvSpPr/>
          <p:nvPr/>
        </p:nvSpPr>
        <p:spPr>
          <a:xfrm>
            <a:off x="575930" y="5594276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ws safety approve overed with meiko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5930" y="5743104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epson consumer employed a speculated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75930" y="5900793"/>
            <a:ext cx="2286415" cy="12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a rebounded it planes were criti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75930" y="6049621"/>
            <a:ext cx="2286415" cy="12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cism and a suit agriculties it also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74035" y="6371228"/>
            <a:ext cx="5449186" cy="363279"/>
          </a:xfrm>
          <a:custGeom>
            <a:avLst/>
            <a:gdLst/>
            <a:ahLst/>
            <a:cxnLst/>
            <a:rect l="l" t="t" r="r" b="b"/>
            <a:pathLst>
              <a:path w="5449186" h="363279">
                <a:moveTo>
                  <a:pt x="70883" y="0"/>
                </a:moveTo>
                <a:lnTo>
                  <a:pt x="5378303" y="0"/>
                </a:lnTo>
                <a:cubicBezTo>
                  <a:pt x="5417451" y="0"/>
                  <a:pt x="5449186" y="31735"/>
                  <a:pt x="5449186" y="70883"/>
                </a:cubicBezTo>
                <a:lnTo>
                  <a:pt x="5449186" y="292396"/>
                </a:lnTo>
                <a:cubicBezTo>
                  <a:pt x="5449186" y="331544"/>
                  <a:pt x="5417451" y="363279"/>
                  <a:pt x="5378303" y="363279"/>
                </a:cubicBezTo>
                <a:lnTo>
                  <a:pt x="70883" y="363279"/>
                </a:lnTo>
                <a:cubicBezTo>
                  <a:pt x="31762" y="363279"/>
                  <a:pt x="0" y="331517"/>
                  <a:pt x="0" y="292396"/>
                </a:cubicBezTo>
                <a:lnTo>
                  <a:pt x="0" y="70883"/>
                </a:lnTo>
                <a:cubicBezTo>
                  <a:pt x="0" y="31762"/>
                  <a:pt x="31762" y="0"/>
                  <a:pt x="7088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7070" y="6481984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94253" y="58894"/>
                </a:moveTo>
                <a:lnTo>
                  <a:pt x="72102" y="94336"/>
                </a:lnTo>
                <a:cubicBezTo>
                  <a:pt x="70939" y="96191"/>
                  <a:pt x="68945" y="97354"/>
                  <a:pt x="66758" y="97465"/>
                </a:cubicBezTo>
                <a:cubicBezTo>
                  <a:pt x="64571" y="97576"/>
                  <a:pt x="62466" y="96579"/>
                  <a:pt x="61165" y="94807"/>
                </a:cubicBezTo>
                <a:lnTo>
                  <a:pt x="47874" y="77086"/>
                </a:lnTo>
                <a:cubicBezTo>
                  <a:pt x="45659" y="74151"/>
                  <a:pt x="46268" y="69998"/>
                  <a:pt x="49203" y="67783"/>
                </a:cubicBezTo>
                <a:cubicBezTo>
                  <a:pt x="52138" y="65567"/>
                  <a:pt x="56292" y="66177"/>
                  <a:pt x="58507" y="69112"/>
                </a:cubicBezTo>
                <a:lnTo>
                  <a:pt x="65983" y="79080"/>
                </a:lnTo>
                <a:lnTo>
                  <a:pt x="82984" y="51861"/>
                </a:lnTo>
                <a:cubicBezTo>
                  <a:pt x="84922" y="48760"/>
                  <a:pt x="89020" y="47791"/>
                  <a:pt x="92149" y="49757"/>
                </a:cubicBezTo>
                <a:cubicBezTo>
                  <a:pt x="95278" y="51723"/>
                  <a:pt x="96219" y="55793"/>
                  <a:pt x="94253" y="589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776012" y="6446542"/>
            <a:ext cx="514277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Câu có nhịp điệu:</a:t>
            </a:r>
            <a:r>
              <a:rPr lang="en-US" sz="111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Cấu trúc cụm từ rõ ràng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53593" y="5022776"/>
            <a:ext cx="5679558" cy="1825256"/>
          </a:xfrm>
          <a:custGeom>
            <a:avLst/>
            <a:gdLst/>
            <a:ahLst/>
            <a:cxnLst/>
            <a:rect l="l" t="t" r="r" b="b"/>
            <a:pathLst>
              <a:path w="5679558" h="1825256">
                <a:moveTo>
                  <a:pt x="106321" y="0"/>
                </a:moveTo>
                <a:lnTo>
                  <a:pt x="5573237" y="0"/>
                </a:lnTo>
                <a:cubicBezTo>
                  <a:pt x="5631957" y="0"/>
                  <a:pt x="5679558" y="47602"/>
                  <a:pt x="5679558" y="106321"/>
                </a:cubicBezTo>
                <a:lnTo>
                  <a:pt x="5679558" y="1718935"/>
                </a:lnTo>
                <a:cubicBezTo>
                  <a:pt x="5679558" y="1777654"/>
                  <a:pt x="5631957" y="1825256"/>
                  <a:pt x="5573237" y="1825256"/>
                </a:cubicBezTo>
                <a:lnTo>
                  <a:pt x="106321" y="1825256"/>
                </a:lnTo>
                <a:cubicBezTo>
                  <a:pt x="47602" y="1825256"/>
                  <a:pt x="0" y="1777654"/>
                  <a:pt x="0" y="1718935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64349" y="5133532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70884" y="0"/>
                </a:moveTo>
                <a:lnTo>
                  <a:pt x="212651" y="0"/>
                </a:lnTo>
                <a:cubicBezTo>
                  <a:pt x="251773" y="0"/>
                  <a:pt x="283535" y="31762"/>
                  <a:pt x="283535" y="70884"/>
                </a:cubicBezTo>
                <a:lnTo>
                  <a:pt x="283535" y="212651"/>
                </a:lnTo>
                <a:cubicBezTo>
                  <a:pt x="283535" y="251773"/>
                  <a:pt x="251773" y="283535"/>
                  <a:pt x="21265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369567" y="5151253"/>
            <a:ext cx="15062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618767" y="5151253"/>
            <a:ext cx="1896140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7 (Gần như đọc được)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264349" y="5487951"/>
            <a:ext cx="5458047" cy="806302"/>
          </a:xfrm>
          <a:custGeom>
            <a:avLst/>
            <a:gdLst/>
            <a:ahLst/>
            <a:cxnLst/>
            <a:rect l="l" t="t" r="r" b="b"/>
            <a:pathLst>
              <a:path w="5458047" h="806302">
                <a:moveTo>
                  <a:pt x="70882" y="0"/>
                </a:moveTo>
                <a:lnTo>
                  <a:pt x="5387164" y="0"/>
                </a:lnTo>
                <a:cubicBezTo>
                  <a:pt x="5426312" y="0"/>
                  <a:pt x="5458047" y="31735"/>
                  <a:pt x="5458047" y="70882"/>
                </a:cubicBezTo>
                <a:lnTo>
                  <a:pt x="5458047" y="735420"/>
                </a:lnTo>
                <a:cubicBezTo>
                  <a:pt x="5458047" y="774567"/>
                  <a:pt x="5426312" y="806302"/>
                  <a:pt x="5387164" y="806302"/>
                </a:cubicBezTo>
                <a:lnTo>
                  <a:pt x="70882" y="806302"/>
                </a:lnTo>
                <a:cubicBezTo>
                  <a:pt x="31735" y="806302"/>
                  <a:pt x="0" y="774567"/>
                  <a:pt x="0" y="735420"/>
                </a:cubicBezTo>
                <a:lnTo>
                  <a:pt x="0" y="70882"/>
                </a:lnTo>
                <a:cubicBezTo>
                  <a:pt x="0" y="31735"/>
                  <a:pt x="31735" y="0"/>
                  <a:pt x="7088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71" name="Text 69"/>
          <p:cNvSpPr/>
          <p:nvPr/>
        </p:nvSpPr>
        <p:spPr>
          <a:xfrm>
            <a:off x="6370674" y="5603137"/>
            <a:ext cx="2158769" cy="12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 deposits total intertechnology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370674" y="5751965"/>
            <a:ext cx="2286415" cy="12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 brady falter has given the basi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370674" y="5900793"/>
            <a:ext cx="2222592" cy="12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 point tore are adjusting occurre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70674" y="6040761"/>
            <a:ext cx="5298558" cy="15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37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nt banks had change in the minister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68779" y="6371228"/>
            <a:ext cx="5449186" cy="363279"/>
          </a:xfrm>
          <a:custGeom>
            <a:avLst/>
            <a:gdLst/>
            <a:ahLst/>
            <a:cxnLst/>
            <a:rect l="l" t="t" r="r" b="b"/>
            <a:pathLst>
              <a:path w="5449186" h="363279">
                <a:moveTo>
                  <a:pt x="70883" y="0"/>
                </a:moveTo>
                <a:lnTo>
                  <a:pt x="5378303" y="0"/>
                </a:lnTo>
                <a:cubicBezTo>
                  <a:pt x="5417451" y="0"/>
                  <a:pt x="5449186" y="31735"/>
                  <a:pt x="5449186" y="70883"/>
                </a:cubicBezTo>
                <a:lnTo>
                  <a:pt x="5449186" y="292396"/>
                </a:lnTo>
                <a:cubicBezTo>
                  <a:pt x="5449186" y="331544"/>
                  <a:pt x="5417451" y="363279"/>
                  <a:pt x="5378303" y="363279"/>
                </a:cubicBezTo>
                <a:lnTo>
                  <a:pt x="70883" y="363279"/>
                </a:lnTo>
                <a:cubicBezTo>
                  <a:pt x="31762" y="363279"/>
                  <a:pt x="0" y="331517"/>
                  <a:pt x="0" y="292396"/>
                </a:cubicBezTo>
                <a:lnTo>
                  <a:pt x="0" y="70883"/>
                </a:lnTo>
                <a:cubicBezTo>
                  <a:pt x="0" y="31762"/>
                  <a:pt x="31762" y="0"/>
                  <a:pt x="70883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61814" y="6481984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0"/>
                </a:moveTo>
                <a:cubicBezTo>
                  <a:pt x="74954" y="0"/>
                  <a:pt x="78692" y="2243"/>
                  <a:pt x="80630" y="5815"/>
                </a:cubicBezTo>
                <a:lnTo>
                  <a:pt x="140438" y="116570"/>
                </a:lnTo>
                <a:cubicBezTo>
                  <a:pt x="142294" y="120004"/>
                  <a:pt x="142210" y="124157"/>
                  <a:pt x="140217" y="127508"/>
                </a:cubicBezTo>
                <a:cubicBezTo>
                  <a:pt x="138223" y="130858"/>
                  <a:pt x="134596" y="132907"/>
                  <a:pt x="130692" y="132907"/>
                </a:cubicBezTo>
                <a:lnTo>
                  <a:pt x="11076" y="132907"/>
                </a:lnTo>
                <a:cubicBezTo>
                  <a:pt x="7171" y="132907"/>
                  <a:pt x="3572" y="130858"/>
                  <a:pt x="1551" y="127508"/>
                </a:cubicBezTo>
                <a:cubicBezTo>
                  <a:pt x="-471" y="124157"/>
                  <a:pt x="-526" y="120004"/>
                  <a:pt x="1329" y="116570"/>
                </a:cubicBezTo>
                <a:lnTo>
                  <a:pt x="61137" y="5815"/>
                </a:lnTo>
                <a:cubicBezTo>
                  <a:pt x="63075" y="2243"/>
                  <a:pt x="66813" y="0"/>
                  <a:pt x="70884" y="0"/>
                </a:cubicBezTo>
                <a:close/>
                <a:moveTo>
                  <a:pt x="70884" y="46517"/>
                </a:moveTo>
                <a:cubicBezTo>
                  <a:pt x="67201" y="46517"/>
                  <a:pt x="64238" y="49480"/>
                  <a:pt x="64238" y="53163"/>
                </a:cubicBezTo>
                <a:lnTo>
                  <a:pt x="64238" y="84174"/>
                </a:lnTo>
                <a:cubicBezTo>
                  <a:pt x="64238" y="87857"/>
                  <a:pt x="67201" y="90820"/>
                  <a:pt x="70884" y="90820"/>
                </a:cubicBezTo>
                <a:cubicBezTo>
                  <a:pt x="74566" y="90820"/>
                  <a:pt x="77529" y="87857"/>
                  <a:pt x="77529" y="84174"/>
                </a:cubicBezTo>
                <a:lnTo>
                  <a:pt x="77529" y="53163"/>
                </a:lnTo>
                <a:cubicBezTo>
                  <a:pt x="77529" y="49480"/>
                  <a:pt x="74566" y="46517"/>
                  <a:pt x="70884" y="46517"/>
                </a:cubicBezTo>
                <a:close/>
                <a:moveTo>
                  <a:pt x="78277" y="106326"/>
                </a:moveTo>
                <a:cubicBezTo>
                  <a:pt x="78445" y="103581"/>
                  <a:pt x="77076" y="100971"/>
                  <a:pt x="74724" y="99548"/>
                </a:cubicBezTo>
                <a:cubicBezTo>
                  <a:pt x="72371" y="98125"/>
                  <a:pt x="69424" y="98125"/>
                  <a:pt x="67071" y="99548"/>
                </a:cubicBezTo>
                <a:cubicBezTo>
                  <a:pt x="64719" y="100971"/>
                  <a:pt x="63350" y="103581"/>
                  <a:pt x="63518" y="106326"/>
                </a:cubicBezTo>
                <a:cubicBezTo>
                  <a:pt x="63350" y="109070"/>
                  <a:pt x="64719" y="111681"/>
                  <a:pt x="67071" y="113104"/>
                </a:cubicBezTo>
                <a:cubicBezTo>
                  <a:pt x="69424" y="114526"/>
                  <a:pt x="72371" y="114526"/>
                  <a:pt x="74724" y="113104"/>
                </a:cubicBezTo>
                <a:cubicBezTo>
                  <a:pt x="77076" y="111681"/>
                  <a:pt x="78445" y="109070"/>
                  <a:pt x="78277" y="10632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77" name="Text 75"/>
          <p:cNvSpPr/>
          <p:nvPr/>
        </p:nvSpPr>
        <p:spPr>
          <a:xfrm>
            <a:off x="6570756" y="6446542"/>
            <a:ext cx="514277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Gần đọc được nhưng:</a:t>
            </a:r>
            <a:r>
              <a:rPr lang="en-US" sz="111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Dễ gặp lỗi dữ liệu thưa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4224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kern="0" spc="57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6: ĐẰNG SAU HẬU TRƯỜNG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49759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Thảo luận và Kết luận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977" y="1119029"/>
            <a:ext cx="866345" cy="36098"/>
          </a:xfrm>
          <a:custGeom>
            <a:avLst/>
            <a:gdLst/>
            <a:ahLst/>
            <a:cxnLst/>
            <a:rect l="l" t="t" r="r" b="b"/>
            <a:pathLst>
              <a:path w="866345" h="36098">
                <a:moveTo>
                  <a:pt x="0" y="0"/>
                </a:moveTo>
                <a:lnTo>
                  <a:pt x="866345" y="0"/>
                </a:lnTo>
                <a:lnTo>
                  <a:pt x="866345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65489" y="1304030"/>
            <a:ext cx="5486851" cy="5189045"/>
          </a:xfrm>
          <a:custGeom>
            <a:avLst/>
            <a:gdLst/>
            <a:ahLst/>
            <a:cxnLst/>
            <a:rect l="l" t="t" r="r" b="b"/>
            <a:pathLst>
              <a:path w="5486851" h="5189045">
                <a:moveTo>
                  <a:pt x="108295" y="0"/>
                </a:moveTo>
                <a:lnTo>
                  <a:pt x="5378556" y="0"/>
                </a:lnTo>
                <a:cubicBezTo>
                  <a:pt x="5438366" y="0"/>
                  <a:pt x="5486851" y="48485"/>
                  <a:pt x="5486851" y="108295"/>
                </a:cubicBezTo>
                <a:lnTo>
                  <a:pt x="5486851" y="5080750"/>
                </a:lnTo>
                <a:cubicBezTo>
                  <a:pt x="5486851" y="5140560"/>
                  <a:pt x="5438366" y="5189045"/>
                  <a:pt x="5378556" y="5189045"/>
                </a:cubicBezTo>
                <a:lnTo>
                  <a:pt x="108295" y="5189045"/>
                </a:lnTo>
                <a:cubicBezTo>
                  <a:pt x="48485" y="5189045"/>
                  <a:pt x="0" y="5140560"/>
                  <a:pt x="0" y="5080750"/>
                </a:cubicBezTo>
                <a:lnTo>
                  <a:pt x="0" y="108295"/>
                </a:lnTo>
                <a:cubicBezTo>
                  <a:pt x="0" y="48526"/>
                  <a:pt x="48526" y="0"/>
                  <a:pt x="108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4392" y="145293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3356" y="1543177"/>
            <a:ext cx="203050" cy="180489"/>
          </a:xfrm>
          <a:custGeom>
            <a:avLst/>
            <a:gdLst/>
            <a:ahLst/>
            <a:cxnLst/>
            <a:rect l="l" t="t" r="r" b="b"/>
            <a:pathLst>
              <a:path w="203050" h="180489">
                <a:moveTo>
                  <a:pt x="135366" y="50762"/>
                </a:moveTo>
                <a:cubicBezTo>
                  <a:pt x="135366" y="85027"/>
                  <a:pt x="105050" y="112805"/>
                  <a:pt x="67683" y="112805"/>
                </a:cubicBezTo>
                <a:cubicBezTo>
                  <a:pt x="58271" y="112805"/>
                  <a:pt x="49317" y="111043"/>
                  <a:pt x="41174" y="107870"/>
                </a:cubicBezTo>
                <a:lnTo>
                  <a:pt x="12409" y="123099"/>
                </a:lnTo>
                <a:cubicBezTo>
                  <a:pt x="9130" y="124826"/>
                  <a:pt x="5111" y="124227"/>
                  <a:pt x="2468" y="121618"/>
                </a:cubicBezTo>
                <a:cubicBezTo>
                  <a:pt x="-176" y="119010"/>
                  <a:pt x="-776" y="114956"/>
                  <a:pt x="987" y="111677"/>
                </a:cubicBezTo>
                <a:lnTo>
                  <a:pt x="13537" y="87988"/>
                </a:lnTo>
                <a:cubicBezTo>
                  <a:pt x="5041" y="77624"/>
                  <a:pt x="0" y="64722"/>
                  <a:pt x="0" y="50762"/>
                </a:cubicBezTo>
                <a:cubicBezTo>
                  <a:pt x="0" y="16498"/>
                  <a:pt x="30316" y="-11281"/>
                  <a:pt x="67683" y="-11281"/>
                </a:cubicBezTo>
                <a:cubicBezTo>
                  <a:pt x="105050" y="-11281"/>
                  <a:pt x="135366" y="16498"/>
                  <a:pt x="135366" y="50762"/>
                </a:cubicBezTo>
                <a:close/>
                <a:moveTo>
                  <a:pt x="135366" y="180489"/>
                </a:moveTo>
                <a:cubicBezTo>
                  <a:pt x="102195" y="180489"/>
                  <a:pt x="74593" y="158597"/>
                  <a:pt x="68811" y="129726"/>
                </a:cubicBezTo>
                <a:cubicBezTo>
                  <a:pt x="111113" y="129197"/>
                  <a:pt x="147881" y="99092"/>
                  <a:pt x="151935" y="58271"/>
                </a:cubicBezTo>
                <a:cubicBezTo>
                  <a:pt x="181299" y="65039"/>
                  <a:pt x="203050" y="89398"/>
                  <a:pt x="203050" y="118446"/>
                </a:cubicBezTo>
                <a:cubicBezTo>
                  <a:pt x="203050" y="132405"/>
                  <a:pt x="198009" y="145307"/>
                  <a:pt x="189513" y="155671"/>
                </a:cubicBezTo>
                <a:lnTo>
                  <a:pt x="202063" y="179360"/>
                </a:lnTo>
                <a:cubicBezTo>
                  <a:pt x="203790" y="182639"/>
                  <a:pt x="203191" y="186658"/>
                  <a:pt x="200582" y="189301"/>
                </a:cubicBezTo>
                <a:cubicBezTo>
                  <a:pt x="197973" y="191945"/>
                  <a:pt x="193919" y="192545"/>
                  <a:pt x="190641" y="190782"/>
                </a:cubicBezTo>
                <a:lnTo>
                  <a:pt x="161876" y="175553"/>
                </a:lnTo>
                <a:cubicBezTo>
                  <a:pt x="153733" y="178726"/>
                  <a:pt x="144779" y="180489"/>
                  <a:pt x="135366" y="18048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83662" y="1507079"/>
            <a:ext cx="86634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Thảo luận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4392" y="1965069"/>
            <a:ext cx="5189045" cy="938540"/>
          </a:xfrm>
          <a:custGeom>
            <a:avLst/>
            <a:gdLst/>
            <a:ahLst/>
            <a:cxnLst/>
            <a:rect l="l" t="t" r="r" b="b"/>
            <a:pathLst>
              <a:path w="5189045" h="938540">
                <a:moveTo>
                  <a:pt x="72193" y="0"/>
                </a:moveTo>
                <a:lnTo>
                  <a:pt x="5116853" y="0"/>
                </a:lnTo>
                <a:cubicBezTo>
                  <a:pt x="5156723" y="0"/>
                  <a:pt x="5189045" y="32322"/>
                  <a:pt x="5189045" y="72193"/>
                </a:cubicBezTo>
                <a:lnTo>
                  <a:pt x="5189045" y="866348"/>
                </a:lnTo>
                <a:cubicBezTo>
                  <a:pt x="5189045" y="906219"/>
                  <a:pt x="5156723" y="938540"/>
                  <a:pt x="5116853" y="938540"/>
                </a:cubicBezTo>
                <a:lnTo>
                  <a:pt x="72193" y="938540"/>
                </a:lnTo>
                <a:cubicBezTo>
                  <a:pt x="32322" y="938540"/>
                  <a:pt x="0" y="906219"/>
                  <a:pt x="0" y="866348"/>
                </a:cubicBezTo>
                <a:lnTo>
                  <a:pt x="0" y="72193"/>
                </a:lnTo>
                <a:cubicBezTo>
                  <a:pt x="0" y="32348"/>
                  <a:pt x="32348" y="0"/>
                  <a:pt x="7219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622685" y="2073362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72195" y="0"/>
                </a:moveTo>
                <a:lnTo>
                  <a:pt x="216586" y="0"/>
                </a:lnTo>
                <a:cubicBezTo>
                  <a:pt x="256459" y="0"/>
                  <a:pt x="288782" y="32323"/>
                  <a:pt x="288782" y="72195"/>
                </a:cubicBezTo>
                <a:lnTo>
                  <a:pt x="288782" y="216586"/>
                </a:lnTo>
                <a:cubicBezTo>
                  <a:pt x="288782" y="256459"/>
                  <a:pt x="256459" y="288782"/>
                  <a:pt x="216586" y="288782"/>
                </a:cubicBezTo>
                <a:lnTo>
                  <a:pt x="72195" y="288782"/>
                </a:lnTo>
                <a:cubicBezTo>
                  <a:pt x="32323" y="288782"/>
                  <a:pt x="0" y="256459"/>
                  <a:pt x="0" y="216586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4881" y="2145557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8049" y="18049"/>
                </a:moveTo>
                <a:cubicBezTo>
                  <a:pt x="18049" y="13057"/>
                  <a:pt x="14016" y="9024"/>
                  <a:pt x="9024" y="9024"/>
                </a:cubicBezTo>
                <a:cubicBezTo>
                  <a:pt x="4033" y="9024"/>
                  <a:pt x="0" y="13057"/>
                  <a:pt x="0" y="18049"/>
                </a:cubicBezTo>
                <a:lnTo>
                  <a:pt x="0" y="112805"/>
                </a:lnTo>
                <a:cubicBezTo>
                  <a:pt x="0" y="125270"/>
                  <a:pt x="10096" y="135366"/>
                  <a:pt x="22561" y="135366"/>
                </a:cubicBezTo>
                <a:lnTo>
                  <a:pt x="135366" y="135366"/>
                </a:lnTo>
                <a:cubicBezTo>
                  <a:pt x="140358" y="135366"/>
                  <a:pt x="144391" y="131334"/>
                  <a:pt x="144391" y="126342"/>
                </a:cubicBezTo>
                <a:cubicBezTo>
                  <a:pt x="144391" y="121350"/>
                  <a:pt x="140358" y="117318"/>
                  <a:pt x="135366" y="117318"/>
                </a:cubicBezTo>
                <a:lnTo>
                  <a:pt x="22561" y="117318"/>
                </a:lnTo>
                <a:cubicBezTo>
                  <a:pt x="20079" y="117318"/>
                  <a:pt x="18049" y="115287"/>
                  <a:pt x="18049" y="112805"/>
                </a:cubicBezTo>
                <a:lnTo>
                  <a:pt x="18049" y="18049"/>
                </a:lnTo>
                <a:close/>
                <a:moveTo>
                  <a:pt x="132715" y="42471"/>
                </a:moveTo>
                <a:cubicBezTo>
                  <a:pt x="136241" y="38946"/>
                  <a:pt x="136241" y="33221"/>
                  <a:pt x="132715" y="29696"/>
                </a:cubicBezTo>
                <a:cubicBezTo>
                  <a:pt x="129190" y="26171"/>
                  <a:pt x="123465" y="26171"/>
                  <a:pt x="119940" y="29696"/>
                </a:cubicBezTo>
                <a:lnTo>
                  <a:pt x="90244" y="59420"/>
                </a:lnTo>
                <a:lnTo>
                  <a:pt x="74057" y="43261"/>
                </a:lnTo>
                <a:cubicBezTo>
                  <a:pt x="70532" y="39736"/>
                  <a:pt x="64807" y="39736"/>
                  <a:pt x="61281" y="43261"/>
                </a:cubicBezTo>
                <a:lnTo>
                  <a:pt x="34208" y="70334"/>
                </a:lnTo>
                <a:cubicBezTo>
                  <a:pt x="30683" y="73859"/>
                  <a:pt x="30683" y="79584"/>
                  <a:pt x="34208" y="83109"/>
                </a:cubicBezTo>
                <a:cubicBezTo>
                  <a:pt x="37733" y="86634"/>
                  <a:pt x="43458" y="86634"/>
                  <a:pt x="46983" y="83109"/>
                </a:cubicBezTo>
                <a:lnTo>
                  <a:pt x="67683" y="62410"/>
                </a:lnTo>
                <a:lnTo>
                  <a:pt x="83871" y="78597"/>
                </a:lnTo>
                <a:cubicBezTo>
                  <a:pt x="87396" y="82122"/>
                  <a:pt x="93121" y="82122"/>
                  <a:pt x="96646" y="78597"/>
                </a:cubicBezTo>
                <a:lnTo>
                  <a:pt x="132744" y="4249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19760" y="2073362"/>
            <a:ext cx="464758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Tính hiệu quả của ngữ cảnh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9760" y="2326046"/>
            <a:ext cx="4647580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n-gram càng lớn thì văn bản càng tự nhiên, nhưng </a:t>
            </a:r>
            <a:r>
              <a:rPr lang="en-US" sz="1137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 phí lưu trữ và tính toán tăng mạnh</a:t>
            </a: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Đây là sự đánh đổi giữa chất lượng và tài nguyên.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92" y="3097634"/>
            <a:ext cx="5189045" cy="938540"/>
          </a:xfrm>
          <a:custGeom>
            <a:avLst/>
            <a:gdLst/>
            <a:ahLst/>
            <a:cxnLst/>
            <a:rect l="l" t="t" r="r" b="b"/>
            <a:pathLst>
              <a:path w="5189045" h="938540">
                <a:moveTo>
                  <a:pt x="72193" y="0"/>
                </a:moveTo>
                <a:lnTo>
                  <a:pt x="5116853" y="0"/>
                </a:lnTo>
                <a:cubicBezTo>
                  <a:pt x="5156723" y="0"/>
                  <a:pt x="5189045" y="32322"/>
                  <a:pt x="5189045" y="72193"/>
                </a:cubicBezTo>
                <a:lnTo>
                  <a:pt x="5189045" y="866348"/>
                </a:lnTo>
                <a:cubicBezTo>
                  <a:pt x="5189045" y="906219"/>
                  <a:pt x="5156723" y="938540"/>
                  <a:pt x="5116853" y="938540"/>
                </a:cubicBezTo>
                <a:lnTo>
                  <a:pt x="72193" y="938540"/>
                </a:lnTo>
                <a:cubicBezTo>
                  <a:pt x="32322" y="938540"/>
                  <a:pt x="0" y="906219"/>
                  <a:pt x="0" y="866348"/>
                </a:cubicBezTo>
                <a:lnTo>
                  <a:pt x="0" y="72193"/>
                </a:lnTo>
                <a:cubicBezTo>
                  <a:pt x="0" y="32348"/>
                  <a:pt x="32348" y="0"/>
                  <a:pt x="7219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685" y="3205927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72195" y="0"/>
                </a:moveTo>
                <a:lnTo>
                  <a:pt x="216586" y="0"/>
                </a:lnTo>
                <a:cubicBezTo>
                  <a:pt x="256459" y="0"/>
                  <a:pt x="288782" y="32323"/>
                  <a:pt x="288782" y="72195"/>
                </a:cubicBezTo>
                <a:lnTo>
                  <a:pt x="288782" y="216586"/>
                </a:lnTo>
                <a:cubicBezTo>
                  <a:pt x="288782" y="256459"/>
                  <a:pt x="256459" y="288782"/>
                  <a:pt x="216586" y="288782"/>
                </a:cubicBezTo>
                <a:lnTo>
                  <a:pt x="72195" y="288782"/>
                </a:lnTo>
                <a:cubicBezTo>
                  <a:pt x="32323" y="288782"/>
                  <a:pt x="0" y="256459"/>
                  <a:pt x="0" y="216586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94881" y="3278123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0"/>
                </a:moveTo>
                <a:cubicBezTo>
                  <a:pt x="76341" y="0"/>
                  <a:pt x="80148" y="2284"/>
                  <a:pt x="82122" y="5922"/>
                </a:cubicBezTo>
                <a:lnTo>
                  <a:pt x="143037" y="118728"/>
                </a:lnTo>
                <a:cubicBezTo>
                  <a:pt x="144927" y="122225"/>
                  <a:pt x="144842" y="126455"/>
                  <a:pt x="142812" y="129867"/>
                </a:cubicBezTo>
                <a:cubicBezTo>
                  <a:pt x="140781" y="133279"/>
                  <a:pt x="137087" y="135366"/>
                  <a:pt x="133110" y="135366"/>
                </a:cubicBezTo>
                <a:lnTo>
                  <a:pt x="11281" y="135366"/>
                </a:lnTo>
                <a:cubicBezTo>
                  <a:pt x="7304" y="135366"/>
                  <a:pt x="3638" y="133279"/>
                  <a:pt x="1579" y="129867"/>
                </a:cubicBezTo>
                <a:cubicBezTo>
                  <a:pt x="-479" y="126455"/>
                  <a:pt x="-536" y="122225"/>
                  <a:pt x="1354" y="118728"/>
                </a:cubicBezTo>
                <a:lnTo>
                  <a:pt x="62269" y="5922"/>
                </a:lnTo>
                <a:cubicBezTo>
                  <a:pt x="64243" y="2284"/>
                  <a:pt x="68050" y="0"/>
                  <a:pt x="72195" y="0"/>
                </a:cubicBezTo>
                <a:close/>
                <a:moveTo>
                  <a:pt x="72195" y="47378"/>
                </a:moveTo>
                <a:cubicBezTo>
                  <a:pt x="68445" y="47378"/>
                  <a:pt x="65427" y="50396"/>
                  <a:pt x="65427" y="54147"/>
                </a:cubicBezTo>
                <a:lnTo>
                  <a:pt x="65427" y="85732"/>
                </a:lnTo>
                <a:cubicBezTo>
                  <a:pt x="65427" y="89483"/>
                  <a:pt x="68445" y="92500"/>
                  <a:pt x="72195" y="92500"/>
                </a:cubicBezTo>
                <a:cubicBezTo>
                  <a:pt x="75946" y="92500"/>
                  <a:pt x="78964" y="89483"/>
                  <a:pt x="78964" y="85732"/>
                </a:cubicBezTo>
                <a:lnTo>
                  <a:pt x="78964" y="54147"/>
                </a:lnTo>
                <a:cubicBezTo>
                  <a:pt x="78964" y="50396"/>
                  <a:pt x="75946" y="47378"/>
                  <a:pt x="72195" y="47378"/>
                </a:cubicBezTo>
                <a:close/>
                <a:moveTo>
                  <a:pt x="79725" y="108293"/>
                </a:moveTo>
                <a:cubicBezTo>
                  <a:pt x="79896" y="105498"/>
                  <a:pt x="78503" y="102839"/>
                  <a:pt x="76107" y="101390"/>
                </a:cubicBezTo>
                <a:cubicBezTo>
                  <a:pt x="73711" y="99940"/>
                  <a:pt x="70708" y="99940"/>
                  <a:pt x="68312" y="101390"/>
                </a:cubicBezTo>
                <a:cubicBezTo>
                  <a:pt x="65916" y="102839"/>
                  <a:pt x="64523" y="105498"/>
                  <a:pt x="64694" y="108293"/>
                </a:cubicBezTo>
                <a:cubicBezTo>
                  <a:pt x="64523" y="111088"/>
                  <a:pt x="65916" y="113747"/>
                  <a:pt x="68312" y="115197"/>
                </a:cubicBezTo>
                <a:cubicBezTo>
                  <a:pt x="70708" y="116646"/>
                  <a:pt x="73711" y="116646"/>
                  <a:pt x="76107" y="115197"/>
                </a:cubicBezTo>
                <a:cubicBezTo>
                  <a:pt x="78503" y="113747"/>
                  <a:pt x="79896" y="111088"/>
                  <a:pt x="79725" y="10829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19760" y="3205927"/>
            <a:ext cx="464758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Vấn đề dữ liệu thưa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9760" y="3458611"/>
            <a:ext cx="4647580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Với n-gram dài, nhiều ngữ cảnh hiếm không xuất hiện trong dữ liệu → dễ gây </a:t>
            </a:r>
            <a:r>
              <a:rPr lang="en-US" sz="1137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lỗi khi sinh chuỗi</a:t>
            </a: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Có thể khắc phục bằng kỹ thuật smoothing.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392" y="4230200"/>
            <a:ext cx="5189045" cy="938540"/>
          </a:xfrm>
          <a:custGeom>
            <a:avLst/>
            <a:gdLst/>
            <a:ahLst/>
            <a:cxnLst/>
            <a:rect l="l" t="t" r="r" b="b"/>
            <a:pathLst>
              <a:path w="5189045" h="938540">
                <a:moveTo>
                  <a:pt x="72193" y="0"/>
                </a:moveTo>
                <a:lnTo>
                  <a:pt x="5116853" y="0"/>
                </a:lnTo>
                <a:cubicBezTo>
                  <a:pt x="5156723" y="0"/>
                  <a:pt x="5189045" y="32322"/>
                  <a:pt x="5189045" y="72193"/>
                </a:cubicBezTo>
                <a:lnTo>
                  <a:pt x="5189045" y="866348"/>
                </a:lnTo>
                <a:cubicBezTo>
                  <a:pt x="5189045" y="906219"/>
                  <a:pt x="5156723" y="938540"/>
                  <a:pt x="5116853" y="938540"/>
                </a:cubicBezTo>
                <a:lnTo>
                  <a:pt x="72193" y="938540"/>
                </a:lnTo>
                <a:cubicBezTo>
                  <a:pt x="32322" y="938540"/>
                  <a:pt x="0" y="906219"/>
                  <a:pt x="0" y="866348"/>
                </a:cubicBezTo>
                <a:lnTo>
                  <a:pt x="0" y="72193"/>
                </a:lnTo>
                <a:cubicBezTo>
                  <a:pt x="0" y="32348"/>
                  <a:pt x="32348" y="0"/>
                  <a:pt x="7219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2685" y="4338493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72195" y="0"/>
                </a:moveTo>
                <a:lnTo>
                  <a:pt x="216586" y="0"/>
                </a:lnTo>
                <a:cubicBezTo>
                  <a:pt x="256459" y="0"/>
                  <a:pt x="288782" y="32323"/>
                  <a:pt x="288782" y="72195"/>
                </a:cubicBezTo>
                <a:lnTo>
                  <a:pt x="288782" y="216586"/>
                </a:lnTo>
                <a:cubicBezTo>
                  <a:pt x="288782" y="256459"/>
                  <a:pt x="256459" y="288782"/>
                  <a:pt x="216586" y="288782"/>
                </a:cubicBezTo>
                <a:lnTo>
                  <a:pt x="72195" y="288782"/>
                </a:lnTo>
                <a:cubicBezTo>
                  <a:pt x="32323" y="288782"/>
                  <a:pt x="0" y="256459"/>
                  <a:pt x="0" y="216586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2930" y="4410688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82602" y="108293"/>
                </a:moveTo>
                <a:cubicBezTo>
                  <a:pt x="84660" y="102004"/>
                  <a:pt x="88778" y="96308"/>
                  <a:pt x="93431" y="91401"/>
                </a:cubicBezTo>
                <a:cubicBezTo>
                  <a:pt x="102653" y="81699"/>
                  <a:pt x="108293" y="68586"/>
                  <a:pt x="108293" y="54147"/>
                </a:cubicBezTo>
                <a:cubicBezTo>
                  <a:pt x="108293" y="24253"/>
                  <a:pt x="84040" y="0"/>
                  <a:pt x="54147" y="0"/>
                </a:cubicBezTo>
                <a:cubicBezTo>
                  <a:pt x="24253" y="0"/>
                  <a:pt x="0" y="24253"/>
                  <a:pt x="0" y="54147"/>
                </a:cubicBezTo>
                <a:cubicBezTo>
                  <a:pt x="0" y="68586"/>
                  <a:pt x="5640" y="81699"/>
                  <a:pt x="14862" y="91401"/>
                </a:cubicBezTo>
                <a:cubicBezTo>
                  <a:pt x="19515" y="96308"/>
                  <a:pt x="23661" y="102004"/>
                  <a:pt x="25691" y="108293"/>
                </a:cubicBezTo>
                <a:lnTo>
                  <a:pt x="82574" y="108293"/>
                </a:lnTo>
                <a:close/>
                <a:moveTo>
                  <a:pt x="81220" y="121830"/>
                </a:moveTo>
                <a:lnTo>
                  <a:pt x="27073" y="121830"/>
                </a:lnTo>
                <a:lnTo>
                  <a:pt x="27073" y="126342"/>
                </a:lnTo>
                <a:cubicBezTo>
                  <a:pt x="27073" y="138807"/>
                  <a:pt x="37169" y="148903"/>
                  <a:pt x="49634" y="148903"/>
                </a:cubicBezTo>
                <a:lnTo>
                  <a:pt x="58659" y="148903"/>
                </a:lnTo>
                <a:cubicBezTo>
                  <a:pt x="71124" y="148903"/>
                  <a:pt x="81220" y="138807"/>
                  <a:pt x="81220" y="126342"/>
                </a:cubicBezTo>
                <a:lnTo>
                  <a:pt x="81220" y="121830"/>
                </a:lnTo>
                <a:close/>
                <a:moveTo>
                  <a:pt x="51890" y="31585"/>
                </a:moveTo>
                <a:cubicBezTo>
                  <a:pt x="40666" y="31585"/>
                  <a:pt x="31585" y="40666"/>
                  <a:pt x="31585" y="51890"/>
                </a:cubicBezTo>
                <a:cubicBezTo>
                  <a:pt x="31585" y="55641"/>
                  <a:pt x="28568" y="58659"/>
                  <a:pt x="24817" y="58659"/>
                </a:cubicBezTo>
                <a:cubicBezTo>
                  <a:pt x="21066" y="58659"/>
                  <a:pt x="18049" y="55641"/>
                  <a:pt x="18049" y="51890"/>
                </a:cubicBezTo>
                <a:cubicBezTo>
                  <a:pt x="18049" y="33193"/>
                  <a:pt x="33193" y="18049"/>
                  <a:pt x="51890" y="18049"/>
                </a:cubicBezTo>
                <a:cubicBezTo>
                  <a:pt x="55641" y="18049"/>
                  <a:pt x="58659" y="21066"/>
                  <a:pt x="58659" y="24817"/>
                </a:cubicBezTo>
                <a:cubicBezTo>
                  <a:pt x="58659" y="28568"/>
                  <a:pt x="55641" y="31585"/>
                  <a:pt x="51890" y="3158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19760" y="4338493"/>
            <a:ext cx="464758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Ý nghĩa thực tiễn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9760" y="4591177"/>
            <a:ext cx="4647580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hình n-gram là cách tiếp cận đơn giản nhưng hữu ích để minh họa quá trình học thống kê của ngôn ngữ, làm nền cho các mô hình hiện đại.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4392" y="5362765"/>
            <a:ext cx="5189045" cy="938540"/>
          </a:xfrm>
          <a:custGeom>
            <a:avLst/>
            <a:gdLst/>
            <a:ahLst/>
            <a:cxnLst/>
            <a:rect l="l" t="t" r="r" b="b"/>
            <a:pathLst>
              <a:path w="5189045" h="938540">
                <a:moveTo>
                  <a:pt x="72193" y="0"/>
                </a:moveTo>
                <a:lnTo>
                  <a:pt x="5116853" y="0"/>
                </a:lnTo>
                <a:cubicBezTo>
                  <a:pt x="5156723" y="0"/>
                  <a:pt x="5189045" y="32322"/>
                  <a:pt x="5189045" y="72193"/>
                </a:cubicBezTo>
                <a:lnTo>
                  <a:pt x="5189045" y="866348"/>
                </a:lnTo>
                <a:cubicBezTo>
                  <a:pt x="5189045" y="906219"/>
                  <a:pt x="5156723" y="938540"/>
                  <a:pt x="5116853" y="938540"/>
                </a:cubicBezTo>
                <a:lnTo>
                  <a:pt x="72193" y="938540"/>
                </a:lnTo>
                <a:cubicBezTo>
                  <a:pt x="32322" y="938540"/>
                  <a:pt x="0" y="906219"/>
                  <a:pt x="0" y="866348"/>
                </a:cubicBezTo>
                <a:lnTo>
                  <a:pt x="0" y="72193"/>
                </a:lnTo>
                <a:cubicBezTo>
                  <a:pt x="0" y="32348"/>
                  <a:pt x="32348" y="0"/>
                  <a:pt x="7219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685" y="5471058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72195" y="0"/>
                </a:moveTo>
                <a:lnTo>
                  <a:pt x="216586" y="0"/>
                </a:lnTo>
                <a:cubicBezTo>
                  <a:pt x="256459" y="0"/>
                  <a:pt x="288782" y="32323"/>
                  <a:pt x="288782" y="72195"/>
                </a:cubicBezTo>
                <a:lnTo>
                  <a:pt x="288782" y="216586"/>
                </a:lnTo>
                <a:cubicBezTo>
                  <a:pt x="288782" y="256459"/>
                  <a:pt x="256459" y="288782"/>
                  <a:pt x="216586" y="288782"/>
                </a:cubicBezTo>
                <a:lnTo>
                  <a:pt x="72195" y="288782"/>
                </a:lnTo>
                <a:cubicBezTo>
                  <a:pt x="32323" y="288782"/>
                  <a:pt x="0" y="256459"/>
                  <a:pt x="0" y="216586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4881" y="5543254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03555" y="116330"/>
                </a:moveTo>
                <a:lnTo>
                  <a:pt x="28060" y="40836"/>
                </a:lnTo>
                <a:cubicBezTo>
                  <a:pt x="21743" y="49691"/>
                  <a:pt x="18049" y="60520"/>
                  <a:pt x="18049" y="72195"/>
                </a:cubicBezTo>
                <a:cubicBezTo>
                  <a:pt x="18049" y="102089"/>
                  <a:pt x="42302" y="126342"/>
                  <a:pt x="72195" y="126342"/>
                </a:cubicBezTo>
                <a:cubicBezTo>
                  <a:pt x="83899" y="126342"/>
                  <a:pt x="94728" y="122648"/>
                  <a:pt x="103555" y="116330"/>
                </a:cubicBezTo>
                <a:close/>
                <a:moveTo>
                  <a:pt x="116330" y="103555"/>
                </a:moveTo>
                <a:cubicBezTo>
                  <a:pt x="122648" y="94700"/>
                  <a:pt x="126342" y="83871"/>
                  <a:pt x="126342" y="72195"/>
                </a:cubicBezTo>
                <a:cubicBezTo>
                  <a:pt x="126342" y="42302"/>
                  <a:pt x="102089" y="18049"/>
                  <a:pt x="72195" y="18049"/>
                </a:cubicBezTo>
                <a:cubicBezTo>
                  <a:pt x="60492" y="18049"/>
                  <a:pt x="49663" y="21743"/>
                  <a:pt x="40836" y="28060"/>
                </a:cubicBezTo>
                <a:lnTo>
                  <a:pt x="116330" y="103555"/>
                </a:lnTo>
                <a:close/>
                <a:moveTo>
                  <a:pt x="0" y="72195"/>
                </a:moveTo>
                <a:cubicBezTo>
                  <a:pt x="0" y="32350"/>
                  <a:pt x="32350" y="0"/>
                  <a:pt x="72195" y="0"/>
                </a:cubicBezTo>
                <a:cubicBezTo>
                  <a:pt x="112041" y="0"/>
                  <a:pt x="144391" y="32350"/>
                  <a:pt x="144391" y="72195"/>
                </a:cubicBezTo>
                <a:cubicBezTo>
                  <a:pt x="144391" y="112041"/>
                  <a:pt x="112041" y="144391"/>
                  <a:pt x="72195" y="144391"/>
                </a:cubicBezTo>
                <a:cubicBezTo>
                  <a:pt x="32350" y="144391"/>
                  <a:pt x="0" y="112041"/>
                  <a:pt x="0" y="7219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019760" y="5471058"/>
            <a:ext cx="464758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Hạn chế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9760" y="5723742"/>
            <a:ext cx="4647580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hình chỉ học mức ký tự nên </a:t>
            </a:r>
            <a:r>
              <a:rPr lang="en-US" sz="1137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hiểu ngữ nghĩa</a:t>
            </a: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kết quả phụ thuộc mạnh vào chất lượng và phạm vi dữ liệu huấn luyện.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37764" y="1304030"/>
            <a:ext cx="5793682" cy="5189045"/>
          </a:xfrm>
          <a:custGeom>
            <a:avLst/>
            <a:gdLst/>
            <a:ahLst/>
            <a:cxnLst/>
            <a:rect l="l" t="t" r="r" b="b"/>
            <a:pathLst>
              <a:path w="5793682" h="5189045">
                <a:moveTo>
                  <a:pt x="108295" y="0"/>
                </a:moveTo>
                <a:lnTo>
                  <a:pt x="5685386" y="0"/>
                </a:lnTo>
                <a:cubicBezTo>
                  <a:pt x="5745196" y="0"/>
                  <a:pt x="5793682" y="48485"/>
                  <a:pt x="5793682" y="108295"/>
                </a:cubicBezTo>
                <a:lnTo>
                  <a:pt x="5793682" y="5080750"/>
                </a:lnTo>
                <a:cubicBezTo>
                  <a:pt x="5793682" y="5140560"/>
                  <a:pt x="5745196" y="5189045"/>
                  <a:pt x="5685386" y="5189045"/>
                </a:cubicBezTo>
                <a:lnTo>
                  <a:pt x="108295" y="5189045"/>
                </a:lnTo>
                <a:cubicBezTo>
                  <a:pt x="48485" y="5189045"/>
                  <a:pt x="0" y="5140560"/>
                  <a:pt x="0" y="5080750"/>
                </a:cubicBezTo>
                <a:lnTo>
                  <a:pt x="0" y="108295"/>
                </a:lnTo>
                <a:cubicBezTo>
                  <a:pt x="0" y="48526"/>
                  <a:pt x="48526" y="0"/>
                  <a:pt x="108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6667" y="145293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99473" y="1543177"/>
            <a:ext cx="135366" cy="180489"/>
          </a:xfrm>
          <a:custGeom>
            <a:avLst/>
            <a:gdLst/>
            <a:ahLst/>
            <a:cxnLst/>
            <a:rect l="l" t="t" r="r" b="b"/>
            <a:pathLst>
              <a:path w="135366" h="180489">
                <a:moveTo>
                  <a:pt x="88094" y="23548"/>
                </a:moveTo>
                <a:cubicBezTo>
                  <a:pt x="91760" y="18507"/>
                  <a:pt x="90632" y="11457"/>
                  <a:pt x="85591" y="7791"/>
                </a:cubicBezTo>
                <a:cubicBezTo>
                  <a:pt x="80550" y="4124"/>
                  <a:pt x="73500" y="5252"/>
                  <a:pt x="69834" y="10293"/>
                </a:cubicBezTo>
                <a:lnTo>
                  <a:pt x="32467" y="61655"/>
                </a:lnTo>
                <a:lnTo>
                  <a:pt x="19247" y="48436"/>
                </a:lnTo>
                <a:cubicBezTo>
                  <a:pt x="14841" y="44029"/>
                  <a:pt x="7685" y="44029"/>
                  <a:pt x="3278" y="48436"/>
                </a:cubicBezTo>
                <a:cubicBezTo>
                  <a:pt x="-1128" y="52842"/>
                  <a:pt x="-1128" y="59998"/>
                  <a:pt x="3278" y="64405"/>
                </a:cubicBezTo>
                <a:lnTo>
                  <a:pt x="25839" y="86966"/>
                </a:lnTo>
                <a:cubicBezTo>
                  <a:pt x="28166" y="89292"/>
                  <a:pt x="31409" y="90491"/>
                  <a:pt x="34688" y="90244"/>
                </a:cubicBezTo>
                <a:cubicBezTo>
                  <a:pt x="37966" y="89998"/>
                  <a:pt x="40998" y="88305"/>
                  <a:pt x="42937" y="85626"/>
                </a:cubicBezTo>
                <a:lnTo>
                  <a:pt x="88059" y="23583"/>
                </a:lnTo>
                <a:close/>
                <a:moveTo>
                  <a:pt x="133216" y="71490"/>
                </a:moveTo>
                <a:cubicBezTo>
                  <a:pt x="136882" y="66449"/>
                  <a:pt x="135754" y="59399"/>
                  <a:pt x="130713" y="55733"/>
                </a:cubicBezTo>
                <a:cubicBezTo>
                  <a:pt x="125672" y="52067"/>
                  <a:pt x="118622" y="53195"/>
                  <a:pt x="114956" y="58236"/>
                </a:cubicBezTo>
                <a:lnTo>
                  <a:pt x="55028" y="140619"/>
                </a:lnTo>
                <a:lnTo>
                  <a:pt x="30528" y="116119"/>
                </a:lnTo>
                <a:cubicBezTo>
                  <a:pt x="26121" y="111713"/>
                  <a:pt x="18965" y="111713"/>
                  <a:pt x="14559" y="116119"/>
                </a:cubicBezTo>
                <a:cubicBezTo>
                  <a:pt x="10152" y="120525"/>
                  <a:pt x="10152" y="127682"/>
                  <a:pt x="14559" y="132088"/>
                </a:cubicBezTo>
                <a:lnTo>
                  <a:pt x="48401" y="165930"/>
                </a:lnTo>
                <a:cubicBezTo>
                  <a:pt x="50727" y="168256"/>
                  <a:pt x="53970" y="169455"/>
                  <a:pt x="57249" y="169208"/>
                </a:cubicBezTo>
                <a:cubicBezTo>
                  <a:pt x="60527" y="168961"/>
                  <a:pt x="63559" y="167269"/>
                  <a:pt x="65498" y="164590"/>
                </a:cubicBezTo>
                <a:lnTo>
                  <a:pt x="133181" y="71526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655937" y="1507079"/>
            <a:ext cx="73097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luận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6667" y="1965492"/>
            <a:ext cx="5495876" cy="758052"/>
          </a:xfrm>
          <a:custGeom>
            <a:avLst/>
            <a:gdLst/>
            <a:ahLst/>
            <a:cxnLst/>
            <a:rect l="l" t="t" r="r" b="b"/>
            <a:pathLst>
              <a:path w="5495876" h="758052">
                <a:moveTo>
                  <a:pt x="72197" y="0"/>
                </a:moveTo>
                <a:lnTo>
                  <a:pt x="5423679" y="0"/>
                </a:lnTo>
                <a:cubicBezTo>
                  <a:pt x="5463552" y="0"/>
                  <a:pt x="5495876" y="32324"/>
                  <a:pt x="5495876" y="72197"/>
                </a:cubicBezTo>
                <a:lnTo>
                  <a:pt x="5495876" y="685855"/>
                </a:lnTo>
                <a:cubicBezTo>
                  <a:pt x="5495876" y="725728"/>
                  <a:pt x="5463552" y="758052"/>
                  <a:pt x="5423679" y="758052"/>
                </a:cubicBezTo>
                <a:lnTo>
                  <a:pt x="72197" y="758052"/>
                </a:lnTo>
                <a:cubicBezTo>
                  <a:pt x="32324" y="758052"/>
                  <a:pt x="0" y="725728"/>
                  <a:pt x="0" y="685855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4" name="Shape 32"/>
          <p:cNvSpPr/>
          <p:nvPr/>
        </p:nvSpPr>
        <p:spPr>
          <a:xfrm>
            <a:off x="6331058" y="210988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180489" y="0"/>
                </a:moveTo>
                <a:lnTo>
                  <a:pt x="180489" y="0"/>
                </a:lnTo>
                <a:cubicBezTo>
                  <a:pt x="280170" y="0"/>
                  <a:pt x="360977" y="80807"/>
                  <a:pt x="360977" y="180489"/>
                </a:cubicBezTo>
                <a:lnTo>
                  <a:pt x="360977" y="180489"/>
                </a:lnTo>
                <a:cubicBezTo>
                  <a:pt x="360977" y="280170"/>
                  <a:pt x="280170" y="360977"/>
                  <a:pt x="180489" y="360977"/>
                </a:cubicBezTo>
                <a:lnTo>
                  <a:pt x="180489" y="360977"/>
                </a:lnTo>
                <a:cubicBezTo>
                  <a:pt x="80807" y="360977"/>
                  <a:pt x="0" y="280170"/>
                  <a:pt x="0" y="180489"/>
                </a:cubicBezTo>
                <a:lnTo>
                  <a:pt x="0" y="180489"/>
                </a:lnTo>
                <a:cubicBezTo>
                  <a:pt x="0" y="80807"/>
                  <a:pt x="80807" y="0"/>
                  <a:pt x="18048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82922" y="2164029"/>
            <a:ext cx="144391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00328" y="2109883"/>
            <a:ext cx="481001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Thực nghiệm xác nhận rằng </a:t>
            </a:r>
            <a:r>
              <a:rPr lang="en-US" sz="1137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ngữ cảnh là yếu tố quyết định</a:t>
            </a: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để tạo ra văn bản có nghĩa: khi tăng n, chất lượng văn bản tăng rõ rệt.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6667" y="2918415"/>
            <a:ext cx="5495876" cy="758052"/>
          </a:xfrm>
          <a:custGeom>
            <a:avLst/>
            <a:gdLst/>
            <a:ahLst/>
            <a:cxnLst/>
            <a:rect l="l" t="t" r="r" b="b"/>
            <a:pathLst>
              <a:path w="5495876" h="758052">
                <a:moveTo>
                  <a:pt x="72197" y="0"/>
                </a:moveTo>
                <a:lnTo>
                  <a:pt x="5423679" y="0"/>
                </a:lnTo>
                <a:cubicBezTo>
                  <a:pt x="5463552" y="0"/>
                  <a:pt x="5495876" y="32324"/>
                  <a:pt x="5495876" y="72197"/>
                </a:cubicBezTo>
                <a:lnTo>
                  <a:pt x="5495876" y="685855"/>
                </a:lnTo>
                <a:cubicBezTo>
                  <a:pt x="5495876" y="725728"/>
                  <a:pt x="5463552" y="758052"/>
                  <a:pt x="5423679" y="758052"/>
                </a:cubicBezTo>
                <a:lnTo>
                  <a:pt x="72197" y="758052"/>
                </a:lnTo>
                <a:cubicBezTo>
                  <a:pt x="32324" y="758052"/>
                  <a:pt x="0" y="725728"/>
                  <a:pt x="0" y="685855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Shape 36"/>
          <p:cNvSpPr/>
          <p:nvPr/>
        </p:nvSpPr>
        <p:spPr>
          <a:xfrm>
            <a:off x="6331058" y="3062806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180489" y="0"/>
                </a:moveTo>
                <a:lnTo>
                  <a:pt x="180489" y="0"/>
                </a:lnTo>
                <a:cubicBezTo>
                  <a:pt x="280170" y="0"/>
                  <a:pt x="360977" y="80807"/>
                  <a:pt x="360977" y="180489"/>
                </a:cubicBezTo>
                <a:lnTo>
                  <a:pt x="360977" y="180489"/>
                </a:lnTo>
                <a:cubicBezTo>
                  <a:pt x="360977" y="280170"/>
                  <a:pt x="280170" y="360977"/>
                  <a:pt x="180489" y="360977"/>
                </a:cubicBezTo>
                <a:lnTo>
                  <a:pt x="180489" y="360977"/>
                </a:lnTo>
                <a:cubicBezTo>
                  <a:pt x="80807" y="360977"/>
                  <a:pt x="0" y="280170"/>
                  <a:pt x="0" y="180489"/>
                </a:cubicBezTo>
                <a:lnTo>
                  <a:pt x="0" y="180489"/>
                </a:lnTo>
                <a:cubicBezTo>
                  <a:pt x="0" y="80807"/>
                  <a:pt x="80807" y="0"/>
                  <a:pt x="18048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65578" y="3116952"/>
            <a:ext cx="18048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00328" y="3062806"/>
            <a:ext cx="481001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n-gram bậc thấp (n=1,2) chỉ tái tạo phân phối chữ cái, trong khi n-gram bậc trung bình (n=4,5) đã hình thành cấu trúc câu gần giống văn bản thật.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86667" y="3871479"/>
            <a:ext cx="5495876" cy="758052"/>
          </a:xfrm>
          <a:custGeom>
            <a:avLst/>
            <a:gdLst/>
            <a:ahLst/>
            <a:cxnLst/>
            <a:rect l="l" t="t" r="r" b="b"/>
            <a:pathLst>
              <a:path w="5495876" h="758052">
                <a:moveTo>
                  <a:pt x="72197" y="0"/>
                </a:moveTo>
                <a:lnTo>
                  <a:pt x="5423679" y="0"/>
                </a:lnTo>
                <a:cubicBezTo>
                  <a:pt x="5463552" y="0"/>
                  <a:pt x="5495876" y="32324"/>
                  <a:pt x="5495876" y="72197"/>
                </a:cubicBezTo>
                <a:lnTo>
                  <a:pt x="5495876" y="685855"/>
                </a:lnTo>
                <a:cubicBezTo>
                  <a:pt x="5495876" y="725728"/>
                  <a:pt x="5463552" y="758052"/>
                  <a:pt x="5423679" y="758052"/>
                </a:cubicBezTo>
                <a:lnTo>
                  <a:pt x="72197" y="758052"/>
                </a:lnTo>
                <a:cubicBezTo>
                  <a:pt x="32324" y="758052"/>
                  <a:pt x="0" y="725728"/>
                  <a:pt x="0" y="685855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2" name="Shape 40"/>
          <p:cNvSpPr/>
          <p:nvPr/>
        </p:nvSpPr>
        <p:spPr>
          <a:xfrm>
            <a:off x="6331058" y="4015870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180489" y="0"/>
                </a:moveTo>
                <a:lnTo>
                  <a:pt x="180489" y="0"/>
                </a:lnTo>
                <a:cubicBezTo>
                  <a:pt x="280170" y="0"/>
                  <a:pt x="360977" y="80807"/>
                  <a:pt x="360977" y="180489"/>
                </a:cubicBezTo>
                <a:lnTo>
                  <a:pt x="360977" y="180489"/>
                </a:lnTo>
                <a:cubicBezTo>
                  <a:pt x="360977" y="280170"/>
                  <a:pt x="280170" y="360977"/>
                  <a:pt x="180489" y="360977"/>
                </a:cubicBezTo>
                <a:lnTo>
                  <a:pt x="180489" y="360977"/>
                </a:lnTo>
                <a:cubicBezTo>
                  <a:pt x="80807" y="360977"/>
                  <a:pt x="0" y="280170"/>
                  <a:pt x="0" y="180489"/>
                </a:cubicBezTo>
                <a:lnTo>
                  <a:pt x="0" y="180489"/>
                </a:lnTo>
                <a:cubicBezTo>
                  <a:pt x="0" y="80807"/>
                  <a:pt x="80807" y="0"/>
                  <a:pt x="18048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63181" y="4070016"/>
            <a:ext cx="18951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00328" y="4015870"/>
            <a:ext cx="481001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Ở n cao (6-7), văn bản gần như đọc được nhưng bắt đầu gặp vấn đề dữ liệu thưa, dẫn đến lỗi khi sinh chuỗi.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86667" y="4824402"/>
            <a:ext cx="5495876" cy="758052"/>
          </a:xfrm>
          <a:custGeom>
            <a:avLst/>
            <a:gdLst/>
            <a:ahLst/>
            <a:cxnLst/>
            <a:rect l="l" t="t" r="r" b="b"/>
            <a:pathLst>
              <a:path w="5495876" h="758052">
                <a:moveTo>
                  <a:pt x="72197" y="0"/>
                </a:moveTo>
                <a:lnTo>
                  <a:pt x="5423679" y="0"/>
                </a:lnTo>
                <a:cubicBezTo>
                  <a:pt x="5463552" y="0"/>
                  <a:pt x="5495876" y="32324"/>
                  <a:pt x="5495876" y="72197"/>
                </a:cubicBezTo>
                <a:lnTo>
                  <a:pt x="5495876" y="685855"/>
                </a:lnTo>
                <a:cubicBezTo>
                  <a:pt x="5495876" y="725728"/>
                  <a:pt x="5463552" y="758052"/>
                  <a:pt x="5423679" y="758052"/>
                </a:cubicBezTo>
                <a:lnTo>
                  <a:pt x="72197" y="758052"/>
                </a:lnTo>
                <a:cubicBezTo>
                  <a:pt x="32324" y="758052"/>
                  <a:pt x="0" y="725728"/>
                  <a:pt x="0" y="685855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6" name="Shape 44"/>
          <p:cNvSpPr/>
          <p:nvPr/>
        </p:nvSpPr>
        <p:spPr>
          <a:xfrm>
            <a:off x="6331058" y="496879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180489" y="0"/>
                </a:moveTo>
                <a:lnTo>
                  <a:pt x="180489" y="0"/>
                </a:lnTo>
                <a:cubicBezTo>
                  <a:pt x="280170" y="0"/>
                  <a:pt x="360977" y="80807"/>
                  <a:pt x="360977" y="180489"/>
                </a:cubicBezTo>
                <a:lnTo>
                  <a:pt x="360977" y="180489"/>
                </a:lnTo>
                <a:cubicBezTo>
                  <a:pt x="360977" y="280170"/>
                  <a:pt x="280170" y="360977"/>
                  <a:pt x="180489" y="360977"/>
                </a:cubicBezTo>
                <a:lnTo>
                  <a:pt x="180489" y="360977"/>
                </a:lnTo>
                <a:cubicBezTo>
                  <a:pt x="80807" y="360977"/>
                  <a:pt x="0" y="280170"/>
                  <a:pt x="0" y="180489"/>
                </a:cubicBezTo>
                <a:lnTo>
                  <a:pt x="0" y="180489"/>
                </a:lnTo>
                <a:cubicBezTo>
                  <a:pt x="0" y="80807"/>
                  <a:pt x="80807" y="0"/>
                  <a:pt x="18048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65578" y="5022939"/>
            <a:ext cx="18048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00328" y="4968793"/>
            <a:ext cx="481001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quả thu được phù hợp với các Figure 6.1 → 6.9 trong sách và minh họa tốt mối quan hệ giữa kích thước ngữ cảnh và chất lượng mô hình.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1179" y="5781978"/>
            <a:ext cx="5486851" cy="514392"/>
          </a:xfrm>
          <a:custGeom>
            <a:avLst/>
            <a:gdLst/>
            <a:ahLst/>
            <a:cxnLst/>
            <a:rect l="l" t="t" r="r" b="b"/>
            <a:pathLst>
              <a:path w="5486851" h="514392">
                <a:moveTo>
                  <a:pt x="72195" y="0"/>
                </a:moveTo>
                <a:lnTo>
                  <a:pt x="5414656" y="0"/>
                </a:lnTo>
                <a:cubicBezTo>
                  <a:pt x="5454528" y="0"/>
                  <a:pt x="5486851" y="32323"/>
                  <a:pt x="5486851" y="72195"/>
                </a:cubicBezTo>
                <a:lnTo>
                  <a:pt x="5486851" y="442197"/>
                </a:lnTo>
                <a:cubicBezTo>
                  <a:pt x="5486851" y="482070"/>
                  <a:pt x="5454528" y="514392"/>
                  <a:pt x="5414656" y="514392"/>
                </a:cubicBezTo>
                <a:lnTo>
                  <a:pt x="72195" y="514392"/>
                </a:lnTo>
                <a:cubicBezTo>
                  <a:pt x="32349" y="514392"/>
                  <a:pt x="0" y="482043"/>
                  <a:pt x="0" y="442197"/>
                </a:cubicBezTo>
                <a:lnTo>
                  <a:pt x="0" y="72195"/>
                </a:lnTo>
                <a:cubicBezTo>
                  <a:pt x="0" y="32349"/>
                  <a:pt x="32349" y="0"/>
                  <a:pt x="72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10000"/>
                </a:srgbClr>
              </a:gs>
            </a:gsLst>
            <a:lin ang="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33563" y="5966979"/>
            <a:ext cx="162440" cy="144391"/>
          </a:xfrm>
          <a:custGeom>
            <a:avLst/>
            <a:gdLst/>
            <a:ahLst/>
            <a:cxnLst/>
            <a:rect l="l" t="t" r="r" b="b"/>
            <a:pathLst>
              <a:path w="162440" h="144391">
                <a:moveTo>
                  <a:pt x="13537" y="55218"/>
                </a:moveTo>
                <a:lnTo>
                  <a:pt x="72534" y="79500"/>
                </a:lnTo>
                <a:cubicBezTo>
                  <a:pt x="75298" y="80628"/>
                  <a:pt x="78230" y="81220"/>
                  <a:pt x="81220" y="81220"/>
                </a:cubicBezTo>
                <a:cubicBezTo>
                  <a:pt x="84209" y="81220"/>
                  <a:pt x="87142" y="80628"/>
                  <a:pt x="89906" y="79500"/>
                </a:cubicBezTo>
                <a:lnTo>
                  <a:pt x="158266" y="51355"/>
                </a:lnTo>
                <a:cubicBezTo>
                  <a:pt x="160804" y="50311"/>
                  <a:pt x="162440" y="47858"/>
                  <a:pt x="162440" y="45122"/>
                </a:cubicBezTo>
                <a:cubicBezTo>
                  <a:pt x="162440" y="42387"/>
                  <a:pt x="160804" y="39933"/>
                  <a:pt x="158266" y="38890"/>
                </a:cubicBezTo>
                <a:lnTo>
                  <a:pt x="89906" y="10745"/>
                </a:lnTo>
                <a:cubicBezTo>
                  <a:pt x="87142" y="9617"/>
                  <a:pt x="84209" y="9024"/>
                  <a:pt x="81220" y="9024"/>
                </a:cubicBezTo>
                <a:cubicBezTo>
                  <a:pt x="78230" y="9024"/>
                  <a:pt x="75298" y="9617"/>
                  <a:pt x="72534" y="10745"/>
                </a:cubicBezTo>
                <a:lnTo>
                  <a:pt x="4174" y="38890"/>
                </a:lnTo>
                <a:cubicBezTo>
                  <a:pt x="1636" y="39933"/>
                  <a:pt x="0" y="42387"/>
                  <a:pt x="0" y="45122"/>
                </a:cubicBezTo>
                <a:lnTo>
                  <a:pt x="0" y="128598"/>
                </a:lnTo>
                <a:cubicBezTo>
                  <a:pt x="0" y="132349"/>
                  <a:pt x="3018" y="135366"/>
                  <a:pt x="6768" y="135366"/>
                </a:cubicBezTo>
                <a:cubicBezTo>
                  <a:pt x="10519" y="135366"/>
                  <a:pt x="13537" y="132349"/>
                  <a:pt x="13537" y="128598"/>
                </a:cubicBezTo>
                <a:lnTo>
                  <a:pt x="13537" y="55218"/>
                </a:lnTo>
                <a:close/>
                <a:moveTo>
                  <a:pt x="27073" y="75439"/>
                </a:moveTo>
                <a:lnTo>
                  <a:pt x="27073" y="108293"/>
                </a:lnTo>
                <a:cubicBezTo>
                  <a:pt x="27073" y="123240"/>
                  <a:pt x="51326" y="135366"/>
                  <a:pt x="81220" y="135366"/>
                </a:cubicBezTo>
                <a:cubicBezTo>
                  <a:pt x="111113" y="135366"/>
                  <a:pt x="135366" y="123240"/>
                  <a:pt x="135366" y="108293"/>
                </a:cubicBezTo>
                <a:lnTo>
                  <a:pt x="135366" y="75410"/>
                </a:lnTo>
                <a:lnTo>
                  <a:pt x="95067" y="92021"/>
                </a:lnTo>
                <a:cubicBezTo>
                  <a:pt x="90667" y="93826"/>
                  <a:pt x="85986" y="94756"/>
                  <a:pt x="81220" y="94756"/>
                </a:cubicBezTo>
                <a:cubicBezTo>
                  <a:pt x="76454" y="94756"/>
                  <a:pt x="71772" y="93826"/>
                  <a:pt x="67373" y="92021"/>
                </a:cubicBezTo>
                <a:lnTo>
                  <a:pt x="27073" y="7541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535774" y="5930881"/>
            <a:ext cx="502945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Thực nghiệm thành công và đạt yêu cầu!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616f571d61c20067f8e5382cfe7597796a89fe9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8B5CF6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053828"/>
            <a:ext cx="1152525" cy="390525"/>
          </a:xfrm>
          <a:custGeom>
            <a:avLst/>
            <a:gdLst/>
            <a:ahLst/>
            <a:cxnLst/>
            <a:rect l="l" t="t" r="r" b="b"/>
            <a:pathLst>
              <a:path w="1152525" h="390525">
                <a:moveTo>
                  <a:pt x="195263" y="0"/>
                </a:moveTo>
                <a:lnTo>
                  <a:pt x="957263" y="0"/>
                </a:lnTo>
                <a:cubicBezTo>
                  <a:pt x="1065031" y="0"/>
                  <a:pt x="1152525" y="87494"/>
                  <a:pt x="1152525" y="195263"/>
                </a:cubicBezTo>
                <a:lnTo>
                  <a:pt x="1152525" y="195263"/>
                </a:lnTo>
                <a:cubicBezTo>
                  <a:pt x="1152525" y="303031"/>
                  <a:pt x="1065031" y="390525"/>
                  <a:pt x="9572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 w="1270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2163366"/>
            <a:ext cx="915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830116"/>
            <a:ext cx="1171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Đọc và hiểu cơ sở mã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773091"/>
            <a:ext cx="86772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1F5F9">
                    <a:alpha val="8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Xây dựng microservice tính Manhattan Distance với Flask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5288" y="456128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4542234"/>
            <a:ext cx="262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tính toán khoảng cách ma trận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7: ĐỌC VÀ HIỂU CƠ SỞ MÃ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Mục tiêu và Phương pháp luận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5448300" cy="3876675"/>
          </a:xfrm>
          <a:custGeom>
            <a:avLst/>
            <a:gdLst/>
            <a:ahLst/>
            <a:cxnLst/>
            <a:rect l="l" t="t" r="r" b="b"/>
            <a:pathLst>
              <a:path w="5448300" h="3876675">
                <a:moveTo>
                  <a:pt x="114284" y="0"/>
                </a:moveTo>
                <a:lnTo>
                  <a:pt x="5334016" y="0"/>
                </a:lnTo>
                <a:cubicBezTo>
                  <a:pt x="5397133" y="0"/>
                  <a:pt x="5448300" y="51167"/>
                  <a:pt x="5448300" y="114284"/>
                </a:cubicBezTo>
                <a:lnTo>
                  <a:pt x="5448300" y="3762391"/>
                </a:lnTo>
                <a:cubicBezTo>
                  <a:pt x="5448300" y="3825508"/>
                  <a:pt x="5397133" y="3876675"/>
                  <a:pt x="5334016" y="3876675"/>
                </a:cubicBezTo>
                <a:lnTo>
                  <a:pt x="114284" y="3876675"/>
                </a:lnTo>
                <a:cubicBezTo>
                  <a:pt x="51167" y="3876675"/>
                  <a:pt x="0" y="3825508"/>
                  <a:pt x="0" y="376239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035820"/>
            <a:ext cx="5133975" cy="723900"/>
          </a:xfrm>
          <a:custGeom>
            <a:avLst/>
            <a:gdLst/>
            <a:ahLst/>
            <a:cxnLst/>
            <a:rect l="l" t="t" r="r" b="b"/>
            <a:pathLst>
              <a:path w="5133975" h="723900">
                <a:moveTo>
                  <a:pt x="76198" y="0"/>
                </a:moveTo>
                <a:lnTo>
                  <a:pt x="5057777" y="0"/>
                </a:lnTo>
                <a:cubicBezTo>
                  <a:pt x="5099832" y="0"/>
                  <a:pt x="5133975" y="34143"/>
                  <a:pt x="5133975" y="76198"/>
                </a:cubicBezTo>
                <a:lnTo>
                  <a:pt x="5133975" y="647702"/>
                </a:lnTo>
                <a:cubicBezTo>
                  <a:pt x="5133975" y="689757"/>
                  <a:pt x="5099832" y="723900"/>
                  <a:pt x="50577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2150120"/>
            <a:ext cx="4981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Xây dựng một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bằng Flask để tính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Manhattan distance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giữa hai DataFrame nhận vào dưới dạng JSON.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888010"/>
            <a:ext cx="5133975" cy="990600"/>
          </a:xfrm>
          <a:custGeom>
            <a:avLst/>
            <a:gdLst/>
            <a:ahLst/>
            <a:cxnLst/>
            <a:rect l="l" t="t" r="r" b="b"/>
            <a:pathLst>
              <a:path w="5133975" h="990600">
                <a:moveTo>
                  <a:pt x="76197" y="0"/>
                </a:moveTo>
                <a:lnTo>
                  <a:pt x="5057778" y="0"/>
                </a:lnTo>
                <a:cubicBezTo>
                  <a:pt x="5099860" y="0"/>
                  <a:pt x="5133975" y="34115"/>
                  <a:pt x="5133975" y="76197"/>
                </a:cubicBezTo>
                <a:lnTo>
                  <a:pt x="5133975" y="914403"/>
                </a:lnTo>
                <a:cubicBezTo>
                  <a:pt x="5133975" y="956485"/>
                  <a:pt x="5099860" y="990600"/>
                  <a:pt x="50577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275" y="304041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923925" y="300231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Endpoint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3307110"/>
            <a:ext cx="4981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Cung cấp endpoint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/manhattan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xử lý dữ liệu đầu vào, tính khoảng cách và trả về kết quả dạng JSON.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4006900"/>
            <a:ext cx="5133975" cy="1085850"/>
          </a:xfrm>
          <a:custGeom>
            <a:avLst/>
            <a:gdLst/>
            <a:ahLst/>
            <a:cxnLst/>
            <a:rect l="l" t="t" r="r" b="b"/>
            <a:pathLst>
              <a:path w="5133975" h="1085850">
                <a:moveTo>
                  <a:pt x="76205" y="0"/>
                </a:moveTo>
                <a:lnTo>
                  <a:pt x="5057770" y="0"/>
                </a:lnTo>
                <a:cubicBezTo>
                  <a:pt x="5099857" y="0"/>
                  <a:pt x="5133975" y="34118"/>
                  <a:pt x="5133975" y="76205"/>
                </a:cubicBezTo>
                <a:lnTo>
                  <a:pt x="5133975" y="1009645"/>
                </a:lnTo>
                <a:cubicBezTo>
                  <a:pt x="5133975" y="1051732"/>
                  <a:pt x="5099857" y="1085850"/>
                  <a:pt x="5057770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159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923925" y="412120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Đầu vào mẫu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7225" y="4426000"/>
            <a:ext cx="4905375" cy="552450"/>
          </a:xfrm>
          <a:custGeom>
            <a:avLst/>
            <a:gdLst/>
            <a:ahLst/>
            <a:cxnLst/>
            <a:rect l="l" t="t" r="r" b="b"/>
            <a:pathLst>
              <a:path w="4905375" h="552450">
                <a:moveTo>
                  <a:pt x="76199" y="0"/>
                </a:moveTo>
                <a:lnTo>
                  <a:pt x="4829176" y="0"/>
                </a:lnTo>
                <a:cubicBezTo>
                  <a:pt x="4871259" y="0"/>
                  <a:pt x="4905375" y="34116"/>
                  <a:pt x="4905375" y="76199"/>
                </a:cubicBezTo>
                <a:lnTo>
                  <a:pt x="4905375" y="476251"/>
                </a:lnTo>
                <a:cubicBezTo>
                  <a:pt x="4905375" y="518334"/>
                  <a:pt x="4871259" y="552450"/>
                  <a:pt x="4829176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71525" y="4540300"/>
            <a:ext cx="4733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{"df1": [[1, 2], [3, 4]],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1525" y="4700290"/>
            <a:ext cx="4733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"df2": [[2, 0], [1, 3]]}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763" y="5414963"/>
            <a:ext cx="5448300" cy="1190625"/>
          </a:xfrm>
          <a:custGeom>
            <a:avLst/>
            <a:gdLst/>
            <a:ahLst/>
            <a:cxnLst/>
            <a:rect l="l" t="t" r="r" b="b"/>
            <a:pathLst>
              <a:path w="5448300" h="1190625">
                <a:moveTo>
                  <a:pt x="114300" y="0"/>
                </a:moveTo>
                <a:lnTo>
                  <a:pt x="5334000" y="0"/>
                </a:lnTo>
                <a:cubicBezTo>
                  <a:pt x="5397084" y="0"/>
                  <a:pt x="5448300" y="51216"/>
                  <a:pt x="5448300" y="114300"/>
                </a:cubicBezTo>
                <a:lnTo>
                  <a:pt x="5448300" y="1076325"/>
                </a:lnTo>
                <a:cubicBezTo>
                  <a:pt x="5448300" y="1139409"/>
                  <a:pt x="5397084" y="1190625"/>
                  <a:pt x="5334000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10000"/>
                </a:srgbClr>
              </a:gs>
              <a:gs pos="100000">
                <a:srgbClr val="8B5CF6">
                  <a:alpha val="5000"/>
                </a:srgbClr>
              </a:gs>
            </a:gsLst>
            <a:lin ang="0" scaled="1"/>
          </a:gra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550" y="56102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95350" y="5572125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Ý nghĩa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925" y="5953125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Mỗi mảng 2 chiều được chuyển thành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pandas.DataFrame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để thao tác ma trận thuận tiện.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34088" y="1376363"/>
            <a:ext cx="5772150" cy="5229225"/>
          </a:xfrm>
          <a:custGeom>
            <a:avLst/>
            <a:gdLst/>
            <a:ahLst/>
            <a:cxnLst/>
            <a:rect l="l" t="t" r="r" b="b"/>
            <a:pathLst>
              <a:path w="5772150" h="5229225">
                <a:moveTo>
                  <a:pt x="114311" y="0"/>
                </a:moveTo>
                <a:lnTo>
                  <a:pt x="5657839" y="0"/>
                </a:lnTo>
                <a:cubicBezTo>
                  <a:pt x="5720971" y="0"/>
                  <a:pt x="5772150" y="51179"/>
                  <a:pt x="5772150" y="114311"/>
                </a:cubicBezTo>
                <a:lnTo>
                  <a:pt x="5772150" y="5114914"/>
                </a:lnTo>
                <a:cubicBezTo>
                  <a:pt x="5772150" y="5178046"/>
                  <a:pt x="5720971" y="5229225"/>
                  <a:pt x="5657839" y="5229225"/>
                </a:cubicBezTo>
                <a:lnTo>
                  <a:pt x="114311" y="5229225"/>
                </a:lnTo>
                <a:cubicBezTo>
                  <a:pt x="51179" y="5229225"/>
                  <a:pt x="0" y="5178046"/>
                  <a:pt x="0" y="5114914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1250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62688" y="16287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686550" y="1590675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Phương pháp luận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2028825"/>
            <a:ext cx="5457825" cy="1276350"/>
          </a:xfrm>
          <a:custGeom>
            <a:avLst/>
            <a:gdLst/>
            <a:ahLst/>
            <a:cxnLst/>
            <a:rect l="l" t="t" r="r" b="b"/>
            <a:pathLst>
              <a:path w="5457825" h="1276350">
                <a:moveTo>
                  <a:pt x="76198" y="0"/>
                </a:moveTo>
                <a:lnTo>
                  <a:pt x="5381627" y="0"/>
                </a:lnTo>
                <a:cubicBezTo>
                  <a:pt x="5423710" y="0"/>
                  <a:pt x="5457825" y="34115"/>
                  <a:pt x="5457825" y="76198"/>
                </a:cubicBezTo>
                <a:lnTo>
                  <a:pt x="5457825" y="1200152"/>
                </a:lnTo>
                <a:cubicBezTo>
                  <a:pt x="5457825" y="1242235"/>
                  <a:pt x="5423710" y="1276350"/>
                  <a:pt x="5381627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24600" y="2181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572250" y="214312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Mức ý tưởng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5550" y="2447925"/>
            <a:ext cx="5305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Mục tiêu là đo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"độ khác nhau"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giữa hai bảng số liệu cùng kích thước.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5550" y="2771775"/>
            <a:ext cx="5229225" cy="419100"/>
          </a:xfrm>
          <a:custGeom>
            <a:avLst/>
            <a:gdLst/>
            <a:ahLst/>
            <a:cxnLst/>
            <a:rect l="l" t="t" r="r" b="b"/>
            <a:pathLst>
              <a:path w="5229225" h="419100">
                <a:moveTo>
                  <a:pt x="76201" y="0"/>
                </a:moveTo>
                <a:lnTo>
                  <a:pt x="5153024" y="0"/>
                </a:lnTo>
                <a:cubicBezTo>
                  <a:pt x="5195109" y="0"/>
                  <a:pt x="5229225" y="34116"/>
                  <a:pt x="5229225" y="76201"/>
                </a:cubicBezTo>
                <a:lnTo>
                  <a:pt x="5229225" y="342899"/>
                </a:lnTo>
                <a:cubicBezTo>
                  <a:pt x="5229225" y="384984"/>
                  <a:pt x="5195109" y="419100"/>
                  <a:pt x="5153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338888" y="2847975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 = Σ|A</a:t>
            </a:r>
            <a:r>
              <a:rPr lang="en-US" sz="1013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3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B</a:t>
            </a:r>
            <a:r>
              <a:rPr lang="en-US" sz="1013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3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3419475"/>
            <a:ext cx="5457825" cy="1028700"/>
          </a:xfrm>
          <a:custGeom>
            <a:avLst/>
            <a:gdLst/>
            <a:ahLst/>
            <a:cxnLst/>
            <a:rect l="l" t="t" r="r" b="b"/>
            <a:pathLst>
              <a:path w="5457825" h="1028700">
                <a:moveTo>
                  <a:pt x="76196" y="0"/>
                </a:moveTo>
                <a:lnTo>
                  <a:pt x="5381629" y="0"/>
                </a:lnTo>
                <a:cubicBezTo>
                  <a:pt x="5423711" y="0"/>
                  <a:pt x="5457825" y="34114"/>
                  <a:pt x="5457825" y="76196"/>
                </a:cubicBezTo>
                <a:lnTo>
                  <a:pt x="5457825" y="952504"/>
                </a:lnTo>
                <a:cubicBezTo>
                  <a:pt x="5457825" y="994586"/>
                  <a:pt x="5423711" y="1028700"/>
                  <a:pt x="53816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24600" y="3571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6572250" y="3533775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Mức luận lý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5550" y="3838575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Quy trình xử lý: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Nhận request → Parse JSON → Chuyển đổi DataFrame → Tính toán → Trả về JSON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1250" y="4562475"/>
            <a:ext cx="5457825" cy="1295400"/>
          </a:xfrm>
          <a:custGeom>
            <a:avLst/>
            <a:gdLst/>
            <a:ahLst/>
            <a:cxnLst/>
            <a:rect l="l" t="t" r="r" b="b"/>
            <a:pathLst>
              <a:path w="5457825" h="1295400">
                <a:moveTo>
                  <a:pt x="76195" y="0"/>
                </a:moveTo>
                <a:lnTo>
                  <a:pt x="5381630" y="0"/>
                </a:lnTo>
                <a:cubicBezTo>
                  <a:pt x="5423683" y="0"/>
                  <a:pt x="5457825" y="34142"/>
                  <a:pt x="5457825" y="76195"/>
                </a:cubicBezTo>
                <a:lnTo>
                  <a:pt x="5457825" y="1219205"/>
                </a:lnTo>
                <a:cubicBezTo>
                  <a:pt x="5457825" y="1261286"/>
                  <a:pt x="5423711" y="1295400"/>
                  <a:pt x="53816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0" name="Shape 38"/>
          <p:cNvSpPr/>
          <p:nvPr/>
        </p:nvSpPr>
        <p:spPr>
          <a:xfrm>
            <a:off x="6334125" y="47148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572250" y="4676775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Mức vật lý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3650" y="50196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553200" y="4981575"/>
            <a:ext cx="505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app: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ch7/app.py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24600" y="5286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553200" y="5248275"/>
            <a:ext cx="505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Hàm tính toán: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ch7/src/manhattan.py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4600" y="5553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553200" y="5514975"/>
            <a:ext cx="505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Dependencies: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Flask, pandas, numpy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6013" y="5976938"/>
            <a:ext cx="5448300" cy="466725"/>
          </a:xfrm>
          <a:custGeom>
            <a:avLst/>
            <a:gdLst/>
            <a:ahLst/>
            <a:cxnLst/>
            <a:rect l="l" t="t" r="r" b="b"/>
            <a:pathLst>
              <a:path w="5448300" h="466725">
                <a:moveTo>
                  <a:pt x="76202" y="0"/>
                </a:moveTo>
                <a:lnTo>
                  <a:pt x="5372098" y="0"/>
                </a:lnTo>
                <a:cubicBezTo>
                  <a:pt x="5414183" y="0"/>
                  <a:pt x="5448300" y="34117"/>
                  <a:pt x="5448300" y="76202"/>
                </a:cubicBezTo>
                <a:lnTo>
                  <a:pt x="5448300" y="390523"/>
                </a:lnTo>
                <a:cubicBezTo>
                  <a:pt x="5448300" y="432608"/>
                  <a:pt x="5414183" y="466725"/>
                  <a:pt x="53720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4600" y="6134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6562725" y="6096000"/>
            <a:ext cx="503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Ưu điểm: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Đơn giản, dễ tính, phù hợp minh họa API tính toán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175" y="369175"/>
            <a:ext cx="1152748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kern="0" spc="58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7: ĐỌC VÀ HIỂU CƠ SỞ MÃ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175" y="664515"/>
            <a:ext cx="11619779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Luồng xử lý và Triển khai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175" y="1144442"/>
            <a:ext cx="886020" cy="36917"/>
          </a:xfrm>
          <a:custGeom>
            <a:avLst/>
            <a:gdLst/>
            <a:ahLst/>
            <a:cxnLst/>
            <a:rect l="l" t="t" r="r" b="b"/>
            <a:pathLst>
              <a:path w="886020" h="36917">
                <a:moveTo>
                  <a:pt x="0" y="0"/>
                </a:moveTo>
                <a:lnTo>
                  <a:pt x="886020" y="0"/>
                </a:lnTo>
                <a:lnTo>
                  <a:pt x="886020" y="36917"/>
                </a:lnTo>
                <a:lnTo>
                  <a:pt x="0" y="3691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73790" y="1333644"/>
            <a:ext cx="6875882" cy="5519164"/>
          </a:xfrm>
          <a:custGeom>
            <a:avLst/>
            <a:gdLst/>
            <a:ahLst/>
            <a:cxnLst/>
            <a:rect l="l" t="t" r="r" b="b"/>
            <a:pathLst>
              <a:path w="6875882" h="5519164">
                <a:moveTo>
                  <a:pt x="110770" y="0"/>
                </a:moveTo>
                <a:lnTo>
                  <a:pt x="6765112" y="0"/>
                </a:lnTo>
                <a:cubicBezTo>
                  <a:pt x="6826289" y="0"/>
                  <a:pt x="6875882" y="49593"/>
                  <a:pt x="6875882" y="110770"/>
                </a:cubicBezTo>
                <a:lnTo>
                  <a:pt x="6875882" y="5408395"/>
                </a:lnTo>
                <a:cubicBezTo>
                  <a:pt x="6875882" y="5469571"/>
                  <a:pt x="6826289" y="5519164"/>
                  <a:pt x="6765112" y="5519164"/>
                </a:cubicBezTo>
                <a:lnTo>
                  <a:pt x="110770" y="5519164"/>
                </a:lnTo>
                <a:cubicBezTo>
                  <a:pt x="49593" y="5519164"/>
                  <a:pt x="0" y="5469571"/>
                  <a:pt x="0" y="5408395"/>
                </a:cubicBezTo>
                <a:lnTo>
                  <a:pt x="0" y="110770"/>
                </a:lnTo>
                <a:cubicBezTo>
                  <a:pt x="0" y="49593"/>
                  <a:pt x="49593" y="0"/>
                  <a:pt x="11077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6074" y="1485929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73835" y="0"/>
                </a:moveTo>
                <a:lnTo>
                  <a:pt x="295340" y="0"/>
                </a:lnTo>
                <a:cubicBezTo>
                  <a:pt x="336091" y="0"/>
                  <a:pt x="369175" y="33084"/>
                  <a:pt x="369175" y="73835"/>
                </a:cubicBezTo>
                <a:lnTo>
                  <a:pt x="369175" y="295340"/>
                </a:lnTo>
                <a:cubicBezTo>
                  <a:pt x="369175" y="336091"/>
                  <a:pt x="336091" y="369175"/>
                  <a:pt x="295340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8368" y="1578223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0" y="28842"/>
                </a:moveTo>
                <a:cubicBezTo>
                  <a:pt x="0" y="19288"/>
                  <a:pt x="7751" y="11537"/>
                  <a:pt x="17305" y="11537"/>
                </a:cubicBezTo>
                <a:lnTo>
                  <a:pt x="51915" y="11537"/>
                </a:lnTo>
                <a:cubicBezTo>
                  <a:pt x="61469" y="11537"/>
                  <a:pt x="69220" y="19288"/>
                  <a:pt x="69220" y="28842"/>
                </a:cubicBezTo>
                <a:lnTo>
                  <a:pt x="69220" y="34610"/>
                </a:lnTo>
                <a:lnTo>
                  <a:pt x="115367" y="34610"/>
                </a:lnTo>
                <a:lnTo>
                  <a:pt x="115367" y="28842"/>
                </a:lnTo>
                <a:cubicBezTo>
                  <a:pt x="115367" y="19288"/>
                  <a:pt x="123118" y="11537"/>
                  <a:pt x="132672" y="11537"/>
                </a:cubicBezTo>
                <a:lnTo>
                  <a:pt x="167282" y="11537"/>
                </a:lnTo>
                <a:cubicBezTo>
                  <a:pt x="176836" y="11537"/>
                  <a:pt x="184587" y="19288"/>
                  <a:pt x="184587" y="28842"/>
                </a:cubicBezTo>
                <a:lnTo>
                  <a:pt x="184587" y="63452"/>
                </a:lnTo>
                <a:cubicBezTo>
                  <a:pt x="184587" y="73006"/>
                  <a:pt x="176836" y="80757"/>
                  <a:pt x="167282" y="80757"/>
                </a:cubicBezTo>
                <a:lnTo>
                  <a:pt x="132672" y="80757"/>
                </a:lnTo>
                <a:cubicBezTo>
                  <a:pt x="123118" y="80757"/>
                  <a:pt x="115367" y="73006"/>
                  <a:pt x="115367" y="63452"/>
                </a:cubicBezTo>
                <a:lnTo>
                  <a:pt x="115367" y="57684"/>
                </a:lnTo>
                <a:lnTo>
                  <a:pt x="69220" y="57684"/>
                </a:lnTo>
                <a:lnTo>
                  <a:pt x="69220" y="63452"/>
                </a:lnTo>
                <a:cubicBezTo>
                  <a:pt x="69220" y="66084"/>
                  <a:pt x="68607" y="68607"/>
                  <a:pt x="67562" y="70843"/>
                </a:cubicBezTo>
                <a:lnTo>
                  <a:pt x="92294" y="103830"/>
                </a:lnTo>
                <a:lnTo>
                  <a:pt x="121136" y="103830"/>
                </a:lnTo>
                <a:cubicBezTo>
                  <a:pt x="130689" y="103830"/>
                  <a:pt x="138441" y="111582"/>
                  <a:pt x="138441" y="121136"/>
                </a:cubicBezTo>
                <a:lnTo>
                  <a:pt x="138441" y="155746"/>
                </a:lnTo>
                <a:cubicBezTo>
                  <a:pt x="138441" y="165299"/>
                  <a:pt x="130689" y="173051"/>
                  <a:pt x="121136" y="173051"/>
                </a:cubicBezTo>
                <a:lnTo>
                  <a:pt x="86525" y="173051"/>
                </a:lnTo>
                <a:cubicBezTo>
                  <a:pt x="76972" y="173051"/>
                  <a:pt x="69220" y="165299"/>
                  <a:pt x="69220" y="155746"/>
                </a:cubicBezTo>
                <a:lnTo>
                  <a:pt x="69220" y="121136"/>
                </a:lnTo>
                <a:cubicBezTo>
                  <a:pt x="69220" y="118504"/>
                  <a:pt x="69833" y="115980"/>
                  <a:pt x="70879" y="113745"/>
                </a:cubicBezTo>
                <a:lnTo>
                  <a:pt x="46147" y="80757"/>
                </a:lnTo>
                <a:lnTo>
                  <a:pt x="17305" y="80757"/>
                </a:lnTo>
                <a:cubicBezTo>
                  <a:pt x="7751" y="80757"/>
                  <a:pt x="0" y="73006"/>
                  <a:pt x="0" y="63452"/>
                </a:cubicBezTo>
                <a:lnTo>
                  <a:pt x="0" y="2884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6002" y="1541305"/>
            <a:ext cx="1698204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Luồng xử lý 6 bước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6074" y="1978979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73835" y="0"/>
                </a:moveTo>
                <a:lnTo>
                  <a:pt x="295340" y="0"/>
                </a:lnTo>
                <a:cubicBezTo>
                  <a:pt x="336091" y="0"/>
                  <a:pt x="369175" y="33084"/>
                  <a:pt x="369175" y="73835"/>
                </a:cubicBezTo>
                <a:lnTo>
                  <a:pt x="369175" y="295340"/>
                </a:lnTo>
                <a:cubicBezTo>
                  <a:pt x="369175" y="336091"/>
                  <a:pt x="336091" y="369175"/>
                  <a:pt x="295340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84271" y="2034355"/>
            <a:ext cx="138441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6002" y="1978979"/>
            <a:ext cx="6091385" cy="701432"/>
          </a:xfrm>
          <a:custGeom>
            <a:avLst/>
            <a:gdLst/>
            <a:ahLst/>
            <a:cxnLst/>
            <a:rect l="l" t="t" r="r" b="b"/>
            <a:pathLst>
              <a:path w="6091385" h="701432">
                <a:moveTo>
                  <a:pt x="73833" y="0"/>
                </a:moveTo>
                <a:lnTo>
                  <a:pt x="6017553" y="0"/>
                </a:lnTo>
                <a:cubicBezTo>
                  <a:pt x="6058302" y="0"/>
                  <a:pt x="6091385" y="33083"/>
                  <a:pt x="6091385" y="73833"/>
                </a:cubicBezTo>
                <a:lnTo>
                  <a:pt x="6091385" y="627599"/>
                </a:lnTo>
                <a:cubicBezTo>
                  <a:pt x="6091385" y="668349"/>
                  <a:pt x="6058302" y="701432"/>
                  <a:pt x="6017553" y="701432"/>
                </a:cubicBezTo>
                <a:lnTo>
                  <a:pt x="73833" y="701432"/>
                </a:lnTo>
                <a:cubicBezTo>
                  <a:pt x="33083" y="701432"/>
                  <a:pt x="0" y="668349"/>
                  <a:pt x="0" y="627599"/>
                </a:cubicBezTo>
                <a:lnTo>
                  <a:pt x="0" y="73833"/>
                </a:lnTo>
                <a:cubicBezTo>
                  <a:pt x="0" y="33083"/>
                  <a:pt x="33083" y="0"/>
                  <a:pt x="7383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1116754" y="2089732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Nhận request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6754" y="2348154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gửi POST /manhattan với body JSON chứa df1 và df2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6074" y="2780637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73835" y="0"/>
                </a:moveTo>
                <a:lnTo>
                  <a:pt x="295340" y="0"/>
                </a:lnTo>
                <a:cubicBezTo>
                  <a:pt x="336091" y="0"/>
                  <a:pt x="369175" y="33084"/>
                  <a:pt x="369175" y="73835"/>
                </a:cubicBezTo>
                <a:lnTo>
                  <a:pt x="369175" y="295340"/>
                </a:lnTo>
                <a:cubicBezTo>
                  <a:pt x="369175" y="336091"/>
                  <a:pt x="336091" y="369175"/>
                  <a:pt x="295340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68264" y="2836013"/>
            <a:ext cx="166129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6002" y="2780637"/>
            <a:ext cx="6091385" cy="701432"/>
          </a:xfrm>
          <a:custGeom>
            <a:avLst/>
            <a:gdLst/>
            <a:ahLst/>
            <a:cxnLst/>
            <a:rect l="l" t="t" r="r" b="b"/>
            <a:pathLst>
              <a:path w="6091385" h="701432">
                <a:moveTo>
                  <a:pt x="73833" y="0"/>
                </a:moveTo>
                <a:lnTo>
                  <a:pt x="6017553" y="0"/>
                </a:lnTo>
                <a:cubicBezTo>
                  <a:pt x="6058302" y="0"/>
                  <a:pt x="6091385" y="33083"/>
                  <a:pt x="6091385" y="73833"/>
                </a:cubicBezTo>
                <a:lnTo>
                  <a:pt x="6091385" y="627599"/>
                </a:lnTo>
                <a:cubicBezTo>
                  <a:pt x="6091385" y="668349"/>
                  <a:pt x="6058302" y="701432"/>
                  <a:pt x="6017553" y="701432"/>
                </a:cubicBezTo>
                <a:lnTo>
                  <a:pt x="73833" y="701432"/>
                </a:lnTo>
                <a:cubicBezTo>
                  <a:pt x="33083" y="701432"/>
                  <a:pt x="0" y="668349"/>
                  <a:pt x="0" y="627599"/>
                </a:cubicBezTo>
                <a:lnTo>
                  <a:pt x="0" y="73833"/>
                </a:lnTo>
                <a:cubicBezTo>
                  <a:pt x="0" y="33083"/>
                  <a:pt x="33083" y="0"/>
                  <a:pt x="7383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16754" y="2891389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Parse JSON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6754" y="3149812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đọc dữ liệu bằng </a:t>
            </a:r>
            <a:r>
              <a:rPr lang="en-US" sz="1163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request.get_json()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6074" y="3582294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73835" y="0"/>
                </a:moveTo>
                <a:lnTo>
                  <a:pt x="295340" y="0"/>
                </a:lnTo>
                <a:cubicBezTo>
                  <a:pt x="336091" y="0"/>
                  <a:pt x="369175" y="33084"/>
                  <a:pt x="369175" y="73835"/>
                </a:cubicBezTo>
                <a:lnTo>
                  <a:pt x="369175" y="295340"/>
                </a:lnTo>
                <a:cubicBezTo>
                  <a:pt x="369175" y="336091"/>
                  <a:pt x="336091" y="369175"/>
                  <a:pt x="295340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66101" y="3637670"/>
            <a:ext cx="175358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6002" y="3582294"/>
            <a:ext cx="6091385" cy="701432"/>
          </a:xfrm>
          <a:custGeom>
            <a:avLst/>
            <a:gdLst/>
            <a:ahLst/>
            <a:cxnLst/>
            <a:rect l="l" t="t" r="r" b="b"/>
            <a:pathLst>
              <a:path w="6091385" h="701432">
                <a:moveTo>
                  <a:pt x="73833" y="0"/>
                </a:moveTo>
                <a:lnTo>
                  <a:pt x="6017553" y="0"/>
                </a:lnTo>
                <a:cubicBezTo>
                  <a:pt x="6058302" y="0"/>
                  <a:pt x="6091385" y="33083"/>
                  <a:pt x="6091385" y="73833"/>
                </a:cubicBezTo>
                <a:lnTo>
                  <a:pt x="6091385" y="627599"/>
                </a:lnTo>
                <a:cubicBezTo>
                  <a:pt x="6091385" y="668349"/>
                  <a:pt x="6058302" y="701432"/>
                  <a:pt x="6017553" y="701432"/>
                </a:cubicBezTo>
                <a:lnTo>
                  <a:pt x="73833" y="701432"/>
                </a:lnTo>
                <a:cubicBezTo>
                  <a:pt x="33083" y="701432"/>
                  <a:pt x="0" y="668349"/>
                  <a:pt x="0" y="627599"/>
                </a:cubicBezTo>
                <a:lnTo>
                  <a:pt x="0" y="73833"/>
                </a:lnTo>
                <a:cubicBezTo>
                  <a:pt x="0" y="33083"/>
                  <a:pt x="33083" y="0"/>
                  <a:pt x="7383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1116754" y="3693047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Chuyển đổi dữ liệu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6754" y="3951469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hai pandas.DataFrame từ df1, df2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6074" y="4384096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73835" y="0"/>
                </a:moveTo>
                <a:lnTo>
                  <a:pt x="295340" y="0"/>
                </a:lnTo>
                <a:cubicBezTo>
                  <a:pt x="336091" y="0"/>
                  <a:pt x="369175" y="33084"/>
                  <a:pt x="369175" y="73835"/>
                </a:cubicBezTo>
                <a:lnTo>
                  <a:pt x="369175" y="295340"/>
                </a:lnTo>
                <a:cubicBezTo>
                  <a:pt x="369175" y="336091"/>
                  <a:pt x="336091" y="369175"/>
                  <a:pt x="295340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68408" y="4439472"/>
            <a:ext cx="166129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6002" y="4384096"/>
            <a:ext cx="6091385" cy="701432"/>
          </a:xfrm>
          <a:custGeom>
            <a:avLst/>
            <a:gdLst/>
            <a:ahLst/>
            <a:cxnLst/>
            <a:rect l="l" t="t" r="r" b="b"/>
            <a:pathLst>
              <a:path w="6091385" h="701432">
                <a:moveTo>
                  <a:pt x="73833" y="0"/>
                </a:moveTo>
                <a:lnTo>
                  <a:pt x="6017553" y="0"/>
                </a:lnTo>
                <a:cubicBezTo>
                  <a:pt x="6058302" y="0"/>
                  <a:pt x="6091385" y="33083"/>
                  <a:pt x="6091385" y="73833"/>
                </a:cubicBezTo>
                <a:lnTo>
                  <a:pt x="6091385" y="627599"/>
                </a:lnTo>
                <a:cubicBezTo>
                  <a:pt x="6091385" y="668349"/>
                  <a:pt x="6058302" y="701432"/>
                  <a:pt x="6017553" y="701432"/>
                </a:cubicBezTo>
                <a:lnTo>
                  <a:pt x="73833" y="701432"/>
                </a:lnTo>
                <a:cubicBezTo>
                  <a:pt x="33083" y="701432"/>
                  <a:pt x="0" y="668349"/>
                  <a:pt x="0" y="627599"/>
                </a:cubicBezTo>
                <a:lnTo>
                  <a:pt x="0" y="73833"/>
                </a:lnTo>
                <a:cubicBezTo>
                  <a:pt x="0" y="33083"/>
                  <a:pt x="33083" y="0"/>
                  <a:pt x="7383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116754" y="4494848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Tính toán phần tử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6754" y="4753271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Tính hiệu, lấy trị tuyệt đối </a:t>
            </a:r>
            <a:r>
              <a:rPr lang="en-US" sz="1163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abs()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6074" y="5185753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73835" y="0"/>
                </a:moveTo>
                <a:lnTo>
                  <a:pt x="295340" y="0"/>
                </a:lnTo>
                <a:cubicBezTo>
                  <a:pt x="336091" y="0"/>
                  <a:pt x="369175" y="33084"/>
                  <a:pt x="369175" y="73835"/>
                </a:cubicBezTo>
                <a:lnTo>
                  <a:pt x="369175" y="295340"/>
                </a:lnTo>
                <a:cubicBezTo>
                  <a:pt x="369175" y="336091"/>
                  <a:pt x="336091" y="369175"/>
                  <a:pt x="295340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0" name="Text 28"/>
          <p:cNvSpPr/>
          <p:nvPr/>
        </p:nvSpPr>
        <p:spPr>
          <a:xfrm>
            <a:off x="665957" y="5241129"/>
            <a:ext cx="175358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06002" y="5185753"/>
            <a:ext cx="6091385" cy="701432"/>
          </a:xfrm>
          <a:custGeom>
            <a:avLst/>
            <a:gdLst/>
            <a:ahLst/>
            <a:cxnLst/>
            <a:rect l="l" t="t" r="r" b="b"/>
            <a:pathLst>
              <a:path w="6091385" h="701432">
                <a:moveTo>
                  <a:pt x="73833" y="0"/>
                </a:moveTo>
                <a:lnTo>
                  <a:pt x="6017553" y="0"/>
                </a:lnTo>
                <a:cubicBezTo>
                  <a:pt x="6058302" y="0"/>
                  <a:pt x="6091385" y="33083"/>
                  <a:pt x="6091385" y="73833"/>
                </a:cubicBezTo>
                <a:lnTo>
                  <a:pt x="6091385" y="627599"/>
                </a:lnTo>
                <a:cubicBezTo>
                  <a:pt x="6091385" y="668349"/>
                  <a:pt x="6058302" y="701432"/>
                  <a:pt x="6017553" y="701432"/>
                </a:cubicBezTo>
                <a:lnTo>
                  <a:pt x="73833" y="701432"/>
                </a:lnTo>
                <a:cubicBezTo>
                  <a:pt x="33083" y="701432"/>
                  <a:pt x="0" y="668349"/>
                  <a:pt x="0" y="627599"/>
                </a:cubicBezTo>
                <a:lnTo>
                  <a:pt x="0" y="73833"/>
                </a:lnTo>
                <a:cubicBezTo>
                  <a:pt x="0" y="33083"/>
                  <a:pt x="33083" y="0"/>
                  <a:pt x="7383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1116754" y="5296506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Tổng hợp kết quả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6754" y="5554928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Cộng toàn bộ phần tử để ra Manhattan distance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6074" y="5987411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73835" y="0"/>
                </a:moveTo>
                <a:lnTo>
                  <a:pt x="295340" y="0"/>
                </a:lnTo>
                <a:cubicBezTo>
                  <a:pt x="336091" y="0"/>
                  <a:pt x="369175" y="33084"/>
                  <a:pt x="369175" y="73835"/>
                </a:cubicBezTo>
                <a:lnTo>
                  <a:pt x="369175" y="295340"/>
                </a:lnTo>
                <a:cubicBezTo>
                  <a:pt x="369175" y="336091"/>
                  <a:pt x="336091" y="369175"/>
                  <a:pt x="295340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664803" y="6042787"/>
            <a:ext cx="175358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06002" y="5987411"/>
            <a:ext cx="6091385" cy="701432"/>
          </a:xfrm>
          <a:custGeom>
            <a:avLst/>
            <a:gdLst/>
            <a:ahLst/>
            <a:cxnLst/>
            <a:rect l="l" t="t" r="r" b="b"/>
            <a:pathLst>
              <a:path w="6091385" h="701432">
                <a:moveTo>
                  <a:pt x="73833" y="0"/>
                </a:moveTo>
                <a:lnTo>
                  <a:pt x="6017553" y="0"/>
                </a:lnTo>
                <a:cubicBezTo>
                  <a:pt x="6058302" y="0"/>
                  <a:pt x="6091385" y="33083"/>
                  <a:pt x="6091385" y="73833"/>
                </a:cubicBezTo>
                <a:lnTo>
                  <a:pt x="6091385" y="627599"/>
                </a:lnTo>
                <a:cubicBezTo>
                  <a:pt x="6091385" y="668349"/>
                  <a:pt x="6058302" y="701432"/>
                  <a:pt x="6017553" y="701432"/>
                </a:cubicBezTo>
                <a:lnTo>
                  <a:pt x="73833" y="701432"/>
                </a:lnTo>
                <a:cubicBezTo>
                  <a:pt x="33083" y="701432"/>
                  <a:pt x="0" y="668349"/>
                  <a:pt x="0" y="627599"/>
                </a:cubicBezTo>
                <a:lnTo>
                  <a:pt x="0" y="73833"/>
                </a:lnTo>
                <a:cubicBezTo>
                  <a:pt x="0" y="33083"/>
                  <a:pt x="33083" y="0"/>
                  <a:pt x="7383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1116754" y="6098163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Trả về JSON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6754" y="6356586"/>
            <a:ext cx="59437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Đóng gói kết quả </a:t>
            </a:r>
            <a:r>
              <a:rPr lang="en-US" sz="1163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 "distance": value }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44642" y="1333644"/>
            <a:ext cx="4374722" cy="4614686"/>
          </a:xfrm>
          <a:custGeom>
            <a:avLst/>
            <a:gdLst/>
            <a:ahLst/>
            <a:cxnLst/>
            <a:rect l="l" t="t" r="r" b="b"/>
            <a:pathLst>
              <a:path w="4374722" h="4614686">
                <a:moveTo>
                  <a:pt x="110768" y="0"/>
                </a:moveTo>
                <a:lnTo>
                  <a:pt x="4263954" y="0"/>
                </a:lnTo>
                <a:cubicBezTo>
                  <a:pt x="4325130" y="0"/>
                  <a:pt x="4374722" y="49593"/>
                  <a:pt x="4374722" y="110768"/>
                </a:cubicBezTo>
                <a:lnTo>
                  <a:pt x="4374722" y="4503918"/>
                </a:lnTo>
                <a:cubicBezTo>
                  <a:pt x="4374722" y="4565093"/>
                  <a:pt x="4325130" y="4614686"/>
                  <a:pt x="4263954" y="4614686"/>
                </a:cubicBezTo>
                <a:lnTo>
                  <a:pt x="110768" y="4614686"/>
                </a:lnTo>
                <a:cubicBezTo>
                  <a:pt x="49593" y="4614686"/>
                  <a:pt x="0" y="4565093"/>
                  <a:pt x="0" y="4503918"/>
                </a:cubicBezTo>
                <a:lnTo>
                  <a:pt x="0" y="110768"/>
                </a:lnTo>
                <a:cubicBezTo>
                  <a:pt x="0" y="49633"/>
                  <a:pt x="49633" y="0"/>
                  <a:pt x="11076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96927" y="1485929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73835" y="0"/>
                </a:moveTo>
                <a:lnTo>
                  <a:pt x="295340" y="0"/>
                </a:lnTo>
                <a:cubicBezTo>
                  <a:pt x="336091" y="0"/>
                  <a:pt x="369175" y="33084"/>
                  <a:pt x="369175" y="73835"/>
                </a:cubicBezTo>
                <a:lnTo>
                  <a:pt x="369175" y="295340"/>
                </a:lnTo>
                <a:cubicBezTo>
                  <a:pt x="369175" y="336091"/>
                  <a:pt x="336091" y="369175"/>
                  <a:pt x="295340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89220" y="1578223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46147" y="115367"/>
                </a:moveTo>
                <a:lnTo>
                  <a:pt x="8833" y="115367"/>
                </a:lnTo>
                <a:cubicBezTo>
                  <a:pt x="-144" y="115367"/>
                  <a:pt x="-5660" y="105597"/>
                  <a:pt x="-1046" y="97882"/>
                </a:cubicBezTo>
                <a:lnTo>
                  <a:pt x="18026" y="66084"/>
                </a:lnTo>
                <a:cubicBezTo>
                  <a:pt x="21163" y="60856"/>
                  <a:pt x="26787" y="57684"/>
                  <a:pt x="32880" y="57684"/>
                </a:cubicBezTo>
                <a:lnTo>
                  <a:pt x="67129" y="57684"/>
                </a:lnTo>
                <a:cubicBezTo>
                  <a:pt x="94565" y="11212"/>
                  <a:pt x="135484" y="8869"/>
                  <a:pt x="162848" y="12871"/>
                </a:cubicBezTo>
                <a:cubicBezTo>
                  <a:pt x="167463" y="13556"/>
                  <a:pt x="171068" y="17161"/>
                  <a:pt x="171717" y="21739"/>
                </a:cubicBezTo>
                <a:cubicBezTo>
                  <a:pt x="175719" y="49103"/>
                  <a:pt x="173375" y="90022"/>
                  <a:pt x="126904" y="117458"/>
                </a:cubicBezTo>
                <a:lnTo>
                  <a:pt x="126904" y="151708"/>
                </a:lnTo>
                <a:cubicBezTo>
                  <a:pt x="126904" y="157801"/>
                  <a:pt x="123731" y="163425"/>
                  <a:pt x="118504" y="166561"/>
                </a:cubicBezTo>
                <a:lnTo>
                  <a:pt x="86706" y="185633"/>
                </a:lnTo>
                <a:cubicBezTo>
                  <a:pt x="79026" y="190248"/>
                  <a:pt x="69220" y="184696"/>
                  <a:pt x="69220" y="175755"/>
                </a:cubicBezTo>
                <a:lnTo>
                  <a:pt x="69220" y="138441"/>
                </a:lnTo>
                <a:cubicBezTo>
                  <a:pt x="69220" y="125714"/>
                  <a:pt x="58873" y="115367"/>
                  <a:pt x="46147" y="115367"/>
                </a:cubicBezTo>
                <a:lnTo>
                  <a:pt x="46111" y="115367"/>
                </a:lnTo>
                <a:close/>
                <a:moveTo>
                  <a:pt x="144209" y="57684"/>
                </a:moveTo>
                <a:cubicBezTo>
                  <a:pt x="144209" y="48133"/>
                  <a:pt x="136455" y="40379"/>
                  <a:pt x="126904" y="40379"/>
                </a:cubicBezTo>
                <a:cubicBezTo>
                  <a:pt x="117353" y="40379"/>
                  <a:pt x="109599" y="48133"/>
                  <a:pt x="109599" y="57684"/>
                </a:cubicBezTo>
                <a:cubicBezTo>
                  <a:pt x="109599" y="67235"/>
                  <a:pt x="117353" y="74989"/>
                  <a:pt x="126904" y="74989"/>
                </a:cubicBezTo>
                <a:cubicBezTo>
                  <a:pt x="136455" y="74989"/>
                  <a:pt x="144209" y="67235"/>
                  <a:pt x="144209" y="576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8076854" y="1541305"/>
            <a:ext cx="886020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Triển khai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96927" y="1965856"/>
            <a:ext cx="4070153" cy="1356718"/>
          </a:xfrm>
          <a:custGeom>
            <a:avLst/>
            <a:gdLst/>
            <a:ahLst/>
            <a:cxnLst/>
            <a:rect l="l" t="t" r="r" b="b"/>
            <a:pathLst>
              <a:path w="4070153" h="1356718">
                <a:moveTo>
                  <a:pt x="73833" y="0"/>
                </a:moveTo>
                <a:lnTo>
                  <a:pt x="3996320" y="0"/>
                </a:lnTo>
                <a:cubicBezTo>
                  <a:pt x="4037097" y="0"/>
                  <a:pt x="4070153" y="33056"/>
                  <a:pt x="4070153" y="73833"/>
                </a:cubicBezTo>
                <a:lnTo>
                  <a:pt x="4070153" y="1282885"/>
                </a:lnTo>
                <a:cubicBezTo>
                  <a:pt x="4070153" y="1323662"/>
                  <a:pt x="4037097" y="1356718"/>
                  <a:pt x="3996320" y="1356718"/>
                </a:cubicBezTo>
                <a:lnTo>
                  <a:pt x="73833" y="1356718"/>
                </a:lnTo>
                <a:cubicBezTo>
                  <a:pt x="33056" y="1356718"/>
                  <a:pt x="0" y="1323662"/>
                  <a:pt x="0" y="1282885"/>
                </a:cubicBezTo>
                <a:lnTo>
                  <a:pt x="0" y="73833"/>
                </a:lnTo>
                <a:cubicBezTo>
                  <a:pt x="0" y="33083"/>
                  <a:pt x="33083" y="0"/>
                  <a:pt x="7383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4" name="Shape 42"/>
          <p:cNvSpPr/>
          <p:nvPr/>
        </p:nvSpPr>
        <p:spPr>
          <a:xfrm>
            <a:off x="7716908" y="2113526"/>
            <a:ext cx="166129" cy="147670"/>
          </a:xfrm>
          <a:custGeom>
            <a:avLst/>
            <a:gdLst/>
            <a:ahLst/>
            <a:cxnLst/>
            <a:rect l="l" t="t" r="r" b="b"/>
            <a:pathLst>
              <a:path w="166129" h="147670">
                <a:moveTo>
                  <a:pt x="104061" y="346"/>
                </a:moveTo>
                <a:cubicBezTo>
                  <a:pt x="99158" y="-1067"/>
                  <a:pt x="94053" y="1788"/>
                  <a:pt x="92640" y="6691"/>
                </a:cubicBezTo>
                <a:lnTo>
                  <a:pt x="55722" y="135902"/>
                </a:lnTo>
                <a:cubicBezTo>
                  <a:pt x="54309" y="140806"/>
                  <a:pt x="57164" y="145911"/>
                  <a:pt x="62068" y="147324"/>
                </a:cubicBezTo>
                <a:cubicBezTo>
                  <a:pt x="66971" y="148737"/>
                  <a:pt x="72076" y="145882"/>
                  <a:pt x="73489" y="140979"/>
                </a:cubicBezTo>
                <a:lnTo>
                  <a:pt x="110406" y="11767"/>
                </a:lnTo>
                <a:cubicBezTo>
                  <a:pt x="111820" y="6864"/>
                  <a:pt x="108964" y="1759"/>
                  <a:pt x="104061" y="346"/>
                </a:cubicBezTo>
                <a:close/>
                <a:moveTo>
                  <a:pt x="122693" y="39600"/>
                </a:moveTo>
                <a:cubicBezTo>
                  <a:pt x="119088" y="43205"/>
                  <a:pt x="119088" y="49060"/>
                  <a:pt x="122693" y="52665"/>
                </a:cubicBezTo>
                <a:lnTo>
                  <a:pt x="143863" y="73835"/>
                </a:lnTo>
                <a:lnTo>
                  <a:pt x="122693" y="95005"/>
                </a:lnTo>
                <a:cubicBezTo>
                  <a:pt x="119088" y="98610"/>
                  <a:pt x="119088" y="104465"/>
                  <a:pt x="122693" y="108070"/>
                </a:cubicBezTo>
                <a:cubicBezTo>
                  <a:pt x="126298" y="111675"/>
                  <a:pt x="132153" y="111675"/>
                  <a:pt x="135758" y="108070"/>
                </a:cubicBezTo>
                <a:lnTo>
                  <a:pt x="163446" y="80382"/>
                </a:lnTo>
                <a:cubicBezTo>
                  <a:pt x="167052" y="76777"/>
                  <a:pt x="167052" y="70922"/>
                  <a:pt x="163446" y="67317"/>
                </a:cubicBezTo>
                <a:lnTo>
                  <a:pt x="135758" y="39629"/>
                </a:lnTo>
                <a:cubicBezTo>
                  <a:pt x="132153" y="36023"/>
                  <a:pt x="126298" y="36023"/>
                  <a:pt x="122693" y="39629"/>
                </a:cubicBezTo>
                <a:close/>
                <a:moveTo>
                  <a:pt x="43465" y="39600"/>
                </a:moveTo>
                <a:cubicBezTo>
                  <a:pt x="39859" y="35995"/>
                  <a:pt x="34004" y="35995"/>
                  <a:pt x="30399" y="39600"/>
                </a:cubicBezTo>
                <a:lnTo>
                  <a:pt x="2711" y="67288"/>
                </a:lnTo>
                <a:cubicBezTo>
                  <a:pt x="-894" y="70893"/>
                  <a:pt x="-894" y="76748"/>
                  <a:pt x="2711" y="80353"/>
                </a:cubicBezTo>
                <a:lnTo>
                  <a:pt x="30399" y="108041"/>
                </a:lnTo>
                <a:cubicBezTo>
                  <a:pt x="34004" y="111647"/>
                  <a:pt x="39859" y="111647"/>
                  <a:pt x="43465" y="108041"/>
                </a:cubicBezTo>
                <a:cubicBezTo>
                  <a:pt x="47070" y="104436"/>
                  <a:pt x="47070" y="98581"/>
                  <a:pt x="43465" y="94976"/>
                </a:cubicBezTo>
                <a:lnTo>
                  <a:pt x="22295" y="73835"/>
                </a:lnTo>
                <a:lnTo>
                  <a:pt x="43436" y="52665"/>
                </a:lnTo>
                <a:cubicBezTo>
                  <a:pt x="47041" y="49060"/>
                  <a:pt x="47041" y="43205"/>
                  <a:pt x="43436" y="396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7966101" y="2076609"/>
            <a:ext cx="987543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Dependencies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707679" y="2371949"/>
            <a:ext cx="3848648" cy="839873"/>
          </a:xfrm>
          <a:custGeom>
            <a:avLst/>
            <a:gdLst/>
            <a:ahLst/>
            <a:cxnLst/>
            <a:rect l="l" t="t" r="r" b="b"/>
            <a:pathLst>
              <a:path w="3848648" h="839873">
                <a:moveTo>
                  <a:pt x="73833" y="0"/>
                </a:moveTo>
                <a:lnTo>
                  <a:pt x="3774815" y="0"/>
                </a:lnTo>
                <a:cubicBezTo>
                  <a:pt x="3815592" y="0"/>
                  <a:pt x="3848648" y="33056"/>
                  <a:pt x="3848648" y="73833"/>
                </a:cubicBezTo>
                <a:lnTo>
                  <a:pt x="3848648" y="766040"/>
                </a:lnTo>
                <a:cubicBezTo>
                  <a:pt x="3848648" y="806817"/>
                  <a:pt x="3815592" y="839873"/>
                  <a:pt x="3774815" y="839873"/>
                </a:cubicBezTo>
                <a:lnTo>
                  <a:pt x="73833" y="839873"/>
                </a:lnTo>
                <a:cubicBezTo>
                  <a:pt x="33056" y="839873"/>
                  <a:pt x="0" y="806817"/>
                  <a:pt x="0" y="766040"/>
                </a:cubicBezTo>
                <a:lnTo>
                  <a:pt x="0" y="73833"/>
                </a:lnTo>
                <a:cubicBezTo>
                  <a:pt x="0" y="33056"/>
                  <a:pt x="33056" y="0"/>
                  <a:pt x="7383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7818431" y="2482701"/>
            <a:ext cx="3682519" cy="15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pandas==2.2.3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818431" y="2637726"/>
            <a:ext cx="3682519" cy="15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flask==3.1.0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818431" y="2792750"/>
            <a:ext cx="3682519" cy="15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pytest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18431" y="2947775"/>
            <a:ext cx="3682519" cy="15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flasgger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96927" y="3435057"/>
            <a:ext cx="4070153" cy="1199818"/>
          </a:xfrm>
          <a:custGeom>
            <a:avLst/>
            <a:gdLst/>
            <a:ahLst/>
            <a:cxnLst/>
            <a:rect l="l" t="t" r="r" b="b"/>
            <a:pathLst>
              <a:path w="4070153" h="1199818">
                <a:moveTo>
                  <a:pt x="73837" y="0"/>
                </a:moveTo>
                <a:lnTo>
                  <a:pt x="3996316" y="0"/>
                </a:lnTo>
                <a:cubicBezTo>
                  <a:pt x="4037095" y="0"/>
                  <a:pt x="4070153" y="33058"/>
                  <a:pt x="4070153" y="73837"/>
                </a:cubicBezTo>
                <a:lnTo>
                  <a:pt x="4070153" y="1125982"/>
                </a:lnTo>
                <a:cubicBezTo>
                  <a:pt x="4070153" y="1166760"/>
                  <a:pt x="4037095" y="1199818"/>
                  <a:pt x="3996316" y="1199818"/>
                </a:cubicBezTo>
                <a:lnTo>
                  <a:pt x="73837" y="1199818"/>
                </a:lnTo>
                <a:cubicBezTo>
                  <a:pt x="33058" y="1199818"/>
                  <a:pt x="0" y="1166760"/>
                  <a:pt x="0" y="1125982"/>
                </a:cubicBezTo>
                <a:lnTo>
                  <a:pt x="0" y="73837"/>
                </a:lnTo>
                <a:cubicBezTo>
                  <a:pt x="0" y="33058"/>
                  <a:pt x="33058" y="0"/>
                  <a:pt x="7383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Shape 50"/>
          <p:cNvSpPr/>
          <p:nvPr/>
        </p:nvSpPr>
        <p:spPr>
          <a:xfrm>
            <a:off x="7726138" y="3582727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2711" y="34206"/>
                </a:moveTo>
                <a:cubicBezTo>
                  <a:pt x="-894" y="30601"/>
                  <a:pt x="-894" y="24746"/>
                  <a:pt x="2711" y="21141"/>
                </a:cubicBezTo>
                <a:cubicBezTo>
                  <a:pt x="6316" y="17536"/>
                  <a:pt x="12171" y="17536"/>
                  <a:pt x="15776" y="21141"/>
                </a:cubicBezTo>
                <a:lnTo>
                  <a:pt x="61923" y="67288"/>
                </a:lnTo>
                <a:cubicBezTo>
                  <a:pt x="65529" y="70893"/>
                  <a:pt x="65529" y="76748"/>
                  <a:pt x="61923" y="80353"/>
                </a:cubicBezTo>
                <a:lnTo>
                  <a:pt x="15776" y="126500"/>
                </a:lnTo>
                <a:cubicBezTo>
                  <a:pt x="12171" y="130105"/>
                  <a:pt x="6316" y="130105"/>
                  <a:pt x="2711" y="126500"/>
                </a:cubicBezTo>
                <a:cubicBezTo>
                  <a:pt x="-894" y="122895"/>
                  <a:pt x="-894" y="117040"/>
                  <a:pt x="2711" y="113435"/>
                </a:cubicBezTo>
                <a:lnTo>
                  <a:pt x="42311" y="73835"/>
                </a:lnTo>
                <a:lnTo>
                  <a:pt x="2711" y="34206"/>
                </a:lnTo>
                <a:close/>
                <a:moveTo>
                  <a:pt x="64606" y="110752"/>
                </a:moveTo>
                <a:lnTo>
                  <a:pt x="138441" y="110752"/>
                </a:lnTo>
                <a:cubicBezTo>
                  <a:pt x="143546" y="110752"/>
                  <a:pt x="147670" y="114877"/>
                  <a:pt x="147670" y="119982"/>
                </a:cubicBezTo>
                <a:cubicBezTo>
                  <a:pt x="147670" y="125087"/>
                  <a:pt x="143546" y="129211"/>
                  <a:pt x="138441" y="129211"/>
                </a:cubicBezTo>
                <a:lnTo>
                  <a:pt x="64606" y="129211"/>
                </a:lnTo>
                <a:cubicBezTo>
                  <a:pt x="59501" y="129211"/>
                  <a:pt x="55376" y="125087"/>
                  <a:pt x="55376" y="119982"/>
                </a:cubicBezTo>
                <a:cubicBezTo>
                  <a:pt x="55376" y="114877"/>
                  <a:pt x="59501" y="110752"/>
                  <a:pt x="64606" y="11075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7966101" y="3545809"/>
            <a:ext cx="124596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Chạy bằng Python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707679" y="3841149"/>
            <a:ext cx="3848648" cy="682974"/>
          </a:xfrm>
          <a:custGeom>
            <a:avLst/>
            <a:gdLst/>
            <a:ahLst/>
            <a:cxnLst/>
            <a:rect l="l" t="t" r="r" b="b"/>
            <a:pathLst>
              <a:path w="3848648" h="682974">
                <a:moveTo>
                  <a:pt x="73836" y="0"/>
                </a:moveTo>
                <a:lnTo>
                  <a:pt x="3774812" y="0"/>
                </a:lnTo>
                <a:cubicBezTo>
                  <a:pt x="3815590" y="0"/>
                  <a:pt x="3848648" y="33058"/>
                  <a:pt x="3848648" y="73836"/>
                </a:cubicBezTo>
                <a:lnTo>
                  <a:pt x="3848648" y="609137"/>
                </a:lnTo>
                <a:cubicBezTo>
                  <a:pt x="3848648" y="649916"/>
                  <a:pt x="3815590" y="682974"/>
                  <a:pt x="3774812" y="682974"/>
                </a:cubicBezTo>
                <a:lnTo>
                  <a:pt x="73836" y="682974"/>
                </a:lnTo>
                <a:cubicBezTo>
                  <a:pt x="33085" y="682974"/>
                  <a:pt x="0" y="649889"/>
                  <a:pt x="0" y="609137"/>
                </a:cubicBezTo>
                <a:lnTo>
                  <a:pt x="0" y="73836"/>
                </a:lnTo>
                <a:cubicBezTo>
                  <a:pt x="0" y="33058"/>
                  <a:pt x="33058" y="0"/>
                  <a:pt x="7383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5" name="Text 53"/>
          <p:cNvSpPr/>
          <p:nvPr/>
        </p:nvSpPr>
        <p:spPr>
          <a:xfrm>
            <a:off x="7818431" y="3951902"/>
            <a:ext cx="3682519" cy="15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cd ch7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18431" y="4106926"/>
            <a:ext cx="3682519" cy="15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app.py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818431" y="4261951"/>
            <a:ext cx="3682519" cy="15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2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Server: http://localhost:5000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596927" y="4749233"/>
            <a:ext cx="4070153" cy="1052148"/>
          </a:xfrm>
          <a:custGeom>
            <a:avLst/>
            <a:gdLst/>
            <a:ahLst/>
            <a:cxnLst/>
            <a:rect l="l" t="t" r="r" b="b"/>
            <a:pathLst>
              <a:path w="4070153" h="1052148">
                <a:moveTo>
                  <a:pt x="73840" y="0"/>
                </a:moveTo>
                <a:lnTo>
                  <a:pt x="3996313" y="0"/>
                </a:lnTo>
                <a:cubicBezTo>
                  <a:pt x="4037094" y="0"/>
                  <a:pt x="4070153" y="33059"/>
                  <a:pt x="4070153" y="73840"/>
                </a:cubicBezTo>
                <a:lnTo>
                  <a:pt x="4070153" y="978309"/>
                </a:lnTo>
                <a:cubicBezTo>
                  <a:pt x="4070153" y="1019089"/>
                  <a:pt x="4037094" y="1052148"/>
                  <a:pt x="3996313" y="1052148"/>
                </a:cubicBezTo>
                <a:lnTo>
                  <a:pt x="73840" y="1052148"/>
                </a:lnTo>
                <a:cubicBezTo>
                  <a:pt x="33059" y="1052148"/>
                  <a:pt x="0" y="1019089"/>
                  <a:pt x="0" y="978309"/>
                </a:cubicBezTo>
                <a:lnTo>
                  <a:pt x="0" y="73840"/>
                </a:lnTo>
                <a:cubicBezTo>
                  <a:pt x="0" y="33086"/>
                  <a:pt x="33086" y="0"/>
                  <a:pt x="7384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9" name="Shape 57"/>
          <p:cNvSpPr/>
          <p:nvPr/>
        </p:nvSpPr>
        <p:spPr>
          <a:xfrm>
            <a:off x="7707679" y="4896903"/>
            <a:ext cx="184587" cy="147670"/>
          </a:xfrm>
          <a:custGeom>
            <a:avLst/>
            <a:gdLst/>
            <a:ahLst/>
            <a:cxnLst/>
            <a:rect l="l" t="t" r="r" b="b"/>
            <a:pathLst>
              <a:path w="184587" h="147670">
                <a:moveTo>
                  <a:pt x="100917" y="68153"/>
                </a:moveTo>
                <a:lnTo>
                  <a:pt x="81853" y="68153"/>
                </a:lnTo>
                <a:lnTo>
                  <a:pt x="81853" y="51021"/>
                </a:lnTo>
                <a:lnTo>
                  <a:pt x="100917" y="51021"/>
                </a:lnTo>
                <a:lnTo>
                  <a:pt x="100917" y="68153"/>
                </a:lnTo>
                <a:close/>
                <a:moveTo>
                  <a:pt x="100917" y="9229"/>
                </a:moveTo>
                <a:lnTo>
                  <a:pt x="81853" y="9229"/>
                </a:lnTo>
                <a:lnTo>
                  <a:pt x="81853" y="26736"/>
                </a:lnTo>
                <a:lnTo>
                  <a:pt x="100917" y="26736"/>
                </a:lnTo>
                <a:lnTo>
                  <a:pt x="100917" y="9229"/>
                </a:lnTo>
                <a:close/>
                <a:moveTo>
                  <a:pt x="123472" y="50992"/>
                </a:moveTo>
                <a:lnTo>
                  <a:pt x="104407" y="50992"/>
                </a:lnTo>
                <a:lnTo>
                  <a:pt x="104407" y="68124"/>
                </a:lnTo>
                <a:lnTo>
                  <a:pt x="123472" y="68124"/>
                </a:lnTo>
                <a:lnTo>
                  <a:pt x="123472" y="50992"/>
                </a:lnTo>
                <a:close/>
                <a:moveTo>
                  <a:pt x="78392" y="30197"/>
                </a:moveTo>
                <a:lnTo>
                  <a:pt x="59328" y="30197"/>
                </a:lnTo>
                <a:lnTo>
                  <a:pt x="59328" y="47531"/>
                </a:lnTo>
                <a:lnTo>
                  <a:pt x="78392" y="47531"/>
                </a:lnTo>
                <a:lnTo>
                  <a:pt x="78392" y="30197"/>
                </a:lnTo>
                <a:close/>
                <a:moveTo>
                  <a:pt x="100917" y="30197"/>
                </a:moveTo>
                <a:lnTo>
                  <a:pt x="81853" y="30197"/>
                </a:lnTo>
                <a:lnTo>
                  <a:pt x="81853" y="47531"/>
                </a:lnTo>
                <a:lnTo>
                  <a:pt x="100917" y="47531"/>
                </a:lnTo>
                <a:lnTo>
                  <a:pt x="100917" y="30197"/>
                </a:lnTo>
                <a:close/>
                <a:moveTo>
                  <a:pt x="180751" y="59039"/>
                </a:moveTo>
                <a:cubicBezTo>
                  <a:pt x="176598" y="56241"/>
                  <a:pt x="167023" y="55232"/>
                  <a:pt x="159668" y="56616"/>
                </a:cubicBezTo>
                <a:cubicBezTo>
                  <a:pt x="158716" y="49694"/>
                  <a:pt x="154852" y="43666"/>
                  <a:pt x="147814" y="38244"/>
                </a:cubicBezTo>
                <a:lnTo>
                  <a:pt x="143776" y="35562"/>
                </a:lnTo>
                <a:lnTo>
                  <a:pt x="141094" y="39600"/>
                </a:lnTo>
                <a:cubicBezTo>
                  <a:pt x="135787" y="47618"/>
                  <a:pt x="134345" y="60827"/>
                  <a:pt x="140027" y="69538"/>
                </a:cubicBezTo>
                <a:cubicBezTo>
                  <a:pt x="137518" y="70893"/>
                  <a:pt x="132586" y="72739"/>
                  <a:pt x="126067" y="72624"/>
                </a:cubicBezTo>
                <a:lnTo>
                  <a:pt x="692" y="72624"/>
                </a:lnTo>
                <a:cubicBezTo>
                  <a:pt x="-1817" y="87275"/>
                  <a:pt x="2365" y="106311"/>
                  <a:pt x="13383" y="119376"/>
                </a:cubicBezTo>
                <a:cubicBezTo>
                  <a:pt x="24083" y="132038"/>
                  <a:pt x="40119" y="138469"/>
                  <a:pt x="61087" y="138469"/>
                </a:cubicBezTo>
                <a:cubicBezTo>
                  <a:pt x="106484" y="138469"/>
                  <a:pt x="140085" y="117559"/>
                  <a:pt x="155803" y="79574"/>
                </a:cubicBezTo>
                <a:cubicBezTo>
                  <a:pt x="161975" y="79690"/>
                  <a:pt x="175300" y="79603"/>
                  <a:pt x="182136" y="66538"/>
                </a:cubicBezTo>
                <a:cubicBezTo>
                  <a:pt x="182569" y="65817"/>
                  <a:pt x="184039" y="62731"/>
                  <a:pt x="184587" y="61606"/>
                </a:cubicBezTo>
                <a:lnTo>
                  <a:pt x="180751" y="59039"/>
                </a:lnTo>
                <a:close/>
                <a:moveTo>
                  <a:pt x="33341" y="50992"/>
                </a:moveTo>
                <a:lnTo>
                  <a:pt x="14306" y="50992"/>
                </a:lnTo>
                <a:lnTo>
                  <a:pt x="14306" y="68124"/>
                </a:lnTo>
                <a:lnTo>
                  <a:pt x="33370" y="68124"/>
                </a:lnTo>
                <a:lnTo>
                  <a:pt x="33370" y="50992"/>
                </a:lnTo>
                <a:lnTo>
                  <a:pt x="33341" y="50992"/>
                </a:lnTo>
                <a:close/>
                <a:moveTo>
                  <a:pt x="55867" y="50992"/>
                </a:moveTo>
                <a:lnTo>
                  <a:pt x="36802" y="50992"/>
                </a:lnTo>
                <a:lnTo>
                  <a:pt x="36802" y="68124"/>
                </a:lnTo>
                <a:lnTo>
                  <a:pt x="55867" y="68124"/>
                </a:lnTo>
                <a:lnTo>
                  <a:pt x="55867" y="50992"/>
                </a:lnTo>
                <a:close/>
                <a:moveTo>
                  <a:pt x="78392" y="50992"/>
                </a:moveTo>
                <a:lnTo>
                  <a:pt x="59328" y="50992"/>
                </a:lnTo>
                <a:lnTo>
                  <a:pt x="59328" y="68124"/>
                </a:lnTo>
                <a:lnTo>
                  <a:pt x="78392" y="68124"/>
                </a:lnTo>
                <a:lnTo>
                  <a:pt x="78392" y="50992"/>
                </a:lnTo>
                <a:close/>
                <a:moveTo>
                  <a:pt x="55867" y="30197"/>
                </a:moveTo>
                <a:lnTo>
                  <a:pt x="36802" y="30197"/>
                </a:lnTo>
                <a:lnTo>
                  <a:pt x="36802" y="47531"/>
                </a:lnTo>
                <a:lnTo>
                  <a:pt x="55867" y="47531"/>
                </a:lnTo>
                <a:lnTo>
                  <a:pt x="55867" y="3019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7966101" y="4859985"/>
            <a:ext cx="1264424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Chạy bằng Docker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707679" y="5155325"/>
            <a:ext cx="3848648" cy="535304"/>
          </a:xfrm>
          <a:custGeom>
            <a:avLst/>
            <a:gdLst/>
            <a:ahLst/>
            <a:cxnLst/>
            <a:rect l="l" t="t" r="r" b="b"/>
            <a:pathLst>
              <a:path w="3848648" h="535304">
                <a:moveTo>
                  <a:pt x="73834" y="0"/>
                </a:moveTo>
                <a:lnTo>
                  <a:pt x="3774814" y="0"/>
                </a:lnTo>
                <a:cubicBezTo>
                  <a:pt x="3815591" y="0"/>
                  <a:pt x="3848648" y="33057"/>
                  <a:pt x="3848648" y="73834"/>
                </a:cubicBezTo>
                <a:lnTo>
                  <a:pt x="3848648" y="461469"/>
                </a:lnTo>
                <a:cubicBezTo>
                  <a:pt x="3848648" y="502247"/>
                  <a:pt x="3815591" y="535304"/>
                  <a:pt x="3774814" y="535304"/>
                </a:cubicBezTo>
                <a:lnTo>
                  <a:pt x="73834" y="535304"/>
                </a:lnTo>
                <a:cubicBezTo>
                  <a:pt x="33057" y="535304"/>
                  <a:pt x="0" y="502247"/>
                  <a:pt x="0" y="461469"/>
                </a:cubicBezTo>
                <a:lnTo>
                  <a:pt x="0" y="73834"/>
                </a:lnTo>
                <a:cubicBezTo>
                  <a:pt x="0" y="33057"/>
                  <a:pt x="33057" y="0"/>
                  <a:pt x="73834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2" name="Text 60"/>
          <p:cNvSpPr/>
          <p:nvPr/>
        </p:nvSpPr>
        <p:spPr>
          <a:xfrm>
            <a:off x="7818431" y="5266078"/>
            <a:ext cx="3682519" cy="15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build -t manhattan-api .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818431" y="5421102"/>
            <a:ext cx="3682519" cy="15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-p 5000:5000 manhattan-api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444642" y="6106816"/>
            <a:ext cx="4374722" cy="747579"/>
          </a:xfrm>
          <a:custGeom>
            <a:avLst/>
            <a:gdLst/>
            <a:ahLst/>
            <a:cxnLst/>
            <a:rect l="l" t="t" r="r" b="b"/>
            <a:pathLst>
              <a:path w="4374722" h="747579">
                <a:moveTo>
                  <a:pt x="110754" y="0"/>
                </a:moveTo>
                <a:lnTo>
                  <a:pt x="4263968" y="0"/>
                </a:lnTo>
                <a:cubicBezTo>
                  <a:pt x="4325095" y="0"/>
                  <a:pt x="4374722" y="49627"/>
                  <a:pt x="4374722" y="110754"/>
                </a:cubicBezTo>
                <a:lnTo>
                  <a:pt x="4374722" y="636825"/>
                </a:lnTo>
                <a:cubicBezTo>
                  <a:pt x="4374722" y="697993"/>
                  <a:pt x="4325136" y="747579"/>
                  <a:pt x="4263968" y="747579"/>
                </a:cubicBezTo>
                <a:lnTo>
                  <a:pt x="110754" y="747579"/>
                </a:lnTo>
                <a:cubicBezTo>
                  <a:pt x="49586" y="747579"/>
                  <a:pt x="0" y="697993"/>
                  <a:pt x="0" y="636825"/>
                </a:cubicBezTo>
                <a:lnTo>
                  <a:pt x="0" y="110754"/>
                </a:lnTo>
                <a:cubicBezTo>
                  <a:pt x="0" y="49586"/>
                  <a:pt x="49586" y="0"/>
                  <a:pt x="110754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15385" y="6296018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147670"/>
                </a:moveTo>
                <a:cubicBezTo>
                  <a:pt x="114586" y="147670"/>
                  <a:pt x="147670" y="114586"/>
                  <a:pt x="147670" y="73835"/>
                </a:cubicBezTo>
                <a:cubicBezTo>
                  <a:pt x="147670" y="33084"/>
                  <a:pt x="114586" y="0"/>
                  <a:pt x="73835" y="0"/>
                </a:cubicBezTo>
                <a:cubicBezTo>
                  <a:pt x="33084" y="0"/>
                  <a:pt x="0" y="33084"/>
                  <a:pt x="0" y="73835"/>
                </a:cubicBezTo>
                <a:cubicBezTo>
                  <a:pt x="0" y="114586"/>
                  <a:pt x="33084" y="147670"/>
                  <a:pt x="73835" y="147670"/>
                </a:cubicBezTo>
                <a:close/>
                <a:moveTo>
                  <a:pt x="64606" y="46147"/>
                </a:moveTo>
                <a:cubicBezTo>
                  <a:pt x="64606" y="41053"/>
                  <a:pt x="68741" y="36917"/>
                  <a:pt x="73835" y="36917"/>
                </a:cubicBezTo>
                <a:cubicBezTo>
                  <a:pt x="78929" y="36917"/>
                  <a:pt x="83064" y="41053"/>
                  <a:pt x="83064" y="46147"/>
                </a:cubicBezTo>
                <a:cubicBezTo>
                  <a:pt x="83064" y="51241"/>
                  <a:pt x="78929" y="55376"/>
                  <a:pt x="73835" y="55376"/>
                </a:cubicBezTo>
                <a:cubicBezTo>
                  <a:pt x="68741" y="55376"/>
                  <a:pt x="64606" y="51241"/>
                  <a:pt x="64606" y="46147"/>
                </a:cubicBezTo>
                <a:close/>
                <a:moveTo>
                  <a:pt x="62298" y="64606"/>
                </a:moveTo>
                <a:lnTo>
                  <a:pt x="76142" y="64606"/>
                </a:lnTo>
                <a:cubicBezTo>
                  <a:pt x="79978" y="64606"/>
                  <a:pt x="83064" y="67692"/>
                  <a:pt x="83064" y="71528"/>
                </a:cubicBezTo>
                <a:lnTo>
                  <a:pt x="83064" y="96908"/>
                </a:lnTo>
                <a:lnTo>
                  <a:pt x="85372" y="96908"/>
                </a:lnTo>
                <a:cubicBezTo>
                  <a:pt x="89208" y="96908"/>
                  <a:pt x="92294" y="99994"/>
                  <a:pt x="92294" y="103830"/>
                </a:cubicBezTo>
                <a:cubicBezTo>
                  <a:pt x="92294" y="107666"/>
                  <a:pt x="89208" y="110752"/>
                  <a:pt x="85372" y="110752"/>
                </a:cubicBezTo>
                <a:lnTo>
                  <a:pt x="62298" y="110752"/>
                </a:lnTo>
                <a:cubicBezTo>
                  <a:pt x="58462" y="110752"/>
                  <a:pt x="55376" y="107666"/>
                  <a:pt x="55376" y="103830"/>
                </a:cubicBezTo>
                <a:cubicBezTo>
                  <a:pt x="55376" y="99994"/>
                  <a:pt x="58462" y="96908"/>
                  <a:pt x="62298" y="96908"/>
                </a:cubicBezTo>
                <a:lnTo>
                  <a:pt x="69220" y="96908"/>
                </a:lnTo>
                <a:lnTo>
                  <a:pt x="69220" y="78450"/>
                </a:lnTo>
                <a:lnTo>
                  <a:pt x="62298" y="78450"/>
                </a:lnTo>
                <a:cubicBezTo>
                  <a:pt x="58462" y="78450"/>
                  <a:pt x="55376" y="75364"/>
                  <a:pt x="55376" y="71528"/>
                </a:cubicBezTo>
                <a:cubicBezTo>
                  <a:pt x="55376" y="67692"/>
                  <a:pt x="58462" y="64606"/>
                  <a:pt x="62298" y="646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7835172" y="6259100"/>
            <a:ext cx="3905743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Luồng đảm bảo dữ liệu </a:t>
            </a:r>
            <a:r>
              <a:rPr lang="en-US" sz="1163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 cấu trúc rõ ràng</a:t>
            </a:r>
            <a:r>
              <a:rPr lang="en-US" sz="1163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phù hợp tích hợp với các hệ thống khác.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kern="0" spc="53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7: ĐỌC VÀ HIỂU CƠ SỞ MÃ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604979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quả và Kiểm thử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6099" y="1041908"/>
            <a:ext cx="806638" cy="33610"/>
          </a:xfrm>
          <a:custGeom>
            <a:avLst/>
            <a:gdLst/>
            <a:ahLst/>
            <a:cxnLst/>
            <a:rect l="l" t="t" r="r" b="b"/>
            <a:pathLst>
              <a:path w="806638" h="33610">
                <a:moveTo>
                  <a:pt x="0" y="0"/>
                </a:moveTo>
                <a:lnTo>
                  <a:pt x="806638" y="0"/>
                </a:lnTo>
                <a:lnTo>
                  <a:pt x="806638" y="33610"/>
                </a:lnTo>
                <a:lnTo>
                  <a:pt x="0" y="3361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40300" y="1214159"/>
            <a:ext cx="5520430" cy="4713792"/>
          </a:xfrm>
          <a:custGeom>
            <a:avLst/>
            <a:gdLst/>
            <a:ahLst/>
            <a:cxnLst/>
            <a:rect l="l" t="t" r="r" b="b"/>
            <a:pathLst>
              <a:path w="5520430" h="4713792">
                <a:moveTo>
                  <a:pt x="100828" y="0"/>
                </a:moveTo>
                <a:lnTo>
                  <a:pt x="5419602" y="0"/>
                </a:lnTo>
                <a:cubicBezTo>
                  <a:pt x="5475288" y="0"/>
                  <a:pt x="5520430" y="45142"/>
                  <a:pt x="5520430" y="100828"/>
                </a:cubicBezTo>
                <a:lnTo>
                  <a:pt x="5520430" y="4612964"/>
                </a:lnTo>
                <a:cubicBezTo>
                  <a:pt x="5520430" y="4668650"/>
                  <a:pt x="5475288" y="4713792"/>
                  <a:pt x="5419602" y="4713792"/>
                </a:cubicBezTo>
                <a:lnTo>
                  <a:pt x="100828" y="4713792"/>
                </a:lnTo>
                <a:cubicBezTo>
                  <a:pt x="45142" y="4713792"/>
                  <a:pt x="0" y="4668650"/>
                  <a:pt x="0" y="4612964"/>
                </a:cubicBezTo>
                <a:lnTo>
                  <a:pt x="0" y="100828"/>
                </a:lnTo>
                <a:cubicBezTo>
                  <a:pt x="0" y="45180"/>
                  <a:pt x="45180" y="0"/>
                  <a:pt x="10082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8941" y="1352799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2463" y="1436824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>
                <a:moveTo>
                  <a:pt x="176058" y="-8632"/>
                </a:moveTo>
                <a:cubicBezTo>
                  <a:pt x="179275" y="-9781"/>
                  <a:pt x="182820" y="-8960"/>
                  <a:pt x="185248" y="-6564"/>
                </a:cubicBezTo>
                <a:cubicBezTo>
                  <a:pt x="187677" y="-4168"/>
                  <a:pt x="188465" y="-591"/>
                  <a:pt x="187316" y="2626"/>
                </a:cubicBezTo>
                <a:lnTo>
                  <a:pt x="128893" y="165719"/>
                </a:lnTo>
                <a:cubicBezTo>
                  <a:pt x="127252" y="170282"/>
                  <a:pt x="122952" y="173301"/>
                  <a:pt x="118127" y="173301"/>
                </a:cubicBezTo>
                <a:cubicBezTo>
                  <a:pt x="113466" y="173301"/>
                  <a:pt x="109265" y="170478"/>
                  <a:pt x="107525" y="166179"/>
                </a:cubicBezTo>
                <a:lnTo>
                  <a:pt x="86454" y="114320"/>
                </a:lnTo>
                <a:cubicBezTo>
                  <a:pt x="84977" y="110709"/>
                  <a:pt x="85633" y="106574"/>
                  <a:pt x="88160" y="103620"/>
                </a:cubicBezTo>
                <a:lnTo>
                  <a:pt x="119177" y="66728"/>
                </a:lnTo>
                <a:cubicBezTo>
                  <a:pt x="120851" y="64725"/>
                  <a:pt x="120720" y="61804"/>
                  <a:pt x="118882" y="59966"/>
                </a:cubicBezTo>
                <a:cubicBezTo>
                  <a:pt x="117044" y="58128"/>
                  <a:pt x="114090" y="57997"/>
                  <a:pt x="112121" y="59671"/>
                </a:cubicBezTo>
                <a:lnTo>
                  <a:pt x="75228" y="90622"/>
                </a:lnTo>
                <a:cubicBezTo>
                  <a:pt x="72242" y="93117"/>
                  <a:pt x="68139" y="93773"/>
                  <a:pt x="64528" y="92329"/>
                </a:cubicBezTo>
                <a:lnTo>
                  <a:pt x="12505" y="71159"/>
                </a:lnTo>
                <a:cubicBezTo>
                  <a:pt x="8206" y="69419"/>
                  <a:pt x="5383" y="65218"/>
                  <a:pt x="5383" y="60557"/>
                </a:cubicBezTo>
                <a:cubicBezTo>
                  <a:pt x="5383" y="55732"/>
                  <a:pt x="8402" y="51432"/>
                  <a:pt x="12965" y="49791"/>
                </a:cubicBezTo>
                <a:lnTo>
                  <a:pt x="176058" y="-86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15870" y="1403214"/>
            <a:ext cx="1050310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mẫu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8941" y="1789728"/>
            <a:ext cx="5243148" cy="764626"/>
          </a:xfrm>
          <a:custGeom>
            <a:avLst/>
            <a:gdLst/>
            <a:ahLst/>
            <a:cxnLst/>
            <a:rect l="l" t="t" r="r" b="b"/>
            <a:pathLst>
              <a:path w="5243148" h="764626">
                <a:moveTo>
                  <a:pt x="67218" y="0"/>
                </a:moveTo>
                <a:lnTo>
                  <a:pt x="5175930" y="0"/>
                </a:lnTo>
                <a:cubicBezTo>
                  <a:pt x="5213029" y="0"/>
                  <a:pt x="5243148" y="30119"/>
                  <a:pt x="5243148" y="67218"/>
                </a:cubicBezTo>
                <a:lnTo>
                  <a:pt x="5243148" y="697408"/>
                </a:lnTo>
                <a:cubicBezTo>
                  <a:pt x="5243148" y="734531"/>
                  <a:pt x="5213054" y="764626"/>
                  <a:pt x="5175930" y="764626"/>
                </a:cubicBezTo>
                <a:lnTo>
                  <a:pt x="67218" y="764626"/>
                </a:lnTo>
                <a:cubicBezTo>
                  <a:pt x="30119" y="764626"/>
                  <a:pt x="0" y="734506"/>
                  <a:pt x="0" y="697408"/>
                </a:cubicBezTo>
                <a:lnTo>
                  <a:pt x="0" y="67218"/>
                </a:lnTo>
                <a:cubicBezTo>
                  <a:pt x="0" y="30095"/>
                  <a:pt x="30095" y="0"/>
                  <a:pt x="6721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79771" y="1890558"/>
            <a:ext cx="5091904" cy="14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4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curl -X POST http://127.0.0.1:5000/manhattan \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771" y="2031694"/>
            <a:ext cx="5091904" cy="14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4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-H "Content-Type: application/json" \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771" y="2172829"/>
            <a:ext cx="5091904" cy="14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4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-d '{"df1": [[1, 2], [3, 4]],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771" y="2313965"/>
            <a:ext cx="5091904" cy="14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4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"df2": [[2, 0], [1, 3]]}'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8941" y="2656759"/>
            <a:ext cx="5243148" cy="1092323"/>
          </a:xfrm>
          <a:custGeom>
            <a:avLst/>
            <a:gdLst/>
            <a:ahLst/>
            <a:cxnLst/>
            <a:rect l="l" t="t" r="r" b="b"/>
            <a:pathLst>
              <a:path w="5243148" h="1092323">
                <a:moveTo>
                  <a:pt x="67222" y="0"/>
                </a:moveTo>
                <a:lnTo>
                  <a:pt x="5175927" y="0"/>
                </a:lnTo>
                <a:cubicBezTo>
                  <a:pt x="5213052" y="0"/>
                  <a:pt x="5243148" y="30096"/>
                  <a:pt x="5243148" y="67222"/>
                </a:cubicBezTo>
                <a:lnTo>
                  <a:pt x="5243148" y="1025101"/>
                </a:lnTo>
                <a:cubicBezTo>
                  <a:pt x="5243148" y="1062226"/>
                  <a:pt x="5213052" y="1092323"/>
                  <a:pt x="5175927" y="1092323"/>
                </a:cubicBezTo>
                <a:lnTo>
                  <a:pt x="67222" y="1092323"/>
                </a:lnTo>
                <a:cubicBezTo>
                  <a:pt x="30096" y="1092323"/>
                  <a:pt x="0" y="1062226"/>
                  <a:pt x="0" y="1025101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576" y="2791199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53618" y="4831"/>
                </a:moveTo>
                <a:cubicBezTo>
                  <a:pt x="56769" y="6144"/>
                  <a:pt x="58817" y="9190"/>
                  <a:pt x="58817" y="12604"/>
                </a:cubicBezTo>
                <a:lnTo>
                  <a:pt x="58817" y="33610"/>
                </a:lnTo>
                <a:lnTo>
                  <a:pt x="88226" y="33610"/>
                </a:lnTo>
                <a:cubicBezTo>
                  <a:pt x="113749" y="33610"/>
                  <a:pt x="134440" y="54301"/>
                  <a:pt x="134440" y="79824"/>
                </a:cubicBezTo>
                <a:cubicBezTo>
                  <a:pt x="134440" y="109574"/>
                  <a:pt x="113040" y="122860"/>
                  <a:pt x="108129" y="125538"/>
                </a:cubicBezTo>
                <a:cubicBezTo>
                  <a:pt x="107473" y="125906"/>
                  <a:pt x="106738" y="126037"/>
                  <a:pt x="106003" y="126037"/>
                </a:cubicBezTo>
                <a:cubicBezTo>
                  <a:pt x="103140" y="126037"/>
                  <a:pt x="100830" y="123700"/>
                  <a:pt x="100830" y="120864"/>
                </a:cubicBezTo>
                <a:cubicBezTo>
                  <a:pt x="100830" y="118895"/>
                  <a:pt x="101959" y="117083"/>
                  <a:pt x="103403" y="115744"/>
                </a:cubicBezTo>
                <a:cubicBezTo>
                  <a:pt x="105871" y="113433"/>
                  <a:pt x="109232" y="108812"/>
                  <a:pt x="109232" y="100856"/>
                </a:cubicBezTo>
                <a:cubicBezTo>
                  <a:pt x="109232" y="86939"/>
                  <a:pt x="97941" y="75649"/>
                  <a:pt x="84025" y="75649"/>
                </a:cubicBezTo>
                <a:lnTo>
                  <a:pt x="58817" y="75649"/>
                </a:lnTo>
                <a:lnTo>
                  <a:pt x="58817" y="96655"/>
                </a:lnTo>
                <a:cubicBezTo>
                  <a:pt x="58817" y="100042"/>
                  <a:pt x="56769" y="103114"/>
                  <a:pt x="53618" y="104427"/>
                </a:cubicBezTo>
                <a:cubicBezTo>
                  <a:pt x="50467" y="105740"/>
                  <a:pt x="46870" y="105005"/>
                  <a:pt x="44454" y="102615"/>
                </a:cubicBezTo>
                <a:lnTo>
                  <a:pt x="2442" y="60603"/>
                </a:lnTo>
                <a:cubicBezTo>
                  <a:pt x="-840" y="57321"/>
                  <a:pt x="-840" y="51990"/>
                  <a:pt x="2442" y="48708"/>
                </a:cubicBezTo>
                <a:lnTo>
                  <a:pt x="44454" y="6696"/>
                </a:lnTo>
                <a:cubicBezTo>
                  <a:pt x="46870" y="4280"/>
                  <a:pt x="50467" y="3571"/>
                  <a:pt x="53618" y="48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15041" y="2757589"/>
            <a:ext cx="924273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mẫu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9771" y="3026469"/>
            <a:ext cx="5041489" cy="621784"/>
          </a:xfrm>
          <a:custGeom>
            <a:avLst/>
            <a:gdLst/>
            <a:ahLst/>
            <a:cxnLst/>
            <a:rect l="l" t="t" r="r" b="b"/>
            <a:pathLst>
              <a:path w="5041489" h="621784">
                <a:moveTo>
                  <a:pt x="67221" y="0"/>
                </a:moveTo>
                <a:lnTo>
                  <a:pt x="4974268" y="0"/>
                </a:lnTo>
                <a:cubicBezTo>
                  <a:pt x="5011393" y="0"/>
                  <a:pt x="5041489" y="30096"/>
                  <a:pt x="5041489" y="67221"/>
                </a:cubicBezTo>
                <a:lnTo>
                  <a:pt x="5041489" y="554563"/>
                </a:lnTo>
                <a:cubicBezTo>
                  <a:pt x="5041489" y="591688"/>
                  <a:pt x="5011393" y="621784"/>
                  <a:pt x="4974268" y="621784"/>
                </a:cubicBezTo>
                <a:lnTo>
                  <a:pt x="67221" y="621784"/>
                </a:lnTo>
                <a:cubicBezTo>
                  <a:pt x="30096" y="621784"/>
                  <a:pt x="0" y="591688"/>
                  <a:pt x="0" y="554563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80601" y="3127298"/>
            <a:ext cx="4890244" cy="14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4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0601" y="3268434"/>
            <a:ext cx="4890244" cy="14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4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"distance": 6.0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0601" y="3409569"/>
            <a:ext cx="4890244" cy="14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4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0300" y="6070793"/>
            <a:ext cx="5520430" cy="781431"/>
          </a:xfrm>
          <a:custGeom>
            <a:avLst/>
            <a:gdLst/>
            <a:ahLst/>
            <a:cxnLst/>
            <a:rect l="l" t="t" r="r" b="b"/>
            <a:pathLst>
              <a:path w="5520430" h="781431">
                <a:moveTo>
                  <a:pt x="100828" y="0"/>
                </a:moveTo>
                <a:lnTo>
                  <a:pt x="5419602" y="0"/>
                </a:lnTo>
                <a:cubicBezTo>
                  <a:pt x="5475288" y="0"/>
                  <a:pt x="5520430" y="45142"/>
                  <a:pt x="5520430" y="100828"/>
                </a:cubicBezTo>
                <a:lnTo>
                  <a:pt x="5520430" y="680603"/>
                </a:lnTo>
                <a:cubicBezTo>
                  <a:pt x="5520430" y="736289"/>
                  <a:pt x="5475288" y="781431"/>
                  <a:pt x="5419602" y="781431"/>
                </a:cubicBezTo>
                <a:lnTo>
                  <a:pt x="100828" y="781431"/>
                </a:lnTo>
                <a:cubicBezTo>
                  <a:pt x="45142" y="781431"/>
                  <a:pt x="0" y="736289"/>
                  <a:pt x="0" y="680603"/>
                </a:cubicBezTo>
                <a:lnTo>
                  <a:pt x="0" y="100828"/>
                </a:lnTo>
                <a:cubicBezTo>
                  <a:pt x="0" y="45142"/>
                  <a:pt x="45142" y="0"/>
                  <a:pt x="10082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0954" y="6243043"/>
            <a:ext cx="126037" cy="168050"/>
          </a:xfrm>
          <a:custGeom>
            <a:avLst/>
            <a:gdLst/>
            <a:ahLst/>
            <a:cxnLst/>
            <a:rect l="l" t="t" r="r" b="b"/>
            <a:pathLst>
              <a:path w="126037" h="168050">
                <a:moveTo>
                  <a:pt x="21006" y="0"/>
                </a:moveTo>
                <a:cubicBezTo>
                  <a:pt x="9420" y="0"/>
                  <a:pt x="0" y="9420"/>
                  <a:pt x="0" y="21006"/>
                </a:cubicBezTo>
                <a:lnTo>
                  <a:pt x="0" y="147043"/>
                </a:lnTo>
                <a:cubicBezTo>
                  <a:pt x="0" y="158630"/>
                  <a:pt x="9420" y="168050"/>
                  <a:pt x="21006" y="168050"/>
                </a:cubicBezTo>
                <a:lnTo>
                  <a:pt x="105031" y="168050"/>
                </a:lnTo>
                <a:cubicBezTo>
                  <a:pt x="116617" y="168050"/>
                  <a:pt x="126037" y="158630"/>
                  <a:pt x="126037" y="147043"/>
                </a:cubicBezTo>
                <a:lnTo>
                  <a:pt x="126037" y="21006"/>
                </a:lnTo>
                <a:cubicBezTo>
                  <a:pt x="126037" y="9420"/>
                  <a:pt x="116617" y="0"/>
                  <a:pt x="105031" y="0"/>
                </a:cubicBezTo>
                <a:lnTo>
                  <a:pt x="21006" y="0"/>
                </a:lnTo>
                <a:close/>
                <a:moveTo>
                  <a:pt x="31509" y="21006"/>
                </a:moveTo>
                <a:lnTo>
                  <a:pt x="94528" y="21006"/>
                </a:lnTo>
                <a:cubicBezTo>
                  <a:pt x="100337" y="21006"/>
                  <a:pt x="105031" y="25700"/>
                  <a:pt x="105031" y="31509"/>
                </a:cubicBezTo>
                <a:lnTo>
                  <a:pt x="105031" y="42012"/>
                </a:lnTo>
                <a:cubicBezTo>
                  <a:pt x="105031" y="47822"/>
                  <a:pt x="100337" y="52516"/>
                  <a:pt x="94528" y="52516"/>
                </a:cubicBezTo>
                <a:lnTo>
                  <a:pt x="31509" y="52516"/>
                </a:lnTo>
                <a:cubicBezTo>
                  <a:pt x="25700" y="52516"/>
                  <a:pt x="21006" y="47822"/>
                  <a:pt x="21006" y="42012"/>
                </a:cubicBezTo>
                <a:lnTo>
                  <a:pt x="21006" y="31509"/>
                </a:lnTo>
                <a:cubicBezTo>
                  <a:pt x="21006" y="25700"/>
                  <a:pt x="25700" y="21006"/>
                  <a:pt x="31509" y="21006"/>
                </a:cubicBezTo>
                <a:close/>
                <a:moveTo>
                  <a:pt x="36761" y="76147"/>
                </a:moveTo>
                <a:cubicBezTo>
                  <a:pt x="36761" y="80495"/>
                  <a:pt x="33231" y="84025"/>
                  <a:pt x="28884" y="84025"/>
                </a:cubicBezTo>
                <a:cubicBezTo>
                  <a:pt x="24536" y="84025"/>
                  <a:pt x="21006" y="80495"/>
                  <a:pt x="21006" y="76147"/>
                </a:cubicBezTo>
                <a:cubicBezTo>
                  <a:pt x="21006" y="71800"/>
                  <a:pt x="24536" y="68270"/>
                  <a:pt x="28884" y="68270"/>
                </a:cubicBezTo>
                <a:cubicBezTo>
                  <a:pt x="33231" y="68270"/>
                  <a:pt x="36761" y="71800"/>
                  <a:pt x="36761" y="76147"/>
                </a:cubicBezTo>
                <a:close/>
                <a:moveTo>
                  <a:pt x="63019" y="84025"/>
                </a:moveTo>
                <a:cubicBezTo>
                  <a:pt x="58671" y="84025"/>
                  <a:pt x="55141" y="80495"/>
                  <a:pt x="55141" y="76147"/>
                </a:cubicBezTo>
                <a:cubicBezTo>
                  <a:pt x="55141" y="71800"/>
                  <a:pt x="58671" y="68270"/>
                  <a:pt x="63019" y="68270"/>
                </a:cubicBezTo>
                <a:cubicBezTo>
                  <a:pt x="67366" y="68270"/>
                  <a:pt x="70896" y="71800"/>
                  <a:pt x="70896" y="76147"/>
                </a:cubicBezTo>
                <a:cubicBezTo>
                  <a:pt x="70896" y="80495"/>
                  <a:pt x="67366" y="84025"/>
                  <a:pt x="63019" y="84025"/>
                </a:cubicBezTo>
                <a:close/>
                <a:moveTo>
                  <a:pt x="105031" y="76147"/>
                </a:moveTo>
                <a:cubicBezTo>
                  <a:pt x="105031" y="80495"/>
                  <a:pt x="101501" y="84025"/>
                  <a:pt x="97154" y="84025"/>
                </a:cubicBezTo>
                <a:cubicBezTo>
                  <a:pt x="92806" y="84025"/>
                  <a:pt x="89276" y="80495"/>
                  <a:pt x="89276" y="76147"/>
                </a:cubicBezTo>
                <a:cubicBezTo>
                  <a:pt x="89276" y="71800"/>
                  <a:pt x="92806" y="68270"/>
                  <a:pt x="97154" y="68270"/>
                </a:cubicBezTo>
                <a:cubicBezTo>
                  <a:pt x="101501" y="68270"/>
                  <a:pt x="105031" y="71800"/>
                  <a:pt x="105031" y="76147"/>
                </a:cubicBezTo>
                <a:close/>
                <a:moveTo>
                  <a:pt x="28884" y="115534"/>
                </a:moveTo>
                <a:cubicBezTo>
                  <a:pt x="24536" y="115534"/>
                  <a:pt x="21006" y="112004"/>
                  <a:pt x="21006" y="107657"/>
                </a:cubicBezTo>
                <a:cubicBezTo>
                  <a:pt x="21006" y="103309"/>
                  <a:pt x="24536" y="99779"/>
                  <a:pt x="28884" y="99779"/>
                </a:cubicBezTo>
                <a:cubicBezTo>
                  <a:pt x="33231" y="99779"/>
                  <a:pt x="36761" y="103309"/>
                  <a:pt x="36761" y="107657"/>
                </a:cubicBezTo>
                <a:cubicBezTo>
                  <a:pt x="36761" y="112004"/>
                  <a:pt x="33231" y="115534"/>
                  <a:pt x="28884" y="115534"/>
                </a:cubicBezTo>
                <a:close/>
                <a:moveTo>
                  <a:pt x="70896" y="107657"/>
                </a:moveTo>
                <a:cubicBezTo>
                  <a:pt x="70896" y="112004"/>
                  <a:pt x="67366" y="115534"/>
                  <a:pt x="63019" y="115534"/>
                </a:cubicBezTo>
                <a:cubicBezTo>
                  <a:pt x="58671" y="115534"/>
                  <a:pt x="55141" y="112004"/>
                  <a:pt x="55141" y="107657"/>
                </a:cubicBezTo>
                <a:cubicBezTo>
                  <a:pt x="55141" y="103309"/>
                  <a:pt x="58671" y="99779"/>
                  <a:pt x="63019" y="99779"/>
                </a:cubicBezTo>
                <a:cubicBezTo>
                  <a:pt x="67366" y="99779"/>
                  <a:pt x="70896" y="103309"/>
                  <a:pt x="70896" y="107657"/>
                </a:cubicBezTo>
                <a:close/>
                <a:moveTo>
                  <a:pt x="97154" y="115534"/>
                </a:moveTo>
                <a:cubicBezTo>
                  <a:pt x="92806" y="115534"/>
                  <a:pt x="89276" y="112004"/>
                  <a:pt x="89276" y="107657"/>
                </a:cubicBezTo>
                <a:cubicBezTo>
                  <a:pt x="89276" y="103309"/>
                  <a:pt x="92806" y="99779"/>
                  <a:pt x="97154" y="99779"/>
                </a:cubicBezTo>
                <a:cubicBezTo>
                  <a:pt x="101501" y="99779"/>
                  <a:pt x="105031" y="103309"/>
                  <a:pt x="105031" y="107657"/>
                </a:cubicBezTo>
                <a:cubicBezTo>
                  <a:pt x="105031" y="112004"/>
                  <a:pt x="101501" y="115534"/>
                  <a:pt x="97154" y="115534"/>
                </a:cubicBezTo>
                <a:close/>
                <a:moveTo>
                  <a:pt x="21006" y="139166"/>
                </a:moveTo>
                <a:cubicBezTo>
                  <a:pt x="21006" y="134801"/>
                  <a:pt x="24518" y="131289"/>
                  <a:pt x="28884" y="131289"/>
                </a:cubicBezTo>
                <a:lnTo>
                  <a:pt x="65644" y="131289"/>
                </a:lnTo>
                <a:cubicBezTo>
                  <a:pt x="70010" y="131289"/>
                  <a:pt x="73522" y="134801"/>
                  <a:pt x="73522" y="139166"/>
                </a:cubicBezTo>
                <a:cubicBezTo>
                  <a:pt x="73522" y="143531"/>
                  <a:pt x="70010" y="147043"/>
                  <a:pt x="65644" y="147043"/>
                </a:cubicBezTo>
                <a:lnTo>
                  <a:pt x="28884" y="147043"/>
                </a:lnTo>
                <a:cubicBezTo>
                  <a:pt x="24518" y="147043"/>
                  <a:pt x="21006" y="143531"/>
                  <a:pt x="21006" y="139166"/>
                </a:cubicBezTo>
                <a:close/>
                <a:moveTo>
                  <a:pt x="97154" y="131289"/>
                </a:moveTo>
                <a:cubicBezTo>
                  <a:pt x="101519" y="131289"/>
                  <a:pt x="105031" y="134801"/>
                  <a:pt x="105031" y="139166"/>
                </a:cubicBezTo>
                <a:cubicBezTo>
                  <a:pt x="105031" y="143531"/>
                  <a:pt x="101519" y="147043"/>
                  <a:pt x="97154" y="147043"/>
                </a:cubicBezTo>
                <a:cubicBezTo>
                  <a:pt x="92788" y="147043"/>
                  <a:pt x="89276" y="143531"/>
                  <a:pt x="89276" y="139166"/>
                </a:cubicBezTo>
                <a:cubicBezTo>
                  <a:pt x="89276" y="134801"/>
                  <a:pt x="92788" y="131289"/>
                  <a:pt x="97154" y="13128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89833" y="6209433"/>
            <a:ext cx="69740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Tính toán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8941" y="6511923"/>
            <a:ext cx="531036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|1-2| + |2-0| + |3-1| + |4-3| = 1 + 2 + 2 + 1 = </a:t>
            </a:r>
            <a:r>
              <a:rPr lang="en-US" sz="1059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39940" y="1214159"/>
            <a:ext cx="5806114" cy="5638065"/>
          </a:xfrm>
          <a:custGeom>
            <a:avLst/>
            <a:gdLst/>
            <a:ahLst/>
            <a:cxnLst/>
            <a:rect l="l" t="t" r="r" b="b"/>
            <a:pathLst>
              <a:path w="5806114" h="5638065">
                <a:moveTo>
                  <a:pt x="100809" y="0"/>
                </a:moveTo>
                <a:lnTo>
                  <a:pt x="5705306" y="0"/>
                </a:lnTo>
                <a:cubicBezTo>
                  <a:pt x="5760981" y="0"/>
                  <a:pt x="5806114" y="45134"/>
                  <a:pt x="5806114" y="100809"/>
                </a:cubicBezTo>
                <a:lnTo>
                  <a:pt x="5806114" y="5537256"/>
                </a:lnTo>
                <a:cubicBezTo>
                  <a:pt x="5806114" y="5592931"/>
                  <a:pt x="5760981" y="5638065"/>
                  <a:pt x="5705306" y="5638065"/>
                </a:cubicBezTo>
                <a:lnTo>
                  <a:pt x="100809" y="5638065"/>
                </a:lnTo>
                <a:cubicBezTo>
                  <a:pt x="45134" y="5638065"/>
                  <a:pt x="0" y="5592931"/>
                  <a:pt x="0" y="5537256"/>
                </a:cubicBezTo>
                <a:lnTo>
                  <a:pt x="0" y="100809"/>
                </a:lnTo>
                <a:cubicBezTo>
                  <a:pt x="0" y="45171"/>
                  <a:pt x="45171" y="0"/>
                  <a:pt x="10080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8581" y="1352799"/>
            <a:ext cx="336099" cy="336099"/>
          </a:xfrm>
          <a:custGeom>
            <a:avLst/>
            <a:gdLst/>
            <a:ahLst/>
            <a:cxnLst/>
            <a:rect l="l" t="t" r="r" b="b"/>
            <a:pathLst>
              <a:path w="336099" h="336099">
                <a:moveTo>
                  <a:pt x="67220" y="0"/>
                </a:moveTo>
                <a:lnTo>
                  <a:pt x="268879" y="0"/>
                </a:lnTo>
                <a:cubicBezTo>
                  <a:pt x="305979" y="0"/>
                  <a:pt x="336099" y="30120"/>
                  <a:pt x="336099" y="67220"/>
                </a:cubicBezTo>
                <a:lnTo>
                  <a:pt x="336099" y="268879"/>
                </a:lnTo>
                <a:cubicBezTo>
                  <a:pt x="336099" y="306004"/>
                  <a:pt x="306004" y="336099"/>
                  <a:pt x="268879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62605" y="1436824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112449" y="3085"/>
                </a:moveTo>
                <a:cubicBezTo>
                  <a:pt x="108346" y="-1017"/>
                  <a:pt x="101683" y="-1017"/>
                  <a:pt x="97580" y="3085"/>
                </a:cubicBezTo>
                <a:cubicBezTo>
                  <a:pt x="93478" y="7188"/>
                  <a:pt x="93478" y="13851"/>
                  <a:pt x="97580" y="17954"/>
                </a:cubicBezTo>
                <a:lnTo>
                  <a:pt x="100666" y="21006"/>
                </a:lnTo>
                <a:lnTo>
                  <a:pt x="9223" y="112449"/>
                </a:lnTo>
                <a:cubicBezTo>
                  <a:pt x="3315" y="118357"/>
                  <a:pt x="0" y="126365"/>
                  <a:pt x="0" y="134735"/>
                </a:cubicBezTo>
                <a:lnTo>
                  <a:pt x="0" y="136540"/>
                </a:lnTo>
                <a:cubicBezTo>
                  <a:pt x="0" y="153936"/>
                  <a:pt x="14114" y="168050"/>
                  <a:pt x="31509" y="168050"/>
                </a:cubicBezTo>
                <a:lnTo>
                  <a:pt x="33315" y="168050"/>
                </a:lnTo>
                <a:cubicBezTo>
                  <a:pt x="41684" y="168050"/>
                  <a:pt x="49693" y="164735"/>
                  <a:pt x="55601" y="158827"/>
                </a:cubicBezTo>
                <a:lnTo>
                  <a:pt x="147043" y="67384"/>
                </a:lnTo>
                <a:lnTo>
                  <a:pt x="150129" y="70469"/>
                </a:lnTo>
                <a:cubicBezTo>
                  <a:pt x="154231" y="74572"/>
                  <a:pt x="160894" y="74572"/>
                  <a:pt x="164997" y="70469"/>
                </a:cubicBezTo>
                <a:cubicBezTo>
                  <a:pt x="169100" y="66366"/>
                  <a:pt x="169100" y="59704"/>
                  <a:pt x="164997" y="55601"/>
                </a:cubicBezTo>
                <a:lnTo>
                  <a:pt x="112482" y="3085"/>
                </a:lnTo>
                <a:close/>
                <a:moveTo>
                  <a:pt x="67384" y="84025"/>
                </a:moveTo>
                <a:lnTo>
                  <a:pt x="115534" y="35875"/>
                </a:lnTo>
                <a:lnTo>
                  <a:pt x="132175" y="52516"/>
                </a:lnTo>
                <a:lnTo>
                  <a:pt x="100666" y="84025"/>
                </a:lnTo>
                <a:lnTo>
                  <a:pt x="67351" y="8402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615510" y="1403214"/>
            <a:ext cx="198298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quả kiểm thử (pytest)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8581" y="1789728"/>
            <a:ext cx="5528833" cy="672198"/>
          </a:xfrm>
          <a:custGeom>
            <a:avLst/>
            <a:gdLst/>
            <a:ahLst/>
            <a:cxnLst/>
            <a:rect l="l" t="t" r="r" b="b"/>
            <a:pathLst>
              <a:path w="5528833" h="672198">
                <a:moveTo>
                  <a:pt x="67220" y="0"/>
                </a:moveTo>
                <a:lnTo>
                  <a:pt x="5461613" y="0"/>
                </a:lnTo>
                <a:cubicBezTo>
                  <a:pt x="5498737" y="0"/>
                  <a:pt x="5528833" y="30095"/>
                  <a:pt x="5528833" y="67220"/>
                </a:cubicBezTo>
                <a:lnTo>
                  <a:pt x="5528833" y="604979"/>
                </a:lnTo>
                <a:cubicBezTo>
                  <a:pt x="5528833" y="642103"/>
                  <a:pt x="5498737" y="672198"/>
                  <a:pt x="5461613" y="672198"/>
                </a:cubicBezTo>
                <a:lnTo>
                  <a:pt x="67220" y="672198"/>
                </a:lnTo>
                <a:cubicBezTo>
                  <a:pt x="30095" y="672198"/>
                  <a:pt x="0" y="642103"/>
                  <a:pt x="0" y="6049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6279410" y="1907363"/>
            <a:ext cx="163848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test_normal_case_distance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995959" y="1890558"/>
            <a:ext cx="613381" cy="235269"/>
          </a:xfrm>
          <a:custGeom>
            <a:avLst/>
            <a:gdLst/>
            <a:ahLst/>
            <a:cxnLst/>
            <a:rect l="l" t="t" r="r" b="b"/>
            <a:pathLst>
              <a:path w="613381" h="235269">
                <a:moveTo>
                  <a:pt x="117635" y="0"/>
                </a:moveTo>
                <a:lnTo>
                  <a:pt x="495746" y="0"/>
                </a:lnTo>
                <a:cubicBezTo>
                  <a:pt x="560714" y="0"/>
                  <a:pt x="613381" y="52667"/>
                  <a:pt x="613381" y="117635"/>
                </a:cubicBezTo>
                <a:lnTo>
                  <a:pt x="613381" y="117635"/>
                </a:lnTo>
                <a:cubicBezTo>
                  <a:pt x="613381" y="182603"/>
                  <a:pt x="560714" y="235269"/>
                  <a:pt x="495746" y="235269"/>
                </a:cubicBezTo>
                <a:lnTo>
                  <a:pt x="117635" y="235269"/>
                </a:lnTo>
                <a:cubicBezTo>
                  <a:pt x="52667" y="235269"/>
                  <a:pt x="0" y="182603"/>
                  <a:pt x="0" y="117635"/>
                </a:cubicBezTo>
                <a:lnTo>
                  <a:pt x="0" y="117635"/>
                </a:lnTo>
                <a:cubicBezTo>
                  <a:pt x="0" y="52667"/>
                  <a:pt x="52667" y="0"/>
                  <a:pt x="11763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995959" y="1890558"/>
            <a:ext cx="672198" cy="235269"/>
          </a:xfrm>
          <a:prstGeom prst="rect">
            <a:avLst/>
          </a:prstGeom>
          <a:noFill/>
          <a:ln/>
        </p:spPr>
        <p:txBody>
          <a:bodyPr wrap="square" lIns="100830" tIns="33610" rIns="100830" bIns="3361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79410" y="2193048"/>
            <a:ext cx="538599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trường hợp chuẩn với dữ liệu mẫu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8581" y="2529147"/>
            <a:ext cx="5528833" cy="672198"/>
          </a:xfrm>
          <a:custGeom>
            <a:avLst/>
            <a:gdLst/>
            <a:ahLst/>
            <a:cxnLst/>
            <a:rect l="l" t="t" r="r" b="b"/>
            <a:pathLst>
              <a:path w="5528833" h="672198">
                <a:moveTo>
                  <a:pt x="67220" y="0"/>
                </a:moveTo>
                <a:lnTo>
                  <a:pt x="5461613" y="0"/>
                </a:lnTo>
                <a:cubicBezTo>
                  <a:pt x="5498737" y="0"/>
                  <a:pt x="5528833" y="30095"/>
                  <a:pt x="5528833" y="67220"/>
                </a:cubicBezTo>
                <a:lnTo>
                  <a:pt x="5528833" y="604979"/>
                </a:lnTo>
                <a:cubicBezTo>
                  <a:pt x="5528833" y="642103"/>
                  <a:pt x="5498737" y="672198"/>
                  <a:pt x="5461613" y="672198"/>
                </a:cubicBezTo>
                <a:lnTo>
                  <a:pt x="67220" y="672198"/>
                </a:lnTo>
                <a:cubicBezTo>
                  <a:pt x="30095" y="672198"/>
                  <a:pt x="0" y="642103"/>
                  <a:pt x="0" y="6049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6279410" y="2646782"/>
            <a:ext cx="237790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test_different_shapes_raise_value_error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95959" y="2629977"/>
            <a:ext cx="613381" cy="235269"/>
          </a:xfrm>
          <a:custGeom>
            <a:avLst/>
            <a:gdLst/>
            <a:ahLst/>
            <a:cxnLst/>
            <a:rect l="l" t="t" r="r" b="b"/>
            <a:pathLst>
              <a:path w="613381" h="235269">
                <a:moveTo>
                  <a:pt x="117635" y="0"/>
                </a:moveTo>
                <a:lnTo>
                  <a:pt x="495746" y="0"/>
                </a:lnTo>
                <a:cubicBezTo>
                  <a:pt x="560714" y="0"/>
                  <a:pt x="613381" y="52667"/>
                  <a:pt x="613381" y="117635"/>
                </a:cubicBezTo>
                <a:lnTo>
                  <a:pt x="613381" y="117635"/>
                </a:lnTo>
                <a:cubicBezTo>
                  <a:pt x="613381" y="182603"/>
                  <a:pt x="560714" y="235269"/>
                  <a:pt x="495746" y="235269"/>
                </a:cubicBezTo>
                <a:lnTo>
                  <a:pt x="117635" y="235269"/>
                </a:lnTo>
                <a:cubicBezTo>
                  <a:pt x="52667" y="235269"/>
                  <a:pt x="0" y="182603"/>
                  <a:pt x="0" y="117635"/>
                </a:cubicBezTo>
                <a:lnTo>
                  <a:pt x="0" y="117635"/>
                </a:lnTo>
                <a:cubicBezTo>
                  <a:pt x="0" y="52667"/>
                  <a:pt x="52667" y="0"/>
                  <a:pt x="11763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995959" y="2629977"/>
            <a:ext cx="672198" cy="235269"/>
          </a:xfrm>
          <a:prstGeom prst="rect">
            <a:avLst/>
          </a:prstGeom>
          <a:noFill/>
          <a:ln/>
        </p:spPr>
        <p:txBody>
          <a:bodyPr wrap="square" lIns="100830" tIns="33610" rIns="100830" bIns="3361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79410" y="2932466"/>
            <a:ext cx="538599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lỗi khi shape khác nhau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8581" y="3268565"/>
            <a:ext cx="5528833" cy="672198"/>
          </a:xfrm>
          <a:custGeom>
            <a:avLst/>
            <a:gdLst/>
            <a:ahLst/>
            <a:cxnLst/>
            <a:rect l="l" t="t" r="r" b="b"/>
            <a:pathLst>
              <a:path w="5528833" h="672198">
                <a:moveTo>
                  <a:pt x="67220" y="0"/>
                </a:moveTo>
                <a:lnTo>
                  <a:pt x="5461613" y="0"/>
                </a:lnTo>
                <a:cubicBezTo>
                  <a:pt x="5498737" y="0"/>
                  <a:pt x="5528833" y="30095"/>
                  <a:pt x="5528833" y="67220"/>
                </a:cubicBezTo>
                <a:lnTo>
                  <a:pt x="5528833" y="604979"/>
                </a:lnTo>
                <a:cubicBezTo>
                  <a:pt x="5528833" y="642103"/>
                  <a:pt x="5498737" y="672198"/>
                  <a:pt x="5461613" y="672198"/>
                </a:cubicBezTo>
                <a:lnTo>
                  <a:pt x="67220" y="672198"/>
                </a:lnTo>
                <a:cubicBezTo>
                  <a:pt x="30095" y="672198"/>
                  <a:pt x="0" y="642103"/>
                  <a:pt x="0" y="6049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6279410" y="3386200"/>
            <a:ext cx="251234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test_empty_dataframes_raise_value_error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995959" y="3369395"/>
            <a:ext cx="613381" cy="235269"/>
          </a:xfrm>
          <a:custGeom>
            <a:avLst/>
            <a:gdLst/>
            <a:ahLst/>
            <a:cxnLst/>
            <a:rect l="l" t="t" r="r" b="b"/>
            <a:pathLst>
              <a:path w="613381" h="235269">
                <a:moveTo>
                  <a:pt x="117635" y="0"/>
                </a:moveTo>
                <a:lnTo>
                  <a:pt x="495746" y="0"/>
                </a:lnTo>
                <a:cubicBezTo>
                  <a:pt x="560714" y="0"/>
                  <a:pt x="613381" y="52667"/>
                  <a:pt x="613381" y="117635"/>
                </a:cubicBezTo>
                <a:lnTo>
                  <a:pt x="613381" y="117635"/>
                </a:lnTo>
                <a:cubicBezTo>
                  <a:pt x="613381" y="182603"/>
                  <a:pt x="560714" y="235269"/>
                  <a:pt x="495746" y="235269"/>
                </a:cubicBezTo>
                <a:lnTo>
                  <a:pt x="117635" y="235269"/>
                </a:lnTo>
                <a:cubicBezTo>
                  <a:pt x="52667" y="235269"/>
                  <a:pt x="0" y="182603"/>
                  <a:pt x="0" y="117635"/>
                </a:cubicBezTo>
                <a:lnTo>
                  <a:pt x="0" y="117635"/>
                </a:lnTo>
                <a:cubicBezTo>
                  <a:pt x="0" y="52667"/>
                  <a:pt x="52667" y="0"/>
                  <a:pt x="11763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995959" y="3369395"/>
            <a:ext cx="672198" cy="235269"/>
          </a:xfrm>
          <a:prstGeom prst="rect">
            <a:avLst/>
          </a:prstGeom>
          <a:noFill/>
          <a:ln/>
        </p:spPr>
        <p:txBody>
          <a:bodyPr wrap="square" lIns="100830" tIns="33610" rIns="100830" bIns="3361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79410" y="3671884"/>
            <a:ext cx="538599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DataFrame rỗng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8581" y="4007983"/>
            <a:ext cx="5528833" cy="672198"/>
          </a:xfrm>
          <a:custGeom>
            <a:avLst/>
            <a:gdLst/>
            <a:ahLst/>
            <a:cxnLst/>
            <a:rect l="l" t="t" r="r" b="b"/>
            <a:pathLst>
              <a:path w="5528833" h="672198">
                <a:moveTo>
                  <a:pt x="67220" y="0"/>
                </a:moveTo>
                <a:lnTo>
                  <a:pt x="5461613" y="0"/>
                </a:lnTo>
                <a:cubicBezTo>
                  <a:pt x="5498737" y="0"/>
                  <a:pt x="5528833" y="30095"/>
                  <a:pt x="5528833" y="67220"/>
                </a:cubicBezTo>
                <a:lnTo>
                  <a:pt x="5528833" y="604979"/>
                </a:lnTo>
                <a:cubicBezTo>
                  <a:pt x="5528833" y="642103"/>
                  <a:pt x="5498737" y="672198"/>
                  <a:pt x="5461613" y="672198"/>
                </a:cubicBezTo>
                <a:lnTo>
                  <a:pt x="67220" y="672198"/>
                </a:lnTo>
                <a:cubicBezTo>
                  <a:pt x="30095" y="672198"/>
                  <a:pt x="0" y="642103"/>
                  <a:pt x="0" y="6049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6279410" y="4125618"/>
            <a:ext cx="162167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test_one_by_one_matrices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995959" y="4108813"/>
            <a:ext cx="613381" cy="235269"/>
          </a:xfrm>
          <a:custGeom>
            <a:avLst/>
            <a:gdLst/>
            <a:ahLst/>
            <a:cxnLst/>
            <a:rect l="l" t="t" r="r" b="b"/>
            <a:pathLst>
              <a:path w="613381" h="235269">
                <a:moveTo>
                  <a:pt x="117635" y="0"/>
                </a:moveTo>
                <a:lnTo>
                  <a:pt x="495746" y="0"/>
                </a:lnTo>
                <a:cubicBezTo>
                  <a:pt x="560714" y="0"/>
                  <a:pt x="613381" y="52667"/>
                  <a:pt x="613381" y="117635"/>
                </a:cubicBezTo>
                <a:lnTo>
                  <a:pt x="613381" y="117635"/>
                </a:lnTo>
                <a:cubicBezTo>
                  <a:pt x="613381" y="182603"/>
                  <a:pt x="560714" y="235269"/>
                  <a:pt x="495746" y="235269"/>
                </a:cubicBezTo>
                <a:lnTo>
                  <a:pt x="117635" y="235269"/>
                </a:lnTo>
                <a:cubicBezTo>
                  <a:pt x="52667" y="235269"/>
                  <a:pt x="0" y="182603"/>
                  <a:pt x="0" y="117635"/>
                </a:cubicBezTo>
                <a:lnTo>
                  <a:pt x="0" y="117635"/>
                </a:lnTo>
                <a:cubicBezTo>
                  <a:pt x="0" y="52667"/>
                  <a:pt x="52667" y="0"/>
                  <a:pt x="11763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995959" y="4108813"/>
            <a:ext cx="672198" cy="235269"/>
          </a:xfrm>
          <a:prstGeom prst="rect">
            <a:avLst/>
          </a:prstGeom>
          <a:noFill/>
          <a:ln/>
        </p:spPr>
        <p:txBody>
          <a:bodyPr wrap="square" lIns="100830" tIns="33610" rIns="100830" bIns="3361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79410" y="4411303"/>
            <a:ext cx="538599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ma trận 1x1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8581" y="4747402"/>
            <a:ext cx="5528833" cy="672198"/>
          </a:xfrm>
          <a:custGeom>
            <a:avLst/>
            <a:gdLst/>
            <a:ahLst/>
            <a:cxnLst/>
            <a:rect l="l" t="t" r="r" b="b"/>
            <a:pathLst>
              <a:path w="5528833" h="672198">
                <a:moveTo>
                  <a:pt x="67220" y="0"/>
                </a:moveTo>
                <a:lnTo>
                  <a:pt x="5461613" y="0"/>
                </a:lnTo>
                <a:cubicBezTo>
                  <a:pt x="5498737" y="0"/>
                  <a:pt x="5528833" y="30095"/>
                  <a:pt x="5528833" y="67220"/>
                </a:cubicBezTo>
                <a:lnTo>
                  <a:pt x="5528833" y="604979"/>
                </a:lnTo>
                <a:cubicBezTo>
                  <a:pt x="5528833" y="642103"/>
                  <a:pt x="5498737" y="672198"/>
                  <a:pt x="5461613" y="672198"/>
                </a:cubicBezTo>
                <a:lnTo>
                  <a:pt x="67220" y="672198"/>
                </a:lnTo>
                <a:cubicBezTo>
                  <a:pt x="30095" y="672198"/>
                  <a:pt x="0" y="642103"/>
                  <a:pt x="0" y="6049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0" name="Text 48"/>
          <p:cNvSpPr/>
          <p:nvPr/>
        </p:nvSpPr>
        <p:spPr>
          <a:xfrm>
            <a:off x="6279410" y="4865037"/>
            <a:ext cx="135279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test_large_dataframes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995959" y="4848232"/>
            <a:ext cx="613381" cy="235269"/>
          </a:xfrm>
          <a:custGeom>
            <a:avLst/>
            <a:gdLst/>
            <a:ahLst/>
            <a:cxnLst/>
            <a:rect l="l" t="t" r="r" b="b"/>
            <a:pathLst>
              <a:path w="613381" h="235269">
                <a:moveTo>
                  <a:pt x="117635" y="0"/>
                </a:moveTo>
                <a:lnTo>
                  <a:pt x="495746" y="0"/>
                </a:lnTo>
                <a:cubicBezTo>
                  <a:pt x="560714" y="0"/>
                  <a:pt x="613381" y="52667"/>
                  <a:pt x="613381" y="117635"/>
                </a:cubicBezTo>
                <a:lnTo>
                  <a:pt x="613381" y="117635"/>
                </a:lnTo>
                <a:cubicBezTo>
                  <a:pt x="613381" y="182603"/>
                  <a:pt x="560714" y="235269"/>
                  <a:pt x="495746" y="235269"/>
                </a:cubicBezTo>
                <a:lnTo>
                  <a:pt x="117635" y="235269"/>
                </a:lnTo>
                <a:cubicBezTo>
                  <a:pt x="52667" y="235269"/>
                  <a:pt x="0" y="182603"/>
                  <a:pt x="0" y="117635"/>
                </a:cubicBezTo>
                <a:lnTo>
                  <a:pt x="0" y="117635"/>
                </a:lnTo>
                <a:cubicBezTo>
                  <a:pt x="0" y="52667"/>
                  <a:pt x="52667" y="0"/>
                  <a:pt x="11763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995959" y="4848232"/>
            <a:ext cx="672198" cy="235269"/>
          </a:xfrm>
          <a:prstGeom prst="rect">
            <a:avLst/>
          </a:prstGeom>
          <a:noFill/>
          <a:ln/>
        </p:spPr>
        <p:txBody>
          <a:bodyPr wrap="square" lIns="100830" tIns="33610" rIns="100830" bIns="3361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79410" y="5150721"/>
            <a:ext cx="538599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DataFrame lớn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8581" y="5486820"/>
            <a:ext cx="5528833" cy="672198"/>
          </a:xfrm>
          <a:custGeom>
            <a:avLst/>
            <a:gdLst/>
            <a:ahLst/>
            <a:cxnLst/>
            <a:rect l="l" t="t" r="r" b="b"/>
            <a:pathLst>
              <a:path w="5528833" h="672198">
                <a:moveTo>
                  <a:pt x="67220" y="0"/>
                </a:moveTo>
                <a:lnTo>
                  <a:pt x="5461613" y="0"/>
                </a:lnTo>
                <a:cubicBezTo>
                  <a:pt x="5498737" y="0"/>
                  <a:pt x="5528833" y="30095"/>
                  <a:pt x="5528833" y="67220"/>
                </a:cubicBezTo>
                <a:lnTo>
                  <a:pt x="5528833" y="604979"/>
                </a:lnTo>
                <a:cubicBezTo>
                  <a:pt x="5528833" y="642103"/>
                  <a:pt x="5498737" y="672198"/>
                  <a:pt x="5461613" y="672198"/>
                </a:cubicBezTo>
                <a:lnTo>
                  <a:pt x="67220" y="672198"/>
                </a:lnTo>
                <a:cubicBezTo>
                  <a:pt x="30095" y="672198"/>
                  <a:pt x="0" y="642103"/>
                  <a:pt x="0" y="6049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5" name="Text 53"/>
          <p:cNvSpPr/>
          <p:nvPr/>
        </p:nvSpPr>
        <p:spPr>
          <a:xfrm>
            <a:off x="6279410" y="5604455"/>
            <a:ext cx="260476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test_missing_keys_in_json_raises_key_error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995959" y="5587650"/>
            <a:ext cx="613381" cy="235269"/>
          </a:xfrm>
          <a:custGeom>
            <a:avLst/>
            <a:gdLst/>
            <a:ahLst/>
            <a:cxnLst/>
            <a:rect l="l" t="t" r="r" b="b"/>
            <a:pathLst>
              <a:path w="613381" h="235269">
                <a:moveTo>
                  <a:pt x="117635" y="0"/>
                </a:moveTo>
                <a:lnTo>
                  <a:pt x="495746" y="0"/>
                </a:lnTo>
                <a:cubicBezTo>
                  <a:pt x="560714" y="0"/>
                  <a:pt x="613381" y="52667"/>
                  <a:pt x="613381" y="117635"/>
                </a:cubicBezTo>
                <a:lnTo>
                  <a:pt x="613381" y="117635"/>
                </a:lnTo>
                <a:cubicBezTo>
                  <a:pt x="613381" y="182603"/>
                  <a:pt x="560714" y="235269"/>
                  <a:pt x="495746" y="235269"/>
                </a:cubicBezTo>
                <a:lnTo>
                  <a:pt x="117635" y="235269"/>
                </a:lnTo>
                <a:cubicBezTo>
                  <a:pt x="52667" y="235269"/>
                  <a:pt x="0" y="182603"/>
                  <a:pt x="0" y="117635"/>
                </a:cubicBezTo>
                <a:lnTo>
                  <a:pt x="0" y="117635"/>
                </a:lnTo>
                <a:cubicBezTo>
                  <a:pt x="0" y="52667"/>
                  <a:pt x="52667" y="0"/>
                  <a:pt x="11763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995959" y="5587650"/>
            <a:ext cx="672198" cy="235269"/>
          </a:xfrm>
          <a:prstGeom prst="rect">
            <a:avLst/>
          </a:prstGeom>
          <a:noFill/>
          <a:ln/>
        </p:spPr>
        <p:txBody>
          <a:bodyPr wrap="square" lIns="100830" tIns="33610" rIns="100830" bIns="3361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79410" y="5890139"/>
            <a:ext cx="538599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thiếu khóa JSON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2782" y="6230440"/>
            <a:ext cx="5520430" cy="478941"/>
          </a:xfrm>
          <a:custGeom>
            <a:avLst/>
            <a:gdLst/>
            <a:ahLst/>
            <a:cxnLst/>
            <a:rect l="l" t="t" r="r" b="b"/>
            <a:pathLst>
              <a:path w="5520430" h="478941">
                <a:moveTo>
                  <a:pt x="67219" y="0"/>
                </a:moveTo>
                <a:lnTo>
                  <a:pt x="5453211" y="0"/>
                </a:lnTo>
                <a:cubicBezTo>
                  <a:pt x="5490335" y="0"/>
                  <a:pt x="5520430" y="30095"/>
                  <a:pt x="5520430" y="67219"/>
                </a:cubicBezTo>
                <a:lnTo>
                  <a:pt x="5520430" y="411722"/>
                </a:lnTo>
                <a:cubicBezTo>
                  <a:pt x="5520430" y="448846"/>
                  <a:pt x="5490335" y="478941"/>
                  <a:pt x="5453211" y="478941"/>
                </a:cubicBezTo>
                <a:lnTo>
                  <a:pt x="67219" y="478941"/>
                </a:lnTo>
                <a:cubicBezTo>
                  <a:pt x="30095" y="478941"/>
                  <a:pt x="0" y="448846"/>
                  <a:pt x="0" y="411722"/>
                </a:cubicBezTo>
                <a:lnTo>
                  <a:pt x="0" y="67219"/>
                </a:lnTo>
                <a:cubicBezTo>
                  <a:pt x="0" y="30095"/>
                  <a:pt x="30095" y="0"/>
                  <a:pt x="6721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10000"/>
                </a:srgbClr>
              </a:gs>
            </a:gsLst>
            <a:lin ang="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87813" y="6352276"/>
            <a:ext cx="646991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Tổng kết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538155" y="6335471"/>
            <a:ext cx="115954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6/6 PASSED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7: ĐỌC VÀ HIỂU CƠ SỞ MÃ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Logging, Error Handling và Swagger UI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3695700" cy="5095875"/>
          </a:xfrm>
          <a:custGeom>
            <a:avLst/>
            <a:gdLst/>
            <a:ahLst/>
            <a:cxnLst/>
            <a:rect l="l" t="t" r="r" b="b"/>
            <a:pathLst>
              <a:path w="3695700" h="509587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981567"/>
                </a:lnTo>
                <a:cubicBezTo>
                  <a:pt x="3695700" y="5044698"/>
                  <a:pt x="3644523" y="5095875"/>
                  <a:pt x="3581392" y="5095875"/>
                </a:cubicBezTo>
                <a:lnTo>
                  <a:pt x="114308" y="5095875"/>
                </a:lnTo>
                <a:cubicBezTo>
                  <a:pt x="51177" y="5095875"/>
                  <a:pt x="0" y="5044698"/>
                  <a:pt x="0" y="49815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988" y="16287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159645"/>
            <a:ext cx="3381375" cy="1400175"/>
          </a:xfrm>
          <a:custGeom>
            <a:avLst/>
            <a:gdLst/>
            <a:ahLst/>
            <a:cxnLst/>
            <a:rect l="l" t="t" r="r" b="b"/>
            <a:pathLst>
              <a:path w="3381375" h="1400175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1323977"/>
                </a:lnTo>
                <a:cubicBezTo>
                  <a:pt x="3381375" y="1366060"/>
                  <a:pt x="3347260" y="1400175"/>
                  <a:pt x="33051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227394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Cấu hình logging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7225" y="2578745"/>
            <a:ext cx="3152775" cy="866775"/>
          </a:xfrm>
          <a:custGeom>
            <a:avLst/>
            <a:gdLst/>
            <a:ahLst/>
            <a:cxnLst/>
            <a:rect l="l" t="t" r="r" b="b"/>
            <a:pathLst>
              <a:path w="3152775" h="866775">
                <a:moveTo>
                  <a:pt x="76198" y="0"/>
                </a:moveTo>
                <a:lnTo>
                  <a:pt x="3076577" y="0"/>
                </a:lnTo>
                <a:cubicBezTo>
                  <a:pt x="3118660" y="0"/>
                  <a:pt x="3152775" y="34115"/>
                  <a:pt x="3152775" y="76198"/>
                </a:cubicBezTo>
                <a:lnTo>
                  <a:pt x="3152775" y="790577"/>
                </a:lnTo>
                <a:cubicBezTo>
                  <a:pt x="3152775" y="832660"/>
                  <a:pt x="3118660" y="866775"/>
                  <a:pt x="3076577" y="866775"/>
                </a:cubicBezTo>
                <a:lnTo>
                  <a:pt x="76198" y="866775"/>
                </a:lnTo>
                <a:cubicBezTo>
                  <a:pt x="34143" y="866775"/>
                  <a:pt x="0" y="832632"/>
                  <a:pt x="0" y="7905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71525" y="269304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logging.basicConfig(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525" y="285303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level=logging.INFO,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1525" y="3013025"/>
            <a:ext cx="2981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format="%(asctime)s - %(levelname)s - %(message)s")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3899446"/>
            <a:ext cx="3381375" cy="1238250"/>
          </a:xfrm>
          <a:custGeom>
            <a:avLst/>
            <a:gdLst/>
            <a:ahLst/>
            <a:cxnLst/>
            <a:rect l="l" t="t" r="r" b="b"/>
            <a:pathLst>
              <a:path w="3381375" h="123825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1162048"/>
                </a:lnTo>
                <a:cubicBezTo>
                  <a:pt x="3381375" y="1204133"/>
                  <a:pt x="3347258" y="1238250"/>
                  <a:pt x="3305173" y="1238250"/>
                </a:cubicBezTo>
                <a:lnTo>
                  <a:pt x="76202" y="1238250"/>
                </a:lnTo>
                <a:cubicBezTo>
                  <a:pt x="34117" y="1238250"/>
                  <a:pt x="0" y="1204133"/>
                  <a:pt x="0" y="1162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57225" y="4013746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khi chạy server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7225" y="4318546"/>
            <a:ext cx="3152775" cy="704850"/>
          </a:xfrm>
          <a:custGeom>
            <a:avLst/>
            <a:gdLst/>
            <a:ahLst/>
            <a:cxnLst/>
            <a:rect l="l" t="t" r="r" b="b"/>
            <a:pathLst>
              <a:path w="3152775" h="704850">
                <a:moveTo>
                  <a:pt x="76201" y="0"/>
                </a:moveTo>
                <a:lnTo>
                  <a:pt x="3076574" y="0"/>
                </a:lnTo>
                <a:cubicBezTo>
                  <a:pt x="3118659" y="0"/>
                  <a:pt x="3152775" y="34116"/>
                  <a:pt x="3152775" y="76201"/>
                </a:cubicBezTo>
                <a:lnTo>
                  <a:pt x="3152775" y="628649"/>
                </a:lnTo>
                <a:cubicBezTo>
                  <a:pt x="3152775" y="670734"/>
                  <a:pt x="3118659" y="704850"/>
                  <a:pt x="307657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71525" y="4432846"/>
            <a:ext cx="2981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 - Incoming request: method=POST path=/manhattan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1525" y="475282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 - Calculated Manhattan distance: 6.0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7688" y="5484168"/>
            <a:ext cx="3371850" cy="695325"/>
          </a:xfrm>
          <a:custGeom>
            <a:avLst/>
            <a:gdLst/>
            <a:ahLst/>
            <a:cxnLst/>
            <a:rect l="l" t="t" r="r" b="b"/>
            <a:pathLst>
              <a:path w="3371850" h="695325">
                <a:moveTo>
                  <a:pt x="76201" y="0"/>
                </a:moveTo>
                <a:lnTo>
                  <a:pt x="3295649" y="0"/>
                </a:lnTo>
                <a:cubicBezTo>
                  <a:pt x="3337734" y="0"/>
                  <a:pt x="3371850" y="34116"/>
                  <a:pt x="3371850" y="76201"/>
                </a:cubicBezTo>
                <a:lnTo>
                  <a:pt x="3371850" y="619124"/>
                </a:lnTo>
                <a:cubicBezTo>
                  <a:pt x="3371850" y="661209"/>
                  <a:pt x="3337734" y="695325"/>
                  <a:pt x="32956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64133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603230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Giúp theo dõi request, dữ liệu đầu vào/ra và hỗ trợ gỡ lỗi.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6513" y="1376363"/>
            <a:ext cx="3695700" cy="5095875"/>
          </a:xfrm>
          <a:custGeom>
            <a:avLst/>
            <a:gdLst/>
            <a:ahLst/>
            <a:cxnLst/>
            <a:rect l="l" t="t" r="r" b="b"/>
            <a:pathLst>
              <a:path w="3695700" h="509587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981567"/>
                </a:lnTo>
                <a:cubicBezTo>
                  <a:pt x="3695700" y="5044698"/>
                  <a:pt x="3644523" y="5095875"/>
                  <a:pt x="3581392" y="5095875"/>
                </a:cubicBezTo>
                <a:lnTo>
                  <a:pt x="114308" y="5095875"/>
                </a:lnTo>
                <a:cubicBezTo>
                  <a:pt x="51177" y="5095875"/>
                  <a:pt x="0" y="5044698"/>
                  <a:pt x="0" y="49815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367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9892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98975" y="1590675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3675" y="2131665"/>
            <a:ext cx="3381375" cy="1409700"/>
          </a:xfrm>
          <a:custGeom>
            <a:avLst/>
            <a:gdLst/>
            <a:ahLst/>
            <a:cxnLst/>
            <a:rect l="l" t="t" r="r" b="b"/>
            <a:pathLst>
              <a:path w="3381375" h="1409700">
                <a:moveTo>
                  <a:pt x="76194" y="0"/>
                </a:moveTo>
                <a:lnTo>
                  <a:pt x="3305181" y="0"/>
                </a:lnTo>
                <a:cubicBezTo>
                  <a:pt x="3347233" y="0"/>
                  <a:pt x="3381375" y="34142"/>
                  <a:pt x="3381375" y="76194"/>
                </a:cubicBezTo>
                <a:lnTo>
                  <a:pt x="3381375" y="1333506"/>
                </a:lnTo>
                <a:cubicBezTo>
                  <a:pt x="3381375" y="1375587"/>
                  <a:pt x="3347262" y="1409700"/>
                  <a:pt x="3305181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17975" y="224596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trường hợp lỗi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37025" y="25888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4760863" y="255076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không hợp lệ → </a:t>
            </a:r>
            <a:r>
              <a:rPr lang="en-US" sz="10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37025" y="28174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760863" y="2779365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Thiếu df1/df2 → </a:t>
            </a:r>
            <a:r>
              <a:rPr lang="en-US" sz="10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37025" y="30460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760863" y="300796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 không khớp → </a:t>
            </a:r>
            <a:r>
              <a:rPr lang="en-US" sz="10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37025" y="32746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760863" y="3236565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Lỗi không lường trước → </a:t>
            </a:r>
            <a:r>
              <a:rPr lang="en-US" sz="10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03675" y="3823395"/>
            <a:ext cx="3381375" cy="1400175"/>
          </a:xfrm>
          <a:custGeom>
            <a:avLst/>
            <a:gdLst/>
            <a:ahLst/>
            <a:cxnLst/>
            <a:rect l="l" t="t" r="r" b="b"/>
            <a:pathLst>
              <a:path w="3381375" h="1400175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1323977"/>
                </a:lnTo>
                <a:cubicBezTo>
                  <a:pt x="3381375" y="1366060"/>
                  <a:pt x="3347260" y="1400175"/>
                  <a:pt x="33051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4517975" y="393769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lỗi mẫu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17975" y="4242495"/>
            <a:ext cx="3152775" cy="866775"/>
          </a:xfrm>
          <a:custGeom>
            <a:avLst/>
            <a:gdLst/>
            <a:ahLst/>
            <a:cxnLst/>
            <a:rect l="l" t="t" r="r" b="b"/>
            <a:pathLst>
              <a:path w="3152775" h="866775">
                <a:moveTo>
                  <a:pt x="76198" y="0"/>
                </a:moveTo>
                <a:lnTo>
                  <a:pt x="3076577" y="0"/>
                </a:lnTo>
                <a:cubicBezTo>
                  <a:pt x="3118660" y="0"/>
                  <a:pt x="3152775" y="34115"/>
                  <a:pt x="3152775" y="76198"/>
                </a:cubicBezTo>
                <a:lnTo>
                  <a:pt x="3152775" y="790577"/>
                </a:lnTo>
                <a:cubicBezTo>
                  <a:pt x="3152775" y="832660"/>
                  <a:pt x="3118660" y="866775"/>
                  <a:pt x="3076577" y="866775"/>
                </a:cubicBezTo>
                <a:lnTo>
                  <a:pt x="76198" y="866775"/>
                </a:lnTo>
                <a:cubicBezTo>
                  <a:pt x="34143" y="866775"/>
                  <a:pt x="0" y="832632"/>
                  <a:pt x="0" y="7905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4632275" y="435679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32275" y="4516785"/>
            <a:ext cx="2981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"error": "JSON payload must include df1 and df2."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32275" y="483676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08438" y="5511998"/>
            <a:ext cx="3371850" cy="695325"/>
          </a:xfrm>
          <a:custGeom>
            <a:avLst/>
            <a:gdLst/>
            <a:ahLst/>
            <a:cxnLst/>
            <a:rect l="l" t="t" r="r" b="b"/>
            <a:pathLst>
              <a:path w="3371850" h="695325">
                <a:moveTo>
                  <a:pt x="76201" y="0"/>
                </a:moveTo>
                <a:lnTo>
                  <a:pt x="3295649" y="0"/>
                </a:lnTo>
                <a:cubicBezTo>
                  <a:pt x="3337734" y="0"/>
                  <a:pt x="3371850" y="34116"/>
                  <a:pt x="3371850" y="76201"/>
                </a:cubicBezTo>
                <a:lnTo>
                  <a:pt x="3371850" y="619124"/>
                </a:lnTo>
                <a:cubicBezTo>
                  <a:pt x="3371850" y="661209"/>
                  <a:pt x="3337734" y="695325"/>
                  <a:pt x="32956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46550" y="56691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4775150" y="5631061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Tất cả lỗi đều trả JSON rõ ràng để client dễ xử lý.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07263" y="1376363"/>
            <a:ext cx="3695700" cy="5095875"/>
          </a:xfrm>
          <a:custGeom>
            <a:avLst/>
            <a:gdLst/>
            <a:ahLst/>
            <a:cxnLst/>
            <a:rect l="l" t="t" r="r" b="b"/>
            <a:pathLst>
              <a:path w="3695700" h="509587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981567"/>
                </a:lnTo>
                <a:cubicBezTo>
                  <a:pt x="3695700" y="5044698"/>
                  <a:pt x="3644523" y="5095875"/>
                  <a:pt x="3581392" y="5095875"/>
                </a:cubicBezTo>
                <a:lnTo>
                  <a:pt x="114308" y="5095875"/>
                </a:lnTo>
                <a:cubicBezTo>
                  <a:pt x="51177" y="5095875"/>
                  <a:pt x="0" y="5044698"/>
                  <a:pt x="0" y="49815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64426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371582" y="16287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8759726" y="159067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Swagger UI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4426" y="2049214"/>
            <a:ext cx="3381375" cy="1238250"/>
          </a:xfrm>
          <a:custGeom>
            <a:avLst/>
            <a:gdLst/>
            <a:ahLst/>
            <a:cxnLst/>
            <a:rect l="l" t="t" r="r" b="b"/>
            <a:pathLst>
              <a:path w="3381375" h="123825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1162048"/>
                </a:lnTo>
                <a:cubicBezTo>
                  <a:pt x="3381375" y="1204133"/>
                  <a:pt x="3347258" y="1238250"/>
                  <a:pt x="3305173" y="1238250"/>
                </a:cubicBezTo>
                <a:lnTo>
                  <a:pt x="76202" y="1238250"/>
                </a:lnTo>
                <a:cubicBezTo>
                  <a:pt x="34117" y="1238250"/>
                  <a:pt x="0" y="1204133"/>
                  <a:pt x="0" y="1162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8378726" y="2163514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Tích hợp Flasgger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78726" y="2468314"/>
            <a:ext cx="3152775" cy="704850"/>
          </a:xfrm>
          <a:custGeom>
            <a:avLst/>
            <a:gdLst/>
            <a:ahLst/>
            <a:cxnLst/>
            <a:rect l="l" t="t" r="r" b="b"/>
            <a:pathLst>
              <a:path w="3152775" h="704850">
                <a:moveTo>
                  <a:pt x="76201" y="0"/>
                </a:moveTo>
                <a:lnTo>
                  <a:pt x="3076574" y="0"/>
                </a:lnTo>
                <a:cubicBezTo>
                  <a:pt x="3118659" y="0"/>
                  <a:pt x="3152775" y="34116"/>
                  <a:pt x="3152775" y="76201"/>
                </a:cubicBezTo>
                <a:lnTo>
                  <a:pt x="3152775" y="628649"/>
                </a:lnTo>
                <a:cubicBezTo>
                  <a:pt x="3152775" y="670734"/>
                  <a:pt x="3118659" y="704850"/>
                  <a:pt x="307657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3" name="Text 51"/>
          <p:cNvSpPr/>
          <p:nvPr/>
        </p:nvSpPr>
        <p:spPr>
          <a:xfrm>
            <a:off x="8493026" y="2582614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flasgger import Swagger, swag_from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93026" y="274260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 = Flask(__name__)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93026" y="290259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Swagger(app)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64426" y="3408462"/>
            <a:ext cx="3381375" cy="1238250"/>
          </a:xfrm>
          <a:custGeom>
            <a:avLst/>
            <a:gdLst/>
            <a:ahLst/>
            <a:cxnLst/>
            <a:rect l="l" t="t" r="r" b="b"/>
            <a:pathLst>
              <a:path w="3381375" h="1238250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1162048"/>
                </a:lnTo>
                <a:cubicBezTo>
                  <a:pt x="3381375" y="1204133"/>
                  <a:pt x="3347258" y="1238250"/>
                  <a:pt x="3305173" y="1238250"/>
                </a:cubicBezTo>
                <a:lnTo>
                  <a:pt x="76202" y="1238250"/>
                </a:lnTo>
                <a:cubicBezTo>
                  <a:pt x="34117" y="1238250"/>
                  <a:pt x="0" y="1204133"/>
                  <a:pt x="0" y="1162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7" name="Text 55"/>
          <p:cNvSpPr/>
          <p:nvPr/>
        </p:nvSpPr>
        <p:spPr>
          <a:xfrm>
            <a:off x="8378726" y="3522762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tả schema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78726" y="3827562"/>
            <a:ext cx="3152775" cy="704850"/>
          </a:xfrm>
          <a:custGeom>
            <a:avLst/>
            <a:gdLst/>
            <a:ahLst/>
            <a:cxnLst/>
            <a:rect l="l" t="t" r="r" b="b"/>
            <a:pathLst>
              <a:path w="3152775" h="704850">
                <a:moveTo>
                  <a:pt x="76201" y="0"/>
                </a:moveTo>
                <a:lnTo>
                  <a:pt x="3076574" y="0"/>
                </a:lnTo>
                <a:cubicBezTo>
                  <a:pt x="3118659" y="0"/>
                  <a:pt x="3152775" y="34116"/>
                  <a:pt x="3152775" y="76201"/>
                </a:cubicBezTo>
                <a:lnTo>
                  <a:pt x="3152775" y="628649"/>
                </a:lnTo>
                <a:cubicBezTo>
                  <a:pt x="3152775" y="670734"/>
                  <a:pt x="3118659" y="704850"/>
                  <a:pt x="307657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9" name="Text 57"/>
          <p:cNvSpPr/>
          <p:nvPr/>
        </p:nvSpPr>
        <p:spPr>
          <a:xfrm>
            <a:off x="8493026" y="3941862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@swag_from({...})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93026" y="4101852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Mô tả chi tiết endpoint,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93026" y="4261842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schema request/response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64426" y="4767560"/>
            <a:ext cx="3381375" cy="933450"/>
          </a:xfrm>
          <a:custGeom>
            <a:avLst/>
            <a:gdLst/>
            <a:ahLst/>
            <a:cxnLst/>
            <a:rect l="l" t="t" r="r" b="b"/>
            <a:pathLst>
              <a:path w="3381375" h="93345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857252"/>
                </a:lnTo>
                <a:cubicBezTo>
                  <a:pt x="3381375" y="899335"/>
                  <a:pt x="3347260" y="933450"/>
                  <a:pt x="3305177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3" name="Text 61"/>
          <p:cNvSpPr/>
          <p:nvPr/>
        </p:nvSpPr>
        <p:spPr>
          <a:xfrm>
            <a:off x="8378726" y="4881860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Truy cập Swagger UI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83488" y="5191423"/>
            <a:ext cx="3143250" cy="390525"/>
          </a:xfrm>
          <a:custGeom>
            <a:avLst/>
            <a:gdLst/>
            <a:ahLst/>
            <a:cxnLst/>
            <a:rect l="l" t="t" r="r" b="b"/>
            <a:pathLst>
              <a:path w="3143250" h="390525">
                <a:moveTo>
                  <a:pt x="76199" y="0"/>
                </a:moveTo>
                <a:lnTo>
                  <a:pt x="3067051" y="0"/>
                </a:lnTo>
                <a:cubicBezTo>
                  <a:pt x="3109134" y="0"/>
                  <a:pt x="3143250" y="34116"/>
                  <a:pt x="3143250" y="76199"/>
                </a:cubicBezTo>
                <a:lnTo>
                  <a:pt x="3143250" y="314326"/>
                </a:lnTo>
                <a:cubicBezTo>
                  <a:pt x="3143250" y="356409"/>
                  <a:pt x="3109134" y="390525"/>
                  <a:pt x="30670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64451" y="5272385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http://127.0.0.1:5000/apidocs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69188" y="5823049"/>
            <a:ext cx="3371850" cy="466725"/>
          </a:xfrm>
          <a:custGeom>
            <a:avLst/>
            <a:gdLst/>
            <a:ahLst/>
            <a:cxnLst/>
            <a:rect l="l" t="t" r="r" b="b"/>
            <a:pathLst>
              <a:path w="3371850" h="466725">
                <a:moveTo>
                  <a:pt x="76202" y="0"/>
                </a:moveTo>
                <a:lnTo>
                  <a:pt x="3295648" y="0"/>
                </a:lnTo>
                <a:cubicBezTo>
                  <a:pt x="3337733" y="0"/>
                  <a:pt x="3371850" y="34117"/>
                  <a:pt x="3371850" y="76202"/>
                </a:cubicBezTo>
                <a:lnTo>
                  <a:pt x="3371850" y="390523"/>
                </a:lnTo>
                <a:cubicBezTo>
                  <a:pt x="3371850" y="432608"/>
                  <a:pt x="3337733" y="466725"/>
                  <a:pt x="329564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07301" y="59802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8635901" y="5942112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Giao diện tương tác với nút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 it out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ms.codeanywhere.com/3489dc320d31a1dfffcc4e49c19c72e835737b03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4742" b="474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96641"/>
            <a:ext cx="1171575" cy="390525"/>
          </a:xfrm>
          <a:custGeom>
            <a:avLst/>
            <a:gdLst/>
            <a:ahLst/>
            <a:cxnLst/>
            <a:rect l="l" t="t" r="r" b="b"/>
            <a:pathLst>
              <a:path w="1171575" h="390525">
                <a:moveTo>
                  <a:pt x="195263" y="0"/>
                </a:moveTo>
                <a:lnTo>
                  <a:pt x="976312" y="0"/>
                </a:lnTo>
                <a:cubicBezTo>
                  <a:pt x="1084081" y="0"/>
                  <a:pt x="1171575" y="87494"/>
                  <a:pt x="1171575" y="195263"/>
                </a:cubicBezTo>
                <a:lnTo>
                  <a:pt x="1171575" y="195263"/>
                </a:lnTo>
                <a:cubicBezTo>
                  <a:pt x="1171575" y="303031"/>
                  <a:pt x="1084081" y="390525"/>
                  <a:pt x="976312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806178"/>
            <a:ext cx="930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7292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Giới thiệu về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30278"/>
            <a:ext cx="86772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1F5F9">
                    <a:alpha val="8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Few-shot Learning và các kỹ thuật cơ bản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491847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4899422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Nghệ thuật viết prompt hiệu quả cho GenAI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8: GIỚI THIỆU PROMPT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Bối cảnh và Lý thuyết nền tảng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5448300" cy="5191125"/>
          </a:xfrm>
          <a:custGeom>
            <a:avLst/>
            <a:gdLst/>
            <a:ahLst/>
            <a:cxnLst/>
            <a:rect l="l" t="t" r="r" b="b"/>
            <a:pathLst>
              <a:path w="5448300" h="5191125">
                <a:moveTo>
                  <a:pt x="114309" y="0"/>
                </a:moveTo>
                <a:lnTo>
                  <a:pt x="5333991" y="0"/>
                </a:lnTo>
                <a:cubicBezTo>
                  <a:pt x="5397122" y="0"/>
                  <a:pt x="5448300" y="51178"/>
                  <a:pt x="5448300" y="114309"/>
                </a:cubicBezTo>
                <a:lnTo>
                  <a:pt x="5448300" y="5076816"/>
                </a:lnTo>
                <a:cubicBezTo>
                  <a:pt x="5448300" y="5139947"/>
                  <a:pt x="5397122" y="5191125"/>
                  <a:pt x="5333991" y="5191125"/>
                </a:cubicBezTo>
                <a:lnTo>
                  <a:pt x="114309" y="5191125"/>
                </a:lnTo>
                <a:cubicBezTo>
                  <a:pt x="51178" y="5191125"/>
                  <a:pt x="0" y="5139947"/>
                  <a:pt x="0" y="507681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6269" y="16287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Bối cảnh và ý nghĩa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028825"/>
            <a:ext cx="5133975" cy="723900"/>
          </a:xfrm>
          <a:custGeom>
            <a:avLst/>
            <a:gdLst/>
            <a:ahLst/>
            <a:cxnLst/>
            <a:rect l="l" t="t" r="r" b="b"/>
            <a:pathLst>
              <a:path w="5133975" h="723900">
                <a:moveTo>
                  <a:pt x="76198" y="0"/>
                </a:moveTo>
                <a:lnTo>
                  <a:pt x="5057777" y="0"/>
                </a:lnTo>
                <a:cubicBezTo>
                  <a:pt x="5099832" y="0"/>
                  <a:pt x="5133975" y="34143"/>
                  <a:pt x="5133975" y="76198"/>
                </a:cubicBezTo>
                <a:lnTo>
                  <a:pt x="5133975" y="647702"/>
                </a:lnTo>
                <a:cubicBezTo>
                  <a:pt x="5133975" y="689757"/>
                  <a:pt x="5099832" y="723900"/>
                  <a:pt x="50577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2143125"/>
            <a:ext cx="4981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Engineering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là lĩnh vực khoa học phát triển từ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năm 2020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khi các Large Language Models (LLM) trở nên phổ biến.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867025"/>
            <a:ext cx="5133975" cy="1866900"/>
          </a:xfrm>
          <a:custGeom>
            <a:avLst/>
            <a:gdLst/>
            <a:ahLst/>
            <a:cxnLst/>
            <a:rect l="l" t="t" r="r" b="b"/>
            <a:pathLst>
              <a:path w="5133975" h="1866900">
                <a:moveTo>
                  <a:pt x="76207" y="0"/>
                </a:moveTo>
                <a:lnTo>
                  <a:pt x="5057768" y="0"/>
                </a:lnTo>
                <a:cubicBezTo>
                  <a:pt x="5099856" y="0"/>
                  <a:pt x="5133975" y="34119"/>
                  <a:pt x="5133975" y="76207"/>
                </a:cubicBezTo>
                <a:lnTo>
                  <a:pt x="5133975" y="1790693"/>
                </a:lnTo>
                <a:cubicBezTo>
                  <a:pt x="5133975" y="1832781"/>
                  <a:pt x="5099856" y="1866900"/>
                  <a:pt x="5057768" y="1866900"/>
                </a:cubicBezTo>
                <a:lnTo>
                  <a:pt x="76207" y="1866900"/>
                </a:lnTo>
                <a:cubicBezTo>
                  <a:pt x="34119" y="1866900"/>
                  <a:pt x="0" y="1832781"/>
                  <a:pt x="0" y="17906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57225" y="29813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3286125"/>
            <a:ext cx="4981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Phát triển kỹ năng soạn các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"prompt"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(câu lệnh/yêu cầu) một cách có phương pháp để đạt được kết quả: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275" y="3895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923925" y="3857625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Đáng tin cậy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275" y="416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923925" y="4124325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 thể dự đoán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275" y="4429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25" y="4391025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 muốn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925" y="4848225"/>
            <a:ext cx="5133975" cy="1562100"/>
          </a:xfrm>
          <a:custGeom>
            <a:avLst/>
            <a:gdLst/>
            <a:ahLst/>
            <a:cxnLst/>
            <a:rect l="l" t="t" r="r" b="b"/>
            <a:pathLst>
              <a:path w="5133975" h="1562100">
                <a:moveTo>
                  <a:pt x="76199" y="0"/>
                </a:moveTo>
                <a:lnTo>
                  <a:pt x="5057776" y="0"/>
                </a:lnTo>
                <a:cubicBezTo>
                  <a:pt x="5099859" y="0"/>
                  <a:pt x="5133975" y="34116"/>
                  <a:pt x="5133975" y="76199"/>
                </a:cubicBezTo>
                <a:lnTo>
                  <a:pt x="5133975" y="1485901"/>
                </a:lnTo>
                <a:cubicBezTo>
                  <a:pt x="5133975" y="1527984"/>
                  <a:pt x="5099859" y="1562100"/>
                  <a:pt x="50577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225" y="49625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chủ đề chính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7225" y="52673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Ứng dụng Prompt Engineering trong coding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7225" y="55340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Cải thiện prompts bằng few-shot examples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7225" y="58007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Few-shot Learning với ChatGPT, Copilot, OpenAI API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7225" y="60674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Các kỹ thuật Prompt Engineering khác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34088" y="1376363"/>
            <a:ext cx="5772150" cy="5191125"/>
          </a:xfrm>
          <a:custGeom>
            <a:avLst/>
            <a:gdLst/>
            <a:ahLst/>
            <a:cxnLst/>
            <a:rect l="l" t="t" r="r" b="b"/>
            <a:pathLst>
              <a:path w="5772150" h="5191125">
                <a:moveTo>
                  <a:pt x="114309" y="0"/>
                </a:moveTo>
                <a:lnTo>
                  <a:pt x="5657841" y="0"/>
                </a:lnTo>
                <a:cubicBezTo>
                  <a:pt x="5720972" y="0"/>
                  <a:pt x="5772150" y="51178"/>
                  <a:pt x="5772150" y="114309"/>
                </a:cubicBezTo>
                <a:lnTo>
                  <a:pt x="5772150" y="5076816"/>
                </a:lnTo>
                <a:cubicBezTo>
                  <a:pt x="5772150" y="5139947"/>
                  <a:pt x="5720972" y="5191125"/>
                  <a:pt x="5657841" y="5191125"/>
                </a:cubicBezTo>
                <a:lnTo>
                  <a:pt x="114309" y="5191125"/>
                </a:lnTo>
                <a:cubicBezTo>
                  <a:pt x="51178" y="5191125"/>
                  <a:pt x="0" y="5139947"/>
                  <a:pt x="0" y="507681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1250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86500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686550" y="1590675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Lý thuyết nền tảng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1250" y="2139851"/>
            <a:ext cx="5457825" cy="1981200"/>
          </a:xfrm>
          <a:custGeom>
            <a:avLst/>
            <a:gdLst/>
            <a:ahLst/>
            <a:cxnLst/>
            <a:rect l="l" t="t" r="r" b="b"/>
            <a:pathLst>
              <a:path w="5457825" h="1981200">
                <a:moveTo>
                  <a:pt x="76197" y="0"/>
                </a:moveTo>
                <a:lnTo>
                  <a:pt x="5381628" y="0"/>
                </a:lnTo>
                <a:cubicBezTo>
                  <a:pt x="5423710" y="0"/>
                  <a:pt x="5457825" y="34115"/>
                  <a:pt x="5457825" y="76197"/>
                </a:cubicBezTo>
                <a:lnTo>
                  <a:pt x="5457825" y="1905003"/>
                </a:lnTo>
                <a:cubicBezTo>
                  <a:pt x="5457825" y="1947085"/>
                  <a:pt x="5423710" y="1981200"/>
                  <a:pt x="5381628" y="1981200"/>
                </a:cubicBezTo>
                <a:lnTo>
                  <a:pt x="76197" y="1981200"/>
                </a:lnTo>
                <a:cubicBezTo>
                  <a:pt x="34115" y="1981200"/>
                  <a:pt x="0" y="1947085"/>
                  <a:pt x="0" y="19050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6324600" y="229225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572250" y="2254151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Vấn đề cơ bản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05550" y="2558951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Khi chỉ dùng </a:t>
            </a: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Plain English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LLM có thể hiểu không đúng ý và tạo ra output không như mong muốn: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05550" y="3130451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Không tuân theo coding style nhất định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5550" y="3359051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Không sử dụng type hints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5550" y="3587651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Không có docstrings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5550" y="3816251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Logging style không consistent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1250" y="4457551"/>
            <a:ext cx="5457825" cy="1028700"/>
          </a:xfrm>
          <a:custGeom>
            <a:avLst/>
            <a:gdLst/>
            <a:ahLst/>
            <a:cxnLst/>
            <a:rect l="l" t="t" r="r" b="b"/>
            <a:pathLst>
              <a:path w="5457825" h="1028700">
                <a:moveTo>
                  <a:pt x="76196" y="0"/>
                </a:moveTo>
                <a:lnTo>
                  <a:pt x="5381629" y="0"/>
                </a:lnTo>
                <a:cubicBezTo>
                  <a:pt x="5423711" y="0"/>
                  <a:pt x="5457825" y="34114"/>
                  <a:pt x="5457825" y="76196"/>
                </a:cubicBezTo>
                <a:lnTo>
                  <a:pt x="5457825" y="952504"/>
                </a:lnTo>
                <a:cubicBezTo>
                  <a:pt x="5457825" y="994586"/>
                  <a:pt x="5423711" y="1028700"/>
                  <a:pt x="53816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9" name="Shape 37"/>
          <p:cNvSpPr/>
          <p:nvPr/>
        </p:nvSpPr>
        <p:spPr>
          <a:xfrm>
            <a:off x="6343650" y="460995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572250" y="4571851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Giải pháp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05550" y="4876651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Sử dụng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Learning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cung cấp ví dụ cụ thể về output mong muốn, giúp mô hình học từ các mẫu (patterns).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6013" y="5827663"/>
            <a:ext cx="5448300" cy="466725"/>
          </a:xfrm>
          <a:custGeom>
            <a:avLst/>
            <a:gdLst/>
            <a:ahLst/>
            <a:cxnLst/>
            <a:rect l="l" t="t" r="r" b="b"/>
            <a:pathLst>
              <a:path w="5448300" h="466725">
                <a:moveTo>
                  <a:pt x="76202" y="0"/>
                </a:moveTo>
                <a:lnTo>
                  <a:pt x="5372098" y="0"/>
                </a:lnTo>
                <a:cubicBezTo>
                  <a:pt x="5414183" y="0"/>
                  <a:pt x="5448300" y="34117"/>
                  <a:pt x="5448300" y="76202"/>
                </a:cubicBezTo>
                <a:lnTo>
                  <a:pt x="5448300" y="390523"/>
                </a:lnTo>
                <a:cubicBezTo>
                  <a:pt x="5448300" y="432608"/>
                  <a:pt x="5414183" y="466725"/>
                  <a:pt x="53720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4600" y="59848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6562725" y="5946725"/>
            <a:ext cx="503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8 tập trung vào kỹ thuật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Learning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 code generation.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8: GIỚI THIỆU PROMPT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Nguyên lý Few-shot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5448300" cy="3686175"/>
          </a:xfrm>
          <a:custGeom>
            <a:avLst/>
            <a:gdLst/>
            <a:ahLst/>
            <a:cxnLst/>
            <a:rect l="l" t="t" r="r" b="b"/>
            <a:pathLst>
              <a:path w="5448300" h="3686175">
                <a:moveTo>
                  <a:pt x="114308" y="0"/>
                </a:moveTo>
                <a:lnTo>
                  <a:pt x="5333992" y="0"/>
                </a:lnTo>
                <a:cubicBezTo>
                  <a:pt x="5397122" y="0"/>
                  <a:pt x="5448300" y="51178"/>
                  <a:pt x="5448300" y="114308"/>
                </a:cubicBezTo>
                <a:lnTo>
                  <a:pt x="5448300" y="3571867"/>
                </a:lnTo>
                <a:cubicBezTo>
                  <a:pt x="5448300" y="3634997"/>
                  <a:pt x="5397122" y="3686175"/>
                  <a:pt x="5333992" y="3686175"/>
                </a:cubicBezTo>
                <a:lnTo>
                  <a:pt x="114308" y="3686175"/>
                </a:lnTo>
                <a:cubicBezTo>
                  <a:pt x="51178" y="3686175"/>
                  <a:pt x="0" y="3634997"/>
                  <a:pt x="0" y="35718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Nguyên lý hoạt động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028825"/>
            <a:ext cx="5133975" cy="723900"/>
          </a:xfrm>
          <a:custGeom>
            <a:avLst/>
            <a:gdLst/>
            <a:ahLst/>
            <a:cxnLst/>
            <a:rect l="l" t="t" r="r" b="b"/>
            <a:pathLst>
              <a:path w="5133975" h="723900">
                <a:moveTo>
                  <a:pt x="76198" y="0"/>
                </a:moveTo>
                <a:lnTo>
                  <a:pt x="5057777" y="0"/>
                </a:lnTo>
                <a:cubicBezTo>
                  <a:pt x="5099832" y="0"/>
                  <a:pt x="5133975" y="34143"/>
                  <a:pt x="5133975" y="76198"/>
                </a:cubicBezTo>
                <a:lnTo>
                  <a:pt x="5133975" y="647702"/>
                </a:lnTo>
                <a:cubicBezTo>
                  <a:pt x="5133975" y="689757"/>
                  <a:pt x="5099832" y="723900"/>
                  <a:pt x="50577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2143125"/>
            <a:ext cx="4981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Learning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dựa trên những phát hiện từ paper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"Language Models are Few-Shot Learners"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(Brown et al., 2020):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867025"/>
            <a:ext cx="5133975" cy="1447800"/>
          </a:xfrm>
          <a:custGeom>
            <a:avLst/>
            <a:gdLst/>
            <a:ahLst/>
            <a:cxnLst/>
            <a:rect l="l" t="t" r="r" b="b"/>
            <a:pathLst>
              <a:path w="5133975" h="1447800">
                <a:moveTo>
                  <a:pt x="76198" y="0"/>
                </a:moveTo>
                <a:lnTo>
                  <a:pt x="5057777" y="0"/>
                </a:lnTo>
                <a:cubicBezTo>
                  <a:pt x="5099832" y="0"/>
                  <a:pt x="5133975" y="34143"/>
                  <a:pt x="5133975" y="76198"/>
                </a:cubicBezTo>
                <a:lnTo>
                  <a:pt x="5133975" y="1371602"/>
                </a:lnTo>
                <a:cubicBezTo>
                  <a:pt x="5133975" y="1413657"/>
                  <a:pt x="5099832" y="1447800"/>
                  <a:pt x="5057777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7225" y="2981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5366" y="30194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6325" y="2981325"/>
            <a:ext cx="4562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có khả năng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học từ một vài ví dụ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input-output mà không cần fine-tuning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7225" y="3514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0781" y="355282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6325" y="3514725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hình sẽ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suy luận các patterns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từ các ví dụ đó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7225" y="3895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68846" y="39338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6325" y="3895725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sẽ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với style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của các examples đã cung cấp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7688" y="4433888"/>
            <a:ext cx="5124450" cy="466725"/>
          </a:xfrm>
          <a:custGeom>
            <a:avLst/>
            <a:gdLst/>
            <a:ahLst/>
            <a:cxnLst/>
            <a:rect l="l" t="t" r="r" b="b"/>
            <a:pathLst>
              <a:path w="5124450" h="466725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90523"/>
                </a:lnTo>
                <a:cubicBezTo>
                  <a:pt x="5124450" y="432608"/>
                  <a:pt x="5090333" y="466725"/>
                  <a:pt x="504824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91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552950"/>
            <a:ext cx="471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Còn gọi là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In-context Learning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5224463"/>
            <a:ext cx="5448300" cy="1400175"/>
          </a:xfrm>
          <a:custGeom>
            <a:avLst/>
            <a:gdLst/>
            <a:ahLst/>
            <a:cxnLst/>
            <a:rect l="l" t="t" r="r" b="b"/>
            <a:pathLst>
              <a:path w="5448300" h="1400175">
                <a:moveTo>
                  <a:pt x="114296" y="0"/>
                </a:moveTo>
                <a:lnTo>
                  <a:pt x="5334004" y="0"/>
                </a:lnTo>
                <a:cubicBezTo>
                  <a:pt x="5397086" y="0"/>
                  <a:pt x="5448300" y="51214"/>
                  <a:pt x="5448300" y="114296"/>
                </a:cubicBezTo>
                <a:lnTo>
                  <a:pt x="5448300" y="1285879"/>
                </a:lnTo>
                <a:cubicBezTo>
                  <a:pt x="5448300" y="1348961"/>
                  <a:pt x="5397086" y="1400175"/>
                  <a:pt x="533400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738" y="541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895350" y="5381625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Tại sao Few-shot tốt hơn Plain English?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2925" y="5724525"/>
            <a:ext cx="5210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Mã code là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notation system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chính xác và ngắn gọn. LLM được huấn luyện trên hàng tỷ dòng code, nên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hiểu code tốt hơn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mô tả bằng tiếng Anh thông thường.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34088" y="1376363"/>
            <a:ext cx="5772150" cy="5248275"/>
          </a:xfrm>
          <a:custGeom>
            <a:avLst/>
            <a:gdLst/>
            <a:ahLst/>
            <a:cxnLst/>
            <a:rect l="l" t="t" r="r" b="b"/>
            <a:pathLst>
              <a:path w="5772150" h="5248275">
                <a:moveTo>
                  <a:pt x="114307" y="0"/>
                </a:moveTo>
                <a:lnTo>
                  <a:pt x="5657843" y="0"/>
                </a:lnTo>
                <a:cubicBezTo>
                  <a:pt x="5720973" y="0"/>
                  <a:pt x="5772150" y="51177"/>
                  <a:pt x="5772150" y="114307"/>
                </a:cubicBezTo>
                <a:lnTo>
                  <a:pt x="5772150" y="5133968"/>
                </a:lnTo>
                <a:cubicBezTo>
                  <a:pt x="5772150" y="5197098"/>
                  <a:pt x="5720973" y="5248275"/>
                  <a:pt x="5657843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1250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10313" y="16287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686550" y="1590675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Ví dụ đơn giản - Giải toán học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2049810"/>
            <a:ext cx="5457825" cy="762000"/>
          </a:xfrm>
          <a:custGeom>
            <a:avLst/>
            <a:gdLst/>
            <a:ahLst/>
            <a:cxnLst/>
            <a:rect l="l" t="t" r="r" b="b"/>
            <a:pathLst>
              <a:path w="5457825" h="762000">
                <a:moveTo>
                  <a:pt x="76200" y="0"/>
                </a:moveTo>
                <a:lnTo>
                  <a:pt x="5381625" y="0"/>
                </a:lnTo>
                <a:cubicBezTo>
                  <a:pt x="5423681" y="0"/>
                  <a:pt x="5457825" y="34144"/>
                  <a:pt x="5457825" y="76200"/>
                </a:cubicBezTo>
                <a:lnTo>
                  <a:pt x="5457825" y="685800"/>
                </a:lnTo>
                <a:cubicBezTo>
                  <a:pt x="5457825" y="727856"/>
                  <a:pt x="5423681" y="762000"/>
                  <a:pt x="53816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6305550" y="2164110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05550" y="2468910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 the following arithmetic problems.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2929979"/>
            <a:ext cx="5457825" cy="1724025"/>
          </a:xfrm>
          <a:custGeom>
            <a:avLst/>
            <a:gdLst/>
            <a:ahLst/>
            <a:cxnLst/>
            <a:rect l="l" t="t" r="r" b="b"/>
            <a:pathLst>
              <a:path w="5457825" h="1724025">
                <a:moveTo>
                  <a:pt x="76202" y="0"/>
                </a:moveTo>
                <a:lnTo>
                  <a:pt x="5381623" y="0"/>
                </a:lnTo>
                <a:cubicBezTo>
                  <a:pt x="5423708" y="0"/>
                  <a:pt x="5457825" y="34117"/>
                  <a:pt x="5457825" y="76202"/>
                </a:cubicBezTo>
                <a:lnTo>
                  <a:pt x="5457825" y="1647823"/>
                </a:lnTo>
                <a:cubicBezTo>
                  <a:pt x="5457825" y="1689908"/>
                  <a:pt x="5423708" y="1724025"/>
                  <a:pt x="5381623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6305550" y="3044279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5550" y="3349079"/>
            <a:ext cx="5229225" cy="1190625"/>
          </a:xfrm>
          <a:custGeom>
            <a:avLst/>
            <a:gdLst/>
            <a:ahLst/>
            <a:cxnLst/>
            <a:rect l="l" t="t" r="r" b="b"/>
            <a:pathLst>
              <a:path w="5229225" h="1190625">
                <a:moveTo>
                  <a:pt x="76200" y="0"/>
                </a:moveTo>
                <a:lnTo>
                  <a:pt x="5153025" y="0"/>
                </a:lnTo>
                <a:cubicBezTo>
                  <a:pt x="5195081" y="0"/>
                  <a:pt x="5229225" y="34144"/>
                  <a:pt x="5229225" y="76200"/>
                </a:cubicBezTo>
                <a:lnTo>
                  <a:pt x="5229225" y="1114425"/>
                </a:lnTo>
                <a:cubicBezTo>
                  <a:pt x="5229225" y="1156481"/>
                  <a:pt x="5195081" y="1190625"/>
                  <a:pt x="5153025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6419850" y="3463379"/>
            <a:ext cx="5057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Problem: What is 5 + 3?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9850" y="3623370"/>
            <a:ext cx="5057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Answer: 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19850" y="3783360"/>
            <a:ext cx="5057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Problem: What is 12 - 4?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19850" y="3943350"/>
            <a:ext cx="5057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Answer: 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9850" y="4103340"/>
            <a:ext cx="5057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Problem: What is 7 × 6?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19850" y="4263330"/>
            <a:ext cx="5057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Answer: 42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1250" y="4770090"/>
            <a:ext cx="5457825" cy="1085850"/>
          </a:xfrm>
          <a:custGeom>
            <a:avLst/>
            <a:gdLst/>
            <a:ahLst/>
            <a:cxnLst/>
            <a:rect l="l" t="t" r="r" b="b"/>
            <a:pathLst>
              <a:path w="5457825" h="1085850">
                <a:moveTo>
                  <a:pt x="76205" y="0"/>
                </a:moveTo>
                <a:lnTo>
                  <a:pt x="5381620" y="0"/>
                </a:lnTo>
                <a:cubicBezTo>
                  <a:pt x="5423707" y="0"/>
                  <a:pt x="5457825" y="34118"/>
                  <a:pt x="5457825" y="76205"/>
                </a:cubicBezTo>
                <a:lnTo>
                  <a:pt x="5457825" y="1009645"/>
                </a:lnTo>
                <a:cubicBezTo>
                  <a:pt x="5457825" y="1051732"/>
                  <a:pt x="5423707" y="1085850"/>
                  <a:pt x="5381620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6305550" y="4884390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Task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5550" y="5189190"/>
            <a:ext cx="5229225" cy="552450"/>
          </a:xfrm>
          <a:custGeom>
            <a:avLst/>
            <a:gdLst/>
            <a:ahLst/>
            <a:cxnLst/>
            <a:rect l="l" t="t" r="r" b="b"/>
            <a:pathLst>
              <a:path w="5229225" h="552450">
                <a:moveTo>
                  <a:pt x="76199" y="0"/>
                </a:moveTo>
                <a:lnTo>
                  <a:pt x="5153026" y="0"/>
                </a:lnTo>
                <a:cubicBezTo>
                  <a:pt x="5195109" y="0"/>
                  <a:pt x="5229225" y="34116"/>
                  <a:pt x="5229225" y="76199"/>
                </a:cubicBezTo>
                <a:lnTo>
                  <a:pt x="5229225" y="476251"/>
                </a:lnTo>
                <a:cubicBezTo>
                  <a:pt x="5229225" y="518334"/>
                  <a:pt x="5195109" y="552450"/>
                  <a:pt x="5153026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6419850" y="5303490"/>
            <a:ext cx="5057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Problem: What is 15 ÷ 3?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19850" y="5463480"/>
            <a:ext cx="5057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Answer: [Model sẽ trả lờii: 5]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6013" y="5975003"/>
            <a:ext cx="5448300" cy="466725"/>
          </a:xfrm>
          <a:custGeom>
            <a:avLst/>
            <a:gdLst/>
            <a:ahLst/>
            <a:cxnLst/>
            <a:rect l="l" t="t" r="r" b="b"/>
            <a:pathLst>
              <a:path w="5448300" h="466725">
                <a:moveTo>
                  <a:pt x="76202" y="0"/>
                </a:moveTo>
                <a:lnTo>
                  <a:pt x="5372098" y="0"/>
                </a:lnTo>
                <a:cubicBezTo>
                  <a:pt x="5414183" y="0"/>
                  <a:pt x="5448300" y="34117"/>
                  <a:pt x="5448300" y="76202"/>
                </a:cubicBezTo>
                <a:lnTo>
                  <a:pt x="5448300" y="390523"/>
                </a:lnTo>
                <a:cubicBezTo>
                  <a:pt x="5448300" y="432608"/>
                  <a:pt x="5414183" y="466725"/>
                  <a:pt x="53720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34125" y="61321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562725" y="6094065"/>
            <a:ext cx="503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cần nói "chỉ trả lờii số", mô hình tự hiểu từ pattern!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8: GIỚI THIỆU PROMPT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Few-shot với ChatGPT và GitHub Copilot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5610225" cy="5324475"/>
          </a:xfrm>
          <a:custGeom>
            <a:avLst/>
            <a:gdLst/>
            <a:ahLst/>
            <a:cxnLst/>
            <a:rect l="l" t="t" r="r" b="b"/>
            <a:pathLst>
              <a:path w="5610225" h="5324475">
                <a:moveTo>
                  <a:pt x="114316" y="0"/>
                </a:moveTo>
                <a:lnTo>
                  <a:pt x="5495909" y="0"/>
                </a:lnTo>
                <a:cubicBezTo>
                  <a:pt x="5559044" y="0"/>
                  <a:pt x="5610225" y="51181"/>
                  <a:pt x="5610225" y="114316"/>
                </a:cubicBezTo>
                <a:lnTo>
                  <a:pt x="5610225" y="5210159"/>
                </a:lnTo>
                <a:cubicBezTo>
                  <a:pt x="5610225" y="5273294"/>
                  <a:pt x="5559044" y="5324475"/>
                  <a:pt x="5495909" y="5324475"/>
                </a:cubicBezTo>
                <a:lnTo>
                  <a:pt x="114316" y="5324475"/>
                </a:lnTo>
                <a:cubicBezTo>
                  <a:pt x="51181" y="5324475"/>
                  <a:pt x="0" y="5273294"/>
                  <a:pt x="0" y="5210159"/>
                </a:cubicBezTo>
                <a:lnTo>
                  <a:pt x="0" y="114316"/>
                </a:lnTo>
                <a:cubicBezTo>
                  <a:pt x="0" y="51181"/>
                  <a:pt x="51181" y="0"/>
                  <a:pt x="114316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4363" y="16287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286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Few-shot Structure cho ChatGPT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053530"/>
            <a:ext cx="5295900" cy="2362200"/>
          </a:xfrm>
          <a:custGeom>
            <a:avLst/>
            <a:gdLst/>
            <a:ahLst/>
            <a:cxnLst/>
            <a:rect l="l" t="t" r="r" b="b"/>
            <a:pathLst>
              <a:path w="5295900" h="2362200">
                <a:moveTo>
                  <a:pt x="76205" y="0"/>
                </a:moveTo>
                <a:lnTo>
                  <a:pt x="5219695" y="0"/>
                </a:lnTo>
                <a:cubicBezTo>
                  <a:pt x="5261754" y="0"/>
                  <a:pt x="5295900" y="34146"/>
                  <a:pt x="5295900" y="76205"/>
                </a:cubicBezTo>
                <a:lnTo>
                  <a:pt x="5295900" y="2285995"/>
                </a:lnTo>
                <a:cubicBezTo>
                  <a:pt x="5295900" y="2328082"/>
                  <a:pt x="5261782" y="2362200"/>
                  <a:pt x="521969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216783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7225" y="2472630"/>
            <a:ext cx="5067300" cy="1828800"/>
          </a:xfrm>
          <a:custGeom>
            <a:avLst/>
            <a:gdLst/>
            <a:ahLst/>
            <a:cxnLst/>
            <a:rect l="l" t="t" r="r" b="b"/>
            <a:pathLst>
              <a:path w="5067300" h="1828800">
                <a:moveTo>
                  <a:pt x="76206" y="0"/>
                </a:moveTo>
                <a:lnTo>
                  <a:pt x="4991094" y="0"/>
                </a:lnTo>
                <a:cubicBezTo>
                  <a:pt x="5033181" y="0"/>
                  <a:pt x="5067300" y="34119"/>
                  <a:pt x="5067300" y="76206"/>
                </a:cubicBezTo>
                <a:lnTo>
                  <a:pt x="5067300" y="1752594"/>
                </a:lnTo>
                <a:cubicBezTo>
                  <a:pt x="5067300" y="1794681"/>
                  <a:pt x="5033181" y="1828800"/>
                  <a:pt x="49910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71525" y="2586930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CONTEXT: You are provided with: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525" y="2746921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[Description using {{{ Variable }}}]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1525" y="2906911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Examples enclosed with {{{ Variable_i }}}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1525" y="3066901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followed by {{{ Output_i }}}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1525" y="3226891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TASK: [Describe the task]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1525" y="3386882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Variable_1: {{{ ... }}}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1525" y="3546872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Output_1: {{{ ... }}}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1525" y="3706862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1525" y="3866852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Variable: {{{ ... }}}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1525" y="4026843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CUE: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2925" y="4579293"/>
            <a:ext cx="5295900" cy="1295400"/>
          </a:xfrm>
          <a:custGeom>
            <a:avLst/>
            <a:gdLst/>
            <a:ahLst/>
            <a:cxnLst/>
            <a:rect l="l" t="t" r="r" b="b"/>
            <a:pathLst>
              <a:path w="5295900" h="1295400">
                <a:moveTo>
                  <a:pt x="76195" y="0"/>
                </a:moveTo>
                <a:lnTo>
                  <a:pt x="5219705" y="0"/>
                </a:lnTo>
                <a:cubicBezTo>
                  <a:pt x="5261758" y="0"/>
                  <a:pt x="5295900" y="34142"/>
                  <a:pt x="5295900" y="76195"/>
                </a:cubicBezTo>
                <a:lnTo>
                  <a:pt x="5295900" y="1219205"/>
                </a:lnTo>
                <a:cubicBezTo>
                  <a:pt x="5295900" y="1261286"/>
                  <a:pt x="5261786" y="1295400"/>
                  <a:pt x="52197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657225" y="4693593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Lợi ích cấu trúc này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503649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904875" y="4998393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Clarity: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Rõ ràng boundary giữa examples và task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" y="530319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904875" y="5265093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Dễ mở rộng số lượng examples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556989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904875" y="5531793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Reusability: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Tái sử dụng cho multiple LLM platforms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7688" y="6043315"/>
            <a:ext cx="5286375" cy="466725"/>
          </a:xfrm>
          <a:custGeom>
            <a:avLst/>
            <a:gdLst/>
            <a:ahLst/>
            <a:cxnLst/>
            <a:rect l="l" t="t" r="r" b="b"/>
            <a:pathLst>
              <a:path w="5286375" h="466725">
                <a:moveTo>
                  <a:pt x="76202" y="0"/>
                </a:moveTo>
                <a:lnTo>
                  <a:pt x="5210173" y="0"/>
                </a:lnTo>
                <a:cubicBezTo>
                  <a:pt x="5252258" y="0"/>
                  <a:pt x="5286375" y="34117"/>
                  <a:pt x="5286375" y="76202"/>
                </a:cubicBezTo>
                <a:lnTo>
                  <a:pt x="5286375" y="390523"/>
                </a:lnTo>
                <a:cubicBezTo>
                  <a:pt x="5286375" y="432608"/>
                  <a:pt x="5252258" y="466725"/>
                  <a:pt x="52101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5325" y="620047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6162377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1: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tại https://chatgpt.com/ với và without few-shot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6013" y="1376363"/>
            <a:ext cx="5610225" cy="5324475"/>
          </a:xfrm>
          <a:custGeom>
            <a:avLst/>
            <a:gdLst/>
            <a:ahLst/>
            <a:cxnLst/>
            <a:rect l="l" t="t" r="r" b="b"/>
            <a:pathLst>
              <a:path w="5610225" h="5324475">
                <a:moveTo>
                  <a:pt x="114316" y="0"/>
                </a:moveTo>
                <a:lnTo>
                  <a:pt x="5495909" y="0"/>
                </a:lnTo>
                <a:cubicBezTo>
                  <a:pt x="5559044" y="0"/>
                  <a:pt x="5610225" y="51181"/>
                  <a:pt x="5610225" y="114316"/>
                </a:cubicBezTo>
                <a:lnTo>
                  <a:pt x="5610225" y="5210159"/>
                </a:lnTo>
                <a:cubicBezTo>
                  <a:pt x="5610225" y="5273294"/>
                  <a:pt x="5559044" y="5324475"/>
                  <a:pt x="5495909" y="5324475"/>
                </a:cubicBezTo>
                <a:lnTo>
                  <a:pt x="114316" y="5324475"/>
                </a:lnTo>
                <a:cubicBezTo>
                  <a:pt x="51181" y="5324475"/>
                  <a:pt x="0" y="5273294"/>
                  <a:pt x="0" y="5210159"/>
                </a:cubicBezTo>
                <a:lnTo>
                  <a:pt x="0" y="114316"/>
                </a:lnTo>
                <a:cubicBezTo>
                  <a:pt x="0" y="51181"/>
                  <a:pt x="51181" y="0"/>
                  <a:pt x="114316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317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4842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6848475" y="1590675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Copilot: Style Guide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3175" y="2028825"/>
            <a:ext cx="5295900" cy="1619250"/>
          </a:xfrm>
          <a:custGeom>
            <a:avLst/>
            <a:gdLst/>
            <a:ahLst/>
            <a:cxnLst/>
            <a:rect l="l" t="t" r="r" b="b"/>
            <a:pathLst>
              <a:path w="5295900" h="161925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1543048"/>
                </a:lnTo>
                <a:cubicBezTo>
                  <a:pt x="5295900" y="1585133"/>
                  <a:pt x="5261783" y="1619250"/>
                  <a:pt x="5219698" y="1619250"/>
                </a:cubicBezTo>
                <a:lnTo>
                  <a:pt x="76202" y="1619250"/>
                </a:lnTo>
                <a:cubicBezTo>
                  <a:pt x="34117" y="1619250"/>
                  <a:pt x="0" y="1585133"/>
                  <a:pt x="0" y="1543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6467475" y="214312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Nguyên lý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67475" y="2447925"/>
            <a:ext cx="514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Copilot là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AI assistant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trong editor. Nó: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67475" y="277177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coding patterns từ session hiện tại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67475" y="303847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style preferences từ code đã viết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67475" y="330517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next code phù hợp với observed style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3175" y="3762375"/>
            <a:ext cx="5295900" cy="2190750"/>
          </a:xfrm>
          <a:custGeom>
            <a:avLst/>
            <a:gdLst/>
            <a:ahLst/>
            <a:cxnLst/>
            <a:rect l="l" t="t" r="r" b="b"/>
            <a:pathLst>
              <a:path w="5295900" h="2190750">
                <a:moveTo>
                  <a:pt x="76194" y="0"/>
                </a:moveTo>
                <a:lnTo>
                  <a:pt x="5219706" y="0"/>
                </a:lnTo>
                <a:cubicBezTo>
                  <a:pt x="5261758" y="0"/>
                  <a:pt x="5295900" y="34142"/>
                  <a:pt x="5295900" y="76194"/>
                </a:cubicBezTo>
                <a:lnTo>
                  <a:pt x="5295900" y="2114556"/>
                </a:lnTo>
                <a:cubicBezTo>
                  <a:pt x="5295900" y="2156637"/>
                  <a:pt x="5261787" y="2190750"/>
                  <a:pt x="5219706" y="2190750"/>
                </a:cubicBezTo>
                <a:lnTo>
                  <a:pt x="76194" y="2190750"/>
                </a:lnTo>
                <a:cubicBezTo>
                  <a:pt x="34142" y="2190750"/>
                  <a:pt x="0" y="2156608"/>
                  <a:pt x="0" y="21145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6467475" y="387667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 Guide File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67475" y="418147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style_guide.py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để không phải repeat style mỗi session: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67475" y="4486275"/>
            <a:ext cx="5067300" cy="1352550"/>
          </a:xfrm>
          <a:custGeom>
            <a:avLst/>
            <a:gdLst/>
            <a:ahLst/>
            <a:cxnLst/>
            <a:rect l="l" t="t" r="r" b="b"/>
            <a:pathLst>
              <a:path w="5067300" h="1352550">
                <a:moveTo>
                  <a:pt x="76203" y="0"/>
                </a:moveTo>
                <a:lnTo>
                  <a:pt x="4991097" y="0"/>
                </a:lnTo>
                <a:cubicBezTo>
                  <a:pt x="5033183" y="0"/>
                  <a:pt x="5067300" y="34117"/>
                  <a:pt x="5067300" y="76203"/>
                </a:cubicBezTo>
                <a:lnTo>
                  <a:pt x="5067300" y="1276347"/>
                </a:lnTo>
                <a:cubicBezTo>
                  <a:pt x="5067300" y="1318433"/>
                  <a:pt x="5033183" y="1352550"/>
                  <a:pt x="4991097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6581775" y="4600575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numpy as np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81775" y="4760565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get_area(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81775" y="4920555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radius: float,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81775" y="5080546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-&gt; float: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81775" y="5240536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"""Compute area."""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81775" y="5400526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area: float = np.pi * radius ** 2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81775" y="5560516"/>
            <a:ext cx="489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area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57938" y="6068169"/>
            <a:ext cx="5286375" cy="466725"/>
          </a:xfrm>
          <a:custGeom>
            <a:avLst/>
            <a:gdLst/>
            <a:ahLst/>
            <a:cxnLst/>
            <a:rect l="l" t="t" r="r" b="b"/>
            <a:pathLst>
              <a:path w="5286375" h="466725">
                <a:moveTo>
                  <a:pt x="76202" y="0"/>
                </a:moveTo>
                <a:lnTo>
                  <a:pt x="5210173" y="0"/>
                </a:lnTo>
                <a:cubicBezTo>
                  <a:pt x="5252258" y="0"/>
                  <a:pt x="5286375" y="34117"/>
                  <a:pt x="5286375" y="76202"/>
                </a:cubicBezTo>
                <a:lnTo>
                  <a:pt x="5286375" y="390523"/>
                </a:lnTo>
                <a:cubicBezTo>
                  <a:pt x="5286375" y="432608"/>
                  <a:pt x="5252258" y="466725"/>
                  <a:pt x="52101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5575" y="622533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6" name="Text 54"/>
          <p:cNvSpPr/>
          <p:nvPr/>
        </p:nvSpPr>
        <p:spPr>
          <a:xfrm>
            <a:off x="6724650" y="6187232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2: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Mở style_guide.py ở tab riêng, Copilot sẽ learn style!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3543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kern="0" spc="57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8: GIỚI THIỆU PROMPT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56562"/>
            <a:ext cx="11626627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API và Các kỹ thuật khác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57" y="1130746"/>
            <a:ext cx="875417" cy="36476"/>
          </a:xfrm>
          <a:custGeom>
            <a:avLst/>
            <a:gdLst/>
            <a:ahLst/>
            <a:cxnLst/>
            <a:rect l="l" t="t" r="r" b="b"/>
            <a:pathLst>
              <a:path w="875417" h="36476">
                <a:moveTo>
                  <a:pt x="0" y="0"/>
                </a:moveTo>
                <a:lnTo>
                  <a:pt x="875417" y="0"/>
                </a:lnTo>
                <a:lnTo>
                  <a:pt x="875417" y="36476"/>
                </a:lnTo>
                <a:lnTo>
                  <a:pt x="0" y="3647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69316" y="1317684"/>
            <a:ext cx="5626375" cy="5535186"/>
          </a:xfrm>
          <a:custGeom>
            <a:avLst/>
            <a:gdLst/>
            <a:ahLst/>
            <a:cxnLst/>
            <a:rect l="l" t="t" r="r" b="b"/>
            <a:pathLst>
              <a:path w="5626375" h="5535186">
                <a:moveTo>
                  <a:pt x="109431" y="0"/>
                </a:moveTo>
                <a:lnTo>
                  <a:pt x="5516945" y="0"/>
                </a:lnTo>
                <a:cubicBezTo>
                  <a:pt x="5577382" y="0"/>
                  <a:pt x="5626375" y="48994"/>
                  <a:pt x="5626375" y="109431"/>
                </a:cubicBezTo>
                <a:lnTo>
                  <a:pt x="5626375" y="5425756"/>
                </a:lnTo>
                <a:cubicBezTo>
                  <a:pt x="5626375" y="5486192"/>
                  <a:pt x="5577382" y="5535186"/>
                  <a:pt x="5516945" y="5535186"/>
                </a:cubicBezTo>
                <a:lnTo>
                  <a:pt x="109431" y="5535186"/>
                </a:lnTo>
                <a:cubicBezTo>
                  <a:pt x="48994" y="5535186"/>
                  <a:pt x="0" y="5486192"/>
                  <a:pt x="0" y="5425756"/>
                </a:cubicBezTo>
                <a:lnTo>
                  <a:pt x="0" y="109431"/>
                </a:lnTo>
                <a:cubicBezTo>
                  <a:pt x="0" y="48994"/>
                  <a:pt x="48994" y="0"/>
                  <a:pt x="10943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9779" y="1468147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9569" y="1559336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128520" y="427"/>
                </a:moveTo>
                <a:cubicBezTo>
                  <a:pt x="122464" y="-1318"/>
                  <a:pt x="116159" y="2208"/>
                  <a:pt x="114414" y="8264"/>
                </a:cubicBezTo>
                <a:lnTo>
                  <a:pt x="68819" y="167845"/>
                </a:lnTo>
                <a:cubicBezTo>
                  <a:pt x="67074" y="173901"/>
                  <a:pt x="70600" y="180206"/>
                  <a:pt x="76656" y="181951"/>
                </a:cubicBezTo>
                <a:cubicBezTo>
                  <a:pt x="82711" y="183696"/>
                  <a:pt x="89016" y="180170"/>
                  <a:pt x="90762" y="174114"/>
                </a:cubicBezTo>
                <a:lnTo>
                  <a:pt x="136356" y="14533"/>
                </a:lnTo>
                <a:cubicBezTo>
                  <a:pt x="138102" y="8478"/>
                  <a:pt x="134575" y="2173"/>
                  <a:pt x="128520" y="427"/>
                </a:cubicBezTo>
                <a:close/>
                <a:moveTo>
                  <a:pt x="151531" y="48907"/>
                </a:moveTo>
                <a:cubicBezTo>
                  <a:pt x="147078" y="53360"/>
                  <a:pt x="147078" y="60591"/>
                  <a:pt x="151531" y="65044"/>
                </a:cubicBezTo>
                <a:lnTo>
                  <a:pt x="177677" y="91189"/>
                </a:lnTo>
                <a:lnTo>
                  <a:pt x="151531" y="117335"/>
                </a:lnTo>
                <a:cubicBezTo>
                  <a:pt x="147078" y="121787"/>
                  <a:pt x="147078" y="129019"/>
                  <a:pt x="151531" y="133471"/>
                </a:cubicBezTo>
                <a:cubicBezTo>
                  <a:pt x="155983" y="137924"/>
                  <a:pt x="163214" y="137924"/>
                  <a:pt x="167667" y="133471"/>
                </a:cubicBezTo>
                <a:lnTo>
                  <a:pt x="201863" y="99275"/>
                </a:lnTo>
                <a:cubicBezTo>
                  <a:pt x="206316" y="94823"/>
                  <a:pt x="206316" y="87592"/>
                  <a:pt x="201863" y="83139"/>
                </a:cubicBezTo>
                <a:lnTo>
                  <a:pt x="167667" y="48943"/>
                </a:lnTo>
                <a:cubicBezTo>
                  <a:pt x="163214" y="44490"/>
                  <a:pt x="155983" y="44490"/>
                  <a:pt x="151531" y="48943"/>
                </a:cubicBezTo>
                <a:close/>
                <a:moveTo>
                  <a:pt x="53681" y="48907"/>
                </a:moveTo>
                <a:cubicBezTo>
                  <a:pt x="49228" y="44455"/>
                  <a:pt x="41997" y="44455"/>
                  <a:pt x="37544" y="48907"/>
                </a:cubicBezTo>
                <a:lnTo>
                  <a:pt x="3348" y="83103"/>
                </a:lnTo>
                <a:cubicBezTo>
                  <a:pt x="-1104" y="87556"/>
                  <a:pt x="-1104" y="94787"/>
                  <a:pt x="3348" y="99240"/>
                </a:cubicBezTo>
                <a:lnTo>
                  <a:pt x="37544" y="133435"/>
                </a:lnTo>
                <a:cubicBezTo>
                  <a:pt x="41997" y="137888"/>
                  <a:pt x="49228" y="137888"/>
                  <a:pt x="53681" y="133435"/>
                </a:cubicBezTo>
                <a:cubicBezTo>
                  <a:pt x="58133" y="128983"/>
                  <a:pt x="58133" y="121752"/>
                  <a:pt x="53681" y="117299"/>
                </a:cubicBezTo>
                <a:lnTo>
                  <a:pt x="27535" y="91189"/>
                </a:lnTo>
                <a:lnTo>
                  <a:pt x="53645" y="65044"/>
                </a:lnTo>
                <a:cubicBezTo>
                  <a:pt x="58098" y="60591"/>
                  <a:pt x="58098" y="53360"/>
                  <a:pt x="53645" y="4890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93963" y="1522860"/>
            <a:ext cx="303660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API: Programmatic Few-shot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9779" y="1942331"/>
            <a:ext cx="5325451" cy="1240174"/>
          </a:xfrm>
          <a:custGeom>
            <a:avLst/>
            <a:gdLst/>
            <a:ahLst/>
            <a:cxnLst/>
            <a:rect l="l" t="t" r="r" b="b"/>
            <a:pathLst>
              <a:path w="5325451" h="1240174">
                <a:moveTo>
                  <a:pt x="72947" y="0"/>
                </a:moveTo>
                <a:lnTo>
                  <a:pt x="5252504" y="0"/>
                </a:lnTo>
                <a:cubicBezTo>
                  <a:pt x="5292792" y="0"/>
                  <a:pt x="5325451" y="32659"/>
                  <a:pt x="5325451" y="72947"/>
                </a:cubicBezTo>
                <a:lnTo>
                  <a:pt x="5325451" y="1167227"/>
                </a:lnTo>
                <a:cubicBezTo>
                  <a:pt x="5325451" y="1207514"/>
                  <a:pt x="5292792" y="1240174"/>
                  <a:pt x="5252504" y="1240174"/>
                </a:cubicBezTo>
                <a:lnTo>
                  <a:pt x="72947" y="1240174"/>
                </a:lnTo>
                <a:cubicBezTo>
                  <a:pt x="32659" y="1240174"/>
                  <a:pt x="0" y="1207514"/>
                  <a:pt x="0" y="1167227"/>
                </a:cubicBezTo>
                <a:lnTo>
                  <a:pt x="0" y="72947"/>
                </a:lnTo>
                <a:cubicBezTo>
                  <a:pt x="0" y="32686"/>
                  <a:pt x="32686" y="0"/>
                  <a:pt x="7294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29206" y="2051758"/>
            <a:ext cx="517954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Lợi ích dùng API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6562" y="2380039"/>
            <a:ext cx="127665" cy="145903"/>
          </a:xfrm>
          <a:custGeom>
            <a:avLst/>
            <a:gdLst/>
            <a:ahLst/>
            <a:cxnLst/>
            <a:rect l="l" t="t" r="r" b="b"/>
            <a:pathLst>
              <a:path w="127665" h="145903">
                <a:moveTo>
                  <a:pt x="123903" y="19976"/>
                </a:moveTo>
                <a:cubicBezTo>
                  <a:pt x="127978" y="22940"/>
                  <a:pt x="128890" y="28639"/>
                  <a:pt x="125927" y="32714"/>
                </a:cubicBezTo>
                <a:lnTo>
                  <a:pt x="52975" y="133022"/>
                </a:lnTo>
                <a:cubicBezTo>
                  <a:pt x="51408" y="135188"/>
                  <a:pt x="48986" y="136527"/>
                  <a:pt x="46307" y="136755"/>
                </a:cubicBezTo>
                <a:cubicBezTo>
                  <a:pt x="43628" y="136983"/>
                  <a:pt x="41035" y="135986"/>
                  <a:pt x="39154" y="134105"/>
                </a:cubicBezTo>
                <a:lnTo>
                  <a:pt x="2679" y="97629"/>
                </a:lnTo>
                <a:cubicBezTo>
                  <a:pt x="-883" y="94067"/>
                  <a:pt x="-883" y="88283"/>
                  <a:pt x="2679" y="84720"/>
                </a:cubicBezTo>
                <a:cubicBezTo>
                  <a:pt x="6241" y="81158"/>
                  <a:pt x="12026" y="81158"/>
                  <a:pt x="15588" y="84720"/>
                </a:cubicBezTo>
                <a:lnTo>
                  <a:pt x="44512" y="113645"/>
                </a:lnTo>
                <a:lnTo>
                  <a:pt x="111194" y="21971"/>
                </a:lnTo>
                <a:cubicBezTo>
                  <a:pt x="114158" y="17896"/>
                  <a:pt x="119857" y="16984"/>
                  <a:pt x="123932" y="1994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63965" y="2343563"/>
            <a:ext cx="494478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Scalability:</a:t>
            </a:r>
            <a:r>
              <a:rPr lang="en-US" sz="114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Xử lý hàng ngàn tasks tự động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6562" y="2635369"/>
            <a:ext cx="127665" cy="145903"/>
          </a:xfrm>
          <a:custGeom>
            <a:avLst/>
            <a:gdLst/>
            <a:ahLst/>
            <a:cxnLst/>
            <a:rect l="l" t="t" r="r" b="b"/>
            <a:pathLst>
              <a:path w="127665" h="145903">
                <a:moveTo>
                  <a:pt x="123903" y="19976"/>
                </a:moveTo>
                <a:cubicBezTo>
                  <a:pt x="127978" y="22940"/>
                  <a:pt x="128890" y="28639"/>
                  <a:pt x="125927" y="32714"/>
                </a:cubicBezTo>
                <a:lnTo>
                  <a:pt x="52975" y="133022"/>
                </a:lnTo>
                <a:cubicBezTo>
                  <a:pt x="51408" y="135188"/>
                  <a:pt x="48986" y="136527"/>
                  <a:pt x="46307" y="136755"/>
                </a:cubicBezTo>
                <a:cubicBezTo>
                  <a:pt x="43628" y="136983"/>
                  <a:pt x="41035" y="135986"/>
                  <a:pt x="39154" y="134105"/>
                </a:cubicBezTo>
                <a:lnTo>
                  <a:pt x="2679" y="97629"/>
                </a:lnTo>
                <a:cubicBezTo>
                  <a:pt x="-883" y="94067"/>
                  <a:pt x="-883" y="88283"/>
                  <a:pt x="2679" y="84720"/>
                </a:cubicBezTo>
                <a:cubicBezTo>
                  <a:pt x="6241" y="81158"/>
                  <a:pt x="12026" y="81158"/>
                  <a:pt x="15588" y="84720"/>
                </a:cubicBezTo>
                <a:lnTo>
                  <a:pt x="44512" y="113645"/>
                </a:lnTo>
                <a:lnTo>
                  <a:pt x="111194" y="21971"/>
                </a:lnTo>
                <a:cubicBezTo>
                  <a:pt x="114158" y="17896"/>
                  <a:pt x="119857" y="16984"/>
                  <a:pt x="123932" y="1994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63965" y="2598893"/>
            <a:ext cx="494478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Repeatability:</a:t>
            </a:r>
            <a:r>
              <a:rPr lang="en-US" sz="114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Consistent results across runs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6562" y="2890699"/>
            <a:ext cx="127665" cy="145903"/>
          </a:xfrm>
          <a:custGeom>
            <a:avLst/>
            <a:gdLst/>
            <a:ahLst/>
            <a:cxnLst/>
            <a:rect l="l" t="t" r="r" b="b"/>
            <a:pathLst>
              <a:path w="127665" h="145903">
                <a:moveTo>
                  <a:pt x="123903" y="19976"/>
                </a:moveTo>
                <a:cubicBezTo>
                  <a:pt x="127978" y="22940"/>
                  <a:pt x="128890" y="28639"/>
                  <a:pt x="125927" y="32714"/>
                </a:cubicBezTo>
                <a:lnTo>
                  <a:pt x="52975" y="133022"/>
                </a:lnTo>
                <a:cubicBezTo>
                  <a:pt x="51408" y="135188"/>
                  <a:pt x="48986" y="136527"/>
                  <a:pt x="46307" y="136755"/>
                </a:cubicBezTo>
                <a:cubicBezTo>
                  <a:pt x="43628" y="136983"/>
                  <a:pt x="41035" y="135986"/>
                  <a:pt x="39154" y="134105"/>
                </a:cubicBezTo>
                <a:lnTo>
                  <a:pt x="2679" y="97629"/>
                </a:lnTo>
                <a:cubicBezTo>
                  <a:pt x="-883" y="94067"/>
                  <a:pt x="-883" y="88283"/>
                  <a:pt x="2679" y="84720"/>
                </a:cubicBezTo>
                <a:cubicBezTo>
                  <a:pt x="6241" y="81158"/>
                  <a:pt x="12026" y="81158"/>
                  <a:pt x="15588" y="84720"/>
                </a:cubicBezTo>
                <a:lnTo>
                  <a:pt x="44512" y="113645"/>
                </a:lnTo>
                <a:lnTo>
                  <a:pt x="111194" y="21971"/>
                </a:lnTo>
                <a:cubicBezTo>
                  <a:pt x="114158" y="17896"/>
                  <a:pt x="119857" y="16984"/>
                  <a:pt x="123932" y="1994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63965" y="2854223"/>
            <a:ext cx="494478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Integration:</a:t>
            </a:r>
            <a:r>
              <a:rPr lang="en-US" sz="114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Dễ integrate vào CI/CD pipelines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9779" y="3291931"/>
            <a:ext cx="5325451" cy="1805547"/>
          </a:xfrm>
          <a:custGeom>
            <a:avLst/>
            <a:gdLst/>
            <a:ahLst/>
            <a:cxnLst/>
            <a:rect l="l" t="t" r="r" b="b"/>
            <a:pathLst>
              <a:path w="5325451" h="1805547">
                <a:moveTo>
                  <a:pt x="72944" y="0"/>
                </a:moveTo>
                <a:lnTo>
                  <a:pt x="5252507" y="0"/>
                </a:lnTo>
                <a:cubicBezTo>
                  <a:pt x="5292793" y="0"/>
                  <a:pt x="5325451" y="32658"/>
                  <a:pt x="5325451" y="72944"/>
                </a:cubicBezTo>
                <a:lnTo>
                  <a:pt x="5325451" y="1732603"/>
                </a:lnTo>
                <a:cubicBezTo>
                  <a:pt x="5325451" y="1772889"/>
                  <a:pt x="5292793" y="1805547"/>
                  <a:pt x="5252507" y="1805547"/>
                </a:cubicBezTo>
                <a:lnTo>
                  <a:pt x="72944" y="1805547"/>
                </a:lnTo>
                <a:cubicBezTo>
                  <a:pt x="32658" y="1805547"/>
                  <a:pt x="0" y="1772889"/>
                  <a:pt x="0" y="1732603"/>
                </a:cubicBezTo>
                <a:lnTo>
                  <a:pt x="0" y="72944"/>
                </a:lnTo>
                <a:cubicBezTo>
                  <a:pt x="0" y="32658"/>
                  <a:pt x="32658" y="0"/>
                  <a:pt x="7294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629206" y="3401358"/>
            <a:ext cx="517954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Cấu trúc Prompt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9206" y="3693164"/>
            <a:ext cx="5106597" cy="1294887"/>
          </a:xfrm>
          <a:custGeom>
            <a:avLst/>
            <a:gdLst/>
            <a:ahLst/>
            <a:cxnLst/>
            <a:rect l="l" t="t" r="r" b="b"/>
            <a:pathLst>
              <a:path w="5106597" h="1294887">
                <a:moveTo>
                  <a:pt x="72954" y="0"/>
                </a:moveTo>
                <a:lnTo>
                  <a:pt x="5033643" y="0"/>
                </a:lnTo>
                <a:cubicBezTo>
                  <a:pt x="5073934" y="0"/>
                  <a:pt x="5106597" y="32663"/>
                  <a:pt x="5106597" y="72954"/>
                </a:cubicBezTo>
                <a:lnTo>
                  <a:pt x="5106597" y="1221933"/>
                </a:lnTo>
                <a:cubicBezTo>
                  <a:pt x="5106597" y="1262224"/>
                  <a:pt x="5073934" y="1294887"/>
                  <a:pt x="5033643" y="1294887"/>
                </a:cubicBezTo>
                <a:lnTo>
                  <a:pt x="72954" y="1294887"/>
                </a:lnTo>
                <a:cubicBezTo>
                  <a:pt x="32663" y="1294887"/>
                  <a:pt x="0" y="1262224"/>
                  <a:pt x="0" y="1221933"/>
                </a:cubicBezTo>
                <a:lnTo>
                  <a:pt x="0" y="72954"/>
                </a:lnTo>
                <a:cubicBezTo>
                  <a:pt x="0" y="32663"/>
                  <a:pt x="32663" y="0"/>
                  <a:pt x="72954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8633" y="3802591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System Prompt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8633" y="3955760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SURROUND = """You are provided with: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8633" y="4108930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A Python function signature...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8633" y="4262099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Example signatures..."""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8633" y="4415269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User Prompt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8633" y="4568438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user_prompt = get_user_prompt(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8633" y="4721607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"def print_fibonacci...", FEW_SHOTS)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9779" y="5203058"/>
            <a:ext cx="5325451" cy="1495503"/>
          </a:xfrm>
          <a:custGeom>
            <a:avLst/>
            <a:gdLst/>
            <a:ahLst/>
            <a:cxnLst/>
            <a:rect l="l" t="t" r="r" b="b"/>
            <a:pathLst>
              <a:path w="5325451" h="1495503">
                <a:moveTo>
                  <a:pt x="72951" y="0"/>
                </a:moveTo>
                <a:lnTo>
                  <a:pt x="5252500" y="0"/>
                </a:lnTo>
                <a:cubicBezTo>
                  <a:pt x="5292790" y="0"/>
                  <a:pt x="5325451" y="32661"/>
                  <a:pt x="5325451" y="72951"/>
                </a:cubicBezTo>
                <a:lnTo>
                  <a:pt x="5325451" y="1422553"/>
                </a:lnTo>
                <a:cubicBezTo>
                  <a:pt x="5325451" y="1462842"/>
                  <a:pt x="5292790" y="1495503"/>
                  <a:pt x="5252500" y="1495503"/>
                </a:cubicBezTo>
                <a:lnTo>
                  <a:pt x="72951" y="1495503"/>
                </a:lnTo>
                <a:cubicBezTo>
                  <a:pt x="32661" y="1495503"/>
                  <a:pt x="0" y="1462842"/>
                  <a:pt x="0" y="1422553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629206" y="5312485"/>
            <a:ext cx="517954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Call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9206" y="5604291"/>
            <a:ext cx="5106597" cy="984844"/>
          </a:xfrm>
          <a:custGeom>
            <a:avLst/>
            <a:gdLst/>
            <a:ahLst/>
            <a:cxnLst/>
            <a:rect l="l" t="t" r="r" b="b"/>
            <a:pathLst>
              <a:path w="5106597" h="984844">
                <a:moveTo>
                  <a:pt x="72947" y="0"/>
                </a:moveTo>
                <a:lnTo>
                  <a:pt x="5033649" y="0"/>
                </a:lnTo>
                <a:cubicBezTo>
                  <a:pt x="5073937" y="0"/>
                  <a:pt x="5106597" y="32660"/>
                  <a:pt x="5106597" y="72947"/>
                </a:cubicBezTo>
                <a:lnTo>
                  <a:pt x="5106597" y="911896"/>
                </a:lnTo>
                <a:cubicBezTo>
                  <a:pt x="5106597" y="952184"/>
                  <a:pt x="5073937" y="984844"/>
                  <a:pt x="5033649" y="984844"/>
                </a:cubicBezTo>
                <a:lnTo>
                  <a:pt x="72947" y="984844"/>
                </a:lnTo>
                <a:cubicBezTo>
                  <a:pt x="32660" y="984844"/>
                  <a:pt x="0" y="952184"/>
                  <a:pt x="0" y="911896"/>
                </a:cubicBezTo>
                <a:lnTo>
                  <a:pt x="0" y="72947"/>
                </a:lnTo>
                <a:cubicBezTo>
                  <a:pt x="0" y="32687"/>
                  <a:pt x="32687" y="0"/>
                  <a:pt x="7294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738633" y="5713718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completion = client.chat.completions.create(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8633" y="5866887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model="gpt-4o",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8633" y="6020056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messages=[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8633" y="6173226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{"role": "system", "content": system},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8633" y="6326395"/>
            <a:ext cx="4942456" cy="15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2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{"role": "user", "content": user}])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179" y="1317684"/>
            <a:ext cx="5626375" cy="4240299"/>
          </a:xfrm>
          <a:custGeom>
            <a:avLst/>
            <a:gdLst/>
            <a:ahLst/>
            <a:cxnLst/>
            <a:rect l="l" t="t" r="r" b="b"/>
            <a:pathLst>
              <a:path w="5626375" h="4240299">
                <a:moveTo>
                  <a:pt x="109442" y="0"/>
                </a:moveTo>
                <a:lnTo>
                  <a:pt x="5516933" y="0"/>
                </a:lnTo>
                <a:cubicBezTo>
                  <a:pt x="5577377" y="0"/>
                  <a:pt x="5626375" y="48999"/>
                  <a:pt x="5626375" y="109442"/>
                </a:cubicBezTo>
                <a:lnTo>
                  <a:pt x="5626375" y="4130857"/>
                </a:lnTo>
                <a:cubicBezTo>
                  <a:pt x="5626375" y="4191300"/>
                  <a:pt x="5577377" y="4240299"/>
                  <a:pt x="5516933" y="4240299"/>
                </a:cubicBezTo>
                <a:lnTo>
                  <a:pt x="109442" y="4240299"/>
                </a:lnTo>
                <a:cubicBezTo>
                  <a:pt x="48999" y="4240299"/>
                  <a:pt x="0" y="4191300"/>
                  <a:pt x="0" y="4130857"/>
                </a:cubicBezTo>
                <a:lnTo>
                  <a:pt x="0" y="109442"/>
                </a:lnTo>
                <a:cubicBezTo>
                  <a:pt x="0" y="49039"/>
                  <a:pt x="49039" y="0"/>
                  <a:pt x="10944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41641" y="1468147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1432" y="1559336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79826" y="34588"/>
                </a:moveTo>
                <a:lnTo>
                  <a:pt x="79826" y="52256"/>
                </a:lnTo>
                <a:lnTo>
                  <a:pt x="80004" y="52434"/>
                </a:lnTo>
                <a:cubicBezTo>
                  <a:pt x="82320" y="23082"/>
                  <a:pt x="106862" y="0"/>
                  <a:pt x="136819" y="0"/>
                </a:cubicBezTo>
                <a:cubicBezTo>
                  <a:pt x="143979" y="0"/>
                  <a:pt x="150854" y="1318"/>
                  <a:pt x="157159" y="3740"/>
                </a:cubicBezTo>
                <a:cubicBezTo>
                  <a:pt x="160721" y="5094"/>
                  <a:pt x="161362" y="9618"/>
                  <a:pt x="158691" y="12325"/>
                </a:cubicBezTo>
                <a:lnTo>
                  <a:pt x="127095" y="43920"/>
                </a:lnTo>
                <a:cubicBezTo>
                  <a:pt x="126026" y="44989"/>
                  <a:pt x="125421" y="46450"/>
                  <a:pt x="125421" y="47946"/>
                </a:cubicBezTo>
                <a:lnTo>
                  <a:pt x="125421" y="62693"/>
                </a:lnTo>
                <a:cubicBezTo>
                  <a:pt x="125421" y="65827"/>
                  <a:pt x="127986" y="68392"/>
                  <a:pt x="131120" y="68392"/>
                </a:cubicBezTo>
                <a:lnTo>
                  <a:pt x="145867" y="68392"/>
                </a:lnTo>
                <a:cubicBezTo>
                  <a:pt x="147363" y="68392"/>
                  <a:pt x="148824" y="67786"/>
                  <a:pt x="149892" y="66718"/>
                </a:cubicBezTo>
                <a:lnTo>
                  <a:pt x="181488" y="35122"/>
                </a:lnTo>
                <a:cubicBezTo>
                  <a:pt x="184195" y="32415"/>
                  <a:pt x="188719" y="33092"/>
                  <a:pt x="190073" y="36654"/>
                </a:cubicBezTo>
                <a:cubicBezTo>
                  <a:pt x="192495" y="42959"/>
                  <a:pt x="193813" y="49833"/>
                  <a:pt x="193813" y="56993"/>
                </a:cubicBezTo>
                <a:cubicBezTo>
                  <a:pt x="193813" y="78579"/>
                  <a:pt x="181809" y="97387"/>
                  <a:pt x="164069" y="107040"/>
                </a:cubicBezTo>
                <a:lnTo>
                  <a:pt x="193100" y="136071"/>
                </a:lnTo>
                <a:cubicBezTo>
                  <a:pt x="199761" y="142733"/>
                  <a:pt x="199761" y="153561"/>
                  <a:pt x="193100" y="160258"/>
                </a:cubicBezTo>
                <a:lnTo>
                  <a:pt x="171692" y="181666"/>
                </a:lnTo>
                <a:cubicBezTo>
                  <a:pt x="165031" y="188327"/>
                  <a:pt x="154202" y="188327"/>
                  <a:pt x="147506" y="181666"/>
                </a:cubicBezTo>
                <a:lnTo>
                  <a:pt x="102624" y="136784"/>
                </a:lnTo>
                <a:cubicBezTo>
                  <a:pt x="92863" y="127024"/>
                  <a:pt x="90655" y="112597"/>
                  <a:pt x="96034" y="100700"/>
                </a:cubicBezTo>
                <a:lnTo>
                  <a:pt x="63726" y="68392"/>
                </a:lnTo>
                <a:lnTo>
                  <a:pt x="46058" y="68392"/>
                </a:lnTo>
                <a:cubicBezTo>
                  <a:pt x="42246" y="68392"/>
                  <a:pt x="38684" y="66504"/>
                  <a:pt x="36583" y="63334"/>
                </a:cubicBezTo>
                <a:lnTo>
                  <a:pt x="8335" y="20981"/>
                </a:lnTo>
                <a:cubicBezTo>
                  <a:pt x="6839" y="18737"/>
                  <a:pt x="7124" y="15709"/>
                  <a:pt x="9048" y="13785"/>
                </a:cubicBezTo>
                <a:lnTo>
                  <a:pt x="25220" y="-2387"/>
                </a:lnTo>
                <a:cubicBezTo>
                  <a:pt x="27143" y="-4310"/>
                  <a:pt x="30135" y="-4595"/>
                  <a:pt x="32415" y="-3099"/>
                </a:cubicBezTo>
                <a:lnTo>
                  <a:pt x="74768" y="25113"/>
                </a:lnTo>
                <a:cubicBezTo>
                  <a:pt x="77938" y="27214"/>
                  <a:pt x="79826" y="30776"/>
                  <a:pt x="79826" y="34588"/>
                </a:cubicBezTo>
                <a:close/>
                <a:moveTo>
                  <a:pt x="76798" y="105651"/>
                </a:moveTo>
                <a:cubicBezTo>
                  <a:pt x="74554" y="118831"/>
                  <a:pt x="77653" y="132759"/>
                  <a:pt x="86202" y="143908"/>
                </a:cubicBezTo>
                <a:lnTo>
                  <a:pt x="52363" y="177712"/>
                </a:lnTo>
                <a:cubicBezTo>
                  <a:pt x="42353" y="187722"/>
                  <a:pt x="26110" y="187722"/>
                  <a:pt x="16101" y="177712"/>
                </a:cubicBezTo>
                <a:cubicBezTo>
                  <a:pt x="6091" y="167703"/>
                  <a:pt x="6091" y="151460"/>
                  <a:pt x="16101" y="141450"/>
                </a:cubicBezTo>
                <a:lnTo>
                  <a:pt x="64331" y="93220"/>
                </a:lnTo>
                <a:lnTo>
                  <a:pt x="76798" y="10568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6815825" y="1522860"/>
            <a:ext cx="3136909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Các kỹ thuật Prompt Engineering khác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1641" y="2020696"/>
            <a:ext cx="5325451" cy="948368"/>
          </a:xfrm>
          <a:custGeom>
            <a:avLst/>
            <a:gdLst/>
            <a:ahLst/>
            <a:cxnLst/>
            <a:rect l="l" t="t" r="r" b="b"/>
            <a:pathLst>
              <a:path w="5325451" h="948368">
                <a:moveTo>
                  <a:pt x="72948" y="0"/>
                </a:moveTo>
                <a:lnTo>
                  <a:pt x="5252503" y="0"/>
                </a:lnTo>
                <a:cubicBezTo>
                  <a:pt x="5292764" y="0"/>
                  <a:pt x="5325451" y="32687"/>
                  <a:pt x="5325451" y="72948"/>
                </a:cubicBezTo>
                <a:lnTo>
                  <a:pt x="5325451" y="875420"/>
                </a:lnTo>
                <a:cubicBezTo>
                  <a:pt x="5325451" y="915681"/>
                  <a:pt x="5292764" y="948368"/>
                  <a:pt x="5252503" y="948368"/>
                </a:cubicBezTo>
                <a:lnTo>
                  <a:pt x="72948" y="948368"/>
                </a:lnTo>
                <a:cubicBezTo>
                  <a:pt x="32687" y="948368"/>
                  <a:pt x="0" y="915681"/>
                  <a:pt x="0" y="875420"/>
                </a:cubicBezTo>
                <a:lnTo>
                  <a:pt x="0" y="72948"/>
                </a:lnTo>
                <a:cubicBezTo>
                  <a:pt x="0" y="32687"/>
                  <a:pt x="32687" y="0"/>
                  <a:pt x="7294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69306" y="2166599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36812" y="54714"/>
                </a:moveTo>
                <a:lnTo>
                  <a:pt x="139064" y="54714"/>
                </a:lnTo>
                <a:cubicBezTo>
                  <a:pt x="142854" y="54714"/>
                  <a:pt x="145903" y="51664"/>
                  <a:pt x="145903" y="47874"/>
                </a:cubicBezTo>
                <a:lnTo>
                  <a:pt x="145903" y="6839"/>
                </a:lnTo>
                <a:cubicBezTo>
                  <a:pt x="145903" y="4075"/>
                  <a:pt x="144250" y="1567"/>
                  <a:pt x="141685" y="513"/>
                </a:cubicBezTo>
                <a:cubicBezTo>
                  <a:pt x="139121" y="-541"/>
                  <a:pt x="136185" y="57"/>
                  <a:pt x="134219" y="1995"/>
                </a:cubicBezTo>
                <a:lnTo>
                  <a:pt x="119486" y="16756"/>
                </a:lnTo>
                <a:cubicBezTo>
                  <a:pt x="106862" y="6298"/>
                  <a:pt x="90619" y="0"/>
                  <a:pt x="72951" y="0"/>
                </a:cubicBezTo>
                <a:cubicBezTo>
                  <a:pt x="36191" y="0"/>
                  <a:pt x="5785" y="27186"/>
                  <a:pt x="741" y="62550"/>
                </a:cubicBezTo>
                <a:cubicBezTo>
                  <a:pt x="28" y="67537"/>
                  <a:pt x="3477" y="72153"/>
                  <a:pt x="8464" y="72866"/>
                </a:cubicBezTo>
                <a:cubicBezTo>
                  <a:pt x="13450" y="73578"/>
                  <a:pt x="18067" y="70102"/>
                  <a:pt x="18779" y="65143"/>
                </a:cubicBezTo>
                <a:cubicBezTo>
                  <a:pt x="22569" y="38613"/>
                  <a:pt x="45395" y="18238"/>
                  <a:pt x="72951" y="18238"/>
                </a:cubicBezTo>
                <a:cubicBezTo>
                  <a:pt x="85604" y="18238"/>
                  <a:pt x="97231" y="22512"/>
                  <a:pt x="106492" y="29722"/>
                </a:cubicBezTo>
                <a:lnTo>
                  <a:pt x="93184" y="43030"/>
                </a:lnTo>
                <a:cubicBezTo>
                  <a:pt x="91218" y="44996"/>
                  <a:pt x="90648" y="47931"/>
                  <a:pt x="91702" y="50496"/>
                </a:cubicBezTo>
                <a:cubicBezTo>
                  <a:pt x="92757" y="53061"/>
                  <a:pt x="95264" y="54714"/>
                  <a:pt x="98028" y="54714"/>
                </a:cubicBezTo>
                <a:lnTo>
                  <a:pt x="136812" y="54714"/>
                </a:lnTo>
                <a:close/>
                <a:moveTo>
                  <a:pt x="145190" y="83353"/>
                </a:moveTo>
                <a:cubicBezTo>
                  <a:pt x="145903" y="78366"/>
                  <a:pt x="142426" y="73749"/>
                  <a:pt x="137468" y="73037"/>
                </a:cubicBezTo>
                <a:cubicBezTo>
                  <a:pt x="132509" y="72324"/>
                  <a:pt x="127864" y="75801"/>
                  <a:pt x="127152" y="80759"/>
                </a:cubicBezTo>
                <a:cubicBezTo>
                  <a:pt x="123362" y="107261"/>
                  <a:pt x="100536" y="127636"/>
                  <a:pt x="72980" y="127636"/>
                </a:cubicBezTo>
                <a:cubicBezTo>
                  <a:pt x="60327" y="127636"/>
                  <a:pt x="48701" y="123362"/>
                  <a:pt x="39439" y="116152"/>
                </a:cubicBezTo>
                <a:lnTo>
                  <a:pt x="52719" y="102873"/>
                </a:lnTo>
                <a:cubicBezTo>
                  <a:pt x="54685" y="100907"/>
                  <a:pt x="55255" y="97971"/>
                  <a:pt x="54201" y="95407"/>
                </a:cubicBezTo>
                <a:cubicBezTo>
                  <a:pt x="53146" y="92842"/>
                  <a:pt x="50639" y="91189"/>
                  <a:pt x="47874" y="91189"/>
                </a:cubicBezTo>
                <a:lnTo>
                  <a:pt x="6839" y="91189"/>
                </a:lnTo>
                <a:cubicBezTo>
                  <a:pt x="3049" y="91189"/>
                  <a:pt x="0" y="94238"/>
                  <a:pt x="0" y="98028"/>
                </a:cubicBezTo>
                <a:lnTo>
                  <a:pt x="0" y="139064"/>
                </a:lnTo>
                <a:cubicBezTo>
                  <a:pt x="0" y="141828"/>
                  <a:pt x="1653" y="144335"/>
                  <a:pt x="4218" y="145390"/>
                </a:cubicBezTo>
                <a:cubicBezTo>
                  <a:pt x="6782" y="146444"/>
                  <a:pt x="9717" y="145846"/>
                  <a:pt x="11684" y="143908"/>
                </a:cubicBezTo>
                <a:lnTo>
                  <a:pt x="26445" y="129147"/>
                </a:lnTo>
                <a:cubicBezTo>
                  <a:pt x="39040" y="139605"/>
                  <a:pt x="55283" y="145903"/>
                  <a:pt x="72951" y="145903"/>
                </a:cubicBezTo>
                <a:cubicBezTo>
                  <a:pt x="109712" y="145903"/>
                  <a:pt x="140118" y="118717"/>
                  <a:pt x="145162" y="8335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6706398" y="2130123"/>
            <a:ext cx="127664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Prompting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51068" y="2421929"/>
            <a:ext cx="5179548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 model trong feedback loop, refine output dựa trên evaluations. Ứng dụng: Fix compilation errors iteratively.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41641" y="3198747"/>
            <a:ext cx="5325451" cy="948368"/>
          </a:xfrm>
          <a:custGeom>
            <a:avLst/>
            <a:gdLst/>
            <a:ahLst/>
            <a:cxnLst/>
            <a:rect l="l" t="t" r="r" b="b"/>
            <a:pathLst>
              <a:path w="5325451" h="948368">
                <a:moveTo>
                  <a:pt x="72948" y="0"/>
                </a:moveTo>
                <a:lnTo>
                  <a:pt x="5252503" y="0"/>
                </a:lnTo>
                <a:cubicBezTo>
                  <a:pt x="5292764" y="0"/>
                  <a:pt x="5325451" y="32687"/>
                  <a:pt x="5325451" y="72948"/>
                </a:cubicBezTo>
                <a:lnTo>
                  <a:pt x="5325451" y="875420"/>
                </a:lnTo>
                <a:cubicBezTo>
                  <a:pt x="5325451" y="915681"/>
                  <a:pt x="5292764" y="948368"/>
                  <a:pt x="5252503" y="948368"/>
                </a:cubicBezTo>
                <a:lnTo>
                  <a:pt x="72948" y="948368"/>
                </a:lnTo>
                <a:cubicBezTo>
                  <a:pt x="32687" y="948368"/>
                  <a:pt x="0" y="915681"/>
                  <a:pt x="0" y="875420"/>
                </a:cubicBezTo>
                <a:lnTo>
                  <a:pt x="0" y="72948"/>
                </a:lnTo>
                <a:cubicBezTo>
                  <a:pt x="0" y="32687"/>
                  <a:pt x="32687" y="0"/>
                  <a:pt x="7294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4" name="Shape 42"/>
          <p:cNvSpPr/>
          <p:nvPr/>
        </p:nvSpPr>
        <p:spPr>
          <a:xfrm>
            <a:off x="6487544" y="3344650"/>
            <a:ext cx="109427" cy="145903"/>
          </a:xfrm>
          <a:custGeom>
            <a:avLst/>
            <a:gdLst/>
            <a:ahLst/>
            <a:cxnLst/>
            <a:rect l="l" t="t" r="r" b="b"/>
            <a:pathLst>
              <a:path w="109427" h="145903">
                <a:moveTo>
                  <a:pt x="0" y="18238"/>
                </a:moveTo>
                <a:cubicBezTo>
                  <a:pt x="0" y="8179"/>
                  <a:pt x="8179" y="0"/>
                  <a:pt x="18238" y="0"/>
                </a:cubicBezTo>
                <a:lnTo>
                  <a:pt x="60840" y="0"/>
                </a:lnTo>
                <a:cubicBezTo>
                  <a:pt x="65685" y="0"/>
                  <a:pt x="70330" y="1909"/>
                  <a:pt x="73749" y="5329"/>
                </a:cubicBezTo>
                <a:lnTo>
                  <a:pt x="104098" y="35706"/>
                </a:lnTo>
                <a:cubicBezTo>
                  <a:pt x="107518" y="39126"/>
                  <a:pt x="109427" y="43771"/>
                  <a:pt x="109427" y="48615"/>
                </a:cubicBezTo>
                <a:lnTo>
                  <a:pt x="109427" y="127665"/>
                </a:lnTo>
                <a:cubicBezTo>
                  <a:pt x="109427" y="137724"/>
                  <a:pt x="101249" y="145903"/>
                  <a:pt x="91189" y="145903"/>
                </a:cubicBezTo>
                <a:lnTo>
                  <a:pt x="18238" y="145903"/>
                </a:lnTo>
                <a:cubicBezTo>
                  <a:pt x="8179" y="145903"/>
                  <a:pt x="0" y="137724"/>
                  <a:pt x="0" y="127665"/>
                </a:cubicBezTo>
                <a:lnTo>
                  <a:pt x="0" y="18238"/>
                </a:lnTo>
                <a:close/>
                <a:moveTo>
                  <a:pt x="59273" y="16671"/>
                </a:moveTo>
                <a:lnTo>
                  <a:pt x="59273" y="43315"/>
                </a:lnTo>
                <a:cubicBezTo>
                  <a:pt x="59273" y="47105"/>
                  <a:pt x="62322" y="50154"/>
                  <a:pt x="66112" y="50154"/>
                </a:cubicBezTo>
                <a:lnTo>
                  <a:pt x="92757" y="50154"/>
                </a:lnTo>
                <a:lnTo>
                  <a:pt x="59273" y="16671"/>
                </a:lnTo>
                <a:close/>
                <a:moveTo>
                  <a:pt x="43942" y="84236"/>
                </a:moveTo>
                <a:cubicBezTo>
                  <a:pt x="46393" y="81358"/>
                  <a:pt x="46079" y="77055"/>
                  <a:pt x="43201" y="74604"/>
                </a:cubicBezTo>
                <a:cubicBezTo>
                  <a:pt x="40323" y="72153"/>
                  <a:pt x="36020" y="72467"/>
                  <a:pt x="33569" y="75345"/>
                </a:cubicBezTo>
                <a:lnTo>
                  <a:pt x="19891" y="91303"/>
                </a:lnTo>
                <a:cubicBezTo>
                  <a:pt x="17696" y="93868"/>
                  <a:pt x="17696" y="97629"/>
                  <a:pt x="19891" y="100194"/>
                </a:cubicBezTo>
                <a:lnTo>
                  <a:pt x="33569" y="116152"/>
                </a:lnTo>
                <a:cubicBezTo>
                  <a:pt x="36020" y="119030"/>
                  <a:pt x="40351" y="119344"/>
                  <a:pt x="43201" y="116893"/>
                </a:cubicBezTo>
                <a:cubicBezTo>
                  <a:pt x="46051" y="114442"/>
                  <a:pt x="46393" y="110111"/>
                  <a:pt x="43942" y="107261"/>
                </a:cubicBezTo>
                <a:lnTo>
                  <a:pt x="34082" y="95749"/>
                </a:lnTo>
                <a:lnTo>
                  <a:pt x="43942" y="84236"/>
                </a:lnTo>
                <a:close/>
                <a:moveTo>
                  <a:pt x="75858" y="75345"/>
                </a:moveTo>
                <a:cubicBezTo>
                  <a:pt x="73407" y="72467"/>
                  <a:pt x="69076" y="72153"/>
                  <a:pt x="66226" y="74604"/>
                </a:cubicBezTo>
                <a:cubicBezTo>
                  <a:pt x="63377" y="77055"/>
                  <a:pt x="63035" y="81386"/>
                  <a:pt x="65485" y="84236"/>
                </a:cubicBezTo>
                <a:lnTo>
                  <a:pt x="75345" y="95749"/>
                </a:lnTo>
                <a:lnTo>
                  <a:pt x="65485" y="107261"/>
                </a:lnTo>
                <a:cubicBezTo>
                  <a:pt x="63035" y="110139"/>
                  <a:pt x="63348" y="114442"/>
                  <a:pt x="66226" y="116893"/>
                </a:cubicBezTo>
                <a:cubicBezTo>
                  <a:pt x="69104" y="119344"/>
                  <a:pt x="73407" y="119030"/>
                  <a:pt x="75858" y="116152"/>
                </a:cubicBezTo>
                <a:lnTo>
                  <a:pt x="89536" y="100194"/>
                </a:lnTo>
                <a:cubicBezTo>
                  <a:pt x="91731" y="97629"/>
                  <a:pt x="91731" y="93868"/>
                  <a:pt x="89536" y="91303"/>
                </a:cubicBezTo>
                <a:lnTo>
                  <a:pt x="75858" y="7534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6706398" y="3308174"/>
            <a:ext cx="180554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Template-based Prompting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51068" y="3599980"/>
            <a:ext cx="5179548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Cung cấp template định nghĩa output structure với placeholders. Ứng dụng: Fix bugs với output format cụ thể.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41641" y="4376798"/>
            <a:ext cx="5325451" cy="948368"/>
          </a:xfrm>
          <a:custGeom>
            <a:avLst/>
            <a:gdLst/>
            <a:ahLst/>
            <a:cxnLst/>
            <a:rect l="l" t="t" r="r" b="b"/>
            <a:pathLst>
              <a:path w="5325451" h="948368">
                <a:moveTo>
                  <a:pt x="72948" y="0"/>
                </a:moveTo>
                <a:lnTo>
                  <a:pt x="5252503" y="0"/>
                </a:lnTo>
                <a:cubicBezTo>
                  <a:pt x="5292764" y="0"/>
                  <a:pt x="5325451" y="32687"/>
                  <a:pt x="5325451" y="72948"/>
                </a:cubicBezTo>
                <a:lnTo>
                  <a:pt x="5325451" y="875420"/>
                </a:lnTo>
                <a:cubicBezTo>
                  <a:pt x="5325451" y="915681"/>
                  <a:pt x="5292764" y="948368"/>
                  <a:pt x="5252503" y="948368"/>
                </a:cubicBezTo>
                <a:lnTo>
                  <a:pt x="72948" y="948368"/>
                </a:lnTo>
                <a:cubicBezTo>
                  <a:pt x="32687" y="948368"/>
                  <a:pt x="0" y="915681"/>
                  <a:pt x="0" y="875420"/>
                </a:cubicBezTo>
                <a:lnTo>
                  <a:pt x="0" y="72948"/>
                </a:lnTo>
                <a:cubicBezTo>
                  <a:pt x="0" y="32687"/>
                  <a:pt x="32687" y="0"/>
                  <a:pt x="7294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8" name="Shape 46"/>
          <p:cNvSpPr/>
          <p:nvPr/>
        </p:nvSpPr>
        <p:spPr>
          <a:xfrm>
            <a:off x="6460187" y="4522701"/>
            <a:ext cx="164141" cy="145903"/>
          </a:xfrm>
          <a:custGeom>
            <a:avLst/>
            <a:gdLst/>
            <a:ahLst/>
            <a:cxnLst/>
            <a:rect l="l" t="t" r="r" b="b"/>
            <a:pathLst>
              <a:path w="164141" h="145903">
                <a:moveTo>
                  <a:pt x="119543" y="27357"/>
                </a:moveTo>
                <a:cubicBezTo>
                  <a:pt x="114813" y="27357"/>
                  <a:pt x="110225" y="28639"/>
                  <a:pt x="106207" y="30976"/>
                </a:cubicBezTo>
                <a:cubicBezTo>
                  <a:pt x="101704" y="26416"/>
                  <a:pt x="96461" y="22598"/>
                  <a:pt x="90676" y="19720"/>
                </a:cubicBezTo>
                <a:cubicBezTo>
                  <a:pt x="98712" y="12880"/>
                  <a:pt x="108943" y="9119"/>
                  <a:pt x="119543" y="9119"/>
                </a:cubicBezTo>
                <a:cubicBezTo>
                  <a:pt x="144164" y="9119"/>
                  <a:pt x="164141" y="29067"/>
                  <a:pt x="164141" y="53716"/>
                </a:cubicBezTo>
                <a:cubicBezTo>
                  <a:pt x="164141" y="65542"/>
                  <a:pt x="159439" y="76884"/>
                  <a:pt x="151089" y="85233"/>
                </a:cubicBezTo>
                <a:lnTo>
                  <a:pt x="130828" y="105495"/>
                </a:lnTo>
                <a:cubicBezTo>
                  <a:pt x="122479" y="113844"/>
                  <a:pt x="111137" y="118546"/>
                  <a:pt x="99311" y="118546"/>
                </a:cubicBezTo>
                <a:cubicBezTo>
                  <a:pt x="74690" y="118546"/>
                  <a:pt x="54714" y="98598"/>
                  <a:pt x="54714" y="73949"/>
                </a:cubicBezTo>
                <a:cubicBezTo>
                  <a:pt x="54714" y="73521"/>
                  <a:pt x="54714" y="73094"/>
                  <a:pt x="54742" y="72666"/>
                </a:cubicBezTo>
                <a:cubicBezTo>
                  <a:pt x="54885" y="67623"/>
                  <a:pt x="59074" y="63661"/>
                  <a:pt x="64117" y="63804"/>
                </a:cubicBezTo>
                <a:cubicBezTo>
                  <a:pt x="69161" y="63946"/>
                  <a:pt x="73122" y="68135"/>
                  <a:pt x="72980" y="73179"/>
                </a:cubicBezTo>
                <a:cubicBezTo>
                  <a:pt x="72980" y="73436"/>
                  <a:pt x="72980" y="73692"/>
                  <a:pt x="72980" y="73920"/>
                </a:cubicBezTo>
                <a:cubicBezTo>
                  <a:pt x="72980" y="88482"/>
                  <a:pt x="84777" y="100280"/>
                  <a:pt x="99339" y="100280"/>
                </a:cubicBezTo>
                <a:cubicBezTo>
                  <a:pt x="106321" y="100280"/>
                  <a:pt x="113018" y="97515"/>
                  <a:pt x="117976" y="92557"/>
                </a:cubicBezTo>
                <a:lnTo>
                  <a:pt x="138237" y="72296"/>
                </a:lnTo>
                <a:cubicBezTo>
                  <a:pt x="143167" y="67366"/>
                  <a:pt x="145960" y="60641"/>
                  <a:pt x="145960" y="53659"/>
                </a:cubicBezTo>
                <a:cubicBezTo>
                  <a:pt x="145960" y="39097"/>
                  <a:pt x="134162" y="27300"/>
                  <a:pt x="119600" y="27300"/>
                </a:cubicBezTo>
                <a:close/>
                <a:moveTo>
                  <a:pt x="78423" y="49385"/>
                </a:moveTo>
                <a:cubicBezTo>
                  <a:pt x="77881" y="49157"/>
                  <a:pt x="77340" y="48843"/>
                  <a:pt x="76855" y="48501"/>
                </a:cubicBezTo>
                <a:cubicBezTo>
                  <a:pt x="73265" y="46649"/>
                  <a:pt x="69161" y="45595"/>
                  <a:pt x="64858" y="45595"/>
                </a:cubicBezTo>
                <a:cubicBezTo>
                  <a:pt x="57877" y="45595"/>
                  <a:pt x="51180" y="48359"/>
                  <a:pt x="46222" y="53317"/>
                </a:cubicBezTo>
                <a:lnTo>
                  <a:pt x="25960" y="73578"/>
                </a:lnTo>
                <a:cubicBezTo>
                  <a:pt x="21031" y="78508"/>
                  <a:pt x="18238" y="85233"/>
                  <a:pt x="18238" y="92215"/>
                </a:cubicBezTo>
                <a:cubicBezTo>
                  <a:pt x="18238" y="106777"/>
                  <a:pt x="30035" y="118574"/>
                  <a:pt x="44597" y="118574"/>
                </a:cubicBezTo>
                <a:cubicBezTo>
                  <a:pt x="49299" y="118574"/>
                  <a:pt x="53887" y="117321"/>
                  <a:pt x="57905" y="114984"/>
                </a:cubicBezTo>
                <a:cubicBezTo>
                  <a:pt x="62408" y="119543"/>
                  <a:pt x="67651" y="123362"/>
                  <a:pt x="73464" y="126240"/>
                </a:cubicBezTo>
                <a:cubicBezTo>
                  <a:pt x="65428" y="133051"/>
                  <a:pt x="55226" y="136841"/>
                  <a:pt x="44597" y="136841"/>
                </a:cubicBezTo>
                <a:cubicBezTo>
                  <a:pt x="19976" y="136841"/>
                  <a:pt x="0" y="116893"/>
                  <a:pt x="0" y="92244"/>
                </a:cubicBezTo>
                <a:cubicBezTo>
                  <a:pt x="0" y="80418"/>
                  <a:pt x="4702" y="69076"/>
                  <a:pt x="13051" y="60726"/>
                </a:cubicBezTo>
                <a:lnTo>
                  <a:pt x="33313" y="40465"/>
                </a:lnTo>
                <a:cubicBezTo>
                  <a:pt x="41662" y="32116"/>
                  <a:pt x="53004" y="27414"/>
                  <a:pt x="64830" y="27414"/>
                </a:cubicBezTo>
                <a:cubicBezTo>
                  <a:pt x="89508" y="27414"/>
                  <a:pt x="109427" y="47532"/>
                  <a:pt x="109427" y="72125"/>
                </a:cubicBezTo>
                <a:cubicBezTo>
                  <a:pt x="109427" y="72495"/>
                  <a:pt x="109427" y="72866"/>
                  <a:pt x="109427" y="73236"/>
                </a:cubicBezTo>
                <a:cubicBezTo>
                  <a:pt x="109313" y="78280"/>
                  <a:pt x="105124" y="82241"/>
                  <a:pt x="100080" y="82127"/>
                </a:cubicBezTo>
                <a:cubicBezTo>
                  <a:pt x="95036" y="82013"/>
                  <a:pt x="91075" y="77824"/>
                  <a:pt x="91189" y="72780"/>
                </a:cubicBezTo>
                <a:cubicBezTo>
                  <a:pt x="91189" y="72552"/>
                  <a:pt x="91189" y="72353"/>
                  <a:pt x="91189" y="72125"/>
                </a:cubicBezTo>
                <a:cubicBezTo>
                  <a:pt x="91189" y="62522"/>
                  <a:pt x="86060" y="54087"/>
                  <a:pt x="78423" y="4944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6706398" y="4486225"/>
            <a:ext cx="159581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Chain-of-Thought (CoT)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51068" y="4778031"/>
            <a:ext cx="5179548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 model through step-by-step reasoning process. Ứng dụng: Complex validation tasks, breaking down problems.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1179" y="5709016"/>
            <a:ext cx="5626375" cy="1139865"/>
          </a:xfrm>
          <a:custGeom>
            <a:avLst/>
            <a:gdLst/>
            <a:ahLst/>
            <a:cxnLst/>
            <a:rect l="l" t="t" r="r" b="b"/>
            <a:pathLst>
              <a:path w="5626375" h="1139865">
                <a:moveTo>
                  <a:pt x="109427" y="0"/>
                </a:moveTo>
                <a:lnTo>
                  <a:pt x="5516948" y="0"/>
                </a:lnTo>
                <a:cubicBezTo>
                  <a:pt x="5577383" y="0"/>
                  <a:pt x="5626375" y="48992"/>
                  <a:pt x="5626375" y="109427"/>
                </a:cubicBezTo>
                <a:lnTo>
                  <a:pt x="5626375" y="1030438"/>
                </a:lnTo>
                <a:cubicBezTo>
                  <a:pt x="5626375" y="1090873"/>
                  <a:pt x="5577383" y="1139865"/>
                  <a:pt x="5516948" y="1139865"/>
                </a:cubicBezTo>
                <a:lnTo>
                  <a:pt x="109427" y="1139865"/>
                </a:lnTo>
                <a:cubicBezTo>
                  <a:pt x="48992" y="1139865"/>
                  <a:pt x="0" y="1090873"/>
                  <a:pt x="0" y="1030438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75837" y="5895954"/>
            <a:ext cx="159581" cy="182378"/>
          </a:xfrm>
          <a:custGeom>
            <a:avLst/>
            <a:gdLst/>
            <a:ahLst/>
            <a:cxnLst/>
            <a:rect l="l" t="t" r="r" b="b"/>
            <a:pathLst>
              <a:path w="159581" h="182378">
                <a:moveTo>
                  <a:pt x="102588" y="0"/>
                </a:moveTo>
                <a:lnTo>
                  <a:pt x="45595" y="0"/>
                </a:lnTo>
                <a:cubicBezTo>
                  <a:pt x="39290" y="0"/>
                  <a:pt x="34196" y="5094"/>
                  <a:pt x="34196" y="11399"/>
                </a:cubicBezTo>
                <a:cubicBezTo>
                  <a:pt x="34196" y="17704"/>
                  <a:pt x="39290" y="22797"/>
                  <a:pt x="45595" y="22797"/>
                </a:cubicBezTo>
                <a:lnTo>
                  <a:pt x="45595" y="76763"/>
                </a:lnTo>
                <a:lnTo>
                  <a:pt x="2672" y="151851"/>
                </a:lnTo>
                <a:cubicBezTo>
                  <a:pt x="926" y="154950"/>
                  <a:pt x="0" y="158406"/>
                  <a:pt x="0" y="161968"/>
                </a:cubicBezTo>
                <a:cubicBezTo>
                  <a:pt x="0" y="173260"/>
                  <a:pt x="9119" y="182378"/>
                  <a:pt x="20411" y="182378"/>
                </a:cubicBezTo>
                <a:lnTo>
                  <a:pt x="139170" y="182378"/>
                </a:lnTo>
                <a:cubicBezTo>
                  <a:pt x="150427" y="182378"/>
                  <a:pt x="159581" y="173260"/>
                  <a:pt x="159581" y="161968"/>
                </a:cubicBezTo>
                <a:cubicBezTo>
                  <a:pt x="159581" y="158406"/>
                  <a:pt x="158655" y="154915"/>
                  <a:pt x="156910" y="151851"/>
                </a:cubicBezTo>
                <a:lnTo>
                  <a:pt x="113987" y="76763"/>
                </a:lnTo>
                <a:lnTo>
                  <a:pt x="113987" y="22797"/>
                </a:lnTo>
                <a:cubicBezTo>
                  <a:pt x="120291" y="22797"/>
                  <a:pt x="125385" y="17704"/>
                  <a:pt x="125385" y="11399"/>
                </a:cubicBezTo>
                <a:cubicBezTo>
                  <a:pt x="125385" y="5094"/>
                  <a:pt x="120291" y="0"/>
                  <a:pt x="113987" y="0"/>
                </a:cubicBezTo>
                <a:lnTo>
                  <a:pt x="102588" y="0"/>
                </a:lnTo>
                <a:close/>
                <a:moveTo>
                  <a:pt x="68392" y="76763"/>
                </a:moveTo>
                <a:lnTo>
                  <a:pt x="68392" y="22797"/>
                </a:lnTo>
                <a:lnTo>
                  <a:pt x="91189" y="22797"/>
                </a:lnTo>
                <a:lnTo>
                  <a:pt x="91189" y="76763"/>
                </a:lnTo>
                <a:cubicBezTo>
                  <a:pt x="91189" y="80717"/>
                  <a:pt x="92222" y="84635"/>
                  <a:pt x="94181" y="88090"/>
                </a:cubicBezTo>
                <a:lnTo>
                  <a:pt x="109000" y="113987"/>
                </a:lnTo>
                <a:lnTo>
                  <a:pt x="50582" y="113987"/>
                </a:lnTo>
                <a:lnTo>
                  <a:pt x="65400" y="88090"/>
                </a:lnTo>
                <a:cubicBezTo>
                  <a:pt x="67359" y="84635"/>
                  <a:pt x="68392" y="80752"/>
                  <a:pt x="68392" y="767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679041" y="5859478"/>
            <a:ext cx="125841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Lab thực hành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41641" y="6187759"/>
            <a:ext cx="1723476" cy="510660"/>
          </a:xfrm>
          <a:custGeom>
            <a:avLst/>
            <a:gdLst/>
            <a:ahLst/>
            <a:cxnLst/>
            <a:rect l="l" t="t" r="r" b="b"/>
            <a:pathLst>
              <a:path w="1723476" h="510660">
                <a:moveTo>
                  <a:pt x="72953" y="0"/>
                </a:moveTo>
                <a:lnTo>
                  <a:pt x="1650524" y="0"/>
                </a:lnTo>
                <a:cubicBezTo>
                  <a:pt x="1690814" y="0"/>
                  <a:pt x="1723476" y="32662"/>
                  <a:pt x="1723476" y="72953"/>
                </a:cubicBezTo>
                <a:lnTo>
                  <a:pt x="1723476" y="437707"/>
                </a:lnTo>
                <a:cubicBezTo>
                  <a:pt x="1723476" y="477998"/>
                  <a:pt x="1690814" y="510660"/>
                  <a:pt x="1650524" y="510660"/>
                </a:cubicBezTo>
                <a:lnTo>
                  <a:pt x="72953" y="510660"/>
                </a:lnTo>
                <a:cubicBezTo>
                  <a:pt x="32662" y="510660"/>
                  <a:pt x="0" y="477998"/>
                  <a:pt x="0" y="437707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5" name="Text 53"/>
          <p:cNvSpPr/>
          <p:nvPr/>
        </p:nvSpPr>
        <p:spPr>
          <a:xfrm>
            <a:off x="6382676" y="6260711"/>
            <a:ext cx="164140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1-2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82676" y="6443089"/>
            <a:ext cx="164140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ChatGPT, Copilot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42343" y="6187759"/>
            <a:ext cx="1723476" cy="510660"/>
          </a:xfrm>
          <a:custGeom>
            <a:avLst/>
            <a:gdLst/>
            <a:ahLst/>
            <a:cxnLst/>
            <a:rect l="l" t="t" r="r" b="b"/>
            <a:pathLst>
              <a:path w="1723476" h="510660">
                <a:moveTo>
                  <a:pt x="72953" y="0"/>
                </a:moveTo>
                <a:lnTo>
                  <a:pt x="1650524" y="0"/>
                </a:lnTo>
                <a:cubicBezTo>
                  <a:pt x="1690814" y="0"/>
                  <a:pt x="1723476" y="32662"/>
                  <a:pt x="1723476" y="72953"/>
                </a:cubicBezTo>
                <a:lnTo>
                  <a:pt x="1723476" y="437707"/>
                </a:lnTo>
                <a:cubicBezTo>
                  <a:pt x="1723476" y="477998"/>
                  <a:pt x="1690814" y="510660"/>
                  <a:pt x="1650524" y="510660"/>
                </a:cubicBezTo>
                <a:lnTo>
                  <a:pt x="72953" y="510660"/>
                </a:lnTo>
                <a:cubicBezTo>
                  <a:pt x="32662" y="510660"/>
                  <a:pt x="0" y="477998"/>
                  <a:pt x="0" y="437707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8183378" y="6260711"/>
            <a:ext cx="164140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183378" y="6443089"/>
            <a:ext cx="164140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 API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943188" y="6187759"/>
            <a:ext cx="1723476" cy="510660"/>
          </a:xfrm>
          <a:custGeom>
            <a:avLst/>
            <a:gdLst/>
            <a:ahLst/>
            <a:cxnLst/>
            <a:rect l="l" t="t" r="r" b="b"/>
            <a:pathLst>
              <a:path w="1723476" h="510660">
                <a:moveTo>
                  <a:pt x="72953" y="0"/>
                </a:moveTo>
                <a:lnTo>
                  <a:pt x="1650524" y="0"/>
                </a:lnTo>
                <a:cubicBezTo>
                  <a:pt x="1690814" y="0"/>
                  <a:pt x="1723476" y="32662"/>
                  <a:pt x="1723476" y="72953"/>
                </a:cubicBezTo>
                <a:lnTo>
                  <a:pt x="1723476" y="437707"/>
                </a:lnTo>
                <a:cubicBezTo>
                  <a:pt x="1723476" y="477998"/>
                  <a:pt x="1690814" y="510660"/>
                  <a:pt x="1650524" y="510660"/>
                </a:cubicBezTo>
                <a:lnTo>
                  <a:pt x="72953" y="510660"/>
                </a:lnTo>
                <a:cubicBezTo>
                  <a:pt x="32662" y="510660"/>
                  <a:pt x="0" y="477998"/>
                  <a:pt x="0" y="437707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1" name="Text 59"/>
          <p:cNvSpPr/>
          <p:nvPr/>
        </p:nvSpPr>
        <p:spPr>
          <a:xfrm>
            <a:off x="9984223" y="6260711"/>
            <a:ext cx="164140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4-6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984223" y="6443089"/>
            <a:ext cx="164140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Iterative, Template, CoT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0aa4a6221da0dff4c0dc83edd9086942e698ed0b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5540" b="554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F59E0B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96641"/>
            <a:ext cx="1171575" cy="390525"/>
          </a:xfrm>
          <a:custGeom>
            <a:avLst/>
            <a:gdLst/>
            <a:ahLst/>
            <a:cxnLst/>
            <a:rect l="l" t="t" r="r" b="b"/>
            <a:pathLst>
              <a:path w="1171575" h="390525">
                <a:moveTo>
                  <a:pt x="195263" y="0"/>
                </a:moveTo>
                <a:lnTo>
                  <a:pt x="976312" y="0"/>
                </a:lnTo>
                <a:cubicBezTo>
                  <a:pt x="1084081" y="0"/>
                  <a:pt x="1171575" y="87494"/>
                  <a:pt x="1171575" y="195263"/>
                </a:cubicBezTo>
                <a:lnTo>
                  <a:pt x="1171575" y="195263"/>
                </a:lnTo>
                <a:cubicBezTo>
                  <a:pt x="1171575" y="303031"/>
                  <a:pt x="1084081" y="390525"/>
                  <a:pt x="976312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806178"/>
            <a:ext cx="9300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9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7292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Engineering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Nâng cao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30278"/>
            <a:ext cx="86772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1F5F9">
                    <a:alpha val="8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Chain-of-Thought và Prompt Chaining cho coding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5288" y="491847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4899422"/>
            <a:ext cx="320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Kỹ thuật nâng cao cho công việc phức tạp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kern="0" spc="58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9: PROMPT ENGINEERING NÂNG CAO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Chain-of-Thought (CoT) Prompting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148790"/>
            <a:ext cx="889386" cy="37058"/>
          </a:xfrm>
          <a:custGeom>
            <a:avLst/>
            <a:gdLst/>
            <a:ahLst/>
            <a:cxnLst/>
            <a:rect l="l" t="t" r="r" b="b"/>
            <a:pathLst>
              <a:path w="889386" h="37058">
                <a:moveTo>
                  <a:pt x="0" y="0"/>
                </a:moveTo>
                <a:lnTo>
                  <a:pt x="889386" y="0"/>
                </a:lnTo>
                <a:lnTo>
                  <a:pt x="889386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9E0B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75210" y="1338711"/>
            <a:ext cx="5623514" cy="5289994"/>
          </a:xfrm>
          <a:custGeom>
            <a:avLst/>
            <a:gdLst/>
            <a:ahLst/>
            <a:cxnLst/>
            <a:rect l="l" t="t" r="r" b="b"/>
            <a:pathLst>
              <a:path w="5623514" h="5289994">
                <a:moveTo>
                  <a:pt x="111196" y="0"/>
                </a:moveTo>
                <a:lnTo>
                  <a:pt x="5512318" y="0"/>
                </a:lnTo>
                <a:cubicBezTo>
                  <a:pt x="5573730" y="0"/>
                  <a:pt x="5623514" y="49784"/>
                  <a:pt x="5623514" y="111196"/>
                </a:cubicBezTo>
                <a:lnTo>
                  <a:pt x="5623514" y="5178798"/>
                </a:lnTo>
                <a:cubicBezTo>
                  <a:pt x="5623514" y="5240210"/>
                  <a:pt x="5573730" y="5289994"/>
                  <a:pt x="5512318" y="5289994"/>
                </a:cubicBezTo>
                <a:lnTo>
                  <a:pt x="111196" y="5289994"/>
                </a:lnTo>
                <a:cubicBezTo>
                  <a:pt x="49784" y="5289994"/>
                  <a:pt x="0" y="5240210"/>
                  <a:pt x="0" y="5178798"/>
                </a:cubicBezTo>
                <a:lnTo>
                  <a:pt x="0" y="111196"/>
                </a:lnTo>
                <a:cubicBezTo>
                  <a:pt x="0" y="49825"/>
                  <a:pt x="49825" y="0"/>
                  <a:pt x="111196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8073" y="1491574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137" y="1584219"/>
            <a:ext cx="208450" cy="185289"/>
          </a:xfrm>
          <a:custGeom>
            <a:avLst/>
            <a:gdLst/>
            <a:ahLst/>
            <a:cxnLst/>
            <a:rect l="l" t="t" r="r" b="b"/>
            <a:pathLst>
              <a:path w="208450" h="185289">
                <a:moveTo>
                  <a:pt x="151814" y="34742"/>
                </a:moveTo>
                <a:cubicBezTo>
                  <a:pt x="145806" y="34742"/>
                  <a:pt x="139980" y="36370"/>
                  <a:pt x="134877" y="39338"/>
                </a:cubicBezTo>
                <a:cubicBezTo>
                  <a:pt x="129159" y="33547"/>
                  <a:pt x="122500" y="28698"/>
                  <a:pt x="115154" y="25043"/>
                </a:cubicBezTo>
                <a:cubicBezTo>
                  <a:pt x="125359" y="16358"/>
                  <a:pt x="138351" y="11581"/>
                  <a:pt x="151814" y="11581"/>
                </a:cubicBezTo>
                <a:cubicBezTo>
                  <a:pt x="183081" y="11581"/>
                  <a:pt x="208450" y="36913"/>
                  <a:pt x="208450" y="68217"/>
                </a:cubicBezTo>
                <a:cubicBezTo>
                  <a:pt x="208450" y="83235"/>
                  <a:pt x="202479" y="97638"/>
                  <a:pt x="191875" y="108242"/>
                </a:cubicBezTo>
                <a:lnTo>
                  <a:pt x="166145" y="133972"/>
                </a:lnTo>
                <a:cubicBezTo>
                  <a:pt x="155541" y="144576"/>
                  <a:pt x="141138" y="150547"/>
                  <a:pt x="126119" y="150547"/>
                </a:cubicBezTo>
                <a:cubicBezTo>
                  <a:pt x="94852" y="150547"/>
                  <a:pt x="69483" y="125215"/>
                  <a:pt x="69483" y="93911"/>
                </a:cubicBezTo>
                <a:cubicBezTo>
                  <a:pt x="69483" y="93368"/>
                  <a:pt x="69483" y="92825"/>
                  <a:pt x="69519" y="92282"/>
                </a:cubicBezTo>
                <a:cubicBezTo>
                  <a:pt x="69700" y="85877"/>
                  <a:pt x="75020" y="80847"/>
                  <a:pt x="81426" y="81028"/>
                </a:cubicBezTo>
                <a:cubicBezTo>
                  <a:pt x="87831" y="81209"/>
                  <a:pt x="92862" y="86528"/>
                  <a:pt x="92681" y="92934"/>
                </a:cubicBezTo>
                <a:cubicBezTo>
                  <a:pt x="92681" y="93260"/>
                  <a:pt x="92681" y="93585"/>
                  <a:pt x="92681" y="93875"/>
                </a:cubicBezTo>
                <a:cubicBezTo>
                  <a:pt x="92681" y="112367"/>
                  <a:pt x="107663" y="127350"/>
                  <a:pt x="126156" y="127350"/>
                </a:cubicBezTo>
                <a:cubicBezTo>
                  <a:pt x="135022" y="127350"/>
                  <a:pt x="143526" y="123839"/>
                  <a:pt x="149823" y="117543"/>
                </a:cubicBezTo>
                <a:lnTo>
                  <a:pt x="175554" y="91812"/>
                </a:lnTo>
                <a:cubicBezTo>
                  <a:pt x="181815" y="85551"/>
                  <a:pt x="185361" y="77011"/>
                  <a:pt x="185361" y="68144"/>
                </a:cubicBezTo>
                <a:cubicBezTo>
                  <a:pt x="185361" y="49652"/>
                  <a:pt x="170379" y="34669"/>
                  <a:pt x="151886" y="34669"/>
                </a:cubicBezTo>
                <a:close/>
                <a:moveTo>
                  <a:pt x="99593" y="62716"/>
                </a:moveTo>
                <a:cubicBezTo>
                  <a:pt x="98905" y="62426"/>
                  <a:pt x="98218" y="62028"/>
                  <a:pt x="97602" y="61594"/>
                </a:cubicBezTo>
                <a:cubicBezTo>
                  <a:pt x="93042" y="59242"/>
                  <a:pt x="87831" y="57903"/>
                  <a:pt x="82367" y="57903"/>
                </a:cubicBezTo>
                <a:cubicBezTo>
                  <a:pt x="73500" y="57903"/>
                  <a:pt x="64996" y="61413"/>
                  <a:pt x="58699" y="67710"/>
                </a:cubicBezTo>
                <a:lnTo>
                  <a:pt x="32968" y="93441"/>
                </a:lnTo>
                <a:cubicBezTo>
                  <a:pt x="26708" y="99701"/>
                  <a:pt x="23161" y="108242"/>
                  <a:pt x="23161" y="117108"/>
                </a:cubicBezTo>
                <a:cubicBezTo>
                  <a:pt x="23161" y="135601"/>
                  <a:pt x="38143" y="150583"/>
                  <a:pt x="56636" y="150583"/>
                </a:cubicBezTo>
                <a:cubicBezTo>
                  <a:pt x="62607" y="150583"/>
                  <a:pt x="68434" y="148991"/>
                  <a:pt x="73536" y="146023"/>
                </a:cubicBezTo>
                <a:cubicBezTo>
                  <a:pt x="79254" y="151814"/>
                  <a:pt x="85913" y="156663"/>
                  <a:pt x="93296" y="160318"/>
                </a:cubicBezTo>
                <a:cubicBezTo>
                  <a:pt x="83090" y="168967"/>
                  <a:pt x="70135" y="173781"/>
                  <a:pt x="56636" y="173781"/>
                </a:cubicBezTo>
                <a:cubicBezTo>
                  <a:pt x="25369" y="173781"/>
                  <a:pt x="0" y="148448"/>
                  <a:pt x="0" y="117144"/>
                </a:cubicBezTo>
                <a:cubicBezTo>
                  <a:pt x="0" y="102126"/>
                  <a:pt x="5971" y="87723"/>
                  <a:pt x="16575" y="77119"/>
                </a:cubicBezTo>
                <a:lnTo>
                  <a:pt x="42305" y="51389"/>
                </a:lnTo>
                <a:cubicBezTo>
                  <a:pt x="52909" y="40785"/>
                  <a:pt x="67312" y="34814"/>
                  <a:pt x="82330" y="34814"/>
                </a:cubicBezTo>
                <a:cubicBezTo>
                  <a:pt x="113670" y="34814"/>
                  <a:pt x="138967" y="60364"/>
                  <a:pt x="138967" y="91595"/>
                </a:cubicBezTo>
                <a:cubicBezTo>
                  <a:pt x="138967" y="92065"/>
                  <a:pt x="138967" y="92536"/>
                  <a:pt x="138967" y="93006"/>
                </a:cubicBezTo>
                <a:cubicBezTo>
                  <a:pt x="138822" y="99412"/>
                  <a:pt x="133502" y="104442"/>
                  <a:pt x="127097" y="104297"/>
                </a:cubicBezTo>
                <a:cubicBezTo>
                  <a:pt x="120691" y="104153"/>
                  <a:pt x="115661" y="98833"/>
                  <a:pt x="115805" y="92427"/>
                </a:cubicBezTo>
                <a:cubicBezTo>
                  <a:pt x="115805" y="92138"/>
                  <a:pt x="115805" y="91884"/>
                  <a:pt x="115805" y="91595"/>
                </a:cubicBezTo>
                <a:cubicBezTo>
                  <a:pt x="115805" y="79399"/>
                  <a:pt x="109291" y="68687"/>
                  <a:pt x="99593" y="6278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09824" y="1547161"/>
            <a:ext cx="1565690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Chain-of-Thought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8073" y="2067851"/>
            <a:ext cx="5317787" cy="1000559"/>
          </a:xfrm>
          <a:custGeom>
            <a:avLst/>
            <a:gdLst/>
            <a:ahLst/>
            <a:cxnLst/>
            <a:rect l="l" t="t" r="r" b="b"/>
            <a:pathLst>
              <a:path w="5317787" h="1000559">
                <a:moveTo>
                  <a:pt x="74111" y="0"/>
                </a:moveTo>
                <a:lnTo>
                  <a:pt x="5243676" y="0"/>
                </a:lnTo>
                <a:cubicBezTo>
                  <a:pt x="5284606" y="0"/>
                  <a:pt x="5317787" y="33181"/>
                  <a:pt x="5317787" y="74111"/>
                </a:cubicBezTo>
                <a:lnTo>
                  <a:pt x="5317787" y="926448"/>
                </a:lnTo>
                <a:cubicBezTo>
                  <a:pt x="5317787" y="967378"/>
                  <a:pt x="5284606" y="1000559"/>
                  <a:pt x="5243676" y="1000559"/>
                </a:cubicBezTo>
                <a:lnTo>
                  <a:pt x="74111" y="1000559"/>
                </a:lnTo>
                <a:cubicBezTo>
                  <a:pt x="33181" y="1000559"/>
                  <a:pt x="0" y="967378"/>
                  <a:pt x="0" y="926448"/>
                </a:cubicBezTo>
                <a:lnTo>
                  <a:pt x="0" y="74111"/>
                </a:lnTo>
                <a:cubicBezTo>
                  <a:pt x="0" y="33181"/>
                  <a:pt x="33181" y="0"/>
                  <a:pt x="7411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39246" y="2179025"/>
            <a:ext cx="516955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Nguyên lý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246" y="2475487"/>
            <a:ext cx="5169556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Thay vì yêu cầu model implement toàn bộ function, ta định nghĩa các </a:t>
            </a:r>
            <a:r>
              <a:rPr lang="en-US" sz="1167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bước trung gian</a:t>
            </a:r>
            <a:r>
              <a:rPr lang="en-US" sz="116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model sẽ implement từng bước.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8073" y="3368636"/>
            <a:ext cx="5317787" cy="1195112"/>
          </a:xfrm>
          <a:custGeom>
            <a:avLst/>
            <a:gdLst/>
            <a:ahLst/>
            <a:cxnLst/>
            <a:rect l="l" t="t" r="r" b="b"/>
            <a:pathLst>
              <a:path w="5317787" h="1195112">
                <a:moveTo>
                  <a:pt x="74121" y="0"/>
                </a:moveTo>
                <a:lnTo>
                  <a:pt x="5243666" y="0"/>
                </a:lnTo>
                <a:cubicBezTo>
                  <a:pt x="5284602" y="0"/>
                  <a:pt x="5317787" y="33185"/>
                  <a:pt x="5317787" y="74121"/>
                </a:cubicBezTo>
                <a:lnTo>
                  <a:pt x="5317787" y="1120992"/>
                </a:lnTo>
                <a:cubicBezTo>
                  <a:pt x="5317787" y="1161927"/>
                  <a:pt x="5284602" y="1195112"/>
                  <a:pt x="5243666" y="1195112"/>
                </a:cubicBezTo>
                <a:lnTo>
                  <a:pt x="74121" y="1195112"/>
                </a:lnTo>
                <a:cubicBezTo>
                  <a:pt x="33185" y="1195112"/>
                  <a:pt x="0" y="1161927"/>
                  <a:pt x="0" y="1120992"/>
                </a:cubicBezTo>
                <a:lnTo>
                  <a:pt x="0" y="74121"/>
                </a:lnTo>
                <a:cubicBezTo>
                  <a:pt x="0" y="33212"/>
                  <a:pt x="33212" y="0"/>
                  <a:pt x="7412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39246" y="3479810"/>
            <a:ext cx="516955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❌ Không có các bước (output sai)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9246" y="3776272"/>
            <a:ext cx="5095441" cy="379842"/>
          </a:xfrm>
          <a:custGeom>
            <a:avLst/>
            <a:gdLst/>
            <a:ahLst/>
            <a:cxnLst/>
            <a:rect l="l" t="t" r="r" b="b"/>
            <a:pathLst>
              <a:path w="5095441" h="379842">
                <a:moveTo>
                  <a:pt x="74115" y="0"/>
                </a:moveTo>
                <a:lnTo>
                  <a:pt x="5021326" y="0"/>
                </a:lnTo>
                <a:cubicBezTo>
                  <a:pt x="5062258" y="0"/>
                  <a:pt x="5095441" y="33182"/>
                  <a:pt x="5095441" y="74115"/>
                </a:cubicBezTo>
                <a:lnTo>
                  <a:pt x="5095441" y="305727"/>
                </a:lnTo>
                <a:cubicBezTo>
                  <a:pt x="5095441" y="346660"/>
                  <a:pt x="5062258" y="379842"/>
                  <a:pt x="5021326" y="379842"/>
                </a:cubicBezTo>
                <a:lnTo>
                  <a:pt x="74115" y="379842"/>
                </a:lnTo>
                <a:cubicBezTo>
                  <a:pt x="33182" y="379842"/>
                  <a:pt x="0" y="346660"/>
                  <a:pt x="0" y="305727"/>
                </a:cubicBezTo>
                <a:lnTo>
                  <a:pt x="0" y="74115"/>
                </a:lnTo>
                <a:cubicBezTo>
                  <a:pt x="0" y="33182"/>
                  <a:pt x="33182" y="0"/>
                  <a:pt x="74115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50419" y="3887445"/>
            <a:ext cx="4928681" cy="1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TASK: Implement get_geometric_mean()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9246" y="4228347"/>
            <a:ext cx="516955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Output: Logic không chính xác, không xử lý lợi suất âm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8073" y="4862093"/>
            <a:ext cx="5317787" cy="1519368"/>
          </a:xfrm>
          <a:custGeom>
            <a:avLst/>
            <a:gdLst/>
            <a:ahLst/>
            <a:cxnLst/>
            <a:rect l="l" t="t" r="r" b="b"/>
            <a:pathLst>
              <a:path w="5317787" h="1519368">
                <a:moveTo>
                  <a:pt x="74115" y="0"/>
                </a:moveTo>
                <a:lnTo>
                  <a:pt x="5243672" y="0"/>
                </a:lnTo>
                <a:cubicBezTo>
                  <a:pt x="5284605" y="0"/>
                  <a:pt x="5317787" y="33182"/>
                  <a:pt x="5317787" y="74115"/>
                </a:cubicBezTo>
                <a:lnTo>
                  <a:pt x="5317787" y="1445253"/>
                </a:lnTo>
                <a:cubicBezTo>
                  <a:pt x="5317787" y="1486185"/>
                  <a:pt x="5284605" y="1519368"/>
                  <a:pt x="5243672" y="1519368"/>
                </a:cubicBezTo>
                <a:lnTo>
                  <a:pt x="74115" y="1519368"/>
                </a:lnTo>
                <a:cubicBezTo>
                  <a:pt x="33182" y="1519368"/>
                  <a:pt x="0" y="1486185"/>
                  <a:pt x="0" y="1445253"/>
                </a:cubicBezTo>
                <a:lnTo>
                  <a:pt x="0" y="74115"/>
                </a:lnTo>
                <a:cubicBezTo>
                  <a:pt x="0" y="33182"/>
                  <a:pt x="33182" y="0"/>
                  <a:pt x="7411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639246" y="4973266"/>
            <a:ext cx="516955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 Có các bước (output đúng)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9246" y="5269728"/>
            <a:ext cx="5095441" cy="1000559"/>
          </a:xfrm>
          <a:custGeom>
            <a:avLst/>
            <a:gdLst/>
            <a:ahLst/>
            <a:cxnLst/>
            <a:rect l="l" t="t" r="r" b="b"/>
            <a:pathLst>
              <a:path w="5095441" h="1000559">
                <a:moveTo>
                  <a:pt x="74111" y="0"/>
                </a:moveTo>
                <a:lnTo>
                  <a:pt x="5021329" y="0"/>
                </a:lnTo>
                <a:cubicBezTo>
                  <a:pt x="5062260" y="0"/>
                  <a:pt x="5095441" y="33181"/>
                  <a:pt x="5095441" y="74111"/>
                </a:cubicBezTo>
                <a:lnTo>
                  <a:pt x="5095441" y="926448"/>
                </a:lnTo>
                <a:cubicBezTo>
                  <a:pt x="5095441" y="967378"/>
                  <a:pt x="5062260" y="1000559"/>
                  <a:pt x="5021329" y="1000559"/>
                </a:cubicBezTo>
                <a:lnTo>
                  <a:pt x="74111" y="1000559"/>
                </a:lnTo>
                <a:cubicBezTo>
                  <a:pt x="33181" y="1000559"/>
                  <a:pt x="0" y="967378"/>
                  <a:pt x="0" y="926448"/>
                </a:cubicBezTo>
                <a:lnTo>
                  <a:pt x="0" y="74111"/>
                </a:lnTo>
                <a:cubicBezTo>
                  <a:pt x="0" y="33181"/>
                  <a:pt x="33181" y="0"/>
                  <a:pt x="7411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50419" y="5380901"/>
            <a:ext cx="4928681" cy="1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get_average_return(net_returns):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0419" y="5536515"/>
            <a:ext cx="4928681" cy="1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gross = get_gross_returns(net) 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0419" y="5692128"/>
            <a:ext cx="4928681" cy="1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geo_mean = get_geometric_mean(gross) 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0419" y="5847742"/>
            <a:ext cx="4928681" cy="1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net_avg = get_net_average(geo_mean) 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0419" y="6003356"/>
            <a:ext cx="4928681" cy="1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net_avg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105" y="1338711"/>
            <a:ext cx="5623514" cy="4604426"/>
          </a:xfrm>
          <a:custGeom>
            <a:avLst/>
            <a:gdLst/>
            <a:ahLst/>
            <a:cxnLst/>
            <a:rect l="l" t="t" r="r" b="b"/>
            <a:pathLst>
              <a:path w="5623514" h="4604426">
                <a:moveTo>
                  <a:pt x="111151" y="0"/>
                </a:moveTo>
                <a:lnTo>
                  <a:pt x="5512363" y="0"/>
                </a:lnTo>
                <a:cubicBezTo>
                  <a:pt x="5573709" y="0"/>
                  <a:pt x="5623514" y="49805"/>
                  <a:pt x="5623514" y="111151"/>
                </a:cubicBezTo>
                <a:lnTo>
                  <a:pt x="5623514" y="4493275"/>
                </a:lnTo>
                <a:cubicBezTo>
                  <a:pt x="5623514" y="4554621"/>
                  <a:pt x="5573709" y="4604426"/>
                  <a:pt x="5512363" y="4604426"/>
                </a:cubicBezTo>
                <a:lnTo>
                  <a:pt x="111151" y="4604426"/>
                </a:lnTo>
                <a:cubicBezTo>
                  <a:pt x="49805" y="4604426"/>
                  <a:pt x="0" y="4554621"/>
                  <a:pt x="0" y="4493275"/>
                </a:cubicBezTo>
                <a:lnTo>
                  <a:pt x="0" y="111151"/>
                </a:lnTo>
                <a:cubicBezTo>
                  <a:pt x="0" y="49805"/>
                  <a:pt x="49805" y="0"/>
                  <a:pt x="11115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EC4899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3968" y="1491574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25032" y="1584219"/>
            <a:ext cx="208450" cy="185289"/>
          </a:xfrm>
          <a:custGeom>
            <a:avLst/>
            <a:gdLst/>
            <a:ahLst/>
            <a:cxnLst/>
            <a:rect l="l" t="t" r="r" b="b"/>
            <a:pathLst>
              <a:path w="208450" h="185289">
                <a:moveTo>
                  <a:pt x="151814" y="34742"/>
                </a:moveTo>
                <a:cubicBezTo>
                  <a:pt x="145806" y="34742"/>
                  <a:pt x="139980" y="36370"/>
                  <a:pt x="134877" y="39338"/>
                </a:cubicBezTo>
                <a:cubicBezTo>
                  <a:pt x="129159" y="33547"/>
                  <a:pt x="122500" y="28698"/>
                  <a:pt x="115154" y="25043"/>
                </a:cubicBezTo>
                <a:cubicBezTo>
                  <a:pt x="125359" y="16358"/>
                  <a:pt x="138351" y="11581"/>
                  <a:pt x="151814" y="11581"/>
                </a:cubicBezTo>
                <a:cubicBezTo>
                  <a:pt x="183081" y="11581"/>
                  <a:pt x="208450" y="36913"/>
                  <a:pt x="208450" y="68217"/>
                </a:cubicBezTo>
                <a:cubicBezTo>
                  <a:pt x="208450" y="83235"/>
                  <a:pt x="202479" y="97638"/>
                  <a:pt x="191875" y="108242"/>
                </a:cubicBezTo>
                <a:lnTo>
                  <a:pt x="166145" y="133972"/>
                </a:lnTo>
                <a:cubicBezTo>
                  <a:pt x="155541" y="144576"/>
                  <a:pt x="141138" y="150547"/>
                  <a:pt x="126119" y="150547"/>
                </a:cubicBezTo>
                <a:cubicBezTo>
                  <a:pt x="94852" y="150547"/>
                  <a:pt x="69483" y="125215"/>
                  <a:pt x="69483" y="93911"/>
                </a:cubicBezTo>
                <a:cubicBezTo>
                  <a:pt x="69483" y="93368"/>
                  <a:pt x="69483" y="92825"/>
                  <a:pt x="69519" y="92282"/>
                </a:cubicBezTo>
                <a:cubicBezTo>
                  <a:pt x="69700" y="85877"/>
                  <a:pt x="75020" y="80847"/>
                  <a:pt x="81426" y="81028"/>
                </a:cubicBezTo>
                <a:cubicBezTo>
                  <a:pt x="87831" y="81209"/>
                  <a:pt x="92862" y="86528"/>
                  <a:pt x="92681" y="92934"/>
                </a:cubicBezTo>
                <a:cubicBezTo>
                  <a:pt x="92681" y="93260"/>
                  <a:pt x="92681" y="93585"/>
                  <a:pt x="92681" y="93875"/>
                </a:cubicBezTo>
                <a:cubicBezTo>
                  <a:pt x="92681" y="112367"/>
                  <a:pt x="107663" y="127350"/>
                  <a:pt x="126156" y="127350"/>
                </a:cubicBezTo>
                <a:cubicBezTo>
                  <a:pt x="135022" y="127350"/>
                  <a:pt x="143526" y="123839"/>
                  <a:pt x="149823" y="117543"/>
                </a:cubicBezTo>
                <a:lnTo>
                  <a:pt x="175554" y="91812"/>
                </a:lnTo>
                <a:cubicBezTo>
                  <a:pt x="181815" y="85551"/>
                  <a:pt x="185361" y="77011"/>
                  <a:pt x="185361" y="68144"/>
                </a:cubicBezTo>
                <a:cubicBezTo>
                  <a:pt x="185361" y="49652"/>
                  <a:pt x="170379" y="34669"/>
                  <a:pt x="151886" y="34669"/>
                </a:cubicBezTo>
                <a:close/>
                <a:moveTo>
                  <a:pt x="99593" y="62716"/>
                </a:moveTo>
                <a:cubicBezTo>
                  <a:pt x="98905" y="62426"/>
                  <a:pt x="98218" y="62028"/>
                  <a:pt x="97602" y="61594"/>
                </a:cubicBezTo>
                <a:cubicBezTo>
                  <a:pt x="93042" y="59242"/>
                  <a:pt x="87831" y="57903"/>
                  <a:pt x="82367" y="57903"/>
                </a:cubicBezTo>
                <a:cubicBezTo>
                  <a:pt x="73500" y="57903"/>
                  <a:pt x="64996" y="61413"/>
                  <a:pt x="58699" y="67710"/>
                </a:cubicBezTo>
                <a:lnTo>
                  <a:pt x="32968" y="93441"/>
                </a:lnTo>
                <a:cubicBezTo>
                  <a:pt x="26708" y="99701"/>
                  <a:pt x="23161" y="108242"/>
                  <a:pt x="23161" y="117108"/>
                </a:cubicBezTo>
                <a:cubicBezTo>
                  <a:pt x="23161" y="135601"/>
                  <a:pt x="38143" y="150583"/>
                  <a:pt x="56636" y="150583"/>
                </a:cubicBezTo>
                <a:cubicBezTo>
                  <a:pt x="62607" y="150583"/>
                  <a:pt x="68434" y="148991"/>
                  <a:pt x="73536" y="146023"/>
                </a:cubicBezTo>
                <a:cubicBezTo>
                  <a:pt x="79254" y="151814"/>
                  <a:pt x="85913" y="156663"/>
                  <a:pt x="93296" y="160318"/>
                </a:cubicBezTo>
                <a:cubicBezTo>
                  <a:pt x="83090" y="168967"/>
                  <a:pt x="70135" y="173781"/>
                  <a:pt x="56636" y="173781"/>
                </a:cubicBezTo>
                <a:cubicBezTo>
                  <a:pt x="25369" y="173781"/>
                  <a:pt x="0" y="148448"/>
                  <a:pt x="0" y="117144"/>
                </a:cubicBezTo>
                <a:cubicBezTo>
                  <a:pt x="0" y="102126"/>
                  <a:pt x="5971" y="87723"/>
                  <a:pt x="16575" y="77119"/>
                </a:cubicBezTo>
                <a:lnTo>
                  <a:pt x="42305" y="51389"/>
                </a:lnTo>
                <a:cubicBezTo>
                  <a:pt x="52909" y="40785"/>
                  <a:pt x="67312" y="34814"/>
                  <a:pt x="82330" y="34814"/>
                </a:cubicBezTo>
                <a:cubicBezTo>
                  <a:pt x="113670" y="34814"/>
                  <a:pt x="138967" y="60364"/>
                  <a:pt x="138967" y="91595"/>
                </a:cubicBezTo>
                <a:cubicBezTo>
                  <a:pt x="138967" y="92065"/>
                  <a:pt x="138967" y="92536"/>
                  <a:pt x="138967" y="93006"/>
                </a:cubicBezTo>
                <a:cubicBezTo>
                  <a:pt x="138822" y="99412"/>
                  <a:pt x="133502" y="104442"/>
                  <a:pt x="127097" y="104297"/>
                </a:cubicBezTo>
                <a:cubicBezTo>
                  <a:pt x="120691" y="104153"/>
                  <a:pt x="115661" y="98833"/>
                  <a:pt x="115805" y="92427"/>
                </a:cubicBezTo>
                <a:cubicBezTo>
                  <a:pt x="115805" y="92138"/>
                  <a:pt x="115805" y="91884"/>
                  <a:pt x="115805" y="91595"/>
                </a:cubicBezTo>
                <a:cubicBezTo>
                  <a:pt x="115805" y="79399"/>
                  <a:pt x="109291" y="68687"/>
                  <a:pt x="99593" y="62788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825719" y="1547161"/>
            <a:ext cx="146378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Chaining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3968" y="1973325"/>
            <a:ext cx="5317787" cy="1000559"/>
          </a:xfrm>
          <a:custGeom>
            <a:avLst/>
            <a:gdLst/>
            <a:ahLst/>
            <a:cxnLst/>
            <a:rect l="l" t="t" r="r" b="b"/>
            <a:pathLst>
              <a:path w="5317787" h="1000559">
                <a:moveTo>
                  <a:pt x="74111" y="0"/>
                </a:moveTo>
                <a:lnTo>
                  <a:pt x="5243676" y="0"/>
                </a:lnTo>
                <a:cubicBezTo>
                  <a:pt x="5284606" y="0"/>
                  <a:pt x="5317787" y="33181"/>
                  <a:pt x="5317787" y="74111"/>
                </a:cubicBezTo>
                <a:lnTo>
                  <a:pt x="5317787" y="926448"/>
                </a:lnTo>
                <a:cubicBezTo>
                  <a:pt x="5317787" y="967378"/>
                  <a:pt x="5284606" y="1000559"/>
                  <a:pt x="5243676" y="1000559"/>
                </a:cubicBezTo>
                <a:lnTo>
                  <a:pt x="74111" y="1000559"/>
                </a:lnTo>
                <a:cubicBezTo>
                  <a:pt x="33181" y="1000559"/>
                  <a:pt x="0" y="967378"/>
                  <a:pt x="0" y="926448"/>
                </a:cubicBezTo>
                <a:lnTo>
                  <a:pt x="0" y="74111"/>
                </a:lnTo>
                <a:cubicBezTo>
                  <a:pt x="0" y="33181"/>
                  <a:pt x="33181" y="0"/>
                  <a:pt x="7411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142" y="2084498"/>
            <a:ext cx="516955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Nguyên lý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5142" y="2380960"/>
            <a:ext cx="5169556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Thay vì một prompt lớn, gửi </a:t>
            </a:r>
            <a:r>
              <a:rPr lang="en-US" sz="1167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nhiều prompt liên tiếp</a:t>
            </a:r>
            <a:r>
              <a:rPr lang="en-US" sz="116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nơi mỗi prompt cải tiến/mở rộng output trước đó.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3968" y="3085058"/>
            <a:ext cx="5317787" cy="2705216"/>
          </a:xfrm>
          <a:custGeom>
            <a:avLst/>
            <a:gdLst/>
            <a:ahLst/>
            <a:cxnLst/>
            <a:rect l="l" t="t" r="r" b="b"/>
            <a:pathLst>
              <a:path w="5317787" h="2705216">
                <a:moveTo>
                  <a:pt x="74123" y="0"/>
                </a:moveTo>
                <a:lnTo>
                  <a:pt x="5243664" y="0"/>
                </a:lnTo>
                <a:cubicBezTo>
                  <a:pt x="5284601" y="0"/>
                  <a:pt x="5317787" y="33186"/>
                  <a:pt x="5317787" y="74123"/>
                </a:cubicBezTo>
                <a:lnTo>
                  <a:pt x="5317787" y="2631093"/>
                </a:lnTo>
                <a:cubicBezTo>
                  <a:pt x="5317787" y="2672002"/>
                  <a:pt x="5284574" y="2705216"/>
                  <a:pt x="5243664" y="2705216"/>
                </a:cubicBezTo>
                <a:lnTo>
                  <a:pt x="74123" y="2705216"/>
                </a:lnTo>
                <a:cubicBezTo>
                  <a:pt x="33186" y="2705216"/>
                  <a:pt x="0" y="2672030"/>
                  <a:pt x="0" y="2631093"/>
                </a:cubicBezTo>
                <a:lnTo>
                  <a:pt x="0" y="74123"/>
                </a:lnTo>
                <a:cubicBezTo>
                  <a:pt x="0" y="33213"/>
                  <a:pt x="33213" y="0"/>
                  <a:pt x="7412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142" y="3196231"/>
            <a:ext cx="516955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Ví dụ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5142" y="3492693"/>
            <a:ext cx="5095441" cy="704097"/>
          </a:xfrm>
          <a:custGeom>
            <a:avLst/>
            <a:gdLst/>
            <a:ahLst/>
            <a:cxnLst/>
            <a:rect l="l" t="t" r="r" b="b"/>
            <a:pathLst>
              <a:path w="5095441" h="704097">
                <a:moveTo>
                  <a:pt x="37057" y="0"/>
                </a:moveTo>
                <a:lnTo>
                  <a:pt x="5058384" y="0"/>
                </a:lnTo>
                <a:cubicBezTo>
                  <a:pt x="5078850" y="0"/>
                  <a:pt x="5095441" y="16591"/>
                  <a:pt x="5095441" y="37057"/>
                </a:cubicBezTo>
                <a:lnTo>
                  <a:pt x="5095441" y="667041"/>
                </a:lnTo>
                <a:cubicBezTo>
                  <a:pt x="5095441" y="687506"/>
                  <a:pt x="5078850" y="704097"/>
                  <a:pt x="5058384" y="704097"/>
                </a:cubicBezTo>
                <a:lnTo>
                  <a:pt x="37057" y="704097"/>
                </a:lnTo>
                <a:cubicBezTo>
                  <a:pt x="16591" y="704097"/>
                  <a:pt x="0" y="687506"/>
                  <a:pt x="0" y="667041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6529257" y="3566809"/>
            <a:ext cx="50120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1: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9257" y="3752097"/>
            <a:ext cx="50120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geometric mean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29257" y="3937386"/>
            <a:ext cx="50120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Output 1: Code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55142" y="4233848"/>
            <a:ext cx="5095441" cy="704097"/>
          </a:xfrm>
          <a:custGeom>
            <a:avLst/>
            <a:gdLst/>
            <a:ahLst/>
            <a:cxnLst/>
            <a:rect l="l" t="t" r="r" b="b"/>
            <a:pathLst>
              <a:path w="5095441" h="704097">
                <a:moveTo>
                  <a:pt x="37057" y="0"/>
                </a:moveTo>
                <a:lnTo>
                  <a:pt x="5058384" y="0"/>
                </a:lnTo>
                <a:cubicBezTo>
                  <a:pt x="5078850" y="0"/>
                  <a:pt x="5095441" y="16591"/>
                  <a:pt x="5095441" y="37057"/>
                </a:cubicBezTo>
                <a:lnTo>
                  <a:pt x="5095441" y="667041"/>
                </a:lnTo>
                <a:cubicBezTo>
                  <a:pt x="5095441" y="687506"/>
                  <a:pt x="5078850" y="704097"/>
                  <a:pt x="5058384" y="704097"/>
                </a:cubicBezTo>
                <a:lnTo>
                  <a:pt x="37057" y="704097"/>
                </a:lnTo>
                <a:cubicBezTo>
                  <a:pt x="16591" y="704097"/>
                  <a:pt x="0" y="687506"/>
                  <a:pt x="0" y="667041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6529257" y="4307964"/>
            <a:ext cx="50120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2: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29257" y="4493252"/>
            <a:ext cx="50120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type hints to the code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29257" y="4678541"/>
            <a:ext cx="50120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Output 2: Code with type hints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55142" y="4975003"/>
            <a:ext cx="5095441" cy="704097"/>
          </a:xfrm>
          <a:custGeom>
            <a:avLst/>
            <a:gdLst/>
            <a:ahLst/>
            <a:cxnLst/>
            <a:rect l="l" t="t" r="r" b="b"/>
            <a:pathLst>
              <a:path w="5095441" h="704097">
                <a:moveTo>
                  <a:pt x="37057" y="0"/>
                </a:moveTo>
                <a:lnTo>
                  <a:pt x="5058384" y="0"/>
                </a:lnTo>
                <a:cubicBezTo>
                  <a:pt x="5078850" y="0"/>
                  <a:pt x="5095441" y="16591"/>
                  <a:pt x="5095441" y="37057"/>
                </a:cubicBezTo>
                <a:lnTo>
                  <a:pt x="5095441" y="667041"/>
                </a:lnTo>
                <a:cubicBezTo>
                  <a:pt x="5095441" y="687506"/>
                  <a:pt x="5078850" y="704097"/>
                  <a:pt x="5058384" y="704097"/>
                </a:cubicBezTo>
                <a:lnTo>
                  <a:pt x="37057" y="704097"/>
                </a:lnTo>
                <a:cubicBezTo>
                  <a:pt x="16591" y="704097"/>
                  <a:pt x="0" y="687506"/>
                  <a:pt x="0" y="667041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6529257" y="5049119"/>
            <a:ext cx="50120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3: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29257" y="5234407"/>
            <a:ext cx="50120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Google-style docstrings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29257" y="5419696"/>
            <a:ext cx="50120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Output 3: Final code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105" y="6100632"/>
            <a:ext cx="5623514" cy="528073"/>
          </a:xfrm>
          <a:custGeom>
            <a:avLst/>
            <a:gdLst/>
            <a:ahLst/>
            <a:cxnLst/>
            <a:rect l="l" t="t" r="r" b="b"/>
            <a:pathLst>
              <a:path w="5623514" h="528073">
                <a:moveTo>
                  <a:pt x="111175" y="0"/>
                </a:moveTo>
                <a:lnTo>
                  <a:pt x="5512338" y="0"/>
                </a:lnTo>
                <a:cubicBezTo>
                  <a:pt x="5573739" y="0"/>
                  <a:pt x="5623514" y="49775"/>
                  <a:pt x="5623514" y="111175"/>
                </a:cubicBezTo>
                <a:lnTo>
                  <a:pt x="5623514" y="416898"/>
                </a:lnTo>
                <a:cubicBezTo>
                  <a:pt x="5623514" y="478298"/>
                  <a:pt x="5573739" y="528073"/>
                  <a:pt x="5512338" y="528073"/>
                </a:cubicBezTo>
                <a:lnTo>
                  <a:pt x="111175" y="528073"/>
                </a:lnTo>
                <a:cubicBezTo>
                  <a:pt x="49775" y="528073"/>
                  <a:pt x="0" y="478298"/>
                  <a:pt x="0" y="416898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EC4899">
                  <a:alpha val="10000"/>
                </a:srgbClr>
              </a:gs>
            </a:gsLst>
            <a:lin ang="0" scaled="1"/>
          </a:gra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81026" y="6290553"/>
            <a:ext cx="111173" cy="148231"/>
          </a:xfrm>
          <a:custGeom>
            <a:avLst/>
            <a:gdLst/>
            <a:ahLst/>
            <a:cxnLst/>
            <a:rect l="l" t="t" r="r" b="b"/>
            <a:pathLst>
              <a:path w="111173" h="148231">
                <a:moveTo>
                  <a:pt x="84799" y="111173"/>
                </a:moveTo>
                <a:cubicBezTo>
                  <a:pt x="86912" y="104717"/>
                  <a:pt x="91139" y="98869"/>
                  <a:pt x="95916" y="93831"/>
                </a:cubicBezTo>
                <a:cubicBezTo>
                  <a:pt x="105383" y="83872"/>
                  <a:pt x="111173" y="70410"/>
                  <a:pt x="111173" y="55587"/>
                </a:cubicBezTo>
                <a:cubicBezTo>
                  <a:pt x="111173" y="24898"/>
                  <a:pt x="86275" y="0"/>
                  <a:pt x="55587" y="0"/>
                </a:cubicBezTo>
                <a:cubicBezTo>
                  <a:pt x="24898" y="0"/>
                  <a:pt x="0" y="24898"/>
                  <a:pt x="0" y="55587"/>
                </a:cubicBezTo>
                <a:cubicBezTo>
                  <a:pt x="0" y="70410"/>
                  <a:pt x="5790" y="83872"/>
                  <a:pt x="15257" y="93831"/>
                </a:cubicBezTo>
                <a:cubicBezTo>
                  <a:pt x="20034" y="98869"/>
                  <a:pt x="24290" y="104717"/>
                  <a:pt x="26375" y="111173"/>
                </a:cubicBezTo>
                <a:lnTo>
                  <a:pt x="84770" y="111173"/>
                </a:lnTo>
                <a:close/>
                <a:moveTo>
                  <a:pt x="83380" y="125070"/>
                </a:moveTo>
                <a:lnTo>
                  <a:pt x="27793" y="125070"/>
                </a:lnTo>
                <a:lnTo>
                  <a:pt x="27793" y="129702"/>
                </a:lnTo>
                <a:cubicBezTo>
                  <a:pt x="27793" y="142499"/>
                  <a:pt x="38158" y="152863"/>
                  <a:pt x="50954" y="152863"/>
                </a:cubicBezTo>
                <a:lnTo>
                  <a:pt x="60219" y="152863"/>
                </a:lnTo>
                <a:cubicBezTo>
                  <a:pt x="73015" y="152863"/>
                  <a:pt x="83380" y="142499"/>
                  <a:pt x="83380" y="129702"/>
                </a:cubicBezTo>
                <a:lnTo>
                  <a:pt x="83380" y="125070"/>
                </a:lnTo>
                <a:close/>
                <a:moveTo>
                  <a:pt x="53271" y="32426"/>
                </a:moveTo>
                <a:cubicBezTo>
                  <a:pt x="41748" y="32426"/>
                  <a:pt x="32426" y="41748"/>
                  <a:pt x="32426" y="53271"/>
                </a:cubicBezTo>
                <a:cubicBezTo>
                  <a:pt x="32426" y="57121"/>
                  <a:pt x="29328" y="60219"/>
                  <a:pt x="25477" y="60219"/>
                </a:cubicBezTo>
                <a:cubicBezTo>
                  <a:pt x="21627" y="60219"/>
                  <a:pt x="18529" y="57121"/>
                  <a:pt x="18529" y="53271"/>
                </a:cubicBezTo>
                <a:cubicBezTo>
                  <a:pt x="18529" y="34076"/>
                  <a:pt x="34076" y="18529"/>
                  <a:pt x="53271" y="18529"/>
                </a:cubicBezTo>
                <a:cubicBezTo>
                  <a:pt x="57121" y="18529"/>
                  <a:pt x="60219" y="21627"/>
                  <a:pt x="60219" y="25477"/>
                </a:cubicBezTo>
                <a:cubicBezTo>
                  <a:pt x="60219" y="29328"/>
                  <a:pt x="57121" y="32426"/>
                  <a:pt x="53271" y="3242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323" y="6253495"/>
            <a:ext cx="515254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 thực tế:</a:t>
            </a:r>
            <a:r>
              <a:rPr lang="en-US" sz="116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 geometric mean calculator cho portfolio returns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9: PROMPT ENGINEERING NÂNG CAO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Cách dùng Chain-of-Thought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9E0B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3695700" cy="5305425"/>
          </a:xfrm>
          <a:custGeom>
            <a:avLst/>
            <a:gdLst/>
            <a:ahLst/>
            <a:cxnLst/>
            <a:rect l="l" t="t" r="r" b="b"/>
            <a:pathLst>
              <a:path w="3695700" h="53054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5191117"/>
                </a:lnTo>
                <a:cubicBezTo>
                  <a:pt x="3695700" y="5254248"/>
                  <a:pt x="3644523" y="5305425"/>
                  <a:pt x="3581392" y="5305425"/>
                </a:cubicBezTo>
                <a:lnTo>
                  <a:pt x="114308" y="5305425"/>
                </a:lnTo>
                <a:cubicBezTo>
                  <a:pt x="51177" y="5305425"/>
                  <a:pt x="0" y="5254248"/>
                  <a:pt x="0" y="51911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162026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76197" y="0"/>
                </a:moveTo>
                <a:lnTo>
                  <a:pt x="3305178" y="0"/>
                </a:lnTo>
                <a:cubicBezTo>
                  <a:pt x="3347260" y="0"/>
                  <a:pt x="3381375" y="34115"/>
                  <a:pt x="3381375" y="76197"/>
                </a:cubicBezTo>
                <a:lnTo>
                  <a:pt x="3381375" y="914403"/>
                </a:lnTo>
                <a:cubicBezTo>
                  <a:pt x="3381375" y="956485"/>
                  <a:pt x="3347260" y="990600"/>
                  <a:pt x="3305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2276326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Cách làm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581126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Copilot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 sát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các lệnh gọi function →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suy luận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các bước →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3495526"/>
            <a:ext cx="3381375" cy="1562100"/>
          </a:xfrm>
          <a:custGeom>
            <a:avLst/>
            <a:gdLst/>
            <a:ahLst/>
            <a:cxnLst/>
            <a:rect l="l" t="t" r="r" b="b"/>
            <a:pathLst>
              <a:path w="3381375" h="15621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1485901"/>
                </a:lnTo>
                <a:cubicBezTo>
                  <a:pt x="3381375" y="1527984"/>
                  <a:pt x="3347259" y="1562100"/>
                  <a:pt x="33051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57225" y="3609826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File: get_average_return.py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7225" y="3914626"/>
            <a:ext cx="3152775" cy="1028700"/>
          </a:xfrm>
          <a:custGeom>
            <a:avLst/>
            <a:gdLst/>
            <a:ahLst/>
            <a:cxnLst/>
            <a:rect l="l" t="t" r="r" b="b"/>
            <a:pathLst>
              <a:path w="3152775" h="1028700">
                <a:moveTo>
                  <a:pt x="76196" y="0"/>
                </a:moveTo>
                <a:lnTo>
                  <a:pt x="3076579" y="0"/>
                </a:lnTo>
                <a:cubicBezTo>
                  <a:pt x="3118661" y="0"/>
                  <a:pt x="3152775" y="34114"/>
                  <a:pt x="3152775" y="76196"/>
                </a:cubicBezTo>
                <a:lnTo>
                  <a:pt x="3152775" y="952504"/>
                </a:lnTo>
                <a:cubicBezTo>
                  <a:pt x="3152775" y="994586"/>
                  <a:pt x="3118661" y="1028700"/>
                  <a:pt x="307657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71525" y="402892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get_average_return(net_returns):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1525" y="418891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gross = get_gross_returns(net) 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1525" y="4348907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geo_mean = get_geometric_mean(gross) 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1525" y="4508897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net_avg = get_net_average(geo_mean) 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1525" y="4668887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net_avg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925" y="5400229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76197" y="0"/>
                </a:moveTo>
                <a:lnTo>
                  <a:pt x="3305178" y="0"/>
                </a:lnTo>
                <a:cubicBezTo>
                  <a:pt x="3347260" y="0"/>
                  <a:pt x="3381375" y="34115"/>
                  <a:pt x="3381375" y="76197"/>
                </a:cubicBezTo>
                <a:lnTo>
                  <a:pt x="3381375" y="914403"/>
                </a:lnTo>
                <a:cubicBezTo>
                  <a:pt x="3381375" y="956485"/>
                  <a:pt x="3347260" y="990600"/>
                  <a:pt x="3305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225" y="5514529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7225" y="5819329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Gõ </a:t>
            </a: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get_gross_returns(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Copilot sẽ generate implementation cho từng function.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6513" y="1376363"/>
            <a:ext cx="3695700" cy="5305425"/>
          </a:xfrm>
          <a:custGeom>
            <a:avLst/>
            <a:gdLst/>
            <a:ahLst/>
            <a:cxnLst/>
            <a:rect l="l" t="t" r="r" b="b"/>
            <a:pathLst>
              <a:path w="3695700" h="53054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5191117"/>
                </a:lnTo>
                <a:cubicBezTo>
                  <a:pt x="3695700" y="5254248"/>
                  <a:pt x="3644523" y="5305425"/>
                  <a:pt x="3581392" y="5305425"/>
                </a:cubicBezTo>
                <a:lnTo>
                  <a:pt x="114308" y="5305425"/>
                </a:lnTo>
                <a:cubicBezTo>
                  <a:pt x="51177" y="5305425"/>
                  <a:pt x="0" y="5254248"/>
                  <a:pt x="0" y="51911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367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75113" y="16287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8975" y="159067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3675" y="2028825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76197" y="0"/>
                </a:moveTo>
                <a:lnTo>
                  <a:pt x="3305178" y="0"/>
                </a:lnTo>
                <a:cubicBezTo>
                  <a:pt x="3347260" y="0"/>
                  <a:pt x="3381375" y="34115"/>
                  <a:pt x="3381375" y="76197"/>
                </a:cubicBezTo>
                <a:lnTo>
                  <a:pt x="3381375" y="914403"/>
                </a:lnTo>
                <a:cubicBezTo>
                  <a:pt x="3381375" y="956485"/>
                  <a:pt x="3347260" y="990600"/>
                  <a:pt x="3305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17975" y="21431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Cách làm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17975" y="2447925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Cung cấp </a:t>
            </a: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 cấp cao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yêu cầu implement các bước con còn thiếu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03675" y="3095625"/>
            <a:ext cx="3381375" cy="2362200"/>
          </a:xfrm>
          <a:custGeom>
            <a:avLst/>
            <a:gdLst/>
            <a:ahLst/>
            <a:cxnLst/>
            <a:rect l="l" t="t" r="r" b="b"/>
            <a:pathLst>
              <a:path w="3381375" h="2362200">
                <a:moveTo>
                  <a:pt x="76205" y="0"/>
                </a:moveTo>
                <a:lnTo>
                  <a:pt x="3305170" y="0"/>
                </a:lnTo>
                <a:cubicBezTo>
                  <a:pt x="3347229" y="0"/>
                  <a:pt x="3381375" y="34146"/>
                  <a:pt x="3381375" y="76205"/>
                </a:cubicBezTo>
                <a:lnTo>
                  <a:pt x="3381375" y="2285995"/>
                </a:lnTo>
                <a:cubicBezTo>
                  <a:pt x="3381375" y="2328082"/>
                  <a:pt x="3347257" y="2362200"/>
                  <a:pt x="3305170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17975" y="32099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File: cot_chatgpt_prompt.txt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17975" y="3514725"/>
            <a:ext cx="3152775" cy="1828800"/>
          </a:xfrm>
          <a:custGeom>
            <a:avLst/>
            <a:gdLst/>
            <a:ahLst/>
            <a:cxnLst/>
            <a:rect l="l" t="t" r="r" b="b"/>
            <a:pathLst>
              <a:path w="3152775" h="1828800">
                <a:moveTo>
                  <a:pt x="76206" y="0"/>
                </a:moveTo>
                <a:lnTo>
                  <a:pt x="3076569" y="0"/>
                </a:lnTo>
                <a:cubicBezTo>
                  <a:pt x="3118656" y="0"/>
                  <a:pt x="3152775" y="34119"/>
                  <a:pt x="3152775" y="76206"/>
                </a:cubicBezTo>
                <a:lnTo>
                  <a:pt x="3152775" y="1752594"/>
                </a:lnTo>
                <a:cubicBezTo>
                  <a:pt x="3152775" y="1794681"/>
                  <a:pt x="3118656" y="1828800"/>
                  <a:pt x="3076569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4632275" y="362902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CONTEXT: You are provided with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32275" y="378901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Python function that calls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32275" y="394900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helper functions.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32275" y="410899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TASK: Implement the missing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32275" y="426898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helper functions to make the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32275" y="442897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work correctly.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32275" y="458896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FUNCTION: [function definition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32275" y="4748957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 calls to get_gross_returns,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32275" y="4908947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get_geometric_mean,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32275" y="5068937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get_net_average]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03675" y="5533727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76197" y="0"/>
                </a:moveTo>
                <a:lnTo>
                  <a:pt x="3305178" y="0"/>
                </a:lnTo>
                <a:cubicBezTo>
                  <a:pt x="3347260" y="0"/>
                  <a:pt x="3381375" y="34115"/>
                  <a:pt x="3381375" y="76197"/>
                </a:cubicBezTo>
                <a:lnTo>
                  <a:pt x="3381375" y="914403"/>
                </a:lnTo>
                <a:cubicBezTo>
                  <a:pt x="3381375" y="956485"/>
                  <a:pt x="3347260" y="990600"/>
                  <a:pt x="3305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4517975" y="5648027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17975" y="5952827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Vào chatgpt.com, paste nội dung từ file, chụp ảnh output và so sánh với Copilot.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07263" y="1376363"/>
            <a:ext cx="3695700" cy="5305425"/>
          </a:xfrm>
          <a:custGeom>
            <a:avLst/>
            <a:gdLst/>
            <a:ahLst/>
            <a:cxnLst/>
            <a:rect l="l" t="t" r="r" b="b"/>
            <a:pathLst>
              <a:path w="3695700" h="53054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5191117"/>
                </a:lnTo>
                <a:cubicBezTo>
                  <a:pt x="3695700" y="5254248"/>
                  <a:pt x="3644523" y="5305425"/>
                  <a:pt x="3581392" y="5305425"/>
                </a:cubicBezTo>
                <a:lnTo>
                  <a:pt x="114308" y="5305425"/>
                </a:lnTo>
                <a:cubicBezTo>
                  <a:pt x="51177" y="5305425"/>
                  <a:pt x="0" y="5254248"/>
                  <a:pt x="0" y="51911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64426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347770" y="16287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8759726" y="1590675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API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4426" y="2120205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76197" y="0"/>
                </a:moveTo>
                <a:lnTo>
                  <a:pt x="3305178" y="0"/>
                </a:lnTo>
                <a:cubicBezTo>
                  <a:pt x="3347260" y="0"/>
                  <a:pt x="3381375" y="34115"/>
                  <a:pt x="3381375" y="76197"/>
                </a:cubicBezTo>
                <a:lnTo>
                  <a:pt x="3381375" y="914403"/>
                </a:lnTo>
                <a:cubicBezTo>
                  <a:pt x="3381375" y="956485"/>
                  <a:pt x="3347260" y="990600"/>
                  <a:pt x="33051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8378726" y="223450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Cách làm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78726" y="2539305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Sử dụng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prompt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(định nghĩa CoT + công việc) +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prompt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(cấu trúc function)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4426" y="3369915"/>
            <a:ext cx="3381375" cy="1724025"/>
          </a:xfrm>
          <a:custGeom>
            <a:avLst/>
            <a:gdLst/>
            <a:ahLst/>
            <a:cxnLst/>
            <a:rect l="l" t="t" r="r" b="b"/>
            <a:pathLst>
              <a:path w="3381375" h="1724025">
                <a:moveTo>
                  <a:pt x="76202" y="0"/>
                </a:moveTo>
                <a:lnTo>
                  <a:pt x="3305173" y="0"/>
                </a:lnTo>
                <a:cubicBezTo>
                  <a:pt x="3347258" y="0"/>
                  <a:pt x="3381375" y="34117"/>
                  <a:pt x="3381375" y="76202"/>
                </a:cubicBezTo>
                <a:lnTo>
                  <a:pt x="3381375" y="1647823"/>
                </a:lnTo>
                <a:cubicBezTo>
                  <a:pt x="3381375" y="1689908"/>
                  <a:pt x="3347258" y="1724025"/>
                  <a:pt x="3305173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8378726" y="348421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File: cot_openai.py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78726" y="3789015"/>
            <a:ext cx="3152775" cy="1190625"/>
          </a:xfrm>
          <a:custGeom>
            <a:avLst/>
            <a:gdLst/>
            <a:ahLst/>
            <a:cxnLst/>
            <a:rect l="l" t="t" r="r" b="b"/>
            <a:pathLst>
              <a:path w="3152775" h="1190625">
                <a:moveTo>
                  <a:pt x="76200" y="0"/>
                </a:moveTo>
                <a:lnTo>
                  <a:pt x="3076575" y="0"/>
                </a:lnTo>
                <a:cubicBezTo>
                  <a:pt x="3118631" y="0"/>
                  <a:pt x="3152775" y="34144"/>
                  <a:pt x="3152775" y="76200"/>
                </a:cubicBezTo>
                <a:lnTo>
                  <a:pt x="3152775" y="1114425"/>
                </a:lnTo>
                <a:cubicBezTo>
                  <a:pt x="3152775" y="1156481"/>
                  <a:pt x="3118631" y="1190625"/>
                  <a:pt x="3076575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8493026" y="390331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system_prompt = """You are a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93026" y="4063305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expert. Implement the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93026" y="422329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missing helper functions for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93026" y="438328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provided function that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93026" y="454327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uses chain-of-thought steps."""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93026" y="4703266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user_prompt = "Function: ..."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64426" y="5350818"/>
            <a:ext cx="3381375" cy="1085850"/>
          </a:xfrm>
          <a:custGeom>
            <a:avLst/>
            <a:gdLst/>
            <a:ahLst/>
            <a:cxnLst/>
            <a:rect l="l" t="t" r="r" b="b"/>
            <a:pathLst>
              <a:path w="3381375" h="1085850">
                <a:moveTo>
                  <a:pt x="76205" y="0"/>
                </a:moveTo>
                <a:lnTo>
                  <a:pt x="3305170" y="0"/>
                </a:lnTo>
                <a:cubicBezTo>
                  <a:pt x="3347257" y="0"/>
                  <a:pt x="3381375" y="34118"/>
                  <a:pt x="3381375" y="76205"/>
                </a:cubicBezTo>
                <a:lnTo>
                  <a:pt x="3381375" y="1009645"/>
                </a:lnTo>
                <a:cubicBezTo>
                  <a:pt x="3381375" y="1051732"/>
                  <a:pt x="3347257" y="1085850"/>
                  <a:pt x="3305170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3" name="Text 61"/>
          <p:cNvSpPr/>
          <p:nvPr/>
        </p:nvSpPr>
        <p:spPr>
          <a:xfrm>
            <a:off x="8378726" y="5465118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3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78726" y="5769918"/>
            <a:ext cx="3152775" cy="552450"/>
          </a:xfrm>
          <a:custGeom>
            <a:avLst/>
            <a:gdLst/>
            <a:ahLst/>
            <a:cxnLst/>
            <a:rect l="l" t="t" r="r" b="b"/>
            <a:pathLst>
              <a:path w="3152775" h="552450">
                <a:moveTo>
                  <a:pt x="76199" y="0"/>
                </a:moveTo>
                <a:lnTo>
                  <a:pt x="3076576" y="0"/>
                </a:lnTo>
                <a:cubicBezTo>
                  <a:pt x="3118659" y="0"/>
                  <a:pt x="3152775" y="34116"/>
                  <a:pt x="3152775" y="76199"/>
                </a:cubicBezTo>
                <a:lnTo>
                  <a:pt x="3152775" y="476251"/>
                </a:lnTo>
                <a:cubicBezTo>
                  <a:pt x="3152775" y="518334"/>
                  <a:pt x="3118659" y="552450"/>
                  <a:pt x="3076576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5" name="Text 63"/>
          <p:cNvSpPr/>
          <p:nvPr/>
        </p:nvSpPr>
        <p:spPr>
          <a:xfrm>
            <a:off x="8493026" y="5884218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$env:DACDEV_API_KEY="your_key"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493026" y="6044208"/>
            <a:ext cx="2981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chuong9/cot_openai.py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9: PROMPT ENGINEERING NÂNG CAO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Chaining và Các kỹ thuật khác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9E0B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5691188" cy="2722563"/>
          </a:xfrm>
          <a:custGeom>
            <a:avLst/>
            <a:gdLst/>
            <a:ahLst/>
            <a:cxnLst/>
            <a:rect l="l" t="t" r="r" b="b"/>
            <a:pathLst>
              <a:path w="5691188" h="2722563">
                <a:moveTo>
                  <a:pt x="95262" y="0"/>
                </a:moveTo>
                <a:lnTo>
                  <a:pt x="5595925" y="0"/>
                </a:lnTo>
                <a:cubicBezTo>
                  <a:pt x="5648537" y="0"/>
                  <a:pt x="5691188" y="42650"/>
                  <a:pt x="5691188" y="95262"/>
                </a:cubicBezTo>
                <a:lnTo>
                  <a:pt x="5691188" y="2627300"/>
                </a:lnTo>
                <a:cubicBezTo>
                  <a:pt x="5691187" y="2679912"/>
                  <a:pt x="5648537" y="2722563"/>
                  <a:pt x="5595925" y="2722563"/>
                </a:cubicBezTo>
                <a:lnTo>
                  <a:pt x="95262" y="2722563"/>
                </a:lnTo>
                <a:cubicBezTo>
                  <a:pt x="42650" y="2722563"/>
                  <a:pt x="0" y="2679912"/>
                  <a:pt x="0" y="2627300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438" y="1277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1813" y="1357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65188" y="1325563"/>
            <a:ext cx="1325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 Methods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438" y="1690688"/>
            <a:ext cx="5429250" cy="381000"/>
          </a:xfrm>
          <a:custGeom>
            <a:avLst/>
            <a:gdLst/>
            <a:ahLst/>
            <a:cxnLst/>
            <a:rect l="l" t="t" r="r" b="b"/>
            <a:pathLst>
              <a:path w="5429250" h="381000">
                <a:moveTo>
                  <a:pt x="63501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317499"/>
                </a:lnTo>
                <a:cubicBezTo>
                  <a:pt x="5429250" y="352570"/>
                  <a:pt x="5400820" y="381000"/>
                  <a:pt x="53657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7688" y="178593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prompt </a:t>
            </a:r>
            <a:r>
              <a:rPr lang="en-US" sz="10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đơn giản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mà không có cấu trúc từng bước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438" y="2166938"/>
            <a:ext cx="5429250" cy="1079500"/>
          </a:xfrm>
          <a:custGeom>
            <a:avLst/>
            <a:gdLst/>
            <a:ahLst/>
            <a:cxnLst/>
            <a:rect l="l" t="t" r="r" b="b"/>
            <a:pathLst>
              <a:path w="5429250" h="1079500">
                <a:moveTo>
                  <a:pt x="63496" y="0"/>
                </a:moveTo>
                <a:lnTo>
                  <a:pt x="5365754" y="0"/>
                </a:lnTo>
                <a:cubicBezTo>
                  <a:pt x="5400822" y="0"/>
                  <a:pt x="5429250" y="28428"/>
                  <a:pt x="5429250" y="63496"/>
                </a:cubicBezTo>
                <a:lnTo>
                  <a:pt x="5429250" y="1016004"/>
                </a:lnTo>
                <a:cubicBezTo>
                  <a:pt x="5429250" y="1051072"/>
                  <a:pt x="5400822" y="1079500"/>
                  <a:pt x="536575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7688" y="226218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❌ Vấn đề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7688" y="251618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Logic không chính xác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7688" y="273843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Không xử lý lợi suất âm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7688" y="296068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Quá nhiều code xác thực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6406" y="3345656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63502" y="0"/>
                </a:moveTo>
                <a:lnTo>
                  <a:pt x="5357811" y="0"/>
                </a:lnTo>
                <a:cubicBezTo>
                  <a:pt x="5392882" y="0"/>
                  <a:pt x="5421313" y="28431"/>
                  <a:pt x="5421313" y="63502"/>
                </a:cubicBezTo>
                <a:lnTo>
                  <a:pt x="5421313" y="325436"/>
                </a:lnTo>
                <a:cubicBezTo>
                  <a:pt x="5421313" y="360507"/>
                  <a:pt x="5392882" y="388938"/>
                  <a:pt x="5357811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438" y="34766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54063" y="3444875"/>
            <a:ext cx="508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4: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Chạy baseline_copilot.py, baseline_chatgpt.txt, baseline_openai.py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1469" y="4004469"/>
            <a:ext cx="5691188" cy="3929063"/>
          </a:xfrm>
          <a:custGeom>
            <a:avLst/>
            <a:gdLst/>
            <a:ahLst/>
            <a:cxnLst/>
            <a:rect l="l" t="t" r="r" b="b"/>
            <a:pathLst>
              <a:path w="5691188" h="3929063">
                <a:moveTo>
                  <a:pt x="95240" y="0"/>
                </a:moveTo>
                <a:lnTo>
                  <a:pt x="5595947" y="0"/>
                </a:lnTo>
                <a:cubicBezTo>
                  <a:pt x="5648547" y="0"/>
                  <a:pt x="5691188" y="42641"/>
                  <a:pt x="5691188" y="95240"/>
                </a:cubicBezTo>
                <a:lnTo>
                  <a:pt x="5691188" y="3833822"/>
                </a:lnTo>
                <a:cubicBezTo>
                  <a:pt x="5691188" y="3886422"/>
                  <a:pt x="5648547" y="3929063"/>
                  <a:pt x="5595947" y="3929063"/>
                </a:cubicBezTo>
                <a:lnTo>
                  <a:pt x="95240" y="3929063"/>
                </a:lnTo>
                <a:cubicBezTo>
                  <a:pt x="42641" y="3929063"/>
                  <a:pt x="0" y="3886422"/>
                  <a:pt x="0" y="3833822"/>
                </a:cubicBezTo>
                <a:lnTo>
                  <a:pt x="0" y="95240"/>
                </a:lnTo>
                <a:cubicBezTo>
                  <a:pt x="0" y="42641"/>
                  <a:pt x="42641" y="0"/>
                  <a:pt x="9524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438" y="4135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21891" y="421481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30070" y="29766"/>
                </a:moveTo>
                <a:cubicBezTo>
                  <a:pt x="124923" y="29766"/>
                  <a:pt x="119931" y="31161"/>
                  <a:pt x="115559" y="33703"/>
                </a:cubicBezTo>
                <a:cubicBezTo>
                  <a:pt x="110660" y="28742"/>
                  <a:pt x="104955" y="24588"/>
                  <a:pt x="98661" y="21456"/>
                </a:cubicBezTo>
                <a:cubicBezTo>
                  <a:pt x="107404" y="14015"/>
                  <a:pt x="118535" y="9922"/>
                  <a:pt x="130070" y="9922"/>
                </a:cubicBezTo>
                <a:cubicBezTo>
                  <a:pt x="156859" y="9922"/>
                  <a:pt x="178594" y="31626"/>
                  <a:pt x="178594" y="58446"/>
                </a:cubicBezTo>
                <a:cubicBezTo>
                  <a:pt x="178594" y="71313"/>
                  <a:pt x="173478" y="83654"/>
                  <a:pt x="164393" y="92739"/>
                </a:cubicBezTo>
                <a:lnTo>
                  <a:pt x="142348" y="114784"/>
                </a:lnTo>
                <a:cubicBezTo>
                  <a:pt x="133263" y="123868"/>
                  <a:pt x="120923" y="128984"/>
                  <a:pt x="108055" y="128984"/>
                </a:cubicBezTo>
                <a:cubicBezTo>
                  <a:pt x="81266" y="128984"/>
                  <a:pt x="59531" y="107280"/>
                  <a:pt x="59531" y="80460"/>
                </a:cubicBezTo>
                <a:cubicBezTo>
                  <a:pt x="59531" y="79995"/>
                  <a:pt x="59531" y="79530"/>
                  <a:pt x="59562" y="79065"/>
                </a:cubicBezTo>
                <a:cubicBezTo>
                  <a:pt x="59717" y="73577"/>
                  <a:pt x="64275" y="69267"/>
                  <a:pt x="69763" y="69422"/>
                </a:cubicBezTo>
                <a:cubicBezTo>
                  <a:pt x="75251" y="69577"/>
                  <a:pt x="79561" y="74135"/>
                  <a:pt x="79406" y="79623"/>
                </a:cubicBezTo>
                <a:cubicBezTo>
                  <a:pt x="79406" y="79902"/>
                  <a:pt x="79406" y="80181"/>
                  <a:pt x="79406" y="80429"/>
                </a:cubicBezTo>
                <a:cubicBezTo>
                  <a:pt x="79406" y="96273"/>
                  <a:pt x="92242" y="109110"/>
                  <a:pt x="108086" y="109110"/>
                </a:cubicBezTo>
                <a:cubicBezTo>
                  <a:pt x="115683" y="109110"/>
                  <a:pt x="122969" y="106102"/>
                  <a:pt x="128364" y="100707"/>
                </a:cubicBezTo>
                <a:lnTo>
                  <a:pt x="150409" y="78662"/>
                </a:lnTo>
                <a:cubicBezTo>
                  <a:pt x="155773" y="73298"/>
                  <a:pt x="158812" y="65980"/>
                  <a:pt x="158812" y="58384"/>
                </a:cubicBezTo>
                <a:cubicBezTo>
                  <a:pt x="158812" y="42540"/>
                  <a:pt x="145976" y="29704"/>
                  <a:pt x="130132" y="29704"/>
                </a:cubicBezTo>
                <a:close/>
                <a:moveTo>
                  <a:pt x="85328" y="53733"/>
                </a:moveTo>
                <a:cubicBezTo>
                  <a:pt x="84739" y="53485"/>
                  <a:pt x="84150" y="53144"/>
                  <a:pt x="83623" y="52772"/>
                </a:cubicBezTo>
                <a:cubicBezTo>
                  <a:pt x="79716" y="50757"/>
                  <a:pt x="75251" y="49609"/>
                  <a:pt x="70569" y="49609"/>
                </a:cubicBezTo>
                <a:cubicBezTo>
                  <a:pt x="62973" y="49609"/>
                  <a:pt x="55687" y="52617"/>
                  <a:pt x="50292" y="58012"/>
                </a:cubicBezTo>
                <a:lnTo>
                  <a:pt x="28246" y="80057"/>
                </a:lnTo>
                <a:cubicBezTo>
                  <a:pt x="22882" y="85421"/>
                  <a:pt x="19844" y="92739"/>
                  <a:pt x="19844" y="100335"/>
                </a:cubicBezTo>
                <a:cubicBezTo>
                  <a:pt x="19844" y="116179"/>
                  <a:pt x="32680" y="129015"/>
                  <a:pt x="48524" y="129015"/>
                </a:cubicBezTo>
                <a:cubicBezTo>
                  <a:pt x="53640" y="129015"/>
                  <a:pt x="58632" y="127651"/>
                  <a:pt x="63004" y="125109"/>
                </a:cubicBezTo>
                <a:cubicBezTo>
                  <a:pt x="67903" y="130070"/>
                  <a:pt x="73608" y="134224"/>
                  <a:pt x="79933" y="137356"/>
                </a:cubicBezTo>
                <a:cubicBezTo>
                  <a:pt x="71189" y="144766"/>
                  <a:pt x="60089" y="148890"/>
                  <a:pt x="48524" y="148890"/>
                </a:cubicBezTo>
                <a:cubicBezTo>
                  <a:pt x="21735" y="148890"/>
                  <a:pt x="0" y="127186"/>
                  <a:pt x="0" y="100366"/>
                </a:cubicBezTo>
                <a:cubicBezTo>
                  <a:pt x="0" y="87499"/>
                  <a:pt x="5116" y="75158"/>
                  <a:pt x="14201" y="66073"/>
                </a:cubicBezTo>
                <a:lnTo>
                  <a:pt x="36246" y="44028"/>
                </a:lnTo>
                <a:cubicBezTo>
                  <a:pt x="45331" y="34944"/>
                  <a:pt x="57671" y="29828"/>
                  <a:pt x="70538" y="29828"/>
                </a:cubicBezTo>
                <a:cubicBezTo>
                  <a:pt x="97389" y="29828"/>
                  <a:pt x="119062" y="51718"/>
                  <a:pt x="119062" y="78476"/>
                </a:cubicBezTo>
                <a:cubicBezTo>
                  <a:pt x="119062" y="78879"/>
                  <a:pt x="119062" y="79282"/>
                  <a:pt x="119062" y="79685"/>
                </a:cubicBezTo>
                <a:cubicBezTo>
                  <a:pt x="118938" y="85173"/>
                  <a:pt x="114381" y="89483"/>
                  <a:pt x="108893" y="89359"/>
                </a:cubicBezTo>
                <a:cubicBezTo>
                  <a:pt x="103405" y="89235"/>
                  <a:pt x="99095" y="84677"/>
                  <a:pt x="99219" y="79189"/>
                </a:cubicBezTo>
                <a:cubicBezTo>
                  <a:pt x="99219" y="78941"/>
                  <a:pt x="99219" y="78724"/>
                  <a:pt x="99219" y="78476"/>
                </a:cubicBezTo>
                <a:cubicBezTo>
                  <a:pt x="99219" y="68027"/>
                  <a:pt x="93638" y="58849"/>
                  <a:pt x="85328" y="5379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65188" y="4183063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Naive Chaining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2438" y="4548188"/>
            <a:ext cx="5429250" cy="381000"/>
          </a:xfrm>
          <a:custGeom>
            <a:avLst/>
            <a:gdLst/>
            <a:ahLst/>
            <a:cxnLst/>
            <a:rect l="l" t="t" r="r" b="b"/>
            <a:pathLst>
              <a:path w="5429250" h="381000">
                <a:moveTo>
                  <a:pt x="63501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317499"/>
                </a:lnTo>
                <a:cubicBezTo>
                  <a:pt x="5429250" y="352570"/>
                  <a:pt x="5400820" y="381000"/>
                  <a:pt x="53657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47688" y="464343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prompt liên tiếp nơi </a:t>
            </a:r>
            <a:r>
              <a:rPr lang="en-US" sz="10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tất cả lịch sử tích lũy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chi phí token tăng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2438" y="5024438"/>
            <a:ext cx="5429250" cy="1587500"/>
          </a:xfrm>
          <a:custGeom>
            <a:avLst/>
            <a:gdLst/>
            <a:ahLst/>
            <a:cxnLst/>
            <a:rect l="l" t="t" r="r" b="b"/>
            <a:pathLst>
              <a:path w="5429250" h="1587500">
                <a:moveTo>
                  <a:pt x="6350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1524000"/>
                </a:lnTo>
                <a:cubicBezTo>
                  <a:pt x="5429250" y="1559047"/>
                  <a:pt x="5400797" y="1587500"/>
                  <a:pt x="5365750" y="1587500"/>
                </a:cubicBezTo>
                <a:lnTo>
                  <a:pt x="63500" y="1587500"/>
                </a:lnTo>
                <a:cubicBezTo>
                  <a:pt x="28453" y="1587500"/>
                  <a:pt x="0" y="1559047"/>
                  <a:pt x="0" y="152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547688" y="5119688"/>
            <a:ext cx="5238750" cy="444500"/>
          </a:xfrm>
          <a:custGeom>
            <a:avLst/>
            <a:gdLst/>
            <a:ahLst/>
            <a:cxnLst/>
            <a:rect l="l" t="t" r="r" b="b"/>
            <a:pathLst>
              <a:path w="5238750" h="444500">
                <a:moveTo>
                  <a:pt x="31751" y="0"/>
                </a:moveTo>
                <a:lnTo>
                  <a:pt x="5206999" y="0"/>
                </a:lnTo>
                <a:cubicBezTo>
                  <a:pt x="5224535" y="0"/>
                  <a:pt x="5238750" y="14215"/>
                  <a:pt x="5238750" y="31751"/>
                </a:cubicBezTo>
                <a:lnTo>
                  <a:pt x="5238750" y="412749"/>
                </a:lnTo>
                <a:cubicBezTo>
                  <a:pt x="5238750" y="430285"/>
                  <a:pt x="5224535" y="444500"/>
                  <a:pt x="520699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11188" y="518318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Lần 1: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1188" y="534193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→ Code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7688" y="5595938"/>
            <a:ext cx="5238750" cy="444500"/>
          </a:xfrm>
          <a:custGeom>
            <a:avLst/>
            <a:gdLst/>
            <a:ahLst/>
            <a:cxnLst/>
            <a:rect l="l" t="t" r="r" b="b"/>
            <a:pathLst>
              <a:path w="5238750" h="444500">
                <a:moveTo>
                  <a:pt x="31751" y="0"/>
                </a:moveTo>
                <a:lnTo>
                  <a:pt x="5206999" y="0"/>
                </a:lnTo>
                <a:cubicBezTo>
                  <a:pt x="5224535" y="0"/>
                  <a:pt x="5238750" y="14215"/>
                  <a:pt x="5238750" y="31751"/>
                </a:cubicBezTo>
                <a:lnTo>
                  <a:pt x="5238750" y="412749"/>
                </a:lnTo>
                <a:cubicBezTo>
                  <a:pt x="5238750" y="430285"/>
                  <a:pt x="5224535" y="444500"/>
                  <a:pt x="520699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11188" y="565943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Lần 2: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1188" y="581818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[Output 1 + prompt mới] → Code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7688" y="6072188"/>
            <a:ext cx="5238750" cy="444500"/>
          </a:xfrm>
          <a:custGeom>
            <a:avLst/>
            <a:gdLst/>
            <a:ahLst/>
            <a:cxnLst/>
            <a:rect l="l" t="t" r="r" b="b"/>
            <a:pathLst>
              <a:path w="5238750" h="444500">
                <a:moveTo>
                  <a:pt x="31751" y="0"/>
                </a:moveTo>
                <a:lnTo>
                  <a:pt x="5206999" y="0"/>
                </a:lnTo>
                <a:cubicBezTo>
                  <a:pt x="5224535" y="0"/>
                  <a:pt x="5238750" y="14215"/>
                  <a:pt x="5238750" y="31751"/>
                </a:cubicBezTo>
                <a:lnTo>
                  <a:pt x="5238750" y="412749"/>
                </a:lnTo>
                <a:cubicBezTo>
                  <a:pt x="5238750" y="430285"/>
                  <a:pt x="5224535" y="444500"/>
                  <a:pt x="520699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11188" y="613568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Lần 3: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1188" y="629443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[Tất cả trước + prompt mới] → Code cuối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2438" y="6707188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63498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539752"/>
                </a:lnTo>
                <a:cubicBezTo>
                  <a:pt x="5429250" y="574821"/>
                  <a:pt x="5400821" y="603250"/>
                  <a:pt x="5365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547688" y="680243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Vấn đề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7688" y="702468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Lịch sử tăng theo cấp số nhân → hạn chế token, chi phí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6406" y="7409656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63502" y="0"/>
                </a:moveTo>
                <a:lnTo>
                  <a:pt x="5357811" y="0"/>
                </a:lnTo>
                <a:cubicBezTo>
                  <a:pt x="5392882" y="0"/>
                  <a:pt x="5421313" y="28431"/>
                  <a:pt x="5421313" y="63502"/>
                </a:cubicBezTo>
                <a:lnTo>
                  <a:pt x="5421313" y="325436"/>
                </a:lnTo>
                <a:cubicBezTo>
                  <a:pt x="5421313" y="360507"/>
                  <a:pt x="5392882" y="388938"/>
                  <a:pt x="5357811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9438" y="75406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54063" y="7508875"/>
            <a:ext cx="508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5: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naive_chaining_openai.py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9344" y="1146969"/>
            <a:ext cx="5691188" cy="5151438"/>
          </a:xfrm>
          <a:custGeom>
            <a:avLst/>
            <a:gdLst/>
            <a:ahLst/>
            <a:cxnLst/>
            <a:rect l="l" t="t" r="r" b="b"/>
            <a:pathLst>
              <a:path w="5691188" h="5151438">
                <a:moveTo>
                  <a:pt x="95250" y="0"/>
                </a:moveTo>
                <a:lnTo>
                  <a:pt x="5595937" y="0"/>
                </a:lnTo>
                <a:cubicBezTo>
                  <a:pt x="5648543" y="0"/>
                  <a:pt x="5691188" y="42645"/>
                  <a:pt x="5691188" y="95250"/>
                </a:cubicBezTo>
                <a:lnTo>
                  <a:pt x="5691188" y="5056187"/>
                </a:lnTo>
                <a:cubicBezTo>
                  <a:pt x="5691188" y="5108793"/>
                  <a:pt x="5648543" y="5151438"/>
                  <a:pt x="5595937" y="5151438"/>
                </a:cubicBezTo>
                <a:lnTo>
                  <a:pt x="95250" y="5151438"/>
                </a:lnTo>
                <a:cubicBezTo>
                  <a:pt x="42645" y="5151438"/>
                  <a:pt x="0" y="5108793"/>
                  <a:pt x="0" y="5056187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0313" y="1277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89688" y="1357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6723063" y="1325563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Selective Chaining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0313" y="1779984"/>
            <a:ext cx="5429250" cy="381000"/>
          </a:xfrm>
          <a:custGeom>
            <a:avLst/>
            <a:gdLst/>
            <a:ahLst/>
            <a:cxnLst/>
            <a:rect l="l" t="t" r="r" b="b"/>
            <a:pathLst>
              <a:path w="5429250" h="381000">
                <a:moveTo>
                  <a:pt x="63501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317499"/>
                </a:lnTo>
                <a:cubicBezTo>
                  <a:pt x="5429250" y="352570"/>
                  <a:pt x="5400820" y="381000"/>
                  <a:pt x="53657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6405563" y="1875234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prompt liên tiếp với </a:t>
            </a:r>
            <a:r>
              <a:rPr lang="en-US" sz="1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lịch sử được kiểm soát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chỉ giữ context liên quan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10313" y="2434828"/>
            <a:ext cx="5429250" cy="2095500"/>
          </a:xfrm>
          <a:custGeom>
            <a:avLst/>
            <a:gdLst/>
            <a:ahLst/>
            <a:cxnLst/>
            <a:rect l="l" t="t" r="r" b="b"/>
            <a:pathLst>
              <a:path w="5429250" h="2095500">
                <a:moveTo>
                  <a:pt x="63494" y="0"/>
                </a:moveTo>
                <a:lnTo>
                  <a:pt x="5365756" y="0"/>
                </a:lnTo>
                <a:cubicBezTo>
                  <a:pt x="5400823" y="0"/>
                  <a:pt x="5429250" y="28427"/>
                  <a:pt x="5429250" y="63494"/>
                </a:cubicBezTo>
                <a:lnTo>
                  <a:pt x="5429250" y="2032006"/>
                </a:lnTo>
                <a:cubicBezTo>
                  <a:pt x="5429250" y="2067073"/>
                  <a:pt x="5400823" y="2095500"/>
                  <a:pt x="5365756" y="2095500"/>
                </a:cubicBezTo>
                <a:lnTo>
                  <a:pt x="63494" y="2095500"/>
                </a:lnTo>
                <a:cubicBezTo>
                  <a:pt x="28427" y="2095500"/>
                  <a:pt x="0" y="2067073"/>
                  <a:pt x="0" y="20320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6405563" y="253007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 Cải tiến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05563" y="2784078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Trích xuất code từ output trước, reset lịch sử, gửi prompt mới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05563" y="3038078"/>
            <a:ext cx="5238750" cy="444500"/>
          </a:xfrm>
          <a:custGeom>
            <a:avLst/>
            <a:gdLst/>
            <a:ahLst/>
            <a:cxnLst/>
            <a:rect l="l" t="t" r="r" b="b"/>
            <a:pathLst>
              <a:path w="5238750" h="444500">
                <a:moveTo>
                  <a:pt x="31751" y="0"/>
                </a:moveTo>
                <a:lnTo>
                  <a:pt x="5206999" y="0"/>
                </a:lnTo>
                <a:cubicBezTo>
                  <a:pt x="5224535" y="0"/>
                  <a:pt x="5238750" y="14215"/>
                  <a:pt x="5238750" y="31751"/>
                </a:cubicBezTo>
                <a:lnTo>
                  <a:pt x="5238750" y="412749"/>
                </a:lnTo>
                <a:cubicBezTo>
                  <a:pt x="5238750" y="430285"/>
                  <a:pt x="5224535" y="444500"/>
                  <a:pt x="520699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1" name="Text 49"/>
          <p:cNvSpPr/>
          <p:nvPr/>
        </p:nvSpPr>
        <p:spPr>
          <a:xfrm>
            <a:off x="6469063" y="310157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Lần 1: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69063" y="326032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1 → Code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5563" y="3514328"/>
            <a:ext cx="5238750" cy="444500"/>
          </a:xfrm>
          <a:custGeom>
            <a:avLst/>
            <a:gdLst/>
            <a:ahLst/>
            <a:cxnLst/>
            <a:rect l="l" t="t" r="r" b="b"/>
            <a:pathLst>
              <a:path w="5238750" h="444500">
                <a:moveTo>
                  <a:pt x="31751" y="0"/>
                </a:moveTo>
                <a:lnTo>
                  <a:pt x="5206999" y="0"/>
                </a:lnTo>
                <a:cubicBezTo>
                  <a:pt x="5224535" y="0"/>
                  <a:pt x="5238750" y="14215"/>
                  <a:pt x="5238750" y="31751"/>
                </a:cubicBezTo>
                <a:lnTo>
                  <a:pt x="5238750" y="412749"/>
                </a:lnTo>
                <a:cubicBezTo>
                  <a:pt x="5238750" y="430285"/>
                  <a:pt x="5224535" y="444500"/>
                  <a:pt x="520699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4" name="Text 52"/>
          <p:cNvSpPr/>
          <p:nvPr/>
        </p:nvSpPr>
        <p:spPr>
          <a:xfrm>
            <a:off x="6469063" y="357782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Lần 2: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69063" y="373657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Trích xuất code + Prompt 2 → Code cải tiến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05563" y="3990578"/>
            <a:ext cx="5238750" cy="444500"/>
          </a:xfrm>
          <a:custGeom>
            <a:avLst/>
            <a:gdLst/>
            <a:ahLst/>
            <a:cxnLst/>
            <a:rect l="l" t="t" r="r" b="b"/>
            <a:pathLst>
              <a:path w="5238750" h="444500">
                <a:moveTo>
                  <a:pt x="31751" y="0"/>
                </a:moveTo>
                <a:lnTo>
                  <a:pt x="5206999" y="0"/>
                </a:lnTo>
                <a:cubicBezTo>
                  <a:pt x="5224535" y="0"/>
                  <a:pt x="5238750" y="14215"/>
                  <a:pt x="5238750" y="31751"/>
                </a:cubicBezTo>
                <a:lnTo>
                  <a:pt x="5238750" y="412749"/>
                </a:lnTo>
                <a:cubicBezTo>
                  <a:pt x="5238750" y="430285"/>
                  <a:pt x="5224535" y="444500"/>
                  <a:pt x="520699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7" name="Text 55"/>
          <p:cNvSpPr/>
          <p:nvPr/>
        </p:nvSpPr>
        <p:spPr>
          <a:xfrm>
            <a:off x="6469063" y="405407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Lần 3: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69063" y="4212828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Trích xuất code + Prompt 3 → Code cuối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10313" y="4804172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63498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539752"/>
                </a:lnTo>
                <a:cubicBezTo>
                  <a:pt x="5429250" y="574821"/>
                  <a:pt x="5400821" y="603250"/>
                  <a:pt x="5365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0" name="Text 58"/>
          <p:cNvSpPr/>
          <p:nvPr/>
        </p:nvSpPr>
        <p:spPr>
          <a:xfrm>
            <a:off x="6405563" y="4899422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 Lợi ích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05563" y="5121672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Sử dụng token ít hơn, hiệu quả hơn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14281" y="5685234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63502" y="0"/>
                </a:moveTo>
                <a:lnTo>
                  <a:pt x="5357811" y="0"/>
                </a:lnTo>
                <a:cubicBezTo>
                  <a:pt x="5392882" y="0"/>
                  <a:pt x="5421313" y="28431"/>
                  <a:pt x="5421313" y="63502"/>
                </a:cubicBezTo>
                <a:lnTo>
                  <a:pt x="5421313" y="325436"/>
                </a:lnTo>
                <a:cubicBezTo>
                  <a:pt x="5421313" y="360507"/>
                  <a:pt x="5392882" y="388938"/>
                  <a:pt x="5357811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37313" y="581620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4" name="Text 62"/>
          <p:cNvSpPr/>
          <p:nvPr/>
        </p:nvSpPr>
        <p:spPr>
          <a:xfrm>
            <a:off x="6611938" y="5784453"/>
            <a:ext cx="508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6: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selective_chaining_openai.py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9344" y="6433344"/>
            <a:ext cx="5691188" cy="1500188"/>
          </a:xfrm>
          <a:custGeom>
            <a:avLst/>
            <a:gdLst/>
            <a:ahLst/>
            <a:cxnLst/>
            <a:rect l="l" t="t" r="r" b="b"/>
            <a:pathLst>
              <a:path w="5691188" h="1500188">
                <a:moveTo>
                  <a:pt x="95247" y="0"/>
                </a:moveTo>
                <a:lnTo>
                  <a:pt x="5595941" y="0"/>
                </a:lnTo>
                <a:cubicBezTo>
                  <a:pt x="5648544" y="0"/>
                  <a:pt x="5691188" y="42643"/>
                  <a:pt x="5691188" y="95247"/>
                </a:cubicBezTo>
                <a:lnTo>
                  <a:pt x="5691188" y="1404941"/>
                </a:lnTo>
                <a:cubicBezTo>
                  <a:pt x="5691188" y="1457544"/>
                  <a:pt x="5648544" y="1500188"/>
                  <a:pt x="5595941" y="1500188"/>
                </a:cubicBezTo>
                <a:lnTo>
                  <a:pt x="95247" y="1500188"/>
                </a:lnTo>
                <a:cubicBezTo>
                  <a:pt x="42643" y="1500188"/>
                  <a:pt x="0" y="1457544"/>
                  <a:pt x="0" y="1404941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EC4899">
                  <a:alpha val="10000"/>
                </a:srgbClr>
              </a:gs>
            </a:gsLst>
            <a:lin ang="0" scaled="1"/>
          </a:gra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30156" y="6596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2324"/>
                </a:moveTo>
                <a:cubicBezTo>
                  <a:pt x="0" y="18231"/>
                  <a:pt x="3318" y="14883"/>
                  <a:pt x="7441" y="14883"/>
                </a:cubicBezTo>
                <a:lnTo>
                  <a:pt x="22324" y="14883"/>
                </a:lnTo>
                <a:cubicBezTo>
                  <a:pt x="26448" y="14883"/>
                  <a:pt x="29766" y="18200"/>
                  <a:pt x="29766" y="22324"/>
                </a:cubicBezTo>
                <a:lnTo>
                  <a:pt x="29766" y="54570"/>
                </a:lnTo>
                <a:lnTo>
                  <a:pt x="37207" y="54570"/>
                </a:lnTo>
                <a:cubicBezTo>
                  <a:pt x="41331" y="54570"/>
                  <a:pt x="44648" y="57888"/>
                  <a:pt x="44648" y="62012"/>
                </a:cubicBezTo>
                <a:cubicBezTo>
                  <a:pt x="44648" y="66135"/>
                  <a:pt x="41331" y="69453"/>
                  <a:pt x="37207" y="69453"/>
                </a:cubicBezTo>
                <a:lnTo>
                  <a:pt x="7441" y="69453"/>
                </a:lnTo>
                <a:cubicBezTo>
                  <a:pt x="3318" y="69453"/>
                  <a:pt x="0" y="66135"/>
                  <a:pt x="0" y="62012"/>
                </a:cubicBezTo>
                <a:cubicBezTo>
                  <a:pt x="0" y="57888"/>
                  <a:pt x="3318" y="54570"/>
                  <a:pt x="7441" y="54570"/>
                </a:cubicBezTo>
                <a:lnTo>
                  <a:pt x="14883" y="54570"/>
                </a:lnTo>
                <a:lnTo>
                  <a:pt x="14883" y="29766"/>
                </a:lnTo>
                <a:lnTo>
                  <a:pt x="7441" y="29766"/>
                </a:lnTo>
                <a:cubicBezTo>
                  <a:pt x="3318" y="29766"/>
                  <a:pt x="0" y="26448"/>
                  <a:pt x="0" y="22324"/>
                </a:cubicBezTo>
                <a:close/>
                <a:moveTo>
                  <a:pt x="9426" y="93390"/>
                </a:moveTo>
                <a:cubicBezTo>
                  <a:pt x="12960" y="90723"/>
                  <a:pt x="17270" y="89297"/>
                  <a:pt x="21704" y="89297"/>
                </a:cubicBezTo>
                <a:lnTo>
                  <a:pt x="23223" y="89297"/>
                </a:lnTo>
                <a:cubicBezTo>
                  <a:pt x="33672" y="89297"/>
                  <a:pt x="42168" y="97792"/>
                  <a:pt x="42168" y="108241"/>
                </a:cubicBezTo>
                <a:cubicBezTo>
                  <a:pt x="42168" y="114319"/>
                  <a:pt x="39253" y="119993"/>
                  <a:pt x="34354" y="123558"/>
                </a:cubicBezTo>
                <a:lnTo>
                  <a:pt x="26913" y="128984"/>
                </a:lnTo>
                <a:lnTo>
                  <a:pt x="37207" y="128984"/>
                </a:lnTo>
                <a:cubicBezTo>
                  <a:pt x="41331" y="128984"/>
                  <a:pt x="44648" y="132302"/>
                  <a:pt x="44648" y="136426"/>
                </a:cubicBezTo>
                <a:cubicBezTo>
                  <a:pt x="44648" y="140550"/>
                  <a:pt x="41331" y="143867"/>
                  <a:pt x="37207" y="143867"/>
                </a:cubicBezTo>
                <a:lnTo>
                  <a:pt x="9085" y="143867"/>
                </a:lnTo>
                <a:cubicBezTo>
                  <a:pt x="4062" y="143867"/>
                  <a:pt x="0" y="139805"/>
                  <a:pt x="0" y="134782"/>
                </a:cubicBezTo>
                <a:cubicBezTo>
                  <a:pt x="0" y="131868"/>
                  <a:pt x="1395" y="129139"/>
                  <a:pt x="3752" y="127434"/>
                </a:cubicBezTo>
                <a:lnTo>
                  <a:pt x="25611" y="111528"/>
                </a:lnTo>
                <a:cubicBezTo>
                  <a:pt x="26665" y="110753"/>
                  <a:pt x="27285" y="109544"/>
                  <a:pt x="27285" y="108241"/>
                </a:cubicBezTo>
                <a:cubicBezTo>
                  <a:pt x="27285" y="106009"/>
                  <a:pt x="25456" y="104180"/>
                  <a:pt x="23223" y="104180"/>
                </a:cubicBezTo>
                <a:lnTo>
                  <a:pt x="21704" y="104180"/>
                </a:lnTo>
                <a:cubicBezTo>
                  <a:pt x="20495" y="104180"/>
                  <a:pt x="19317" y="104583"/>
                  <a:pt x="18355" y="105296"/>
                </a:cubicBezTo>
                <a:lnTo>
                  <a:pt x="11906" y="110133"/>
                </a:lnTo>
                <a:cubicBezTo>
                  <a:pt x="8620" y="112613"/>
                  <a:pt x="3969" y="111931"/>
                  <a:pt x="1488" y="108645"/>
                </a:cubicBezTo>
                <a:cubicBezTo>
                  <a:pt x="-992" y="105358"/>
                  <a:pt x="-310" y="100707"/>
                  <a:pt x="2977" y="98227"/>
                </a:cubicBezTo>
                <a:lnTo>
                  <a:pt x="9426" y="93390"/>
                </a:lnTo>
                <a:close/>
                <a:moveTo>
                  <a:pt x="69453" y="19844"/>
                </a:move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69453" y="39688"/>
                </a:lnTo>
                <a:cubicBezTo>
                  <a:pt x="63965" y="39688"/>
                  <a:pt x="59531" y="35254"/>
                  <a:pt x="59531" y="29766"/>
                </a:cubicBezTo>
                <a:cubicBezTo>
                  <a:pt x="59531" y="24278"/>
                  <a:pt x="63965" y="19844"/>
                  <a:pt x="69453" y="19844"/>
                </a:cubicBezTo>
                <a:close/>
                <a:moveTo>
                  <a:pt x="69453" y="69453"/>
                </a:move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69453" y="89297"/>
                </a:lnTo>
                <a:cubicBezTo>
                  <a:pt x="63965" y="89297"/>
                  <a:pt x="59531" y="84863"/>
                  <a:pt x="59531" y="79375"/>
                </a:cubicBezTo>
                <a:cubicBezTo>
                  <a:pt x="59531" y="73887"/>
                  <a:pt x="63965" y="69453"/>
                  <a:pt x="69453" y="69453"/>
                </a:cubicBezTo>
                <a:close/>
                <a:moveTo>
                  <a:pt x="69453" y="119062"/>
                </a:move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69453" y="138906"/>
                </a:lnTo>
                <a:cubicBezTo>
                  <a:pt x="63965" y="138906"/>
                  <a:pt x="59531" y="134472"/>
                  <a:pt x="59531" y="128984"/>
                </a:cubicBezTo>
                <a:cubicBezTo>
                  <a:pt x="59531" y="123496"/>
                  <a:pt x="63965" y="119062"/>
                  <a:pt x="69453" y="11906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6604000" y="6564313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Tổng kết 6 Lab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10313" y="6850063"/>
            <a:ext cx="2682875" cy="444500"/>
          </a:xfrm>
          <a:custGeom>
            <a:avLst/>
            <a:gdLst/>
            <a:ahLst/>
            <a:cxnLst/>
            <a:rect l="l" t="t" r="r" b="b"/>
            <a:pathLst>
              <a:path w="2682875" h="444500">
                <a:moveTo>
                  <a:pt x="63501" y="0"/>
                </a:moveTo>
                <a:lnTo>
                  <a:pt x="2619374" y="0"/>
                </a:lnTo>
                <a:cubicBezTo>
                  <a:pt x="2654445" y="0"/>
                  <a:pt x="2682875" y="28430"/>
                  <a:pt x="2682875" y="63501"/>
                </a:cubicBezTo>
                <a:lnTo>
                  <a:pt x="2682875" y="380999"/>
                </a:lnTo>
                <a:cubicBezTo>
                  <a:pt x="2682875" y="416070"/>
                  <a:pt x="2654445" y="444500"/>
                  <a:pt x="2619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9" name="Text 67"/>
          <p:cNvSpPr/>
          <p:nvPr/>
        </p:nvSpPr>
        <p:spPr>
          <a:xfrm>
            <a:off x="6373813" y="6913563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1-3: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73813" y="7072313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CoT với Copilot, ChatGPT, API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056688" y="6850063"/>
            <a:ext cx="2682875" cy="444500"/>
          </a:xfrm>
          <a:custGeom>
            <a:avLst/>
            <a:gdLst/>
            <a:ahLst/>
            <a:cxnLst/>
            <a:rect l="l" t="t" r="r" b="b"/>
            <a:pathLst>
              <a:path w="2682875" h="444500">
                <a:moveTo>
                  <a:pt x="63501" y="0"/>
                </a:moveTo>
                <a:lnTo>
                  <a:pt x="2619374" y="0"/>
                </a:lnTo>
                <a:cubicBezTo>
                  <a:pt x="2654445" y="0"/>
                  <a:pt x="2682875" y="28430"/>
                  <a:pt x="2682875" y="63501"/>
                </a:cubicBezTo>
                <a:lnTo>
                  <a:pt x="2682875" y="380999"/>
                </a:lnTo>
                <a:cubicBezTo>
                  <a:pt x="2682875" y="416070"/>
                  <a:pt x="2654445" y="444500"/>
                  <a:pt x="2619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72" name="Text 70"/>
          <p:cNvSpPr/>
          <p:nvPr/>
        </p:nvSpPr>
        <p:spPr>
          <a:xfrm>
            <a:off x="9120188" y="6913563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4: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120188" y="7072313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Methods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10313" y="7358063"/>
            <a:ext cx="2682875" cy="444500"/>
          </a:xfrm>
          <a:custGeom>
            <a:avLst/>
            <a:gdLst/>
            <a:ahLst/>
            <a:cxnLst/>
            <a:rect l="l" t="t" r="r" b="b"/>
            <a:pathLst>
              <a:path w="2682875" h="444500">
                <a:moveTo>
                  <a:pt x="63501" y="0"/>
                </a:moveTo>
                <a:lnTo>
                  <a:pt x="2619374" y="0"/>
                </a:lnTo>
                <a:cubicBezTo>
                  <a:pt x="2654445" y="0"/>
                  <a:pt x="2682875" y="28430"/>
                  <a:pt x="2682875" y="63501"/>
                </a:cubicBezTo>
                <a:lnTo>
                  <a:pt x="2682875" y="380999"/>
                </a:lnTo>
                <a:cubicBezTo>
                  <a:pt x="2682875" y="416070"/>
                  <a:pt x="2654445" y="444500"/>
                  <a:pt x="2619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75" name="Text 73"/>
          <p:cNvSpPr/>
          <p:nvPr/>
        </p:nvSpPr>
        <p:spPr>
          <a:xfrm>
            <a:off x="6373813" y="7421563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5: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373813" y="7580313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Naive Chaining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056688" y="7358063"/>
            <a:ext cx="2682875" cy="444500"/>
          </a:xfrm>
          <a:custGeom>
            <a:avLst/>
            <a:gdLst/>
            <a:ahLst/>
            <a:cxnLst/>
            <a:rect l="l" t="t" r="r" b="b"/>
            <a:pathLst>
              <a:path w="2682875" h="444500">
                <a:moveTo>
                  <a:pt x="63501" y="0"/>
                </a:moveTo>
                <a:lnTo>
                  <a:pt x="2619374" y="0"/>
                </a:lnTo>
                <a:cubicBezTo>
                  <a:pt x="2654445" y="0"/>
                  <a:pt x="2682875" y="28430"/>
                  <a:pt x="2682875" y="63501"/>
                </a:cubicBezTo>
                <a:lnTo>
                  <a:pt x="2682875" y="380999"/>
                </a:lnTo>
                <a:cubicBezTo>
                  <a:pt x="2682875" y="416070"/>
                  <a:pt x="2654445" y="444500"/>
                  <a:pt x="2619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78" name="Text 76"/>
          <p:cNvSpPr/>
          <p:nvPr/>
        </p:nvSpPr>
        <p:spPr>
          <a:xfrm>
            <a:off x="9120188" y="7421563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6: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120188" y="7580313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Selective Chaining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xbsoftware.com/3580037f15284755838ed5927ebbbc9aa271aa25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5828" b="582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EC4899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96641"/>
            <a:ext cx="1238250" cy="390525"/>
          </a:xfrm>
          <a:custGeom>
            <a:avLst/>
            <a:gdLst/>
            <a:ahLst/>
            <a:cxnLst/>
            <a:rect l="l" t="t" r="r" b="b"/>
            <a:pathLst>
              <a:path w="1238250" h="390525">
                <a:moveTo>
                  <a:pt x="195263" y="0"/>
                </a:moveTo>
                <a:lnTo>
                  <a:pt x="1042988" y="0"/>
                </a:lnTo>
                <a:cubicBezTo>
                  <a:pt x="1150756" y="0"/>
                  <a:pt x="1238250" y="87494"/>
                  <a:pt x="1238250" y="195263"/>
                </a:cubicBezTo>
                <a:lnTo>
                  <a:pt x="1238250" y="195263"/>
                </a:lnTo>
                <a:cubicBezTo>
                  <a:pt x="1238250" y="303031"/>
                  <a:pt x="1150756" y="390525"/>
                  <a:pt x="10429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 w="12700">
            <a:solidFill>
              <a:srgbClr val="EC4899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806178"/>
            <a:ext cx="1000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7292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Tái cấu trúc mã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với GenAI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30278"/>
            <a:ext cx="86772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1F5F9">
                    <a:alpha val="8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Refactoring: Readability, Structure, Performance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5288" y="491847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4899422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Cải thiện chất lượng code với AI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83" y="367783"/>
            <a:ext cx="1152999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kern="0" spc="58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10: TÁI CẤU TRÚC MÃ VỚI GENAI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783" y="662009"/>
            <a:ext cx="11621937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Lý thuyết Refactoring và Mô hình 3 tầng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783" y="1140127"/>
            <a:ext cx="882679" cy="36778"/>
          </a:xfrm>
          <a:custGeom>
            <a:avLst/>
            <a:gdLst/>
            <a:ahLst/>
            <a:cxnLst/>
            <a:rect l="l" t="t" r="r" b="b"/>
            <a:pathLst>
              <a:path w="882679" h="36778">
                <a:moveTo>
                  <a:pt x="0" y="0"/>
                </a:moveTo>
                <a:lnTo>
                  <a:pt x="882679" y="0"/>
                </a:lnTo>
                <a:lnTo>
                  <a:pt x="882679" y="36778"/>
                </a:lnTo>
                <a:lnTo>
                  <a:pt x="0" y="3677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C4899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72380" y="1328615"/>
            <a:ext cx="5470769" cy="5525937"/>
          </a:xfrm>
          <a:custGeom>
            <a:avLst/>
            <a:gdLst/>
            <a:ahLst/>
            <a:cxnLst/>
            <a:rect l="l" t="t" r="r" b="b"/>
            <a:pathLst>
              <a:path w="5470769" h="5525937">
                <a:moveTo>
                  <a:pt x="110345" y="0"/>
                </a:moveTo>
                <a:lnTo>
                  <a:pt x="5360424" y="0"/>
                </a:lnTo>
                <a:cubicBezTo>
                  <a:pt x="5421366" y="0"/>
                  <a:pt x="5470769" y="49403"/>
                  <a:pt x="5470769" y="110345"/>
                </a:cubicBezTo>
                <a:lnTo>
                  <a:pt x="5470769" y="5415591"/>
                </a:lnTo>
                <a:cubicBezTo>
                  <a:pt x="5470769" y="5476533"/>
                  <a:pt x="5421366" y="5525937"/>
                  <a:pt x="5360424" y="5525937"/>
                </a:cubicBezTo>
                <a:lnTo>
                  <a:pt x="110345" y="5525937"/>
                </a:lnTo>
                <a:cubicBezTo>
                  <a:pt x="49403" y="5525937"/>
                  <a:pt x="0" y="5476533"/>
                  <a:pt x="0" y="5415591"/>
                </a:cubicBezTo>
                <a:lnTo>
                  <a:pt x="0" y="110345"/>
                </a:lnTo>
                <a:cubicBezTo>
                  <a:pt x="0" y="49444"/>
                  <a:pt x="49444" y="0"/>
                  <a:pt x="11034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EC489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4090" y="1480326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73557" y="0"/>
                </a:moveTo>
                <a:lnTo>
                  <a:pt x="294226" y="0"/>
                </a:lnTo>
                <a:cubicBezTo>
                  <a:pt x="334823" y="0"/>
                  <a:pt x="367783" y="32960"/>
                  <a:pt x="367783" y="73557"/>
                </a:cubicBezTo>
                <a:lnTo>
                  <a:pt x="367783" y="294226"/>
                </a:lnTo>
                <a:cubicBezTo>
                  <a:pt x="367783" y="334850"/>
                  <a:pt x="334850" y="367783"/>
                  <a:pt x="294226" y="367783"/>
                </a:cubicBezTo>
                <a:lnTo>
                  <a:pt x="73557" y="367783"/>
                </a:lnTo>
                <a:cubicBezTo>
                  <a:pt x="32932" y="367783"/>
                  <a:pt x="0" y="334850"/>
                  <a:pt x="0" y="29422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4543" y="1572271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80488" y="34875"/>
                </a:moveTo>
                <a:lnTo>
                  <a:pt x="80488" y="52689"/>
                </a:lnTo>
                <a:lnTo>
                  <a:pt x="80668" y="52869"/>
                </a:lnTo>
                <a:cubicBezTo>
                  <a:pt x="83003" y="23274"/>
                  <a:pt x="107749" y="0"/>
                  <a:pt x="137954" y="0"/>
                </a:cubicBezTo>
                <a:cubicBezTo>
                  <a:pt x="145174" y="0"/>
                  <a:pt x="152105" y="1329"/>
                  <a:pt x="158463" y="3771"/>
                </a:cubicBezTo>
                <a:cubicBezTo>
                  <a:pt x="162054" y="5136"/>
                  <a:pt x="162701" y="9697"/>
                  <a:pt x="160007" y="12427"/>
                </a:cubicBezTo>
                <a:lnTo>
                  <a:pt x="128149" y="44285"/>
                </a:lnTo>
                <a:cubicBezTo>
                  <a:pt x="127072" y="45362"/>
                  <a:pt x="126461" y="46835"/>
                  <a:pt x="126461" y="48343"/>
                </a:cubicBezTo>
                <a:lnTo>
                  <a:pt x="126461" y="63213"/>
                </a:lnTo>
                <a:cubicBezTo>
                  <a:pt x="126461" y="66373"/>
                  <a:pt x="129047" y="68959"/>
                  <a:pt x="132208" y="68959"/>
                </a:cubicBezTo>
                <a:lnTo>
                  <a:pt x="147077" y="68959"/>
                </a:lnTo>
                <a:cubicBezTo>
                  <a:pt x="148586" y="68959"/>
                  <a:pt x="150058" y="68349"/>
                  <a:pt x="151136" y="67271"/>
                </a:cubicBezTo>
                <a:lnTo>
                  <a:pt x="182993" y="35413"/>
                </a:lnTo>
                <a:cubicBezTo>
                  <a:pt x="185723" y="32684"/>
                  <a:pt x="190285" y="33366"/>
                  <a:pt x="191649" y="36958"/>
                </a:cubicBezTo>
                <a:cubicBezTo>
                  <a:pt x="194092" y="43315"/>
                  <a:pt x="195421" y="50247"/>
                  <a:pt x="195421" y="57466"/>
                </a:cubicBezTo>
                <a:cubicBezTo>
                  <a:pt x="195421" y="79231"/>
                  <a:pt x="183317" y="98195"/>
                  <a:pt x="165430" y="107928"/>
                </a:cubicBezTo>
                <a:lnTo>
                  <a:pt x="194702" y="137200"/>
                </a:lnTo>
                <a:cubicBezTo>
                  <a:pt x="201419" y="143917"/>
                  <a:pt x="201419" y="154835"/>
                  <a:pt x="194702" y="161587"/>
                </a:cubicBezTo>
                <a:lnTo>
                  <a:pt x="173117" y="183173"/>
                </a:lnTo>
                <a:cubicBezTo>
                  <a:pt x="166400" y="189889"/>
                  <a:pt x="155482" y="189889"/>
                  <a:pt x="148729" y="183173"/>
                </a:cubicBezTo>
                <a:lnTo>
                  <a:pt x="103475" y="137919"/>
                </a:lnTo>
                <a:cubicBezTo>
                  <a:pt x="93634" y="128077"/>
                  <a:pt x="91407" y="113531"/>
                  <a:pt x="96830" y="101535"/>
                </a:cubicBezTo>
                <a:lnTo>
                  <a:pt x="64254" y="68959"/>
                </a:lnTo>
                <a:lnTo>
                  <a:pt x="46440" y="68959"/>
                </a:lnTo>
                <a:cubicBezTo>
                  <a:pt x="42597" y="68959"/>
                  <a:pt x="39005" y="67056"/>
                  <a:pt x="36886" y="63859"/>
                </a:cubicBezTo>
                <a:lnTo>
                  <a:pt x="8404" y="21155"/>
                </a:lnTo>
                <a:cubicBezTo>
                  <a:pt x="6896" y="18892"/>
                  <a:pt x="7183" y="15839"/>
                  <a:pt x="9123" y="13900"/>
                </a:cubicBezTo>
                <a:lnTo>
                  <a:pt x="25429" y="-2406"/>
                </a:lnTo>
                <a:cubicBezTo>
                  <a:pt x="27368" y="-4346"/>
                  <a:pt x="30385" y="-4633"/>
                  <a:pt x="32684" y="-3125"/>
                </a:cubicBezTo>
                <a:lnTo>
                  <a:pt x="75388" y="25321"/>
                </a:lnTo>
                <a:cubicBezTo>
                  <a:pt x="78585" y="27440"/>
                  <a:pt x="80488" y="31032"/>
                  <a:pt x="80488" y="34875"/>
                </a:cubicBezTo>
                <a:close/>
                <a:moveTo>
                  <a:pt x="77436" y="106528"/>
                </a:moveTo>
                <a:cubicBezTo>
                  <a:pt x="75173" y="119817"/>
                  <a:pt x="78298" y="133860"/>
                  <a:pt x="86917" y="145102"/>
                </a:cubicBezTo>
                <a:lnTo>
                  <a:pt x="52797" y="179186"/>
                </a:lnTo>
                <a:cubicBezTo>
                  <a:pt x="42704" y="189279"/>
                  <a:pt x="26327" y="189279"/>
                  <a:pt x="16234" y="179186"/>
                </a:cubicBezTo>
                <a:cubicBezTo>
                  <a:pt x="6142" y="169094"/>
                  <a:pt x="6142" y="152716"/>
                  <a:pt x="16234" y="142624"/>
                </a:cubicBezTo>
                <a:lnTo>
                  <a:pt x="64865" y="93993"/>
                </a:lnTo>
                <a:lnTo>
                  <a:pt x="77436" y="106564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1002208" y="1535493"/>
            <a:ext cx="1489520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Refactoring là gì?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4090" y="2179113"/>
            <a:ext cx="5167348" cy="698787"/>
          </a:xfrm>
          <a:custGeom>
            <a:avLst/>
            <a:gdLst/>
            <a:ahLst/>
            <a:cxnLst/>
            <a:rect l="l" t="t" r="r" b="b"/>
            <a:pathLst>
              <a:path w="5167348" h="698787">
                <a:moveTo>
                  <a:pt x="73554" y="0"/>
                </a:moveTo>
                <a:lnTo>
                  <a:pt x="5093794" y="0"/>
                </a:lnTo>
                <a:cubicBezTo>
                  <a:pt x="5134417" y="0"/>
                  <a:pt x="5167348" y="32931"/>
                  <a:pt x="5167348" y="73554"/>
                </a:cubicBezTo>
                <a:lnTo>
                  <a:pt x="5167348" y="625233"/>
                </a:lnTo>
                <a:cubicBezTo>
                  <a:pt x="5167348" y="665856"/>
                  <a:pt x="5134417" y="698787"/>
                  <a:pt x="5093794" y="698787"/>
                </a:cubicBezTo>
                <a:lnTo>
                  <a:pt x="73554" y="698787"/>
                </a:lnTo>
                <a:cubicBezTo>
                  <a:pt x="32931" y="698787"/>
                  <a:pt x="0" y="665856"/>
                  <a:pt x="0" y="625233"/>
                </a:cubicBezTo>
                <a:lnTo>
                  <a:pt x="0" y="73554"/>
                </a:lnTo>
                <a:cubicBezTo>
                  <a:pt x="0" y="32959"/>
                  <a:pt x="32959" y="0"/>
                  <a:pt x="7355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34425" y="2289448"/>
            <a:ext cx="5020235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Refactoring là quá trình </a:t>
            </a:r>
            <a:r>
              <a:rPr lang="en-US" sz="1158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viết lại cấu trúc mã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để tăng độ dễ đọc, dễ bảo trì hoặc hiệu năng, trong khi </a:t>
            </a:r>
            <a:r>
              <a:rPr lang="en-US" sz="1158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vẫn giữ nguyên hành vi nghiệp vụ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4090" y="3429575"/>
            <a:ext cx="5167348" cy="1250462"/>
          </a:xfrm>
          <a:custGeom>
            <a:avLst/>
            <a:gdLst/>
            <a:ahLst/>
            <a:cxnLst/>
            <a:rect l="l" t="t" r="r" b="b"/>
            <a:pathLst>
              <a:path w="5167348" h="1250462">
                <a:moveTo>
                  <a:pt x="73552" y="0"/>
                </a:moveTo>
                <a:lnTo>
                  <a:pt x="5093796" y="0"/>
                </a:lnTo>
                <a:cubicBezTo>
                  <a:pt x="5134418" y="0"/>
                  <a:pt x="5167348" y="32930"/>
                  <a:pt x="5167348" y="73552"/>
                </a:cubicBezTo>
                <a:lnTo>
                  <a:pt x="5167348" y="1176909"/>
                </a:lnTo>
                <a:cubicBezTo>
                  <a:pt x="5167348" y="1217531"/>
                  <a:pt x="5134418" y="1250462"/>
                  <a:pt x="5093796" y="1250462"/>
                </a:cubicBezTo>
                <a:lnTo>
                  <a:pt x="73552" y="1250462"/>
                </a:lnTo>
                <a:cubicBezTo>
                  <a:pt x="32930" y="1250462"/>
                  <a:pt x="0" y="1217531"/>
                  <a:pt x="0" y="1176909"/>
                </a:cubicBezTo>
                <a:lnTo>
                  <a:pt x="0" y="73552"/>
                </a:lnTo>
                <a:cubicBezTo>
                  <a:pt x="0" y="32958"/>
                  <a:pt x="32958" y="0"/>
                  <a:pt x="7355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34425" y="3539910"/>
            <a:ext cx="502023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Vì sao refactor với GenAI?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2009" y="3870914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124931" y="20142"/>
                </a:moveTo>
                <a:cubicBezTo>
                  <a:pt x="129040" y="23130"/>
                  <a:pt x="129960" y="28877"/>
                  <a:pt x="126971" y="32986"/>
                </a:cubicBezTo>
                <a:lnTo>
                  <a:pt x="53415" y="134126"/>
                </a:lnTo>
                <a:cubicBezTo>
                  <a:pt x="51834" y="136310"/>
                  <a:pt x="49392" y="137660"/>
                  <a:pt x="46691" y="137890"/>
                </a:cubicBezTo>
                <a:cubicBezTo>
                  <a:pt x="43990" y="138120"/>
                  <a:pt x="41376" y="137114"/>
                  <a:pt x="39479" y="135218"/>
                </a:cubicBezTo>
                <a:lnTo>
                  <a:pt x="2701" y="98439"/>
                </a:lnTo>
                <a:cubicBezTo>
                  <a:pt x="-891" y="94848"/>
                  <a:pt x="-891" y="89015"/>
                  <a:pt x="2701" y="85423"/>
                </a:cubicBezTo>
                <a:cubicBezTo>
                  <a:pt x="6293" y="81832"/>
                  <a:pt x="12125" y="81832"/>
                  <a:pt x="15717" y="85423"/>
                </a:cubicBezTo>
                <a:lnTo>
                  <a:pt x="44881" y="114587"/>
                </a:lnTo>
                <a:lnTo>
                  <a:pt x="112116" y="22153"/>
                </a:lnTo>
                <a:cubicBezTo>
                  <a:pt x="115105" y="18044"/>
                  <a:pt x="120851" y="17125"/>
                  <a:pt x="124960" y="2011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71570" y="3834136"/>
            <a:ext cx="4783090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Giảm thờii gian viết và cải tổ code lặp lại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2009" y="4128362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124931" y="20142"/>
                </a:moveTo>
                <a:cubicBezTo>
                  <a:pt x="129040" y="23130"/>
                  <a:pt x="129960" y="28877"/>
                  <a:pt x="126971" y="32986"/>
                </a:cubicBezTo>
                <a:lnTo>
                  <a:pt x="53415" y="134126"/>
                </a:lnTo>
                <a:cubicBezTo>
                  <a:pt x="51834" y="136310"/>
                  <a:pt x="49392" y="137660"/>
                  <a:pt x="46691" y="137890"/>
                </a:cubicBezTo>
                <a:cubicBezTo>
                  <a:pt x="43990" y="138120"/>
                  <a:pt x="41376" y="137114"/>
                  <a:pt x="39479" y="135218"/>
                </a:cubicBezTo>
                <a:lnTo>
                  <a:pt x="2701" y="98439"/>
                </a:lnTo>
                <a:cubicBezTo>
                  <a:pt x="-891" y="94848"/>
                  <a:pt x="-891" y="89015"/>
                  <a:pt x="2701" y="85423"/>
                </a:cubicBezTo>
                <a:cubicBezTo>
                  <a:pt x="6293" y="81832"/>
                  <a:pt x="12125" y="81832"/>
                  <a:pt x="15717" y="85423"/>
                </a:cubicBezTo>
                <a:lnTo>
                  <a:pt x="44881" y="114587"/>
                </a:lnTo>
                <a:lnTo>
                  <a:pt x="112116" y="22153"/>
                </a:lnTo>
                <a:cubicBezTo>
                  <a:pt x="115105" y="18044"/>
                  <a:pt x="120851" y="17125"/>
                  <a:pt x="124960" y="2011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71570" y="4091584"/>
            <a:ext cx="4783090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Tăng tốc độ tạo phương án thay thế để so sánh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009" y="4385810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124931" y="20142"/>
                </a:moveTo>
                <a:cubicBezTo>
                  <a:pt x="129040" y="23130"/>
                  <a:pt x="129960" y="28877"/>
                  <a:pt x="126971" y="32986"/>
                </a:cubicBezTo>
                <a:lnTo>
                  <a:pt x="53415" y="134126"/>
                </a:lnTo>
                <a:cubicBezTo>
                  <a:pt x="51834" y="136310"/>
                  <a:pt x="49392" y="137660"/>
                  <a:pt x="46691" y="137890"/>
                </a:cubicBezTo>
                <a:cubicBezTo>
                  <a:pt x="43990" y="138120"/>
                  <a:pt x="41376" y="137114"/>
                  <a:pt x="39479" y="135218"/>
                </a:cubicBezTo>
                <a:lnTo>
                  <a:pt x="2701" y="98439"/>
                </a:lnTo>
                <a:cubicBezTo>
                  <a:pt x="-891" y="94848"/>
                  <a:pt x="-891" y="89015"/>
                  <a:pt x="2701" y="85423"/>
                </a:cubicBezTo>
                <a:cubicBezTo>
                  <a:pt x="6293" y="81832"/>
                  <a:pt x="12125" y="81832"/>
                  <a:pt x="15717" y="85423"/>
                </a:cubicBezTo>
                <a:lnTo>
                  <a:pt x="44881" y="114587"/>
                </a:lnTo>
                <a:lnTo>
                  <a:pt x="112116" y="22153"/>
                </a:lnTo>
                <a:cubicBezTo>
                  <a:pt x="115105" y="18044"/>
                  <a:pt x="120851" y="17125"/>
                  <a:pt x="124960" y="2011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71570" y="4349032"/>
            <a:ext cx="4783090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Hỗ trợ đề xuất cấu trúc hàm, đặt tên và triển khai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4090" y="5231710"/>
            <a:ext cx="5167348" cy="1250462"/>
          </a:xfrm>
          <a:custGeom>
            <a:avLst/>
            <a:gdLst/>
            <a:ahLst/>
            <a:cxnLst/>
            <a:rect l="l" t="t" r="r" b="b"/>
            <a:pathLst>
              <a:path w="5167348" h="1250462">
                <a:moveTo>
                  <a:pt x="73552" y="0"/>
                </a:moveTo>
                <a:lnTo>
                  <a:pt x="5093796" y="0"/>
                </a:lnTo>
                <a:cubicBezTo>
                  <a:pt x="5134418" y="0"/>
                  <a:pt x="5167348" y="32930"/>
                  <a:pt x="5167348" y="73552"/>
                </a:cubicBezTo>
                <a:lnTo>
                  <a:pt x="5167348" y="1176909"/>
                </a:lnTo>
                <a:cubicBezTo>
                  <a:pt x="5167348" y="1217531"/>
                  <a:pt x="5134418" y="1250462"/>
                  <a:pt x="5093796" y="1250462"/>
                </a:cubicBezTo>
                <a:lnTo>
                  <a:pt x="73552" y="1250462"/>
                </a:lnTo>
                <a:cubicBezTo>
                  <a:pt x="32930" y="1250462"/>
                  <a:pt x="0" y="1217531"/>
                  <a:pt x="0" y="1176909"/>
                </a:cubicBezTo>
                <a:lnTo>
                  <a:pt x="0" y="73552"/>
                </a:lnTo>
                <a:cubicBezTo>
                  <a:pt x="0" y="32958"/>
                  <a:pt x="32958" y="0"/>
                  <a:pt x="7355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34425" y="5342045"/>
            <a:ext cx="502023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 nhóm refactor trong chương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4425" y="5636271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36779" y="0"/>
                </a:moveTo>
                <a:lnTo>
                  <a:pt x="183891" y="0"/>
                </a:lnTo>
                <a:cubicBezTo>
                  <a:pt x="204203" y="0"/>
                  <a:pt x="220670" y="16467"/>
                  <a:pt x="220670" y="36779"/>
                </a:cubicBezTo>
                <a:lnTo>
                  <a:pt x="220670" y="183891"/>
                </a:lnTo>
                <a:cubicBezTo>
                  <a:pt x="220670" y="204203"/>
                  <a:pt x="204203" y="220670"/>
                  <a:pt x="183891" y="220670"/>
                </a:cubicBezTo>
                <a:lnTo>
                  <a:pt x="36779" y="220670"/>
                </a:lnTo>
                <a:cubicBezTo>
                  <a:pt x="16467" y="220670"/>
                  <a:pt x="0" y="204203"/>
                  <a:pt x="0" y="183891"/>
                </a:cubicBezTo>
                <a:lnTo>
                  <a:pt x="0" y="36779"/>
                </a:lnTo>
                <a:cubicBezTo>
                  <a:pt x="0" y="16480"/>
                  <a:pt x="16480" y="0"/>
                  <a:pt x="3677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4216" y="5654661"/>
            <a:ext cx="10114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652" y="5636271"/>
            <a:ext cx="2905484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Readability: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Đặt tên rõ nghĩa, bỏ mã dư thừa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4425" y="5893719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36779" y="0"/>
                </a:moveTo>
                <a:lnTo>
                  <a:pt x="183891" y="0"/>
                </a:lnTo>
                <a:cubicBezTo>
                  <a:pt x="204203" y="0"/>
                  <a:pt x="220670" y="16467"/>
                  <a:pt x="220670" y="36779"/>
                </a:cubicBezTo>
                <a:lnTo>
                  <a:pt x="220670" y="183891"/>
                </a:lnTo>
                <a:cubicBezTo>
                  <a:pt x="220670" y="204203"/>
                  <a:pt x="204203" y="220670"/>
                  <a:pt x="183891" y="220670"/>
                </a:cubicBezTo>
                <a:lnTo>
                  <a:pt x="36779" y="220670"/>
                </a:lnTo>
                <a:cubicBezTo>
                  <a:pt x="16467" y="220670"/>
                  <a:pt x="0" y="204203"/>
                  <a:pt x="0" y="183891"/>
                </a:cubicBezTo>
                <a:lnTo>
                  <a:pt x="0" y="36779"/>
                </a:lnTo>
                <a:cubicBezTo>
                  <a:pt x="0" y="16480"/>
                  <a:pt x="16480" y="0"/>
                  <a:pt x="36779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11861" y="5912109"/>
            <a:ext cx="12872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652" y="5893719"/>
            <a:ext cx="318132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Structure: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Tách hàm, giảm lặp code, dễ kiểm thử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4425" y="6151167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36779" y="0"/>
                </a:moveTo>
                <a:lnTo>
                  <a:pt x="183891" y="0"/>
                </a:lnTo>
                <a:cubicBezTo>
                  <a:pt x="204203" y="0"/>
                  <a:pt x="220670" y="16467"/>
                  <a:pt x="220670" y="36779"/>
                </a:cubicBezTo>
                <a:lnTo>
                  <a:pt x="220670" y="183891"/>
                </a:lnTo>
                <a:cubicBezTo>
                  <a:pt x="220670" y="204203"/>
                  <a:pt x="204203" y="220670"/>
                  <a:pt x="183891" y="220670"/>
                </a:cubicBezTo>
                <a:lnTo>
                  <a:pt x="36779" y="220670"/>
                </a:lnTo>
                <a:cubicBezTo>
                  <a:pt x="16467" y="220670"/>
                  <a:pt x="0" y="204203"/>
                  <a:pt x="0" y="183891"/>
                </a:cubicBezTo>
                <a:lnTo>
                  <a:pt x="0" y="36779"/>
                </a:lnTo>
                <a:cubicBezTo>
                  <a:pt x="0" y="16480"/>
                  <a:pt x="16480" y="0"/>
                  <a:pt x="3677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0281" y="6169557"/>
            <a:ext cx="13791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8652" y="6151167"/>
            <a:ext cx="355829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Thay vòng lặp bằng vectorized operation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37241" y="1328615"/>
            <a:ext cx="5783385" cy="5525937"/>
          </a:xfrm>
          <a:custGeom>
            <a:avLst/>
            <a:gdLst/>
            <a:ahLst/>
            <a:cxnLst/>
            <a:rect l="l" t="t" r="r" b="b"/>
            <a:pathLst>
              <a:path w="5783385" h="5525937">
                <a:moveTo>
                  <a:pt x="110353" y="0"/>
                </a:moveTo>
                <a:lnTo>
                  <a:pt x="5673032" y="0"/>
                </a:lnTo>
                <a:cubicBezTo>
                  <a:pt x="5733978" y="0"/>
                  <a:pt x="5783385" y="49407"/>
                  <a:pt x="5783385" y="110353"/>
                </a:cubicBezTo>
                <a:lnTo>
                  <a:pt x="5783385" y="5415584"/>
                </a:lnTo>
                <a:cubicBezTo>
                  <a:pt x="5783385" y="5476530"/>
                  <a:pt x="5733978" y="5525937"/>
                  <a:pt x="5673032" y="5525937"/>
                </a:cubicBezTo>
                <a:lnTo>
                  <a:pt x="110353" y="5525937"/>
                </a:lnTo>
                <a:cubicBezTo>
                  <a:pt x="49407" y="5525937"/>
                  <a:pt x="0" y="5476530"/>
                  <a:pt x="0" y="5415584"/>
                </a:cubicBezTo>
                <a:lnTo>
                  <a:pt x="0" y="110353"/>
                </a:lnTo>
                <a:cubicBezTo>
                  <a:pt x="0" y="49448"/>
                  <a:pt x="49448" y="0"/>
                  <a:pt x="110353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8951" y="1480326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73557" y="0"/>
                </a:moveTo>
                <a:lnTo>
                  <a:pt x="294226" y="0"/>
                </a:lnTo>
                <a:cubicBezTo>
                  <a:pt x="334823" y="0"/>
                  <a:pt x="367783" y="32960"/>
                  <a:pt x="367783" y="73557"/>
                </a:cubicBezTo>
                <a:lnTo>
                  <a:pt x="367783" y="294226"/>
                </a:lnTo>
                <a:cubicBezTo>
                  <a:pt x="367783" y="334850"/>
                  <a:pt x="334850" y="367783"/>
                  <a:pt x="294226" y="367783"/>
                </a:cubicBezTo>
                <a:lnTo>
                  <a:pt x="73557" y="367783"/>
                </a:lnTo>
                <a:cubicBezTo>
                  <a:pt x="32932" y="367783"/>
                  <a:pt x="0" y="334850"/>
                  <a:pt x="0" y="29422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80897" y="1572271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83505" y="1868"/>
                </a:moveTo>
                <a:cubicBezTo>
                  <a:pt x="88857" y="-611"/>
                  <a:pt x="95035" y="-611"/>
                  <a:pt x="100386" y="1868"/>
                </a:cubicBezTo>
                <a:lnTo>
                  <a:pt x="178899" y="38143"/>
                </a:lnTo>
                <a:cubicBezTo>
                  <a:pt x="181952" y="39544"/>
                  <a:pt x="183891" y="42597"/>
                  <a:pt x="183891" y="45973"/>
                </a:cubicBezTo>
                <a:cubicBezTo>
                  <a:pt x="183891" y="49349"/>
                  <a:pt x="181952" y="52402"/>
                  <a:pt x="178899" y="53803"/>
                </a:cubicBezTo>
                <a:lnTo>
                  <a:pt x="100386" y="90078"/>
                </a:lnTo>
                <a:cubicBezTo>
                  <a:pt x="95035" y="92556"/>
                  <a:pt x="88857" y="92556"/>
                  <a:pt x="83505" y="90078"/>
                </a:cubicBezTo>
                <a:lnTo>
                  <a:pt x="4992" y="53803"/>
                </a:lnTo>
                <a:cubicBezTo>
                  <a:pt x="1939" y="52366"/>
                  <a:pt x="0" y="49313"/>
                  <a:pt x="0" y="45973"/>
                </a:cubicBezTo>
                <a:cubicBezTo>
                  <a:pt x="0" y="42633"/>
                  <a:pt x="1939" y="39544"/>
                  <a:pt x="4992" y="38143"/>
                </a:cubicBezTo>
                <a:lnTo>
                  <a:pt x="83505" y="1868"/>
                </a:lnTo>
                <a:close/>
                <a:moveTo>
                  <a:pt x="17276" y="78441"/>
                </a:moveTo>
                <a:lnTo>
                  <a:pt x="76286" y="105702"/>
                </a:lnTo>
                <a:cubicBezTo>
                  <a:pt x="86235" y="110299"/>
                  <a:pt x="97692" y="110299"/>
                  <a:pt x="107641" y="105702"/>
                </a:cubicBezTo>
                <a:lnTo>
                  <a:pt x="166652" y="78441"/>
                </a:lnTo>
                <a:lnTo>
                  <a:pt x="178899" y="84116"/>
                </a:lnTo>
                <a:cubicBezTo>
                  <a:pt x="181952" y="85517"/>
                  <a:pt x="183891" y="88570"/>
                  <a:pt x="183891" y="91946"/>
                </a:cubicBezTo>
                <a:cubicBezTo>
                  <a:pt x="183891" y="95322"/>
                  <a:pt x="181952" y="98375"/>
                  <a:pt x="178899" y="99775"/>
                </a:cubicBezTo>
                <a:lnTo>
                  <a:pt x="100386" y="136051"/>
                </a:lnTo>
                <a:cubicBezTo>
                  <a:pt x="95035" y="138529"/>
                  <a:pt x="88857" y="138529"/>
                  <a:pt x="83505" y="136051"/>
                </a:cubicBezTo>
                <a:lnTo>
                  <a:pt x="4992" y="99775"/>
                </a:lnTo>
                <a:cubicBezTo>
                  <a:pt x="1939" y="98339"/>
                  <a:pt x="0" y="95286"/>
                  <a:pt x="0" y="91946"/>
                </a:cubicBezTo>
                <a:cubicBezTo>
                  <a:pt x="0" y="88605"/>
                  <a:pt x="1939" y="85517"/>
                  <a:pt x="4992" y="84116"/>
                </a:cubicBezTo>
                <a:lnTo>
                  <a:pt x="17240" y="78441"/>
                </a:lnTo>
                <a:close/>
                <a:moveTo>
                  <a:pt x="4992" y="130089"/>
                </a:moveTo>
                <a:lnTo>
                  <a:pt x="17240" y="124414"/>
                </a:lnTo>
                <a:lnTo>
                  <a:pt x="76250" y="151674"/>
                </a:lnTo>
                <a:cubicBezTo>
                  <a:pt x="86199" y="156272"/>
                  <a:pt x="97656" y="156272"/>
                  <a:pt x="107605" y="151674"/>
                </a:cubicBezTo>
                <a:lnTo>
                  <a:pt x="166616" y="124414"/>
                </a:lnTo>
                <a:lnTo>
                  <a:pt x="178863" y="130089"/>
                </a:lnTo>
                <a:cubicBezTo>
                  <a:pt x="181916" y="131490"/>
                  <a:pt x="183855" y="134542"/>
                  <a:pt x="183855" y="137919"/>
                </a:cubicBezTo>
                <a:cubicBezTo>
                  <a:pt x="183855" y="141295"/>
                  <a:pt x="181916" y="144348"/>
                  <a:pt x="178863" y="145748"/>
                </a:cubicBezTo>
                <a:lnTo>
                  <a:pt x="100350" y="182024"/>
                </a:lnTo>
                <a:cubicBezTo>
                  <a:pt x="94999" y="184502"/>
                  <a:pt x="88821" y="184502"/>
                  <a:pt x="83469" y="182024"/>
                </a:cubicBezTo>
                <a:lnTo>
                  <a:pt x="4992" y="145748"/>
                </a:lnTo>
                <a:cubicBezTo>
                  <a:pt x="1939" y="144312"/>
                  <a:pt x="0" y="141259"/>
                  <a:pt x="0" y="137919"/>
                </a:cubicBezTo>
                <a:cubicBezTo>
                  <a:pt x="0" y="134578"/>
                  <a:pt x="1939" y="131490"/>
                  <a:pt x="4992" y="130089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667069" y="1535493"/>
            <a:ext cx="1278045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Mô hình 3 tầng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8951" y="1958443"/>
            <a:ext cx="5479964" cy="1029792"/>
          </a:xfrm>
          <a:custGeom>
            <a:avLst/>
            <a:gdLst/>
            <a:ahLst/>
            <a:cxnLst/>
            <a:rect l="l" t="t" r="r" b="b"/>
            <a:pathLst>
              <a:path w="5479964" h="1029792">
                <a:moveTo>
                  <a:pt x="73558" y="0"/>
                </a:moveTo>
                <a:lnTo>
                  <a:pt x="5406406" y="0"/>
                </a:lnTo>
                <a:cubicBezTo>
                  <a:pt x="5447031" y="0"/>
                  <a:pt x="5479964" y="32933"/>
                  <a:pt x="5479964" y="73558"/>
                </a:cubicBezTo>
                <a:lnTo>
                  <a:pt x="5479964" y="956234"/>
                </a:lnTo>
                <a:cubicBezTo>
                  <a:pt x="5479964" y="996859"/>
                  <a:pt x="5447031" y="1029792"/>
                  <a:pt x="5406406" y="1029792"/>
                </a:cubicBezTo>
                <a:lnTo>
                  <a:pt x="73558" y="1029792"/>
                </a:lnTo>
                <a:cubicBezTo>
                  <a:pt x="32933" y="1029792"/>
                  <a:pt x="0" y="996859"/>
                  <a:pt x="0" y="956234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5" name="Shape 33"/>
          <p:cNvSpPr/>
          <p:nvPr/>
        </p:nvSpPr>
        <p:spPr>
          <a:xfrm>
            <a:off x="6299286" y="2068778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73557" y="0"/>
                </a:moveTo>
                <a:lnTo>
                  <a:pt x="220670" y="0"/>
                </a:lnTo>
                <a:cubicBezTo>
                  <a:pt x="261267" y="0"/>
                  <a:pt x="294226" y="32960"/>
                  <a:pt x="294226" y="73557"/>
                </a:cubicBezTo>
                <a:lnTo>
                  <a:pt x="294226" y="220670"/>
                </a:lnTo>
                <a:cubicBezTo>
                  <a:pt x="294226" y="261294"/>
                  <a:pt x="261294" y="294226"/>
                  <a:pt x="220670" y="294226"/>
                </a:cubicBezTo>
                <a:lnTo>
                  <a:pt x="73557" y="294226"/>
                </a:lnTo>
                <a:cubicBezTo>
                  <a:pt x="32932" y="294226"/>
                  <a:pt x="0" y="261294"/>
                  <a:pt x="0" y="220670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22982" y="2105557"/>
            <a:ext cx="11952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67069" y="2105557"/>
            <a:ext cx="93784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Mức ý tưởng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99286" y="2436561"/>
            <a:ext cx="5332851" cy="44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viết một lần nhưng được đọc và bảo trì nhiều lần. Refactor với GenAI giúp cải thiện chất lượng code và tốc độ phát triển.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8951" y="3061792"/>
            <a:ext cx="5479964" cy="1728579"/>
          </a:xfrm>
          <a:custGeom>
            <a:avLst/>
            <a:gdLst/>
            <a:ahLst/>
            <a:cxnLst/>
            <a:rect l="l" t="t" r="r" b="b"/>
            <a:pathLst>
              <a:path w="5479964" h="1728579">
                <a:moveTo>
                  <a:pt x="73551" y="0"/>
                </a:moveTo>
                <a:lnTo>
                  <a:pt x="5406413" y="0"/>
                </a:lnTo>
                <a:cubicBezTo>
                  <a:pt x="5447034" y="0"/>
                  <a:pt x="5479964" y="32930"/>
                  <a:pt x="5479964" y="73551"/>
                </a:cubicBezTo>
                <a:lnTo>
                  <a:pt x="5479964" y="1655028"/>
                </a:lnTo>
                <a:cubicBezTo>
                  <a:pt x="5479964" y="1695649"/>
                  <a:pt x="5447034" y="1728579"/>
                  <a:pt x="5406413" y="1728579"/>
                </a:cubicBezTo>
                <a:lnTo>
                  <a:pt x="73551" y="1728579"/>
                </a:lnTo>
                <a:cubicBezTo>
                  <a:pt x="32930" y="1728579"/>
                  <a:pt x="0" y="1695649"/>
                  <a:pt x="0" y="1655028"/>
                </a:cubicBezTo>
                <a:lnTo>
                  <a:pt x="0" y="73551"/>
                </a:lnTo>
                <a:cubicBezTo>
                  <a:pt x="0" y="32957"/>
                  <a:pt x="32957" y="0"/>
                  <a:pt x="7355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0" name="Shape 38"/>
          <p:cNvSpPr/>
          <p:nvPr/>
        </p:nvSpPr>
        <p:spPr>
          <a:xfrm>
            <a:off x="6299286" y="3172127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73557" y="0"/>
                </a:moveTo>
                <a:lnTo>
                  <a:pt x="220670" y="0"/>
                </a:lnTo>
                <a:cubicBezTo>
                  <a:pt x="261267" y="0"/>
                  <a:pt x="294226" y="32960"/>
                  <a:pt x="294226" y="73557"/>
                </a:cubicBezTo>
                <a:lnTo>
                  <a:pt x="294226" y="220670"/>
                </a:lnTo>
                <a:cubicBezTo>
                  <a:pt x="294226" y="261294"/>
                  <a:pt x="261294" y="294226"/>
                  <a:pt x="220670" y="294226"/>
                </a:cubicBezTo>
                <a:lnTo>
                  <a:pt x="73557" y="294226"/>
                </a:lnTo>
                <a:cubicBezTo>
                  <a:pt x="32932" y="294226"/>
                  <a:pt x="0" y="261294"/>
                  <a:pt x="0" y="220670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8903" y="3208905"/>
            <a:ext cx="14711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67069" y="3208905"/>
            <a:ext cx="83670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Mức luận lý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99286" y="3539910"/>
            <a:ext cx="533285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Luồng xử lý: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99286" y="3834136"/>
            <a:ext cx="532365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Nhận HTTP request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99286" y="4054805"/>
            <a:ext cx="532365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Parse và validate df1, df2, distance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99286" y="4275475"/>
            <a:ext cx="532365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Chọn hàm tính theo distance (L1/L2)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99286" y="4496145"/>
            <a:ext cx="532365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Trả JSON response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8951" y="4863928"/>
            <a:ext cx="5479964" cy="1838914"/>
          </a:xfrm>
          <a:custGeom>
            <a:avLst/>
            <a:gdLst/>
            <a:ahLst/>
            <a:cxnLst/>
            <a:rect l="l" t="t" r="r" b="b"/>
            <a:pathLst>
              <a:path w="5479964" h="1838914">
                <a:moveTo>
                  <a:pt x="73557" y="0"/>
                </a:moveTo>
                <a:lnTo>
                  <a:pt x="5406407" y="0"/>
                </a:lnTo>
                <a:cubicBezTo>
                  <a:pt x="5447031" y="0"/>
                  <a:pt x="5479964" y="32932"/>
                  <a:pt x="5479964" y="73557"/>
                </a:cubicBezTo>
                <a:lnTo>
                  <a:pt x="5479964" y="1765357"/>
                </a:lnTo>
                <a:cubicBezTo>
                  <a:pt x="5479964" y="1805982"/>
                  <a:pt x="5447031" y="1838914"/>
                  <a:pt x="5406407" y="1838914"/>
                </a:cubicBezTo>
                <a:lnTo>
                  <a:pt x="73557" y="1838914"/>
                </a:lnTo>
                <a:cubicBezTo>
                  <a:pt x="32932" y="1838914"/>
                  <a:pt x="0" y="1805982"/>
                  <a:pt x="0" y="1765357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9" name="Shape 47"/>
          <p:cNvSpPr/>
          <p:nvPr/>
        </p:nvSpPr>
        <p:spPr>
          <a:xfrm>
            <a:off x="6299286" y="4974262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73557" y="0"/>
                </a:moveTo>
                <a:lnTo>
                  <a:pt x="220670" y="0"/>
                </a:lnTo>
                <a:cubicBezTo>
                  <a:pt x="261267" y="0"/>
                  <a:pt x="294226" y="32960"/>
                  <a:pt x="294226" y="73557"/>
                </a:cubicBezTo>
                <a:lnTo>
                  <a:pt x="294226" y="220670"/>
                </a:lnTo>
                <a:cubicBezTo>
                  <a:pt x="294226" y="261294"/>
                  <a:pt x="261294" y="294226"/>
                  <a:pt x="220670" y="294226"/>
                </a:cubicBezTo>
                <a:lnTo>
                  <a:pt x="73557" y="294226"/>
                </a:lnTo>
                <a:cubicBezTo>
                  <a:pt x="32932" y="294226"/>
                  <a:pt x="0" y="261294"/>
                  <a:pt x="0" y="220670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07035" y="5011041"/>
            <a:ext cx="15630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67069" y="5011041"/>
            <a:ext cx="76314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Mức vật lý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8481" y="5378824"/>
            <a:ext cx="165502" cy="147113"/>
          </a:xfrm>
          <a:custGeom>
            <a:avLst/>
            <a:gdLst/>
            <a:ahLst/>
            <a:cxnLst/>
            <a:rect l="l" t="t" r="r" b="b"/>
            <a:pathLst>
              <a:path w="165502" h="147113">
                <a:moveTo>
                  <a:pt x="103669" y="345"/>
                </a:moveTo>
                <a:cubicBezTo>
                  <a:pt x="98784" y="-1063"/>
                  <a:pt x="93698" y="1781"/>
                  <a:pt x="92290" y="6666"/>
                </a:cubicBezTo>
                <a:lnTo>
                  <a:pt x="55512" y="135390"/>
                </a:lnTo>
                <a:cubicBezTo>
                  <a:pt x="54104" y="140275"/>
                  <a:pt x="56949" y="145360"/>
                  <a:pt x="61833" y="146768"/>
                </a:cubicBezTo>
                <a:cubicBezTo>
                  <a:pt x="66718" y="148176"/>
                  <a:pt x="71804" y="145332"/>
                  <a:pt x="73212" y="140447"/>
                </a:cubicBezTo>
                <a:lnTo>
                  <a:pt x="109990" y="11723"/>
                </a:lnTo>
                <a:cubicBezTo>
                  <a:pt x="111398" y="6838"/>
                  <a:pt x="108553" y="1753"/>
                  <a:pt x="103669" y="345"/>
                </a:cubicBezTo>
                <a:close/>
                <a:moveTo>
                  <a:pt x="122230" y="39450"/>
                </a:moveTo>
                <a:cubicBezTo>
                  <a:pt x="118639" y="43042"/>
                  <a:pt x="118639" y="48875"/>
                  <a:pt x="122230" y="52467"/>
                </a:cubicBezTo>
                <a:lnTo>
                  <a:pt x="143320" y="73557"/>
                </a:lnTo>
                <a:lnTo>
                  <a:pt x="122230" y="94647"/>
                </a:lnTo>
                <a:cubicBezTo>
                  <a:pt x="118639" y="98238"/>
                  <a:pt x="118639" y="104071"/>
                  <a:pt x="122230" y="107663"/>
                </a:cubicBezTo>
                <a:cubicBezTo>
                  <a:pt x="125822" y="111254"/>
                  <a:pt x="131655" y="111254"/>
                  <a:pt x="135246" y="107663"/>
                </a:cubicBezTo>
                <a:lnTo>
                  <a:pt x="162830" y="80079"/>
                </a:lnTo>
                <a:cubicBezTo>
                  <a:pt x="166422" y="76487"/>
                  <a:pt x="166422" y="70655"/>
                  <a:pt x="162830" y="67063"/>
                </a:cubicBezTo>
                <a:lnTo>
                  <a:pt x="135246" y="39479"/>
                </a:lnTo>
                <a:cubicBezTo>
                  <a:pt x="131655" y="35888"/>
                  <a:pt x="125822" y="35888"/>
                  <a:pt x="122230" y="39479"/>
                </a:cubicBezTo>
                <a:close/>
                <a:moveTo>
                  <a:pt x="43301" y="39450"/>
                </a:moveTo>
                <a:cubicBezTo>
                  <a:pt x="39709" y="35859"/>
                  <a:pt x="33876" y="35859"/>
                  <a:pt x="30285" y="39450"/>
                </a:cubicBezTo>
                <a:lnTo>
                  <a:pt x="2701" y="67034"/>
                </a:lnTo>
                <a:cubicBezTo>
                  <a:pt x="-891" y="70626"/>
                  <a:pt x="-891" y="76459"/>
                  <a:pt x="2701" y="80050"/>
                </a:cubicBezTo>
                <a:lnTo>
                  <a:pt x="30285" y="107634"/>
                </a:lnTo>
                <a:cubicBezTo>
                  <a:pt x="33876" y="111226"/>
                  <a:pt x="39709" y="111226"/>
                  <a:pt x="43301" y="107634"/>
                </a:cubicBezTo>
                <a:cubicBezTo>
                  <a:pt x="46892" y="104042"/>
                  <a:pt x="46892" y="98210"/>
                  <a:pt x="43301" y="94618"/>
                </a:cubicBezTo>
                <a:lnTo>
                  <a:pt x="22211" y="73557"/>
                </a:lnTo>
                <a:lnTo>
                  <a:pt x="43272" y="52467"/>
                </a:lnTo>
                <a:cubicBezTo>
                  <a:pt x="46864" y="48875"/>
                  <a:pt x="46864" y="43042"/>
                  <a:pt x="43272" y="394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536431" y="5342045"/>
            <a:ext cx="509570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Ngôn ngữ: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3.x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7675" y="5636271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64448" y="-718"/>
                </a:moveTo>
                <a:cubicBezTo>
                  <a:pt x="70137" y="-3994"/>
                  <a:pt x="77148" y="-3994"/>
                  <a:pt x="82837" y="-718"/>
                </a:cubicBezTo>
                <a:lnTo>
                  <a:pt x="133379" y="28446"/>
                </a:lnTo>
                <a:cubicBezTo>
                  <a:pt x="139068" y="31721"/>
                  <a:pt x="142573" y="37813"/>
                  <a:pt x="142573" y="44364"/>
                </a:cubicBezTo>
                <a:lnTo>
                  <a:pt x="142573" y="102692"/>
                </a:lnTo>
                <a:cubicBezTo>
                  <a:pt x="142573" y="109272"/>
                  <a:pt x="139068" y="115334"/>
                  <a:pt x="133379" y="118610"/>
                </a:cubicBezTo>
                <a:lnTo>
                  <a:pt x="82837" y="147831"/>
                </a:lnTo>
                <a:cubicBezTo>
                  <a:pt x="77148" y="151107"/>
                  <a:pt x="70137" y="151107"/>
                  <a:pt x="64448" y="147831"/>
                </a:cubicBezTo>
                <a:lnTo>
                  <a:pt x="13936" y="118667"/>
                </a:lnTo>
                <a:cubicBezTo>
                  <a:pt x="8246" y="115392"/>
                  <a:pt x="4741" y="109300"/>
                  <a:pt x="4741" y="102749"/>
                </a:cubicBezTo>
                <a:lnTo>
                  <a:pt x="4741" y="44421"/>
                </a:lnTo>
                <a:cubicBezTo>
                  <a:pt x="4741" y="37841"/>
                  <a:pt x="8246" y="31779"/>
                  <a:pt x="13936" y="28503"/>
                </a:cubicBezTo>
                <a:lnTo>
                  <a:pt x="64448" y="-718"/>
                </a:lnTo>
                <a:close/>
                <a:moveTo>
                  <a:pt x="124155" y="102721"/>
                </a:moveTo>
                <a:lnTo>
                  <a:pt x="124155" y="54995"/>
                </a:lnTo>
                <a:lnTo>
                  <a:pt x="82837" y="78843"/>
                </a:lnTo>
                <a:lnTo>
                  <a:pt x="82837" y="126569"/>
                </a:lnTo>
                <a:lnTo>
                  <a:pt x="124155" y="10272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6536431" y="5599493"/>
            <a:ext cx="509570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Framework: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Flask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36064" y="5893719"/>
            <a:ext cx="110335" cy="147113"/>
          </a:xfrm>
          <a:custGeom>
            <a:avLst/>
            <a:gdLst/>
            <a:ahLst/>
            <a:cxnLst/>
            <a:rect l="l" t="t" r="r" b="b"/>
            <a:pathLst>
              <a:path w="110335" h="147113">
                <a:moveTo>
                  <a:pt x="18389" y="0"/>
                </a:moveTo>
                <a:cubicBezTo>
                  <a:pt x="8246" y="0"/>
                  <a:pt x="0" y="8246"/>
                  <a:pt x="0" y="18389"/>
                </a:cubicBezTo>
                <a:lnTo>
                  <a:pt x="0" y="128724"/>
                </a:lnTo>
                <a:cubicBezTo>
                  <a:pt x="0" y="138867"/>
                  <a:pt x="8246" y="147113"/>
                  <a:pt x="18389" y="147113"/>
                </a:cubicBezTo>
                <a:lnTo>
                  <a:pt x="91946" y="147113"/>
                </a:lnTo>
                <a:cubicBezTo>
                  <a:pt x="102088" y="147113"/>
                  <a:pt x="110335" y="138867"/>
                  <a:pt x="110335" y="128724"/>
                </a:cubicBezTo>
                <a:lnTo>
                  <a:pt x="110335" y="18389"/>
                </a:lnTo>
                <a:cubicBezTo>
                  <a:pt x="110335" y="8246"/>
                  <a:pt x="102088" y="0"/>
                  <a:pt x="91946" y="0"/>
                </a:cubicBezTo>
                <a:lnTo>
                  <a:pt x="18389" y="0"/>
                </a:lnTo>
                <a:close/>
                <a:moveTo>
                  <a:pt x="27584" y="18389"/>
                </a:moveTo>
                <a:lnTo>
                  <a:pt x="82751" y="18389"/>
                </a:lnTo>
                <a:cubicBezTo>
                  <a:pt x="87837" y="18389"/>
                  <a:pt x="91946" y="22498"/>
                  <a:pt x="91946" y="27584"/>
                </a:cubicBezTo>
                <a:lnTo>
                  <a:pt x="91946" y="36778"/>
                </a:lnTo>
                <a:cubicBezTo>
                  <a:pt x="91946" y="41864"/>
                  <a:pt x="87837" y="45973"/>
                  <a:pt x="82751" y="45973"/>
                </a:cubicBezTo>
                <a:lnTo>
                  <a:pt x="27584" y="45973"/>
                </a:lnTo>
                <a:cubicBezTo>
                  <a:pt x="22498" y="45973"/>
                  <a:pt x="18389" y="41864"/>
                  <a:pt x="18389" y="36778"/>
                </a:cubicBezTo>
                <a:lnTo>
                  <a:pt x="18389" y="27584"/>
                </a:lnTo>
                <a:cubicBezTo>
                  <a:pt x="18389" y="22498"/>
                  <a:pt x="22498" y="18389"/>
                  <a:pt x="27584" y="18389"/>
                </a:cubicBezTo>
                <a:close/>
                <a:moveTo>
                  <a:pt x="32181" y="66661"/>
                </a:moveTo>
                <a:cubicBezTo>
                  <a:pt x="32181" y="70467"/>
                  <a:pt x="29091" y="73557"/>
                  <a:pt x="25285" y="73557"/>
                </a:cubicBezTo>
                <a:cubicBezTo>
                  <a:pt x="21479" y="73557"/>
                  <a:pt x="18389" y="70467"/>
                  <a:pt x="18389" y="66661"/>
                </a:cubicBezTo>
                <a:cubicBezTo>
                  <a:pt x="18389" y="62855"/>
                  <a:pt x="21479" y="59765"/>
                  <a:pt x="25285" y="59765"/>
                </a:cubicBezTo>
                <a:cubicBezTo>
                  <a:pt x="29091" y="59765"/>
                  <a:pt x="32181" y="62855"/>
                  <a:pt x="32181" y="66661"/>
                </a:cubicBezTo>
                <a:close/>
                <a:moveTo>
                  <a:pt x="55167" y="73557"/>
                </a:moveTo>
                <a:cubicBezTo>
                  <a:pt x="51361" y="73557"/>
                  <a:pt x="48271" y="70467"/>
                  <a:pt x="48271" y="66661"/>
                </a:cubicBezTo>
                <a:cubicBezTo>
                  <a:pt x="48271" y="62855"/>
                  <a:pt x="51361" y="59765"/>
                  <a:pt x="55167" y="59765"/>
                </a:cubicBezTo>
                <a:cubicBezTo>
                  <a:pt x="58973" y="59765"/>
                  <a:pt x="62063" y="62855"/>
                  <a:pt x="62063" y="66661"/>
                </a:cubicBezTo>
                <a:cubicBezTo>
                  <a:pt x="62063" y="70467"/>
                  <a:pt x="58973" y="73557"/>
                  <a:pt x="55167" y="73557"/>
                </a:cubicBezTo>
                <a:close/>
                <a:moveTo>
                  <a:pt x="91946" y="66661"/>
                </a:moveTo>
                <a:cubicBezTo>
                  <a:pt x="91946" y="70467"/>
                  <a:pt x="88856" y="73557"/>
                  <a:pt x="85050" y="73557"/>
                </a:cubicBezTo>
                <a:cubicBezTo>
                  <a:pt x="81244" y="73557"/>
                  <a:pt x="78154" y="70467"/>
                  <a:pt x="78154" y="66661"/>
                </a:cubicBezTo>
                <a:cubicBezTo>
                  <a:pt x="78154" y="62855"/>
                  <a:pt x="81244" y="59765"/>
                  <a:pt x="85050" y="59765"/>
                </a:cubicBezTo>
                <a:cubicBezTo>
                  <a:pt x="88856" y="59765"/>
                  <a:pt x="91946" y="62855"/>
                  <a:pt x="91946" y="66661"/>
                </a:cubicBezTo>
                <a:close/>
                <a:moveTo>
                  <a:pt x="25285" y="101140"/>
                </a:moveTo>
                <a:cubicBezTo>
                  <a:pt x="21479" y="101140"/>
                  <a:pt x="18389" y="98050"/>
                  <a:pt x="18389" y="94244"/>
                </a:cubicBezTo>
                <a:cubicBezTo>
                  <a:pt x="18389" y="90438"/>
                  <a:pt x="21479" y="87348"/>
                  <a:pt x="25285" y="87348"/>
                </a:cubicBezTo>
                <a:cubicBezTo>
                  <a:pt x="29091" y="87348"/>
                  <a:pt x="32181" y="90438"/>
                  <a:pt x="32181" y="94244"/>
                </a:cubicBezTo>
                <a:cubicBezTo>
                  <a:pt x="32181" y="98050"/>
                  <a:pt x="29091" y="101140"/>
                  <a:pt x="25285" y="101140"/>
                </a:cubicBezTo>
                <a:close/>
                <a:moveTo>
                  <a:pt x="62063" y="94244"/>
                </a:moveTo>
                <a:cubicBezTo>
                  <a:pt x="62063" y="98050"/>
                  <a:pt x="58973" y="101140"/>
                  <a:pt x="55167" y="101140"/>
                </a:cubicBezTo>
                <a:cubicBezTo>
                  <a:pt x="51361" y="101140"/>
                  <a:pt x="48271" y="98050"/>
                  <a:pt x="48271" y="94244"/>
                </a:cubicBezTo>
                <a:cubicBezTo>
                  <a:pt x="48271" y="90438"/>
                  <a:pt x="51361" y="87348"/>
                  <a:pt x="55167" y="87348"/>
                </a:cubicBezTo>
                <a:cubicBezTo>
                  <a:pt x="58973" y="87348"/>
                  <a:pt x="62063" y="90438"/>
                  <a:pt x="62063" y="94244"/>
                </a:cubicBezTo>
                <a:close/>
                <a:moveTo>
                  <a:pt x="85050" y="101140"/>
                </a:moveTo>
                <a:cubicBezTo>
                  <a:pt x="81244" y="101140"/>
                  <a:pt x="78154" y="98050"/>
                  <a:pt x="78154" y="94244"/>
                </a:cubicBezTo>
                <a:cubicBezTo>
                  <a:pt x="78154" y="90438"/>
                  <a:pt x="81244" y="87348"/>
                  <a:pt x="85050" y="87348"/>
                </a:cubicBezTo>
                <a:cubicBezTo>
                  <a:pt x="88856" y="87348"/>
                  <a:pt x="91946" y="90438"/>
                  <a:pt x="91946" y="94244"/>
                </a:cubicBezTo>
                <a:cubicBezTo>
                  <a:pt x="91946" y="98050"/>
                  <a:pt x="88856" y="101140"/>
                  <a:pt x="85050" y="101140"/>
                </a:cubicBezTo>
                <a:close/>
                <a:moveTo>
                  <a:pt x="18389" y="121828"/>
                </a:moveTo>
                <a:cubicBezTo>
                  <a:pt x="18389" y="118007"/>
                  <a:pt x="21464" y="114932"/>
                  <a:pt x="25285" y="114932"/>
                </a:cubicBezTo>
                <a:lnTo>
                  <a:pt x="57466" y="114932"/>
                </a:lnTo>
                <a:cubicBezTo>
                  <a:pt x="61288" y="114932"/>
                  <a:pt x="64362" y="118007"/>
                  <a:pt x="64362" y="121828"/>
                </a:cubicBezTo>
                <a:cubicBezTo>
                  <a:pt x="64362" y="125650"/>
                  <a:pt x="61288" y="128724"/>
                  <a:pt x="57466" y="128724"/>
                </a:cubicBezTo>
                <a:lnTo>
                  <a:pt x="25285" y="128724"/>
                </a:lnTo>
                <a:cubicBezTo>
                  <a:pt x="21464" y="128724"/>
                  <a:pt x="18389" y="125650"/>
                  <a:pt x="18389" y="121828"/>
                </a:cubicBezTo>
                <a:close/>
                <a:moveTo>
                  <a:pt x="85050" y="114932"/>
                </a:moveTo>
                <a:cubicBezTo>
                  <a:pt x="88871" y="114932"/>
                  <a:pt x="91946" y="118007"/>
                  <a:pt x="91946" y="121828"/>
                </a:cubicBezTo>
                <a:cubicBezTo>
                  <a:pt x="91946" y="125650"/>
                  <a:pt x="88871" y="128724"/>
                  <a:pt x="85050" y="128724"/>
                </a:cubicBezTo>
                <a:cubicBezTo>
                  <a:pt x="81228" y="128724"/>
                  <a:pt x="78154" y="125650"/>
                  <a:pt x="78154" y="121828"/>
                </a:cubicBezTo>
                <a:cubicBezTo>
                  <a:pt x="78154" y="118007"/>
                  <a:pt x="81228" y="114932"/>
                  <a:pt x="85050" y="11493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536431" y="5856941"/>
            <a:ext cx="509570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Thư viện: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NumPy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7675" y="6151167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18389" y="9195"/>
                </a:moveTo>
                <a:cubicBezTo>
                  <a:pt x="8246" y="9195"/>
                  <a:pt x="0" y="17441"/>
                  <a:pt x="0" y="27584"/>
                </a:cubicBezTo>
                <a:lnTo>
                  <a:pt x="0" y="101140"/>
                </a:lnTo>
                <a:cubicBezTo>
                  <a:pt x="0" y="111283"/>
                  <a:pt x="8246" y="119529"/>
                  <a:pt x="18389" y="119529"/>
                </a:cubicBezTo>
                <a:lnTo>
                  <a:pt x="59765" y="119529"/>
                </a:lnTo>
                <a:lnTo>
                  <a:pt x="55167" y="133321"/>
                </a:lnTo>
                <a:lnTo>
                  <a:pt x="34480" y="133321"/>
                </a:lnTo>
                <a:cubicBezTo>
                  <a:pt x="30658" y="133321"/>
                  <a:pt x="27584" y="136396"/>
                  <a:pt x="27584" y="140217"/>
                </a:cubicBezTo>
                <a:cubicBezTo>
                  <a:pt x="27584" y="144039"/>
                  <a:pt x="30658" y="147113"/>
                  <a:pt x="34480" y="147113"/>
                </a:cubicBezTo>
                <a:lnTo>
                  <a:pt x="112633" y="147113"/>
                </a:lnTo>
                <a:cubicBezTo>
                  <a:pt x="116455" y="147113"/>
                  <a:pt x="119529" y="144039"/>
                  <a:pt x="119529" y="140217"/>
                </a:cubicBezTo>
                <a:cubicBezTo>
                  <a:pt x="119529" y="136396"/>
                  <a:pt x="116455" y="133321"/>
                  <a:pt x="112633" y="133321"/>
                </a:cubicBezTo>
                <a:lnTo>
                  <a:pt x="91946" y="133321"/>
                </a:lnTo>
                <a:lnTo>
                  <a:pt x="87348" y="119529"/>
                </a:lnTo>
                <a:lnTo>
                  <a:pt x="128724" y="119529"/>
                </a:lnTo>
                <a:cubicBezTo>
                  <a:pt x="138867" y="119529"/>
                  <a:pt x="147113" y="111283"/>
                  <a:pt x="147113" y="101140"/>
                </a:cubicBezTo>
                <a:lnTo>
                  <a:pt x="147113" y="27584"/>
                </a:lnTo>
                <a:cubicBezTo>
                  <a:pt x="147113" y="17441"/>
                  <a:pt x="138867" y="9195"/>
                  <a:pt x="128724" y="9195"/>
                </a:cubicBezTo>
                <a:lnTo>
                  <a:pt x="18389" y="9195"/>
                </a:lnTo>
                <a:close/>
                <a:moveTo>
                  <a:pt x="27584" y="27584"/>
                </a:moveTo>
                <a:lnTo>
                  <a:pt x="119529" y="27584"/>
                </a:lnTo>
                <a:cubicBezTo>
                  <a:pt x="124615" y="27584"/>
                  <a:pt x="128724" y="31693"/>
                  <a:pt x="128724" y="36778"/>
                </a:cubicBezTo>
                <a:lnTo>
                  <a:pt x="128724" y="82751"/>
                </a:lnTo>
                <a:cubicBezTo>
                  <a:pt x="128724" y="87837"/>
                  <a:pt x="124615" y="91946"/>
                  <a:pt x="119529" y="91946"/>
                </a:cubicBezTo>
                <a:lnTo>
                  <a:pt x="27584" y="91946"/>
                </a:lnTo>
                <a:cubicBezTo>
                  <a:pt x="22498" y="91946"/>
                  <a:pt x="18389" y="87837"/>
                  <a:pt x="18389" y="82751"/>
                </a:cubicBezTo>
                <a:lnTo>
                  <a:pt x="18389" y="36778"/>
                </a:lnTo>
                <a:cubicBezTo>
                  <a:pt x="18389" y="31693"/>
                  <a:pt x="22498" y="27584"/>
                  <a:pt x="27584" y="275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6536431" y="6114389"/>
            <a:ext cx="509570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Môi trường: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Code + PowerShell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99286" y="6408615"/>
            <a:ext cx="183891" cy="147113"/>
          </a:xfrm>
          <a:custGeom>
            <a:avLst/>
            <a:gdLst/>
            <a:ahLst/>
            <a:cxnLst/>
            <a:rect l="l" t="t" r="r" b="b"/>
            <a:pathLst>
              <a:path w="183891" h="147113">
                <a:moveTo>
                  <a:pt x="100537" y="67896"/>
                </a:moveTo>
                <a:lnTo>
                  <a:pt x="81544" y="67896"/>
                </a:lnTo>
                <a:lnTo>
                  <a:pt x="81544" y="50829"/>
                </a:lnTo>
                <a:lnTo>
                  <a:pt x="100537" y="50829"/>
                </a:lnTo>
                <a:lnTo>
                  <a:pt x="100537" y="67896"/>
                </a:lnTo>
                <a:close/>
                <a:moveTo>
                  <a:pt x="100537" y="9195"/>
                </a:moveTo>
                <a:lnTo>
                  <a:pt x="81544" y="9195"/>
                </a:lnTo>
                <a:lnTo>
                  <a:pt x="81544" y="26636"/>
                </a:lnTo>
                <a:lnTo>
                  <a:pt x="100537" y="26636"/>
                </a:lnTo>
                <a:lnTo>
                  <a:pt x="100537" y="9195"/>
                </a:lnTo>
                <a:close/>
                <a:moveTo>
                  <a:pt x="123006" y="50800"/>
                </a:moveTo>
                <a:lnTo>
                  <a:pt x="104014" y="50800"/>
                </a:lnTo>
                <a:lnTo>
                  <a:pt x="104014" y="67867"/>
                </a:lnTo>
                <a:lnTo>
                  <a:pt x="123006" y="67867"/>
                </a:lnTo>
                <a:lnTo>
                  <a:pt x="123006" y="50800"/>
                </a:lnTo>
                <a:close/>
                <a:moveTo>
                  <a:pt x="78096" y="30083"/>
                </a:moveTo>
                <a:lnTo>
                  <a:pt x="59104" y="30083"/>
                </a:lnTo>
                <a:lnTo>
                  <a:pt x="59104" y="47352"/>
                </a:lnTo>
                <a:lnTo>
                  <a:pt x="78096" y="47352"/>
                </a:lnTo>
                <a:lnTo>
                  <a:pt x="78096" y="30083"/>
                </a:lnTo>
                <a:close/>
                <a:moveTo>
                  <a:pt x="100537" y="30083"/>
                </a:moveTo>
                <a:lnTo>
                  <a:pt x="81544" y="30083"/>
                </a:lnTo>
                <a:lnTo>
                  <a:pt x="81544" y="47352"/>
                </a:lnTo>
                <a:lnTo>
                  <a:pt x="100537" y="47352"/>
                </a:lnTo>
                <a:lnTo>
                  <a:pt x="100537" y="30083"/>
                </a:lnTo>
                <a:close/>
                <a:moveTo>
                  <a:pt x="180070" y="58817"/>
                </a:moveTo>
                <a:cubicBezTo>
                  <a:pt x="175932" y="56029"/>
                  <a:pt x="166393" y="55024"/>
                  <a:pt x="159066" y="56403"/>
                </a:cubicBezTo>
                <a:cubicBezTo>
                  <a:pt x="158118" y="49507"/>
                  <a:pt x="154268" y="43502"/>
                  <a:pt x="147257" y="38100"/>
                </a:cubicBezTo>
                <a:lnTo>
                  <a:pt x="143234" y="35428"/>
                </a:lnTo>
                <a:lnTo>
                  <a:pt x="140562" y="39450"/>
                </a:lnTo>
                <a:cubicBezTo>
                  <a:pt x="135275" y="47438"/>
                  <a:pt x="133838" y="60598"/>
                  <a:pt x="139499" y="69275"/>
                </a:cubicBezTo>
                <a:cubicBezTo>
                  <a:pt x="136999" y="70626"/>
                  <a:pt x="132086" y="72465"/>
                  <a:pt x="125592" y="72350"/>
                </a:cubicBezTo>
                <a:lnTo>
                  <a:pt x="690" y="72350"/>
                </a:lnTo>
                <a:cubicBezTo>
                  <a:pt x="-1810" y="86946"/>
                  <a:pt x="2356" y="105910"/>
                  <a:pt x="13332" y="118926"/>
                </a:cubicBezTo>
                <a:cubicBezTo>
                  <a:pt x="23992" y="131540"/>
                  <a:pt x="39968" y="137947"/>
                  <a:pt x="60857" y="137947"/>
                </a:cubicBezTo>
                <a:cubicBezTo>
                  <a:pt x="106082" y="137947"/>
                  <a:pt x="139556" y="117116"/>
                  <a:pt x="155216" y="79274"/>
                </a:cubicBezTo>
                <a:cubicBezTo>
                  <a:pt x="161365" y="79389"/>
                  <a:pt x="174639" y="79303"/>
                  <a:pt x="181449" y="66287"/>
                </a:cubicBezTo>
                <a:cubicBezTo>
                  <a:pt x="181880" y="65569"/>
                  <a:pt x="183345" y="62494"/>
                  <a:pt x="183891" y="61374"/>
                </a:cubicBezTo>
                <a:lnTo>
                  <a:pt x="180070" y="58817"/>
                </a:lnTo>
                <a:close/>
                <a:moveTo>
                  <a:pt x="33215" y="50800"/>
                </a:moveTo>
                <a:lnTo>
                  <a:pt x="14252" y="50800"/>
                </a:lnTo>
                <a:lnTo>
                  <a:pt x="14252" y="67867"/>
                </a:lnTo>
                <a:lnTo>
                  <a:pt x="33244" y="67867"/>
                </a:lnTo>
                <a:lnTo>
                  <a:pt x="33244" y="50800"/>
                </a:lnTo>
                <a:lnTo>
                  <a:pt x="33215" y="50800"/>
                </a:lnTo>
                <a:close/>
                <a:moveTo>
                  <a:pt x="55656" y="50800"/>
                </a:moveTo>
                <a:lnTo>
                  <a:pt x="36663" y="50800"/>
                </a:lnTo>
                <a:lnTo>
                  <a:pt x="36663" y="67867"/>
                </a:lnTo>
                <a:lnTo>
                  <a:pt x="55656" y="67867"/>
                </a:lnTo>
                <a:lnTo>
                  <a:pt x="55656" y="50800"/>
                </a:lnTo>
                <a:close/>
                <a:moveTo>
                  <a:pt x="78096" y="50800"/>
                </a:moveTo>
                <a:lnTo>
                  <a:pt x="59104" y="50800"/>
                </a:lnTo>
                <a:lnTo>
                  <a:pt x="59104" y="67867"/>
                </a:lnTo>
                <a:lnTo>
                  <a:pt x="78096" y="67867"/>
                </a:lnTo>
                <a:lnTo>
                  <a:pt x="78096" y="50800"/>
                </a:lnTo>
                <a:close/>
                <a:moveTo>
                  <a:pt x="55656" y="30083"/>
                </a:moveTo>
                <a:lnTo>
                  <a:pt x="36663" y="30083"/>
                </a:lnTo>
                <a:lnTo>
                  <a:pt x="36663" y="47352"/>
                </a:lnTo>
                <a:lnTo>
                  <a:pt x="55656" y="47352"/>
                </a:lnTo>
                <a:lnTo>
                  <a:pt x="55656" y="3008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6536431" y="6371837"/>
            <a:ext cx="509570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Đóng gói:</a:t>
            </a:r>
            <a:r>
              <a:rPr lang="en-US" sz="115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Docker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10: TÁI CẤU TRÚC MÃ VỚI GENAI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Bài toán khoảng cách ma trận và Chiến lược Prompt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C4899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4352925" cy="5095875"/>
          </a:xfrm>
          <a:custGeom>
            <a:avLst/>
            <a:gdLst/>
            <a:ahLst/>
            <a:cxnLst/>
            <a:rect l="l" t="t" r="r" b="b"/>
            <a:pathLst>
              <a:path w="4352925" h="5095875">
                <a:moveTo>
                  <a:pt x="114308" y="0"/>
                </a:moveTo>
                <a:lnTo>
                  <a:pt x="4238617" y="0"/>
                </a:lnTo>
                <a:cubicBezTo>
                  <a:pt x="4301748" y="0"/>
                  <a:pt x="4352925" y="51177"/>
                  <a:pt x="4352925" y="114308"/>
                </a:cubicBezTo>
                <a:lnTo>
                  <a:pt x="4352925" y="4981567"/>
                </a:lnTo>
                <a:cubicBezTo>
                  <a:pt x="4352925" y="5044698"/>
                  <a:pt x="4301748" y="5095875"/>
                  <a:pt x="4238617" y="5095875"/>
                </a:cubicBezTo>
                <a:lnTo>
                  <a:pt x="114308" y="5095875"/>
                </a:lnTo>
                <a:cubicBezTo>
                  <a:pt x="51177" y="5095875"/>
                  <a:pt x="0" y="5044698"/>
                  <a:pt x="0" y="49815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6269" y="16287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7800" y="192063"/>
                </a:moveTo>
                <a:cubicBezTo>
                  <a:pt x="70842" y="199020"/>
                  <a:pt x="59531" y="199020"/>
                  <a:pt x="52536" y="192063"/>
                </a:cubicBezTo>
                <a:lnTo>
                  <a:pt x="10455" y="149982"/>
                </a:lnTo>
                <a:cubicBezTo>
                  <a:pt x="3497" y="143024"/>
                  <a:pt x="3497" y="131713"/>
                  <a:pt x="10455" y="124718"/>
                </a:cubicBezTo>
                <a:lnTo>
                  <a:pt x="16780" y="118393"/>
                </a:lnTo>
                <a:lnTo>
                  <a:pt x="44128" y="145740"/>
                </a:lnTo>
                <a:cubicBezTo>
                  <a:pt x="47625" y="149237"/>
                  <a:pt x="53280" y="149237"/>
                  <a:pt x="56741" y="145740"/>
                </a:cubicBezTo>
                <a:cubicBezTo>
                  <a:pt x="60201" y="142242"/>
                  <a:pt x="60238" y="136587"/>
                  <a:pt x="56741" y="133127"/>
                </a:cubicBezTo>
                <a:lnTo>
                  <a:pt x="29394" y="105780"/>
                </a:lnTo>
                <a:lnTo>
                  <a:pt x="42007" y="93166"/>
                </a:lnTo>
                <a:lnTo>
                  <a:pt x="60945" y="112105"/>
                </a:lnTo>
                <a:cubicBezTo>
                  <a:pt x="64443" y="115602"/>
                  <a:pt x="70098" y="115602"/>
                  <a:pt x="73558" y="112105"/>
                </a:cubicBezTo>
                <a:cubicBezTo>
                  <a:pt x="77019" y="108607"/>
                  <a:pt x="77056" y="102952"/>
                  <a:pt x="73558" y="99492"/>
                </a:cubicBezTo>
                <a:lnTo>
                  <a:pt x="54620" y="80553"/>
                </a:lnTo>
                <a:lnTo>
                  <a:pt x="67233" y="67940"/>
                </a:lnTo>
                <a:lnTo>
                  <a:pt x="94580" y="95287"/>
                </a:lnTo>
                <a:cubicBezTo>
                  <a:pt x="98078" y="98785"/>
                  <a:pt x="103733" y="98785"/>
                  <a:pt x="107193" y="95287"/>
                </a:cubicBezTo>
                <a:cubicBezTo>
                  <a:pt x="110654" y="91790"/>
                  <a:pt x="110691" y="86134"/>
                  <a:pt x="107193" y="82674"/>
                </a:cubicBezTo>
                <a:lnTo>
                  <a:pt x="79846" y="55327"/>
                </a:lnTo>
                <a:lnTo>
                  <a:pt x="92459" y="42714"/>
                </a:lnTo>
                <a:lnTo>
                  <a:pt x="111398" y="61652"/>
                </a:lnTo>
                <a:cubicBezTo>
                  <a:pt x="114895" y="65150"/>
                  <a:pt x="120551" y="65150"/>
                  <a:pt x="124011" y="61652"/>
                </a:cubicBezTo>
                <a:cubicBezTo>
                  <a:pt x="127471" y="58155"/>
                  <a:pt x="127508" y="52499"/>
                  <a:pt x="124011" y="49039"/>
                </a:cubicBezTo>
                <a:lnTo>
                  <a:pt x="105073" y="30100"/>
                </a:lnTo>
                <a:lnTo>
                  <a:pt x="117686" y="17487"/>
                </a:lnTo>
                <a:lnTo>
                  <a:pt x="145033" y="44834"/>
                </a:lnTo>
                <a:cubicBezTo>
                  <a:pt x="148530" y="48332"/>
                  <a:pt x="154186" y="48332"/>
                  <a:pt x="157646" y="44834"/>
                </a:cubicBezTo>
                <a:cubicBezTo>
                  <a:pt x="161106" y="41337"/>
                  <a:pt x="161144" y="35682"/>
                  <a:pt x="157646" y="32221"/>
                </a:cubicBezTo>
                <a:lnTo>
                  <a:pt x="130299" y="4874"/>
                </a:lnTo>
                <a:lnTo>
                  <a:pt x="136624" y="-1451"/>
                </a:lnTo>
                <a:cubicBezTo>
                  <a:pt x="143582" y="-8409"/>
                  <a:pt x="154893" y="-8409"/>
                  <a:pt x="161888" y="-1451"/>
                </a:cubicBezTo>
                <a:lnTo>
                  <a:pt x="204081" y="40518"/>
                </a:lnTo>
                <a:cubicBezTo>
                  <a:pt x="211038" y="47476"/>
                  <a:pt x="211038" y="58787"/>
                  <a:pt x="204081" y="65782"/>
                </a:cubicBezTo>
                <a:lnTo>
                  <a:pt x="77800" y="19206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Bài toán khoảng cách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443163"/>
            <a:ext cx="4038600" cy="1257300"/>
          </a:xfrm>
          <a:custGeom>
            <a:avLst/>
            <a:gdLst/>
            <a:ahLst/>
            <a:cxnLst/>
            <a:rect l="l" t="t" r="r" b="b"/>
            <a:pathLst>
              <a:path w="4038600" h="1257300">
                <a:moveTo>
                  <a:pt x="76205" y="0"/>
                </a:moveTo>
                <a:lnTo>
                  <a:pt x="3962395" y="0"/>
                </a:lnTo>
                <a:cubicBezTo>
                  <a:pt x="4004482" y="0"/>
                  <a:pt x="4038600" y="34118"/>
                  <a:pt x="4038600" y="76205"/>
                </a:cubicBezTo>
                <a:lnTo>
                  <a:pt x="4038600" y="1181095"/>
                </a:lnTo>
                <a:cubicBezTo>
                  <a:pt x="4038600" y="1223182"/>
                  <a:pt x="4004482" y="1257300"/>
                  <a:pt x="39623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666750" y="259556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23306" y="19050"/>
                  <a:pt x="19050" y="23306"/>
                  <a:pt x="19050" y="28575"/>
                </a:cubicBezTo>
                <a:cubicBezTo>
                  <a:pt x="19050" y="33844"/>
                  <a:pt x="23306" y="38100"/>
                  <a:pt x="28575" y="38100"/>
                </a:cubicBezTo>
                <a:lnTo>
                  <a:pt x="33129" y="38100"/>
                </a:lnTo>
                <a:lnTo>
                  <a:pt x="59799" y="76200"/>
                </a:lnTo>
                <a:lnTo>
                  <a:pt x="33129" y="114300"/>
                </a:lnTo>
                <a:lnTo>
                  <a:pt x="28575" y="114300"/>
                </a:ln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38100" y="133350"/>
                </a:lnTo>
                <a:cubicBezTo>
                  <a:pt x="41196" y="133350"/>
                  <a:pt x="44113" y="131832"/>
                  <a:pt x="45899" y="129302"/>
                </a:cubicBezTo>
                <a:lnTo>
                  <a:pt x="71438" y="92809"/>
                </a:lnTo>
                <a:lnTo>
                  <a:pt x="96976" y="129302"/>
                </a:lnTo>
                <a:cubicBezTo>
                  <a:pt x="98762" y="131862"/>
                  <a:pt x="101679" y="133350"/>
                  <a:pt x="104775" y="133350"/>
                </a:cubicBezTo>
                <a:lnTo>
                  <a:pt x="114300" y="133350"/>
                </a:lnTo>
                <a:cubicBezTo>
                  <a:pt x="119569" y="133350"/>
                  <a:pt x="123825" y="129094"/>
                  <a:pt x="123825" y="123825"/>
                </a:cubicBezTo>
                <a:cubicBezTo>
                  <a:pt x="123825" y="118556"/>
                  <a:pt x="119569" y="114300"/>
                  <a:pt x="114300" y="114300"/>
                </a:cubicBezTo>
                <a:lnTo>
                  <a:pt x="109746" y="114300"/>
                </a:lnTo>
                <a:lnTo>
                  <a:pt x="83076" y="76200"/>
                </a:lnTo>
                <a:lnTo>
                  <a:pt x="109746" y="38100"/>
                </a:lnTo>
                <a:lnTo>
                  <a:pt x="114300" y="38100"/>
                </a:lnTo>
                <a:cubicBezTo>
                  <a:pt x="119569" y="38100"/>
                  <a:pt x="123825" y="33844"/>
                  <a:pt x="123825" y="28575"/>
                </a:cubicBezTo>
                <a:cubicBezTo>
                  <a:pt x="123825" y="23306"/>
                  <a:pt x="119569" y="19050"/>
                  <a:pt x="114300" y="19050"/>
                </a:cubicBezTo>
                <a:lnTo>
                  <a:pt x="104775" y="19050"/>
                </a:lnTo>
                <a:cubicBezTo>
                  <a:pt x="101679" y="19050"/>
                  <a:pt x="98762" y="20568"/>
                  <a:pt x="96976" y="23098"/>
                </a:cubicBezTo>
                <a:lnTo>
                  <a:pt x="71438" y="59591"/>
                </a:lnTo>
                <a:lnTo>
                  <a:pt x="45899" y="23098"/>
                </a:lnTo>
                <a:cubicBezTo>
                  <a:pt x="44113" y="20568"/>
                  <a:pt x="41196" y="19050"/>
                  <a:pt x="38100" y="19050"/>
                </a:cubicBezTo>
                <a:lnTo>
                  <a:pt x="28575" y="19050"/>
                </a:lnTo>
                <a:close/>
                <a:moveTo>
                  <a:pt x="161925" y="95250"/>
                </a:moveTo>
                <a:cubicBezTo>
                  <a:pt x="161925" y="91946"/>
                  <a:pt x="160228" y="88880"/>
                  <a:pt x="157401" y="87154"/>
                </a:cubicBezTo>
                <a:cubicBezTo>
                  <a:pt x="154573" y="85427"/>
                  <a:pt x="151090" y="85249"/>
                  <a:pt x="148144" y="86737"/>
                </a:cubicBezTo>
                <a:lnTo>
                  <a:pt x="138619" y="91500"/>
                </a:lnTo>
                <a:cubicBezTo>
                  <a:pt x="133916" y="93851"/>
                  <a:pt x="132011" y="99566"/>
                  <a:pt x="134362" y="104269"/>
                </a:cubicBezTo>
                <a:cubicBezTo>
                  <a:pt x="136029" y="107603"/>
                  <a:pt x="139392" y="109537"/>
                  <a:pt x="142875" y="109537"/>
                </a:cubicBezTo>
                <a:lnTo>
                  <a:pt x="142875" y="133350"/>
                </a:lnTo>
                <a:cubicBezTo>
                  <a:pt x="137606" y="133350"/>
                  <a:pt x="133350" y="137606"/>
                  <a:pt x="133350" y="142875"/>
                </a:cubicBezTo>
                <a:cubicBezTo>
                  <a:pt x="133350" y="148144"/>
                  <a:pt x="137606" y="152400"/>
                  <a:pt x="142875" y="152400"/>
                </a:cubicBezTo>
                <a:lnTo>
                  <a:pt x="161925" y="152400"/>
                </a:lnTo>
                <a:cubicBezTo>
                  <a:pt x="167194" y="152400"/>
                  <a:pt x="171450" y="148144"/>
                  <a:pt x="171450" y="142875"/>
                </a:cubicBezTo>
                <a:cubicBezTo>
                  <a:pt x="171450" y="137606"/>
                  <a:pt x="167194" y="133350"/>
                  <a:pt x="161925" y="133350"/>
                </a:cubicBezTo>
                <a:lnTo>
                  <a:pt x="161925" y="9525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23925" y="2557463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 (Manhattan)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225" y="2862263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Tổng giá trị tuyệt đối của hiệu từng phần tử: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7225" y="3167063"/>
            <a:ext cx="3810000" cy="419100"/>
          </a:xfrm>
          <a:custGeom>
            <a:avLst/>
            <a:gdLst/>
            <a:ahLst/>
            <a:cxnLst/>
            <a:rect l="l" t="t" r="r" b="b"/>
            <a:pathLst>
              <a:path w="3810000" h="419100">
                <a:moveTo>
                  <a:pt x="76201" y="0"/>
                </a:moveTo>
                <a:lnTo>
                  <a:pt x="3733799" y="0"/>
                </a:lnTo>
                <a:cubicBezTo>
                  <a:pt x="3775884" y="0"/>
                  <a:pt x="3810000" y="34116"/>
                  <a:pt x="3810000" y="76201"/>
                </a:cubicBezTo>
                <a:lnTo>
                  <a:pt x="3810000" y="342899"/>
                </a:lnTo>
                <a:cubicBezTo>
                  <a:pt x="3810000" y="384984"/>
                  <a:pt x="3775884" y="419100"/>
                  <a:pt x="37337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90563" y="3243263"/>
            <a:ext cx="374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 = Σ|a</a:t>
            </a:r>
            <a:r>
              <a:rPr lang="en-US" sz="1013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3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b</a:t>
            </a:r>
            <a:r>
              <a:rPr lang="en-US" sz="1013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3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4643438"/>
            <a:ext cx="4038600" cy="1257300"/>
          </a:xfrm>
          <a:custGeom>
            <a:avLst/>
            <a:gdLst/>
            <a:ahLst/>
            <a:cxnLst/>
            <a:rect l="l" t="t" r="r" b="b"/>
            <a:pathLst>
              <a:path w="4038600" h="1257300">
                <a:moveTo>
                  <a:pt x="76205" y="0"/>
                </a:moveTo>
                <a:lnTo>
                  <a:pt x="3962395" y="0"/>
                </a:lnTo>
                <a:cubicBezTo>
                  <a:pt x="4004482" y="0"/>
                  <a:pt x="4038600" y="34118"/>
                  <a:pt x="4038600" y="76205"/>
                </a:cubicBezTo>
                <a:lnTo>
                  <a:pt x="4038600" y="1181095"/>
                </a:lnTo>
                <a:cubicBezTo>
                  <a:pt x="4038600" y="1223182"/>
                  <a:pt x="4004482" y="1257300"/>
                  <a:pt x="39623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6750" y="47958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4118" y="23247"/>
                </a:moveTo>
                <a:cubicBezTo>
                  <a:pt x="86499" y="15121"/>
                  <a:pt x="93940" y="9525"/>
                  <a:pt x="102394" y="9525"/>
                </a:cubicBezTo>
                <a:lnTo>
                  <a:pt x="161925" y="9525"/>
                </a:lnTo>
                <a:cubicBezTo>
                  <a:pt x="167194" y="9525"/>
                  <a:pt x="171450" y="13781"/>
                  <a:pt x="171450" y="19050"/>
                </a:cubicBezTo>
                <a:cubicBezTo>
                  <a:pt x="171450" y="24319"/>
                  <a:pt x="167194" y="28575"/>
                  <a:pt x="161925" y="28575"/>
                </a:cubicBezTo>
                <a:lnTo>
                  <a:pt x="102394" y="28575"/>
                </a:lnTo>
                <a:lnTo>
                  <a:pt x="71051" y="136029"/>
                </a:lnTo>
                <a:cubicBezTo>
                  <a:pt x="69979" y="139690"/>
                  <a:pt x="66854" y="142339"/>
                  <a:pt x="63073" y="142815"/>
                </a:cubicBezTo>
                <a:cubicBezTo>
                  <a:pt x="59293" y="143292"/>
                  <a:pt x="55602" y="141446"/>
                  <a:pt x="53697" y="138172"/>
                </a:cubicBezTo>
                <a:lnTo>
                  <a:pt x="23098" y="85725"/>
                </a:ln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23098" y="66675"/>
                </a:lnTo>
                <a:cubicBezTo>
                  <a:pt x="29885" y="66675"/>
                  <a:pt x="36135" y="70277"/>
                  <a:pt x="39559" y="76140"/>
                </a:cubicBezTo>
                <a:lnTo>
                  <a:pt x="58966" y="109418"/>
                </a:lnTo>
                <a:lnTo>
                  <a:pt x="84088" y="23247"/>
                </a:lnTo>
                <a:close/>
                <a:moveTo>
                  <a:pt x="117098" y="69473"/>
                </a:moveTo>
                <a:cubicBezTo>
                  <a:pt x="120819" y="65752"/>
                  <a:pt x="126861" y="65752"/>
                  <a:pt x="130582" y="69473"/>
                </a:cubicBezTo>
                <a:lnTo>
                  <a:pt x="142905" y="81796"/>
                </a:lnTo>
                <a:lnTo>
                  <a:pt x="155228" y="69473"/>
                </a:lnTo>
                <a:cubicBezTo>
                  <a:pt x="158948" y="65752"/>
                  <a:pt x="164991" y="65752"/>
                  <a:pt x="168712" y="69473"/>
                </a:cubicBezTo>
                <a:cubicBezTo>
                  <a:pt x="172432" y="73194"/>
                  <a:pt x="172432" y="79236"/>
                  <a:pt x="168712" y="82957"/>
                </a:cubicBezTo>
                <a:lnTo>
                  <a:pt x="156389" y="95280"/>
                </a:lnTo>
                <a:lnTo>
                  <a:pt x="168712" y="107603"/>
                </a:lnTo>
                <a:cubicBezTo>
                  <a:pt x="172432" y="111323"/>
                  <a:pt x="172432" y="117366"/>
                  <a:pt x="168712" y="121087"/>
                </a:cubicBezTo>
                <a:cubicBezTo>
                  <a:pt x="164991" y="124807"/>
                  <a:pt x="158948" y="124807"/>
                  <a:pt x="155228" y="121087"/>
                </a:cubicBezTo>
                <a:lnTo>
                  <a:pt x="142905" y="108764"/>
                </a:lnTo>
                <a:lnTo>
                  <a:pt x="130582" y="121087"/>
                </a:lnTo>
                <a:cubicBezTo>
                  <a:pt x="126861" y="124807"/>
                  <a:pt x="120819" y="124807"/>
                  <a:pt x="117098" y="121087"/>
                </a:cubicBezTo>
                <a:cubicBezTo>
                  <a:pt x="113377" y="117366"/>
                  <a:pt x="113377" y="111323"/>
                  <a:pt x="117098" y="107603"/>
                </a:cubicBezTo>
                <a:lnTo>
                  <a:pt x="129421" y="95280"/>
                </a:lnTo>
                <a:lnTo>
                  <a:pt x="117098" y="82957"/>
                </a:lnTo>
                <a:cubicBezTo>
                  <a:pt x="113377" y="79236"/>
                  <a:pt x="113377" y="73194"/>
                  <a:pt x="117098" y="6947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923925" y="4757738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L2 (Euclidean/Frobenius)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225" y="506253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Căn bậc hai của tổng bình phương sai khác: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7225" y="5367338"/>
            <a:ext cx="3810000" cy="419100"/>
          </a:xfrm>
          <a:custGeom>
            <a:avLst/>
            <a:gdLst/>
            <a:ahLst/>
            <a:cxnLst/>
            <a:rect l="l" t="t" r="r" b="b"/>
            <a:pathLst>
              <a:path w="3810000" h="419100">
                <a:moveTo>
                  <a:pt x="76201" y="0"/>
                </a:moveTo>
                <a:lnTo>
                  <a:pt x="3733799" y="0"/>
                </a:lnTo>
                <a:cubicBezTo>
                  <a:pt x="3775884" y="0"/>
                  <a:pt x="3810000" y="34116"/>
                  <a:pt x="3810000" y="76201"/>
                </a:cubicBezTo>
                <a:lnTo>
                  <a:pt x="3810000" y="342899"/>
                </a:lnTo>
                <a:cubicBezTo>
                  <a:pt x="3810000" y="384984"/>
                  <a:pt x="3775884" y="419100"/>
                  <a:pt x="37337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90563" y="5443538"/>
            <a:ext cx="374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 = √Σ(a</a:t>
            </a:r>
            <a:r>
              <a:rPr lang="en-US" sz="1013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3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b</a:t>
            </a:r>
            <a:r>
              <a:rPr lang="en-US" sz="1013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ij</a:t>
            </a:r>
            <a:r>
              <a:rPr lang="en-US" sz="13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)²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42582" y="1376363"/>
            <a:ext cx="6867525" cy="5095875"/>
          </a:xfrm>
          <a:custGeom>
            <a:avLst/>
            <a:gdLst/>
            <a:ahLst/>
            <a:cxnLst/>
            <a:rect l="l" t="t" r="r" b="b"/>
            <a:pathLst>
              <a:path w="6867525" h="5095875">
                <a:moveTo>
                  <a:pt x="114300" y="0"/>
                </a:moveTo>
                <a:lnTo>
                  <a:pt x="6753225" y="0"/>
                </a:lnTo>
                <a:cubicBezTo>
                  <a:pt x="6816351" y="0"/>
                  <a:pt x="6867525" y="51174"/>
                  <a:pt x="6867525" y="114300"/>
                </a:cubicBezTo>
                <a:lnTo>
                  <a:pt x="6867525" y="4981575"/>
                </a:lnTo>
                <a:cubicBezTo>
                  <a:pt x="6867525" y="5044701"/>
                  <a:pt x="6816351" y="5095875"/>
                  <a:pt x="6753225" y="5095875"/>
                </a:cubicBezTo>
                <a:lnTo>
                  <a:pt x="114300" y="5095875"/>
                </a:lnTo>
                <a:cubicBezTo>
                  <a:pt x="51174" y="5095875"/>
                  <a:pt x="0" y="5044701"/>
                  <a:pt x="0" y="4981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9974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206901" y="16287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5595045" y="1590675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 sánh 3 chiến lược prompt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9745" y="2028825"/>
          <a:ext cx="6553200" cy="2171700"/>
        </p:xfrm>
        <a:graphic>
          <a:graphicData uri="http://schemas.openxmlformats.org/drawingml/2006/table">
            <a:tbl>
              <a:tblPr/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8B5C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Tiêu chí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Baseline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Performance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Mục tiêu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Refactor nhanh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Cải tổ cấu trúc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Tối ưu tốc độ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Mức độ kiểm soát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Trung bình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Đầu ra mong đợi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 dễ đọc hơn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Tách hàm + DRY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Vectorized implementation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Rủi ro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Dễ thiếu context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Cần prompt rõ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Dễ tối ưu sai hướng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3"/>
          <p:cNvSpPr/>
          <p:nvPr/>
        </p:nvSpPr>
        <p:spPr>
          <a:xfrm>
            <a:off x="5099745" y="5591175"/>
            <a:ext cx="2105025" cy="723900"/>
          </a:xfrm>
          <a:custGeom>
            <a:avLst/>
            <a:gdLst/>
            <a:ahLst/>
            <a:cxnLst/>
            <a:rect l="l" t="t" r="r" b="b"/>
            <a:pathLst>
              <a:path w="2105025" h="723900">
                <a:moveTo>
                  <a:pt x="76198" y="0"/>
                </a:moveTo>
                <a:lnTo>
                  <a:pt x="2028827" y="0"/>
                </a:lnTo>
                <a:cubicBezTo>
                  <a:pt x="2070882" y="0"/>
                  <a:pt x="2105025" y="34143"/>
                  <a:pt x="2105025" y="76198"/>
                </a:cubicBezTo>
                <a:lnTo>
                  <a:pt x="2105025" y="647702"/>
                </a:lnTo>
                <a:cubicBezTo>
                  <a:pt x="2105025" y="689757"/>
                  <a:pt x="2070882" y="723900"/>
                  <a:pt x="20288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7" name="Shape 24"/>
          <p:cNvSpPr/>
          <p:nvPr/>
        </p:nvSpPr>
        <p:spPr>
          <a:xfrm>
            <a:off x="5214045" y="5705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285482" y="5724525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518845" y="5705475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A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214045" y="60102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Refactor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320855" y="5591175"/>
            <a:ext cx="2105025" cy="723900"/>
          </a:xfrm>
          <a:custGeom>
            <a:avLst/>
            <a:gdLst/>
            <a:ahLst/>
            <a:cxnLst/>
            <a:rect l="l" t="t" r="r" b="b"/>
            <a:pathLst>
              <a:path w="2105025" h="723900">
                <a:moveTo>
                  <a:pt x="76198" y="0"/>
                </a:moveTo>
                <a:lnTo>
                  <a:pt x="2028827" y="0"/>
                </a:lnTo>
                <a:cubicBezTo>
                  <a:pt x="2070882" y="0"/>
                  <a:pt x="2105025" y="34143"/>
                  <a:pt x="2105025" y="76198"/>
                </a:cubicBezTo>
                <a:lnTo>
                  <a:pt x="2105025" y="647702"/>
                </a:lnTo>
                <a:cubicBezTo>
                  <a:pt x="2105025" y="689757"/>
                  <a:pt x="2070882" y="723900"/>
                  <a:pt x="20288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2" name="Shape 29"/>
          <p:cNvSpPr/>
          <p:nvPr/>
        </p:nvSpPr>
        <p:spPr>
          <a:xfrm>
            <a:off x="7435155" y="5705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7512100" y="57245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739955" y="5705475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B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435155" y="60102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CoT Structural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542115" y="5591175"/>
            <a:ext cx="2105025" cy="723900"/>
          </a:xfrm>
          <a:custGeom>
            <a:avLst/>
            <a:gdLst/>
            <a:ahLst/>
            <a:cxnLst/>
            <a:rect l="l" t="t" r="r" b="b"/>
            <a:pathLst>
              <a:path w="2105025" h="723900">
                <a:moveTo>
                  <a:pt x="76198" y="0"/>
                </a:moveTo>
                <a:lnTo>
                  <a:pt x="2028827" y="0"/>
                </a:lnTo>
                <a:cubicBezTo>
                  <a:pt x="2070882" y="0"/>
                  <a:pt x="2105025" y="34143"/>
                  <a:pt x="2105025" y="76198"/>
                </a:cubicBezTo>
                <a:lnTo>
                  <a:pt x="2105025" y="647702"/>
                </a:lnTo>
                <a:cubicBezTo>
                  <a:pt x="2105025" y="689757"/>
                  <a:pt x="2070882" y="723900"/>
                  <a:pt x="20288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7" name="Shape 34"/>
          <p:cNvSpPr/>
          <p:nvPr/>
        </p:nvSpPr>
        <p:spPr>
          <a:xfrm>
            <a:off x="9656415" y="5705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9727853" y="5724525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961215" y="5705475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 C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56415" y="60102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10: TÁI CẤU TRÚC MÃ VỚI GENAI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quả Benchmark và Triển khai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C4899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5448300" cy="4038600"/>
          </a:xfrm>
          <a:custGeom>
            <a:avLst/>
            <a:gdLst/>
            <a:ahLst/>
            <a:cxnLst/>
            <a:rect l="l" t="t" r="r" b="b"/>
            <a:pathLst>
              <a:path w="5448300" h="4038600">
                <a:moveTo>
                  <a:pt x="114292" y="0"/>
                </a:moveTo>
                <a:lnTo>
                  <a:pt x="5334008" y="0"/>
                </a:lnTo>
                <a:cubicBezTo>
                  <a:pt x="5397130" y="0"/>
                  <a:pt x="5448300" y="51170"/>
                  <a:pt x="5448300" y="114292"/>
                </a:cubicBezTo>
                <a:lnTo>
                  <a:pt x="5448300" y="3924308"/>
                </a:lnTo>
                <a:cubicBezTo>
                  <a:pt x="5448300" y="3987430"/>
                  <a:pt x="5397130" y="4038600"/>
                  <a:pt x="5334008" y="4038600"/>
                </a:cubicBezTo>
                <a:lnTo>
                  <a:pt x="114292" y="4038600"/>
                </a:lnTo>
                <a:cubicBezTo>
                  <a:pt x="51170" y="4038600"/>
                  <a:pt x="0" y="3987430"/>
                  <a:pt x="0" y="392430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quả API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028825"/>
            <a:ext cx="5133975" cy="1562100"/>
          </a:xfrm>
          <a:custGeom>
            <a:avLst/>
            <a:gdLst/>
            <a:ahLst/>
            <a:cxnLst/>
            <a:rect l="l" t="t" r="r" b="b"/>
            <a:pathLst>
              <a:path w="5133975" h="1562100">
                <a:moveTo>
                  <a:pt x="76199" y="0"/>
                </a:moveTo>
                <a:lnTo>
                  <a:pt x="5057776" y="0"/>
                </a:lnTo>
                <a:cubicBezTo>
                  <a:pt x="5099859" y="0"/>
                  <a:pt x="5133975" y="34116"/>
                  <a:pt x="5133975" y="76199"/>
                </a:cubicBezTo>
                <a:lnTo>
                  <a:pt x="5133975" y="1485901"/>
                </a:lnTo>
                <a:cubicBezTo>
                  <a:pt x="5133975" y="1527984"/>
                  <a:pt x="5099859" y="1562100"/>
                  <a:pt x="50577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666750" y="21812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2240" y="153650"/>
                </a:moveTo>
                <a:cubicBezTo>
                  <a:pt x="56674" y="159216"/>
                  <a:pt x="47625" y="159216"/>
                  <a:pt x="42029" y="153650"/>
                </a:cubicBezTo>
                <a:lnTo>
                  <a:pt x="8364" y="119985"/>
                </a:lnTo>
                <a:cubicBezTo>
                  <a:pt x="2798" y="114419"/>
                  <a:pt x="2798" y="105370"/>
                  <a:pt x="8364" y="99774"/>
                </a:cubicBezTo>
                <a:lnTo>
                  <a:pt x="13424" y="94714"/>
                </a:lnTo>
                <a:lnTo>
                  <a:pt x="35302" y="116592"/>
                </a:lnTo>
                <a:cubicBezTo>
                  <a:pt x="38100" y="119390"/>
                  <a:pt x="42624" y="119390"/>
                  <a:pt x="45393" y="116592"/>
                </a:cubicBezTo>
                <a:cubicBezTo>
                  <a:pt x="48161" y="113794"/>
                  <a:pt x="48191" y="109270"/>
                  <a:pt x="45393" y="106501"/>
                </a:cubicBezTo>
                <a:lnTo>
                  <a:pt x="23515" y="84624"/>
                </a:lnTo>
                <a:lnTo>
                  <a:pt x="33605" y="74533"/>
                </a:lnTo>
                <a:lnTo>
                  <a:pt x="48756" y="89684"/>
                </a:lnTo>
                <a:cubicBezTo>
                  <a:pt x="51554" y="92482"/>
                  <a:pt x="56078" y="92482"/>
                  <a:pt x="58847" y="89684"/>
                </a:cubicBezTo>
                <a:cubicBezTo>
                  <a:pt x="61615" y="86886"/>
                  <a:pt x="61645" y="82361"/>
                  <a:pt x="58847" y="79593"/>
                </a:cubicBezTo>
                <a:lnTo>
                  <a:pt x="43696" y="64443"/>
                </a:lnTo>
                <a:lnTo>
                  <a:pt x="53786" y="54352"/>
                </a:lnTo>
                <a:lnTo>
                  <a:pt x="75664" y="76230"/>
                </a:lnTo>
                <a:cubicBezTo>
                  <a:pt x="78462" y="79028"/>
                  <a:pt x="82987" y="79028"/>
                  <a:pt x="85755" y="76230"/>
                </a:cubicBezTo>
                <a:cubicBezTo>
                  <a:pt x="88523" y="73432"/>
                  <a:pt x="88553" y="68907"/>
                  <a:pt x="85755" y="66139"/>
                </a:cubicBezTo>
                <a:lnTo>
                  <a:pt x="63877" y="44261"/>
                </a:lnTo>
                <a:lnTo>
                  <a:pt x="73968" y="34171"/>
                </a:lnTo>
                <a:lnTo>
                  <a:pt x="89118" y="49322"/>
                </a:lnTo>
                <a:cubicBezTo>
                  <a:pt x="91916" y="52120"/>
                  <a:pt x="96441" y="52120"/>
                  <a:pt x="99209" y="49322"/>
                </a:cubicBezTo>
                <a:cubicBezTo>
                  <a:pt x="101977" y="46524"/>
                  <a:pt x="102007" y="41999"/>
                  <a:pt x="99209" y="39231"/>
                </a:cubicBezTo>
                <a:lnTo>
                  <a:pt x="84058" y="24080"/>
                </a:lnTo>
                <a:lnTo>
                  <a:pt x="94149" y="13990"/>
                </a:lnTo>
                <a:lnTo>
                  <a:pt x="116026" y="35868"/>
                </a:lnTo>
                <a:cubicBezTo>
                  <a:pt x="118824" y="38666"/>
                  <a:pt x="123349" y="38666"/>
                  <a:pt x="126117" y="35868"/>
                </a:cubicBezTo>
                <a:cubicBezTo>
                  <a:pt x="128885" y="33070"/>
                  <a:pt x="128915" y="28545"/>
                  <a:pt x="126117" y="25777"/>
                </a:cubicBezTo>
                <a:lnTo>
                  <a:pt x="104239" y="3899"/>
                </a:lnTo>
                <a:lnTo>
                  <a:pt x="109299" y="-1161"/>
                </a:lnTo>
                <a:cubicBezTo>
                  <a:pt x="114866" y="-6727"/>
                  <a:pt x="123914" y="-6727"/>
                  <a:pt x="129510" y="-1161"/>
                </a:cubicBezTo>
                <a:lnTo>
                  <a:pt x="163264" y="32415"/>
                </a:lnTo>
                <a:cubicBezTo>
                  <a:pt x="168831" y="37981"/>
                  <a:pt x="168831" y="47030"/>
                  <a:pt x="163264" y="52626"/>
                </a:cubicBezTo>
                <a:lnTo>
                  <a:pt x="62240" y="15365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23925" y="2143125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L1 (Manhattan)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7225" y="2447925"/>
            <a:ext cx="4905375" cy="552450"/>
          </a:xfrm>
          <a:custGeom>
            <a:avLst/>
            <a:gdLst/>
            <a:ahLst/>
            <a:cxnLst/>
            <a:rect l="l" t="t" r="r" b="b"/>
            <a:pathLst>
              <a:path w="4905375" h="552450">
                <a:moveTo>
                  <a:pt x="76199" y="0"/>
                </a:moveTo>
                <a:lnTo>
                  <a:pt x="4829176" y="0"/>
                </a:lnTo>
                <a:cubicBezTo>
                  <a:pt x="4871259" y="0"/>
                  <a:pt x="4905375" y="34116"/>
                  <a:pt x="4905375" y="76199"/>
                </a:cubicBezTo>
                <a:lnTo>
                  <a:pt x="4905375" y="476251"/>
                </a:lnTo>
                <a:cubicBezTo>
                  <a:pt x="4905375" y="518334"/>
                  <a:pt x="4871259" y="552450"/>
                  <a:pt x="4829176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71525" y="2562225"/>
            <a:ext cx="4733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$body = @{ distance = "L1"; df1 = ...}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1525" y="2722215"/>
            <a:ext cx="4733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Invoke-RestMethod -Uri "http://127.0.0.1:5000/distances"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1988" y="3077468"/>
            <a:ext cx="4895850" cy="390525"/>
          </a:xfrm>
          <a:custGeom>
            <a:avLst/>
            <a:gdLst/>
            <a:ahLst/>
            <a:cxnLst/>
            <a:rect l="l" t="t" r="r" b="b"/>
            <a:pathLst>
              <a:path w="4895850" h="390525">
                <a:moveTo>
                  <a:pt x="76199" y="0"/>
                </a:moveTo>
                <a:lnTo>
                  <a:pt x="4819651" y="0"/>
                </a:lnTo>
                <a:cubicBezTo>
                  <a:pt x="4861734" y="0"/>
                  <a:pt x="4895850" y="34116"/>
                  <a:pt x="4895850" y="76199"/>
                </a:cubicBezTo>
                <a:lnTo>
                  <a:pt x="4895850" y="314326"/>
                </a:lnTo>
                <a:cubicBezTo>
                  <a:pt x="4895850" y="356409"/>
                  <a:pt x="4861734" y="390525"/>
                  <a:pt x="48196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950" y="3158430"/>
            <a:ext cx="481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 "distance": 6.0 }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3701355"/>
            <a:ext cx="5133975" cy="1562100"/>
          </a:xfrm>
          <a:custGeom>
            <a:avLst/>
            <a:gdLst/>
            <a:ahLst/>
            <a:cxnLst/>
            <a:rect l="l" t="t" r="r" b="b"/>
            <a:pathLst>
              <a:path w="5133975" h="1562100">
                <a:moveTo>
                  <a:pt x="76199" y="0"/>
                </a:moveTo>
                <a:lnTo>
                  <a:pt x="5057776" y="0"/>
                </a:lnTo>
                <a:cubicBezTo>
                  <a:pt x="5099859" y="0"/>
                  <a:pt x="5133975" y="34116"/>
                  <a:pt x="5133975" y="76199"/>
                </a:cubicBezTo>
                <a:lnTo>
                  <a:pt x="5133975" y="1485901"/>
                </a:lnTo>
                <a:cubicBezTo>
                  <a:pt x="5133975" y="1527984"/>
                  <a:pt x="5099859" y="1562100"/>
                  <a:pt x="50577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666750" y="385375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4118" y="23247"/>
                </a:moveTo>
                <a:cubicBezTo>
                  <a:pt x="86499" y="15121"/>
                  <a:pt x="93940" y="9525"/>
                  <a:pt x="102394" y="9525"/>
                </a:cubicBezTo>
                <a:lnTo>
                  <a:pt x="161925" y="9525"/>
                </a:lnTo>
                <a:cubicBezTo>
                  <a:pt x="167194" y="9525"/>
                  <a:pt x="171450" y="13781"/>
                  <a:pt x="171450" y="19050"/>
                </a:cubicBezTo>
                <a:cubicBezTo>
                  <a:pt x="171450" y="24319"/>
                  <a:pt x="167194" y="28575"/>
                  <a:pt x="161925" y="28575"/>
                </a:cubicBezTo>
                <a:lnTo>
                  <a:pt x="102394" y="28575"/>
                </a:lnTo>
                <a:lnTo>
                  <a:pt x="71051" y="136029"/>
                </a:lnTo>
                <a:cubicBezTo>
                  <a:pt x="69979" y="139690"/>
                  <a:pt x="66854" y="142339"/>
                  <a:pt x="63073" y="142815"/>
                </a:cubicBezTo>
                <a:cubicBezTo>
                  <a:pt x="59293" y="143292"/>
                  <a:pt x="55602" y="141446"/>
                  <a:pt x="53697" y="138172"/>
                </a:cubicBezTo>
                <a:lnTo>
                  <a:pt x="23098" y="85725"/>
                </a:ln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23098" y="66675"/>
                </a:lnTo>
                <a:cubicBezTo>
                  <a:pt x="29885" y="66675"/>
                  <a:pt x="36135" y="70277"/>
                  <a:pt x="39559" y="76140"/>
                </a:cubicBezTo>
                <a:lnTo>
                  <a:pt x="58966" y="109418"/>
                </a:lnTo>
                <a:lnTo>
                  <a:pt x="84088" y="23247"/>
                </a:lnTo>
                <a:close/>
                <a:moveTo>
                  <a:pt x="117098" y="69473"/>
                </a:moveTo>
                <a:cubicBezTo>
                  <a:pt x="120819" y="65752"/>
                  <a:pt x="126861" y="65752"/>
                  <a:pt x="130582" y="69473"/>
                </a:cubicBezTo>
                <a:lnTo>
                  <a:pt x="142905" y="81796"/>
                </a:lnTo>
                <a:lnTo>
                  <a:pt x="155228" y="69473"/>
                </a:lnTo>
                <a:cubicBezTo>
                  <a:pt x="158948" y="65752"/>
                  <a:pt x="164991" y="65752"/>
                  <a:pt x="168712" y="69473"/>
                </a:cubicBezTo>
                <a:cubicBezTo>
                  <a:pt x="172432" y="73194"/>
                  <a:pt x="172432" y="79236"/>
                  <a:pt x="168712" y="82957"/>
                </a:cubicBezTo>
                <a:lnTo>
                  <a:pt x="156389" y="95280"/>
                </a:lnTo>
                <a:lnTo>
                  <a:pt x="168712" y="107603"/>
                </a:lnTo>
                <a:cubicBezTo>
                  <a:pt x="172432" y="111323"/>
                  <a:pt x="172432" y="117366"/>
                  <a:pt x="168712" y="121087"/>
                </a:cubicBezTo>
                <a:cubicBezTo>
                  <a:pt x="164991" y="124807"/>
                  <a:pt x="158948" y="124807"/>
                  <a:pt x="155228" y="121087"/>
                </a:cubicBezTo>
                <a:lnTo>
                  <a:pt x="142905" y="108764"/>
                </a:lnTo>
                <a:lnTo>
                  <a:pt x="130582" y="121087"/>
                </a:lnTo>
                <a:cubicBezTo>
                  <a:pt x="126861" y="124807"/>
                  <a:pt x="120819" y="124807"/>
                  <a:pt x="117098" y="121087"/>
                </a:cubicBezTo>
                <a:cubicBezTo>
                  <a:pt x="113377" y="117366"/>
                  <a:pt x="113377" y="111323"/>
                  <a:pt x="117098" y="107603"/>
                </a:cubicBezTo>
                <a:lnTo>
                  <a:pt x="129421" y="95280"/>
                </a:lnTo>
                <a:lnTo>
                  <a:pt x="117098" y="82957"/>
                </a:lnTo>
                <a:cubicBezTo>
                  <a:pt x="113377" y="79236"/>
                  <a:pt x="113377" y="73194"/>
                  <a:pt x="117098" y="6947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25" y="3815655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L2 (Euclidean)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7225" y="4120455"/>
            <a:ext cx="4905375" cy="552450"/>
          </a:xfrm>
          <a:custGeom>
            <a:avLst/>
            <a:gdLst/>
            <a:ahLst/>
            <a:cxnLst/>
            <a:rect l="l" t="t" r="r" b="b"/>
            <a:pathLst>
              <a:path w="4905375" h="552450">
                <a:moveTo>
                  <a:pt x="76199" y="0"/>
                </a:moveTo>
                <a:lnTo>
                  <a:pt x="4829176" y="0"/>
                </a:lnTo>
                <a:cubicBezTo>
                  <a:pt x="4871259" y="0"/>
                  <a:pt x="4905375" y="34116"/>
                  <a:pt x="4905375" y="76199"/>
                </a:cubicBezTo>
                <a:lnTo>
                  <a:pt x="4905375" y="476251"/>
                </a:lnTo>
                <a:cubicBezTo>
                  <a:pt x="4905375" y="518334"/>
                  <a:pt x="4871259" y="552450"/>
                  <a:pt x="4829176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71525" y="4234755"/>
            <a:ext cx="4733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$body = @{ distance = "L2"; df1 = ...}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1525" y="4394746"/>
            <a:ext cx="4733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Invoke-RestMethod -Uri "http://127.0.0.1:5000/distances"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1988" y="4749998"/>
            <a:ext cx="4895850" cy="390525"/>
          </a:xfrm>
          <a:custGeom>
            <a:avLst/>
            <a:gdLst/>
            <a:ahLst/>
            <a:cxnLst/>
            <a:rect l="l" t="t" r="r" b="b"/>
            <a:pathLst>
              <a:path w="4895850" h="390525">
                <a:moveTo>
                  <a:pt x="76199" y="0"/>
                </a:moveTo>
                <a:lnTo>
                  <a:pt x="4819651" y="0"/>
                </a:lnTo>
                <a:cubicBezTo>
                  <a:pt x="4861734" y="0"/>
                  <a:pt x="4895850" y="34116"/>
                  <a:pt x="4895850" y="76199"/>
                </a:cubicBezTo>
                <a:lnTo>
                  <a:pt x="4895850" y="314326"/>
                </a:lnTo>
                <a:cubicBezTo>
                  <a:pt x="4895850" y="356409"/>
                  <a:pt x="4861734" y="390525"/>
                  <a:pt x="48196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950" y="4830961"/>
            <a:ext cx="481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 "distance": 3.1622776601683795 }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5578673"/>
            <a:ext cx="5448300" cy="1209675"/>
          </a:xfrm>
          <a:custGeom>
            <a:avLst/>
            <a:gdLst/>
            <a:ahLst/>
            <a:cxnLst/>
            <a:rect l="l" t="t" r="r" b="b"/>
            <a:pathLst>
              <a:path w="5448300" h="1209675">
                <a:moveTo>
                  <a:pt x="114302" y="0"/>
                </a:moveTo>
                <a:lnTo>
                  <a:pt x="5333998" y="0"/>
                </a:lnTo>
                <a:cubicBezTo>
                  <a:pt x="5397125" y="0"/>
                  <a:pt x="5448300" y="51175"/>
                  <a:pt x="5448300" y="114302"/>
                </a:cubicBezTo>
                <a:lnTo>
                  <a:pt x="5448300" y="1095373"/>
                </a:lnTo>
                <a:cubicBezTo>
                  <a:pt x="5448300" y="1158500"/>
                  <a:pt x="5397125" y="1209675"/>
                  <a:pt x="5333998" y="1209675"/>
                </a:cubicBezTo>
                <a:lnTo>
                  <a:pt x="114302" y="1209675"/>
                </a:lnTo>
                <a:cubicBezTo>
                  <a:pt x="51175" y="1209675"/>
                  <a:pt x="0" y="1158500"/>
                  <a:pt x="0" y="10953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0" scaled="1"/>
          </a:gra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925" y="5773936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187" y="87920"/>
                </a:moveTo>
                <a:lnTo>
                  <a:pt x="105594" y="87920"/>
                </a:lnTo>
                <a:lnTo>
                  <a:pt x="105594" y="65819"/>
                </a:lnTo>
                <a:lnTo>
                  <a:pt x="130187" y="65819"/>
                </a:lnTo>
                <a:lnTo>
                  <a:pt x="130187" y="87920"/>
                </a:lnTo>
                <a:close/>
                <a:moveTo>
                  <a:pt x="130187" y="11906"/>
                </a:moveTo>
                <a:lnTo>
                  <a:pt x="105594" y="11906"/>
                </a:lnTo>
                <a:lnTo>
                  <a:pt x="105594" y="34491"/>
                </a:lnTo>
                <a:lnTo>
                  <a:pt x="130187" y="34491"/>
                </a:lnTo>
                <a:lnTo>
                  <a:pt x="130187" y="11906"/>
                </a:lnTo>
                <a:close/>
                <a:moveTo>
                  <a:pt x="159283" y="65782"/>
                </a:moveTo>
                <a:lnTo>
                  <a:pt x="134689" y="65782"/>
                </a:lnTo>
                <a:lnTo>
                  <a:pt x="134689" y="87883"/>
                </a:lnTo>
                <a:lnTo>
                  <a:pt x="159283" y="87883"/>
                </a:lnTo>
                <a:lnTo>
                  <a:pt x="159283" y="65782"/>
                </a:lnTo>
                <a:close/>
                <a:moveTo>
                  <a:pt x="101129" y="38956"/>
                </a:moveTo>
                <a:lnTo>
                  <a:pt x="76535" y="38956"/>
                </a:lnTo>
                <a:lnTo>
                  <a:pt x="76535" y="61317"/>
                </a:lnTo>
                <a:lnTo>
                  <a:pt x="101129" y="61317"/>
                </a:lnTo>
                <a:lnTo>
                  <a:pt x="101129" y="38956"/>
                </a:lnTo>
                <a:close/>
                <a:moveTo>
                  <a:pt x="130187" y="38956"/>
                </a:moveTo>
                <a:lnTo>
                  <a:pt x="105594" y="38956"/>
                </a:lnTo>
                <a:lnTo>
                  <a:pt x="105594" y="61317"/>
                </a:lnTo>
                <a:lnTo>
                  <a:pt x="130187" y="61317"/>
                </a:lnTo>
                <a:lnTo>
                  <a:pt x="130187" y="38956"/>
                </a:lnTo>
                <a:close/>
                <a:moveTo>
                  <a:pt x="233176" y="76163"/>
                </a:moveTo>
                <a:cubicBezTo>
                  <a:pt x="227819" y="72554"/>
                  <a:pt x="215466" y="71251"/>
                  <a:pt x="205978" y="73037"/>
                </a:cubicBezTo>
                <a:cubicBezTo>
                  <a:pt x="204750" y="64108"/>
                  <a:pt x="199765" y="56331"/>
                  <a:pt x="190686" y="49337"/>
                </a:cubicBezTo>
                <a:lnTo>
                  <a:pt x="185477" y="45876"/>
                </a:lnTo>
                <a:lnTo>
                  <a:pt x="182017" y="51085"/>
                </a:lnTo>
                <a:cubicBezTo>
                  <a:pt x="175171" y="61429"/>
                  <a:pt x="173310" y="78470"/>
                  <a:pt x="180640" y="89706"/>
                </a:cubicBezTo>
                <a:cubicBezTo>
                  <a:pt x="177403" y="91455"/>
                  <a:pt x="171041" y="93836"/>
                  <a:pt x="162632" y="93687"/>
                </a:cubicBezTo>
                <a:lnTo>
                  <a:pt x="893" y="93687"/>
                </a:lnTo>
                <a:cubicBezTo>
                  <a:pt x="-2344" y="112588"/>
                  <a:pt x="3051" y="137145"/>
                  <a:pt x="17264" y="154000"/>
                </a:cubicBezTo>
                <a:cubicBezTo>
                  <a:pt x="31068" y="170334"/>
                  <a:pt x="51755" y="178631"/>
                  <a:pt x="78804" y="178631"/>
                </a:cubicBezTo>
                <a:cubicBezTo>
                  <a:pt x="137368" y="178631"/>
                  <a:pt x="180715" y="151656"/>
                  <a:pt x="200992" y="102654"/>
                </a:cubicBezTo>
                <a:cubicBezTo>
                  <a:pt x="208955" y="102803"/>
                  <a:pt x="226144" y="102691"/>
                  <a:pt x="234962" y="85837"/>
                </a:cubicBezTo>
                <a:cubicBezTo>
                  <a:pt x="235521" y="84906"/>
                  <a:pt x="237418" y="80925"/>
                  <a:pt x="238125" y="79474"/>
                </a:cubicBezTo>
                <a:lnTo>
                  <a:pt x="233176" y="76163"/>
                </a:lnTo>
                <a:close/>
                <a:moveTo>
                  <a:pt x="43011" y="65782"/>
                </a:moveTo>
                <a:lnTo>
                  <a:pt x="18455" y="65782"/>
                </a:lnTo>
                <a:lnTo>
                  <a:pt x="18455" y="87883"/>
                </a:lnTo>
                <a:lnTo>
                  <a:pt x="43049" y="87883"/>
                </a:lnTo>
                <a:lnTo>
                  <a:pt x="43049" y="65782"/>
                </a:lnTo>
                <a:lnTo>
                  <a:pt x="43011" y="65782"/>
                </a:lnTo>
                <a:close/>
                <a:moveTo>
                  <a:pt x="72070" y="65782"/>
                </a:moveTo>
                <a:lnTo>
                  <a:pt x="47476" y="65782"/>
                </a:lnTo>
                <a:lnTo>
                  <a:pt x="47476" y="87883"/>
                </a:lnTo>
                <a:lnTo>
                  <a:pt x="72070" y="87883"/>
                </a:lnTo>
                <a:lnTo>
                  <a:pt x="72070" y="65782"/>
                </a:lnTo>
                <a:close/>
                <a:moveTo>
                  <a:pt x="101129" y="65782"/>
                </a:moveTo>
                <a:lnTo>
                  <a:pt x="76535" y="65782"/>
                </a:lnTo>
                <a:lnTo>
                  <a:pt x="76535" y="87883"/>
                </a:lnTo>
                <a:lnTo>
                  <a:pt x="101129" y="87883"/>
                </a:lnTo>
                <a:lnTo>
                  <a:pt x="101129" y="65782"/>
                </a:lnTo>
                <a:close/>
                <a:moveTo>
                  <a:pt x="72070" y="38956"/>
                </a:moveTo>
                <a:lnTo>
                  <a:pt x="47476" y="38956"/>
                </a:lnTo>
                <a:lnTo>
                  <a:pt x="47476" y="61317"/>
                </a:lnTo>
                <a:lnTo>
                  <a:pt x="72070" y="61317"/>
                </a:lnTo>
                <a:lnTo>
                  <a:pt x="72070" y="38956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895350" y="5735836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Triển khai Docker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2925" y="6078736"/>
            <a:ext cx="5133975" cy="552450"/>
          </a:xfrm>
          <a:custGeom>
            <a:avLst/>
            <a:gdLst/>
            <a:ahLst/>
            <a:cxnLst/>
            <a:rect l="l" t="t" r="r" b="b"/>
            <a:pathLst>
              <a:path w="5133975" h="552450">
                <a:moveTo>
                  <a:pt x="76199" y="0"/>
                </a:moveTo>
                <a:lnTo>
                  <a:pt x="5057776" y="0"/>
                </a:lnTo>
                <a:cubicBezTo>
                  <a:pt x="5099859" y="0"/>
                  <a:pt x="5133975" y="34116"/>
                  <a:pt x="5133975" y="76199"/>
                </a:cubicBezTo>
                <a:lnTo>
                  <a:pt x="5133975" y="476251"/>
                </a:lnTo>
                <a:cubicBezTo>
                  <a:pt x="5133975" y="518334"/>
                  <a:pt x="5099859" y="552450"/>
                  <a:pt x="5057776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57225" y="6193036"/>
            <a:ext cx="4962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build -t ch10-distance-api 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225" y="6353026"/>
            <a:ext cx="4962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run --rm -p 5000:5000 ch10-distance-api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34088" y="1376363"/>
            <a:ext cx="5772150" cy="5410200"/>
          </a:xfrm>
          <a:custGeom>
            <a:avLst/>
            <a:gdLst/>
            <a:ahLst/>
            <a:cxnLst/>
            <a:rect l="l" t="t" r="r" b="b"/>
            <a:pathLst>
              <a:path w="5772150" h="5410200">
                <a:moveTo>
                  <a:pt x="114318" y="0"/>
                </a:moveTo>
                <a:lnTo>
                  <a:pt x="5657832" y="0"/>
                </a:lnTo>
                <a:cubicBezTo>
                  <a:pt x="5720968" y="0"/>
                  <a:pt x="5772150" y="51182"/>
                  <a:pt x="5772150" y="114318"/>
                </a:cubicBezTo>
                <a:lnTo>
                  <a:pt x="5772150" y="5295882"/>
                </a:lnTo>
                <a:cubicBezTo>
                  <a:pt x="5772150" y="5359018"/>
                  <a:pt x="5720968" y="5410200"/>
                  <a:pt x="5657832" y="5410200"/>
                </a:cubicBezTo>
                <a:lnTo>
                  <a:pt x="114318" y="5410200"/>
                </a:lnTo>
                <a:cubicBezTo>
                  <a:pt x="51182" y="5410200"/>
                  <a:pt x="0" y="5359018"/>
                  <a:pt x="0" y="5295882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1250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86500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686550" y="159067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quả Benchmark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2030016"/>
            <a:ext cx="5457825" cy="1676400"/>
          </a:xfrm>
          <a:custGeom>
            <a:avLst/>
            <a:gdLst/>
            <a:ahLst/>
            <a:cxnLst/>
            <a:rect l="l" t="t" r="r" b="b"/>
            <a:pathLst>
              <a:path w="5457825" h="1676400">
                <a:moveTo>
                  <a:pt x="76192" y="0"/>
                </a:moveTo>
                <a:lnTo>
                  <a:pt x="5381633" y="0"/>
                </a:lnTo>
                <a:cubicBezTo>
                  <a:pt x="5423713" y="0"/>
                  <a:pt x="5457825" y="34112"/>
                  <a:pt x="5457825" y="76192"/>
                </a:cubicBezTo>
                <a:lnTo>
                  <a:pt x="5457825" y="1600208"/>
                </a:lnTo>
                <a:cubicBezTo>
                  <a:pt x="5457825" y="1642288"/>
                  <a:pt x="5423713" y="1676400"/>
                  <a:pt x="5381633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6305550" y="2144316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size: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400x400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5550" y="2449116"/>
            <a:ext cx="5229225" cy="533400"/>
          </a:xfrm>
          <a:custGeom>
            <a:avLst/>
            <a:gdLst/>
            <a:ahLst/>
            <a:cxnLst/>
            <a:rect l="l" t="t" r="r" b="b"/>
            <a:pathLst>
              <a:path w="5229225" h="533400">
                <a:moveTo>
                  <a:pt x="76202" y="0"/>
                </a:moveTo>
                <a:lnTo>
                  <a:pt x="5153023" y="0"/>
                </a:lnTo>
                <a:cubicBezTo>
                  <a:pt x="5195108" y="0"/>
                  <a:pt x="5229225" y="34117"/>
                  <a:pt x="5229225" y="76202"/>
                </a:cubicBezTo>
                <a:lnTo>
                  <a:pt x="5229225" y="457198"/>
                </a:lnTo>
                <a:cubicBezTo>
                  <a:pt x="5229225" y="499283"/>
                  <a:pt x="5195108" y="533400"/>
                  <a:pt x="51530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6381750" y="2544366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Loop L2 (best)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610106" y="2525316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1.485394s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1750" y="2830116"/>
            <a:ext cx="5076825" cy="76200"/>
          </a:xfrm>
          <a:custGeom>
            <a:avLst/>
            <a:gdLst/>
            <a:ahLst/>
            <a:cxnLst/>
            <a:rect l="l" t="t" r="r" b="b"/>
            <a:pathLst>
              <a:path w="5076825" h="76200">
                <a:moveTo>
                  <a:pt x="38100" y="0"/>
                </a:moveTo>
                <a:lnTo>
                  <a:pt x="5038725" y="0"/>
                </a:lnTo>
                <a:cubicBezTo>
                  <a:pt x="5059753" y="0"/>
                  <a:pt x="5076825" y="17072"/>
                  <a:pt x="5076825" y="38100"/>
                </a:cubicBezTo>
                <a:lnTo>
                  <a:pt x="5076825" y="38100"/>
                </a:lnTo>
                <a:cubicBezTo>
                  <a:pt x="5076825" y="59128"/>
                  <a:pt x="5059753" y="76200"/>
                  <a:pt x="50387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1" name="Shape 39"/>
          <p:cNvSpPr/>
          <p:nvPr/>
        </p:nvSpPr>
        <p:spPr>
          <a:xfrm>
            <a:off x="6381750" y="2830116"/>
            <a:ext cx="5076825" cy="76200"/>
          </a:xfrm>
          <a:custGeom>
            <a:avLst/>
            <a:gdLst/>
            <a:ahLst/>
            <a:cxnLst/>
            <a:rect l="l" t="t" r="r" b="b"/>
            <a:pathLst>
              <a:path w="5076825" h="76200">
                <a:moveTo>
                  <a:pt x="38100" y="0"/>
                </a:moveTo>
                <a:lnTo>
                  <a:pt x="5038725" y="0"/>
                </a:lnTo>
                <a:cubicBezTo>
                  <a:pt x="5059753" y="0"/>
                  <a:pt x="5076825" y="17072"/>
                  <a:pt x="5076825" y="38100"/>
                </a:cubicBezTo>
                <a:lnTo>
                  <a:pt x="5076825" y="38100"/>
                </a:lnTo>
                <a:cubicBezTo>
                  <a:pt x="5076825" y="59128"/>
                  <a:pt x="5059753" y="76200"/>
                  <a:pt x="50387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5550" y="3058716"/>
            <a:ext cx="5229225" cy="533400"/>
          </a:xfrm>
          <a:custGeom>
            <a:avLst/>
            <a:gdLst/>
            <a:ahLst/>
            <a:cxnLst/>
            <a:rect l="l" t="t" r="r" b="b"/>
            <a:pathLst>
              <a:path w="5229225" h="533400">
                <a:moveTo>
                  <a:pt x="76202" y="0"/>
                </a:moveTo>
                <a:lnTo>
                  <a:pt x="5153023" y="0"/>
                </a:lnTo>
                <a:cubicBezTo>
                  <a:pt x="5195108" y="0"/>
                  <a:pt x="5229225" y="34117"/>
                  <a:pt x="5229225" y="76202"/>
                </a:cubicBezTo>
                <a:lnTo>
                  <a:pt x="5229225" y="457198"/>
                </a:lnTo>
                <a:cubicBezTo>
                  <a:pt x="5229225" y="499283"/>
                  <a:pt x="5195108" y="533400"/>
                  <a:pt x="51530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6381750" y="3153966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Vectorized L2 (best)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10106" y="3134916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0.020239s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1750" y="3439716"/>
            <a:ext cx="5076825" cy="76200"/>
          </a:xfrm>
          <a:custGeom>
            <a:avLst/>
            <a:gdLst/>
            <a:ahLst/>
            <a:cxnLst/>
            <a:rect l="l" t="t" r="r" b="b"/>
            <a:pathLst>
              <a:path w="5076825" h="76200">
                <a:moveTo>
                  <a:pt x="38100" y="0"/>
                </a:moveTo>
                <a:lnTo>
                  <a:pt x="5038725" y="0"/>
                </a:lnTo>
                <a:cubicBezTo>
                  <a:pt x="5059753" y="0"/>
                  <a:pt x="5076825" y="17072"/>
                  <a:pt x="5076825" y="38100"/>
                </a:cubicBezTo>
                <a:lnTo>
                  <a:pt x="5076825" y="38100"/>
                </a:lnTo>
                <a:cubicBezTo>
                  <a:pt x="5076825" y="59128"/>
                  <a:pt x="5059753" y="76200"/>
                  <a:pt x="50387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6" name="Shape 44"/>
          <p:cNvSpPr/>
          <p:nvPr/>
        </p:nvSpPr>
        <p:spPr>
          <a:xfrm>
            <a:off x="6381750" y="3439716"/>
            <a:ext cx="66675" cy="76200"/>
          </a:xfrm>
          <a:custGeom>
            <a:avLst/>
            <a:gdLst/>
            <a:ahLst/>
            <a:cxnLst/>
            <a:rect l="l" t="t" r="r" b="b"/>
            <a:pathLst>
              <a:path w="66675" h="76200">
                <a:moveTo>
                  <a:pt x="33338" y="0"/>
                </a:moveTo>
                <a:lnTo>
                  <a:pt x="33338" y="0"/>
                </a:lnTo>
                <a:cubicBezTo>
                  <a:pt x="51737" y="0"/>
                  <a:pt x="66675" y="14938"/>
                  <a:pt x="66675" y="33338"/>
                </a:cubicBezTo>
                <a:lnTo>
                  <a:pt x="66675" y="42863"/>
                </a:lnTo>
                <a:cubicBezTo>
                  <a:pt x="66675" y="61262"/>
                  <a:pt x="51737" y="76200"/>
                  <a:pt x="33338" y="76200"/>
                </a:cubicBezTo>
                <a:lnTo>
                  <a:pt x="33338" y="76200"/>
                </a:lnTo>
                <a:cubicBezTo>
                  <a:pt x="14938" y="76200"/>
                  <a:pt x="0" y="61262"/>
                  <a:pt x="0" y="42863"/>
                </a:cubicBezTo>
                <a:lnTo>
                  <a:pt x="0" y="33338"/>
                </a:lnTo>
                <a:cubicBezTo>
                  <a:pt x="0" y="14938"/>
                  <a:pt x="14938" y="0"/>
                  <a:pt x="3333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Shape 45"/>
          <p:cNvSpPr/>
          <p:nvPr/>
        </p:nvSpPr>
        <p:spPr>
          <a:xfrm>
            <a:off x="6196013" y="3828008"/>
            <a:ext cx="5448300" cy="1266825"/>
          </a:xfrm>
          <a:custGeom>
            <a:avLst/>
            <a:gdLst/>
            <a:ahLst/>
            <a:cxnLst/>
            <a:rect l="l" t="t" r="r" b="b"/>
            <a:pathLst>
              <a:path w="5448300" h="1266825">
                <a:moveTo>
                  <a:pt x="76200" y="0"/>
                </a:moveTo>
                <a:lnTo>
                  <a:pt x="5372100" y="0"/>
                </a:lnTo>
                <a:cubicBezTo>
                  <a:pt x="5414184" y="0"/>
                  <a:pt x="5448300" y="34116"/>
                  <a:pt x="5448300" y="76200"/>
                </a:cubicBezTo>
                <a:lnTo>
                  <a:pt x="5448300" y="1190625"/>
                </a:lnTo>
                <a:cubicBezTo>
                  <a:pt x="5448300" y="1232709"/>
                  <a:pt x="5414184" y="1266825"/>
                  <a:pt x="5372100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10000"/>
                </a:srgbClr>
              </a:gs>
            </a:gsLst>
            <a:lin ang="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5075" y="3985171"/>
            <a:ext cx="521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Speedup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38875" y="4251871"/>
            <a:ext cx="536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73.39x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19838" y="4747171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Vectorized nhanh hơn Loop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1250" y="5216277"/>
            <a:ext cx="5457825" cy="1409700"/>
          </a:xfrm>
          <a:custGeom>
            <a:avLst/>
            <a:gdLst/>
            <a:ahLst/>
            <a:cxnLst/>
            <a:rect l="l" t="t" r="r" b="b"/>
            <a:pathLst>
              <a:path w="5457825" h="1409700">
                <a:moveTo>
                  <a:pt x="76194" y="0"/>
                </a:moveTo>
                <a:lnTo>
                  <a:pt x="5381631" y="0"/>
                </a:lnTo>
                <a:cubicBezTo>
                  <a:pt x="5423683" y="0"/>
                  <a:pt x="5457825" y="34142"/>
                  <a:pt x="5457825" y="76194"/>
                </a:cubicBezTo>
                <a:lnTo>
                  <a:pt x="5457825" y="1333506"/>
                </a:lnTo>
                <a:cubicBezTo>
                  <a:pt x="5457825" y="1375587"/>
                  <a:pt x="5423712" y="1409700"/>
                  <a:pt x="5381631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Text 50"/>
          <p:cNvSpPr/>
          <p:nvPr/>
        </p:nvSpPr>
        <p:spPr>
          <a:xfrm>
            <a:off x="6305550" y="5330577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bước thực hiện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2934" y="566395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6534150" y="5635377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Cài môi trường: pip install -r requirements.txt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2934" y="589255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6534150" y="5863977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Chạy API local: python app.py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32934" y="612115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6534150" y="6092577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Gửi request kiểm tra L1/L2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32934" y="634975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6534150" y="6321177"/>
            <a:ext cx="506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Chạy benchmark: python benchmark_l2.py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10: TÁI CẤU TRÚC MÃ VỚI GENAI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 sánh ChatGPT và Copilot trong Refactoring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C4899"/>
              </a:gs>
              <a:gs pos="100000">
                <a:srgbClr val="8B5CF6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5629275" cy="2867025"/>
          </a:xfrm>
          <a:custGeom>
            <a:avLst/>
            <a:gdLst/>
            <a:ahLst/>
            <a:cxnLst/>
            <a:rect l="l" t="t" r="r" b="b"/>
            <a:pathLst>
              <a:path w="5629275" h="2867025">
                <a:moveTo>
                  <a:pt x="114308" y="0"/>
                </a:moveTo>
                <a:lnTo>
                  <a:pt x="5514967" y="0"/>
                </a:lnTo>
                <a:cubicBezTo>
                  <a:pt x="5578097" y="0"/>
                  <a:pt x="5629275" y="51178"/>
                  <a:pt x="5629275" y="114308"/>
                </a:cubicBezTo>
                <a:lnTo>
                  <a:pt x="5629275" y="2752717"/>
                </a:lnTo>
                <a:cubicBezTo>
                  <a:pt x="5629275" y="2815847"/>
                  <a:pt x="5578097" y="2867025"/>
                  <a:pt x="5514967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4363" y="16287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90675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Độ bám yêu cầu prompt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028825"/>
            <a:ext cx="5314950" cy="990600"/>
          </a:xfrm>
          <a:custGeom>
            <a:avLst/>
            <a:gdLst/>
            <a:ahLst/>
            <a:cxnLst/>
            <a:rect l="l" t="t" r="r" b="b"/>
            <a:pathLst>
              <a:path w="5314950" h="990600">
                <a:moveTo>
                  <a:pt x="76197" y="0"/>
                </a:moveTo>
                <a:lnTo>
                  <a:pt x="5238753" y="0"/>
                </a:lnTo>
                <a:cubicBezTo>
                  <a:pt x="5280835" y="0"/>
                  <a:pt x="5314950" y="34115"/>
                  <a:pt x="5314950" y="76197"/>
                </a:cubicBezTo>
                <a:lnTo>
                  <a:pt x="5314950" y="914403"/>
                </a:lnTo>
                <a:cubicBezTo>
                  <a:pt x="5314950" y="956485"/>
                  <a:pt x="5280835" y="990600"/>
                  <a:pt x="52387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676275" y="2181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23925" y="2143125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225" y="2447925"/>
            <a:ext cx="516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Tuân thủ kỹ constraint (TASK, FUNCTION, OLD, LIBRARY) trong prompts file. Lab A giữ logic cũ, Lab C chỉ dùng NumPy.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2925" y="3095625"/>
            <a:ext cx="5314950" cy="990600"/>
          </a:xfrm>
          <a:custGeom>
            <a:avLst/>
            <a:gdLst/>
            <a:ahLst/>
            <a:cxnLst/>
            <a:rect l="l" t="t" r="r" b="b"/>
            <a:pathLst>
              <a:path w="5314950" h="990600">
                <a:moveTo>
                  <a:pt x="76197" y="0"/>
                </a:moveTo>
                <a:lnTo>
                  <a:pt x="5238753" y="0"/>
                </a:lnTo>
                <a:cubicBezTo>
                  <a:pt x="5280835" y="0"/>
                  <a:pt x="5314950" y="34115"/>
                  <a:pt x="5314950" y="76197"/>
                </a:cubicBezTo>
                <a:lnTo>
                  <a:pt x="5314950" y="914403"/>
                </a:lnTo>
                <a:cubicBezTo>
                  <a:pt x="5314950" y="956485"/>
                  <a:pt x="5280835" y="990600"/>
                  <a:pt x="52387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275" y="3248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23925" y="3209925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Copilot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3514725"/>
            <a:ext cx="516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Tuân thủ prompt, nhưng có xu hướng thêm features không yêu cầu (ví dụ: thêm error handling logic mà prompt chưa nhắc).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6963" y="1376363"/>
            <a:ext cx="5629275" cy="2867025"/>
          </a:xfrm>
          <a:custGeom>
            <a:avLst/>
            <a:gdLst/>
            <a:ahLst/>
            <a:cxnLst/>
            <a:rect l="l" t="t" r="r" b="b"/>
            <a:pathLst>
              <a:path w="5629275" h="2867025">
                <a:moveTo>
                  <a:pt x="114308" y="0"/>
                </a:moveTo>
                <a:lnTo>
                  <a:pt x="5514967" y="0"/>
                </a:lnTo>
                <a:cubicBezTo>
                  <a:pt x="5578097" y="0"/>
                  <a:pt x="5629275" y="51178"/>
                  <a:pt x="5629275" y="114308"/>
                </a:cubicBezTo>
                <a:lnTo>
                  <a:pt x="5629275" y="2752717"/>
                </a:lnTo>
                <a:cubicBezTo>
                  <a:pt x="5629275" y="2815847"/>
                  <a:pt x="5578097" y="2867025"/>
                  <a:pt x="5514967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41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17469" y="16287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829425" y="1590675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Chất lượng mã sinh ra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34125" y="2028825"/>
            <a:ext cx="5314950" cy="990600"/>
          </a:xfrm>
          <a:custGeom>
            <a:avLst/>
            <a:gdLst/>
            <a:ahLst/>
            <a:cxnLst/>
            <a:rect l="l" t="t" r="r" b="b"/>
            <a:pathLst>
              <a:path w="5314950" h="990600">
                <a:moveTo>
                  <a:pt x="76197" y="0"/>
                </a:moveTo>
                <a:lnTo>
                  <a:pt x="5238753" y="0"/>
                </a:lnTo>
                <a:cubicBezTo>
                  <a:pt x="5280835" y="0"/>
                  <a:pt x="5314950" y="34115"/>
                  <a:pt x="5314950" y="76197"/>
                </a:cubicBezTo>
                <a:lnTo>
                  <a:pt x="5314950" y="914403"/>
                </a:lnTo>
                <a:cubicBezTo>
                  <a:pt x="5314950" y="956485"/>
                  <a:pt x="5280835" y="990600"/>
                  <a:pt x="52387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67475" y="2181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715125" y="2143125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8425" y="2447925"/>
            <a:ext cx="516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Rõ ràng, comments tốt, tách hàm logic. Lab C có thêm hàm validate_matrices() tái sử dụng được.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34125" y="3095625"/>
            <a:ext cx="5314950" cy="990600"/>
          </a:xfrm>
          <a:custGeom>
            <a:avLst/>
            <a:gdLst/>
            <a:ahLst/>
            <a:cxnLst/>
            <a:rect l="l" t="t" r="r" b="b"/>
            <a:pathLst>
              <a:path w="5314950" h="990600">
                <a:moveTo>
                  <a:pt x="76197" y="0"/>
                </a:moveTo>
                <a:lnTo>
                  <a:pt x="5238753" y="0"/>
                </a:lnTo>
                <a:cubicBezTo>
                  <a:pt x="5280835" y="0"/>
                  <a:pt x="5314950" y="34115"/>
                  <a:pt x="5314950" y="76197"/>
                </a:cubicBezTo>
                <a:lnTo>
                  <a:pt x="5314950" y="914403"/>
                </a:lnTo>
                <a:cubicBezTo>
                  <a:pt x="5314950" y="956485"/>
                  <a:pt x="5280835" y="990600"/>
                  <a:pt x="52387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7475" y="3248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715125" y="3209925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Copilot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8425" y="3514725"/>
            <a:ext cx="516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đầy đủ (check empty, check type), sử dụng np.linalg.norm() cho tính định tốt hơn.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763" y="4405313"/>
            <a:ext cx="5629275" cy="2409825"/>
          </a:xfrm>
          <a:custGeom>
            <a:avLst/>
            <a:gdLst/>
            <a:ahLst/>
            <a:cxnLst/>
            <a:rect l="l" t="t" r="r" b="b"/>
            <a:pathLst>
              <a:path w="5629275" h="2409825">
                <a:moveTo>
                  <a:pt x="114298" y="0"/>
                </a:moveTo>
                <a:lnTo>
                  <a:pt x="5514977" y="0"/>
                </a:lnTo>
                <a:cubicBezTo>
                  <a:pt x="5578060" y="0"/>
                  <a:pt x="5629275" y="51215"/>
                  <a:pt x="5629275" y="114298"/>
                </a:cubicBezTo>
                <a:lnTo>
                  <a:pt x="5629275" y="2295527"/>
                </a:lnTo>
                <a:cubicBezTo>
                  <a:pt x="5629275" y="2358610"/>
                  <a:pt x="5578060" y="2409825"/>
                  <a:pt x="5514977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2925" y="4562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0081" y="46577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1038225" y="461962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Tính thực dụng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2925" y="5057775"/>
            <a:ext cx="5314950" cy="762000"/>
          </a:xfrm>
          <a:custGeom>
            <a:avLst/>
            <a:gdLst/>
            <a:ahLst/>
            <a:cxnLst/>
            <a:rect l="l" t="t" r="r" b="b"/>
            <a:pathLst>
              <a:path w="5314950" h="762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685800"/>
                </a:lnTo>
                <a:cubicBezTo>
                  <a:pt x="5314950" y="727856"/>
                  <a:pt x="5280806" y="762000"/>
                  <a:pt x="52387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4" name="Shape 32"/>
          <p:cNvSpPr/>
          <p:nvPr/>
        </p:nvSpPr>
        <p:spPr>
          <a:xfrm>
            <a:off x="676275" y="5210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923925" y="5172075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7225" y="54768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Phản hồi nhanh, cần ít chỉnh sửa thủ công. Kết quả dùng được ngay.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2925" y="5895975"/>
            <a:ext cx="5314950" cy="762000"/>
          </a:xfrm>
          <a:custGeom>
            <a:avLst/>
            <a:gdLst/>
            <a:ahLst/>
            <a:cxnLst/>
            <a:rect l="l" t="t" r="r" b="b"/>
            <a:pathLst>
              <a:path w="5314950" h="762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685800"/>
                </a:lnTo>
                <a:cubicBezTo>
                  <a:pt x="5314950" y="727856"/>
                  <a:pt x="5280806" y="762000"/>
                  <a:pt x="52387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Shape 36"/>
          <p:cNvSpPr/>
          <p:nvPr/>
        </p:nvSpPr>
        <p:spPr>
          <a:xfrm>
            <a:off x="676275" y="6048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923925" y="6010275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Copilot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7225" y="63150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Inline refactor, đôi khi vẫn cần verify logic, nhưng tích hợp VS Code tốt.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6963" y="4405313"/>
            <a:ext cx="5629275" cy="2409825"/>
          </a:xfrm>
          <a:custGeom>
            <a:avLst/>
            <a:gdLst/>
            <a:ahLst/>
            <a:cxnLst/>
            <a:rect l="l" t="t" r="r" b="b"/>
            <a:pathLst>
              <a:path w="5629275" h="2409825">
                <a:moveTo>
                  <a:pt x="114298" y="0"/>
                </a:moveTo>
                <a:lnTo>
                  <a:pt x="5514977" y="0"/>
                </a:lnTo>
                <a:cubicBezTo>
                  <a:pt x="5578060" y="0"/>
                  <a:pt x="5629275" y="51215"/>
                  <a:pt x="5629275" y="114298"/>
                </a:cubicBezTo>
                <a:lnTo>
                  <a:pt x="5629275" y="2295527"/>
                </a:lnTo>
                <a:cubicBezTo>
                  <a:pt x="5629275" y="2358610"/>
                  <a:pt x="5578060" y="2409825"/>
                  <a:pt x="5514977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34125" y="4562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4657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6829425" y="4619625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Phù hợp bài toán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4125" y="5095875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6" name="Shape 44"/>
          <p:cNvSpPr/>
          <p:nvPr/>
        </p:nvSpPr>
        <p:spPr>
          <a:xfrm>
            <a:off x="6457950" y="52482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696075" y="5210175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Refactor cấu trúc (Lab A/B):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ChatGPT tốt hơn - rõ ràng hơn, ít thêm feature gây phức tạp.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34125" y="5934075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9" name="Shape 47"/>
          <p:cNvSpPr/>
          <p:nvPr/>
        </p:nvSpPr>
        <p:spPr>
          <a:xfrm>
            <a:off x="6457950" y="60864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6696075" y="6048375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Refactor hiệu năng (Lab C):</a:t>
            </a: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Copilot tương đương hoặc tốt hơn - dễ inline verify, suggestion np.linalg.norm tối ưu hơn.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eksforgeeks.org/a8d5a15786ffc717e36770231a88b059eb6f0105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5556" r="55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96641"/>
            <a:ext cx="1190625" cy="390525"/>
          </a:xfrm>
          <a:custGeom>
            <a:avLst/>
            <a:gdLst/>
            <a:ahLst/>
            <a:cxnLst/>
            <a:rect l="l" t="t" r="r" b="b"/>
            <a:pathLst>
              <a:path w="1190625" h="390525">
                <a:moveTo>
                  <a:pt x="195263" y="0"/>
                </a:moveTo>
                <a:lnTo>
                  <a:pt x="995363" y="0"/>
                </a:lnTo>
                <a:cubicBezTo>
                  <a:pt x="1103131" y="0"/>
                  <a:pt x="1190625" y="87494"/>
                  <a:pt x="1190625" y="195263"/>
                </a:cubicBezTo>
                <a:lnTo>
                  <a:pt x="1190625" y="195263"/>
                </a:lnTo>
                <a:cubicBezTo>
                  <a:pt x="1190625" y="303031"/>
                  <a:pt x="1103131" y="390525"/>
                  <a:pt x="9953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806178"/>
            <a:ext cx="9501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7292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Tinh chỉnh mô hình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với OpenAI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30278"/>
            <a:ext cx="86772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1F5F9">
                    <a:alpha val="8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Fine-Tuning Models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491847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6385" y="28575"/>
                  <a:pt x="0" y="34960"/>
                  <a:pt x="0" y="42863"/>
                </a:cubicBezTo>
                <a:cubicBezTo>
                  <a:pt x="0" y="50765"/>
                  <a:pt x="6385" y="57150"/>
                  <a:pt x="14288" y="57150"/>
                </a:cubicBezTo>
                <a:lnTo>
                  <a:pt x="52998" y="57150"/>
                </a:lnTo>
                <a:cubicBezTo>
                  <a:pt x="58489" y="69786"/>
                  <a:pt x="71080" y="78581"/>
                  <a:pt x="85725" y="78581"/>
                </a:cubicBezTo>
                <a:cubicBezTo>
                  <a:pt x="100370" y="78581"/>
                  <a:pt x="112961" y="69786"/>
                  <a:pt x="118452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118452" y="28575"/>
                </a:lnTo>
                <a:cubicBezTo>
                  <a:pt x="112961" y="15939"/>
                  <a:pt x="100370" y="7144"/>
                  <a:pt x="85725" y="7144"/>
                </a:cubicBezTo>
                <a:cubicBezTo>
                  <a:pt x="71080" y="7144"/>
                  <a:pt x="58489" y="15939"/>
                  <a:pt x="52998" y="28575"/>
                </a:cubicBezTo>
                <a:lnTo>
                  <a:pt x="14288" y="28575"/>
                </a:lnTo>
                <a:close/>
                <a:moveTo>
                  <a:pt x="14288" y="100013"/>
                </a:move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24435" y="128588"/>
                </a:lnTo>
                <a:cubicBezTo>
                  <a:pt x="129927" y="141223"/>
                  <a:pt x="142518" y="150019"/>
                  <a:pt x="157163" y="150019"/>
                </a:cubicBezTo>
                <a:cubicBezTo>
                  <a:pt x="171807" y="150019"/>
                  <a:pt x="184398" y="141223"/>
                  <a:pt x="189890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189890" y="100013"/>
                </a:lnTo>
                <a:cubicBezTo>
                  <a:pt x="184398" y="87377"/>
                  <a:pt x="171807" y="78581"/>
                  <a:pt x="157163" y="78581"/>
                </a:cubicBezTo>
                <a:cubicBezTo>
                  <a:pt x="142518" y="78581"/>
                  <a:pt x="129927" y="87377"/>
                  <a:pt x="124435" y="100013"/>
                </a:cubicBezTo>
                <a:lnTo>
                  <a:pt x="14288" y="100013"/>
                </a:lnTo>
                <a:close/>
                <a:moveTo>
                  <a:pt x="14288" y="171450"/>
                </a:moveTo>
                <a:cubicBezTo>
                  <a:pt x="6385" y="171450"/>
                  <a:pt x="0" y="177835"/>
                  <a:pt x="0" y="185738"/>
                </a:cubicBezTo>
                <a:cubicBezTo>
                  <a:pt x="0" y="193640"/>
                  <a:pt x="6385" y="200025"/>
                  <a:pt x="14288" y="200025"/>
                </a:cubicBezTo>
                <a:lnTo>
                  <a:pt x="38710" y="200025"/>
                </a:lnTo>
                <a:cubicBezTo>
                  <a:pt x="44202" y="212661"/>
                  <a:pt x="56793" y="221456"/>
                  <a:pt x="71438" y="221456"/>
                </a:cubicBezTo>
                <a:cubicBezTo>
                  <a:pt x="86082" y="221456"/>
                  <a:pt x="98673" y="212661"/>
                  <a:pt x="10416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104165" y="171450"/>
                </a:lnTo>
                <a:cubicBezTo>
                  <a:pt x="98673" y="158814"/>
                  <a:pt x="86082" y="150019"/>
                  <a:pt x="71438" y="150019"/>
                </a:cubicBezTo>
                <a:cubicBezTo>
                  <a:pt x="56793" y="150019"/>
                  <a:pt x="44202" y="158814"/>
                  <a:pt x="38710" y="171450"/>
                </a:cubicBezTo>
                <a:lnTo>
                  <a:pt x="14288" y="17145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4899422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Chuyên biệt hóa hành vi LLM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11: TINH CHỈNH MÔ HÌNH VỚI OPENAI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Fine-tuning: Phương pháp và Cơ sở lý thuyết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6B6D4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5691188" cy="2500313"/>
          </a:xfrm>
          <a:custGeom>
            <a:avLst/>
            <a:gdLst/>
            <a:ahLst/>
            <a:cxnLst/>
            <a:rect l="l" t="t" r="r" b="b"/>
            <a:pathLst>
              <a:path w="5691188" h="2500313">
                <a:moveTo>
                  <a:pt x="95262" y="0"/>
                </a:moveTo>
                <a:lnTo>
                  <a:pt x="5595926" y="0"/>
                </a:lnTo>
                <a:cubicBezTo>
                  <a:pt x="5648537" y="0"/>
                  <a:pt x="5691188" y="42650"/>
                  <a:pt x="5691188" y="95262"/>
                </a:cubicBezTo>
                <a:lnTo>
                  <a:pt x="5691188" y="2405051"/>
                </a:lnTo>
                <a:cubicBezTo>
                  <a:pt x="5691187" y="2457662"/>
                  <a:pt x="5648537" y="2500313"/>
                  <a:pt x="5595926" y="2500313"/>
                </a:cubicBezTo>
                <a:lnTo>
                  <a:pt x="95262" y="2500313"/>
                </a:lnTo>
                <a:cubicBezTo>
                  <a:pt x="42650" y="2500313"/>
                  <a:pt x="0" y="2457662"/>
                  <a:pt x="0" y="2405051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438" y="1277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1813" y="1357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42168"/>
                </a:moveTo>
                <a:cubicBezTo>
                  <a:pt x="83499" y="42168"/>
                  <a:pt x="86816" y="45486"/>
                  <a:pt x="86816" y="49609"/>
                </a:cubicBezTo>
                <a:lnTo>
                  <a:pt x="86816" y="84336"/>
                </a:lnTo>
                <a:cubicBezTo>
                  <a:pt x="86816" y="88460"/>
                  <a:pt x="83499" y="91777"/>
                  <a:pt x="79375" y="91777"/>
                </a:cubicBezTo>
                <a:cubicBezTo>
                  <a:pt x="75251" y="91777"/>
                  <a:pt x="71934" y="88460"/>
                  <a:pt x="71934" y="84336"/>
                </a:cubicBezTo>
                <a:lnTo>
                  <a:pt x="71934" y="49609"/>
                </a:lnTo>
                <a:cubicBezTo>
                  <a:pt x="71934" y="45486"/>
                  <a:pt x="75251" y="42168"/>
                  <a:pt x="79375" y="42168"/>
                </a:cubicBezTo>
                <a:close/>
                <a:moveTo>
                  <a:pt x="71096" y="109141"/>
                </a:moveTo>
                <a:cubicBezTo>
                  <a:pt x="70908" y="106068"/>
                  <a:pt x="72441" y="103144"/>
                  <a:pt x="75075" y="101551"/>
                </a:cubicBezTo>
                <a:cubicBezTo>
                  <a:pt x="77709" y="99957"/>
                  <a:pt x="81010" y="99957"/>
                  <a:pt x="83644" y="101551"/>
                </a:cubicBezTo>
                <a:cubicBezTo>
                  <a:pt x="86278" y="103144"/>
                  <a:pt x="87811" y="106068"/>
                  <a:pt x="87623" y="109141"/>
                </a:cubicBezTo>
                <a:cubicBezTo>
                  <a:pt x="87811" y="112214"/>
                  <a:pt x="86278" y="115137"/>
                  <a:pt x="83644" y="116731"/>
                </a:cubicBezTo>
                <a:cubicBezTo>
                  <a:pt x="81010" y="118324"/>
                  <a:pt x="77709" y="118324"/>
                  <a:pt x="75075" y="116731"/>
                </a:cubicBezTo>
                <a:cubicBezTo>
                  <a:pt x="72441" y="115137"/>
                  <a:pt x="70908" y="112214"/>
                  <a:pt x="71096" y="10914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65188" y="1325563"/>
            <a:ext cx="156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Vấn đề cần giải quyết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438" y="1690688"/>
            <a:ext cx="5429250" cy="873125"/>
          </a:xfrm>
          <a:custGeom>
            <a:avLst/>
            <a:gdLst/>
            <a:ahLst/>
            <a:cxnLst/>
            <a:rect l="l" t="t" r="r" b="b"/>
            <a:pathLst>
              <a:path w="5429250" h="873125">
                <a:moveTo>
                  <a:pt x="63502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809623"/>
                </a:lnTo>
                <a:cubicBezTo>
                  <a:pt x="5429250" y="844694"/>
                  <a:pt x="5400819" y="873125"/>
                  <a:pt x="5365748" y="873125"/>
                </a:cubicBezTo>
                <a:lnTo>
                  <a:pt x="63502" y="873125"/>
                </a:lnTo>
                <a:cubicBezTo>
                  <a:pt x="28431" y="873125"/>
                  <a:pt x="0" y="844694"/>
                  <a:pt x="0" y="80962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7688" y="1785938"/>
            <a:ext cx="5302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Khi thực hiện các tác vụ lập trình, mô hình mặc định thường sinh ra nội dung </a:t>
            </a:r>
            <a:r>
              <a:rPr lang="en-US" sz="10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dư thừa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7688" y="2055813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Các đoạn hội thoại giải thích dài dòng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7688" y="2278063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Các dòng chú thích (comment) không cần thiết xen lẫn trong code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438" y="2659063"/>
            <a:ext cx="5429250" cy="857250"/>
          </a:xfrm>
          <a:custGeom>
            <a:avLst/>
            <a:gdLst/>
            <a:ahLst/>
            <a:cxnLst/>
            <a:rect l="l" t="t" r="r" b="b"/>
            <a:pathLst>
              <a:path w="5429250" h="857250">
                <a:moveTo>
                  <a:pt x="63497" y="0"/>
                </a:moveTo>
                <a:lnTo>
                  <a:pt x="5365753" y="0"/>
                </a:lnTo>
                <a:cubicBezTo>
                  <a:pt x="5400822" y="0"/>
                  <a:pt x="5429250" y="28428"/>
                  <a:pt x="5429250" y="63497"/>
                </a:cubicBezTo>
                <a:lnTo>
                  <a:pt x="5429250" y="793753"/>
                </a:lnTo>
                <a:cubicBezTo>
                  <a:pt x="5429250" y="828822"/>
                  <a:pt x="5400822" y="857250"/>
                  <a:pt x="5365753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547688" y="2754313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Giải pháp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7688" y="3008313"/>
            <a:ext cx="5302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Phương pháp </a:t>
            </a:r>
            <a:r>
              <a:rPr lang="en-US" sz="100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tinh chỉnh (fine-tuning)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được áp dụng nhằm huấn luyện lại các tham số của mô hình, giúp nó </a:t>
            </a:r>
            <a:r>
              <a:rPr lang="en-US" sz="1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chuyên biệt hóa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và tuân thủ tuyệt đối hành vi mong muốn.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1469" y="3782219"/>
            <a:ext cx="5691188" cy="3309938"/>
          </a:xfrm>
          <a:custGeom>
            <a:avLst/>
            <a:gdLst/>
            <a:ahLst/>
            <a:cxnLst/>
            <a:rect l="l" t="t" r="r" b="b"/>
            <a:pathLst>
              <a:path w="5691188" h="3309938">
                <a:moveTo>
                  <a:pt x="95260" y="0"/>
                </a:moveTo>
                <a:lnTo>
                  <a:pt x="5595927" y="0"/>
                </a:lnTo>
                <a:cubicBezTo>
                  <a:pt x="5648538" y="0"/>
                  <a:pt x="5691188" y="42649"/>
                  <a:pt x="5691188" y="95260"/>
                </a:cubicBezTo>
                <a:lnTo>
                  <a:pt x="5691188" y="3214677"/>
                </a:lnTo>
                <a:cubicBezTo>
                  <a:pt x="5691188" y="3267288"/>
                  <a:pt x="5648538" y="3309938"/>
                  <a:pt x="5595927" y="3309938"/>
                </a:cubicBezTo>
                <a:lnTo>
                  <a:pt x="95260" y="3309938"/>
                </a:lnTo>
                <a:cubicBezTo>
                  <a:pt x="42649" y="3309938"/>
                  <a:pt x="0" y="3267288"/>
                  <a:pt x="0" y="3214677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438" y="3913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31813" y="3992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29766"/>
                </a:moveTo>
                <a:cubicBezTo>
                  <a:pt x="158750" y="45331"/>
                  <a:pt x="140426" y="68554"/>
                  <a:pt x="132519" y="77825"/>
                </a:cubicBezTo>
                <a:cubicBezTo>
                  <a:pt x="131341" y="79189"/>
                  <a:pt x="129604" y="79716"/>
                  <a:pt x="128023" y="79375"/>
                </a:cubicBezTo>
                <a:lnTo>
                  <a:pt x="99219" y="79375"/>
                </a:lnTo>
                <a:cubicBezTo>
                  <a:pt x="93731" y="79375"/>
                  <a:pt x="89297" y="83809"/>
                  <a:pt x="89297" y="89297"/>
                </a:cubicBezTo>
                <a:cubicBezTo>
                  <a:pt x="89297" y="94785"/>
                  <a:pt x="93731" y="99219"/>
                  <a:pt x="99219" y="99219"/>
                </a:cubicBezTo>
                <a:lnTo>
                  <a:pt x="128984" y="99219"/>
                </a:lnTo>
                <a:cubicBezTo>
                  <a:pt x="145417" y="99219"/>
                  <a:pt x="158750" y="112551"/>
                  <a:pt x="158750" y="128984"/>
                </a:cubicBezTo>
                <a:cubicBezTo>
                  <a:pt x="158750" y="145417"/>
                  <a:pt x="145417" y="158750"/>
                  <a:pt x="128984" y="158750"/>
                </a:cubicBezTo>
                <a:lnTo>
                  <a:pt x="43284" y="158750"/>
                </a:lnTo>
                <a:cubicBezTo>
                  <a:pt x="45982" y="155680"/>
                  <a:pt x="49268" y="151743"/>
                  <a:pt x="52586" y="147340"/>
                </a:cubicBezTo>
                <a:cubicBezTo>
                  <a:pt x="54539" y="144735"/>
                  <a:pt x="56555" y="141883"/>
                  <a:pt x="58477" y="138906"/>
                </a:cubicBezTo>
                <a:lnTo>
                  <a:pt x="128984" y="138906"/>
                </a:lnTo>
                <a:cubicBezTo>
                  <a:pt x="134472" y="138906"/>
                  <a:pt x="138906" y="134472"/>
                  <a:pt x="138906" y="128984"/>
                </a:cubicBezTo>
                <a:cubicBezTo>
                  <a:pt x="138906" y="123496"/>
                  <a:pt x="134472" y="119062"/>
                  <a:pt x="128984" y="119062"/>
                </a:cubicBezTo>
                <a:lnTo>
                  <a:pt x="99219" y="119062"/>
                </a:lnTo>
                <a:cubicBezTo>
                  <a:pt x="82786" y="119062"/>
                  <a:pt x="69453" y="105730"/>
                  <a:pt x="69453" y="89297"/>
                </a:cubicBezTo>
                <a:cubicBezTo>
                  <a:pt x="69453" y="72864"/>
                  <a:pt x="82786" y="59531"/>
                  <a:pt x="99219" y="59531"/>
                </a:cubicBezTo>
                <a:lnTo>
                  <a:pt x="111559" y="59531"/>
                </a:lnTo>
                <a:cubicBezTo>
                  <a:pt x="105048" y="49764"/>
                  <a:pt x="99219" y="38540"/>
                  <a:pt x="99219" y="29766"/>
                </a:cubicBezTo>
                <a:cubicBezTo>
                  <a:pt x="99219" y="13333"/>
                  <a:pt x="112551" y="0"/>
                  <a:pt x="128984" y="0"/>
                </a:cubicBezTo>
                <a:cubicBezTo>
                  <a:pt x="145417" y="0"/>
                  <a:pt x="158750" y="13333"/>
                  <a:pt x="158750" y="29766"/>
                </a:cubicBezTo>
                <a:close/>
                <a:moveTo>
                  <a:pt x="36308" y="151650"/>
                </a:moveTo>
                <a:cubicBezTo>
                  <a:pt x="35130" y="152983"/>
                  <a:pt x="34075" y="154161"/>
                  <a:pt x="33176" y="155153"/>
                </a:cubicBezTo>
                <a:lnTo>
                  <a:pt x="32618" y="155773"/>
                </a:lnTo>
                <a:lnTo>
                  <a:pt x="32556" y="155711"/>
                </a:lnTo>
                <a:cubicBezTo>
                  <a:pt x="30696" y="157138"/>
                  <a:pt x="28029" y="156952"/>
                  <a:pt x="26355" y="155153"/>
                </a:cubicBezTo>
                <a:cubicBezTo>
                  <a:pt x="18542" y="146658"/>
                  <a:pt x="0" y="124799"/>
                  <a:pt x="0" y="109141"/>
                </a:cubicBezTo>
                <a:cubicBezTo>
                  <a:pt x="0" y="92708"/>
                  <a:pt x="13333" y="79375"/>
                  <a:pt x="29766" y="79375"/>
                </a:cubicBezTo>
                <a:cubicBezTo>
                  <a:pt x="46199" y="79375"/>
                  <a:pt x="59531" y="92708"/>
                  <a:pt x="59531" y="109141"/>
                </a:cubicBezTo>
                <a:cubicBezTo>
                  <a:pt x="59531" y="118442"/>
                  <a:pt x="52989" y="129915"/>
                  <a:pt x="46044" y="139495"/>
                </a:cubicBezTo>
                <a:cubicBezTo>
                  <a:pt x="42726" y="144053"/>
                  <a:pt x="39315" y="148177"/>
                  <a:pt x="36494" y="151433"/>
                </a:cubicBezTo>
                <a:lnTo>
                  <a:pt x="36308" y="151650"/>
                </a:lnTo>
                <a:close/>
                <a:moveTo>
                  <a:pt x="39688" y="109141"/>
                </a:moveTo>
                <a:cubicBezTo>
                  <a:pt x="39688" y="103665"/>
                  <a:pt x="35242" y="99219"/>
                  <a:pt x="29766" y="99219"/>
                </a:cubicBezTo>
                <a:cubicBezTo>
                  <a:pt x="24290" y="99219"/>
                  <a:pt x="19844" y="103665"/>
                  <a:pt x="19844" y="109141"/>
                </a:cubicBezTo>
                <a:cubicBezTo>
                  <a:pt x="19844" y="114617"/>
                  <a:pt x="24290" y="119062"/>
                  <a:pt x="29766" y="119062"/>
                </a:cubicBezTo>
                <a:cubicBezTo>
                  <a:pt x="35242" y="119062"/>
                  <a:pt x="39688" y="114617"/>
                  <a:pt x="39688" y="109141"/>
                </a:cubicBezTo>
                <a:close/>
                <a:moveTo>
                  <a:pt x="128984" y="39688"/>
                </a:moveTo>
                <a:cubicBezTo>
                  <a:pt x="134460" y="39688"/>
                  <a:pt x="138906" y="35242"/>
                  <a:pt x="138906" y="29766"/>
                </a:cubicBezTo>
                <a:cubicBezTo>
                  <a:pt x="138906" y="24290"/>
                  <a:pt x="134460" y="19844"/>
                  <a:pt x="128984" y="19844"/>
                </a:cubicBezTo>
                <a:cubicBezTo>
                  <a:pt x="123508" y="19844"/>
                  <a:pt x="119062" y="24290"/>
                  <a:pt x="119062" y="29766"/>
                </a:cubicBezTo>
                <a:cubicBezTo>
                  <a:pt x="119062" y="35242"/>
                  <a:pt x="123508" y="39688"/>
                  <a:pt x="128984" y="3968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65188" y="3960813"/>
            <a:ext cx="119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5 bước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2438" y="43259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59222" y="4357688"/>
            <a:ext cx="103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1688" y="4325938"/>
            <a:ext cx="5080000" cy="476250"/>
          </a:xfrm>
          <a:custGeom>
            <a:avLst/>
            <a:gdLst/>
            <a:ahLst/>
            <a:cxnLst/>
            <a:rect l="l" t="t" r="r" b="b"/>
            <a:pathLst>
              <a:path w="5080000" h="476250">
                <a:moveTo>
                  <a:pt x="63498" y="0"/>
                </a:moveTo>
                <a:lnTo>
                  <a:pt x="5016502" y="0"/>
                </a:lnTo>
                <a:cubicBezTo>
                  <a:pt x="5051571" y="0"/>
                  <a:pt x="5080000" y="28429"/>
                  <a:pt x="5080000" y="63498"/>
                </a:cubicBezTo>
                <a:lnTo>
                  <a:pt x="5080000" y="412752"/>
                </a:lnTo>
                <a:cubicBezTo>
                  <a:pt x="5080000" y="447821"/>
                  <a:pt x="5051571" y="476250"/>
                  <a:pt x="5016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865188" y="4389438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Chuẩn bị dữ liệu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5188" y="4579938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Định dạng JSONL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2438" y="48656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47067" y="4897438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1688" y="4865688"/>
            <a:ext cx="5080000" cy="476250"/>
          </a:xfrm>
          <a:custGeom>
            <a:avLst/>
            <a:gdLst/>
            <a:ahLst/>
            <a:cxnLst/>
            <a:rect l="l" t="t" r="r" b="b"/>
            <a:pathLst>
              <a:path w="5080000" h="476250">
                <a:moveTo>
                  <a:pt x="63498" y="0"/>
                </a:moveTo>
                <a:lnTo>
                  <a:pt x="5016502" y="0"/>
                </a:lnTo>
                <a:cubicBezTo>
                  <a:pt x="5051571" y="0"/>
                  <a:pt x="5080000" y="28429"/>
                  <a:pt x="5080000" y="63498"/>
                </a:cubicBezTo>
                <a:lnTo>
                  <a:pt x="5080000" y="412752"/>
                </a:lnTo>
                <a:cubicBezTo>
                  <a:pt x="5080000" y="447821"/>
                  <a:pt x="5051571" y="476250"/>
                  <a:pt x="5016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865188" y="4929188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file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5188" y="5119688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Tải lên hệ thống OpenAI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2438" y="54054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45455" y="5437188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1688" y="5405438"/>
            <a:ext cx="5080000" cy="476250"/>
          </a:xfrm>
          <a:custGeom>
            <a:avLst/>
            <a:gdLst/>
            <a:ahLst/>
            <a:cxnLst/>
            <a:rect l="l" t="t" r="r" b="b"/>
            <a:pathLst>
              <a:path w="5080000" h="476250">
                <a:moveTo>
                  <a:pt x="63498" y="0"/>
                </a:moveTo>
                <a:lnTo>
                  <a:pt x="5016502" y="0"/>
                </a:lnTo>
                <a:cubicBezTo>
                  <a:pt x="5051571" y="0"/>
                  <a:pt x="5080000" y="28429"/>
                  <a:pt x="5080000" y="63498"/>
                </a:cubicBezTo>
                <a:lnTo>
                  <a:pt x="5080000" y="412752"/>
                </a:lnTo>
                <a:cubicBezTo>
                  <a:pt x="5080000" y="447821"/>
                  <a:pt x="5051571" y="476250"/>
                  <a:pt x="5016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865188" y="5468938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Khởi tạo job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5188" y="5659438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Bắt đầu quá trình fine-tuning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2438" y="5945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47067" y="5976938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1688" y="5945188"/>
            <a:ext cx="5080000" cy="476250"/>
          </a:xfrm>
          <a:custGeom>
            <a:avLst/>
            <a:gdLst/>
            <a:ahLst/>
            <a:cxnLst/>
            <a:rect l="l" t="t" r="r" b="b"/>
            <a:pathLst>
              <a:path w="5080000" h="476250">
                <a:moveTo>
                  <a:pt x="63498" y="0"/>
                </a:moveTo>
                <a:lnTo>
                  <a:pt x="5016502" y="0"/>
                </a:lnTo>
                <a:cubicBezTo>
                  <a:pt x="5051571" y="0"/>
                  <a:pt x="5080000" y="28429"/>
                  <a:pt x="5080000" y="63498"/>
                </a:cubicBezTo>
                <a:lnTo>
                  <a:pt x="5080000" y="412752"/>
                </a:lnTo>
                <a:cubicBezTo>
                  <a:pt x="5080000" y="447821"/>
                  <a:pt x="5051571" y="476250"/>
                  <a:pt x="5016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865188" y="6008688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Hoàn tất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5188" y="6199188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ra Custom Model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2438" y="64849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545207" y="6516688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1688" y="6484938"/>
            <a:ext cx="5080000" cy="476250"/>
          </a:xfrm>
          <a:custGeom>
            <a:avLst/>
            <a:gdLst/>
            <a:ahLst/>
            <a:cxnLst/>
            <a:rect l="l" t="t" r="r" b="b"/>
            <a:pathLst>
              <a:path w="5080000" h="476250">
                <a:moveTo>
                  <a:pt x="63498" y="0"/>
                </a:moveTo>
                <a:lnTo>
                  <a:pt x="5016502" y="0"/>
                </a:lnTo>
                <a:cubicBezTo>
                  <a:pt x="5051571" y="0"/>
                  <a:pt x="5080000" y="28429"/>
                  <a:pt x="5080000" y="63498"/>
                </a:cubicBezTo>
                <a:lnTo>
                  <a:pt x="5080000" y="412752"/>
                </a:lnTo>
                <a:cubicBezTo>
                  <a:pt x="5080000" y="447821"/>
                  <a:pt x="5051571" y="476250"/>
                  <a:pt x="5016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3" name="Text 41"/>
          <p:cNvSpPr/>
          <p:nvPr/>
        </p:nvSpPr>
        <p:spPr>
          <a:xfrm>
            <a:off x="865188" y="6548438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Tích hợp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5188" y="6738938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Sử dụng trong ứng dụng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9344" y="1146969"/>
            <a:ext cx="5691188" cy="5357813"/>
          </a:xfrm>
          <a:custGeom>
            <a:avLst/>
            <a:gdLst/>
            <a:ahLst/>
            <a:cxnLst/>
            <a:rect l="l" t="t" r="r" b="b"/>
            <a:pathLst>
              <a:path w="5691188" h="5357813">
                <a:moveTo>
                  <a:pt x="95262" y="0"/>
                </a:moveTo>
                <a:lnTo>
                  <a:pt x="5595926" y="0"/>
                </a:lnTo>
                <a:cubicBezTo>
                  <a:pt x="5648537" y="0"/>
                  <a:pt x="5691188" y="42650"/>
                  <a:pt x="5691188" y="95262"/>
                </a:cubicBezTo>
                <a:lnTo>
                  <a:pt x="5691188" y="5262551"/>
                </a:lnTo>
                <a:cubicBezTo>
                  <a:pt x="5691188" y="5315162"/>
                  <a:pt x="5648537" y="5357813"/>
                  <a:pt x="5595926" y="5357813"/>
                </a:cubicBezTo>
                <a:lnTo>
                  <a:pt x="95262" y="5357813"/>
                </a:lnTo>
                <a:cubicBezTo>
                  <a:pt x="42650" y="5357813"/>
                  <a:pt x="0" y="5315162"/>
                  <a:pt x="0" y="5262551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10313" y="1277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89688" y="1357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8" name="Text 46"/>
          <p:cNvSpPr/>
          <p:nvPr/>
        </p:nvSpPr>
        <p:spPr>
          <a:xfrm>
            <a:off x="6723063" y="1325563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Cơ sở lý thuyết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10313" y="1922983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63498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539752"/>
                </a:lnTo>
                <a:cubicBezTo>
                  <a:pt x="5429250" y="574821"/>
                  <a:pt x="5400821" y="603250"/>
                  <a:pt x="5365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0" name="Text 48"/>
          <p:cNvSpPr/>
          <p:nvPr/>
        </p:nvSpPr>
        <p:spPr>
          <a:xfrm>
            <a:off x="6405563" y="2018233"/>
            <a:ext cx="5302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hoạt động dựa trên việc lấy một </a:t>
            </a:r>
            <a:r>
              <a:rPr lang="en-US" sz="10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hình đã được huấn luyện sẵn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(pre-trained model) và điều chỉnh các </a:t>
            </a:r>
            <a:r>
              <a:rPr lang="en-US" sz="10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trọng số (weights)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bên trong nó thông qua một tập dữ liệu mẫu nhỏ.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10313" y="3086075"/>
            <a:ext cx="5429250" cy="1031875"/>
          </a:xfrm>
          <a:custGeom>
            <a:avLst/>
            <a:gdLst/>
            <a:ahLst/>
            <a:cxnLst/>
            <a:rect l="l" t="t" r="r" b="b"/>
            <a:pathLst>
              <a:path w="5429250" h="1031875">
                <a:moveTo>
                  <a:pt x="63502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968373"/>
                </a:lnTo>
                <a:cubicBezTo>
                  <a:pt x="5429250" y="1003444"/>
                  <a:pt x="5400819" y="1031875"/>
                  <a:pt x="5365748" y="1031875"/>
                </a:cubicBezTo>
                <a:lnTo>
                  <a:pt x="63502" y="1031875"/>
                </a:lnTo>
                <a:cubicBezTo>
                  <a:pt x="28431" y="1031875"/>
                  <a:pt x="0" y="1003444"/>
                  <a:pt x="0" y="9683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Text 50"/>
          <p:cNvSpPr/>
          <p:nvPr/>
        </p:nvSpPr>
        <p:spPr>
          <a:xfrm>
            <a:off x="6405563" y="3181325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Cấu trúc dữ liệu huấn luyện (JSONL)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5563" y="3435325"/>
            <a:ext cx="5238750" cy="587375"/>
          </a:xfrm>
          <a:custGeom>
            <a:avLst/>
            <a:gdLst/>
            <a:ahLst/>
            <a:cxnLst/>
            <a:rect l="l" t="t" r="r" b="b"/>
            <a:pathLst>
              <a:path w="5238750" h="587375">
                <a:moveTo>
                  <a:pt x="63501" y="0"/>
                </a:moveTo>
                <a:lnTo>
                  <a:pt x="5175249" y="0"/>
                </a:lnTo>
                <a:cubicBezTo>
                  <a:pt x="5210320" y="0"/>
                  <a:pt x="5238750" y="28430"/>
                  <a:pt x="5238750" y="63501"/>
                </a:cubicBezTo>
                <a:lnTo>
                  <a:pt x="5238750" y="523874"/>
                </a:lnTo>
                <a:cubicBezTo>
                  <a:pt x="5238750" y="558945"/>
                  <a:pt x="5210320" y="587375"/>
                  <a:pt x="5175249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4" name="Text 52"/>
          <p:cNvSpPr/>
          <p:nvPr/>
        </p:nvSpPr>
        <p:spPr>
          <a:xfrm>
            <a:off x="6500813" y="3530575"/>
            <a:ext cx="5095875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{"messages": [{"role": "system", ...},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00813" y="3663900"/>
            <a:ext cx="5095875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{"role": "user", ...},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0813" y="3797226"/>
            <a:ext cx="5095875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{"role": "assistant", ...}]}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10313" y="4681017"/>
            <a:ext cx="5429250" cy="1460500"/>
          </a:xfrm>
          <a:custGeom>
            <a:avLst/>
            <a:gdLst/>
            <a:ahLst/>
            <a:cxnLst/>
            <a:rect l="l" t="t" r="r" b="b"/>
            <a:pathLst>
              <a:path w="5429250" h="1460500">
                <a:moveTo>
                  <a:pt x="63503" y="0"/>
                </a:moveTo>
                <a:lnTo>
                  <a:pt x="5365747" y="0"/>
                </a:lnTo>
                <a:cubicBezTo>
                  <a:pt x="5400819" y="0"/>
                  <a:pt x="5429250" y="28431"/>
                  <a:pt x="5429250" y="63503"/>
                </a:cubicBezTo>
                <a:lnTo>
                  <a:pt x="5429250" y="1396997"/>
                </a:lnTo>
                <a:cubicBezTo>
                  <a:pt x="5429250" y="1432069"/>
                  <a:pt x="5400819" y="1460500"/>
                  <a:pt x="5365747" y="1460500"/>
                </a:cubicBezTo>
                <a:lnTo>
                  <a:pt x="63503" y="1460500"/>
                </a:lnTo>
                <a:cubicBezTo>
                  <a:pt x="28431" y="1460500"/>
                  <a:pt x="0" y="1432069"/>
                  <a:pt x="0" y="139699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6405563" y="4776267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Hai kỹ thuật học chính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05563" y="5030267"/>
            <a:ext cx="5238750" cy="476250"/>
          </a:xfrm>
          <a:custGeom>
            <a:avLst/>
            <a:gdLst/>
            <a:ahLst/>
            <a:cxnLst/>
            <a:rect l="l" t="t" r="r" b="b"/>
            <a:pathLst>
              <a:path w="5238750" h="476250">
                <a:moveTo>
                  <a:pt x="63498" y="0"/>
                </a:moveTo>
                <a:lnTo>
                  <a:pt x="5175252" y="0"/>
                </a:lnTo>
                <a:cubicBezTo>
                  <a:pt x="5210321" y="0"/>
                  <a:pt x="5238750" y="28429"/>
                  <a:pt x="5238750" y="63498"/>
                </a:cubicBezTo>
                <a:lnTo>
                  <a:pt x="5238750" y="412752"/>
                </a:lnTo>
                <a:cubicBezTo>
                  <a:pt x="5238750" y="447821"/>
                  <a:pt x="5210321" y="476250"/>
                  <a:pt x="517525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0" name="Text 58"/>
          <p:cNvSpPr/>
          <p:nvPr/>
        </p:nvSpPr>
        <p:spPr>
          <a:xfrm>
            <a:off x="6469063" y="5093767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Learning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69063" y="528426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Cung cấp câu trả lờii chính xác, hoàn hảo (weight = 1)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05563" y="5570017"/>
            <a:ext cx="5238750" cy="476250"/>
          </a:xfrm>
          <a:custGeom>
            <a:avLst/>
            <a:gdLst/>
            <a:ahLst/>
            <a:cxnLst/>
            <a:rect l="l" t="t" r="r" b="b"/>
            <a:pathLst>
              <a:path w="5238750" h="476250">
                <a:moveTo>
                  <a:pt x="63498" y="0"/>
                </a:moveTo>
                <a:lnTo>
                  <a:pt x="5175252" y="0"/>
                </a:lnTo>
                <a:cubicBezTo>
                  <a:pt x="5210321" y="0"/>
                  <a:pt x="5238750" y="28429"/>
                  <a:pt x="5238750" y="63498"/>
                </a:cubicBezTo>
                <a:lnTo>
                  <a:pt x="5238750" y="412752"/>
                </a:lnTo>
                <a:cubicBezTo>
                  <a:pt x="5238750" y="447821"/>
                  <a:pt x="5210321" y="476250"/>
                  <a:pt x="517525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3" name="Text 61"/>
          <p:cNvSpPr/>
          <p:nvPr/>
        </p:nvSpPr>
        <p:spPr>
          <a:xfrm>
            <a:off x="6469063" y="5633517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Contrastive Learning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69063" y="5824017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Xây dựng kịch bản câu trả lờii sai (weight = 0) → điều chỉnh → đúng (weight = 1)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9344" y="6639719"/>
            <a:ext cx="5691188" cy="452438"/>
          </a:xfrm>
          <a:custGeom>
            <a:avLst/>
            <a:gdLst/>
            <a:ahLst/>
            <a:cxnLst/>
            <a:rect l="l" t="t" r="r" b="b"/>
            <a:pathLst>
              <a:path w="5691188" h="452438">
                <a:moveTo>
                  <a:pt x="95252" y="0"/>
                </a:moveTo>
                <a:lnTo>
                  <a:pt x="5595936" y="0"/>
                </a:lnTo>
                <a:cubicBezTo>
                  <a:pt x="5648542" y="0"/>
                  <a:pt x="5691188" y="42646"/>
                  <a:pt x="5691188" y="95252"/>
                </a:cubicBezTo>
                <a:lnTo>
                  <a:pt x="5691188" y="357186"/>
                </a:lnTo>
                <a:cubicBezTo>
                  <a:pt x="5691187" y="409792"/>
                  <a:pt x="5648542" y="452438"/>
                  <a:pt x="5595936" y="452438"/>
                </a:cubicBezTo>
                <a:lnTo>
                  <a:pt x="95252" y="452438"/>
                </a:lnTo>
                <a:cubicBezTo>
                  <a:pt x="42681" y="452438"/>
                  <a:pt x="0" y="409757"/>
                  <a:pt x="0" y="357186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>
                  <a:alpha val="10000"/>
                </a:srgbClr>
              </a:gs>
              <a:gs pos="100000">
                <a:srgbClr val="10B981">
                  <a:alpha val="10000"/>
                </a:srgbClr>
              </a:gs>
            </a:gsLst>
            <a:lin ang="0" scaled="1"/>
          </a:gradFill>
          <a:ln w="1270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26188" y="68024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67" name="Text 65"/>
          <p:cNvSpPr/>
          <p:nvPr/>
        </p:nvSpPr>
        <p:spPr>
          <a:xfrm>
            <a:off x="6508750" y="6770688"/>
            <a:ext cx="529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giúp mô hình </a:t>
            </a:r>
            <a:r>
              <a:rPr lang="en-US" sz="1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chuyên biệt hóa</a:t>
            </a: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mà không cần prompt phức tạp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es.cloudinary.com/431028e6c874730265891a4b91a3e6aaa754f79b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68" r="1468"/>
          <a:stretch/>
        </p:blipFill>
        <p:spPr>
          <a:xfrm>
            <a:off x="0" y="0"/>
            <a:ext cx="12192000" cy="685685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854"/>
          </a:xfrm>
          <a:custGeom>
            <a:avLst/>
            <a:gdLst/>
            <a:ahLst/>
            <a:cxnLst/>
            <a:rect l="l" t="t" r="r" b="b"/>
            <a:pathLst>
              <a:path w="12192000" h="6856854">
                <a:moveTo>
                  <a:pt x="0" y="0"/>
                </a:moveTo>
                <a:lnTo>
                  <a:pt x="12192000" y="0"/>
                </a:lnTo>
                <a:lnTo>
                  <a:pt x="12192000" y="6856854"/>
                </a:lnTo>
                <a:lnTo>
                  <a:pt x="0" y="6856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3B82F6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1260" y="-120316"/>
            <a:ext cx="1191699" cy="375844"/>
          </a:xfrm>
          <a:custGeom>
            <a:avLst/>
            <a:gdLst/>
            <a:ahLst/>
            <a:cxnLst/>
            <a:rect l="l" t="t" r="r" b="b"/>
            <a:pathLst>
              <a:path w="1191699" h="375844">
                <a:moveTo>
                  <a:pt x="187922" y="0"/>
                </a:moveTo>
                <a:lnTo>
                  <a:pt x="1003777" y="0"/>
                </a:lnTo>
                <a:cubicBezTo>
                  <a:pt x="1107494" y="0"/>
                  <a:pt x="1191699" y="84205"/>
                  <a:pt x="1191699" y="187922"/>
                </a:cubicBezTo>
                <a:lnTo>
                  <a:pt x="1191699" y="187922"/>
                </a:lnTo>
                <a:cubicBezTo>
                  <a:pt x="1191699" y="291639"/>
                  <a:pt x="1107494" y="375844"/>
                  <a:pt x="1003777" y="375844"/>
                </a:cubicBezTo>
                <a:lnTo>
                  <a:pt x="187922" y="375844"/>
                </a:lnTo>
                <a:cubicBezTo>
                  <a:pt x="84135" y="375844"/>
                  <a:pt x="0" y="291708"/>
                  <a:pt x="0" y="187922"/>
                </a:cubicBezTo>
                <a:lnTo>
                  <a:pt x="0" y="187922"/>
                </a:lnTo>
                <a:cubicBezTo>
                  <a:pt x="0" y="84135"/>
                  <a:pt x="84135" y="0"/>
                  <a:pt x="18792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5850" y="-14896"/>
            <a:ext cx="813134" cy="16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kern="0" spc="58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LUẬN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6677" y="626788"/>
            <a:ext cx="11678653" cy="110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6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Nâng cao lập trình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465" b="1" dirty="0">
                <a:solidFill>
                  <a:srgbClr val="FFFFFF">
                    <a:alpha val="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với GenAI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6677" y="1946824"/>
            <a:ext cx="1173365" cy="0"/>
          </a:xfrm>
          <a:custGeom>
            <a:avLst/>
            <a:gdLst/>
            <a:ahLst/>
            <a:cxnLst/>
            <a:rect l="l" t="t" r="r" b="b"/>
            <a:pathLst>
              <a:path w="1173365">
                <a:moveTo>
                  <a:pt x="0" y="0"/>
                </a:moveTo>
                <a:lnTo>
                  <a:pt x="1173365" y="0"/>
                </a:lnTo>
                <a:lnTo>
                  <a:pt x="117336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371260" y="2171414"/>
            <a:ext cx="5646821" cy="962526"/>
          </a:xfrm>
          <a:custGeom>
            <a:avLst/>
            <a:gdLst/>
            <a:ahLst/>
            <a:cxnLst/>
            <a:rect l="l" t="t" r="r" b="b"/>
            <a:pathLst>
              <a:path w="5646821" h="962526">
                <a:moveTo>
                  <a:pt x="110007" y="0"/>
                </a:moveTo>
                <a:lnTo>
                  <a:pt x="5536814" y="0"/>
                </a:lnTo>
                <a:cubicBezTo>
                  <a:pt x="5597569" y="0"/>
                  <a:pt x="5646821" y="49252"/>
                  <a:pt x="5646821" y="110007"/>
                </a:cubicBezTo>
                <a:lnTo>
                  <a:pt x="5646821" y="852519"/>
                </a:lnTo>
                <a:cubicBezTo>
                  <a:pt x="5646821" y="913274"/>
                  <a:pt x="5597569" y="962526"/>
                  <a:pt x="5536814" y="962526"/>
                </a:cubicBezTo>
                <a:lnTo>
                  <a:pt x="110007" y="962526"/>
                </a:lnTo>
                <a:cubicBezTo>
                  <a:pt x="49252" y="962526"/>
                  <a:pt x="0" y="913274"/>
                  <a:pt x="0" y="852519"/>
                </a:cubicBezTo>
                <a:lnTo>
                  <a:pt x="0" y="110007"/>
                </a:lnTo>
                <a:cubicBezTo>
                  <a:pt x="0" y="49293"/>
                  <a:pt x="49293" y="0"/>
                  <a:pt x="11000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2514" y="2322668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14183" y="2414337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42970" y="20053"/>
                </a:moveTo>
                <a:cubicBezTo>
                  <a:pt x="42970" y="8988"/>
                  <a:pt x="51958" y="0"/>
                  <a:pt x="63023" y="0"/>
                </a:cubicBezTo>
                <a:lnTo>
                  <a:pt x="71617" y="0"/>
                </a:lnTo>
                <a:cubicBezTo>
                  <a:pt x="77955" y="0"/>
                  <a:pt x="83075" y="5121"/>
                  <a:pt x="83075" y="11459"/>
                </a:cubicBezTo>
                <a:lnTo>
                  <a:pt x="83075" y="171880"/>
                </a:lnTo>
                <a:cubicBezTo>
                  <a:pt x="83075" y="178218"/>
                  <a:pt x="77955" y="183338"/>
                  <a:pt x="71617" y="183338"/>
                </a:cubicBezTo>
                <a:lnTo>
                  <a:pt x="60158" y="183338"/>
                </a:lnTo>
                <a:cubicBezTo>
                  <a:pt x="49487" y="183338"/>
                  <a:pt x="40499" y="176033"/>
                  <a:pt x="37957" y="166150"/>
                </a:cubicBezTo>
                <a:cubicBezTo>
                  <a:pt x="37706" y="166150"/>
                  <a:pt x="37491" y="166150"/>
                  <a:pt x="37241" y="166150"/>
                </a:cubicBezTo>
                <a:cubicBezTo>
                  <a:pt x="21413" y="166150"/>
                  <a:pt x="8594" y="153331"/>
                  <a:pt x="8594" y="137504"/>
                </a:cubicBezTo>
                <a:cubicBezTo>
                  <a:pt x="8594" y="131058"/>
                  <a:pt x="10742" y="125114"/>
                  <a:pt x="14323" y="120316"/>
                </a:cubicBezTo>
                <a:cubicBezTo>
                  <a:pt x="7377" y="115088"/>
                  <a:pt x="2865" y="106780"/>
                  <a:pt x="2865" y="97398"/>
                </a:cubicBezTo>
                <a:cubicBezTo>
                  <a:pt x="2865" y="86334"/>
                  <a:pt x="9167" y="76701"/>
                  <a:pt x="18334" y="71939"/>
                </a:cubicBezTo>
                <a:cubicBezTo>
                  <a:pt x="15791" y="67642"/>
                  <a:pt x="14323" y="62629"/>
                  <a:pt x="14323" y="57293"/>
                </a:cubicBezTo>
                <a:cubicBezTo>
                  <a:pt x="14323" y="41466"/>
                  <a:pt x="27143" y="28647"/>
                  <a:pt x="42970" y="28647"/>
                </a:cubicBezTo>
                <a:lnTo>
                  <a:pt x="42970" y="20053"/>
                </a:lnTo>
                <a:close/>
                <a:moveTo>
                  <a:pt x="140368" y="20053"/>
                </a:moveTo>
                <a:lnTo>
                  <a:pt x="140368" y="28647"/>
                </a:lnTo>
                <a:cubicBezTo>
                  <a:pt x="156196" y="28647"/>
                  <a:pt x="169015" y="41466"/>
                  <a:pt x="169015" y="57293"/>
                </a:cubicBezTo>
                <a:cubicBezTo>
                  <a:pt x="169015" y="62664"/>
                  <a:pt x="167547" y="67678"/>
                  <a:pt x="165005" y="71939"/>
                </a:cubicBezTo>
                <a:cubicBezTo>
                  <a:pt x="174207" y="76701"/>
                  <a:pt x="180474" y="86298"/>
                  <a:pt x="180474" y="97398"/>
                </a:cubicBezTo>
                <a:cubicBezTo>
                  <a:pt x="180474" y="106780"/>
                  <a:pt x="175962" y="115088"/>
                  <a:pt x="169015" y="120316"/>
                </a:cubicBezTo>
                <a:cubicBezTo>
                  <a:pt x="172596" y="125114"/>
                  <a:pt x="174744" y="131058"/>
                  <a:pt x="174744" y="137504"/>
                </a:cubicBezTo>
                <a:cubicBezTo>
                  <a:pt x="174744" y="153331"/>
                  <a:pt x="161925" y="166150"/>
                  <a:pt x="146098" y="166150"/>
                </a:cubicBezTo>
                <a:cubicBezTo>
                  <a:pt x="145847" y="166150"/>
                  <a:pt x="145632" y="166150"/>
                  <a:pt x="145382" y="166150"/>
                </a:cubicBezTo>
                <a:cubicBezTo>
                  <a:pt x="142839" y="176033"/>
                  <a:pt x="133851" y="183338"/>
                  <a:pt x="123180" y="183338"/>
                </a:cubicBezTo>
                <a:lnTo>
                  <a:pt x="111722" y="183338"/>
                </a:lnTo>
                <a:cubicBezTo>
                  <a:pt x="105384" y="183338"/>
                  <a:pt x="100263" y="178218"/>
                  <a:pt x="100263" y="171880"/>
                </a:cubicBezTo>
                <a:lnTo>
                  <a:pt x="100263" y="11459"/>
                </a:lnTo>
                <a:cubicBezTo>
                  <a:pt x="100263" y="5121"/>
                  <a:pt x="105384" y="0"/>
                  <a:pt x="111722" y="0"/>
                </a:cubicBezTo>
                <a:lnTo>
                  <a:pt x="120316" y="0"/>
                </a:lnTo>
                <a:cubicBezTo>
                  <a:pt x="131381" y="0"/>
                  <a:pt x="140368" y="8988"/>
                  <a:pt x="140368" y="2005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999194" y="2377669"/>
            <a:ext cx="2071723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Hiểu cách LLM hoạt động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2514" y="2762680"/>
            <a:ext cx="541764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hình n-gram, vai trò của ngữ cảnh trong sinh văn bản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2773" y="2171414"/>
            <a:ext cx="5646821" cy="962526"/>
          </a:xfrm>
          <a:custGeom>
            <a:avLst/>
            <a:gdLst/>
            <a:ahLst/>
            <a:cxnLst/>
            <a:rect l="l" t="t" r="r" b="b"/>
            <a:pathLst>
              <a:path w="5646821" h="962526">
                <a:moveTo>
                  <a:pt x="110007" y="0"/>
                </a:moveTo>
                <a:lnTo>
                  <a:pt x="5536814" y="0"/>
                </a:lnTo>
                <a:cubicBezTo>
                  <a:pt x="5597569" y="0"/>
                  <a:pt x="5646821" y="49252"/>
                  <a:pt x="5646821" y="110007"/>
                </a:cubicBezTo>
                <a:lnTo>
                  <a:pt x="5646821" y="852519"/>
                </a:lnTo>
                <a:cubicBezTo>
                  <a:pt x="5646821" y="913274"/>
                  <a:pt x="5597569" y="962526"/>
                  <a:pt x="5536814" y="962526"/>
                </a:cubicBezTo>
                <a:lnTo>
                  <a:pt x="110007" y="962526"/>
                </a:lnTo>
                <a:cubicBezTo>
                  <a:pt x="49252" y="962526"/>
                  <a:pt x="0" y="913274"/>
                  <a:pt x="0" y="852519"/>
                </a:cubicBezTo>
                <a:lnTo>
                  <a:pt x="0" y="110007"/>
                </a:lnTo>
                <a:cubicBezTo>
                  <a:pt x="0" y="49293"/>
                  <a:pt x="49293" y="0"/>
                  <a:pt x="11000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27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24027" y="2322668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404238" y="2414337"/>
            <a:ext cx="206256" cy="183338"/>
          </a:xfrm>
          <a:custGeom>
            <a:avLst/>
            <a:gdLst/>
            <a:ahLst/>
            <a:cxnLst/>
            <a:rect l="l" t="t" r="r" b="b"/>
            <a:pathLst>
              <a:path w="206256" h="183338">
                <a:moveTo>
                  <a:pt x="129196" y="430"/>
                </a:moveTo>
                <a:cubicBezTo>
                  <a:pt x="123109" y="-1325"/>
                  <a:pt x="116771" y="2220"/>
                  <a:pt x="115016" y="8308"/>
                </a:cubicBezTo>
                <a:lnTo>
                  <a:pt x="69182" y="168729"/>
                </a:lnTo>
                <a:cubicBezTo>
                  <a:pt x="67427" y="174816"/>
                  <a:pt x="70972" y="181154"/>
                  <a:pt x="77059" y="182909"/>
                </a:cubicBezTo>
                <a:cubicBezTo>
                  <a:pt x="83147" y="184663"/>
                  <a:pt x="89485" y="181118"/>
                  <a:pt x="91239" y="175031"/>
                </a:cubicBezTo>
                <a:lnTo>
                  <a:pt x="137074" y="14610"/>
                </a:lnTo>
                <a:cubicBezTo>
                  <a:pt x="138829" y="8522"/>
                  <a:pt x="135284" y="2184"/>
                  <a:pt x="129196" y="430"/>
                </a:cubicBezTo>
                <a:close/>
                <a:moveTo>
                  <a:pt x="152328" y="49165"/>
                </a:moveTo>
                <a:cubicBezTo>
                  <a:pt x="147852" y="53641"/>
                  <a:pt x="147852" y="60910"/>
                  <a:pt x="152328" y="65386"/>
                </a:cubicBezTo>
                <a:lnTo>
                  <a:pt x="178612" y="91669"/>
                </a:lnTo>
                <a:lnTo>
                  <a:pt x="152328" y="117952"/>
                </a:lnTo>
                <a:cubicBezTo>
                  <a:pt x="147852" y="122428"/>
                  <a:pt x="147852" y="129698"/>
                  <a:pt x="152328" y="134174"/>
                </a:cubicBezTo>
                <a:cubicBezTo>
                  <a:pt x="156804" y="138650"/>
                  <a:pt x="164073" y="138650"/>
                  <a:pt x="168550" y="134174"/>
                </a:cubicBezTo>
                <a:lnTo>
                  <a:pt x="202925" y="99798"/>
                </a:lnTo>
                <a:cubicBezTo>
                  <a:pt x="207402" y="95322"/>
                  <a:pt x="207402" y="88053"/>
                  <a:pt x="202925" y="83577"/>
                </a:cubicBezTo>
                <a:lnTo>
                  <a:pt x="168550" y="49201"/>
                </a:lnTo>
                <a:cubicBezTo>
                  <a:pt x="164073" y="44725"/>
                  <a:pt x="156804" y="44725"/>
                  <a:pt x="152328" y="49201"/>
                </a:cubicBezTo>
                <a:close/>
                <a:moveTo>
                  <a:pt x="53963" y="49165"/>
                </a:moveTo>
                <a:cubicBezTo>
                  <a:pt x="49487" y="44689"/>
                  <a:pt x="42218" y="44689"/>
                  <a:pt x="37742" y="49165"/>
                </a:cubicBezTo>
                <a:lnTo>
                  <a:pt x="3366" y="83541"/>
                </a:lnTo>
                <a:cubicBezTo>
                  <a:pt x="-1110" y="88017"/>
                  <a:pt x="-1110" y="95286"/>
                  <a:pt x="3366" y="99762"/>
                </a:cubicBezTo>
                <a:lnTo>
                  <a:pt x="37742" y="134138"/>
                </a:lnTo>
                <a:cubicBezTo>
                  <a:pt x="42218" y="138614"/>
                  <a:pt x="49487" y="138614"/>
                  <a:pt x="53963" y="134138"/>
                </a:cubicBezTo>
                <a:cubicBezTo>
                  <a:pt x="58439" y="129662"/>
                  <a:pt x="58439" y="122393"/>
                  <a:pt x="53963" y="117917"/>
                </a:cubicBezTo>
                <a:lnTo>
                  <a:pt x="27680" y="91669"/>
                </a:lnTo>
                <a:lnTo>
                  <a:pt x="53927" y="65386"/>
                </a:lnTo>
                <a:cubicBezTo>
                  <a:pt x="58403" y="60910"/>
                  <a:pt x="58403" y="53641"/>
                  <a:pt x="53927" y="4916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6800707" y="2377669"/>
            <a:ext cx="226422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Xây dựng ứng dụng thực tế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24027" y="2762680"/>
            <a:ext cx="541764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Manhattan Distance API với Flask, logging, error handling, Swagger UI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1260" y="3289777"/>
            <a:ext cx="5646821" cy="962526"/>
          </a:xfrm>
          <a:custGeom>
            <a:avLst/>
            <a:gdLst/>
            <a:ahLst/>
            <a:cxnLst/>
            <a:rect l="l" t="t" r="r" b="b"/>
            <a:pathLst>
              <a:path w="5646821" h="962526">
                <a:moveTo>
                  <a:pt x="110007" y="0"/>
                </a:moveTo>
                <a:lnTo>
                  <a:pt x="5536814" y="0"/>
                </a:lnTo>
                <a:cubicBezTo>
                  <a:pt x="5597569" y="0"/>
                  <a:pt x="5646821" y="49252"/>
                  <a:pt x="5646821" y="110007"/>
                </a:cubicBezTo>
                <a:lnTo>
                  <a:pt x="5646821" y="852519"/>
                </a:lnTo>
                <a:cubicBezTo>
                  <a:pt x="5646821" y="913274"/>
                  <a:pt x="5597569" y="962526"/>
                  <a:pt x="5536814" y="962526"/>
                </a:cubicBezTo>
                <a:lnTo>
                  <a:pt x="110007" y="962526"/>
                </a:lnTo>
                <a:cubicBezTo>
                  <a:pt x="49252" y="962526"/>
                  <a:pt x="0" y="913274"/>
                  <a:pt x="0" y="852519"/>
                </a:cubicBezTo>
                <a:lnTo>
                  <a:pt x="0" y="110007"/>
                </a:lnTo>
                <a:cubicBezTo>
                  <a:pt x="0" y="49293"/>
                  <a:pt x="49293" y="0"/>
                  <a:pt x="11000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2514" y="3441032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14183" y="3532701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42696" y="4369"/>
                </a:moveTo>
                <a:lnTo>
                  <a:pt x="111113" y="35952"/>
                </a:lnTo>
                <a:lnTo>
                  <a:pt x="147387" y="72225"/>
                </a:lnTo>
                <a:lnTo>
                  <a:pt x="178970" y="40642"/>
                </a:lnTo>
                <a:cubicBezTo>
                  <a:pt x="181763" y="37814"/>
                  <a:pt x="183338" y="34018"/>
                  <a:pt x="183338" y="30079"/>
                </a:cubicBezTo>
                <a:cubicBezTo>
                  <a:pt x="183338" y="26140"/>
                  <a:pt x="181763" y="22344"/>
                  <a:pt x="178970" y="19516"/>
                </a:cubicBezTo>
                <a:lnTo>
                  <a:pt x="163823" y="4369"/>
                </a:lnTo>
                <a:cubicBezTo>
                  <a:pt x="160994" y="1576"/>
                  <a:pt x="157198" y="0"/>
                  <a:pt x="153259" y="0"/>
                </a:cubicBezTo>
                <a:cubicBezTo>
                  <a:pt x="149320" y="0"/>
                  <a:pt x="145525" y="1576"/>
                  <a:pt x="142696" y="4369"/>
                </a:cubicBezTo>
                <a:close/>
                <a:moveTo>
                  <a:pt x="98974" y="48091"/>
                </a:moveTo>
                <a:lnTo>
                  <a:pt x="4369" y="142696"/>
                </a:lnTo>
                <a:cubicBezTo>
                  <a:pt x="1576" y="145525"/>
                  <a:pt x="0" y="149320"/>
                  <a:pt x="0" y="153259"/>
                </a:cubicBezTo>
                <a:cubicBezTo>
                  <a:pt x="0" y="157198"/>
                  <a:pt x="1576" y="160994"/>
                  <a:pt x="4369" y="163823"/>
                </a:cubicBezTo>
                <a:lnTo>
                  <a:pt x="19516" y="178970"/>
                </a:lnTo>
                <a:cubicBezTo>
                  <a:pt x="22344" y="181763"/>
                  <a:pt x="26140" y="183338"/>
                  <a:pt x="30079" y="183338"/>
                </a:cubicBezTo>
                <a:cubicBezTo>
                  <a:pt x="34018" y="183338"/>
                  <a:pt x="37814" y="181763"/>
                  <a:pt x="40642" y="178970"/>
                </a:cubicBezTo>
                <a:lnTo>
                  <a:pt x="135248" y="84364"/>
                </a:lnTo>
                <a:lnTo>
                  <a:pt x="98974" y="4809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999194" y="3496033"/>
            <a:ext cx="232839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Kỹ thuật Prompt Engineering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2514" y="3881044"/>
            <a:ext cx="541764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Learning, Chain-of-Thought, Prompt Chaining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2773" y="3289777"/>
            <a:ext cx="5646821" cy="962526"/>
          </a:xfrm>
          <a:custGeom>
            <a:avLst/>
            <a:gdLst/>
            <a:ahLst/>
            <a:cxnLst/>
            <a:rect l="l" t="t" r="r" b="b"/>
            <a:pathLst>
              <a:path w="5646821" h="962526">
                <a:moveTo>
                  <a:pt x="110007" y="0"/>
                </a:moveTo>
                <a:lnTo>
                  <a:pt x="5536814" y="0"/>
                </a:lnTo>
                <a:cubicBezTo>
                  <a:pt x="5597569" y="0"/>
                  <a:pt x="5646821" y="49252"/>
                  <a:pt x="5646821" y="110007"/>
                </a:cubicBezTo>
                <a:lnTo>
                  <a:pt x="5646821" y="852519"/>
                </a:lnTo>
                <a:cubicBezTo>
                  <a:pt x="5646821" y="913274"/>
                  <a:pt x="5597569" y="962526"/>
                  <a:pt x="5536814" y="962526"/>
                </a:cubicBezTo>
                <a:lnTo>
                  <a:pt x="110007" y="962526"/>
                </a:lnTo>
                <a:cubicBezTo>
                  <a:pt x="49252" y="962526"/>
                  <a:pt x="0" y="913274"/>
                  <a:pt x="0" y="852519"/>
                </a:cubicBezTo>
                <a:lnTo>
                  <a:pt x="0" y="110007"/>
                </a:lnTo>
                <a:cubicBezTo>
                  <a:pt x="0" y="49293"/>
                  <a:pt x="49293" y="0"/>
                  <a:pt x="11000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24027" y="3441032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04238" y="3532701"/>
            <a:ext cx="206256" cy="183338"/>
          </a:xfrm>
          <a:custGeom>
            <a:avLst/>
            <a:gdLst/>
            <a:ahLst/>
            <a:cxnLst/>
            <a:rect l="l" t="t" r="r" b="b"/>
            <a:pathLst>
              <a:path w="206256" h="183338">
                <a:moveTo>
                  <a:pt x="80246" y="34770"/>
                </a:moveTo>
                <a:lnTo>
                  <a:pt x="80246" y="52531"/>
                </a:lnTo>
                <a:lnTo>
                  <a:pt x="80425" y="52710"/>
                </a:lnTo>
                <a:cubicBezTo>
                  <a:pt x="82753" y="23204"/>
                  <a:pt x="107425" y="0"/>
                  <a:pt x="137540" y="0"/>
                </a:cubicBezTo>
                <a:cubicBezTo>
                  <a:pt x="144737" y="0"/>
                  <a:pt x="151648" y="1325"/>
                  <a:pt x="157986" y="3760"/>
                </a:cubicBezTo>
                <a:cubicBezTo>
                  <a:pt x="161567" y="5121"/>
                  <a:pt x="162211" y="9668"/>
                  <a:pt x="159526" y="12390"/>
                </a:cubicBezTo>
                <a:lnTo>
                  <a:pt x="127764" y="44152"/>
                </a:lnTo>
                <a:cubicBezTo>
                  <a:pt x="126690" y="45226"/>
                  <a:pt x="126081" y="46694"/>
                  <a:pt x="126081" y="48198"/>
                </a:cubicBezTo>
                <a:lnTo>
                  <a:pt x="126081" y="63023"/>
                </a:lnTo>
                <a:cubicBezTo>
                  <a:pt x="126081" y="66174"/>
                  <a:pt x="128659" y="68752"/>
                  <a:pt x="131810" y="68752"/>
                </a:cubicBezTo>
                <a:lnTo>
                  <a:pt x="146635" y="68752"/>
                </a:lnTo>
                <a:cubicBezTo>
                  <a:pt x="148139" y="68752"/>
                  <a:pt x="149607" y="68143"/>
                  <a:pt x="150681" y="67069"/>
                </a:cubicBezTo>
                <a:lnTo>
                  <a:pt x="182443" y="35307"/>
                </a:lnTo>
                <a:cubicBezTo>
                  <a:pt x="185165" y="32586"/>
                  <a:pt x="189712" y="33266"/>
                  <a:pt x="191073" y="36847"/>
                </a:cubicBezTo>
                <a:cubicBezTo>
                  <a:pt x="193508" y="43185"/>
                  <a:pt x="194833" y="50096"/>
                  <a:pt x="194833" y="57293"/>
                </a:cubicBezTo>
                <a:cubicBezTo>
                  <a:pt x="194833" y="78993"/>
                  <a:pt x="182765" y="97900"/>
                  <a:pt x="164933" y="107604"/>
                </a:cubicBezTo>
                <a:lnTo>
                  <a:pt x="194117" y="136788"/>
                </a:lnTo>
                <a:cubicBezTo>
                  <a:pt x="200813" y="143484"/>
                  <a:pt x="200813" y="154369"/>
                  <a:pt x="194117" y="161101"/>
                </a:cubicBezTo>
                <a:lnTo>
                  <a:pt x="172596" y="182622"/>
                </a:lnTo>
                <a:cubicBezTo>
                  <a:pt x="165900" y="189318"/>
                  <a:pt x="155014" y="189318"/>
                  <a:pt x="148282" y="182622"/>
                </a:cubicBezTo>
                <a:lnTo>
                  <a:pt x="103164" y="137504"/>
                </a:lnTo>
                <a:cubicBezTo>
                  <a:pt x="93352" y="127692"/>
                  <a:pt x="91132" y="113190"/>
                  <a:pt x="96539" y="101230"/>
                </a:cubicBezTo>
                <a:lnTo>
                  <a:pt x="64061" y="68752"/>
                </a:lnTo>
                <a:lnTo>
                  <a:pt x="46300" y="68752"/>
                </a:lnTo>
                <a:cubicBezTo>
                  <a:pt x="42469" y="68752"/>
                  <a:pt x="38888" y="66854"/>
                  <a:pt x="36775" y="63667"/>
                </a:cubicBezTo>
                <a:lnTo>
                  <a:pt x="8379" y="21091"/>
                </a:lnTo>
                <a:cubicBezTo>
                  <a:pt x="6875" y="18835"/>
                  <a:pt x="7162" y="15791"/>
                  <a:pt x="9095" y="13858"/>
                </a:cubicBezTo>
                <a:lnTo>
                  <a:pt x="25352" y="-2399"/>
                </a:lnTo>
                <a:cubicBezTo>
                  <a:pt x="27286" y="-4333"/>
                  <a:pt x="30294" y="-4619"/>
                  <a:pt x="32586" y="-3115"/>
                </a:cubicBezTo>
                <a:lnTo>
                  <a:pt x="75162" y="25245"/>
                </a:lnTo>
                <a:cubicBezTo>
                  <a:pt x="78348" y="27358"/>
                  <a:pt x="80246" y="30938"/>
                  <a:pt x="80246" y="34770"/>
                </a:cubicBezTo>
                <a:close/>
                <a:moveTo>
                  <a:pt x="77203" y="106207"/>
                </a:moveTo>
                <a:cubicBezTo>
                  <a:pt x="74947" y="119456"/>
                  <a:pt x="78062" y="133457"/>
                  <a:pt x="86656" y="144665"/>
                </a:cubicBezTo>
                <a:lnTo>
                  <a:pt x="52638" y="178647"/>
                </a:lnTo>
                <a:cubicBezTo>
                  <a:pt x="42576" y="188710"/>
                  <a:pt x="26247" y="188710"/>
                  <a:pt x="16185" y="178647"/>
                </a:cubicBezTo>
                <a:cubicBezTo>
                  <a:pt x="6123" y="168585"/>
                  <a:pt x="6123" y="152257"/>
                  <a:pt x="16185" y="142195"/>
                </a:cubicBezTo>
                <a:lnTo>
                  <a:pt x="64670" y="93710"/>
                </a:lnTo>
                <a:lnTo>
                  <a:pt x="77203" y="10624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6800707" y="3496033"/>
            <a:ext cx="2355898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Tái cấu trúc mã (Refactoring)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24027" y="3881044"/>
            <a:ext cx="541764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Readability, Structure, Performance với ChatGPT và Copilot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71260" y="4408141"/>
            <a:ext cx="11449480" cy="962526"/>
          </a:xfrm>
          <a:custGeom>
            <a:avLst/>
            <a:gdLst/>
            <a:ahLst/>
            <a:cxnLst/>
            <a:rect l="l" t="t" r="r" b="b"/>
            <a:pathLst>
              <a:path w="11449480" h="962526">
                <a:moveTo>
                  <a:pt x="110007" y="0"/>
                </a:moveTo>
                <a:lnTo>
                  <a:pt x="11339473" y="0"/>
                </a:lnTo>
                <a:cubicBezTo>
                  <a:pt x="11400228" y="0"/>
                  <a:pt x="11449480" y="49252"/>
                  <a:pt x="11449480" y="110007"/>
                </a:cubicBezTo>
                <a:lnTo>
                  <a:pt x="11449480" y="852519"/>
                </a:lnTo>
                <a:cubicBezTo>
                  <a:pt x="11449480" y="913274"/>
                  <a:pt x="11400228" y="962526"/>
                  <a:pt x="11339473" y="962526"/>
                </a:cubicBezTo>
                <a:lnTo>
                  <a:pt x="110007" y="962526"/>
                </a:lnTo>
                <a:cubicBezTo>
                  <a:pt x="49252" y="962526"/>
                  <a:pt x="0" y="913274"/>
                  <a:pt x="0" y="852519"/>
                </a:cubicBezTo>
                <a:lnTo>
                  <a:pt x="0" y="110007"/>
                </a:lnTo>
                <a:cubicBezTo>
                  <a:pt x="0" y="49293"/>
                  <a:pt x="49293" y="0"/>
                  <a:pt x="11000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270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22514" y="4559395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14183" y="4651065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1459" y="22917"/>
                </a:moveTo>
                <a:cubicBezTo>
                  <a:pt x="5121" y="22917"/>
                  <a:pt x="0" y="28038"/>
                  <a:pt x="0" y="34376"/>
                </a:cubicBezTo>
                <a:cubicBezTo>
                  <a:pt x="0" y="40714"/>
                  <a:pt x="5121" y="45835"/>
                  <a:pt x="11459" y="45835"/>
                </a:cubicBezTo>
                <a:lnTo>
                  <a:pt x="42504" y="45835"/>
                </a:lnTo>
                <a:cubicBezTo>
                  <a:pt x="46909" y="55968"/>
                  <a:pt x="57007" y="63023"/>
                  <a:pt x="68752" y="63023"/>
                </a:cubicBezTo>
                <a:cubicBezTo>
                  <a:pt x="80497" y="63023"/>
                  <a:pt x="90595" y="55968"/>
                  <a:pt x="94999" y="45835"/>
                </a:cubicBezTo>
                <a:lnTo>
                  <a:pt x="171880" y="45835"/>
                </a:lnTo>
                <a:cubicBezTo>
                  <a:pt x="178218" y="45835"/>
                  <a:pt x="183338" y="40714"/>
                  <a:pt x="183338" y="34376"/>
                </a:cubicBezTo>
                <a:cubicBezTo>
                  <a:pt x="183338" y="28038"/>
                  <a:pt x="178218" y="22917"/>
                  <a:pt x="171880" y="22917"/>
                </a:cubicBezTo>
                <a:lnTo>
                  <a:pt x="94999" y="22917"/>
                </a:lnTo>
                <a:cubicBezTo>
                  <a:pt x="90595" y="12784"/>
                  <a:pt x="80497" y="5729"/>
                  <a:pt x="68752" y="5729"/>
                </a:cubicBezTo>
                <a:cubicBezTo>
                  <a:pt x="57007" y="5729"/>
                  <a:pt x="46909" y="12784"/>
                  <a:pt x="42504" y="22917"/>
                </a:cubicBezTo>
                <a:lnTo>
                  <a:pt x="11459" y="22917"/>
                </a:lnTo>
                <a:close/>
                <a:moveTo>
                  <a:pt x="11459" y="80211"/>
                </a:moveTo>
                <a:cubicBezTo>
                  <a:pt x="5121" y="80211"/>
                  <a:pt x="0" y="85331"/>
                  <a:pt x="0" y="91669"/>
                </a:cubicBezTo>
                <a:cubicBezTo>
                  <a:pt x="0" y="98007"/>
                  <a:pt x="5121" y="103128"/>
                  <a:pt x="11459" y="103128"/>
                </a:cubicBezTo>
                <a:lnTo>
                  <a:pt x="99798" y="103128"/>
                </a:lnTo>
                <a:cubicBezTo>
                  <a:pt x="104202" y="113262"/>
                  <a:pt x="114300" y="120316"/>
                  <a:pt x="126045" y="120316"/>
                </a:cubicBezTo>
                <a:cubicBezTo>
                  <a:pt x="137790" y="120316"/>
                  <a:pt x="147888" y="113262"/>
                  <a:pt x="152293" y="103128"/>
                </a:cubicBezTo>
                <a:lnTo>
                  <a:pt x="171880" y="103128"/>
                </a:lnTo>
                <a:cubicBezTo>
                  <a:pt x="178218" y="103128"/>
                  <a:pt x="183338" y="98007"/>
                  <a:pt x="183338" y="91669"/>
                </a:cubicBezTo>
                <a:cubicBezTo>
                  <a:pt x="183338" y="85331"/>
                  <a:pt x="178218" y="80211"/>
                  <a:pt x="171880" y="80211"/>
                </a:cubicBezTo>
                <a:lnTo>
                  <a:pt x="152293" y="80211"/>
                </a:lnTo>
                <a:cubicBezTo>
                  <a:pt x="147888" y="70077"/>
                  <a:pt x="137790" y="63023"/>
                  <a:pt x="126045" y="63023"/>
                </a:cubicBezTo>
                <a:cubicBezTo>
                  <a:pt x="114300" y="63023"/>
                  <a:pt x="104202" y="70077"/>
                  <a:pt x="99798" y="80211"/>
                </a:cubicBezTo>
                <a:lnTo>
                  <a:pt x="11459" y="80211"/>
                </a:lnTo>
                <a:close/>
                <a:moveTo>
                  <a:pt x="11459" y="137504"/>
                </a:moveTo>
                <a:cubicBezTo>
                  <a:pt x="5121" y="137504"/>
                  <a:pt x="0" y="142624"/>
                  <a:pt x="0" y="148962"/>
                </a:cubicBezTo>
                <a:cubicBezTo>
                  <a:pt x="0" y="155300"/>
                  <a:pt x="5121" y="160421"/>
                  <a:pt x="11459" y="160421"/>
                </a:cubicBezTo>
                <a:lnTo>
                  <a:pt x="31046" y="160421"/>
                </a:lnTo>
                <a:cubicBezTo>
                  <a:pt x="35450" y="170555"/>
                  <a:pt x="45548" y="177609"/>
                  <a:pt x="57293" y="177609"/>
                </a:cubicBezTo>
                <a:cubicBezTo>
                  <a:pt x="69038" y="177609"/>
                  <a:pt x="79136" y="170555"/>
                  <a:pt x="83541" y="160421"/>
                </a:cubicBezTo>
                <a:lnTo>
                  <a:pt x="171880" y="160421"/>
                </a:lnTo>
                <a:cubicBezTo>
                  <a:pt x="178218" y="160421"/>
                  <a:pt x="183338" y="155300"/>
                  <a:pt x="183338" y="148962"/>
                </a:cubicBezTo>
                <a:cubicBezTo>
                  <a:pt x="183338" y="142624"/>
                  <a:pt x="178218" y="137504"/>
                  <a:pt x="171880" y="137504"/>
                </a:cubicBezTo>
                <a:lnTo>
                  <a:pt x="83541" y="137504"/>
                </a:lnTo>
                <a:cubicBezTo>
                  <a:pt x="79136" y="127370"/>
                  <a:pt x="69038" y="120316"/>
                  <a:pt x="57293" y="120316"/>
                </a:cubicBezTo>
                <a:cubicBezTo>
                  <a:pt x="45548" y="120316"/>
                  <a:pt x="35450" y="127370"/>
                  <a:pt x="31046" y="137504"/>
                </a:cubicBezTo>
                <a:lnTo>
                  <a:pt x="11459" y="13750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1" name="Text 28"/>
          <p:cNvSpPr/>
          <p:nvPr/>
        </p:nvSpPr>
        <p:spPr>
          <a:xfrm>
            <a:off x="999194" y="4614397"/>
            <a:ext cx="260340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Tinh chỉnh mô hình (Fine-tuning)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22514" y="4999408"/>
            <a:ext cx="1122030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Chuyên biệt hóa hành vi LLM với OpenAI Fine-Tuning API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71260" y="5599841"/>
            <a:ext cx="11449480" cy="568349"/>
          </a:xfrm>
          <a:custGeom>
            <a:avLst/>
            <a:gdLst/>
            <a:ahLst/>
            <a:cxnLst/>
            <a:rect l="l" t="t" r="r" b="b"/>
            <a:pathLst>
              <a:path w="11449480" h="568349">
                <a:moveTo>
                  <a:pt x="110004" y="0"/>
                </a:moveTo>
                <a:lnTo>
                  <a:pt x="11339476" y="0"/>
                </a:lnTo>
                <a:cubicBezTo>
                  <a:pt x="11400229" y="0"/>
                  <a:pt x="11449480" y="49250"/>
                  <a:pt x="11449480" y="110004"/>
                </a:cubicBezTo>
                <a:lnTo>
                  <a:pt x="11449480" y="458345"/>
                </a:lnTo>
                <a:cubicBezTo>
                  <a:pt x="11449480" y="519098"/>
                  <a:pt x="11400229" y="568349"/>
                  <a:pt x="11339476" y="568349"/>
                </a:cubicBezTo>
                <a:lnTo>
                  <a:pt x="110004" y="568349"/>
                </a:lnTo>
                <a:cubicBezTo>
                  <a:pt x="49291" y="568349"/>
                  <a:pt x="0" y="519058"/>
                  <a:pt x="0" y="458345"/>
                </a:cubicBezTo>
                <a:lnTo>
                  <a:pt x="0" y="110004"/>
                </a:lnTo>
                <a:cubicBezTo>
                  <a:pt x="0" y="49250"/>
                  <a:pt x="49250" y="0"/>
                  <a:pt x="1100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22947" y="5787762"/>
            <a:ext cx="144379" cy="165005"/>
          </a:xfrm>
          <a:custGeom>
            <a:avLst/>
            <a:gdLst/>
            <a:ahLst/>
            <a:cxnLst/>
            <a:rect l="l" t="t" r="r" b="b"/>
            <a:pathLst>
              <a:path w="144379" h="165005">
                <a:moveTo>
                  <a:pt x="0" y="69611"/>
                </a:moveTo>
                <a:cubicBezTo>
                  <a:pt x="0" y="48244"/>
                  <a:pt x="17306" y="30938"/>
                  <a:pt x="38673" y="30938"/>
                </a:cubicBezTo>
                <a:lnTo>
                  <a:pt x="41251" y="30938"/>
                </a:lnTo>
                <a:cubicBezTo>
                  <a:pt x="46955" y="30938"/>
                  <a:pt x="51564" y="35547"/>
                  <a:pt x="51564" y="41251"/>
                </a:cubicBezTo>
                <a:cubicBezTo>
                  <a:pt x="51564" y="46955"/>
                  <a:pt x="46955" y="51564"/>
                  <a:pt x="41251" y="51564"/>
                </a:cubicBezTo>
                <a:lnTo>
                  <a:pt x="38673" y="51564"/>
                </a:lnTo>
                <a:cubicBezTo>
                  <a:pt x="28715" y="51564"/>
                  <a:pt x="20626" y="59653"/>
                  <a:pt x="20626" y="69611"/>
                </a:cubicBezTo>
                <a:lnTo>
                  <a:pt x="20626" y="72189"/>
                </a:lnTo>
                <a:lnTo>
                  <a:pt x="41251" y="72189"/>
                </a:lnTo>
                <a:cubicBezTo>
                  <a:pt x="52627" y="72189"/>
                  <a:pt x="61877" y="81439"/>
                  <a:pt x="61877" y="92815"/>
                </a:cubicBezTo>
                <a:lnTo>
                  <a:pt x="61877" y="113441"/>
                </a:lnTo>
                <a:cubicBezTo>
                  <a:pt x="61877" y="124817"/>
                  <a:pt x="52627" y="134066"/>
                  <a:pt x="41251" y="134066"/>
                </a:cubicBezTo>
                <a:lnTo>
                  <a:pt x="20626" y="134066"/>
                </a:lnTo>
                <a:cubicBezTo>
                  <a:pt x="9249" y="134066"/>
                  <a:pt x="0" y="124817"/>
                  <a:pt x="0" y="113441"/>
                </a:cubicBezTo>
                <a:lnTo>
                  <a:pt x="0" y="69611"/>
                </a:lnTo>
                <a:close/>
                <a:moveTo>
                  <a:pt x="82502" y="69611"/>
                </a:moveTo>
                <a:cubicBezTo>
                  <a:pt x="82502" y="48244"/>
                  <a:pt x="99808" y="30938"/>
                  <a:pt x="121175" y="30938"/>
                </a:cubicBezTo>
                <a:lnTo>
                  <a:pt x="123753" y="30938"/>
                </a:lnTo>
                <a:cubicBezTo>
                  <a:pt x="129458" y="30938"/>
                  <a:pt x="134066" y="35547"/>
                  <a:pt x="134066" y="41251"/>
                </a:cubicBezTo>
                <a:cubicBezTo>
                  <a:pt x="134066" y="46955"/>
                  <a:pt x="129458" y="51564"/>
                  <a:pt x="123753" y="51564"/>
                </a:cubicBezTo>
                <a:lnTo>
                  <a:pt x="121175" y="51564"/>
                </a:lnTo>
                <a:cubicBezTo>
                  <a:pt x="111217" y="51564"/>
                  <a:pt x="103128" y="59653"/>
                  <a:pt x="103128" y="69611"/>
                </a:cubicBezTo>
                <a:lnTo>
                  <a:pt x="103128" y="72189"/>
                </a:lnTo>
                <a:lnTo>
                  <a:pt x="123753" y="72189"/>
                </a:lnTo>
                <a:cubicBezTo>
                  <a:pt x="135130" y="72189"/>
                  <a:pt x="144379" y="81439"/>
                  <a:pt x="144379" y="92815"/>
                </a:cubicBezTo>
                <a:lnTo>
                  <a:pt x="144379" y="113441"/>
                </a:lnTo>
                <a:cubicBezTo>
                  <a:pt x="144379" y="124817"/>
                  <a:pt x="135130" y="134066"/>
                  <a:pt x="123753" y="134066"/>
                </a:cubicBezTo>
                <a:lnTo>
                  <a:pt x="103128" y="134066"/>
                </a:lnTo>
                <a:cubicBezTo>
                  <a:pt x="91752" y="134066"/>
                  <a:pt x="82502" y="124817"/>
                  <a:pt x="82502" y="113441"/>
                </a:cubicBezTo>
                <a:lnTo>
                  <a:pt x="82502" y="6961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2"/>
          <p:cNvSpPr/>
          <p:nvPr/>
        </p:nvSpPr>
        <p:spPr>
          <a:xfrm>
            <a:off x="745036" y="5751095"/>
            <a:ext cx="10965701" cy="265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99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GenAI là công cụ mạnh mẽ</a:t>
            </a:r>
            <a:r>
              <a:rPr lang="en-US" sz="1299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giúp tăng năng suất lập trình, nhưng đòi hỏi </a:t>
            </a:r>
            <a:r>
              <a:rPr lang="en-US" sz="1299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kỹ năng sử dụng đúng cách</a:t>
            </a:r>
            <a:r>
              <a:rPr lang="en-US" sz="1299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và </a:t>
            </a:r>
            <a:r>
              <a:rPr lang="en-US" sz="1299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soát chất lượng</a:t>
            </a:r>
            <a:r>
              <a:rPr lang="en-US" sz="1299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output.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11675" y="6395071"/>
            <a:ext cx="11568650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Cảm ơn đã lắng nghe!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30009" y="676174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Lớp DCT122C3 - Tháng 3 năm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es.cloudinary.com/431028e6c874730265891a4b91a3e6aaa754f79b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68" r="1468"/>
          <a:stretch/>
        </p:blipFill>
        <p:spPr>
          <a:xfrm>
            <a:off x="0" y="0"/>
            <a:ext cx="12192000" cy="685685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854"/>
          </a:xfrm>
          <a:custGeom>
            <a:avLst/>
            <a:gdLst/>
            <a:ahLst/>
            <a:cxnLst/>
            <a:rect l="l" t="t" r="r" b="b"/>
            <a:pathLst>
              <a:path w="12192000" h="6856854">
                <a:moveTo>
                  <a:pt x="0" y="0"/>
                </a:moveTo>
                <a:lnTo>
                  <a:pt x="12192000" y="0"/>
                </a:lnTo>
                <a:lnTo>
                  <a:pt x="12192000" y="6856854"/>
                </a:lnTo>
                <a:lnTo>
                  <a:pt x="0" y="6856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3B82F6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366677" y="1946824"/>
            <a:ext cx="1173365" cy="0"/>
          </a:xfrm>
          <a:custGeom>
            <a:avLst/>
            <a:gdLst/>
            <a:ahLst/>
            <a:cxnLst/>
            <a:rect l="l" t="t" r="r" b="b"/>
            <a:pathLst>
              <a:path w="1173365">
                <a:moveTo>
                  <a:pt x="0" y="0"/>
                </a:moveTo>
                <a:lnTo>
                  <a:pt x="1173365" y="0"/>
                </a:lnTo>
                <a:lnTo>
                  <a:pt x="117336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316258" y="1700968"/>
            <a:ext cx="11509065" cy="3359809"/>
          </a:xfrm>
          <a:custGeom>
            <a:avLst/>
            <a:gdLst/>
            <a:ahLst/>
            <a:cxnLst/>
            <a:rect l="l" t="t" r="r" b="b"/>
            <a:pathLst>
              <a:path w="5646821" h="962526">
                <a:moveTo>
                  <a:pt x="110007" y="0"/>
                </a:moveTo>
                <a:lnTo>
                  <a:pt x="5536814" y="0"/>
                </a:lnTo>
                <a:cubicBezTo>
                  <a:pt x="5597569" y="0"/>
                  <a:pt x="5646821" y="49252"/>
                  <a:pt x="5646821" y="110007"/>
                </a:cubicBezTo>
                <a:lnTo>
                  <a:pt x="5646821" y="852519"/>
                </a:lnTo>
                <a:cubicBezTo>
                  <a:pt x="5646821" y="913274"/>
                  <a:pt x="5597569" y="962526"/>
                  <a:pt x="5536814" y="962526"/>
                </a:cubicBezTo>
                <a:lnTo>
                  <a:pt x="110007" y="962526"/>
                </a:lnTo>
                <a:cubicBezTo>
                  <a:pt x="49252" y="962526"/>
                  <a:pt x="0" y="913274"/>
                  <a:pt x="0" y="852519"/>
                </a:cubicBezTo>
                <a:lnTo>
                  <a:pt x="0" y="110007"/>
                </a:lnTo>
                <a:cubicBezTo>
                  <a:pt x="0" y="49293"/>
                  <a:pt x="49293" y="0"/>
                  <a:pt x="110007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0" y="3234203"/>
            <a:ext cx="11568650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Cảm ơn đã lắng nghe!</a:t>
            </a:r>
            <a:endParaRPr lang="en-US" sz="4800" dirty="0"/>
          </a:p>
        </p:txBody>
      </p:sp>
      <p:sp>
        <p:nvSpPr>
          <p:cNvPr id="37" name="Text 34"/>
          <p:cNvSpPr/>
          <p:nvPr/>
        </p:nvSpPr>
        <p:spPr>
          <a:xfrm>
            <a:off x="330009" y="676174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Lớp DCT122C3 - Tháng 3 năm 2026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7753439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5176</Words>
  <Application>Microsoft Office PowerPoint</Application>
  <PresentationFormat>Widescreen</PresentationFormat>
  <Paragraphs>787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Hedvig Letters Sans</vt:lpstr>
      <vt:lpstr>Quattrocento Sans</vt:lpstr>
      <vt:lpstr>Calibri</vt:lpstr>
      <vt:lpstr>Liter</vt:lpstr>
      <vt:lpstr>Noto Sans SC</vt:lpstr>
      <vt:lpstr>微软雅黑</vt:lpstr>
      <vt:lpstr>MiSans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Nâng cao lập trình với GenAI</dc:title>
  <dc:subject>Nâng cao lập trình với GenAI</dc:subject>
  <dc:creator>Kimi</dc:creator>
  <cp:lastModifiedBy>Dell-15</cp:lastModifiedBy>
  <cp:revision>2</cp:revision>
  <dcterms:created xsi:type="dcterms:W3CDTF">2026-03-19T13:57:42Z</dcterms:created>
  <dcterms:modified xsi:type="dcterms:W3CDTF">2026-03-19T14:17:13Z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{"Label":"Nâng cao lập trình với GenAI","ContentProducer":"001191110108MACG2KBH8F10000","ProduceID":"19d06546-40b2-825b-8000-00006f266932","ReservedCode1":"","ContentPropagator":"001191110108MACG2KBH8F20000","PropagateID":"19d06546-40b2-825b-8000-00006f266932","ReservedCode2":""}</vt:lpwstr>
  </property>
</Properties>
</file>