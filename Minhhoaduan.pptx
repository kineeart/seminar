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embeddedFontLst>
    <p:embeddedFont>
      <p:font typeface="MiSans" charset="-122" pitchFamily="34"/>
      <p:regular r:id="rId5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59"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https://kimi-web-img.moonshot.cn/img/img.freepik.com/1d334e2a6b50e5d7e209c70c6e125a81f813ee8b.jpg">    </p:cNvPr>
          <p:cNvPicPr>
            <a:picLocks noChangeAspect="1"/>
          </p:cNvPicPr>
          <p:nvPr/>
        </p:nvPicPr>
        <p:blipFill>
          <a:blip r:embed="rId1">
            <a:alphaModFix amt="40000"/>
          </a:blip>
          <a:srcRect l="160" r="16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0000"/>
                </a:srgbClr>
              </a:gs>
              <a:gs pos="50000">
                <a:srgbClr val="0F172A">
                  <a:alpha val="80000"/>
                </a:srgbClr>
              </a:gs>
              <a:gs pos="100000">
                <a:srgbClr val="3B82F6">
                  <a:alpha val="30000"/>
                </a:srgbClr>
              </a:gs>
            </a:gsLst>
            <a:lin ang="2700000" scaled="1"/>
          </a:gradFill>
          <a:ln/>
        </p:spPr>
      </p:sp>
      <p:sp>
        <p:nvSpPr>
          <p:cNvPr id="4" name="Shape 1"/>
          <p:cNvSpPr/>
          <p:nvPr/>
        </p:nvSpPr>
        <p:spPr>
          <a:xfrm>
            <a:off x="4773513" y="966788"/>
            <a:ext cx="2647950" cy="390525"/>
          </a:xfrm>
          <a:custGeom>
            <a:avLst/>
            <a:gdLst/>
            <a:ahLst/>
            <a:cxnLst/>
            <a:rect l="l" t="t" r="r" b="b"/>
            <a:pathLst>
              <a:path w="2647950" h="390525">
                <a:moveTo>
                  <a:pt x="195263" y="0"/>
                </a:moveTo>
                <a:lnTo>
                  <a:pt x="2452688" y="0"/>
                </a:lnTo>
                <a:cubicBezTo>
                  <a:pt x="2560456" y="0"/>
                  <a:pt x="2647950" y="87494"/>
                  <a:pt x="2647950" y="195263"/>
                </a:cubicBezTo>
                <a:lnTo>
                  <a:pt x="2647950" y="195263"/>
                </a:lnTo>
                <a:cubicBezTo>
                  <a:pt x="2647950" y="303031"/>
                  <a:pt x="2560456" y="390525"/>
                  <a:pt x="2452688" y="390525"/>
                </a:cubicBezTo>
                <a:lnTo>
                  <a:pt x="195263" y="390525"/>
                </a:lnTo>
                <a:cubicBezTo>
                  <a:pt x="87494" y="390525"/>
                  <a:pt x="0" y="303031"/>
                  <a:pt x="0" y="195263"/>
                </a:cubicBezTo>
                <a:lnTo>
                  <a:pt x="0" y="195263"/>
                </a:lnTo>
                <a:cubicBezTo>
                  <a:pt x="0" y="87494"/>
                  <a:pt x="87494" y="0"/>
                  <a:pt x="195262" y="0"/>
                </a:cubicBezTo>
                <a:close/>
              </a:path>
            </a:pathLst>
          </a:custGeom>
          <a:solidFill>
            <a:srgbClr val="3B82F6">
              <a:alpha val="20000"/>
            </a:srgbClr>
          </a:solidFill>
          <a:ln w="12700">
            <a:solidFill>
              <a:srgbClr val="3B82F6">
                <a:alpha val="50196"/>
              </a:srgbClr>
            </a:solidFill>
            <a:prstDash val="solid"/>
          </a:ln>
        </p:spPr>
      </p:sp>
      <p:sp>
        <p:nvSpPr>
          <p:cNvPr id="5" name="Text 2"/>
          <p:cNvSpPr/>
          <p:nvPr/>
        </p:nvSpPr>
        <p:spPr>
          <a:xfrm>
            <a:off x="4973538" y="1076325"/>
            <a:ext cx="2244923" cy="180975"/>
          </a:xfrm>
          <a:prstGeom prst="rect">
            <a:avLst/>
          </a:prstGeom>
          <a:noFill/>
          <a:ln/>
        </p:spPr>
        <p:txBody>
          <a:bodyPr wrap="square" lIns="0" tIns="0" rIns="0" bIns="0" rtlCol="0" anchor="ctr"/>
          <a:lstStyle/>
          <a:p>
            <a:pPr algn="ctr">
              <a:lnSpc>
                <a:spcPct val="120000"/>
              </a:lnSpc>
            </a:pPr>
            <a:r>
              <a:rPr lang="en-US" sz="1050" b="1" spc="53" kern="0" dirty="0">
                <a:solidFill>
                  <a:srgbClr val="3B82F6"/>
                </a:solidFill>
                <a:latin typeface="MiSans" pitchFamily="34" charset="0"/>
                <a:ea typeface="MiSans" pitchFamily="34" charset="-122"/>
                <a:cs typeface="MiSans" pitchFamily="34" charset="-120"/>
              </a:rPr>
              <a:t>BÀI TẬP NHÓM | LỚP DCT122C3</a:t>
            </a:r>
            <a:endParaRPr lang="en-US" sz="1600" dirty="0"/>
          </a:p>
        </p:txBody>
      </p:sp>
      <p:sp>
        <p:nvSpPr>
          <p:cNvPr id="6" name="Text 3"/>
          <p:cNvSpPr/>
          <p:nvPr/>
        </p:nvSpPr>
        <p:spPr>
          <a:xfrm>
            <a:off x="2660452" y="1562100"/>
            <a:ext cx="6871097" cy="904875"/>
          </a:xfrm>
          <a:prstGeom prst="rect">
            <a:avLst/>
          </a:prstGeom>
          <a:noFill/>
          <a:ln/>
        </p:spPr>
        <p:txBody>
          <a:bodyPr wrap="square" lIns="0" tIns="0" rIns="0" bIns="0" rtlCol="0" anchor="ctr"/>
          <a:lstStyle/>
          <a:p>
            <a:pPr algn="ctr">
              <a:lnSpc>
                <a:spcPct val="100000"/>
              </a:lnSpc>
            </a:pPr>
            <a:r>
              <a:rPr lang="en-US" sz="5400" b="1" dirty="0">
                <a:gradFill rotWithShape="1" flip="none">
                  <a:gsLst>
                    <a:gs pos="0">
                      <a:srgbClr val="3B82F6"/>
                    </a:gs>
                    <a:gs pos="50000">
                      <a:srgbClr val="8B5CF6"/>
                    </a:gs>
                    <a:gs pos="100000">
                      <a:srgbClr val="10B981"/>
                    </a:gs>
                  </a:gsLst>
                  <a:lin ang="0" scaled="1"/>
                </a:gradFill>
                <a:latin typeface="MiSans" pitchFamily="34" charset="0"/>
                <a:ea typeface="MiSans" pitchFamily="34" charset="-122"/>
                <a:cs typeface="MiSans" pitchFamily="34" charset="-120"/>
              </a:rPr>
              <a:t>Xây dựng phần mềm</a:t>
            </a:r>
            <a:endParaRPr lang="en-US" sz="1600" dirty="0"/>
          </a:p>
        </p:txBody>
      </p:sp>
      <p:sp>
        <p:nvSpPr>
          <p:cNvPr id="7" name="Text 4"/>
          <p:cNvSpPr/>
          <p:nvPr/>
        </p:nvSpPr>
        <p:spPr>
          <a:xfrm>
            <a:off x="4072533" y="2419350"/>
            <a:ext cx="4046934" cy="904875"/>
          </a:xfrm>
          <a:prstGeom prst="rect">
            <a:avLst/>
          </a:prstGeom>
          <a:noFill/>
          <a:ln/>
        </p:spPr>
        <p:txBody>
          <a:bodyPr wrap="square" lIns="0" tIns="0" rIns="0" bIns="0" rtlCol="0" anchor="ctr"/>
          <a:lstStyle/>
          <a:p>
            <a:pPr algn="ctr">
              <a:lnSpc>
                <a:spcPct val="100000"/>
              </a:lnSpc>
            </a:pPr>
            <a:r>
              <a:rPr lang="en-US" sz="5400" b="1" dirty="0">
                <a:solidFill>
                  <a:srgbClr val="F1F5F9"/>
                </a:solidFill>
                <a:latin typeface="MiSans" pitchFamily="34" charset="0"/>
                <a:ea typeface="MiSans" pitchFamily="34" charset="-122"/>
                <a:cs typeface="MiSans" pitchFamily="34" charset="-120"/>
              </a:rPr>
              <a:t>dùng GenAI</a:t>
            </a:r>
            <a:endParaRPr lang="en-US" sz="1600" dirty="0"/>
          </a:p>
        </p:txBody>
      </p:sp>
      <p:sp>
        <p:nvSpPr>
          <p:cNvPr id="8" name="Text 5"/>
          <p:cNvSpPr/>
          <p:nvPr/>
        </p:nvSpPr>
        <p:spPr>
          <a:xfrm>
            <a:off x="2774752" y="3533775"/>
            <a:ext cx="6638925" cy="609600"/>
          </a:xfrm>
          <a:prstGeom prst="rect">
            <a:avLst/>
          </a:prstGeom>
          <a:noFill/>
          <a:ln/>
        </p:spPr>
        <p:txBody>
          <a:bodyPr wrap="square" lIns="0" tIns="0" rIns="0" bIns="0" rtlCol="0" anchor="ctr"/>
          <a:lstStyle/>
          <a:p>
            <a:pPr algn="ctr">
              <a:lnSpc>
                <a:spcPct val="110000"/>
              </a:lnSpc>
            </a:pPr>
            <a:r>
              <a:rPr lang="en-US" sz="1800" dirty="0">
                <a:solidFill>
                  <a:srgbClr val="F1F5F9">
                    <a:alpha val="80000"/>
                  </a:srgbClr>
                </a:solidFill>
                <a:latin typeface="MiSans" pitchFamily="34" charset="0"/>
                <a:ea typeface="MiSans" pitchFamily="34" charset="-122"/>
                <a:cs typeface="MiSans" pitchFamily="34" charset="-120"/>
              </a:rPr>
              <a:t>Nâng cao lập trình với Generative AI</a:t>
            </a:r>
            <a:endParaRPr lang="en-US" sz="1600" dirty="0"/>
          </a:p>
          <a:p>
            <a:pPr algn="ctr">
              <a:lnSpc>
                <a:spcPct val="110000"/>
              </a:lnSpc>
            </a:pPr>
            <a:r>
              <a:rPr lang="en-US" sz="1800" dirty="0">
                <a:solidFill>
                  <a:srgbClr val="F1F5F9">
                    <a:alpha val="80000"/>
                  </a:srgbClr>
                </a:solidFill>
                <a:latin typeface="MiSans" pitchFamily="34" charset="0"/>
                <a:ea typeface="MiSans" pitchFamily="34" charset="-122"/>
                <a:cs typeface="MiSans" pitchFamily="34" charset="-120"/>
              </a:rPr>
              <a:t>Từ lý thuyết đến thực hành</a:t>
            </a:r>
            <a:endParaRPr lang="en-US" sz="1600" dirty="0"/>
          </a:p>
        </p:txBody>
      </p:sp>
      <p:sp>
        <p:nvSpPr>
          <p:cNvPr id="9" name="Text 6"/>
          <p:cNvSpPr/>
          <p:nvPr/>
        </p:nvSpPr>
        <p:spPr>
          <a:xfrm>
            <a:off x="3304133" y="4981575"/>
            <a:ext cx="5581650" cy="266700"/>
          </a:xfrm>
          <a:prstGeom prst="rect">
            <a:avLst/>
          </a:prstGeom>
          <a:noFill/>
          <a:ln/>
        </p:spPr>
        <p:txBody>
          <a:bodyPr wrap="square" lIns="0" tIns="0" rIns="0" bIns="0" rtlCol="0" anchor="ctr"/>
          <a:lstStyle/>
          <a:p>
            <a:pPr algn="ctr">
              <a:lnSpc>
                <a:spcPct val="130000"/>
              </a:lnSpc>
            </a:pPr>
            <a:r>
              <a:rPr lang="en-US" sz="1350" dirty="0">
                <a:solidFill>
                  <a:srgbClr val="F1F5F9">
                    <a:alpha val="70000"/>
                  </a:srgbClr>
                </a:solidFill>
                <a:latin typeface="MiSans" pitchFamily="34" charset="0"/>
                <a:ea typeface="MiSans" pitchFamily="34" charset="-122"/>
                <a:cs typeface="MiSans" pitchFamily="34" charset="-120"/>
              </a:rPr>
              <a:t>Nhóm sinh viên:</a:t>
            </a:r>
            <a:endParaRPr lang="en-US" sz="1600" dirty="0"/>
          </a:p>
        </p:txBody>
      </p:sp>
      <p:sp>
        <p:nvSpPr>
          <p:cNvPr id="10" name="Text 7"/>
          <p:cNvSpPr/>
          <p:nvPr/>
        </p:nvSpPr>
        <p:spPr>
          <a:xfrm>
            <a:off x="3308896" y="5324475"/>
            <a:ext cx="5572125" cy="228600"/>
          </a:xfrm>
          <a:prstGeom prst="rect">
            <a:avLst/>
          </a:prstGeom>
          <a:noFill/>
          <a:ln/>
        </p:spPr>
        <p:txBody>
          <a:bodyPr wrap="square" lIns="0" tIns="0" rIns="0" bIns="0" rtlCol="0" anchor="ctr"/>
          <a:lstStyle/>
          <a:p>
            <a:pPr algn="ctr">
              <a:lnSpc>
                <a:spcPct val="130000"/>
              </a:lnSpc>
            </a:pPr>
            <a:r>
              <a:rPr lang="en-US" sz="1200" dirty="0">
                <a:solidFill>
                  <a:srgbClr val="F1F5F9">
                    <a:alpha val="60000"/>
                  </a:srgbClr>
                </a:solidFill>
                <a:latin typeface="MiSans" pitchFamily="34" charset="0"/>
                <a:ea typeface="MiSans" pitchFamily="34" charset="-122"/>
                <a:cs typeface="MiSans" pitchFamily="34" charset="-120"/>
              </a:rPr>
              <a:t>Nguyễn Minh Kiên | Phạm Nhật Phương | Lê Nhựt Huy | Phạm Nguyễn Thế Hào</a:t>
            </a:r>
            <a:endParaRPr lang="en-US" sz="1600" dirty="0"/>
          </a:p>
        </p:txBody>
      </p:sp>
      <p:sp>
        <p:nvSpPr>
          <p:cNvPr id="11" name="Text 8"/>
          <p:cNvSpPr/>
          <p:nvPr/>
        </p:nvSpPr>
        <p:spPr>
          <a:xfrm>
            <a:off x="3313658" y="5705475"/>
            <a:ext cx="5562600" cy="190500"/>
          </a:xfrm>
          <a:prstGeom prst="rect">
            <a:avLst/>
          </a:prstGeom>
          <a:noFill/>
          <a:ln/>
        </p:spPr>
        <p:txBody>
          <a:bodyPr wrap="square" lIns="0" tIns="0" rIns="0" bIns="0" rtlCol="0" anchor="ctr"/>
          <a:lstStyle/>
          <a:p>
            <a:pPr algn="ctr">
              <a:lnSpc>
                <a:spcPct val="120000"/>
              </a:lnSpc>
            </a:pPr>
            <a:r>
              <a:rPr lang="en-US" sz="1050" dirty="0">
                <a:solidFill>
                  <a:srgbClr val="F1F5F9">
                    <a:alpha val="50000"/>
                  </a:srgbClr>
                </a:solidFill>
                <a:latin typeface="MiSans" pitchFamily="34" charset="0"/>
                <a:ea typeface="MiSans" pitchFamily="34" charset="-122"/>
                <a:cs typeface="MiSans" pitchFamily="34" charset="-120"/>
              </a:rPr>
              <a:t>TP. Hồ Chí Minh, tháng 3 năm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381000" y="381000"/>
            <a:ext cx="11658600" cy="457200"/>
          </a:xfrm>
          <a:prstGeom prst="rect">
            <a:avLst/>
          </a:prstGeom>
          <a:noFill/>
          <a:ln/>
        </p:spPr>
        <p:txBody>
          <a:bodyPr wrap="square" lIns="0" tIns="0" rIns="0" bIns="0" rtlCol="0" anchor="ctr"/>
          <a:lstStyle/>
          <a:p>
            <a:pPr>
              <a:lnSpc>
                <a:spcPct val="80000"/>
              </a:lnSpc>
            </a:pPr>
            <a:r>
              <a:rPr lang="en-US" sz="3600" b="1" dirty="0">
                <a:solidFill>
                  <a:srgbClr val="F1F5F9"/>
                </a:solidFill>
                <a:latin typeface="MiSans" pitchFamily="34" charset="0"/>
                <a:ea typeface="MiSans" pitchFamily="34" charset="-122"/>
                <a:cs typeface="MiSans" pitchFamily="34" charset="-120"/>
              </a:rPr>
              <a:t>Mục lục</a:t>
            </a:r>
            <a:endParaRPr lang="en-US" sz="1600" dirty="0"/>
          </a:p>
        </p:txBody>
      </p:sp>
      <p:sp>
        <p:nvSpPr>
          <p:cNvPr id="3" name="Shape 1"/>
          <p:cNvSpPr/>
          <p:nvPr/>
        </p:nvSpPr>
        <p:spPr>
          <a:xfrm>
            <a:off x="381000" y="9144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gradFill rotWithShape="1" flip="none">
            <a:gsLst>
              <a:gs pos="0">
                <a:srgbClr val="3B82F6"/>
              </a:gs>
              <a:gs pos="100000">
                <a:srgbClr val="8B5CF6"/>
              </a:gs>
            </a:gsLst>
            <a:lin ang="0" scaled="1"/>
          </a:gradFill>
          <a:ln/>
        </p:spPr>
      </p:sp>
      <p:sp>
        <p:nvSpPr>
          <p:cNvPr id="4" name="Shape 2"/>
          <p:cNvSpPr/>
          <p:nvPr/>
        </p:nvSpPr>
        <p:spPr>
          <a:xfrm>
            <a:off x="385763" y="1262063"/>
            <a:ext cx="5591175" cy="1657350"/>
          </a:xfrm>
          <a:custGeom>
            <a:avLst/>
            <a:gdLst/>
            <a:ahLst/>
            <a:cxnLst/>
            <a:rect l="l" t="t" r="r" b="b"/>
            <a:pathLst>
              <a:path w="5591175" h="1657350">
                <a:moveTo>
                  <a:pt x="114307" y="0"/>
                </a:moveTo>
                <a:lnTo>
                  <a:pt x="5476868" y="0"/>
                </a:lnTo>
                <a:cubicBezTo>
                  <a:pt x="5539998" y="0"/>
                  <a:pt x="5591175" y="51177"/>
                  <a:pt x="5591175" y="114307"/>
                </a:cubicBezTo>
                <a:lnTo>
                  <a:pt x="5591175" y="1543043"/>
                </a:lnTo>
                <a:cubicBezTo>
                  <a:pt x="5591175" y="1606173"/>
                  <a:pt x="5539998" y="1657350"/>
                  <a:pt x="5476868" y="1657350"/>
                </a:cubicBezTo>
                <a:lnTo>
                  <a:pt x="114307" y="1657350"/>
                </a:lnTo>
                <a:cubicBezTo>
                  <a:pt x="51177" y="1657350"/>
                  <a:pt x="0" y="1606173"/>
                  <a:pt x="0" y="1543043"/>
                </a:cubicBezTo>
                <a:lnTo>
                  <a:pt x="0" y="114307"/>
                </a:lnTo>
                <a:cubicBezTo>
                  <a:pt x="0" y="51219"/>
                  <a:pt x="51219" y="0"/>
                  <a:pt x="114307"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5" name="Shape 3"/>
          <p:cNvSpPr/>
          <p:nvPr/>
        </p:nvSpPr>
        <p:spPr>
          <a:xfrm>
            <a:off x="619125" y="14954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B82F6"/>
          </a:solidFill>
          <a:ln/>
        </p:spPr>
      </p:sp>
      <p:sp>
        <p:nvSpPr>
          <p:cNvPr id="6" name="Text 4"/>
          <p:cNvSpPr/>
          <p:nvPr/>
        </p:nvSpPr>
        <p:spPr>
          <a:xfrm>
            <a:off x="561975" y="149542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01</a:t>
            </a:r>
            <a:endParaRPr lang="en-US" sz="1600" dirty="0"/>
          </a:p>
        </p:txBody>
      </p:sp>
      <p:sp>
        <p:nvSpPr>
          <p:cNvPr id="7" name="Text 5"/>
          <p:cNvSpPr/>
          <p:nvPr/>
        </p:nvSpPr>
        <p:spPr>
          <a:xfrm>
            <a:off x="1304925" y="1495425"/>
            <a:ext cx="45339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Tài liệu hóa mã nguồn với GenAI</a:t>
            </a:r>
            <a:endParaRPr lang="en-US" sz="1600" dirty="0"/>
          </a:p>
        </p:txBody>
      </p:sp>
      <p:sp>
        <p:nvSpPr>
          <p:cNvPr id="8" name="Text 6"/>
          <p:cNvSpPr/>
          <p:nvPr/>
        </p:nvSpPr>
        <p:spPr>
          <a:xfrm>
            <a:off x="1304925" y="1838325"/>
            <a:ext cx="4514850" cy="457200"/>
          </a:xfrm>
          <a:prstGeom prst="rect">
            <a:avLst/>
          </a:prstGeom>
          <a:noFill/>
          <a:ln/>
        </p:spPr>
        <p:txBody>
          <a:bodyPr wrap="square" lIns="0" tIns="0" rIns="0" bIns="0" rtlCol="0" anchor="ctr"/>
          <a:lstStyle/>
          <a:p>
            <a:pPr>
              <a:lnSpc>
                <a:spcPct val="130000"/>
              </a:lnSpc>
            </a:pPr>
            <a:r>
              <a:rPr lang="en-US" sz="1200" dirty="0">
                <a:solidFill>
                  <a:srgbClr val="F1F5F9">
                    <a:alpha val="60000"/>
                  </a:srgbClr>
                </a:solidFill>
                <a:latin typeface="MiSans" pitchFamily="34" charset="0"/>
                <a:ea typeface="MiSans" pitchFamily="34" charset="-122"/>
                <a:cs typeface="MiSans" pitchFamily="34" charset="-120"/>
              </a:rPr>
              <a:t>Documenting Code - Tự động hóa quy trình tài liệu hóa, phát hiện Stale Comments</a:t>
            </a:r>
            <a:endParaRPr lang="en-US" sz="1600" dirty="0"/>
          </a:p>
        </p:txBody>
      </p:sp>
      <p:sp>
        <p:nvSpPr>
          <p:cNvPr id="9" name="Shape 7"/>
          <p:cNvSpPr/>
          <p:nvPr/>
        </p:nvSpPr>
        <p:spPr>
          <a:xfrm>
            <a:off x="6215063" y="1262063"/>
            <a:ext cx="5591175" cy="1657350"/>
          </a:xfrm>
          <a:custGeom>
            <a:avLst/>
            <a:gdLst/>
            <a:ahLst/>
            <a:cxnLst/>
            <a:rect l="l" t="t" r="r" b="b"/>
            <a:pathLst>
              <a:path w="5591175" h="1657350">
                <a:moveTo>
                  <a:pt x="114307" y="0"/>
                </a:moveTo>
                <a:lnTo>
                  <a:pt x="5476868" y="0"/>
                </a:lnTo>
                <a:cubicBezTo>
                  <a:pt x="5539998" y="0"/>
                  <a:pt x="5591175" y="51177"/>
                  <a:pt x="5591175" y="114307"/>
                </a:cubicBezTo>
                <a:lnTo>
                  <a:pt x="5591175" y="1543043"/>
                </a:lnTo>
                <a:cubicBezTo>
                  <a:pt x="5591175" y="1606173"/>
                  <a:pt x="5539998" y="1657350"/>
                  <a:pt x="5476868" y="1657350"/>
                </a:cubicBezTo>
                <a:lnTo>
                  <a:pt x="114307" y="1657350"/>
                </a:lnTo>
                <a:cubicBezTo>
                  <a:pt x="51177" y="1657350"/>
                  <a:pt x="0" y="1606173"/>
                  <a:pt x="0" y="1543043"/>
                </a:cubicBezTo>
                <a:lnTo>
                  <a:pt x="0" y="114307"/>
                </a:lnTo>
                <a:cubicBezTo>
                  <a:pt x="0" y="51219"/>
                  <a:pt x="51219" y="0"/>
                  <a:pt x="114307"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10" name="Shape 8"/>
          <p:cNvSpPr/>
          <p:nvPr/>
        </p:nvSpPr>
        <p:spPr>
          <a:xfrm>
            <a:off x="6448425" y="14954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B5CF6"/>
          </a:solidFill>
          <a:ln/>
        </p:spPr>
      </p:sp>
      <p:sp>
        <p:nvSpPr>
          <p:cNvPr id="11" name="Text 9"/>
          <p:cNvSpPr/>
          <p:nvPr/>
        </p:nvSpPr>
        <p:spPr>
          <a:xfrm>
            <a:off x="6391275" y="149542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02</a:t>
            </a:r>
            <a:endParaRPr lang="en-US" sz="1600" dirty="0"/>
          </a:p>
        </p:txBody>
      </p:sp>
      <p:sp>
        <p:nvSpPr>
          <p:cNvPr id="12" name="Text 10"/>
          <p:cNvSpPr/>
          <p:nvPr/>
        </p:nvSpPr>
        <p:spPr>
          <a:xfrm>
            <a:off x="7134225" y="1495425"/>
            <a:ext cx="43624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Viết và bảo trì kiểm thử đơn vị</a:t>
            </a:r>
            <a:endParaRPr lang="en-US" sz="1600" dirty="0"/>
          </a:p>
        </p:txBody>
      </p:sp>
      <p:sp>
        <p:nvSpPr>
          <p:cNvPr id="13" name="Text 11"/>
          <p:cNvSpPr/>
          <p:nvPr/>
        </p:nvSpPr>
        <p:spPr>
          <a:xfrm>
            <a:off x="7134225" y="1838325"/>
            <a:ext cx="4343400" cy="228600"/>
          </a:xfrm>
          <a:prstGeom prst="rect">
            <a:avLst/>
          </a:prstGeom>
          <a:noFill/>
          <a:ln/>
        </p:spPr>
        <p:txBody>
          <a:bodyPr wrap="square" lIns="0" tIns="0" rIns="0" bIns="0" rtlCol="0" anchor="ctr"/>
          <a:lstStyle/>
          <a:p>
            <a:pPr>
              <a:lnSpc>
                <a:spcPct val="130000"/>
              </a:lnSpc>
            </a:pPr>
            <a:r>
              <a:rPr lang="en-US" sz="1200" dirty="0">
                <a:solidFill>
                  <a:srgbClr val="F1F5F9">
                    <a:alpha val="60000"/>
                  </a:srgbClr>
                </a:solidFill>
                <a:latin typeface="MiSans" pitchFamily="34" charset="0"/>
                <a:ea typeface="MiSans" pitchFamily="34" charset="-122"/>
                <a:cs typeface="MiSans" pitchFamily="34" charset="-120"/>
              </a:rPr>
              <a:t>Unit Testing - Tự động hóa TDD, sinh test case và mock data</a:t>
            </a:r>
            <a:endParaRPr lang="en-US" sz="1600" dirty="0"/>
          </a:p>
        </p:txBody>
      </p:sp>
      <p:sp>
        <p:nvSpPr>
          <p:cNvPr id="14" name="Shape 12"/>
          <p:cNvSpPr/>
          <p:nvPr/>
        </p:nvSpPr>
        <p:spPr>
          <a:xfrm>
            <a:off x="385763" y="3154263"/>
            <a:ext cx="5591175" cy="1657350"/>
          </a:xfrm>
          <a:custGeom>
            <a:avLst/>
            <a:gdLst/>
            <a:ahLst/>
            <a:cxnLst/>
            <a:rect l="l" t="t" r="r" b="b"/>
            <a:pathLst>
              <a:path w="5591175" h="1657350">
                <a:moveTo>
                  <a:pt x="114307" y="0"/>
                </a:moveTo>
                <a:lnTo>
                  <a:pt x="5476868" y="0"/>
                </a:lnTo>
                <a:cubicBezTo>
                  <a:pt x="5539998" y="0"/>
                  <a:pt x="5591175" y="51177"/>
                  <a:pt x="5591175" y="114307"/>
                </a:cubicBezTo>
                <a:lnTo>
                  <a:pt x="5591175" y="1543043"/>
                </a:lnTo>
                <a:cubicBezTo>
                  <a:pt x="5591175" y="1606173"/>
                  <a:pt x="5539998" y="1657350"/>
                  <a:pt x="5476868" y="1657350"/>
                </a:cubicBezTo>
                <a:lnTo>
                  <a:pt x="114307" y="1657350"/>
                </a:lnTo>
                <a:cubicBezTo>
                  <a:pt x="51177" y="1657350"/>
                  <a:pt x="0" y="1606173"/>
                  <a:pt x="0" y="1543043"/>
                </a:cubicBezTo>
                <a:lnTo>
                  <a:pt x="0" y="114307"/>
                </a:lnTo>
                <a:cubicBezTo>
                  <a:pt x="0" y="51219"/>
                  <a:pt x="51219" y="0"/>
                  <a:pt x="114307"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15" name="Shape 13"/>
          <p:cNvSpPr/>
          <p:nvPr/>
        </p:nvSpPr>
        <p:spPr>
          <a:xfrm>
            <a:off x="619125" y="3387626"/>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0B981"/>
          </a:solidFill>
          <a:ln/>
        </p:spPr>
      </p:sp>
      <p:sp>
        <p:nvSpPr>
          <p:cNvPr id="16" name="Text 14"/>
          <p:cNvSpPr/>
          <p:nvPr/>
        </p:nvSpPr>
        <p:spPr>
          <a:xfrm>
            <a:off x="561975" y="3387626"/>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03</a:t>
            </a:r>
            <a:endParaRPr lang="en-US" sz="1600" dirty="0"/>
          </a:p>
        </p:txBody>
      </p:sp>
      <p:sp>
        <p:nvSpPr>
          <p:cNvPr id="17" name="Text 15"/>
          <p:cNvSpPr/>
          <p:nvPr/>
        </p:nvSpPr>
        <p:spPr>
          <a:xfrm>
            <a:off x="1304925" y="3387626"/>
            <a:ext cx="45339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Quản lý thờigian chạy và bộ nhớ</a:t>
            </a:r>
            <a:endParaRPr lang="en-US" sz="1600" dirty="0"/>
          </a:p>
        </p:txBody>
      </p:sp>
      <p:sp>
        <p:nvSpPr>
          <p:cNvPr id="18" name="Text 16"/>
          <p:cNvSpPr/>
          <p:nvPr/>
        </p:nvSpPr>
        <p:spPr>
          <a:xfrm>
            <a:off x="1304925" y="3730526"/>
            <a:ext cx="4514850" cy="457200"/>
          </a:xfrm>
          <a:prstGeom prst="rect">
            <a:avLst/>
          </a:prstGeom>
          <a:noFill/>
          <a:ln/>
        </p:spPr>
        <p:txBody>
          <a:bodyPr wrap="square" lIns="0" tIns="0" rIns="0" bIns="0" rtlCol="0" anchor="ctr"/>
          <a:lstStyle/>
          <a:p>
            <a:pPr>
              <a:lnSpc>
                <a:spcPct val="130000"/>
              </a:lnSpc>
            </a:pPr>
            <a:r>
              <a:rPr lang="en-US" sz="1200" dirty="0">
                <a:solidFill>
                  <a:srgbClr val="F1F5F9">
                    <a:alpha val="60000"/>
                  </a:srgbClr>
                </a:solidFill>
                <a:latin typeface="MiSans" pitchFamily="34" charset="0"/>
                <a:ea typeface="MiSans" pitchFamily="34" charset="-122"/>
                <a:cs typeface="MiSans" pitchFamily="34" charset="-120"/>
              </a:rPr>
              <a:t>Runtime &amp; Memory - Big-O, profiling, tối ưu hóa với Chained Prompts</a:t>
            </a:r>
            <a:endParaRPr lang="en-US" sz="1600" dirty="0"/>
          </a:p>
        </p:txBody>
      </p:sp>
      <p:sp>
        <p:nvSpPr>
          <p:cNvPr id="19" name="Shape 17"/>
          <p:cNvSpPr/>
          <p:nvPr/>
        </p:nvSpPr>
        <p:spPr>
          <a:xfrm>
            <a:off x="6215063" y="3154263"/>
            <a:ext cx="5591175" cy="1657350"/>
          </a:xfrm>
          <a:custGeom>
            <a:avLst/>
            <a:gdLst/>
            <a:ahLst/>
            <a:cxnLst/>
            <a:rect l="l" t="t" r="r" b="b"/>
            <a:pathLst>
              <a:path w="5591175" h="1657350">
                <a:moveTo>
                  <a:pt x="114307" y="0"/>
                </a:moveTo>
                <a:lnTo>
                  <a:pt x="5476868" y="0"/>
                </a:lnTo>
                <a:cubicBezTo>
                  <a:pt x="5539998" y="0"/>
                  <a:pt x="5591175" y="51177"/>
                  <a:pt x="5591175" y="114307"/>
                </a:cubicBezTo>
                <a:lnTo>
                  <a:pt x="5591175" y="1543043"/>
                </a:lnTo>
                <a:cubicBezTo>
                  <a:pt x="5591175" y="1606173"/>
                  <a:pt x="5539998" y="1657350"/>
                  <a:pt x="5476868" y="1657350"/>
                </a:cubicBezTo>
                <a:lnTo>
                  <a:pt x="114307" y="1657350"/>
                </a:lnTo>
                <a:cubicBezTo>
                  <a:pt x="51177" y="1657350"/>
                  <a:pt x="0" y="1606173"/>
                  <a:pt x="0" y="1543043"/>
                </a:cubicBezTo>
                <a:lnTo>
                  <a:pt x="0" y="114307"/>
                </a:lnTo>
                <a:cubicBezTo>
                  <a:pt x="0" y="51219"/>
                  <a:pt x="51219" y="0"/>
                  <a:pt x="114307" y="0"/>
                </a:cubicBezTo>
                <a:close/>
              </a:path>
            </a:pathLst>
          </a:custGeom>
          <a:gradFill rotWithShape="1" flip="none">
            <a:gsLst>
              <a:gs pos="0">
                <a:srgbClr val="3B82F6">
                  <a:alpha val="10000"/>
                </a:srgbClr>
              </a:gs>
              <a:gs pos="100000">
                <a:srgbClr val="8B5CF6">
                  <a:alpha val="5000"/>
                </a:srgbClr>
              </a:gs>
            </a:gsLst>
            <a:lin ang="2700000" scaled="1"/>
          </a:gradFill>
          <a:ln w="12700">
            <a:solidFill>
              <a:srgbClr val="3B82F6">
                <a:alpha val="30196"/>
              </a:srgbClr>
            </a:solidFill>
            <a:prstDash val="solid"/>
          </a:ln>
        </p:spPr>
      </p:sp>
      <p:sp>
        <p:nvSpPr>
          <p:cNvPr id="20" name="Shape 18"/>
          <p:cNvSpPr/>
          <p:nvPr/>
        </p:nvSpPr>
        <p:spPr>
          <a:xfrm>
            <a:off x="6448425" y="3387626"/>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3B82F6"/>
              </a:gs>
              <a:gs pos="100000">
                <a:srgbClr val="8B5CF6"/>
              </a:gs>
            </a:gsLst>
            <a:lin ang="2700000" scaled="1"/>
          </a:gradFill>
          <a:ln/>
        </p:spPr>
      </p:sp>
      <p:sp>
        <p:nvSpPr>
          <p:cNvPr id="21" name="Text 19"/>
          <p:cNvSpPr/>
          <p:nvPr/>
        </p:nvSpPr>
        <p:spPr>
          <a:xfrm>
            <a:off x="6391275" y="3387626"/>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04</a:t>
            </a:r>
            <a:endParaRPr lang="en-US" sz="1600" dirty="0"/>
          </a:p>
        </p:txBody>
      </p:sp>
      <p:sp>
        <p:nvSpPr>
          <p:cNvPr id="22" name="Text 20"/>
          <p:cNvSpPr/>
          <p:nvPr/>
        </p:nvSpPr>
        <p:spPr>
          <a:xfrm>
            <a:off x="7134225" y="3387626"/>
            <a:ext cx="45339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Code Generation với Decorator Pattern</a:t>
            </a:r>
            <a:endParaRPr lang="en-US" sz="1600" dirty="0"/>
          </a:p>
        </p:txBody>
      </p:sp>
      <p:sp>
        <p:nvSpPr>
          <p:cNvPr id="23" name="Text 21"/>
          <p:cNvSpPr/>
          <p:nvPr/>
        </p:nvSpPr>
        <p:spPr>
          <a:xfrm>
            <a:off x="7134225" y="3730526"/>
            <a:ext cx="4514850" cy="457200"/>
          </a:xfrm>
          <a:prstGeom prst="rect">
            <a:avLst/>
          </a:prstGeom>
          <a:noFill/>
          <a:ln/>
        </p:spPr>
        <p:txBody>
          <a:bodyPr wrap="square" lIns="0" tIns="0" rIns="0" bIns="0" rtlCol="0" anchor="ctr"/>
          <a:lstStyle/>
          <a:p>
            <a:pPr>
              <a:lnSpc>
                <a:spcPct val="130000"/>
              </a:lnSpc>
            </a:pPr>
            <a:r>
              <a:rPr lang="en-US" sz="1200" dirty="0">
                <a:solidFill>
                  <a:srgbClr val="F1F5F9">
                    <a:alpha val="60000"/>
                  </a:srgbClr>
                </a:solidFill>
                <a:latin typeface="MiSans" pitchFamily="34" charset="0"/>
                <a:ea typeface="MiSans" pitchFamily="34" charset="-122"/>
                <a:cs typeface="MiSans" pitchFamily="34" charset="-120"/>
              </a:rPr>
              <a:t>Nghiên cứu thực nghiệm - Zero-shot vs Few-shot, đánh giá mô hình AI</a:t>
            </a:r>
            <a:endParaRPr lang="en-US" sz="1600" dirty="0"/>
          </a:p>
        </p:txBody>
      </p:sp>
      <p:sp>
        <p:nvSpPr>
          <p:cNvPr id="24" name="Shape 22"/>
          <p:cNvSpPr/>
          <p:nvPr/>
        </p:nvSpPr>
        <p:spPr>
          <a:xfrm>
            <a:off x="385763" y="5046613"/>
            <a:ext cx="11420475" cy="1428750"/>
          </a:xfrm>
          <a:custGeom>
            <a:avLst/>
            <a:gdLst/>
            <a:ahLst/>
            <a:cxnLst/>
            <a:rect l="l" t="t" r="r" b="b"/>
            <a:pathLst>
              <a:path w="11420475" h="1428750">
                <a:moveTo>
                  <a:pt x="114300" y="0"/>
                </a:moveTo>
                <a:lnTo>
                  <a:pt x="11306175" y="0"/>
                </a:lnTo>
                <a:cubicBezTo>
                  <a:pt x="11369259" y="0"/>
                  <a:pt x="11420475" y="51216"/>
                  <a:pt x="11420475" y="114300"/>
                </a:cubicBezTo>
                <a:lnTo>
                  <a:pt x="11420475" y="1314450"/>
                </a:lnTo>
                <a:cubicBezTo>
                  <a:pt x="11420475" y="1377534"/>
                  <a:pt x="11369259" y="1428750"/>
                  <a:pt x="11306175" y="1428750"/>
                </a:cubicBezTo>
                <a:lnTo>
                  <a:pt x="114300" y="1428750"/>
                </a:lnTo>
                <a:cubicBezTo>
                  <a:pt x="51216" y="1428750"/>
                  <a:pt x="0" y="1377534"/>
                  <a:pt x="0" y="1314450"/>
                </a:cubicBezTo>
                <a:lnTo>
                  <a:pt x="0" y="114300"/>
                </a:lnTo>
                <a:cubicBezTo>
                  <a:pt x="0" y="51216"/>
                  <a:pt x="51216" y="0"/>
                  <a:pt x="114300" y="0"/>
                </a:cubicBezTo>
                <a:close/>
              </a:path>
            </a:pathLst>
          </a:custGeom>
          <a:gradFill rotWithShape="1" flip="none">
            <a:gsLst>
              <a:gs pos="0">
                <a:srgbClr val="8B5CF6">
                  <a:alpha val="10000"/>
                </a:srgbClr>
              </a:gs>
              <a:gs pos="100000">
                <a:srgbClr val="10B981">
                  <a:alpha val="5000"/>
                </a:srgbClr>
              </a:gs>
            </a:gsLst>
            <a:lin ang="2700000" scaled="1"/>
          </a:gradFill>
          <a:ln w="12700">
            <a:solidFill>
              <a:srgbClr val="8B5CF6">
                <a:alpha val="30196"/>
              </a:srgbClr>
            </a:solidFill>
            <a:prstDash val="solid"/>
          </a:ln>
        </p:spPr>
      </p:sp>
      <p:sp>
        <p:nvSpPr>
          <p:cNvPr id="25" name="Shape 23"/>
          <p:cNvSpPr/>
          <p:nvPr/>
        </p:nvSpPr>
        <p:spPr>
          <a:xfrm>
            <a:off x="619125" y="527997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gradFill rotWithShape="1" flip="none">
            <a:gsLst>
              <a:gs pos="0">
                <a:srgbClr val="8B5CF6"/>
              </a:gs>
              <a:gs pos="100000">
                <a:srgbClr val="10B981"/>
              </a:gs>
            </a:gsLst>
            <a:lin ang="2700000" scaled="1"/>
          </a:gradFill>
          <a:ln/>
        </p:spPr>
      </p:sp>
      <p:sp>
        <p:nvSpPr>
          <p:cNvPr id="26" name="Text 24"/>
          <p:cNvSpPr/>
          <p:nvPr/>
        </p:nvSpPr>
        <p:spPr>
          <a:xfrm>
            <a:off x="561975" y="5279975"/>
            <a:ext cx="647700" cy="5334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MiSans" pitchFamily="34" charset="0"/>
                <a:ea typeface="MiSans" pitchFamily="34" charset="-122"/>
                <a:cs typeface="MiSans" pitchFamily="34" charset="-120"/>
              </a:rPr>
              <a:t>05</a:t>
            </a:r>
            <a:endParaRPr lang="en-US" sz="1600" dirty="0"/>
          </a:p>
        </p:txBody>
      </p:sp>
      <p:sp>
        <p:nvSpPr>
          <p:cNvPr id="27" name="Text 25"/>
          <p:cNvSpPr/>
          <p:nvPr/>
        </p:nvSpPr>
        <p:spPr>
          <a:xfrm>
            <a:off x="1304925" y="5279975"/>
            <a:ext cx="882967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Tổng quan và Triển vọng tương lai</a:t>
            </a:r>
            <a:endParaRPr lang="en-US" sz="1600" dirty="0"/>
          </a:p>
        </p:txBody>
      </p:sp>
      <p:sp>
        <p:nvSpPr>
          <p:cNvPr id="28" name="Text 26"/>
          <p:cNvSpPr/>
          <p:nvPr/>
        </p:nvSpPr>
        <p:spPr>
          <a:xfrm>
            <a:off x="1304925" y="5622875"/>
            <a:ext cx="8810625" cy="228600"/>
          </a:xfrm>
          <a:prstGeom prst="rect">
            <a:avLst/>
          </a:prstGeom>
          <a:noFill/>
          <a:ln/>
        </p:spPr>
        <p:txBody>
          <a:bodyPr wrap="square" lIns="0" tIns="0" rIns="0" bIns="0" rtlCol="0" anchor="ctr"/>
          <a:lstStyle/>
          <a:p>
            <a:pPr>
              <a:lnSpc>
                <a:spcPct val="130000"/>
              </a:lnSpc>
            </a:pPr>
            <a:r>
              <a:rPr lang="en-US" sz="1200" dirty="0">
                <a:solidFill>
                  <a:srgbClr val="F1F5F9">
                    <a:alpha val="60000"/>
                  </a:srgbClr>
                </a:solidFill>
                <a:latin typeface="MiSans" pitchFamily="34" charset="0"/>
                <a:ea typeface="MiSans" pitchFamily="34" charset="-122"/>
                <a:cs typeface="MiSans" pitchFamily="34" charset="-120"/>
              </a:rPr>
              <a:t>Bức tranh tổng quan về sự thay đổi của kỹ nghệ phần mềm khi GenAI phát triển - SWEBOK, Governance, Roadmap triển khai</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pic>
        <p:nvPicPr>
          <p:cNvPr id="2" name="Image 0" descr="https://kimi-web-img.moonshot.cn/img/decotvframes.com/a3a3567dd1d9f093128a2643ca04042766613e67.jpg">    </p:cNvPr>
          <p:cNvPicPr>
            <a:picLocks noChangeAspect="1"/>
          </p:cNvPicPr>
          <p:nvPr/>
        </p:nvPicPr>
        <p:blipFill>
          <a:blip r:embed="rId1">
            <a:alphaModFix amt="30000"/>
          </a:blip>
          <a:srcRect l="85" r="85"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3B82F6">
                  <a:alpha val="20000"/>
                </a:srgbClr>
              </a:gs>
            </a:gsLst>
            <a:lin ang="2700000" scaled="1"/>
          </a:gradFill>
          <a:ln/>
        </p:spPr>
      </p:sp>
      <p:sp>
        <p:nvSpPr>
          <p:cNvPr id="4" name="Shape 1"/>
          <p:cNvSpPr/>
          <p:nvPr/>
        </p:nvSpPr>
        <p:spPr>
          <a:xfrm>
            <a:off x="385763" y="1519238"/>
            <a:ext cx="1238250" cy="390525"/>
          </a:xfrm>
          <a:custGeom>
            <a:avLst/>
            <a:gdLst/>
            <a:ahLst/>
            <a:cxnLst/>
            <a:rect l="l" t="t" r="r" b="b"/>
            <a:pathLst>
              <a:path w="1238250" h="390525">
                <a:moveTo>
                  <a:pt x="76199" y="0"/>
                </a:moveTo>
                <a:lnTo>
                  <a:pt x="1162051" y="0"/>
                </a:lnTo>
                <a:cubicBezTo>
                  <a:pt x="1204134" y="0"/>
                  <a:pt x="1238250" y="34116"/>
                  <a:pt x="1238250" y="76199"/>
                </a:cubicBezTo>
                <a:lnTo>
                  <a:pt x="1238250" y="314326"/>
                </a:lnTo>
                <a:cubicBezTo>
                  <a:pt x="1238250" y="356409"/>
                  <a:pt x="1204134" y="390525"/>
                  <a:pt x="1162051" y="390525"/>
                </a:cubicBezTo>
                <a:lnTo>
                  <a:pt x="76199" y="390525"/>
                </a:lnTo>
                <a:cubicBezTo>
                  <a:pt x="34144" y="390525"/>
                  <a:pt x="0" y="356381"/>
                  <a:pt x="0" y="314326"/>
                </a:cubicBezTo>
                <a:lnTo>
                  <a:pt x="0" y="76199"/>
                </a:lnTo>
                <a:cubicBezTo>
                  <a:pt x="0" y="34144"/>
                  <a:pt x="34144" y="0"/>
                  <a:pt x="76199" y="0"/>
                </a:cubicBezTo>
                <a:close/>
              </a:path>
            </a:pathLst>
          </a:custGeom>
          <a:solidFill>
            <a:srgbClr val="3B82F6">
              <a:alpha val="20000"/>
            </a:srgbClr>
          </a:solidFill>
          <a:ln w="12700">
            <a:solidFill>
              <a:srgbClr val="3B82F6">
                <a:alpha val="50196"/>
              </a:srgbClr>
            </a:solidFill>
            <a:prstDash val="solid"/>
          </a:ln>
        </p:spPr>
      </p:sp>
      <p:sp>
        <p:nvSpPr>
          <p:cNvPr id="5" name="Text 2"/>
          <p:cNvSpPr/>
          <p:nvPr/>
        </p:nvSpPr>
        <p:spPr>
          <a:xfrm>
            <a:off x="542925" y="1609725"/>
            <a:ext cx="1000869" cy="209550"/>
          </a:xfrm>
          <a:prstGeom prst="rect">
            <a:avLst/>
          </a:prstGeom>
          <a:noFill/>
          <a:ln/>
        </p:spPr>
        <p:txBody>
          <a:bodyPr wrap="square" lIns="0" tIns="0" rIns="0" bIns="0" rtlCol="0" anchor="ctr"/>
          <a:lstStyle/>
          <a:p>
            <a:pPr>
              <a:lnSpc>
                <a:spcPct val="130000"/>
              </a:lnSpc>
            </a:pPr>
            <a:r>
              <a:rPr lang="en-US" sz="1200" b="1" spc="60" kern="0" dirty="0">
                <a:solidFill>
                  <a:srgbClr val="3B82F6"/>
                </a:solidFill>
                <a:latin typeface="MiSans" pitchFamily="34" charset="0"/>
                <a:ea typeface="MiSans" pitchFamily="34" charset="-122"/>
                <a:cs typeface="MiSans" pitchFamily="34" charset="-120"/>
              </a:rPr>
              <a:t>CHƯƠNG 12</a:t>
            </a:r>
            <a:endParaRPr lang="en-US" sz="1600" dirty="0"/>
          </a:p>
        </p:txBody>
      </p:sp>
      <p:sp>
        <p:nvSpPr>
          <p:cNvPr id="6" name="Text 3"/>
          <p:cNvSpPr/>
          <p:nvPr/>
        </p:nvSpPr>
        <p:spPr>
          <a:xfrm>
            <a:off x="381000" y="2066925"/>
            <a:ext cx="11715750" cy="1428750"/>
          </a:xfrm>
          <a:prstGeom prst="rect">
            <a:avLst/>
          </a:prstGeom>
          <a:noFill/>
          <a:ln/>
        </p:spPr>
        <p:txBody>
          <a:bodyPr wrap="square" lIns="0" tIns="0" rIns="0" bIns="0" rtlCol="0" anchor="ctr"/>
          <a:lstStyle/>
          <a:p>
            <a:pPr>
              <a:lnSpc>
                <a:spcPct val="100000"/>
              </a:lnSpc>
            </a:pPr>
            <a:r>
              <a:rPr lang="en-US" sz="4500" b="1" dirty="0">
                <a:solidFill>
                  <a:srgbClr val="F1F5F9"/>
                </a:solidFill>
                <a:latin typeface="MiSans" pitchFamily="34" charset="0"/>
                <a:ea typeface="MiSans" pitchFamily="34" charset="-122"/>
                <a:cs typeface="MiSans" pitchFamily="34" charset="-120"/>
              </a:rPr>
              <a:t>Tài liệu hóa mã nguồn</a:t>
            </a:r>
            <a:endParaRPr lang="en-US" sz="1600" dirty="0"/>
          </a:p>
          <a:p>
            <a:pPr>
              <a:lnSpc>
                <a:spcPct val="100000"/>
              </a:lnSpc>
            </a:pPr>
            <a:r>
              <a:rPr lang="en-US" sz="4500" b="1" dirty="0">
                <a:solidFill>
                  <a:srgbClr val="F1F5F9"/>
                </a:solidFill>
                <a:latin typeface="MiSans" pitchFamily="34" charset="0"/>
                <a:ea typeface="MiSans" pitchFamily="34" charset="-122"/>
                <a:cs typeface="MiSans" pitchFamily="34" charset="-120"/>
              </a:rPr>
              <a:t>với GenAI</a:t>
            </a:r>
            <a:endParaRPr lang="en-US" sz="1600" dirty="0"/>
          </a:p>
        </p:txBody>
      </p:sp>
      <p:sp>
        <p:nvSpPr>
          <p:cNvPr id="7" name="Text 4"/>
          <p:cNvSpPr/>
          <p:nvPr/>
        </p:nvSpPr>
        <p:spPr>
          <a:xfrm>
            <a:off x="381000" y="3648075"/>
            <a:ext cx="11544300" cy="304800"/>
          </a:xfrm>
          <a:prstGeom prst="rect">
            <a:avLst/>
          </a:prstGeom>
          <a:noFill/>
          <a:ln/>
        </p:spPr>
        <p:txBody>
          <a:bodyPr wrap="square" lIns="0" tIns="0" rIns="0" bIns="0" rtlCol="0" anchor="ctr"/>
          <a:lstStyle/>
          <a:p>
            <a:pPr>
              <a:lnSpc>
                <a:spcPct val="110000"/>
              </a:lnSpc>
            </a:pPr>
            <a:r>
              <a:rPr lang="en-US" sz="1800" dirty="0">
                <a:solidFill>
                  <a:srgbClr val="F1F5F9">
                    <a:alpha val="70000"/>
                  </a:srgbClr>
                </a:solidFill>
                <a:latin typeface="MiSans" pitchFamily="34" charset="0"/>
                <a:ea typeface="MiSans" pitchFamily="34" charset="-122"/>
                <a:cs typeface="MiSans" pitchFamily="34" charset="-120"/>
              </a:rPr>
              <a:t>Documenting Code with GenAI</a:t>
            </a:r>
            <a:endParaRPr lang="en-US" sz="1600" dirty="0"/>
          </a:p>
        </p:txBody>
      </p:sp>
      <p:sp>
        <p:nvSpPr>
          <p:cNvPr id="8" name="Shape 5"/>
          <p:cNvSpPr/>
          <p:nvPr/>
        </p:nvSpPr>
        <p:spPr>
          <a:xfrm>
            <a:off x="385763" y="4491038"/>
            <a:ext cx="2733675" cy="847725"/>
          </a:xfrm>
          <a:custGeom>
            <a:avLst/>
            <a:gdLst/>
            <a:ahLst/>
            <a:cxnLst/>
            <a:rect l="l" t="t" r="r" b="b"/>
            <a:pathLst>
              <a:path w="2733675" h="847725">
                <a:moveTo>
                  <a:pt x="76202" y="0"/>
                </a:moveTo>
                <a:lnTo>
                  <a:pt x="2657473" y="0"/>
                </a:lnTo>
                <a:cubicBezTo>
                  <a:pt x="2699530" y="0"/>
                  <a:pt x="2733675" y="34145"/>
                  <a:pt x="2733675" y="76202"/>
                </a:cubicBezTo>
                <a:lnTo>
                  <a:pt x="2733675" y="771523"/>
                </a:lnTo>
                <a:cubicBezTo>
                  <a:pt x="2733675" y="813580"/>
                  <a:pt x="2699530" y="847725"/>
                  <a:pt x="2657473" y="847725"/>
                </a:cubicBezTo>
                <a:lnTo>
                  <a:pt x="76202" y="847725"/>
                </a:lnTo>
                <a:cubicBezTo>
                  <a:pt x="34145" y="847725"/>
                  <a:pt x="0" y="813580"/>
                  <a:pt x="0" y="771523"/>
                </a:cubicBezTo>
                <a:lnTo>
                  <a:pt x="0" y="76202"/>
                </a:lnTo>
                <a:cubicBezTo>
                  <a:pt x="0" y="34145"/>
                  <a:pt x="34145" y="0"/>
                  <a:pt x="76202" y="0"/>
                </a:cubicBezTo>
                <a:close/>
              </a:path>
            </a:pathLst>
          </a:custGeom>
          <a:solidFill>
            <a:srgbClr val="3B82F6">
              <a:alpha val="10196"/>
            </a:srgbClr>
          </a:solidFill>
          <a:ln w="12700">
            <a:solidFill>
              <a:srgbClr val="3B82F6">
                <a:alpha val="30196"/>
              </a:srgbClr>
            </a:solidFill>
            <a:prstDash val="solid"/>
          </a:ln>
        </p:spPr>
      </p:sp>
      <p:sp>
        <p:nvSpPr>
          <p:cNvPr id="9" name="Shape 6"/>
          <p:cNvSpPr/>
          <p:nvPr/>
        </p:nvSpPr>
        <p:spPr>
          <a:xfrm>
            <a:off x="600075" y="4648200"/>
            <a:ext cx="171450" cy="228600"/>
          </a:xfrm>
          <a:custGeom>
            <a:avLst/>
            <a:gdLst/>
            <a:ahLst/>
            <a:cxnLst/>
            <a:rect l="l" t="t" r="r" b="b"/>
            <a:pathLst>
              <a:path w="171450" h="228600">
                <a:moveTo>
                  <a:pt x="0" y="28575"/>
                </a:moveTo>
                <a:cubicBezTo>
                  <a:pt x="0" y="12814"/>
                  <a:pt x="12814" y="0"/>
                  <a:pt x="28575" y="0"/>
                </a:cubicBezTo>
                <a:lnTo>
                  <a:pt x="95324" y="0"/>
                </a:lnTo>
                <a:cubicBezTo>
                  <a:pt x="102915" y="0"/>
                  <a:pt x="110192" y="2991"/>
                  <a:pt x="115550" y="8349"/>
                </a:cubicBezTo>
                <a:lnTo>
                  <a:pt x="163101" y="55944"/>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68848" y="131981"/>
                </a:moveTo>
                <a:cubicBezTo>
                  <a:pt x="72688" y="127471"/>
                  <a:pt x="72197" y="120729"/>
                  <a:pt x="67687" y="116890"/>
                </a:cubicBezTo>
                <a:cubicBezTo>
                  <a:pt x="63178" y="113050"/>
                  <a:pt x="56436" y="113541"/>
                  <a:pt x="52596" y="118050"/>
                </a:cubicBezTo>
                <a:lnTo>
                  <a:pt x="31165" y="143054"/>
                </a:lnTo>
                <a:cubicBezTo>
                  <a:pt x="27727" y="147072"/>
                  <a:pt x="27727" y="152966"/>
                  <a:pt x="31165" y="156984"/>
                </a:cubicBezTo>
                <a:lnTo>
                  <a:pt x="52596" y="181987"/>
                </a:lnTo>
                <a:cubicBezTo>
                  <a:pt x="56436" y="186497"/>
                  <a:pt x="63222" y="186988"/>
                  <a:pt x="67687" y="183148"/>
                </a:cubicBezTo>
                <a:cubicBezTo>
                  <a:pt x="72152" y="179308"/>
                  <a:pt x="72688" y="172522"/>
                  <a:pt x="68848" y="168057"/>
                </a:cubicBezTo>
                <a:lnTo>
                  <a:pt x="53400" y="150019"/>
                </a:lnTo>
                <a:lnTo>
                  <a:pt x="68848" y="131981"/>
                </a:lnTo>
                <a:close/>
                <a:moveTo>
                  <a:pt x="118854" y="118050"/>
                </a:moveTo>
                <a:cubicBezTo>
                  <a:pt x="115014" y="113541"/>
                  <a:pt x="108228" y="113050"/>
                  <a:pt x="103763" y="116890"/>
                </a:cubicBezTo>
                <a:cubicBezTo>
                  <a:pt x="99298" y="120729"/>
                  <a:pt x="98762" y="127516"/>
                  <a:pt x="102602" y="131981"/>
                </a:cubicBezTo>
                <a:lnTo>
                  <a:pt x="118050" y="150019"/>
                </a:lnTo>
                <a:lnTo>
                  <a:pt x="102602" y="168057"/>
                </a:lnTo>
                <a:cubicBezTo>
                  <a:pt x="98762" y="172566"/>
                  <a:pt x="99253" y="179308"/>
                  <a:pt x="103763" y="183148"/>
                </a:cubicBezTo>
                <a:cubicBezTo>
                  <a:pt x="108272" y="186988"/>
                  <a:pt x="115014" y="186497"/>
                  <a:pt x="118854" y="181987"/>
                </a:cubicBezTo>
                <a:lnTo>
                  <a:pt x="140285" y="156984"/>
                </a:lnTo>
                <a:cubicBezTo>
                  <a:pt x="143723" y="152966"/>
                  <a:pt x="143723" y="147072"/>
                  <a:pt x="140285" y="143054"/>
                </a:cubicBezTo>
                <a:lnTo>
                  <a:pt x="118854" y="118050"/>
                </a:lnTo>
                <a:close/>
              </a:path>
            </a:pathLst>
          </a:custGeom>
          <a:solidFill>
            <a:srgbClr val="3B82F6"/>
          </a:solidFill>
          <a:ln/>
        </p:spPr>
      </p:sp>
      <p:sp>
        <p:nvSpPr>
          <p:cNvPr id="10" name="Text 7"/>
          <p:cNvSpPr/>
          <p:nvPr/>
        </p:nvSpPr>
        <p:spPr>
          <a:xfrm>
            <a:off x="542925" y="4953000"/>
            <a:ext cx="24955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Tự động tạo Docstring</a:t>
            </a:r>
            <a:endParaRPr lang="en-US" sz="1600" dirty="0"/>
          </a:p>
        </p:txBody>
      </p:sp>
      <p:sp>
        <p:nvSpPr>
          <p:cNvPr id="11" name="Shape 8"/>
          <p:cNvSpPr/>
          <p:nvPr/>
        </p:nvSpPr>
        <p:spPr>
          <a:xfrm>
            <a:off x="3281363" y="4491038"/>
            <a:ext cx="2733675" cy="847725"/>
          </a:xfrm>
          <a:custGeom>
            <a:avLst/>
            <a:gdLst/>
            <a:ahLst/>
            <a:cxnLst/>
            <a:rect l="l" t="t" r="r" b="b"/>
            <a:pathLst>
              <a:path w="2733675" h="847725">
                <a:moveTo>
                  <a:pt x="76202" y="0"/>
                </a:moveTo>
                <a:lnTo>
                  <a:pt x="2657473" y="0"/>
                </a:lnTo>
                <a:cubicBezTo>
                  <a:pt x="2699530" y="0"/>
                  <a:pt x="2733675" y="34145"/>
                  <a:pt x="2733675" y="76202"/>
                </a:cubicBezTo>
                <a:lnTo>
                  <a:pt x="2733675" y="771523"/>
                </a:lnTo>
                <a:cubicBezTo>
                  <a:pt x="2733675" y="813580"/>
                  <a:pt x="2699530" y="847725"/>
                  <a:pt x="2657473" y="847725"/>
                </a:cubicBezTo>
                <a:lnTo>
                  <a:pt x="76202" y="847725"/>
                </a:lnTo>
                <a:cubicBezTo>
                  <a:pt x="34145" y="847725"/>
                  <a:pt x="0" y="813580"/>
                  <a:pt x="0" y="771523"/>
                </a:cubicBezTo>
                <a:lnTo>
                  <a:pt x="0" y="76202"/>
                </a:lnTo>
                <a:cubicBezTo>
                  <a:pt x="0" y="34145"/>
                  <a:pt x="34145" y="0"/>
                  <a:pt x="76202" y="0"/>
                </a:cubicBezTo>
                <a:close/>
              </a:path>
            </a:pathLst>
          </a:custGeom>
          <a:solidFill>
            <a:srgbClr val="8B5CF6">
              <a:alpha val="10196"/>
            </a:srgbClr>
          </a:solidFill>
          <a:ln w="12700">
            <a:solidFill>
              <a:srgbClr val="8B5CF6">
                <a:alpha val="30196"/>
              </a:srgbClr>
            </a:solidFill>
            <a:prstDash val="solid"/>
          </a:ln>
        </p:spPr>
      </p:sp>
      <p:sp>
        <p:nvSpPr>
          <p:cNvPr id="12" name="Shape 9"/>
          <p:cNvSpPr/>
          <p:nvPr/>
        </p:nvSpPr>
        <p:spPr>
          <a:xfrm>
            <a:off x="3467100" y="4648200"/>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B5CF6"/>
          </a:solidFill>
          <a:ln/>
        </p:spPr>
      </p:sp>
      <p:sp>
        <p:nvSpPr>
          <p:cNvPr id="13" name="Text 10"/>
          <p:cNvSpPr/>
          <p:nvPr/>
        </p:nvSpPr>
        <p:spPr>
          <a:xfrm>
            <a:off x="3438525" y="4953000"/>
            <a:ext cx="24955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Phát hiện Stale Comments</a:t>
            </a:r>
            <a:endParaRPr lang="en-US" sz="1600" dirty="0"/>
          </a:p>
        </p:txBody>
      </p:sp>
      <p:sp>
        <p:nvSpPr>
          <p:cNvPr id="14" name="Shape 11"/>
          <p:cNvSpPr/>
          <p:nvPr/>
        </p:nvSpPr>
        <p:spPr>
          <a:xfrm>
            <a:off x="6176963" y="4491038"/>
            <a:ext cx="2733675" cy="847725"/>
          </a:xfrm>
          <a:custGeom>
            <a:avLst/>
            <a:gdLst/>
            <a:ahLst/>
            <a:cxnLst/>
            <a:rect l="l" t="t" r="r" b="b"/>
            <a:pathLst>
              <a:path w="2733675" h="847725">
                <a:moveTo>
                  <a:pt x="76202" y="0"/>
                </a:moveTo>
                <a:lnTo>
                  <a:pt x="2657473" y="0"/>
                </a:lnTo>
                <a:cubicBezTo>
                  <a:pt x="2699530" y="0"/>
                  <a:pt x="2733675" y="34145"/>
                  <a:pt x="2733675" y="76202"/>
                </a:cubicBezTo>
                <a:lnTo>
                  <a:pt x="2733675" y="771523"/>
                </a:lnTo>
                <a:cubicBezTo>
                  <a:pt x="2733675" y="813580"/>
                  <a:pt x="2699530" y="847725"/>
                  <a:pt x="2657473" y="847725"/>
                </a:cubicBezTo>
                <a:lnTo>
                  <a:pt x="76202" y="847725"/>
                </a:lnTo>
                <a:cubicBezTo>
                  <a:pt x="34145" y="847725"/>
                  <a:pt x="0" y="813580"/>
                  <a:pt x="0" y="771523"/>
                </a:cubicBezTo>
                <a:lnTo>
                  <a:pt x="0" y="76202"/>
                </a:lnTo>
                <a:cubicBezTo>
                  <a:pt x="0" y="34145"/>
                  <a:pt x="34145" y="0"/>
                  <a:pt x="76202" y="0"/>
                </a:cubicBezTo>
                <a:close/>
              </a:path>
            </a:pathLst>
          </a:custGeom>
          <a:solidFill>
            <a:srgbClr val="10B981">
              <a:alpha val="10196"/>
            </a:srgbClr>
          </a:solidFill>
          <a:ln w="12700">
            <a:solidFill>
              <a:srgbClr val="10B981">
                <a:alpha val="30196"/>
              </a:srgbClr>
            </a:solidFill>
            <a:prstDash val="solid"/>
          </a:ln>
        </p:spPr>
      </p:sp>
      <p:sp>
        <p:nvSpPr>
          <p:cNvPr id="15" name="Shape 12"/>
          <p:cNvSpPr/>
          <p:nvPr/>
        </p:nvSpPr>
        <p:spPr>
          <a:xfrm>
            <a:off x="6362700" y="4648200"/>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10B981"/>
          </a:solidFill>
          <a:ln/>
        </p:spPr>
      </p:sp>
      <p:sp>
        <p:nvSpPr>
          <p:cNvPr id="16" name="Text 13"/>
          <p:cNvSpPr/>
          <p:nvPr/>
        </p:nvSpPr>
        <p:spPr>
          <a:xfrm>
            <a:off x="6334125" y="4953000"/>
            <a:ext cx="24955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Đảm bảo nhất quán</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85725" y="0"/>
                </a:moveTo>
                <a:cubicBezTo>
                  <a:pt x="90647" y="0"/>
                  <a:pt x="95168" y="2712"/>
                  <a:pt x="97512" y="7032"/>
                </a:cubicBezTo>
                <a:lnTo>
                  <a:pt x="169843" y="140977"/>
                </a:lnTo>
                <a:cubicBezTo>
                  <a:pt x="172086" y="145130"/>
                  <a:pt x="171986" y="150153"/>
                  <a:pt x="169575" y="154205"/>
                </a:cubicBezTo>
                <a:cubicBezTo>
                  <a:pt x="167164" y="158256"/>
                  <a:pt x="162777" y="160734"/>
                  <a:pt x="158055" y="160734"/>
                </a:cubicBezTo>
                <a:lnTo>
                  <a:pt x="13395" y="160734"/>
                </a:lnTo>
                <a:cubicBezTo>
                  <a:pt x="8673" y="160734"/>
                  <a:pt x="4320" y="158256"/>
                  <a:pt x="1875" y="154205"/>
                </a:cubicBezTo>
                <a:cubicBezTo>
                  <a:pt x="-569" y="150153"/>
                  <a:pt x="-636" y="145130"/>
                  <a:pt x="1607" y="140977"/>
                </a:cubicBezTo>
                <a:lnTo>
                  <a:pt x="73938" y="7032"/>
                </a:lnTo>
                <a:cubicBezTo>
                  <a:pt x="76282" y="2712"/>
                  <a:pt x="80803" y="0"/>
                  <a:pt x="85725" y="0"/>
                </a:cubicBezTo>
                <a:close/>
                <a:moveTo>
                  <a:pt x="85725" y="56257"/>
                </a:moveTo>
                <a:cubicBezTo>
                  <a:pt x="81271" y="56257"/>
                  <a:pt x="77688" y="59840"/>
                  <a:pt x="77688" y="64294"/>
                </a:cubicBezTo>
                <a:lnTo>
                  <a:pt x="77688" y="101798"/>
                </a:lnTo>
                <a:cubicBezTo>
                  <a:pt x="77688" y="106252"/>
                  <a:pt x="81271" y="109835"/>
                  <a:pt x="85725" y="109835"/>
                </a:cubicBezTo>
                <a:cubicBezTo>
                  <a:pt x="90179" y="109835"/>
                  <a:pt x="93762" y="106252"/>
                  <a:pt x="93762" y="101798"/>
                </a:cubicBezTo>
                <a:lnTo>
                  <a:pt x="93762" y="64294"/>
                </a:lnTo>
                <a:cubicBezTo>
                  <a:pt x="93762" y="59840"/>
                  <a:pt x="90179" y="56257"/>
                  <a:pt x="85725" y="56257"/>
                </a:cubicBezTo>
                <a:close/>
                <a:moveTo>
                  <a:pt x="94666" y="128588"/>
                </a:moveTo>
                <a:cubicBezTo>
                  <a:pt x="94869" y="125269"/>
                  <a:pt x="93214" y="122111"/>
                  <a:pt x="90369" y="120390"/>
                </a:cubicBezTo>
                <a:cubicBezTo>
                  <a:pt x="87524" y="118670"/>
                  <a:pt x="83959" y="118670"/>
                  <a:pt x="81114" y="120390"/>
                </a:cubicBezTo>
                <a:cubicBezTo>
                  <a:pt x="78269" y="122111"/>
                  <a:pt x="76614" y="125269"/>
                  <a:pt x="76818" y="128587"/>
                </a:cubicBezTo>
                <a:cubicBezTo>
                  <a:pt x="76614" y="131906"/>
                  <a:pt x="78269" y="135064"/>
                  <a:pt x="81114" y="136785"/>
                </a:cubicBezTo>
                <a:cubicBezTo>
                  <a:pt x="83959" y="138505"/>
                  <a:pt x="87524" y="138505"/>
                  <a:pt x="90369" y="136785"/>
                </a:cubicBezTo>
                <a:cubicBezTo>
                  <a:pt x="93214" y="135064"/>
                  <a:pt x="94869" y="131906"/>
                  <a:pt x="94666" y="128588"/>
                </a:cubicBezTo>
                <a:close/>
              </a:path>
            </a:pathLst>
          </a:custGeom>
          <a:solidFill>
            <a:srgbClr val="FFFFFF"/>
          </a:solidFill>
          <a:ln/>
        </p:spPr>
      </p:sp>
      <p:sp>
        <p:nvSpPr>
          <p:cNvPr id="4" name="Text 2"/>
          <p:cNvSpPr/>
          <p:nvPr/>
        </p:nvSpPr>
        <p:spPr>
          <a:xfrm>
            <a:off x="876300" y="381000"/>
            <a:ext cx="593407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12 | MỨC Ý TƯỞNG</a:t>
            </a:r>
            <a:endParaRPr lang="en-US" sz="1600" dirty="0"/>
          </a:p>
        </p:txBody>
      </p:sp>
      <p:sp>
        <p:nvSpPr>
          <p:cNvPr id="5" name="Text 3"/>
          <p:cNvSpPr/>
          <p:nvPr/>
        </p:nvSpPr>
        <p:spPr>
          <a:xfrm>
            <a:off x="876300" y="571500"/>
            <a:ext cx="60102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Vấn đề thực tiễn trong tài liệu hóa mã nguồn</a:t>
            </a:r>
            <a:endParaRPr lang="en-US" sz="1600" dirty="0"/>
          </a:p>
        </p:txBody>
      </p:sp>
      <p:sp>
        <p:nvSpPr>
          <p:cNvPr id="6" name="Shape 4"/>
          <p:cNvSpPr/>
          <p:nvPr/>
        </p:nvSpPr>
        <p:spPr>
          <a:xfrm>
            <a:off x="385763" y="1147763"/>
            <a:ext cx="5610225" cy="1266825"/>
          </a:xfrm>
          <a:custGeom>
            <a:avLst/>
            <a:gdLst/>
            <a:ahLst/>
            <a:cxnLst/>
            <a:rect l="l" t="t" r="r" b="b"/>
            <a:pathLst>
              <a:path w="5610225" h="1266825">
                <a:moveTo>
                  <a:pt x="114306" y="0"/>
                </a:moveTo>
                <a:lnTo>
                  <a:pt x="5495919" y="0"/>
                </a:lnTo>
                <a:cubicBezTo>
                  <a:pt x="5559049" y="0"/>
                  <a:pt x="5610225" y="51176"/>
                  <a:pt x="5610225" y="114306"/>
                </a:cubicBezTo>
                <a:lnTo>
                  <a:pt x="5610225" y="1152519"/>
                </a:lnTo>
                <a:cubicBezTo>
                  <a:pt x="5610225" y="1215649"/>
                  <a:pt x="5559049" y="1266825"/>
                  <a:pt x="5495919" y="1266825"/>
                </a:cubicBezTo>
                <a:lnTo>
                  <a:pt x="114306" y="1266825"/>
                </a:lnTo>
                <a:cubicBezTo>
                  <a:pt x="51176" y="1266825"/>
                  <a:pt x="0" y="1215649"/>
                  <a:pt x="0" y="1152519"/>
                </a:cubicBezTo>
                <a:lnTo>
                  <a:pt x="0" y="114306"/>
                </a:lnTo>
                <a:cubicBezTo>
                  <a:pt x="0" y="51219"/>
                  <a:pt x="51219" y="0"/>
                  <a:pt x="114306"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09600" y="1362075"/>
            <a:ext cx="228600" cy="228600"/>
          </a:xfrm>
          <a:custGeom>
            <a:avLst/>
            <a:gdLst/>
            <a:ahLst/>
            <a:cxnLst/>
            <a:rect l="l" t="t" r="r" b="b"/>
            <a:pathLst>
              <a:path w="228600" h="228600">
                <a:moveTo>
                  <a:pt x="114300" y="0"/>
                </a:moveTo>
                <a:cubicBezTo>
                  <a:pt x="177384" y="0"/>
                  <a:pt x="228600" y="51216"/>
                  <a:pt x="228600" y="114300"/>
                </a:cubicBezTo>
                <a:cubicBezTo>
                  <a:pt x="228600" y="177384"/>
                  <a:pt x="177384" y="228600"/>
                  <a:pt x="114300" y="228600"/>
                </a:cubicBezTo>
                <a:cubicBezTo>
                  <a:pt x="51216" y="228600"/>
                  <a:pt x="0" y="177384"/>
                  <a:pt x="0" y="114300"/>
                </a:cubicBezTo>
                <a:cubicBezTo>
                  <a:pt x="0" y="51216"/>
                  <a:pt x="51216" y="0"/>
                  <a:pt x="114300" y="0"/>
                </a:cubicBezTo>
                <a:close/>
                <a:moveTo>
                  <a:pt x="103584" y="53578"/>
                </a:moveTo>
                <a:lnTo>
                  <a:pt x="103584" y="114300"/>
                </a:lnTo>
                <a:cubicBezTo>
                  <a:pt x="103584" y="117872"/>
                  <a:pt x="105370" y="121221"/>
                  <a:pt x="108362" y="123230"/>
                </a:cubicBezTo>
                <a:lnTo>
                  <a:pt x="151224" y="151805"/>
                </a:lnTo>
                <a:cubicBezTo>
                  <a:pt x="156136" y="155109"/>
                  <a:pt x="162788" y="153769"/>
                  <a:pt x="166092" y="148813"/>
                </a:cubicBezTo>
                <a:cubicBezTo>
                  <a:pt x="169396" y="143857"/>
                  <a:pt x="168057" y="137249"/>
                  <a:pt x="163101" y="133945"/>
                </a:cubicBezTo>
                <a:lnTo>
                  <a:pt x="125016" y="108585"/>
                </a:lnTo>
                <a:lnTo>
                  <a:pt x="125016" y="53578"/>
                </a:lnTo>
                <a:cubicBezTo>
                  <a:pt x="125016" y="47640"/>
                  <a:pt x="120238" y="42863"/>
                  <a:pt x="114300" y="42863"/>
                </a:cubicBezTo>
                <a:cubicBezTo>
                  <a:pt x="108362" y="42863"/>
                  <a:pt x="103584" y="47640"/>
                  <a:pt x="103584" y="53578"/>
                </a:cubicBezTo>
                <a:close/>
              </a:path>
            </a:pathLst>
          </a:custGeom>
          <a:solidFill>
            <a:srgbClr val="3B82F6"/>
          </a:solidFill>
          <a:ln/>
        </p:spPr>
      </p:sp>
      <p:sp>
        <p:nvSpPr>
          <p:cNvPr id="8" name="Text 6"/>
          <p:cNvSpPr/>
          <p:nvPr/>
        </p:nvSpPr>
        <p:spPr>
          <a:xfrm>
            <a:off x="981075" y="1343025"/>
            <a:ext cx="18383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Thách thức thờigian</a:t>
            </a:r>
            <a:endParaRPr lang="en-US" sz="1600" dirty="0"/>
          </a:p>
        </p:txBody>
      </p:sp>
      <p:sp>
        <p:nvSpPr>
          <p:cNvPr id="9" name="Text 7"/>
          <p:cNvSpPr/>
          <p:nvPr/>
        </p:nvSpPr>
        <p:spPr>
          <a:xfrm>
            <a:off x="581025" y="1724025"/>
            <a:ext cx="5295900" cy="495300"/>
          </a:xfrm>
          <a:prstGeom prst="rect">
            <a:avLst/>
          </a:prstGeom>
          <a:noFill/>
          <a:ln/>
        </p:spPr>
        <p:txBody>
          <a:bodyPr wrap="square" lIns="0" tIns="0" rIns="0" bIns="0" rtlCol="0" anchor="ctr"/>
          <a:lstStyle/>
          <a:p>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Lập trình viên không chỉ viết mã mà còn tốn </a:t>
            </a:r>
            <a:pPr>
              <a:lnSpc>
                <a:spcPct val="140000"/>
              </a:lnSpc>
            </a:pPr>
            <a:r>
              <a:rPr lang="en-US" sz="1200" dirty="0">
                <a:solidFill>
                  <a:srgbClr val="3B82F6"/>
                </a:solidFill>
                <a:highlight>
                  <a:srgbClr val="3B82F6">
                    <a:alpha val="20000"/>
                  </a:srgbClr>
                </a:highlight>
                <a:latin typeface="MiSans" pitchFamily="34" charset="0"/>
                <a:ea typeface="MiSans" pitchFamily="34" charset="-122"/>
                <a:cs typeface="MiSans" pitchFamily="34" charset="-120"/>
              </a:rPr>
              <a:t>rất nhiều thờigian </a:t>
            </a:r>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để đọc hiểu mã do ngườikhác (hoặc chính mình trong quá khứ) viết.</a:t>
            </a:r>
            <a:endParaRPr lang="en-US" sz="1600" dirty="0"/>
          </a:p>
        </p:txBody>
      </p:sp>
      <p:sp>
        <p:nvSpPr>
          <p:cNvPr id="10" name="Shape 8"/>
          <p:cNvSpPr/>
          <p:nvPr/>
        </p:nvSpPr>
        <p:spPr>
          <a:xfrm>
            <a:off x="385763" y="2576513"/>
            <a:ext cx="5610225" cy="2352675"/>
          </a:xfrm>
          <a:custGeom>
            <a:avLst/>
            <a:gdLst/>
            <a:ahLst/>
            <a:cxnLst/>
            <a:rect l="l" t="t" r="r" b="b"/>
            <a:pathLst>
              <a:path w="5610225" h="2352675">
                <a:moveTo>
                  <a:pt x="114293" y="0"/>
                </a:moveTo>
                <a:lnTo>
                  <a:pt x="5495932" y="0"/>
                </a:lnTo>
                <a:cubicBezTo>
                  <a:pt x="5559054" y="0"/>
                  <a:pt x="5610225" y="51171"/>
                  <a:pt x="5610225" y="114293"/>
                </a:cubicBezTo>
                <a:lnTo>
                  <a:pt x="5610225" y="2238382"/>
                </a:lnTo>
                <a:cubicBezTo>
                  <a:pt x="5610225" y="2301504"/>
                  <a:pt x="5559054" y="2352675"/>
                  <a:pt x="5495932" y="2352675"/>
                </a:cubicBezTo>
                <a:lnTo>
                  <a:pt x="114293" y="2352675"/>
                </a:lnTo>
                <a:cubicBezTo>
                  <a:pt x="51171" y="2352675"/>
                  <a:pt x="0" y="2301504"/>
                  <a:pt x="0" y="2238382"/>
                </a:cubicBezTo>
                <a:lnTo>
                  <a:pt x="0" y="114293"/>
                </a:lnTo>
                <a:cubicBezTo>
                  <a:pt x="0" y="51171"/>
                  <a:pt x="51171" y="0"/>
                  <a:pt x="114293"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11" name="Shape 9"/>
          <p:cNvSpPr/>
          <p:nvPr/>
        </p:nvSpPr>
        <p:spPr>
          <a:xfrm>
            <a:off x="609600" y="2790825"/>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14300" y="78581"/>
                </a:moveTo>
                <a:cubicBezTo>
                  <a:pt x="106397" y="78581"/>
                  <a:pt x="100013" y="84966"/>
                  <a:pt x="100013" y="92869"/>
                </a:cubicBezTo>
                <a:cubicBezTo>
                  <a:pt x="100013" y="98807"/>
                  <a:pt x="95235" y="103584"/>
                  <a:pt x="89297" y="103584"/>
                </a:cubicBezTo>
                <a:cubicBezTo>
                  <a:pt x="83359" y="103584"/>
                  <a:pt x="78581" y="98807"/>
                  <a:pt x="78581" y="92869"/>
                </a:cubicBezTo>
                <a:cubicBezTo>
                  <a:pt x="78581" y="73134"/>
                  <a:pt x="94565" y="57150"/>
                  <a:pt x="114300" y="57150"/>
                </a:cubicBezTo>
                <a:cubicBezTo>
                  <a:pt x="134035" y="57150"/>
                  <a:pt x="150019" y="73134"/>
                  <a:pt x="150019" y="92869"/>
                </a:cubicBezTo>
                <a:cubicBezTo>
                  <a:pt x="150019" y="113943"/>
                  <a:pt x="133945" y="122873"/>
                  <a:pt x="125016" y="126132"/>
                </a:cubicBezTo>
                <a:lnTo>
                  <a:pt x="125016" y="127828"/>
                </a:lnTo>
                <a:cubicBezTo>
                  <a:pt x="125016" y="133767"/>
                  <a:pt x="120238" y="138544"/>
                  <a:pt x="114300" y="138544"/>
                </a:cubicBezTo>
                <a:cubicBezTo>
                  <a:pt x="108362" y="138544"/>
                  <a:pt x="103584" y="133767"/>
                  <a:pt x="103584" y="127828"/>
                </a:cubicBezTo>
                <a:lnTo>
                  <a:pt x="103584" y="124212"/>
                </a:lnTo>
                <a:cubicBezTo>
                  <a:pt x="103584" y="115059"/>
                  <a:pt x="110192" y="108496"/>
                  <a:pt x="117024" y="106263"/>
                </a:cubicBezTo>
                <a:cubicBezTo>
                  <a:pt x="119881" y="105326"/>
                  <a:pt x="122917" y="103808"/>
                  <a:pt x="125150" y="101664"/>
                </a:cubicBezTo>
                <a:cubicBezTo>
                  <a:pt x="127069" y="99789"/>
                  <a:pt x="128588" y="97200"/>
                  <a:pt x="128588" y="92913"/>
                </a:cubicBezTo>
                <a:cubicBezTo>
                  <a:pt x="128588" y="85011"/>
                  <a:pt x="122203" y="78626"/>
                  <a:pt x="114300" y="78626"/>
                </a:cubicBezTo>
                <a:close/>
                <a:moveTo>
                  <a:pt x="100013" y="164306"/>
                </a:moveTo>
                <a:cubicBezTo>
                  <a:pt x="100013" y="156421"/>
                  <a:pt x="106415" y="150019"/>
                  <a:pt x="114300" y="150019"/>
                </a:cubicBezTo>
                <a:cubicBezTo>
                  <a:pt x="122185" y="150019"/>
                  <a:pt x="128588" y="156421"/>
                  <a:pt x="128588" y="164306"/>
                </a:cubicBezTo>
                <a:cubicBezTo>
                  <a:pt x="128588" y="172192"/>
                  <a:pt x="122185" y="178594"/>
                  <a:pt x="114300" y="178594"/>
                </a:cubicBezTo>
                <a:cubicBezTo>
                  <a:pt x="106415" y="178594"/>
                  <a:pt x="100013" y="172192"/>
                  <a:pt x="100013" y="164306"/>
                </a:cubicBezTo>
                <a:close/>
              </a:path>
            </a:pathLst>
          </a:custGeom>
          <a:solidFill>
            <a:srgbClr val="8B5CF6"/>
          </a:solidFill>
          <a:ln/>
        </p:spPr>
      </p:sp>
      <p:sp>
        <p:nvSpPr>
          <p:cNvPr id="12" name="Text 10"/>
          <p:cNvSpPr/>
          <p:nvPr/>
        </p:nvSpPr>
        <p:spPr>
          <a:xfrm>
            <a:off x="981075" y="2771775"/>
            <a:ext cx="27527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Clean Code vs Documentation</a:t>
            </a:r>
            <a:endParaRPr lang="en-US" sz="1600" dirty="0"/>
          </a:p>
        </p:txBody>
      </p:sp>
      <p:sp>
        <p:nvSpPr>
          <p:cNvPr id="13" name="Text 11"/>
          <p:cNvSpPr/>
          <p:nvPr/>
        </p:nvSpPr>
        <p:spPr>
          <a:xfrm>
            <a:off x="581025" y="3152775"/>
            <a:ext cx="5295900" cy="742950"/>
          </a:xfrm>
          <a:prstGeom prst="rect">
            <a:avLst/>
          </a:prstGeom>
          <a:noFill/>
          <a:ln/>
        </p:spPr>
        <p:txBody>
          <a:bodyPr wrap="square" lIns="0" tIns="0" rIns="0" bIns="0" rtlCol="0" anchor="ctr"/>
          <a:lstStyle/>
          <a:p>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Mã nguồn viết tốt (clean code) có thể tự giải thích </a:t>
            </a:r>
            <a:pPr>
              <a:lnSpc>
                <a:spcPct val="140000"/>
              </a:lnSpc>
            </a:pPr>
            <a:r>
              <a:rPr lang="en-US" sz="1200" b="1" dirty="0">
                <a:solidFill>
                  <a:srgbClr val="8B5CF6"/>
                </a:solidFill>
                <a:latin typeface="MiSans" pitchFamily="34" charset="0"/>
                <a:ea typeface="MiSans" pitchFamily="34" charset="-122"/>
                <a:cs typeface="MiSans" pitchFamily="34" charset="-120"/>
              </a:rPr>
              <a:t>"what"</a:t>
            </a:r>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 - nó làm gì, nhưng lý do </a:t>
            </a:r>
            <a:pPr>
              <a:lnSpc>
                <a:spcPct val="140000"/>
              </a:lnSpc>
            </a:pPr>
            <a:r>
              <a:rPr lang="en-US" sz="1200" b="1" dirty="0">
                <a:solidFill>
                  <a:srgbClr val="8B5CF6"/>
                </a:solidFill>
                <a:latin typeface="MiSans" pitchFamily="34" charset="0"/>
                <a:ea typeface="MiSans" pitchFamily="34" charset="-122"/>
                <a:cs typeface="MiSans" pitchFamily="34" charset="-120"/>
              </a:rPr>
              <a:t>"why"</a:t>
            </a:r>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 - tại sao viết như vậy thì cần được giải thích qua tài liệu hóa.</a:t>
            </a:r>
            <a:endParaRPr lang="en-US" sz="1600" dirty="0"/>
          </a:p>
        </p:txBody>
      </p:sp>
      <p:sp>
        <p:nvSpPr>
          <p:cNvPr id="14" name="Shape 12"/>
          <p:cNvSpPr/>
          <p:nvPr/>
        </p:nvSpPr>
        <p:spPr>
          <a:xfrm>
            <a:off x="581025" y="4010025"/>
            <a:ext cx="2552700" cy="723900"/>
          </a:xfrm>
          <a:custGeom>
            <a:avLst/>
            <a:gdLst/>
            <a:ahLst/>
            <a:cxnLst/>
            <a:rect l="l" t="t" r="r" b="b"/>
            <a:pathLst>
              <a:path w="2552700" h="723900">
                <a:moveTo>
                  <a:pt x="76198" y="0"/>
                </a:moveTo>
                <a:lnTo>
                  <a:pt x="2476502" y="0"/>
                </a:lnTo>
                <a:cubicBezTo>
                  <a:pt x="2518557" y="0"/>
                  <a:pt x="2552700" y="34143"/>
                  <a:pt x="2552700" y="76198"/>
                </a:cubicBezTo>
                <a:lnTo>
                  <a:pt x="2552700" y="647702"/>
                </a:lnTo>
                <a:cubicBezTo>
                  <a:pt x="2552700" y="689757"/>
                  <a:pt x="2518557" y="723900"/>
                  <a:pt x="2476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5" name="Text 13"/>
          <p:cNvSpPr/>
          <p:nvPr/>
        </p:nvSpPr>
        <p:spPr>
          <a:xfrm>
            <a:off x="661988" y="4124325"/>
            <a:ext cx="23907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What</a:t>
            </a:r>
            <a:endParaRPr lang="en-US" sz="1600" dirty="0"/>
          </a:p>
        </p:txBody>
      </p:sp>
      <p:sp>
        <p:nvSpPr>
          <p:cNvPr id="16" name="Text 14"/>
          <p:cNvSpPr/>
          <p:nvPr/>
        </p:nvSpPr>
        <p:spPr>
          <a:xfrm>
            <a:off x="652463" y="4352925"/>
            <a:ext cx="2409825" cy="2667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Clean Code ✓</a:t>
            </a:r>
            <a:endParaRPr lang="en-US" sz="1600" dirty="0"/>
          </a:p>
        </p:txBody>
      </p:sp>
      <p:sp>
        <p:nvSpPr>
          <p:cNvPr id="17" name="Shape 15"/>
          <p:cNvSpPr/>
          <p:nvPr/>
        </p:nvSpPr>
        <p:spPr>
          <a:xfrm>
            <a:off x="3248025" y="4010025"/>
            <a:ext cx="2552700" cy="723900"/>
          </a:xfrm>
          <a:custGeom>
            <a:avLst/>
            <a:gdLst/>
            <a:ahLst/>
            <a:cxnLst/>
            <a:rect l="l" t="t" r="r" b="b"/>
            <a:pathLst>
              <a:path w="2552700" h="723900">
                <a:moveTo>
                  <a:pt x="76198" y="0"/>
                </a:moveTo>
                <a:lnTo>
                  <a:pt x="2476502" y="0"/>
                </a:lnTo>
                <a:cubicBezTo>
                  <a:pt x="2518557" y="0"/>
                  <a:pt x="2552700" y="34143"/>
                  <a:pt x="2552700" y="76198"/>
                </a:cubicBezTo>
                <a:lnTo>
                  <a:pt x="2552700" y="647702"/>
                </a:lnTo>
                <a:cubicBezTo>
                  <a:pt x="2552700" y="689757"/>
                  <a:pt x="2518557" y="723900"/>
                  <a:pt x="2476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8" name="Text 16"/>
          <p:cNvSpPr/>
          <p:nvPr/>
        </p:nvSpPr>
        <p:spPr>
          <a:xfrm>
            <a:off x="3328988" y="4124325"/>
            <a:ext cx="23907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Why</a:t>
            </a:r>
            <a:endParaRPr lang="en-US" sz="1600" dirty="0"/>
          </a:p>
        </p:txBody>
      </p:sp>
      <p:sp>
        <p:nvSpPr>
          <p:cNvPr id="19" name="Text 17"/>
          <p:cNvSpPr/>
          <p:nvPr/>
        </p:nvSpPr>
        <p:spPr>
          <a:xfrm>
            <a:off x="3319463" y="4352925"/>
            <a:ext cx="2409825" cy="266700"/>
          </a:xfrm>
          <a:prstGeom prst="rect">
            <a:avLst/>
          </a:prstGeom>
          <a:noFill/>
          <a:ln/>
        </p:spPr>
        <p:txBody>
          <a:bodyPr wrap="square" lIns="0" tIns="0" rIns="0" bIns="0" rtlCol="0" anchor="ctr"/>
          <a:lstStyle/>
          <a:p>
            <a:pPr algn="ctr">
              <a:lnSpc>
                <a:spcPct val="130000"/>
              </a:lnSpc>
            </a:pPr>
            <a:r>
              <a:rPr lang="en-US" sz="1350" b="1" dirty="0">
                <a:solidFill>
                  <a:srgbClr val="8B5CF6"/>
                </a:solidFill>
                <a:latin typeface="MiSans" pitchFamily="34" charset="0"/>
                <a:ea typeface="MiSans" pitchFamily="34" charset="-122"/>
                <a:cs typeface="MiSans" pitchFamily="34" charset="-120"/>
              </a:rPr>
              <a:t>Documentation ✓</a:t>
            </a:r>
            <a:endParaRPr lang="en-US" sz="1600" dirty="0"/>
          </a:p>
        </p:txBody>
      </p:sp>
      <p:sp>
        <p:nvSpPr>
          <p:cNvPr id="20" name="Shape 18"/>
          <p:cNvSpPr/>
          <p:nvPr/>
        </p:nvSpPr>
        <p:spPr>
          <a:xfrm>
            <a:off x="6196013" y="1147763"/>
            <a:ext cx="5610225" cy="4391025"/>
          </a:xfrm>
          <a:custGeom>
            <a:avLst/>
            <a:gdLst/>
            <a:ahLst/>
            <a:cxnLst/>
            <a:rect l="l" t="t" r="r" b="b"/>
            <a:pathLst>
              <a:path w="5610225" h="4391025">
                <a:moveTo>
                  <a:pt x="114298" y="0"/>
                </a:moveTo>
                <a:lnTo>
                  <a:pt x="5495927" y="0"/>
                </a:lnTo>
                <a:cubicBezTo>
                  <a:pt x="5559052" y="0"/>
                  <a:pt x="5610225" y="51173"/>
                  <a:pt x="5610225" y="114298"/>
                </a:cubicBezTo>
                <a:lnTo>
                  <a:pt x="5610225" y="4276727"/>
                </a:lnTo>
                <a:cubicBezTo>
                  <a:pt x="5610225" y="4339852"/>
                  <a:pt x="5559052" y="4391025"/>
                  <a:pt x="5495927" y="4391025"/>
                </a:cubicBezTo>
                <a:lnTo>
                  <a:pt x="114298" y="4391025"/>
                </a:lnTo>
                <a:cubicBezTo>
                  <a:pt x="51173" y="4391025"/>
                  <a:pt x="0" y="4339852"/>
                  <a:pt x="0" y="4276727"/>
                </a:cubicBezTo>
                <a:lnTo>
                  <a:pt x="0" y="114298"/>
                </a:lnTo>
                <a:cubicBezTo>
                  <a:pt x="0" y="51215"/>
                  <a:pt x="51215" y="0"/>
                  <a:pt x="11429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1" name="Shape 19"/>
          <p:cNvSpPr/>
          <p:nvPr/>
        </p:nvSpPr>
        <p:spPr>
          <a:xfrm>
            <a:off x="6434138" y="1362075"/>
            <a:ext cx="200025" cy="228600"/>
          </a:xfrm>
          <a:custGeom>
            <a:avLst/>
            <a:gdLst/>
            <a:ahLst/>
            <a:cxnLst/>
            <a:rect l="l" t="t" r="r" b="b"/>
            <a:pathLst>
              <a:path w="200025" h="228600">
                <a:moveTo>
                  <a:pt x="171450" y="228600"/>
                </a:moveTo>
                <a:lnTo>
                  <a:pt x="42863" y="228600"/>
                </a:lnTo>
                <a:cubicBezTo>
                  <a:pt x="19199" y="228600"/>
                  <a:pt x="0" y="209401"/>
                  <a:pt x="0" y="185738"/>
                </a:cubicBezTo>
                <a:lnTo>
                  <a:pt x="0" y="42863"/>
                </a:lnTo>
                <a:cubicBezTo>
                  <a:pt x="0" y="19199"/>
                  <a:pt x="19199" y="0"/>
                  <a:pt x="42863" y="0"/>
                </a:cubicBezTo>
                <a:lnTo>
                  <a:pt x="178594" y="0"/>
                </a:lnTo>
                <a:cubicBezTo>
                  <a:pt x="190426" y="0"/>
                  <a:pt x="200025" y="9599"/>
                  <a:pt x="200025" y="21431"/>
                </a:cubicBezTo>
                <a:lnTo>
                  <a:pt x="200025" y="150019"/>
                </a:lnTo>
                <a:cubicBezTo>
                  <a:pt x="200025" y="159350"/>
                  <a:pt x="194042" y="167298"/>
                  <a:pt x="185738" y="170244"/>
                </a:cubicBezTo>
                <a:lnTo>
                  <a:pt x="185738" y="200025"/>
                </a:lnTo>
                <a:cubicBezTo>
                  <a:pt x="193640" y="200025"/>
                  <a:pt x="200025" y="206410"/>
                  <a:pt x="200025" y="214313"/>
                </a:cubicBezTo>
                <a:cubicBezTo>
                  <a:pt x="200025" y="222215"/>
                  <a:pt x="193640" y="228600"/>
                  <a:pt x="185738" y="228600"/>
                </a:cubicBezTo>
                <a:lnTo>
                  <a:pt x="171450" y="228600"/>
                </a:lnTo>
                <a:close/>
                <a:moveTo>
                  <a:pt x="42863" y="171450"/>
                </a:moveTo>
                <a:cubicBezTo>
                  <a:pt x="34960" y="171450"/>
                  <a:pt x="28575" y="177835"/>
                  <a:pt x="28575" y="185738"/>
                </a:cubicBezTo>
                <a:cubicBezTo>
                  <a:pt x="28575" y="193640"/>
                  <a:pt x="34960" y="200025"/>
                  <a:pt x="42863" y="200025"/>
                </a:cubicBezTo>
                <a:lnTo>
                  <a:pt x="157163" y="200025"/>
                </a:lnTo>
                <a:lnTo>
                  <a:pt x="157163" y="171450"/>
                </a:lnTo>
                <a:lnTo>
                  <a:pt x="42863" y="171450"/>
                </a:lnTo>
                <a:close/>
                <a:moveTo>
                  <a:pt x="57150" y="67866"/>
                </a:moveTo>
                <a:cubicBezTo>
                  <a:pt x="57150" y="73804"/>
                  <a:pt x="61927" y="78581"/>
                  <a:pt x="67866" y="78581"/>
                </a:cubicBezTo>
                <a:lnTo>
                  <a:pt x="146447" y="78581"/>
                </a:lnTo>
                <a:cubicBezTo>
                  <a:pt x="152385" y="78581"/>
                  <a:pt x="157163" y="73804"/>
                  <a:pt x="157163" y="67866"/>
                </a:cubicBezTo>
                <a:cubicBezTo>
                  <a:pt x="157163" y="61927"/>
                  <a:pt x="152385" y="57150"/>
                  <a:pt x="146447" y="57150"/>
                </a:cubicBezTo>
                <a:lnTo>
                  <a:pt x="67866" y="57150"/>
                </a:lnTo>
                <a:cubicBezTo>
                  <a:pt x="61927" y="57150"/>
                  <a:pt x="57150" y="61927"/>
                  <a:pt x="57150" y="67866"/>
                </a:cubicBezTo>
                <a:close/>
                <a:moveTo>
                  <a:pt x="67866" y="100013"/>
                </a:moveTo>
                <a:cubicBezTo>
                  <a:pt x="61927" y="100013"/>
                  <a:pt x="57150" y="104790"/>
                  <a:pt x="57150" y="110728"/>
                </a:cubicBezTo>
                <a:cubicBezTo>
                  <a:pt x="57150" y="116666"/>
                  <a:pt x="61927" y="121444"/>
                  <a:pt x="67866" y="121444"/>
                </a:cubicBezTo>
                <a:lnTo>
                  <a:pt x="146447" y="121444"/>
                </a:lnTo>
                <a:cubicBezTo>
                  <a:pt x="152385" y="121444"/>
                  <a:pt x="157163" y="116666"/>
                  <a:pt x="157163" y="110728"/>
                </a:cubicBezTo>
                <a:cubicBezTo>
                  <a:pt x="157163" y="104790"/>
                  <a:pt x="152385" y="100013"/>
                  <a:pt x="146447" y="100013"/>
                </a:cubicBezTo>
                <a:lnTo>
                  <a:pt x="67866" y="100013"/>
                </a:lnTo>
                <a:close/>
              </a:path>
            </a:pathLst>
          </a:custGeom>
          <a:solidFill>
            <a:srgbClr val="10B981"/>
          </a:solidFill>
          <a:ln/>
        </p:spPr>
      </p:sp>
      <p:sp>
        <p:nvSpPr>
          <p:cNvPr id="22" name="Text 20"/>
          <p:cNvSpPr/>
          <p:nvPr/>
        </p:nvSpPr>
        <p:spPr>
          <a:xfrm>
            <a:off x="6791325" y="1343025"/>
            <a:ext cx="17240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Tiêu chuẩn Python</a:t>
            </a:r>
            <a:endParaRPr lang="en-US" sz="1600" dirty="0"/>
          </a:p>
        </p:txBody>
      </p:sp>
      <p:sp>
        <p:nvSpPr>
          <p:cNvPr id="23" name="Text 21"/>
          <p:cNvSpPr/>
          <p:nvPr/>
        </p:nvSpPr>
        <p:spPr>
          <a:xfrm>
            <a:off x="6391275" y="1762125"/>
            <a:ext cx="5295900" cy="6858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Tiêu chuẩn tài liệu hóa trong Python sử dụng </a:t>
            </a:r>
            <a:pPr>
              <a:lnSpc>
                <a:spcPct val="130000"/>
              </a:lnSpc>
            </a:pPr>
            <a:r>
              <a:rPr lang="en-US" sz="1200" b="1" dirty="0">
                <a:solidFill>
                  <a:srgbClr val="F1F5F9">
                    <a:alpha val="80000"/>
                  </a:srgbClr>
                </a:solidFill>
                <a:latin typeface="MiSans" pitchFamily="34" charset="0"/>
                <a:ea typeface="MiSans" pitchFamily="34" charset="-122"/>
                <a:cs typeface="MiSans" pitchFamily="34" charset="-120"/>
              </a:rPr>
              <a:t>Docstring</a:t>
            </a:r>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 (đặt trong 3 dấu nháy kép """). Có docstring rõ ràng giúp quá trình bảo trì phần mềm dễ dàng hơn.</a:t>
            </a:r>
            <a:endParaRPr lang="en-US" sz="1600" dirty="0"/>
          </a:p>
        </p:txBody>
      </p:sp>
      <p:sp>
        <p:nvSpPr>
          <p:cNvPr id="24" name="Shape 22"/>
          <p:cNvSpPr/>
          <p:nvPr/>
        </p:nvSpPr>
        <p:spPr>
          <a:xfrm>
            <a:off x="6410325" y="2600325"/>
            <a:ext cx="5200650" cy="685800"/>
          </a:xfrm>
          <a:custGeom>
            <a:avLst/>
            <a:gdLst/>
            <a:ahLst/>
            <a:cxnLst/>
            <a:rect l="l" t="t" r="r" b="b"/>
            <a:pathLst>
              <a:path w="5200650" h="685800">
                <a:moveTo>
                  <a:pt x="38100" y="0"/>
                </a:moveTo>
                <a:lnTo>
                  <a:pt x="5124451" y="0"/>
                </a:lnTo>
                <a:cubicBezTo>
                  <a:pt x="5166534" y="0"/>
                  <a:pt x="5200650" y="34116"/>
                  <a:pt x="5200650" y="76199"/>
                </a:cubicBezTo>
                <a:lnTo>
                  <a:pt x="5200650" y="609601"/>
                </a:lnTo>
                <a:cubicBezTo>
                  <a:pt x="5200650" y="651684"/>
                  <a:pt x="5166534" y="685800"/>
                  <a:pt x="5124451"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25" name="Shape 23"/>
          <p:cNvSpPr/>
          <p:nvPr/>
        </p:nvSpPr>
        <p:spPr>
          <a:xfrm>
            <a:off x="6410325" y="26003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3B82F6"/>
          </a:solidFill>
          <a:ln/>
        </p:spPr>
      </p:sp>
      <p:sp>
        <p:nvSpPr>
          <p:cNvPr id="26" name="Text 24"/>
          <p:cNvSpPr/>
          <p:nvPr/>
        </p:nvSpPr>
        <p:spPr>
          <a:xfrm>
            <a:off x="6543675" y="2714625"/>
            <a:ext cx="5029200"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PEP 257</a:t>
            </a:r>
            <a:endParaRPr lang="en-US" sz="1600" dirty="0"/>
          </a:p>
        </p:txBody>
      </p:sp>
      <p:sp>
        <p:nvSpPr>
          <p:cNvPr id="27" name="Text 25"/>
          <p:cNvSpPr/>
          <p:nvPr/>
        </p:nvSpPr>
        <p:spPr>
          <a:xfrm>
            <a:off x="6543675" y="29813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Tiêu chuẩn docstring của Python</a:t>
            </a:r>
            <a:endParaRPr lang="en-US" sz="1600" dirty="0"/>
          </a:p>
        </p:txBody>
      </p:sp>
      <p:sp>
        <p:nvSpPr>
          <p:cNvPr id="28" name="Shape 26"/>
          <p:cNvSpPr/>
          <p:nvPr/>
        </p:nvSpPr>
        <p:spPr>
          <a:xfrm>
            <a:off x="6410325" y="3400425"/>
            <a:ext cx="5200650" cy="685800"/>
          </a:xfrm>
          <a:custGeom>
            <a:avLst/>
            <a:gdLst/>
            <a:ahLst/>
            <a:cxnLst/>
            <a:rect l="l" t="t" r="r" b="b"/>
            <a:pathLst>
              <a:path w="5200650" h="685800">
                <a:moveTo>
                  <a:pt x="38100" y="0"/>
                </a:moveTo>
                <a:lnTo>
                  <a:pt x="5124451" y="0"/>
                </a:lnTo>
                <a:cubicBezTo>
                  <a:pt x="5166534" y="0"/>
                  <a:pt x="5200650" y="34116"/>
                  <a:pt x="5200650" y="76199"/>
                </a:cubicBezTo>
                <a:lnTo>
                  <a:pt x="5200650" y="609601"/>
                </a:lnTo>
                <a:cubicBezTo>
                  <a:pt x="5200650" y="651684"/>
                  <a:pt x="5166534" y="685800"/>
                  <a:pt x="5124451"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29" name="Shape 27"/>
          <p:cNvSpPr/>
          <p:nvPr/>
        </p:nvSpPr>
        <p:spPr>
          <a:xfrm>
            <a:off x="6410325" y="34004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8B5CF6"/>
          </a:solidFill>
          <a:ln/>
        </p:spPr>
      </p:sp>
      <p:sp>
        <p:nvSpPr>
          <p:cNvPr id="30" name="Text 28"/>
          <p:cNvSpPr/>
          <p:nvPr/>
        </p:nvSpPr>
        <p:spPr>
          <a:xfrm>
            <a:off x="6543675" y="3514725"/>
            <a:ext cx="5029200"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Google Style</a:t>
            </a:r>
            <a:endParaRPr lang="en-US" sz="1600" dirty="0"/>
          </a:p>
        </p:txBody>
      </p:sp>
      <p:sp>
        <p:nvSpPr>
          <p:cNvPr id="31" name="Text 29"/>
          <p:cNvSpPr/>
          <p:nvPr/>
        </p:nvSpPr>
        <p:spPr>
          <a:xfrm>
            <a:off x="6543675" y="37814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Định dạng phổ biến, dễ đọc</a:t>
            </a:r>
            <a:endParaRPr lang="en-US" sz="1600" dirty="0"/>
          </a:p>
        </p:txBody>
      </p:sp>
      <p:sp>
        <p:nvSpPr>
          <p:cNvPr id="32" name="Shape 30"/>
          <p:cNvSpPr/>
          <p:nvPr/>
        </p:nvSpPr>
        <p:spPr>
          <a:xfrm>
            <a:off x="6410325" y="4200525"/>
            <a:ext cx="5200650" cy="685800"/>
          </a:xfrm>
          <a:custGeom>
            <a:avLst/>
            <a:gdLst/>
            <a:ahLst/>
            <a:cxnLst/>
            <a:rect l="l" t="t" r="r" b="b"/>
            <a:pathLst>
              <a:path w="5200650" h="685800">
                <a:moveTo>
                  <a:pt x="38100" y="0"/>
                </a:moveTo>
                <a:lnTo>
                  <a:pt x="5124451" y="0"/>
                </a:lnTo>
                <a:cubicBezTo>
                  <a:pt x="5166534" y="0"/>
                  <a:pt x="5200650" y="34116"/>
                  <a:pt x="5200650" y="76199"/>
                </a:cubicBezTo>
                <a:lnTo>
                  <a:pt x="5200650" y="609601"/>
                </a:lnTo>
                <a:cubicBezTo>
                  <a:pt x="5200650" y="651684"/>
                  <a:pt x="5166534" y="685800"/>
                  <a:pt x="5124451"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33" name="Shape 31"/>
          <p:cNvSpPr/>
          <p:nvPr/>
        </p:nvSpPr>
        <p:spPr>
          <a:xfrm>
            <a:off x="6410325" y="42005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10B981"/>
          </a:solidFill>
          <a:ln/>
        </p:spPr>
      </p:sp>
      <p:sp>
        <p:nvSpPr>
          <p:cNvPr id="34" name="Text 32"/>
          <p:cNvSpPr/>
          <p:nvPr/>
        </p:nvSpPr>
        <p:spPr>
          <a:xfrm>
            <a:off x="6543675" y="4314825"/>
            <a:ext cx="502920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NumPy Style</a:t>
            </a:r>
            <a:endParaRPr lang="en-US" sz="1600" dirty="0"/>
          </a:p>
        </p:txBody>
      </p:sp>
      <p:sp>
        <p:nvSpPr>
          <p:cNvPr id="35" name="Text 33"/>
          <p:cNvSpPr/>
          <p:nvPr/>
        </p:nvSpPr>
        <p:spPr>
          <a:xfrm>
            <a:off x="6543675" y="45815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Phù hợp cho scientific computing</a:t>
            </a:r>
            <a:endParaRPr lang="en-US" sz="1600" dirty="0"/>
          </a:p>
        </p:txBody>
      </p:sp>
      <p:sp>
        <p:nvSpPr>
          <p:cNvPr id="36" name="Shape 34"/>
          <p:cNvSpPr/>
          <p:nvPr/>
        </p:nvSpPr>
        <p:spPr>
          <a:xfrm>
            <a:off x="6196013" y="57007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EF4444">
                  <a:alpha val="10000"/>
                </a:srgbClr>
              </a:gs>
              <a:gs pos="100000">
                <a:srgbClr val="EF4444">
                  <a:alpha val="5000"/>
                </a:srgbClr>
              </a:gs>
            </a:gsLst>
            <a:lin ang="0" scaled="1"/>
          </a:gradFill>
          <a:ln w="12700">
            <a:solidFill>
              <a:srgbClr val="EF4444">
                <a:alpha val="30196"/>
              </a:srgbClr>
            </a:solidFill>
            <a:prstDash val="solid"/>
          </a:ln>
        </p:spPr>
      </p:sp>
      <p:sp>
        <p:nvSpPr>
          <p:cNvPr id="37" name="Shape 35"/>
          <p:cNvSpPr/>
          <p:nvPr/>
        </p:nvSpPr>
        <p:spPr>
          <a:xfrm>
            <a:off x="6334125" y="59912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50602"/>
                </a:moveTo>
                <a:cubicBezTo>
                  <a:pt x="100199" y="50602"/>
                  <a:pt x="104180" y="54583"/>
                  <a:pt x="104180" y="59531"/>
                </a:cubicBezTo>
                <a:lnTo>
                  <a:pt x="104180" y="101203"/>
                </a:lnTo>
                <a:cubicBezTo>
                  <a:pt x="104180" y="106152"/>
                  <a:pt x="100199" y="110133"/>
                  <a:pt x="95250" y="110133"/>
                </a:cubicBezTo>
                <a:cubicBezTo>
                  <a:pt x="90301" y="110133"/>
                  <a:pt x="86320" y="106152"/>
                  <a:pt x="86320" y="101203"/>
                </a:cubicBezTo>
                <a:lnTo>
                  <a:pt x="86320" y="59531"/>
                </a:lnTo>
                <a:cubicBezTo>
                  <a:pt x="86320" y="54583"/>
                  <a:pt x="90301" y="50602"/>
                  <a:pt x="95250" y="50602"/>
                </a:cubicBezTo>
                <a:close/>
                <a:moveTo>
                  <a:pt x="85316" y="130969"/>
                </a:moveTo>
                <a:cubicBezTo>
                  <a:pt x="85090" y="127281"/>
                  <a:pt x="86929" y="123773"/>
                  <a:pt x="90090" y="121861"/>
                </a:cubicBezTo>
                <a:cubicBezTo>
                  <a:pt x="93251" y="119949"/>
                  <a:pt x="97212" y="119949"/>
                  <a:pt x="100373" y="121861"/>
                </a:cubicBezTo>
                <a:cubicBezTo>
                  <a:pt x="103534" y="123773"/>
                  <a:pt x="105373" y="127281"/>
                  <a:pt x="105147" y="130969"/>
                </a:cubicBezTo>
                <a:cubicBezTo>
                  <a:pt x="105373" y="134656"/>
                  <a:pt x="103534" y="138165"/>
                  <a:pt x="100373" y="140077"/>
                </a:cubicBezTo>
                <a:cubicBezTo>
                  <a:pt x="97212" y="141989"/>
                  <a:pt x="93251" y="141989"/>
                  <a:pt x="90090" y="140077"/>
                </a:cubicBezTo>
                <a:cubicBezTo>
                  <a:pt x="86929" y="138165"/>
                  <a:pt x="85090" y="134656"/>
                  <a:pt x="85316" y="130969"/>
                </a:cubicBezTo>
                <a:close/>
              </a:path>
            </a:pathLst>
          </a:custGeom>
          <a:solidFill>
            <a:srgbClr val="EF4444"/>
          </a:solidFill>
          <a:ln/>
        </p:spPr>
      </p:sp>
      <p:sp>
        <p:nvSpPr>
          <p:cNvPr id="38" name="Text 36"/>
          <p:cNvSpPr/>
          <p:nvPr/>
        </p:nvSpPr>
        <p:spPr>
          <a:xfrm>
            <a:off x="6615708" y="5857875"/>
            <a:ext cx="5105400" cy="457200"/>
          </a:xfrm>
          <a:prstGeom prst="rect">
            <a:avLst/>
          </a:prstGeom>
          <a:noFill/>
          <a:ln/>
        </p:spPr>
        <p:txBody>
          <a:bodyPr wrap="square" lIns="0" tIns="0" rIns="0" bIns="0" rtlCol="0" anchor="ctr"/>
          <a:lstStyle/>
          <a:p>
            <a:pPr>
              <a:lnSpc>
                <a:spcPct val="130000"/>
              </a:lnSpc>
            </a:pPr>
            <a:r>
              <a:rPr lang="en-US" sz="1200" b="1" dirty="0">
                <a:solidFill>
                  <a:srgbClr val="EF4444"/>
                </a:solidFill>
                <a:latin typeface="MiSans" pitchFamily="34" charset="0"/>
                <a:ea typeface="MiSans" pitchFamily="34" charset="-122"/>
                <a:cs typeface="MiSans" pitchFamily="34" charset="-120"/>
              </a:rPr>
              <a:t>Stale Comments:</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Tài liệu lỗi thờkhông còn khớp với mã nguồn sau khi refactor code - vấn đề nan giải trong bảo trì phần mềm.</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509587" y="561975"/>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FFFFFF"/>
          </a:solidFill>
          <a:ln/>
        </p:spPr>
      </p:sp>
      <p:sp>
        <p:nvSpPr>
          <p:cNvPr id="4" name="Text 2"/>
          <p:cNvSpPr/>
          <p:nvPr/>
        </p:nvSpPr>
        <p:spPr>
          <a:xfrm>
            <a:off x="876300" y="381000"/>
            <a:ext cx="4257675"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12 | GIẢI PHÁP</a:t>
            </a:r>
            <a:endParaRPr lang="en-US" sz="1600" dirty="0"/>
          </a:p>
        </p:txBody>
      </p:sp>
      <p:sp>
        <p:nvSpPr>
          <p:cNvPr id="5" name="Text 3"/>
          <p:cNvSpPr/>
          <p:nvPr/>
        </p:nvSpPr>
        <p:spPr>
          <a:xfrm>
            <a:off x="876300" y="571500"/>
            <a:ext cx="43338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Giải pháp GenAI cho tài liệu hóa</a:t>
            </a:r>
            <a:endParaRPr lang="en-US" sz="1600" dirty="0"/>
          </a:p>
        </p:txBody>
      </p:sp>
      <p:sp>
        <p:nvSpPr>
          <p:cNvPr id="6" name="Shape 4"/>
          <p:cNvSpPr/>
          <p:nvPr/>
        </p:nvSpPr>
        <p:spPr>
          <a:xfrm>
            <a:off x="385763" y="1147763"/>
            <a:ext cx="5629275" cy="2238375"/>
          </a:xfrm>
          <a:custGeom>
            <a:avLst/>
            <a:gdLst/>
            <a:ahLst/>
            <a:cxnLst/>
            <a:rect l="l" t="t" r="r" b="b"/>
            <a:pathLst>
              <a:path w="5629275" h="2238375">
                <a:moveTo>
                  <a:pt x="114291" y="0"/>
                </a:moveTo>
                <a:lnTo>
                  <a:pt x="5514984" y="0"/>
                </a:lnTo>
                <a:cubicBezTo>
                  <a:pt x="5578105" y="0"/>
                  <a:pt x="5629275" y="51170"/>
                  <a:pt x="5629275" y="114291"/>
                </a:cubicBezTo>
                <a:lnTo>
                  <a:pt x="5629275" y="2124084"/>
                </a:lnTo>
                <a:cubicBezTo>
                  <a:pt x="5629275" y="2187205"/>
                  <a:pt x="5578105" y="2238375"/>
                  <a:pt x="5514984" y="2238375"/>
                </a:cubicBezTo>
                <a:lnTo>
                  <a:pt x="114291" y="2238375"/>
                </a:lnTo>
                <a:cubicBezTo>
                  <a:pt x="51170" y="2238375"/>
                  <a:pt x="0" y="2187205"/>
                  <a:pt x="0" y="2124084"/>
                </a:cubicBezTo>
                <a:lnTo>
                  <a:pt x="0" y="114291"/>
                </a:lnTo>
                <a:cubicBezTo>
                  <a:pt x="0" y="51212"/>
                  <a:pt x="51212" y="0"/>
                  <a:pt x="114291"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3406" y="1343025"/>
            <a:ext cx="357188" cy="285750"/>
          </a:xfrm>
          <a:custGeom>
            <a:avLst/>
            <a:gdLst/>
            <a:ahLst/>
            <a:cxnLst/>
            <a:rect l="l" t="t" r="r" b="b"/>
            <a:pathLst>
              <a:path w="357188" h="285750">
                <a:moveTo>
                  <a:pt x="196453" y="0"/>
                </a:moveTo>
                <a:cubicBezTo>
                  <a:pt x="196453" y="-9878"/>
                  <a:pt x="188472" y="-17859"/>
                  <a:pt x="178594" y="-17859"/>
                </a:cubicBezTo>
                <a:cubicBezTo>
                  <a:pt x="168715" y="-17859"/>
                  <a:pt x="160734" y="-9878"/>
                  <a:pt x="160734" y="0"/>
                </a:cubicBezTo>
                <a:lnTo>
                  <a:pt x="160734" y="35719"/>
                </a:lnTo>
                <a:lnTo>
                  <a:pt x="107156" y="35719"/>
                </a:lnTo>
                <a:cubicBezTo>
                  <a:pt x="77577" y="35719"/>
                  <a:pt x="53578" y="59717"/>
                  <a:pt x="53578" y="89297"/>
                </a:cubicBezTo>
                <a:lnTo>
                  <a:pt x="53578" y="214313"/>
                </a:lnTo>
                <a:cubicBezTo>
                  <a:pt x="53578" y="243892"/>
                  <a:pt x="77577" y="267891"/>
                  <a:pt x="107156" y="267891"/>
                </a:cubicBezTo>
                <a:lnTo>
                  <a:pt x="250031" y="267891"/>
                </a:lnTo>
                <a:cubicBezTo>
                  <a:pt x="279611" y="267891"/>
                  <a:pt x="303609" y="243892"/>
                  <a:pt x="303609" y="214313"/>
                </a:cubicBezTo>
                <a:lnTo>
                  <a:pt x="303609" y="89297"/>
                </a:lnTo>
                <a:cubicBezTo>
                  <a:pt x="303609" y="59717"/>
                  <a:pt x="279611" y="35719"/>
                  <a:pt x="250031" y="35719"/>
                </a:cubicBezTo>
                <a:lnTo>
                  <a:pt x="196453" y="35719"/>
                </a:lnTo>
                <a:lnTo>
                  <a:pt x="196453" y="0"/>
                </a:lnTo>
                <a:close/>
                <a:moveTo>
                  <a:pt x="89297" y="205383"/>
                </a:moveTo>
                <a:cubicBezTo>
                  <a:pt x="89297" y="197960"/>
                  <a:pt x="95269" y="191988"/>
                  <a:pt x="102691" y="191988"/>
                </a:cubicBezTo>
                <a:lnTo>
                  <a:pt x="120551" y="191988"/>
                </a:lnTo>
                <a:cubicBezTo>
                  <a:pt x="127974" y="191988"/>
                  <a:pt x="133945" y="197960"/>
                  <a:pt x="133945" y="205383"/>
                </a:cubicBezTo>
                <a:cubicBezTo>
                  <a:pt x="133945" y="212806"/>
                  <a:pt x="127974" y="218777"/>
                  <a:pt x="120551" y="218777"/>
                </a:cubicBezTo>
                <a:lnTo>
                  <a:pt x="102691" y="218777"/>
                </a:lnTo>
                <a:cubicBezTo>
                  <a:pt x="95269" y="218777"/>
                  <a:pt x="89297" y="212806"/>
                  <a:pt x="89297" y="205383"/>
                </a:cubicBezTo>
                <a:close/>
                <a:moveTo>
                  <a:pt x="156270" y="205383"/>
                </a:moveTo>
                <a:cubicBezTo>
                  <a:pt x="156270" y="197960"/>
                  <a:pt x="162241" y="191988"/>
                  <a:pt x="169664" y="191988"/>
                </a:cubicBezTo>
                <a:lnTo>
                  <a:pt x="187523" y="191988"/>
                </a:lnTo>
                <a:cubicBezTo>
                  <a:pt x="194946" y="191988"/>
                  <a:pt x="200918" y="197960"/>
                  <a:pt x="200918" y="205383"/>
                </a:cubicBezTo>
                <a:cubicBezTo>
                  <a:pt x="200918" y="212806"/>
                  <a:pt x="194946" y="218777"/>
                  <a:pt x="187523" y="218777"/>
                </a:cubicBezTo>
                <a:lnTo>
                  <a:pt x="169664" y="218777"/>
                </a:lnTo>
                <a:cubicBezTo>
                  <a:pt x="162241" y="218777"/>
                  <a:pt x="156270" y="212806"/>
                  <a:pt x="156270" y="205383"/>
                </a:cubicBezTo>
                <a:close/>
                <a:moveTo>
                  <a:pt x="223242" y="205383"/>
                </a:moveTo>
                <a:cubicBezTo>
                  <a:pt x="223242" y="197960"/>
                  <a:pt x="229214" y="191988"/>
                  <a:pt x="236637" y="191988"/>
                </a:cubicBezTo>
                <a:lnTo>
                  <a:pt x="254496" y="191988"/>
                </a:lnTo>
                <a:cubicBezTo>
                  <a:pt x="261919" y="191988"/>
                  <a:pt x="267891" y="197960"/>
                  <a:pt x="267891" y="205383"/>
                </a:cubicBezTo>
                <a:cubicBezTo>
                  <a:pt x="267891" y="212806"/>
                  <a:pt x="261919" y="218777"/>
                  <a:pt x="254496" y="218777"/>
                </a:cubicBezTo>
                <a:lnTo>
                  <a:pt x="236637" y="218777"/>
                </a:lnTo>
                <a:cubicBezTo>
                  <a:pt x="229214" y="218777"/>
                  <a:pt x="223242" y="212806"/>
                  <a:pt x="223242" y="205383"/>
                </a:cubicBezTo>
                <a:close/>
                <a:moveTo>
                  <a:pt x="125016" y="98227"/>
                </a:moveTo>
                <a:cubicBezTo>
                  <a:pt x="139801" y="98227"/>
                  <a:pt x="151805" y="110230"/>
                  <a:pt x="151805" y="125016"/>
                </a:cubicBezTo>
                <a:cubicBezTo>
                  <a:pt x="151805" y="139801"/>
                  <a:pt x="139801" y="151805"/>
                  <a:pt x="125016" y="151805"/>
                </a:cubicBezTo>
                <a:cubicBezTo>
                  <a:pt x="110230" y="151805"/>
                  <a:pt x="98227" y="139801"/>
                  <a:pt x="98227" y="125016"/>
                </a:cubicBezTo>
                <a:cubicBezTo>
                  <a:pt x="98227" y="110230"/>
                  <a:pt x="110230" y="98227"/>
                  <a:pt x="125016" y="98227"/>
                </a:cubicBezTo>
                <a:close/>
                <a:moveTo>
                  <a:pt x="205383" y="125016"/>
                </a:moveTo>
                <a:cubicBezTo>
                  <a:pt x="205383" y="110230"/>
                  <a:pt x="217387" y="98227"/>
                  <a:pt x="232172" y="98227"/>
                </a:cubicBezTo>
                <a:cubicBezTo>
                  <a:pt x="246957" y="98227"/>
                  <a:pt x="258961" y="110230"/>
                  <a:pt x="258961" y="125016"/>
                </a:cubicBezTo>
                <a:cubicBezTo>
                  <a:pt x="258961" y="139801"/>
                  <a:pt x="246957" y="151805"/>
                  <a:pt x="232172" y="151805"/>
                </a:cubicBezTo>
                <a:cubicBezTo>
                  <a:pt x="217387" y="151805"/>
                  <a:pt x="205383" y="139801"/>
                  <a:pt x="205383" y="125016"/>
                </a:cubicBezTo>
                <a:close/>
                <a:moveTo>
                  <a:pt x="35719" y="125016"/>
                </a:moveTo>
                <a:cubicBezTo>
                  <a:pt x="35719" y="115137"/>
                  <a:pt x="27738" y="107156"/>
                  <a:pt x="17859" y="107156"/>
                </a:cubicBezTo>
                <a:cubicBezTo>
                  <a:pt x="7981" y="107156"/>
                  <a:pt x="0" y="115137"/>
                  <a:pt x="0" y="125016"/>
                </a:cubicBezTo>
                <a:lnTo>
                  <a:pt x="0" y="178594"/>
                </a:lnTo>
                <a:cubicBezTo>
                  <a:pt x="0" y="188472"/>
                  <a:pt x="7981" y="196453"/>
                  <a:pt x="17859" y="196453"/>
                </a:cubicBezTo>
                <a:cubicBezTo>
                  <a:pt x="27738" y="196453"/>
                  <a:pt x="35719" y="188472"/>
                  <a:pt x="35719" y="178594"/>
                </a:cubicBezTo>
                <a:lnTo>
                  <a:pt x="35719" y="125016"/>
                </a:lnTo>
                <a:close/>
                <a:moveTo>
                  <a:pt x="339328" y="107156"/>
                </a:moveTo>
                <a:cubicBezTo>
                  <a:pt x="329450" y="107156"/>
                  <a:pt x="321469" y="115137"/>
                  <a:pt x="321469" y="125016"/>
                </a:cubicBezTo>
                <a:lnTo>
                  <a:pt x="321469" y="178594"/>
                </a:lnTo>
                <a:cubicBezTo>
                  <a:pt x="321469" y="188472"/>
                  <a:pt x="329450" y="196453"/>
                  <a:pt x="339328" y="196453"/>
                </a:cubicBezTo>
                <a:cubicBezTo>
                  <a:pt x="349207" y="196453"/>
                  <a:pt x="357188" y="188472"/>
                  <a:pt x="357188" y="178594"/>
                </a:cubicBezTo>
                <a:lnTo>
                  <a:pt x="357188" y="125016"/>
                </a:lnTo>
                <a:cubicBezTo>
                  <a:pt x="357188" y="115137"/>
                  <a:pt x="349207" y="107156"/>
                  <a:pt x="339328" y="107156"/>
                </a:cubicBezTo>
                <a:close/>
              </a:path>
            </a:pathLst>
          </a:custGeom>
          <a:solidFill>
            <a:srgbClr val="3B82F6"/>
          </a:solidFill>
          <a:ln/>
        </p:spPr>
      </p:sp>
      <p:sp>
        <p:nvSpPr>
          <p:cNvPr id="8" name="Text 6"/>
          <p:cNvSpPr/>
          <p:nvPr/>
        </p:nvSpPr>
        <p:spPr>
          <a:xfrm>
            <a:off x="1052513" y="1352550"/>
            <a:ext cx="14097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Công cụ GenAI</a:t>
            </a:r>
            <a:endParaRPr lang="en-US" sz="1600" dirty="0"/>
          </a:p>
        </p:txBody>
      </p:sp>
      <p:sp>
        <p:nvSpPr>
          <p:cNvPr id="9" name="Shape 7"/>
          <p:cNvSpPr/>
          <p:nvPr/>
        </p:nvSpPr>
        <p:spPr>
          <a:xfrm>
            <a:off x="581025" y="1781175"/>
            <a:ext cx="5238750" cy="647700"/>
          </a:xfrm>
          <a:custGeom>
            <a:avLst/>
            <a:gdLst/>
            <a:ahLst/>
            <a:cxnLst/>
            <a:rect l="l" t="t" r="r" b="b"/>
            <a:pathLst>
              <a:path w="5238750" h="647700">
                <a:moveTo>
                  <a:pt x="76202" y="0"/>
                </a:moveTo>
                <a:lnTo>
                  <a:pt x="5162548" y="0"/>
                </a:lnTo>
                <a:cubicBezTo>
                  <a:pt x="5204633" y="0"/>
                  <a:pt x="5238750" y="34117"/>
                  <a:pt x="5238750" y="76202"/>
                </a:cubicBezTo>
                <a:lnTo>
                  <a:pt x="5238750" y="571498"/>
                </a:lnTo>
                <a:cubicBezTo>
                  <a:pt x="5238750" y="613583"/>
                  <a:pt x="5204633" y="647700"/>
                  <a:pt x="5162548" y="647700"/>
                </a:cubicBezTo>
                <a:lnTo>
                  <a:pt x="76202" y="647700"/>
                </a:lnTo>
                <a:cubicBezTo>
                  <a:pt x="34117" y="647700"/>
                  <a:pt x="0" y="613583"/>
                  <a:pt x="0" y="571498"/>
                </a:cubicBezTo>
                <a:lnTo>
                  <a:pt x="0" y="76202"/>
                </a:lnTo>
                <a:cubicBezTo>
                  <a:pt x="0" y="34117"/>
                  <a:pt x="34117" y="0"/>
                  <a:pt x="76202" y="0"/>
                </a:cubicBezTo>
                <a:close/>
              </a:path>
            </a:pathLst>
          </a:custGeom>
          <a:solidFill>
            <a:srgbClr val="0F172A"/>
          </a:solidFill>
          <a:ln/>
        </p:spPr>
      </p:sp>
      <p:sp>
        <p:nvSpPr>
          <p:cNvPr id="10" name="Shape 8"/>
          <p:cNvSpPr/>
          <p:nvPr/>
        </p:nvSpPr>
        <p:spPr>
          <a:xfrm>
            <a:off x="695325" y="19145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11" name="Shape 9"/>
          <p:cNvSpPr/>
          <p:nvPr/>
        </p:nvSpPr>
        <p:spPr>
          <a:xfrm>
            <a:off x="809625" y="2028825"/>
            <a:ext cx="152400" cy="152400"/>
          </a:xfrm>
          <a:custGeom>
            <a:avLst/>
            <a:gdLst/>
            <a:ahLst/>
            <a:cxnLst/>
            <a:rect l="l" t="t" r="r" b="b"/>
            <a:pathLst>
              <a:path w="152400" h="152400">
                <a:moveTo>
                  <a:pt x="51762" y="118289"/>
                </a:moveTo>
                <a:cubicBezTo>
                  <a:pt x="51762" y="118884"/>
                  <a:pt x="51078" y="119360"/>
                  <a:pt x="50215" y="119360"/>
                </a:cubicBezTo>
                <a:cubicBezTo>
                  <a:pt x="49232" y="119449"/>
                  <a:pt x="48548" y="118973"/>
                  <a:pt x="48548" y="118289"/>
                </a:cubicBezTo>
                <a:cubicBezTo>
                  <a:pt x="48548" y="117693"/>
                  <a:pt x="49232" y="117217"/>
                  <a:pt x="50096" y="117217"/>
                </a:cubicBezTo>
                <a:cubicBezTo>
                  <a:pt x="50989" y="117128"/>
                  <a:pt x="51762" y="117604"/>
                  <a:pt x="51762" y="118289"/>
                </a:cubicBezTo>
                <a:close/>
                <a:moveTo>
                  <a:pt x="42505" y="116949"/>
                </a:moveTo>
                <a:cubicBezTo>
                  <a:pt x="42297" y="117544"/>
                  <a:pt x="42892" y="118229"/>
                  <a:pt x="43785" y="118408"/>
                </a:cubicBezTo>
                <a:cubicBezTo>
                  <a:pt x="44559" y="118705"/>
                  <a:pt x="45452" y="118408"/>
                  <a:pt x="45631" y="117812"/>
                </a:cubicBezTo>
                <a:cubicBezTo>
                  <a:pt x="45809" y="117217"/>
                  <a:pt x="45244" y="116532"/>
                  <a:pt x="44351" y="116265"/>
                </a:cubicBezTo>
                <a:cubicBezTo>
                  <a:pt x="43577" y="116056"/>
                  <a:pt x="42714" y="116354"/>
                  <a:pt x="42505" y="116949"/>
                </a:cubicBezTo>
                <a:close/>
                <a:moveTo>
                  <a:pt x="55662" y="116443"/>
                </a:moveTo>
                <a:cubicBezTo>
                  <a:pt x="54799" y="116651"/>
                  <a:pt x="54203" y="117217"/>
                  <a:pt x="54293" y="117902"/>
                </a:cubicBezTo>
                <a:cubicBezTo>
                  <a:pt x="54382" y="118497"/>
                  <a:pt x="55156" y="118884"/>
                  <a:pt x="56049" y="118676"/>
                </a:cubicBezTo>
                <a:cubicBezTo>
                  <a:pt x="56912" y="118467"/>
                  <a:pt x="57507" y="117902"/>
                  <a:pt x="57418" y="117306"/>
                </a:cubicBezTo>
                <a:cubicBezTo>
                  <a:pt x="57329" y="116741"/>
                  <a:pt x="56525" y="116354"/>
                  <a:pt x="55662" y="116443"/>
                </a:cubicBezTo>
                <a:close/>
                <a:moveTo>
                  <a:pt x="75248" y="2381"/>
                </a:moveTo>
                <a:cubicBezTo>
                  <a:pt x="33963" y="2381"/>
                  <a:pt x="2381" y="33724"/>
                  <a:pt x="2381" y="75009"/>
                </a:cubicBezTo>
                <a:cubicBezTo>
                  <a:pt x="2381" y="108019"/>
                  <a:pt x="23158" y="136267"/>
                  <a:pt x="52834" y="146209"/>
                </a:cubicBezTo>
                <a:cubicBezTo>
                  <a:pt x="56644" y="146893"/>
                  <a:pt x="57983" y="144542"/>
                  <a:pt x="57983" y="142607"/>
                </a:cubicBezTo>
                <a:cubicBezTo>
                  <a:pt x="57983" y="140762"/>
                  <a:pt x="57894" y="130582"/>
                  <a:pt x="57894" y="124331"/>
                </a:cubicBezTo>
                <a:cubicBezTo>
                  <a:pt x="57894" y="124331"/>
                  <a:pt x="37058" y="128796"/>
                  <a:pt x="32683" y="115461"/>
                </a:cubicBezTo>
                <a:cubicBezTo>
                  <a:pt x="32683" y="115461"/>
                  <a:pt x="29289" y="106799"/>
                  <a:pt x="24408" y="104567"/>
                </a:cubicBezTo>
                <a:cubicBezTo>
                  <a:pt x="24408" y="104567"/>
                  <a:pt x="17591" y="99893"/>
                  <a:pt x="24884" y="99983"/>
                </a:cubicBezTo>
                <a:cubicBezTo>
                  <a:pt x="24884" y="99983"/>
                  <a:pt x="32296" y="100578"/>
                  <a:pt x="36374" y="107662"/>
                </a:cubicBezTo>
                <a:cubicBezTo>
                  <a:pt x="42892" y="119152"/>
                  <a:pt x="53816" y="115848"/>
                  <a:pt x="58073" y="113883"/>
                </a:cubicBezTo>
                <a:cubicBezTo>
                  <a:pt x="58757" y="109121"/>
                  <a:pt x="60692" y="105817"/>
                  <a:pt x="62835" y="103852"/>
                </a:cubicBezTo>
                <a:cubicBezTo>
                  <a:pt x="46196" y="102007"/>
                  <a:pt x="29408" y="99596"/>
                  <a:pt x="29408" y="70961"/>
                </a:cubicBezTo>
                <a:cubicBezTo>
                  <a:pt x="29408" y="62776"/>
                  <a:pt x="31671" y="58668"/>
                  <a:pt x="36433" y="53429"/>
                </a:cubicBezTo>
                <a:cubicBezTo>
                  <a:pt x="35659" y="51495"/>
                  <a:pt x="33129" y="43517"/>
                  <a:pt x="37207" y="33218"/>
                </a:cubicBezTo>
                <a:cubicBezTo>
                  <a:pt x="43428" y="31284"/>
                  <a:pt x="57745" y="41255"/>
                  <a:pt x="57745" y="41255"/>
                </a:cubicBezTo>
                <a:cubicBezTo>
                  <a:pt x="63698" y="39588"/>
                  <a:pt x="70098" y="38725"/>
                  <a:pt x="76438" y="38725"/>
                </a:cubicBezTo>
                <a:cubicBezTo>
                  <a:pt x="82778" y="38725"/>
                  <a:pt x="89178" y="39588"/>
                  <a:pt x="95131" y="41255"/>
                </a:cubicBezTo>
                <a:cubicBezTo>
                  <a:pt x="95131" y="41255"/>
                  <a:pt x="109448" y="31254"/>
                  <a:pt x="115669" y="33218"/>
                </a:cubicBezTo>
                <a:cubicBezTo>
                  <a:pt x="119747" y="43547"/>
                  <a:pt x="117217" y="51495"/>
                  <a:pt x="116443" y="53429"/>
                </a:cubicBezTo>
                <a:cubicBezTo>
                  <a:pt x="121206" y="58698"/>
                  <a:pt x="124123" y="62805"/>
                  <a:pt x="124123" y="70961"/>
                </a:cubicBezTo>
                <a:cubicBezTo>
                  <a:pt x="124123" y="99685"/>
                  <a:pt x="106591" y="101977"/>
                  <a:pt x="89952" y="103852"/>
                </a:cubicBezTo>
                <a:cubicBezTo>
                  <a:pt x="92690" y="106204"/>
                  <a:pt x="95012" y="110669"/>
                  <a:pt x="95012" y="117664"/>
                </a:cubicBezTo>
                <a:cubicBezTo>
                  <a:pt x="95012" y="127695"/>
                  <a:pt x="94923" y="140107"/>
                  <a:pt x="94923" y="142548"/>
                </a:cubicBezTo>
                <a:cubicBezTo>
                  <a:pt x="94923" y="144482"/>
                  <a:pt x="96292" y="146834"/>
                  <a:pt x="100072" y="146149"/>
                </a:cubicBezTo>
                <a:cubicBezTo>
                  <a:pt x="129838" y="136267"/>
                  <a:pt x="150019" y="108019"/>
                  <a:pt x="150019" y="75009"/>
                </a:cubicBezTo>
                <a:cubicBezTo>
                  <a:pt x="150019" y="33724"/>
                  <a:pt x="116532" y="2381"/>
                  <a:pt x="75248" y="2381"/>
                </a:cubicBezTo>
                <a:close/>
                <a:moveTo>
                  <a:pt x="31313" y="105043"/>
                </a:moveTo>
                <a:cubicBezTo>
                  <a:pt x="30926" y="105341"/>
                  <a:pt x="31016" y="106025"/>
                  <a:pt x="31522" y="106591"/>
                </a:cubicBezTo>
                <a:cubicBezTo>
                  <a:pt x="31998" y="107067"/>
                  <a:pt x="32683" y="107275"/>
                  <a:pt x="33070" y="106888"/>
                </a:cubicBezTo>
                <a:cubicBezTo>
                  <a:pt x="33457" y="106591"/>
                  <a:pt x="33367" y="105906"/>
                  <a:pt x="32861" y="105341"/>
                </a:cubicBezTo>
                <a:cubicBezTo>
                  <a:pt x="32385" y="104864"/>
                  <a:pt x="31700" y="104656"/>
                  <a:pt x="31313" y="105043"/>
                </a:cubicBezTo>
                <a:close/>
                <a:moveTo>
                  <a:pt x="28099" y="102632"/>
                </a:moveTo>
                <a:cubicBezTo>
                  <a:pt x="27890" y="103019"/>
                  <a:pt x="28188" y="103495"/>
                  <a:pt x="28783" y="103793"/>
                </a:cubicBezTo>
                <a:cubicBezTo>
                  <a:pt x="29260" y="104090"/>
                  <a:pt x="29855" y="104001"/>
                  <a:pt x="30063" y="103584"/>
                </a:cubicBezTo>
                <a:cubicBezTo>
                  <a:pt x="30272" y="103197"/>
                  <a:pt x="29974" y="102721"/>
                  <a:pt x="29379" y="102424"/>
                </a:cubicBezTo>
                <a:cubicBezTo>
                  <a:pt x="28783" y="102245"/>
                  <a:pt x="28307" y="102334"/>
                  <a:pt x="28099" y="102632"/>
                </a:cubicBezTo>
                <a:close/>
                <a:moveTo>
                  <a:pt x="37743" y="113228"/>
                </a:moveTo>
                <a:cubicBezTo>
                  <a:pt x="37267" y="113615"/>
                  <a:pt x="37445" y="114508"/>
                  <a:pt x="38130" y="115074"/>
                </a:cubicBezTo>
                <a:cubicBezTo>
                  <a:pt x="38814" y="115759"/>
                  <a:pt x="39678" y="115848"/>
                  <a:pt x="40065" y="115372"/>
                </a:cubicBezTo>
                <a:cubicBezTo>
                  <a:pt x="40451" y="114985"/>
                  <a:pt x="40273" y="114092"/>
                  <a:pt x="39678" y="113526"/>
                </a:cubicBezTo>
                <a:cubicBezTo>
                  <a:pt x="39023" y="112841"/>
                  <a:pt x="38130" y="112752"/>
                  <a:pt x="37743" y="113228"/>
                </a:cubicBezTo>
                <a:close/>
                <a:moveTo>
                  <a:pt x="34350" y="108853"/>
                </a:moveTo>
                <a:cubicBezTo>
                  <a:pt x="33873" y="109151"/>
                  <a:pt x="33873" y="109924"/>
                  <a:pt x="34350" y="110609"/>
                </a:cubicBezTo>
                <a:cubicBezTo>
                  <a:pt x="34826" y="111294"/>
                  <a:pt x="35629" y="111591"/>
                  <a:pt x="36016" y="111294"/>
                </a:cubicBezTo>
                <a:cubicBezTo>
                  <a:pt x="36493" y="110907"/>
                  <a:pt x="36493" y="110133"/>
                  <a:pt x="36016" y="109448"/>
                </a:cubicBezTo>
                <a:cubicBezTo>
                  <a:pt x="35600" y="108764"/>
                  <a:pt x="34826" y="108466"/>
                  <a:pt x="34350" y="108853"/>
                </a:cubicBezTo>
                <a:close/>
              </a:path>
            </a:pathLst>
          </a:custGeom>
          <a:solidFill>
            <a:srgbClr val="FFFFFF"/>
          </a:solidFill>
          <a:ln/>
        </p:spPr>
      </p:sp>
      <p:sp>
        <p:nvSpPr>
          <p:cNvPr id="12" name="Text 10"/>
          <p:cNvSpPr/>
          <p:nvPr/>
        </p:nvSpPr>
        <p:spPr>
          <a:xfrm>
            <a:off x="1190625" y="1895475"/>
            <a:ext cx="17811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GitHub Copilot</a:t>
            </a:r>
            <a:endParaRPr lang="en-US" sz="1600" dirty="0"/>
          </a:p>
        </p:txBody>
      </p:sp>
      <p:sp>
        <p:nvSpPr>
          <p:cNvPr id="13" name="Text 11"/>
          <p:cNvSpPr/>
          <p:nvPr/>
        </p:nvSpPr>
        <p:spPr>
          <a:xfrm>
            <a:off x="1190625" y="2124075"/>
            <a:ext cx="177165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MiSans" pitchFamily="34" charset="0"/>
                <a:ea typeface="MiSans" pitchFamily="34" charset="-122"/>
                <a:cs typeface="MiSans" pitchFamily="34" charset="-120"/>
              </a:rPr>
              <a:t>Tích hợp trực tiếp trong IDE</a:t>
            </a:r>
            <a:endParaRPr lang="en-US" sz="1600" dirty="0"/>
          </a:p>
        </p:txBody>
      </p:sp>
      <p:sp>
        <p:nvSpPr>
          <p:cNvPr id="14" name="Shape 12"/>
          <p:cNvSpPr/>
          <p:nvPr/>
        </p:nvSpPr>
        <p:spPr>
          <a:xfrm>
            <a:off x="581025" y="2543175"/>
            <a:ext cx="5238750" cy="647700"/>
          </a:xfrm>
          <a:custGeom>
            <a:avLst/>
            <a:gdLst/>
            <a:ahLst/>
            <a:cxnLst/>
            <a:rect l="l" t="t" r="r" b="b"/>
            <a:pathLst>
              <a:path w="5238750" h="647700">
                <a:moveTo>
                  <a:pt x="76202" y="0"/>
                </a:moveTo>
                <a:lnTo>
                  <a:pt x="5162548" y="0"/>
                </a:lnTo>
                <a:cubicBezTo>
                  <a:pt x="5204633" y="0"/>
                  <a:pt x="5238750" y="34117"/>
                  <a:pt x="5238750" y="76202"/>
                </a:cubicBezTo>
                <a:lnTo>
                  <a:pt x="5238750" y="571498"/>
                </a:lnTo>
                <a:cubicBezTo>
                  <a:pt x="5238750" y="613583"/>
                  <a:pt x="5204633" y="647700"/>
                  <a:pt x="5162548" y="647700"/>
                </a:cubicBezTo>
                <a:lnTo>
                  <a:pt x="76202" y="647700"/>
                </a:lnTo>
                <a:cubicBezTo>
                  <a:pt x="34117" y="647700"/>
                  <a:pt x="0" y="613583"/>
                  <a:pt x="0" y="571498"/>
                </a:cubicBezTo>
                <a:lnTo>
                  <a:pt x="0" y="76202"/>
                </a:lnTo>
                <a:cubicBezTo>
                  <a:pt x="0" y="34117"/>
                  <a:pt x="34117" y="0"/>
                  <a:pt x="76202" y="0"/>
                </a:cubicBezTo>
                <a:close/>
              </a:path>
            </a:pathLst>
          </a:custGeom>
          <a:solidFill>
            <a:srgbClr val="0F172A"/>
          </a:solidFill>
          <a:ln/>
        </p:spPr>
      </p:sp>
      <p:sp>
        <p:nvSpPr>
          <p:cNvPr id="15" name="Shape 13"/>
          <p:cNvSpPr/>
          <p:nvPr/>
        </p:nvSpPr>
        <p:spPr>
          <a:xfrm>
            <a:off x="695325" y="26765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16" name="Shape 14"/>
          <p:cNvSpPr/>
          <p:nvPr/>
        </p:nvSpPr>
        <p:spPr>
          <a:xfrm>
            <a:off x="800100" y="2790825"/>
            <a:ext cx="171450" cy="152400"/>
          </a:xfrm>
          <a:custGeom>
            <a:avLst/>
            <a:gdLst/>
            <a:ahLst/>
            <a:cxnLst/>
            <a:rect l="l" t="t" r="r" b="b"/>
            <a:pathLst>
              <a:path w="171450" h="152400">
                <a:moveTo>
                  <a:pt x="114300" y="42863"/>
                </a:moveTo>
                <a:cubicBezTo>
                  <a:pt x="114300" y="71795"/>
                  <a:pt x="88702" y="95250"/>
                  <a:pt x="57150" y="95250"/>
                </a:cubicBezTo>
                <a:cubicBezTo>
                  <a:pt x="49203" y="95250"/>
                  <a:pt x="41642" y="93762"/>
                  <a:pt x="34766" y="91083"/>
                </a:cubicBezTo>
                <a:lnTo>
                  <a:pt x="10478" y="103942"/>
                </a:lnTo>
                <a:cubicBezTo>
                  <a:pt x="7709" y="105400"/>
                  <a:pt x="4316" y="104894"/>
                  <a:pt x="2084" y="102691"/>
                </a:cubicBezTo>
                <a:cubicBezTo>
                  <a:pt x="-149" y="100489"/>
                  <a:pt x="-655" y="97066"/>
                  <a:pt x="833" y="94298"/>
                </a:cubicBezTo>
                <a:lnTo>
                  <a:pt x="11430" y="74295"/>
                </a:lnTo>
                <a:cubicBezTo>
                  <a:pt x="4256" y="65544"/>
                  <a:pt x="0" y="54650"/>
                  <a:pt x="0" y="42863"/>
                </a:cubicBezTo>
                <a:cubicBezTo>
                  <a:pt x="0" y="13930"/>
                  <a:pt x="25598" y="-9525"/>
                  <a:pt x="57150" y="-9525"/>
                </a:cubicBezTo>
                <a:cubicBezTo>
                  <a:pt x="88702" y="-9525"/>
                  <a:pt x="114300" y="13930"/>
                  <a:pt x="114300" y="42863"/>
                </a:cubicBezTo>
                <a:close/>
                <a:moveTo>
                  <a:pt x="114300" y="152400"/>
                </a:moveTo>
                <a:cubicBezTo>
                  <a:pt x="86291" y="152400"/>
                  <a:pt x="62984" y="133916"/>
                  <a:pt x="58103" y="109537"/>
                </a:cubicBezTo>
                <a:cubicBezTo>
                  <a:pt x="93821" y="109091"/>
                  <a:pt x="124867" y="83671"/>
                  <a:pt x="128290" y="49203"/>
                </a:cubicBezTo>
                <a:cubicBezTo>
                  <a:pt x="153085" y="54918"/>
                  <a:pt x="171450" y="75486"/>
                  <a:pt x="171450" y="100013"/>
                </a:cubicBezTo>
                <a:cubicBezTo>
                  <a:pt x="171450" y="111800"/>
                  <a:pt x="167194" y="122694"/>
                  <a:pt x="160020" y="131445"/>
                </a:cubicBezTo>
                <a:lnTo>
                  <a:pt x="170617" y="151448"/>
                </a:lnTo>
                <a:cubicBezTo>
                  <a:pt x="172075" y="154216"/>
                  <a:pt x="171569" y="157609"/>
                  <a:pt x="169366" y="159841"/>
                </a:cubicBezTo>
                <a:cubicBezTo>
                  <a:pt x="167164" y="162074"/>
                  <a:pt x="163741" y="162580"/>
                  <a:pt x="160973" y="161092"/>
                </a:cubicBezTo>
                <a:lnTo>
                  <a:pt x="136684" y="148233"/>
                </a:lnTo>
                <a:cubicBezTo>
                  <a:pt x="129808" y="150912"/>
                  <a:pt x="122247" y="152400"/>
                  <a:pt x="114300" y="152400"/>
                </a:cubicBezTo>
                <a:close/>
              </a:path>
            </a:pathLst>
          </a:custGeom>
          <a:solidFill>
            <a:srgbClr val="FFFFFF"/>
          </a:solidFill>
          <a:ln/>
        </p:spPr>
      </p:sp>
      <p:sp>
        <p:nvSpPr>
          <p:cNvPr id="17" name="Text 15"/>
          <p:cNvSpPr/>
          <p:nvPr/>
        </p:nvSpPr>
        <p:spPr>
          <a:xfrm>
            <a:off x="1190625" y="2657475"/>
            <a:ext cx="16668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ChatGPT</a:t>
            </a:r>
            <a:endParaRPr lang="en-US" sz="1600" dirty="0"/>
          </a:p>
        </p:txBody>
      </p:sp>
      <p:sp>
        <p:nvSpPr>
          <p:cNvPr id="18" name="Text 16"/>
          <p:cNvSpPr/>
          <p:nvPr/>
        </p:nvSpPr>
        <p:spPr>
          <a:xfrm>
            <a:off x="1190625" y="2886075"/>
            <a:ext cx="165735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MiSans" pitchFamily="34" charset="0"/>
                <a:ea typeface="MiSans" pitchFamily="34" charset="-122"/>
                <a:cs typeface="MiSans" pitchFamily="34" charset="-120"/>
              </a:rPr>
              <a:t>Phân tích và tạo docstring</a:t>
            </a:r>
            <a:endParaRPr lang="en-US" sz="1600" dirty="0"/>
          </a:p>
        </p:txBody>
      </p:sp>
      <p:sp>
        <p:nvSpPr>
          <p:cNvPr id="19" name="Shape 17"/>
          <p:cNvSpPr/>
          <p:nvPr/>
        </p:nvSpPr>
        <p:spPr>
          <a:xfrm>
            <a:off x="6176963" y="1147763"/>
            <a:ext cx="5629275" cy="2238375"/>
          </a:xfrm>
          <a:custGeom>
            <a:avLst/>
            <a:gdLst/>
            <a:ahLst/>
            <a:cxnLst/>
            <a:rect l="l" t="t" r="r" b="b"/>
            <a:pathLst>
              <a:path w="5629275" h="2238375">
                <a:moveTo>
                  <a:pt x="114291" y="0"/>
                </a:moveTo>
                <a:lnTo>
                  <a:pt x="5514984" y="0"/>
                </a:lnTo>
                <a:cubicBezTo>
                  <a:pt x="5578105" y="0"/>
                  <a:pt x="5629275" y="51170"/>
                  <a:pt x="5629275" y="114291"/>
                </a:cubicBezTo>
                <a:lnTo>
                  <a:pt x="5629275" y="2124084"/>
                </a:lnTo>
                <a:cubicBezTo>
                  <a:pt x="5629275" y="2187205"/>
                  <a:pt x="5578105" y="2238375"/>
                  <a:pt x="5514984" y="2238375"/>
                </a:cubicBezTo>
                <a:lnTo>
                  <a:pt x="114291" y="2238375"/>
                </a:lnTo>
                <a:cubicBezTo>
                  <a:pt x="51170" y="2238375"/>
                  <a:pt x="0" y="2187205"/>
                  <a:pt x="0" y="2124084"/>
                </a:cubicBezTo>
                <a:lnTo>
                  <a:pt x="0" y="114291"/>
                </a:lnTo>
                <a:cubicBezTo>
                  <a:pt x="0" y="51212"/>
                  <a:pt x="51212" y="0"/>
                  <a:pt x="114291"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0" name="Shape 18"/>
          <p:cNvSpPr/>
          <p:nvPr/>
        </p:nvSpPr>
        <p:spPr>
          <a:xfrm>
            <a:off x="6410325" y="1343025"/>
            <a:ext cx="285750" cy="285750"/>
          </a:xfrm>
          <a:custGeom>
            <a:avLst/>
            <a:gdLst/>
            <a:ahLst/>
            <a:cxnLst/>
            <a:rect l="l" t="t" r="r" b="b"/>
            <a:pathLst>
              <a:path w="285750" h="285750">
                <a:moveTo>
                  <a:pt x="222405" y="6809"/>
                </a:moveTo>
                <a:lnTo>
                  <a:pt x="173180" y="56034"/>
                </a:lnTo>
                <a:lnTo>
                  <a:pt x="229716" y="112570"/>
                </a:lnTo>
                <a:lnTo>
                  <a:pt x="278941" y="63345"/>
                </a:lnTo>
                <a:cubicBezTo>
                  <a:pt x="283294" y="58936"/>
                  <a:pt x="285750" y="53020"/>
                  <a:pt x="285750" y="46881"/>
                </a:cubicBezTo>
                <a:cubicBezTo>
                  <a:pt x="285750" y="40742"/>
                  <a:pt x="283294" y="34826"/>
                  <a:pt x="278941" y="30417"/>
                </a:cubicBezTo>
                <a:lnTo>
                  <a:pt x="255333" y="6809"/>
                </a:lnTo>
                <a:cubicBezTo>
                  <a:pt x="250924" y="2456"/>
                  <a:pt x="245008" y="0"/>
                  <a:pt x="238869" y="0"/>
                </a:cubicBezTo>
                <a:cubicBezTo>
                  <a:pt x="232730" y="0"/>
                  <a:pt x="226814" y="2456"/>
                  <a:pt x="222405" y="6809"/>
                </a:cubicBezTo>
                <a:close/>
                <a:moveTo>
                  <a:pt x="154260" y="74954"/>
                </a:moveTo>
                <a:lnTo>
                  <a:pt x="6809" y="222405"/>
                </a:lnTo>
                <a:cubicBezTo>
                  <a:pt x="2456" y="226814"/>
                  <a:pt x="0" y="232730"/>
                  <a:pt x="0" y="238869"/>
                </a:cubicBezTo>
                <a:cubicBezTo>
                  <a:pt x="0" y="245008"/>
                  <a:pt x="2456" y="250924"/>
                  <a:pt x="6809" y="255333"/>
                </a:cubicBezTo>
                <a:lnTo>
                  <a:pt x="30417" y="278941"/>
                </a:lnTo>
                <a:cubicBezTo>
                  <a:pt x="34826" y="283294"/>
                  <a:pt x="40742" y="285750"/>
                  <a:pt x="46881" y="285750"/>
                </a:cubicBezTo>
                <a:cubicBezTo>
                  <a:pt x="53020" y="285750"/>
                  <a:pt x="58936" y="283294"/>
                  <a:pt x="63345" y="278941"/>
                </a:cubicBezTo>
                <a:lnTo>
                  <a:pt x="210796" y="131490"/>
                </a:lnTo>
                <a:lnTo>
                  <a:pt x="154260" y="74954"/>
                </a:lnTo>
                <a:close/>
              </a:path>
            </a:pathLst>
          </a:custGeom>
          <a:solidFill>
            <a:srgbClr val="10B981"/>
          </a:solidFill>
          <a:ln/>
        </p:spPr>
      </p:sp>
      <p:sp>
        <p:nvSpPr>
          <p:cNvPr id="21" name="Text 19"/>
          <p:cNvSpPr/>
          <p:nvPr/>
        </p:nvSpPr>
        <p:spPr>
          <a:xfrm>
            <a:off x="6843713" y="1352550"/>
            <a:ext cx="15811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Khả năng nổi bật</a:t>
            </a:r>
            <a:endParaRPr lang="en-US" sz="1600" dirty="0"/>
          </a:p>
        </p:txBody>
      </p:sp>
      <p:sp>
        <p:nvSpPr>
          <p:cNvPr id="22" name="Shape 20"/>
          <p:cNvSpPr/>
          <p:nvPr/>
        </p:nvSpPr>
        <p:spPr>
          <a:xfrm>
            <a:off x="6372225" y="18192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10B981">
              <a:alpha val="20000"/>
            </a:srgbClr>
          </a:solidFill>
          <a:ln/>
        </p:spPr>
      </p:sp>
      <p:sp>
        <p:nvSpPr>
          <p:cNvPr id="23" name="Shape 21"/>
          <p:cNvSpPr/>
          <p:nvPr/>
        </p:nvSpPr>
        <p:spPr>
          <a:xfrm>
            <a:off x="6468666" y="19050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24" name="Text 22"/>
          <p:cNvSpPr/>
          <p:nvPr/>
        </p:nvSpPr>
        <p:spPr>
          <a:xfrm>
            <a:off x="6791325" y="1781175"/>
            <a:ext cx="30575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Tự động tạo Docstring</a:t>
            </a:r>
            <a:endParaRPr lang="en-US" sz="1600" dirty="0"/>
          </a:p>
        </p:txBody>
      </p:sp>
      <p:sp>
        <p:nvSpPr>
          <p:cNvPr id="25" name="Text 23"/>
          <p:cNvSpPr/>
          <p:nvPr/>
        </p:nvSpPr>
        <p:spPr>
          <a:xfrm>
            <a:off x="6791325" y="2047875"/>
            <a:ext cx="30480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Theo đúng chuẩn PEP 257, Google Style, NumPy</a:t>
            </a:r>
            <a:endParaRPr lang="en-US" sz="1600" dirty="0"/>
          </a:p>
        </p:txBody>
      </p:sp>
      <p:sp>
        <p:nvSpPr>
          <p:cNvPr id="26" name="Shape 24"/>
          <p:cNvSpPr/>
          <p:nvPr/>
        </p:nvSpPr>
        <p:spPr>
          <a:xfrm>
            <a:off x="6372225" y="23907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alpha val="20000"/>
            </a:srgbClr>
          </a:solidFill>
          <a:ln/>
        </p:spPr>
      </p:sp>
      <p:sp>
        <p:nvSpPr>
          <p:cNvPr id="27" name="Shape 25"/>
          <p:cNvSpPr/>
          <p:nvPr/>
        </p:nvSpPr>
        <p:spPr>
          <a:xfrm>
            <a:off x="6460331" y="2476500"/>
            <a:ext cx="133350" cy="133350"/>
          </a:xfrm>
          <a:custGeom>
            <a:avLst/>
            <a:gdLst/>
            <a:ahLst/>
            <a:cxnLst/>
            <a:rect l="l" t="t" r="r" b="b"/>
            <a:pathLst>
              <a:path w="133350" h="133350">
                <a:moveTo>
                  <a:pt x="108347" y="54173"/>
                </a:moveTo>
                <a:cubicBezTo>
                  <a:pt x="108347" y="66128"/>
                  <a:pt x="104466" y="77171"/>
                  <a:pt x="97929" y="86131"/>
                </a:cubicBezTo>
                <a:lnTo>
                  <a:pt x="130902" y="119129"/>
                </a:lnTo>
                <a:cubicBezTo>
                  <a:pt x="134157" y="122385"/>
                  <a:pt x="134157" y="127672"/>
                  <a:pt x="130902" y="130928"/>
                </a:cubicBezTo>
                <a:cubicBezTo>
                  <a:pt x="127646" y="134183"/>
                  <a:pt x="122359" y="134183"/>
                  <a:pt x="119103" y="130928"/>
                </a:cubicBezTo>
                <a:lnTo>
                  <a:pt x="86131" y="97929"/>
                </a:lnTo>
                <a:cubicBezTo>
                  <a:pt x="77171" y="104466"/>
                  <a:pt x="66128" y="108347"/>
                  <a:pt x="54173" y="108347"/>
                </a:cubicBezTo>
                <a:cubicBezTo>
                  <a:pt x="24248" y="108347"/>
                  <a:pt x="0" y="84099"/>
                  <a:pt x="0" y="54173"/>
                </a:cubicBezTo>
                <a:cubicBezTo>
                  <a:pt x="0" y="24248"/>
                  <a:pt x="24248" y="0"/>
                  <a:pt x="54173" y="0"/>
                </a:cubicBezTo>
                <a:cubicBezTo>
                  <a:pt x="84099" y="0"/>
                  <a:pt x="108347" y="24248"/>
                  <a:pt x="108347" y="54173"/>
                </a:cubicBezTo>
                <a:close/>
                <a:moveTo>
                  <a:pt x="54173" y="91678"/>
                </a:moveTo>
                <a:cubicBezTo>
                  <a:pt x="74873" y="91678"/>
                  <a:pt x="91678" y="74873"/>
                  <a:pt x="91678" y="54173"/>
                </a:cubicBezTo>
                <a:cubicBezTo>
                  <a:pt x="91678" y="33474"/>
                  <a:pt x="74873" y="16669"/>
                  <a:pt x="54173" y="16669"/>
                </a:cubicBezTo>
                <a:cubicBezTo>
                  <a:pt x="33474" y="16669"/>
                  <a:pt x="16669" y="33474"/>
                  <a:pt x="16669" y="54173"/>
                </a:cubicBezTo>
                <a:cubicBezTo>
                  <a:pt x="16669" y="74873"/>
                  <a:pt x="33474" y="91678"/>
                  <a:pt x="54173" y="91678"/>
                </a:cubicBezTo>
                <a:close/>
              </a:path>
            </a:pathLst>
          </a:custGeom>
          <a:solidFill>
            <a:srgbClr val="8B5CF6"/>
          </a:solidFill>
          <a:ln/>
        </p:spPr>
      </p:sp>
      <p:sp>
        <p:nvSpPr>
          <p:cNvPr id="28" name="Text 26"/>
          <p:cNvSpPr/>
          <p:nvPr/>
        </p:nvSpPr>
        <p:spPr>
          <a:xfrm>
            <a:off x="6791325" y="2352675"/>
            <a:ext cx="30575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Phát hiện Stale Comments</a:t>
            </a:r>
            <a:endParaRPr lang="en-US" sz="1600" dirty="0"/>
          </a:p>
        </p:txBody>
      </p:sp>
      <p:sp>
        <p:nvSpPr>
          <p:cNvPr id="29" name="Text 27"/>
          <p:cNvSpPr/>
          <p:nvPr/>
        </p:nvSpPr>
        <p:spPr>
          <a:xfrm>
            <a:off x="6791325" y="2619375"/>
            <a:ext cx="30480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Giải quyết vấn đề tài liệu lỗi thờkhông khớp code</a:t>
            </a:r>
            <a:endParaRPr lang="en-US" sz="1600" dirty="0"/>
          </a:p>
        </p:txBody>
      </p:sp>
      <p:sp>
        <p:nvSpPr>
          <p:cNvPr id="30" name="Shape 28"/>
          <p:cNvSpPr/>
          <p:nvPr/>
        </p:nvSpPr>
        <p:spPr>
          <a:xfrm>
            <a:off x="385763" y="3548063"/>
            <a:ext cx="11420475" cy="1838325"/>
          </a:xfrm>
          <a:custGeom>
            <a:avLst/>
            <a:gdLst/>
            <a:ahLst/>
            <a:cxnLst/>
            <a:rect l="l" t="t" r="r" b="b"/>
            <a:pathLst>
              <a:path w="11420475" h="1838325">
                <a:moveTo>
                  <a:pt x="114307" y="0"/>
                </a:moveTo>
                <a:lnTo>
                  <a:pt x="11306168" y="0"/>
                </a:lnTo>
                <a:cubicBezTo>
                  <a:pt x="11369298" y="0"/>
                  <a:pt x="11420475" y="51177"/>
                  <a:pt x="11420475" y="114307"/>
                </a:cubicBezTo>
                <a:lnTo>
                  <a:pt x="11420475" y="1724018"/>
                </a:lnTo>
                <a:cubicBezTo>
                  <a:pt x="11420475" y="1787148"/>
                  <a:pt x="11369298" y="1838325"/>
                  <a:pt x="11306168" y="1838325"/>
                </a:cubicBezTo>
                <a:lnTo>
                  <a:pt x="114307" y="1838325"/>
                </a:lnTo>
                <a:cubicBezTo>
                  <a:pt x="51177" y="1838325"/>
                  <a:pt x="0" y="1787148"/>
                  <a:pt x="0" y="1724018"/>
                </a:cubicBezTo>
                <a:lnTo>
                  <a:pt x="0" y="114307"/>
                </a:lnTo>
                <a:cubicBezTo>
                  <a:pt x="0" y="51219"/>
                  <a:pt x="51219" y="0"/>
                  <a:pt x="114307"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31" name="Shape 29"/>
          <p:cNvSpPr/>
          <p:nvPr/>
        </p:nvSpPr>
        <p:spPr>
          <a:xfrm>
            <a:off x="581025" y="3781425"/>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3B82F6"/>
          </a:solidFill>
          <a:ln/>
        </p:spPr>
      </p:sp>
      <p:sp>
        <p:nvSpPr>
          <p:cNvPr id="32" name="Text 30"/>
          <p:cNvSpPr/>
          <p:nvPr/>
        </p:nvSpPr>
        <p:spPr>
          <a:xfrm>
            <a:off x="819150" y="3743325"/>
            <a:ext cx="1088707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Quy trình tự động hóa</a:t>
            </a:r>
            <a:endParaRPr lang="en-US" sz="1600" dirty="0"/>
          </a:p>
        </p:txBody>
      </p:sp>
      <p:sp>
        <p:nvSpPr>
          <p:cNvPr id="33" name="Shape 31"/>
          <p:cNvSpPr/>
          <p:nvPr/>
        </p:nvSpPr>
        <p:spPr>
          <a:xfrm>
            <a:off x="2057400" y="41624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3B82F6"/>
          </a:solidFill>
          <a:ln/>
        </p:spPr>
      </p:sp>
      <p:sp>
        <p:nvSpPr>
          <p:cNvPr id="34" name="Shape 32"/>
          <p:cNvSpPr/>
          <p:nvPr/>
        </p:nvSpPr>
        <p:spPr>
          <a:xfrm>
            <a:off x="2216944" y="4333875"/>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FFFFFF"/>
          </a:solidFill>
          <a:ln/>
        </p:spPr>
      </p:sp>
      <p:sp>
        <p:nvSpPr>
          <p:cNvPr id="35" name="Text 33"/>
          <p:cNvSpPr/>
          <p:nvPr/>
        </p:nvSpPr>
        <p:spPr>
          <a:xfrm>
            <a:off x="542925" y="4772025"/>
            <a:ext cx="356235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Developer</a:t>
            </a:r>
            <a:endParaRPr lang="en-US" sz="1600" dirty="0"/>
          </a:p>
        </p:txBody>
      </p:sp>
      <p:sp>
        <p:nvSpPr>
          <p:cNvPr id="36" name="Text 34"/>
          <p:cNvSpPr/>
          <p:nvPr/>
        </p:nvSpPr>
        <p:spPr>
          <a:xfrm>
            <a:off x="547688" y="5000625"/>
            <a:ext cx="355282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Viết code</a:t>
            </a:r>
            <a:endParaRPr lang="en-US" sz="1600" dirty="0"/>
          </a:p>
        </p:txBody>
      </p:sp>
      <p:sp>
        <p:nvSpPr>
          <p:cNvPr id="37" name="Shape 35"/>
          <p:cNvSpPr/>
          <p:nvPr/>
        </p:nvSpPr>
        <p:spPr>
          <a:xfrm>
            <a:off x="4095750" y="456247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3B82F6"/>
          </a:solidFill>
          <a:ln/>
        </p:spPr>
      </p:sp>
      <p:sp>
        <p:nvSpPr>
          <p:cNvPr id="38" name="Shape 36"/>
          <p:cNvSpPr/>
          <p:nvPr/>
        </p:nvSpPr>
        <p:spPr>
          <a:xfrm>
            <a:off x="5829300" y="41624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5CF6"/>
          </a:solidFill>
          <a:ln/>
        </p:spPr>
      </p:sp>
      <p:sp>
        <p:nvSpPr>
          <p:cNvPr id="39" name="Shape 37"/>
          <p:cNvSpPr/>
          <p:nvPr/>
        </p:nvSpPr>
        <p:spPr>
          <a:xfrm>
            <a:off x="5976938" y="4333875"/>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FFFFFF"/>
          </a:solidFill>
          <a:ln/>
        </p:spPr>
      </p:sp>
      <p:sp>
        <p:nvSpPr>
          <p:cNvPr id="40" name="Text 38"/>
          <p:cNvSpPr/>
          <p:nvPr/>
        </p:nvSpPr>
        <p:spPr>
          <a:xfrm>
            <a:off x="4314825" y="4772025"/>
            <a:ext cx="356235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GenAI</a:t>
            </a:r>
            <a:endParaRPr lang="en-US" sz="1600" dirty="0"/>
          </a:p>
        </p:txBody>
      </p:sp>
      <p:sp>
        <p:nvSpPr>
          <p:cNvPr id="41" name="Text 39"/>
          <p:cNvSpPr/>
          <p:nvPr/>
        </p:nvSpPr>
        <p:spPr>
          <a:xfrm>
            <a:off x="4319588" y="5000625"/>
            <a:ext cx="355282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Phân tích &amp; tạo doc</a:t>
            </a:r>
            <a:endParaRPr lang="en-US" sz="1600" dirty="0"/>
          </a:p>
        </p:txBody>
      </p:sp>
      <p:sp>
        <p:nvSpPr>
          <p:cNvPr id="42" name="Shape 40"/>
          <p:cNvSpPr/>
          <p:nvPr/>
        </p:nvSpPr>
        <p:spPr>
          <a:xfrm>
            <a:off x="7867650" y="456247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8B5CF6"/>
          </a:solidFill>
          <a:ln/>
        </p:spPr>
      </p:sp>
      <p:sp>
        <p:nvSpPr>
          <p:cNvPr id="43" name="Shape 41"/>
          <p:cNvSpPr/>
          <p:nvPr/>
        </p:nvSpPr>
        <p:spPr>
          <a:xfrm>
            <a:off x="9601200" y="41624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0B981"/>
          </a:solidFill>
          <a:ln/>
        </p:spPr>
      </p:sp>
      <p:sp>
        <p:nvSpPr>
          <p:cNvPr id="44" name="Shape 42"/>
          <p:cNvSpPr/>
          <p:nvPr/>
        </p:nvSpPr>
        <p:spPr>
          <a:xfrm>
            <a:off x="9796463" y="4333875"/>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2" y="6958"/>
                </a:cubicBezTo>
                <a:lnTo>
                  <a:pt x="135917" y="46620"/>
                </a:lnTo>
                <a:cubicBezTo>
                  <a:pt x="140382" y="51085"/>
                  <a:pt x="142875" y="57150"/>
                  <a:pt x="142875" y="63475"/>
                </a:cubicBezTo>
                <a:lnTo>
                  <a:pt x="142875" y="166688"/>
                </a:lnTo>
                <a:cubicBezTo>
                  <a:pt x="142875" y="179822"/>
                  <a:pt x="132197" y="190500"/>
                  <a:pt x="119063" y="190500"/>
                </a:cubicBezTo>
                <a:lnTo>
                  <a:pt x="23812" y="190500"/>
                </a:lnTo>
                <a:cubicBezTo>
                  <a:pt x="10678" y="190500"/>
                  <a:pt x="0" y="179822"/>
                  <a:pt x="0" y="166688"/>
                </a:cubicBezTo>
                <a:lnTo>
                  <a:pt x="0" y="23812"/>
                </a:lnTo>
                <a:close/>
                <a:moveTo>
                  <a:pt x="77391" y="21766"/>
                </a:moveTo>
                <a:lnTo>
                  <a:pt x="77391" y="56555"/>
                </a:lnTo>
                <a:cubicBezTo>
                  <a:pt x="77391" y="61503"/>
                  <a:pt x="81372" y="65484"/>
                  <a:pt x="86320" y="65484"/>
                </a:cubicBezTo>
                <a:lnTo>
                  <a:pt x="121109" y="65484"/>
                </a:lnTo>
                <a:lnTo>
                  <a:pt x="77391" y="21766"/>
                </a:lnTo>
                <a:close/>
                <a:moveTo>
                  <a:pt x="44648" y="95250"/>
                </a:moveTo>
                <a:cubicBezTo>
                  <a:pt x="39700" y="95250"/>
                  <a:pt x="35719" y="99231"/>
                  <a:pt x="35719" y="104180"/>
                </a:cubicBezTo>
                <a:cubicBezTo>
                  <a:pt x="35719" y="109128"/>
                  <a:pt x="39700" y="113109"/>
                  <a:pt x="44648" y="113109"/>
                </a:cubicBezTo>
                <a:lnTo>
                  <a:pt x="98227" y="113109"/>
                </a:lnTo>
                <a:cubicBezTo>
                  <a:pt x="103175" y="113109"/>
                  <a:pt x="107156" y="109128"/>
                  <a:pt x="107156" y="104180"/>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8"/>
                  <a:pt x="44648" y="148828"/>
                </a:cubicBezTo>
                <a:lnTo>
                  <a:pt x="98227" y="148828"/>
                </a:lnTo>
                <a:cubicBezTo>
                  <a:pt x="103175" y="148828"/>
                  <a:pt x="107156" y="144847"/>
                  <a:pt x="107156" y="139898"/>
                </a:cubicBezTo>
                <a:cubicBezTo>
                  <a:pt x="107156" y="134950"/>
                  <a:pt x="103175" y="130969"/>
                  <a:pt x="98227" y="130969"/>
                </a:cubicBezTo>
                <a:lnTo>
                  <a:pt x="44648" y="130969"/>
                </a:lnTo>
                <a:close/>
              </a:path>
            </a:pathLst>
          </a:custGeom>
          <a:solidFill>
            <a:srgbClr val="FFFFFF"/>
          </a:solidFill>
          <a:ln/>
        </p:spPr>
      </p:sp>
      <p:sp>
        <p:nvSpPr>
          <p:cNvPr id="45" name="Text 43"/>
          <p:cNvSpPr/>
          <p:nvPr/>
        </p:nvSpPr>
        <p:spPr>
          <a:xfrm>
            <a:off x="8086725" y="4772025"/>
            <a:ext cx="356235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Output</a:t>
            </a:r>
            <a:endParaRPr lang="en-US" sz="1600" dirty="0"/>
          </a:p>
        </p:txBody>
      </p:sp>
      <p:sp>
        <p:nvSpPr>
          <p:cNvPr id="46" name="Text 44"/>
          <p:cNvSpPr/>
          <p:nvPr/>
        </p:nvSpPr>
        <p:spPr>
          <a:xfrm>
            <a:off x="8091488" y="5000625"/>
            <a:ext cx="355282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Code có tài liệu</a:t>
            </a:r>
            <a:endParaRPr lang="en-US" sz="1600" dirty="0"/>
          </a:p>
        </p:txBody>
      </p:sp>
      <p:sp>
        <p:nvSpPr>
          <p:cNvPr id="47" name="Shape 45"/>
          <p:cNvSpPr/>
          <p:nvPr/>
        </p:nvSpPr>
        <p:spPr>
          <a:xfrm>
            <a:off x="385763" y="5548313"/>
            <a:ext cx="11420475" cy="542925"/>
          </a:xfrm>
          <a:custGeom>
            <a:avLst/>
            <a:gdLst/>
            <a:ahLst/>
            <a:cxnLst/>
            <a:rect l="l" t="t" r="r" b="b"/>
            <a:pathLst>
              <a:path w="11420475" h="542925">
                <a:moveTo>
                  <a:pt x="114302" y="0"/>
                </a:moveTo>
                <a:lnTo>
                  <a:pt x="11306173" y="0"/>
                </a:lnTo>
                <a:cubicBezTo>
                  <a:pt x="11369300" y="0"/>
                  <a:pt x="11420475" y="51175"/>
                  <a:pt x="11420475" y="114302"/>
                </a:cubicBezTo>
                <a:lnTo>
                  <a:pt x="11420475" y="428623"/>
                </a:lnTo>
                <a:cubicBezTo>
                  <a:pt x="11420475" y="491750"/>
                  <a:pt x="11369300" y="542925"/>
                  <a:pt x="11306173" y="542925"/>
                </a:cubicBezTo>
                <a:lnTo>
                  <a:pt x="114302" y="542925"/>
                </a:lnTo>
                <a:cubicBezTo>
                  <a:pt x="51175" y="542925"/>
                  <a:pt x="0" y="491750"/>
                  <a:pt x="0" y="428623"/>
                </a:cubicBezTo>
                <a:lnTo>
                  <a:pt x="0" y="114302"/>
                </a:lnTo>
                <a:cubicBezTo>
                  <a:pt x="0" y="51175"/>
                  <a:pt x="51175" y="0"/>
                  <a:pt x="114302" y="0"/>
                </a:cubicBezTo>
                <a:close/>
              </a:path>
            </a:pathLst>
          </a:custGeom>
          <a:solidFill>
            <a:srgbClr val="0F172A"/>
          </a:solidFill>
          <a:ln w="12700">
            <a:solidFill>
              <a:srgbClr val="3B82F6">
                <a:alpha val="30196"/>
              </a:srgbClr>
            </a:solidFill>
            <a:prstDash val="solid"/>
          </a:ln>
        </p:spPr>
      </p:sp>
      <p:sp>
        <p:nvSpPr>
          <p:cNvPr id="48" name="Shape 46"/>
          <p:cNvSpPr/>
          <p:nvPr/>
        </p:nvSpPr>
        <p:spPr>
          <a:xfrm>
            <a:off x="561975" y="57531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3B82F6"/>
          </a:solidFill>
          <a:ln/>
        </p:spPr>
      </p:sp>
      <p:sp>
        <p:nvSpPr>
          <p:cNvPr id="49" name="Text 47"/>
          <p:cNvSpPr/>
          <p:nvPr/>
        </p:nvSpPr>
        <p:spPr>
          <a:xfrm>
            <a:off x="790575" y="5705475"/>
            <a:ext cx="10934700" cy="2286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Giá trị cốt lõi:</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Thay vì viết thủ công tốn thờigian, GenAI giúp tự động hóa việc tạo Docstring và giải quyết triệt để vấn đề Stale Comments.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0" y="26789"/>
                </a:moveTo>
                <a:cubicBezTo>
                  <a:pt x="0" y="17915"/>
                  <a:pt x="7200" y="10716"/>
                  <a:pt x="16073" y="10716"/>
                </a:cubicBezTo>
                <a:lnTo>
                  <a:pt x="48220" y="10716"/>
                </a:lnTo>
                <a:cubicBezTo>
                  <a:pt x="57094" y="10716"/>
                  <a:pt x="64294" y="17915"/>
                  <a:pt x="64294" y="26789"/>
                </a:cubicBezTo>
                <a:lnTo>
                  <a:pt x="64294" y="32147"/>
                </a:lnTo>
                <a:lnTo>
                  <a:pt x="107156" y="32147"/>
                </a:lnTo>
                <a:lnTo>
                  <a:pt x="107156" y="26789"/>
                </a:lnTo>
                <a:cubicBezTo>
                  <a:pt x="107156" y="17915"/>
                  <a:pt x="114356" y="10716"/>
                  <a:pt x="123230" y="10716"/>
                </a:cubicBezTo>
                <a:lnTo>
                  <a:pt x="155377" y="10716"/>
                </a:lnTo>
                <a:cubicBezTo>
                  <a:pt x="164250" y="10716"/>
                  <a:pt x="171450" y="17915"/>
                  <a:pt x="171450" y="26789"/>
                </a:cubicBezTo>
                <a:lnTo>
                  <a:pt x="171450" y="58936"/>
                </a:lnTo>
                <a:cubicBezTo>
                  <a:pt x="171450" y="67810"/>
                  <a:pt x="164250" y="75009"/>
                  <a:pt x="155377" y="75009"/>
                </a:cubicBezTo>
                <a:lnTo>
                  <a:pt x="123230" y="75009"/>
                </a:lnTo>
                <a:cubicBezTo>
                  <a:pt x="114356" y="75009"/>
                  <a:pt x="107156" y="67810"/>
                  <a:pt x="107156" y="58936"/>
                </a:cubicBezTo>
                <a:lnTo>
                  <a:pt x="107156" y="53578"/>
                </a:lnTo>
                <a:lnTo>
                  <a:pt x="64294" y="53578"/>
                </a:lnTo>
                <a:lnTo>
                  <a:pt x="64294" y="58936"/>
                </a:lnTo>
                <a:cubicBezTo>
                  <a:pt x="64294" y="61380"/>
                  <a:pt x="63724" y="63724"/>
                  <a:pt x="62753" y="65801"/>
                </a:cubicBezTo>
                <a:lnTo>
                  <a:pt x="85725" y="96441"/>
                </a:lnTo>
                <a:lnTo>
                  <a:pt x="112514" y="96441"/>
                </a:lnTo>
                <a:cubicBezTo>
                  <a:pt x="121388" y="96441"/>
                  <a:pt x="128588" y="103640"/>
                  <a:pt x="128588" y="112514"/>
                </a:cubicBezTo>
                <a:lnTo>
                  <a:pt x="128588" y="144661"/>
                </a:lnTo>
                <a:cubicBezTo>
                  <a:pt x="128588" y="153535"/>
                  <a:pt x="121388" y="160734"/>
                  <a:pt x="112514" y="160734"/>
                </a:cubicBezTo>
                <a:lnTo>
                  <a:pt x="80367" y="160734"/>
                </a:lnTo>
                <a:cubicBezTo>
                  <a:pt x="71493" y="160734"/>
                  <a:pt x="64294" y="153535"/>
                  <a:pt x="64294" y="144661"/>
                </a:cubicBezTo>
                <a:lnTo>
                  <a:pt x="64294" y="112514"/>
                </a:lnTo>
                <a:cubicBezTo>
                  <a:pt x="64294" y="110070"/>
                  <a:pt x="64863" y="107726"/>
                  <a:pt x="65834" y="105649"/>
                </a:cubicBezTo>
                <a:lnTo>
                  <a:pt x="42863" y="75009"/>
                </a:lnTo>
                <a:lnTo>
                  <a:pt x="16073" y="75009"/>
                </a:lnTo>
                <a:cubicBezTo>
                  <a:pt x="7200" y="75009"/>
                  <a:pt x="0" y="67810"/>
                  <a:pt x="0" y="58936"/>
                </a:cubicBezTo>
                <a:lnTo>
                  <a:pt x="0" y="26789"/>
                </a:lnTo>
                <a:close/>
              </a:path>
            </a:pathLst>
          </a:custGeom>
          <a:solidFill>
            <a:srgbClr val="FFFFFF"/>
          </a:solidFill>
          <a:ln/>
        </p:spPr>
      </p:sp>
      <p:sp>
        <p:nvSpPr>
          <p:cNvPr id="4" name="Text 2"/>
          <p:cNvSpPr/>
          <p:nvPr/>
        </p:nvSpPr>
        <p:spPr>
          <a:xfrm>
            <a:off x="876300" y="381000"/>
            <a:ext cx="593407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12 | MỨC LUẬN LÝ</a:t>
            </a:r>
            <a:endParaRPr lang="en-US" sz="1600" dirty="0"/>
          </a:p>
        </p:txBody>
      </p:sp>
      <p:sp>
        <p:nvSpPr>
          <p:cNvPr id="5" name="Text 3"/>
          <p:cNvSpPr/>
          <p:nvPr/>
        </p:nvSpPr>
        <p:spPr>
          <a:xfrm>
            <a:off x="876300" y="571500"/>
            <a:ext cx="60102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Luồng tạo mới tài liệu (Generation Workflow)</a:t>
            </a:r>
            <a:endParaRPr lang="en-US" sz="1600" dirty="0"/>
          </a:p>
        </p:txBody>
      </p:sp>
      <p:sp>
        <p:nvSpPr>
          <p:cNvPr id="6" name="Shape 4"/>
          <p:cNvSpPr/>
          <p:nvPr/>
        </p:nvSpPr>
        <p:spPr>
          <a:xfrm>
            <a:off x="385763" y="1147763"/>
            <a:ext cx="11420475" cy="3076575"/>
          </a:xfrm>
          <a:custGeom>
            <a:avLst/>
            <a:gdLst/>
            <a:ahLst/>
            <a:cxnLst/>
            <a:rect l="l" t="t" r="r" b="b"/>
            <a:pathLst>
              <a:path w="11420475" h="3076575">
                <a:moveTo>
                  <a:pt x="114295" y="0"/>
                </a:moveTo>
                <a:lnTo>
                  <a:pt x="11306180" y="0"/>
                </a:lnTo>
                <a:cubicBezTo>
                  <a:pt x="11369303" y="0"/>
                  <a:pt x="11420475" y="51172"/>
                  <a:pt x="11420475" y="114295"/>
                </a:cubicBezTo>
                <a:lnTo>
                  <a:pt x="11420475" y="2962280"/>
                </a:lnTo>
                <a:cubicBezTo>
                  <a:pt x="11420475" y="3025403"/>
                  <a:pt x="11369303" y="3076575"/>
                  <a:pt x="11306180" y="3076575"/>
                </a:cubicBezTo>
                <a:lnTo>
                  <a:pt x="114295" y="3076575"/>
                </a:lnTo>
                <a:cubicBezTo>
                  <a:pt x="51172" y="3076575"/>
                  <a:pt x="0" y="3025403"/>
                  <a:pt x="0" y="2962280"/>
                </a:cubicBezTo>
                <a:lnTo>
                  <a:pt x="0" y="114295"/>
                </a:lnTo>
                <a:cubicBezTo>
                  <a:pt x="0" y="51214"/>
                  <a:pt x="51214" y="0"/>
                  <a:pt x="114295"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1095375" y="1750219"/>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3B82F6"/>
              </a:gs>
              <a:gs pos="100000">
                <a:srgbClr val="3B82F6">
                  <a:alpha val="70000"/>
                </a:srgbClr>
              </a:gs>
            </a:gsLst>
            <a:lin ang="2700000" scaled="1"/>
          </a:gradFill>
          <a:ln/>
          <a:effectLst>
            <a:outerShdw sx="100000" sy="100000" kx="0" ky="0" algn="bl" rotWithShape="0" blurRad="101600" dist="50800" dir="2700000">
              <a:srgbClr val="ffffff">
                <a:alpha val="75000"/>
              </a:srgbClr>
            </a:outerShdw>
          </a:effectLst>
        </p:spPr>
      </p:sp>
      <p:sp>
        <p:nvSpPr>
          <p:cNvPr id="8" name="Shape 6"/>
          <p:cNvSpPr/>
          <p:nvPr/>
        </p:nvSpPr>
        <p:spPr>
          <a:xfrm>
            <a:off x="1318022" y="1988344"/>
            <a:ext cx="321469" cy="285750"/>
          </a:xfrm>
          <a:custGeom>
            <a:avLst/>
            <a:gdLst/>
            <a:ahLst/>
            <a:cxnLst/>
            <a:rect l="l" t="t" r="r" b="b"/>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FFFFFF"/>
          </a:solidFill>
          <a:ln/>
        </p:spPr>
      </p:sp>
      <p:sp>
        <p:nvSpPr>
          <p:cNvPr id="9" name="Text 7"/>
          <p:cNvSpPr/>
          <p:nvPr/>
        </p:nvSpPr>
        <p:spPr>
          <a:xfrm>
            <a:off x="1214438" y="2626519"/>
            <a:ext cx="6096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Bước 1</a:t>
            </a:r>
            <a:endParaRPr lang="en-US" sz="1600" dirty="0"/>
          </a:p>
        </p:txBody>
      </p:sp>
      <p:sp>
        <p:nvSpPr>
          <p:cNvPr id="10" name="Text 8"/>
          <p:cNvSpPr/>
          <p:nvPr/>
        </p:nvSpPr>
        <p:spPr>
          <a:xfrm>
            <a:off x="775841" y="2931319"/>
            <a:ext cx="1476375" cy="228600"/>
          </a:xfrm>
          <a:prstGeom prst="rect">
            <a:avLst/>
          </a:prstGeom>
          <a:noFill/>
          <a:ln/>
        </p:spPr>
        <p:txBody>
          <a:bodyPr wrap="square" lIns="0" tIns="0" rIns="0" bIns="0" rtlCol="0" anchor="ctr"/>
          <a:lstStyle/>
          <a:p>
            <a:pPr>
              <a:lnSpc>
                <a:spcPct val="130000"/>
              </a:lnSpc>
            </a:pPr>
            <a:r>
              <a:rPr lang="en-US" sz="1200" b="1" dirty="0">
                <a:solidFill>
                  <a:srgbClr val="F1F5F9">
                    <a:alpha val="80000"/>
                  </a:srgbClr>
                </a:solidFill>
                <a:latin typeface="MiSans" pitchFamily="34" charset="0"/>
                <a:ea typeface="MiSans" pitchFamily="34" charset="-122"/>
                <a:cs typeface="MiSans" pitchFamily="34" charset="-120"/>
              </a:rPr>
              <a:t>Developer viết code</a:t>
            </a:r>
            <a:endParaRPr lang="en-US" sz="1600" dirty="0"/>
          </a:p>
        </p:txBody>
      </p:sp>
      <p:sp>
        <p:nvSpPr>
          <p:cNvPr id="11" name="Text 9"/>
          <p:cNvSpPr/>
          <p:nvPr/>
        </p:nvSpPr>
        <p:spPr>
          <a:xfrm>
            <a:off x="585788" y="3236119"/>
            <a:ext cx="17811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Viết hàm, class, module cần tài liệu hóa</a:t>
            </a:r>
            <a:endParaRPr lang="en-US" sz="1600" dirty="0"/>
          </a:p>
        </p:txBody>
      </p:sp>
      <p:sp>
        <p:nvSpPr>
          <p:cNvPr id="12" name="Shape 10"/>
          <p:cNvSpPr/>
          <p:nvPr/>
        </p:nvSpPr>
        <p:spPr>
          <a:xfrm>
            <a:off x="2859732" y="2388394"/>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3B82F6"/>
          </a:solidFill>
          <a:ln/>
        </p:spPr>
      </p:sp>
      <p:sp>
        <p:nvSpPr>
          <p:cNvPr id="13" name="Shape 11"/>
          <p:cNvSpPr/>
          <p:nvPr/>
        </p:nvSpPr>
        <p:spPr>
          <a:xfrm>
            <a:off x="2695129" y="2750344"/>
            <a:ext cx="609600" cy="228600"/>
          </a:xfrm>
          <a:custGeom>
            <a:avLst/>
            <a:gdLst/>
            <a:ahLst/>
            <a:cxnLst/>
            <a:rect l="l" t="t" r="r" b="b"/>
            <a:pathLst>
              <a:path w="609600" h="228600">
                <a:moveTo>
                  <a:pt x="114300" y="0"/>
                </a:moveTo>
                <a:lnTo>
                  <a:pt x="495300" y="0"/>
                </a:lnTo>
                <a:cubicBezTo>
                  <a:pt x="558384" y="0"/>
                  <a:pt x="609600" y="51216"/>
                  <a:pt x="609600" y="114300"/>
                </a:cubicBezTo>
                <a:lnTo>
                  <a:pt x="609600" y="114300"/>
                </a:lnTo>
                <a:cubicBezTo>
                  <a:pt x="609600" y="177384"/>
                  <a:pt x="558384" y="228600"/>
                  <a:pt x="495300" y="228600"/>
                </a:cubicBezTo>
                <a:lnTo>
                  <a:pt x="114300" y="228600"/>
                </a:lnTo>
                <a:cubicBezTo>
                  <a:pt x="51216" y="228600"/>
                  <a:pt x="0" y="177384"/>
                  <a:pt x="0" y="114300"/>
                </a:cubicBezTo>
                <a:lnTo>
                  <a:pt x="0" y="114300"/>
                </a:lnTo>
                <a:cubicBezTo>
                  <a:pt x="0" y="51216"/>
                  <a:pt x="51216" y="0"/>
                  <a:pt x="114300" y="0"/>
                </a:cubicBezTo>
                <a:close/>
              </a:path>
            </a:pathLst>
          </a:custGeom>
          <a:solidFill>
            <a:srgbClr val="3B82F6">
              <a:alpha val="20000"/>
            </a:srgbClr>
          </a:solidFill>
          <a:ln/>
        </p:spPr>
      </p:sp>
      <p:sp>
        <p:nvSpPr>
          <p:cNvPr id="14" name="Text 12"/>
          <p:cNvSpPr/>
          <p:nvPr/>
        </p:nvSpPr>
        <p:spPr>
          <a:xfrm>
            <a:off x="2809429" y="2788444"/>
            <a:ext cx="438150" cy="152400"/>
          </a:xfrm>
          <a:prstGeom prst="rect">
            <a:avLst/>
          </a:prstGeom>
          <a:noFill/>
          <a:ln/>
        </p:spPr>
        <p:txBody>
          <a:bodyPr wrap="square" lIns="0" tIns="0" rIns="0" bIns="0" rtlCol="0" anchor="ctr"/>
          <a:lstStyle/>
          <a:p>
            <a:pPr>
              <a:lnSpc>
                <a:spcPct val="110000"/>
              </a:lnSpc>
            </a:pPr>
            <a:r>
              <a:rPr lang="en-US" sz="900" dirty="0">
                <a:solidFill>
                  <a:srgbClr val="3B82F6"/>
                </a:solidFill>
                <a:latin typeface="MiSans" pitchFamily="34" charset="0"/>
                <a:ea typeface="MiSans" pitchFamily="34" charset="-122"/>
                <a:cs typeface="MiSans" pitchFamily="34" charset="-120"/>
              </a:rPr>
              <a:t>Trigger</a:t>
            </a:r>
            <a:endParaRPr lang="en-US" sz="1600" dirty="0"/>
          </a:p>
        </p:txBody>
      </p:sp>
      <p:sp>
        <p:nvSpPr>
          <p:cNvPr id="15" name="Shape 13"/>
          <p:cNvSpPr/>
          <p:nvPr/>
        </p:nvSpPr>
        <p:spPr>
          <a:xfrm>
            <a:off x="4143226" y="1750219"/>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8B5CF6"/>
              </a:gs>
              <a:gs pos="100000">
                <a:srgbClr val="8B5CF6">
                  <a:alpha val="70000"/>
                </a:srgbClr>
              </a:gs>
            </a:gsLst>
            <a:lin ang="2700000" scaled="1"/>
          </a:gradFill>
          <a:ln/>
          <a:effectLst>
            <a:outerShdw sx="100000" sy="100000" kx="0" ky="0" algn="bl" rotWithShape="0" blurRad="101600" dist="50800" dir="2700000">
              <a:srgbClr val="ffffff">
                <a:alpha val="75000"/>
              </a:srgbClr>
            </a:outerShdw>
          </a:effectLst>
        </p:spPr>
      </p:sp>
      <p:sp>
        <p:nvSpPr>
          <p:cNvPr id="16" name="Shape 14"/>
          <p:cNvSpPr/>
          <p:nvPr/>
        </p:nvSpPr>
        <p:spPr>
          <a:xfrm>
            <a:off x="4383732" y="1988344"/>
            <a:ext cx="285750" cy="285750"/>
          </a:xfrm>
          <a:custGeom>
            <a:avLst/>
            <a:gdLst/>
            <a:ahLst/>
            <a:cxnLst/>
            <a:rect l="l" t="t" r="r" b="b"/>
            <a:pathLst>
              <a:path w="285750" h="285750">
                <a:moveTo>
                  <a:pt x="66973" y="31254"/>
                </a:moveTo>
                <a:cubicBezTo>
                  <a:pt x="66973" y="14008"/>
                  <a:pt x="80981" y="0"/>
                  <a:pt x="98227" y="0"/>
                </a:cubicBezTo>
                <a:lnTo>
                  <a:pt x="111621" y="0"/>
                </a:lnTo>
                <a:cubicBezTo>
                  <a:pt x="121500" y="0"/>
                  <a:pt x="129480" y="7981"/>
                  <a:pt x="129480" y="17859"/>
                </a:cubicBezTo>
                <a:lnTo>
                  <a:pt x="129480" y="267891"/>
                </a:lnTo>
                <a:cubicBezTo>
                  <a:pt x="129480" y="277769"/>
                  <a:pt x="121500" y="285750"/>
                  <a:pt x="111621" y="285750"/>
                </a:cubicBezTo>
                <a:lnTo>
                  <a:pt x="93762" y="285750"/>
                </a:lnTo>
                <a:cubicBezTo>
                  <a:pt x="77130" y="285750"/>
                  <a:pt x="63122" y="274365"/>
                  <a:pt x="59159" y="258961"/>
                </a:cubicBezTo>
                <a:cubicBezTo>
                  <a:pt x="58769" y="258961"/>
                  <a:pt x="58434" y="258961"/>
                  <a:pt x="58043" y="258961"/>
                </a:cubicBezTo>
                <a:cubicBezTo>
                  <a:pt x="33375" y="258961"/>
                  <a:pt x="13395" y="238981"/>
                  <a:pt x="13395" y="214313"/>
                </a:cubicBezTo>
                <a:cubicBezTo>
                  <a:pt x="13395" y="204267"/>
                  <a:pt x="16743" y="195002"/>
                  <a:pt x="22324" y="187523"/>
                </a:cubicBezTo>
                <a:cubicBezTo>
                  <a:pt x="11497" y="179375"/>
                  <a:pt x="4465" y="166427"/>
                  <a:pt x="4465" y="151805"/>
                </a:cubicBezTo>
                <a:cubicBezTo>
                  <a:pt x="4465" y="134559"/>
                  <a:pt x="14288" y="119546"/>
                  <a:pt x="28575" y="112123"/>
                </a:cubicBezTo>
                <a:cubicBezTo>
                  <a:pt x="24612" y="105426"/>
                  <a:pt x="22324" y="97613"/>
                  <a:pt x="22324" y="89297"/>
                </a:cubicBezTo>
                <a:cubicBezTo>
                  <a:pt x="22324" y="64629"/>
                  <a:pt x="42304" y="44648"/>
                  <a:pt x="66973" y="44648"/>
                </a:cubicBezTo>
                <a:lnTo>
                  <a:pt x="66973" y="31254"/>
                </a:lnTo>
                <a:close/>
                <a:moveTo>
                  <a:pt x="218777" y="31254"/>
                </a:moveTo>
                <a:lnTo>
                  <a:pt x="218777" y="44648"/>
                </a:lnTo>
                <a:cubicBezTo>
                  <a:pt x="243446" y="44648"/>
                  <a:pt x="263426" y="64629"/>
                  <a:pt x="263426" y="89297"/>
                </a:cubicBezTo>
                <a:cubicBezTo>
                  <a:pt x="263426" y="97668"/>
                  <a:pt x="261138" y="105482"/>
                  <a:pt x="257175" y="112123"/>
                </a:cubicBezTo>
                <a:cubicBezTo>
                  <a:pt x="271518" y="119546"/>
                  <a:pt x="281285" y="134503"/>
                  <a:pt x="281285" y="151805"/>
                </a:cubicBezTo>
                <a:cubicBezTo>
                  <a:pt x="281285" y="166427"/>
                  <a:pt x="274253" y="179375"/>
                  <a:pt x="263426" y="187523"/>
                </a:cubicBezTo>
                <a:cubicBezTo>
                  <a:pt x="269007" y="195002"/>
                  <a:pt x="272355" y="204267"/>
                  <a:pt x="272355" y="214313"/>
                </a:cubicBezTo>
                <a:cubicBezTo>
                  <a:pt x="272355" y="238981"/>
                  <a:pt x="252375" y="258961"/>
                  <a:pt x="227707" y="258961"/>
                </a:cubicBezTo>
                <a:cubicBezTo>
                  <a:pt x="227316" y="258961"/>
                  <a:pt x="226981" y="258961"/>
                  <a:pt x="226591" y="258961"/>
                </a:cubicBezTo>
                <a:cubicBezTo>
                  <a:pt x="222628" y="274365"/>
                  <a:pt x="208620" y="285750"/>
                  <a:pt x="191988" y="285750"/>
                </a:cubicBezTo>
                <a:lnTo>
                  <a:pt x="174129" y="285750"/>
                </a:lnTo>
                <a:cubicBezTo>
                  <a:pt x="164250" y="285750"/>
                  <a:pt x="156270" y="277769"/>
                  <a:pt x="156270" y="267891"/>
                </a:cubicBezTo>
                <a:lnTo>
                  <a:pt x="156270" y="17859"/>
                </a:lnTo>
                <a:cubicBezTo>
                  <a:pt x="156270" y="7981"/>
                  <a:pt x="164250" y="0"/>
                  <a:pt x="174129" y="0"/>
                </a:cubicBezTo>
                <a:lnTo>
                  <a:pt x="187523" y="0"/>
                </a:lnTo>
                <a:cubicBezTo>
                  <a:pt x="204769" y="0"/>
                  <a:pt x="218777" y="14008"/>
                  <a:pt x="218777" y="31254"/>
                </a:cubicBezTo>
                <a:close/>
              </a:path>
            </a:pathLst>
          </a:custGeom>
          <a:solidFill>
            <a:srgbClr val="FFFFFF"/>
          </a:solidFill>
          <a:ln/>
        </p:spPr>
      </p:sp>
      <p:sp>
        <p:nvSpPr>
          <p:cNvPr id="17" name="Text 15"/>
          <p:cNvSpPr/>
          <p:nvPr/>
        </p:nvSpPr>
        <p:spPr>
          <a:xfrm>
            <a:off x="4247704" y="2626519"/>
            <a:ext cx="6381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Bước 2</a:t>
            </a:r>
            <a:endParaRPr lang="en-US" sz="1600" dirty="0"/>
          </a:p>
        </p:txBody>
      </p:sp>
      <p:sp>
        <p:nvSpPr>
          <p:cNvPr id="18" name="Text 16"/>
          <p:cNvSpPr/>
          <p:nvPr/>
        </p:nvSpPr>
        <p:spPr>
          <a:xfrm>
            <a:off x="3967609" y="2931319"/>
            <a:ext cx="1190625" cy="228600"/>
          </a:xfrm>
          <a:prstGeom prst="rect">
            <a:avLst/>
          </a:prstGeom>
          <a:noFill/>
          <a:ln/>
        </p:spPr>
        <p:txBody>
          <a:bodyPr wrap="square" lIns="0" tIns="0" rIns="0" bIns="0" rtlCol="0" anchor="ctr"/>
          <a:lstStyle/>
          <a:p>
            <a:pPr>
              <a:lnSpc>
                <a:spcPct val="130000"/>
              </a:lnSpc>
            </a:pPr>
            <a:r>
              <a:rPr lang="en-US" sz="1200" b="1" dirty="0">
                <a:solidFill>
                  <a:srgbClr val="F1F5F9">
                    <a:alpha val="80000"/>
                  </a:srgbClr>
                </a:solidFill>
                <a:latin typeface="MiSans" pitchFamily="34" charset="0"/>
                <a:ea typeface="MiSans" pitchFamily="34" charset="-122"/>
                <a:cs typeface="MiSans" pitchFamily="34" charset="-120"/>
              </a:rPr>
              <a:t>GenAI phân tích</a:t>
            </a:r>
            <a:endParaRPr lang="en-US" sz="1600" dirty="0"/>
          </a:p>
        </p:txBody>
      </p:sp>
      <p:sp>
        <p:nvSpPr>
          <p:cNvPr id="19" name="Text 17"/>
          <p:cNvSpPr/>
          <p:nvPr/>
        </p:nvSpPr>
        <p:spPr>
          <a:xfrm>
            <a:off x="3633639" y="3236119"/>
            <a:ext cx="17811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Đọc hiểu logic, tham số, giá trị trả về</a:t>
            </a:r>
            <a:endParaRPr lang="en-US" sz="1600" dirty="0"/>
          </a:p>
        </p:txBody>
      </p:sp>
      <p:sp>
        <p:nvSpPr>
          <p:cNvPr id="20" name="Shape 18"/>
          <p:cNvSpPr/>
          <p:nvPr/>
        </p:nvSpPr>
        <p:spPr>
          <a:xfrm>
            <a:off x="5959227" y="2388394"/>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8B5CF6"/>
          </a:solidFill>
          <a:ln/>
        </p:spPr>
      </p:sp>
      <p:sp>
        <p:nvSpPr>
          <p:cNvPr id="21" name="Shape 19"/>
          <p:cNvSpPr/>
          <p:nvPr/>
        </p:nvSpPr>
        <p:spPr>
          <a:xfrm>
            <a:off x="5742980" y="2750344"/>
            <a:ext cx="714375" cy="228600"/>
          </a:xfrm>
          <a:custGeom>
            <a:avLst/>
            <a:gdLst/>
            <a:ahLst/>
            <a:cxnLst/>
            <a:rect l="l" t="t" r="r" b="b"/>
            <a:pathLst>
              <a:path w="714375" h="228600">
                <a:moveTo>
                  <a:pt x="114300" y="0"/>
                </a:moveTo>
                <a:lnTo>
                  <a:pt x="600075" y="0"/>
                </a:lnTo>
                <a:cubicBezTo>
                  <a:pt x="663159" y="0"/>
                  <a:pt x="714375" y="51216"/>
                  <a:pt x="714375" y="114300"/>
                </a:cubicBezTo>
                <a:lnTo>
                  <a:pt x="714375" y="114300"/>
                </a:lnTo>
                <a:cubicBezTo>
                  <a:pt x="714375" y="177384"/>
                  <a:pt x="663159" y="228600"/>
                  <a:pt x="600075" y="228600"/>
                </a:cubicBezTo>
                <a:lnTo>
                  <a:pt x="114300" y="228600"/>
                </a:lnTo>
                <a:cubicBezTo>
                  <a:pt x="51216" y="228600"/>
                  <a:pt x="0" y="177384"/>
                  <a:pt x="0" y="114300"/>
                </a:cubicBezTo>
                <a:lnTo>
                  <a:pt x="0" y="114300"/>
                </a:lnTo>
                <a:cubicBezTo>
                  <a:pt x="0" y="51216"/>
                  <a:pt x="51216" y="0"/>
                  <a:pt x="114300" y="0"/>
                </a:cubicBezTo>
                <a:close/>
              </a:path>
            </a:pathLst>
          </a:custGeom>
          <a:solidFill>
            <a:srgbClr val="8B5CF6">
              <a:alpha val="20000"/>
            </a:srgbClr>
          </a:solidFill>
          <a:ln/>
        </p:spPr>
      </p:sp>
      <p:sp>
        <p:nvSpPr>
          <p:cNvPr id="22" name="Text 20"/>
          <p:cNvSpPr/>
          <p:nvPr/>
        </p:nvSpPr>
        <p:spPr>
          <a:xfrm>
            <a:off x="5857280" y="2788444"/>
            <a:ext cx="542925" cy="152400"/>
          </a:xfrm>
          <a:prstGeom prst="rect">
            <a:avLst/>
          </a:prstGeom>
          <a:noFill/>
          <a:ln/>
        </p:spPr>
        <p:txBody>
          <a:bodyPr wrap="square" lIns="0" tIns="0" rIns="0" bIns="0" rtlCol="0" anchor="ctr"/>
          <a:lstStyle/>
          <a:p>
            <a:pPr>
              <a:lnSpc>
                <a:spcPct val="110000"/>
              </a:lnSpc>
            </a:pPr>
            <a:r>
              <a:rPr lang="en-US" sz="900" dirty="0">
                <a:solidFill>
                  <a:srgbClr val="8B5CF6"/>
                </a:solidFill>
                <a:latin typeface="MiSans" pitchFamily="34" charset="0"/>
                <a:ea typeface="MiSans" pitchFamily="34" charset="-122"/>
                <a:cs typeface="MiSans" pitchFamily="34" charset="-120"/>
              </a:rPr>
              <a:t>Generate</a:t>
            </a:r>
            <a:endParaRPr lang="en-US" sz="1600" dirty="0"/>
          </a:p>
        </p:txBody>
      </p:sp>
      <p:sp>
        <p:nvSpPr>
          <p:cNvPr id="23" name="Shape 21"/>
          <p:cNvSpPr/>
          <p:nvPr/>
        </p:nvSpPr>
        <p:spPr>
          <a:xfrm>
            <a:off x="7294215" y="1750219"/>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10B981"/>
              </a:gs>
              <a:gs pos="100000">
                <a:srgbClr val="10B981">
                  <a:alpha val="70000"/>
                </a:srgbClr>
              </a:gs>
            </a:gsLst>
            <a:lin ang="2700000" scaled="1"/>
          </a:gradFill>
          <a:ln/>
          <a:effectLst>
            <a:outerShdw sx="100000" sy="100000" kx="0" ky="0" algn="bl" rotWithShape="0" blurRad="101600" dist="50800" dir="2700000">
              <a:srgbClr val="ffffff">
                <a:alpha val="75000"/>
              </a:srgbClr>
            </a:outerShdw>
          </a:effectLst>
        </p:spPr>
      </p:sp>
      <p:sp>
        <p:nvSpPr>
          <p:cNvPr id="24" name="Shape 22"/>
          <p:cNvSpPr/>
          <p:nvPr/>
        </p:nvSpPr>
        <p:spPr>
          <a:xfrm>
            <a:off x="7570440" y="1988344"/>
            <a:ext cx="214313" cy="285750"/>
          </a:xfrm>
          <a:custGeom>
            <a:avLst/>
            <a:gdLst/>
            <a:ahLst/>
            <a:cxnLst/>
            <a:rect l="l" t="t" r="r" b="b"/>
            <a:pathLst>
              <a:path w="214313" h="285750">
                <a:moveTo>
                  <a:pt x="0" y="35719"/>
                </a:moveTo>
                <a:cubicBezTo>
                  <a:pt x="0" y="16018"/>
                  <a:pt x="16018" y="0"/>
                  <a:pt x="35719" y="0"/>
                </a:cubicBezTo>
                <a:lnTo>
                  <a:pt x="119156" y="0"/>
                </a:lnTo>
                <a:cubicBezTo>
                  <a:pt x="128643" y="0"/>
                  <a:pt x="137740" y="3739"/>
                  <a:pt x="144438" y="10437"/>
                </a:cubicBezTo>
                <a:lnTo>
                  <a:pt x="203876" y="69931"/>
                </a:lnTo>
                <a:cubicBezTo>
                  <a:pt x="210573" y="76628"/>
                  <a:pt x="214313" y="85725"/>
                  <a:pt x="214313" y="95213"/>
                </a:cubicBezTo>
                <a:lnTo>
                  <a:pt x="214313" y="250031"/>
                </a:lnTo>
                <a:cubicBezTo>
                  <a:pt x="214313" y="269732"/>
                  <a:pt x="198295" y="285750"/>
                  <a:pt x="178594" y="285750"/>
                </a:cubicBezTo>
                <a:lnTo>
                  <a:pt x="35719" y="285750"/>
                </a:lnTo>
                <a:cubicBezTo>
                  <a:pt x="16018" y="285750"/>
                  <a:pt x="0" y="269732"/>
                  <a:pt x="0" y="250031"/>
                </a:cubicBezTo>
                <a:lnTo>
                  <a:pt x="0" y="35719"/>
                </a:lnTo>
                <a:close/>
                <a:moveTo>
                  <a:pt x="116086" y="32649"/>
                </a:moveTo>
                <a:lnTo>
                  <a:pt x="116086" y="84832"/>
                </a:lnTo>
                <a:cubicBezTo>
                  <a:pt x="116086" y="92255"/>
                  <a:pt x="122058" y="98227"/>
                  <a:pt x="129480" y="98227"/>
                </a:cubicBezTo>
                <a:lnTo>
                  <a:pt x="181663" y="98227"/>
                </a:lnTo>
                <a:lnTo>
                  <a:pt x="116086" y="32649"/>
                </a:lnTo>
                <a:close/>
                <a:moveTo>
                  <a:pt x="66973" y="142875"/>
                </a:moveTo>
                <a:cubicBezTo>
                  <a:pt x="59550" y="142875"/>
                  <a:pt x="53578" y="148847"/>
                  <a:pt x="53578" y="156270"/>
                </a:cubicBezTo>
                <a:cubicBezTo>
                  <a:pt x="53578" y="163692"/>
                  <a:pt x="59550" y="169664"/>
                  <a:pt x="66973" y="169664"/>
                </a:cubicBezTo>
                <a:lnTo>
                  <a:pt x="147340" y="169664"/>
                </a:lnTo>
                <a:cubicBezTo>
                  <a:pt x="154763" y="169664"/>
                  <a:pt x="160734" y="163692"/>
                  <a:pt x="160734" y="156270"/>
                </a:cubicBezTo>
                <a:cubicBezTo>
                  <a:pt x="160734" y="148847"/>
                  <a:pt x="154763" y="142875"/>
                  <a:pt x="147340" y="142875"/>
                </a:cubicBezTo>
                <a:lnTo>
                  <a:pt x="66973" y="142875"/>
                </a:lnTo>
                <a:close/>
                <a:moveTo>
                  <a:pt x="66973" y="196453"/>
                </a:moveTo>
                <a:cubicBezTo>
                  <a:pt x="59550" y="196453"/>
                  <a:pt x="53578" y="202425"/>
                  <a:pt x="53578" y="209848"/>
                </a:cubicBezTo>
                <a:cubicBezTo>
                  <a:pt x="53578" y="217270"/>
                  <a:pt x="59550" y="223242"/>
                  <a:pt x="66973" y="223242"/>
                </a:cubicBezTo>
                <a:lnTo>
                  <a:pt x="147340" y="223242"/>
                </a:lnTo>
                <a:cubicBezTo>
                  <a:pt x="154763" y="223242"/>
                  <a:pt x="160734" y="217270"/>
                  <a:pt x="160734" y="209848"/>
                </a:cubicBezTo>
                <a:cubicBezTo>
                  <a:pt x="160734" y="202425"/>
                  <a:pt x="154763" y="196453"/>
                  <a:pt x="147340" y="196453"/>
                </a:cubicBezTo>
                <a:lnTo>
                  <a:pt x="66973" y="196453"/>
                </a:lnTo>
                <a:close/>
              </a:path>
            </a:pathLst>
          </a:custGeom>
          <a:solidFill>
            <a:srgbClr val="FFFFFF"/>
          </a:solidFill>
          <a:ln/>
        </p:spPr>
      </p:sp>
      <p:sp>
        <p:nvSpPr>
          <p:cNvPr id="25" name="Text 23"/>
          <p:cNvSpPr/>
          <p:nvPr/>
        </p:nvSpPr>
        <p:spPr>
          <a:xfrm>
            <a:off x="7396609" y="2626519"/>
            <a:ext cx="6477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Bước 3</a:t>
            </a:r>
            <a:endParaRPr lang="en-US" sz="1600" dirty="0"/>
          </a:p>
        </p:txBody>
      </p:sp>
      <p:sp>
        <p:nvSpPr>
          <p:cNvPr id="26" name="Text 24"/>
          <p:cNvSpPr/>
          <p:nvPr/>
        </p:nvSpPr>
        <p:spPr>
          <a:xfrm>
            <a:off x="7194500" y="2931319"/>
            <a:ext cx="1038225" cy="228600"/>
          </a:xfrm>
          <a:prstGeom prst="rect">
            <a:avLst/>
          </a:prstGeom>
          <a:noFill/>
          <a:ln/>
        </p:spPr>
        <p:txBody>
          <a:bodyPr wrap="square" lIns="0" tIns="0" rIns="0" bIns="0" rtlCol="0" anchor="ctr"/>
          <a:lstStyle/>
          <a:p>
            <a:pPr>
              <a:lnSpc>
                <a:spcPct val="130000"/>
              </a:lnSpc>
            </a:pPr>
            <a:r>
              <a:rPr lang="en-US" sz="1200" b="1" dirty="0">
                <a:solidFill>
                  <a:srgbClr val="F1F5F9">
                    <a:alpha val="80000"/>
                  </a:srgbClr>
                </a:solidFill>
                <a:latin typeface="MiSans" pitchFamily="34" charset="0"/>
                <a:ea typeface="MiSans" pitchFamily="34" charset="-122"/>
                <a:cs typeface="MiSans" pitchFamily="34" charset="-120"/>
              </a:rPr>
              <a:t>Tạo docstring</a:t>
            </a:r>
            <a:endParaRPr lang="en-US" sz="1600" dirty="0"/>
          </a:p>
        </p:txBody>
      </p:sp>
      <p:sp>
        <p:nvSpPr>
          <p:cNvPr id="27" name="Text 25"/>
          <p:cNvSpPr/>
          <p:nvPr/>
        </p:nvSpPr>
        <p:spPr>
          <a:xfrm>
            <a:off x="6784628" y="3236119"/>
            <a:ext cx="17811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Theo chuẩn định dạng đã chọn</a:t>
            </a:r>
            <a:endParaRPr lang="en-US" sz="1600" dirty="0"/>
          </a:p>
        </p:txBody>
      </p:sp>
      <p:sp>
        <p:nvSpPr>
          <p:cNvPr id="28" name="Shape 26"/>
          <p:cNvSpPr/>
          <p:nvPr/>
        </p:nvSpPr>
        <p:spPr>
          <a:xfrm>
            <a:off x="9054852" y="2388394"/>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10B981"/>
          </a:solidFill>
          <a:ln/>
        </p:spPr>
      </p:sp>
      <p:sp>
        <p:nvSpPr>
          <p:cNvPr id="29" name="Shape 27"/>
          <p:cNvSpPr/>
          <p:nvPr/>
        </p:nvSpPr>
        <p:spPr>
          <a:xfrm>
            <a:off x="8893969" y="2750344"/>
            <a:ext cx="600075" cy="228600"/>
          </a:xfrm>
          <a:custGeom>
            <a:avLst/>
            <a:gdLst/>
            <a:ahLst/>
            <a:cxnLst/>
            <a:rect l="l" t="t" r="r" b="b"/>
            <a:pathLst>
              <a:path w="600075" h="228600">
                <a:moveTo>
                  <a:pt x="114300" y="0"/>
                </a:moveTo>
                <a:lnTo>
                  <a:pt x="485775" y="0"/>
                </a:lnTo>
                <a:cubicBezTo>
                  <a:pt x="548859" y="0"/>
                  <a:pt x="600075" y="51216"/>
                  <a:pt x="600075" y="114300"/>
                </a:cubicBezTo>
                <a:lnTo>
                  <a:pt x="600075" y="114300"/>
                </a:lnTo>
                <a:cubicBezTo>
                  <a:pt x="600075" y="177384"/>
                  <a:pt x="548859" y="228600"/>
                  <a:pt x="485775" y="228600"/>
                </a:cubicBezTo>
                <a:lnTo>
                  <a:pt x="114300" y="228600"/>
                </a:lnTo>
                <a:cubicBezTo>
                  <a:pt x="51216" y="228600"/>
                  <a:pt x="0" y="177384"/>
                  <a:pt x="0" y="114300"/>
                </a:cubicBezTo>
                <a:lnTo>
                  <a:pt x="0" y="114300"/>
                </a:lnTo>
                <a:cubicBezTo>
                  <a:pt x="0" y="51216"/>
                  <a:pt x="51216" y="0"/>
                  <a:pt x="114300" y="0"/>
                </a:cubicBezTo>
                <a:close/>
              </a:path>
            </a:pathLst>
          </a:custGeom>
          <a:solidFill>
            <a:srgbClr val="10B981">
              <a:alpha val="20000"/>
            </a:srgbClr>
          </a:solidFill>
          <a:ln/>
        </p:spPr>
      </p:sp>
      <p:sp>
        <p:nvSpPr>
          <p:cNvPr id="30" name="Text 28"/>
          <p:cNvSpPr/>
          <p:nvPr/>
        </p:nvSpPr>
        <p:spPr>
          <a:xfrm>
            <a:off x="9008269" y="2788444"/>
            <a:ext cx="428625" cy="152400"/>
          </a:xfrm>
          <a:prstGeom prst="rect">
            <a:avLst/>
          </a:prstGeom>
          <a:noFill/>
          <a:ln/>
        </p:spPr>
        <p:txBody>
          <a:bodyPr wrap="square" lIns="0" tIns="0" rIns="0" bIns="0" rtlCol="0" anchor="ctr"/>
          <a:lstStyle/>
          <a:p>
            <a:pPr>
              <a:lnSpc>
                <a:spcPct val="110000"/>
              </a:lnSpc>
            </a:pPr>
            <a:r>
              <a:rPr lang="en-US" sz="900" dirty="0">
                <a:solidFill>
                  <a:srgbClr val="10B981"/>
                </a:solidFill>
                <a:latin typeface="MiSans" pitchFamily="34" charset="0"/>
                <a:ea typeface="MiSans" pitchFamily="34" charset="-122"/>
                <a:cs typeface="MiSans" pitchFamily="34" charset="-120"/>
              </a:rPr>
              <a:t>Review</a:t>
            </a:r>
            <a:endParaRPr lang="en-US" sz="1600" dirty="0"/>
          </a:p>
        </p:txBody>
      </p:sp>
      <p:sp>
        <p:nvSpPr>
          <p:cNvPr id="31" name="Shape 29"/>
          <p:cNvSpPr/>
          <p:nvPr/>
        </p:nvSpPr>
        <p:spPr>
          <a:xfrm>
            <a:off x="10334625" y="1750219"/>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F59E0B"/>
              </a:gs>
              <a:gs pos="100000">
                <a:srgbClr val="F59E0B">
                  <a:alpha val="70000"/>
                </a:srgbClr>
              </a:gs>
            </a:gsLst>
            <a:lin ang="2700000" scaled="1"/>
          </a:gradFill>
          <a:ln/>
          <a:effectLst>
            <a:outerShdw sx="100000" sy="100000" kx="0" ky="0" algn="bl" rotWithShape="0" blurRad="101600" dist="50800" dir="2700000">
              <a:srgbClr val="ffffff">
                <a:alpha val="75000"/>
              </a:srgbClr>
            </a:outerShdw>
          </a:effectLst>
        </p:spPr>
      </p:sp>
      <p:sp>
        <p:nvSpPr>
          <p:cNvPr id="32" name="Shape 30"/>
          <p:cNvSpPr/>
          <p:nvPr/>
        </p:nvSpPr>
        <p:spPr>
          <a:xfrm>
            <a:off x="10610850" y="1988344"/>
            <a:ext cx="214313" cy="285750"/>
          </a:xfrm>
          <a:custGeom>
            <a:avLst/>
            <a:gdLst/>
            <a:ahLst/>
            <a:cxnLst/>
            <a:rect l="l" t="t" r="r" b="b"/>
            <a:pathLst>
              <a:path w="214313" h="285750">
                <a:moveTo>
                  <a:pt x="139471" y="37281"/>
                </a:moveTo>
                <a:cubicBezTo>
                  <a:pt x="145275" y="29301"/>
                  <a:pt x="143489" y="18138"/>
                  <a:pt x="135508" y="12334"/>
                </a:cubicBezTo>
                <a:cubicBezTo>
                  <a:pt x="127527" y="6530"/>
                  <a:pt x="116365" y="8316"/>
                  <a:pt x="110561" y="16297"/>
                </a:cubicBezTo>
                <a:lnTo>
                  <a:pt x="51402" y="97613"/>
                </a:lnTo>
                <a:lnTo>
                  <a:pt x="30473" y="76684"/>
                </a:lnTo>
                <a:cubicBezTo>
                  <a:pt x="23496" y="69707"/>
                  <a:pt x="12167" y="69707"/>
                  <a:pt x="5190" y="76684"/>
                </a:cubicBezTo>
                <a:cubicBezTo>
                  <a:pt x="-1786" y="83660"/>
                  <a:pt x="-1786" y="94990"/>
                  <a:pt x="5190" y="101966"/>
                </a:cubicBezTo>
                <a:lnTo>
                  <a:pt x="40909" y="137685"/>
                </a:lnTo>
                <a:cubicBezTo>
                  <a:pt x="44593" y="141368"/>
                  <a:pt x="49727" y="143266"/>
                  <a:pt x="54918" y="142875"/>
                </a:cubicBezTo>
                <a:cubicBezTo>
                  <a:pt x="60108" y="142484"/>
                  <a:pt x="64908" y="139805"/>
                  <a:pt x="67977" y="135564"/>
                </a:cubicBezTo>
                <a:lnTo>
                  <a:pt x="139415" y="37337"/>
                </a:lnTo>
                <a:close/>
                <a:moveTo>
                  <a:pt x="210908" y="113184"/>
                </a:moveTo>
                <a:cubicBezTo>
                  <a:pt x="216712" y="105203"/>
                  <a:pt x="214926" y="94041"/>
                  <a:pt x="206946" y="88236"/>
                </a:cubicBezTo>
                <a:cubicBezTo>
                  <a:pt x="198965" y="82432"/>
                  <a:pt x="187802" y="84218"/>
                  <a:pt x="181998" y="92199"/>
                </a:cubicBezTo>
                <a:lnTo>
                  <a:pt x="87120" y="222628"/>
                </a:lnTo>
                <a:lnTo>
                  <a:pt x="48332" y="183840"/>
                </a:lnTo>
                <a:cubicBezTo>
                  <a:pt x="41356" y="176864"/>
                  <a:pt x="30026" y="176864"/>
                  <a:pt x="23050" y="183840"/>
                </a:cubicBezTo>
                <a:cubicBezTo>
                  <a:pt x="16073" y="190816"/>
                  <a:pt x="16073" y="202146"/>
                  <a:pt x="23050" y="209122"/>
                </a:cubicBezTo>
                <a:lnTo>
                  <a:pt x="76628" y="262700"/>
                </a:lnTo>
                <a:cubicBezTo>
                  <a:pt x="80311" y="266384"/>
                  <a:pt x="85446" y="268281"/>
                  <a:pt x="90636" y="267891"/>
                </a:cubicBezTo>
                <a:cubicBezTo>
                  <a:pt x="95827" y="267500"/>
                  <a:pt x="100626" y="264821"/>
                  <a:pt x="103696" y="260579"/>
                </a:cubicBezTo>
                <a:lnTo>
                  <a:pt x="210852" y="113240"/>
                </a:lnTo>
                <a:close/>
              </a:path>
            </a:pathLst>
          </a:custGeom>
          <a:solidFill>
            <a:srgbClr val="FFFFFF"/>
          </a:solidFill>
          <a:ln/>
        </p:spPr>
      </p:sp>
      <p:sp>
        <p:nvSpPr>
          <p:cNvPr id="33" name="Text 31"/>
          <p:cNvSpPr/>
          <p:nvPr/>
        </p:nvSpPr>
        <p:spPr>
          <a:xfrm>
            <a:off x="10437168" y="2626519"/>
            <a:ext cx="6381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Bước 4</a:t>
            </a:r>
            <a:endParaRPr lang="en-US" sz="1600" dirty="0"/>
          </a:p>
        </p:txBody>
      </p:sp>
      <p:sp>
        <p:nvSpPr>
          <p:cNvPr id="34" name="Text 32"/>
          <p:cNvSpPr/>
          <p:nvPr/>
        </p:nvSpPr>
        <p:spPr>
          <a:xfrm>
            <a:off x="10170468" y="2931319"/>
            <a:ext cx="1162050" cy="228600"/>
          </a:xfrm>
          <a:prstGeom prst="rect">
            <a:avLst/>
          </a:prstGeom>
          <a:noFill/>
          <a:ln/>
        </p:spPr>
        <p:txBody>
          <a:bodyPr wrap="square" lIns="0" tIns="0" rIns="0" bIns="0" rtlCol="0" anchor="ctr"/>
          <a:lstStyle/>
          <a:p>
            <a:pPr>
              <a:lnSpc>
                <a:spcPct val="130000"/>
              </a:lnSpc>
            </a:pPr>
            <a:r>
              <a:rPr lang="en-US" sz="1200" b="1" dirty="0">
                <a:solidFill>
                  <a:srgbClr val="F1F5F9">
                    <a:alpha val="80000"/>
                  </a:srgbClr>
                </a:solidFill>
                <a:latin typeface="MiSans" pitchFamily="34" charset="0"/>
                <a:ea typeface="MiSans" pitchFamily="34" charset="-122"/>
                <a:cs typeface="MiSans" pitchFamily="34" charset="-120"/>
              </a:rPr>
              <a:t>Review &amp; Apply</a:t>
            </a:r>
            <a:endParaRPr lang="en-US" sz="1600" dirty="0"/>
          </a:p>
        </p:txBody>
      </p:sp>
      <p:sp>
        <p:nvSpPr>
          <p:cNvPr id="35" name="Text 33"/>
          <p:cNvSpPr/>
          <p:nvPr/>
        </p:nvSpPr>
        <p:spPr>
          <a:xfrm>
            <a:off x="9825038" y="3236119"/>
            <a:ext cx="17811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Kiểm tra và áp dụng vào code</a:t>
            </a:r>
            <a:endParaRPr lang="en-US" sz="1600" dirty="0"/>
          </a:p>
        </p:txBody>
      </p:sp>
      <p:sp>
        <p:nvSpPr>
          <p:cNvPr id="36" name="Shape 34"/>
          <p:cNvSpPr/>
          <p:nvPr/>
        </p:nvSpPr>
        <p:spPr>
          <a:xfrm>
            <a:off x="385763" y="4381500"/>
            <a:ext cx="5629275" cy="2095500"/>
          </a:xfrm>
          <a:custGeom>
            <a:avLst/>
            <a:gdLst/>
            <a:ahLst/>
            <a:cxnLst/>
            <a:rect l="l" t="t" r="r" b="b"/>
            <a:pathLst>
              <a:path w="5629275" h="2095500">
                <a:moveTo>
                  <a:pt x="114310" y="0"/>
                </a:moveTo>
                <a:lnTo>
                  <a:pt x="5514965" y="0"/>
                </a:lnTo>
                <a:cubicBezTo>
                  <a:pt x="5578097" y="0"/>
                  <a:pt x="5629275" y="51178"/>
                  <a:pt x="5629275" y="114310"/>
                </a:cubicBezTo>
                <a:lnTo>
                  <a:pt x="5629275" y="1981190"/>
                </a:lnTo>
                <a:cubicBezTo>
                  <a:pt x="5629275" y="2044322"/>
                  <a:pt x="5578097" y="2095500"/>
                  <a:pt x="5514965" y="2095500"/>
                </a:cubicBezTo>
                <a:lnTo>
                  <a:pt x="114310" y="2095500"/>
                </a:lnTo>
                <a:cubicBezTo>
                  <a:pt x="51178" y="2095500"/>
                  <a:pt x="0" y="2044322"/>
                  <a:pt x="0" y="1981190"/>
                </a:cubicBezTo>
                <a:lnTo>
                  <a:pt x="0" y="114310"/>
                </a:lnTo>
                <a:cubicBezTo>
                  <a:pt x="0" y="51220"/>
                  <a:pt x="51220" y="0"/>
                  <a:pt x="114310" y="0"/>
                </a:cubicBezTo>
                <a:close/>
              </a:path>
            </a:pathLst>
          </a:custGeom>
          <a:solidFill>
            <a:srgbClr val="0F172A"/>
          </a:solidFill>
          <a:ln w="12700">
            <a:solidFill>
              <a:srgbClr val="3B82F6">
                <a:alpha val="30196"/>
              </a:srgbClr>
            </a:solidFill>
            <a:prstDash val="solid"/>
          </a:ln>
        </p:spPr>
      </p:sp>
      <p:sp>
        <p:nvSpPr>
          <p:cNvPr id="37" name="Shape 35"/>
          <p:cNvSpPr/>
          <p:nvPr/>
        </p:nvSpPr>
        <p:spPr>
          <a:xfrm>
            <a:off x="556022" y="4586288"/>
            <a:ext cx="192881" cy="171450"/>
          </a:xfrm>
          <a:custGeom>
            <a:avLst/>
            <a:gdLst/>
            <a:ahLst/>
            <a:cxnLst/>
            <a:rect l="l" t="t" r="r" b="b"/>
            <a:pathLst>
              <a:path w="192881" h="171450">
                <a:moveTo>
                  <a:pt x="21431" y="21431"/>
                </a:moveTo>
                <a:cubicBezTo>
                  <a:pt x="9611" y="21431"/>
                  <a:pt x="0" y="31042"/>
                  <a:pt x="0" y="42863"/>
                </a:cubicBezTo>
                <a:lnTo>
                  <a:pt x="0" y="128588"/>
                </a:lnTo>
                <a:cubicBezTo>
                  <a:pt x="0" y="140408"/>
                  <a:pt x="9611" y="150019"/>
                  <a:pt x="21431" y="150019"/>
                </a:cubicBezTo>
                <a:lnTo>
                  <a:pt x="171450" y="150019"/>
                </a:lnTo>
                <a:cubicBezTo>
                  <a:pt x="183271" y="150019"/>
                  <a:pt x="192881" y="140408"/>
                  <a:pt x="192881" y="128588"/>
                </a:cubicBezTo>
                <a:lnTo>
                  <a:pt x="192881" y="42863"/>
                </a:lnTo>
                <a:cubicBezTo>
                  <a:pt x="192881" y="31042"/>
                  <a:pt x="183271" y="21431"/>
                  <a:pt x="171450" y="21431"/>
                </a:cubicBezTo>
                <a:lnTo>
                  <a:pt x="21431" y="21431"/>
                </a:lnTo>
                <a:close/>
                <a:moveTo>
                  <a:pt x="26789" y="42863"/>
                </a:moveTo>
                <a:lnTo>
                  <a:pt x="37505" y="42863"/>
                </a:lnTo>
                <a:cubicBezTo>
                  <a:pt x="40451" y="42863"/>
                  <a:pt x="42863" y="45274"/>
                  <a:pt x="42863" y="48220"/>
                </a:cubicBezTo>
                <a:lnTo>
                  <a:pt x="42863" y="58936"/>
                </a:lnTo>
                <a:cubicBezTo>
                  <a:pt x="42863" y="61883"/>
                  <a:pt x="40451" y="64294"/>
                  <a:pt x="37505" y="64294"/>
                </a:cubicBezTo>
                <a:lnTo>
                  <a:pt x="26789" y="64294"/>
                </a:lnTo>
                <a:cubicBezTo>
                  <a:pt x="23842" y="64294"/>
                  <a:pt x="21431" y="61883"/>
                  <a:pt x="21431" y="58936"/>
                </a:cubicBezTo>
                <a:lnTo>
                  <a:pt x="21431" y="48220"/>
                </a:lnTo>
                <a:cubicBezTo>
                  <a:pt x="21431" y="45274"/>
                  <a:pt x="23842" y="42863"/>
                  <a:pt x="26789" y="42863"/>
                </a:cubicBezTo>
                <a:close/>
                <a:moveTo>
                  <a:pt x="21431" y="80367"/>
                </a:moveTo>
                <a:cubicBezTo>
                  <a:pt x="21431" y="77420"/>
                  <a:pt x="23842" y="75009"/>
                  <a:pt x="26789" y="75009"/>
                </a:cubicBezTo>
                <a:lnTo>
                  <a:pt x="37505" y="75009"/>
                </a:lnTo>
                <a:cubicBezTo>
                  <a:pt x="40451" y="75009"/>
                  <a:pt x="42863" y="77420"/>
                  <a:pt x="42863" y="80367"/>
                </a:cubicBezTo>
                <a:lnTo>
                  <a:pt x="42863" y="91083"/>
                </a:lnTo>
                <a:cubicBezTo>
                  <a:pt x="42863" y="94030"/>
                  <a:pt x="40451" y="96441"/>
                  <a:pt x="37505" y="96441"/>
                </a:cubicBezTo>
                <a:lnTo>
                  <a:pt x="26789" y="96441"/>
                </a:lnTo>
                <a:cubicBezTo>
                  <a:pt x="23842" y="96441"/>
                  <a:pt x="21431" y="94030"/>
                  <a:pt x="21431" y="91083"/>
                </a:cubicBezTo>
                <a:lnTo>
                  <a:pt x="21431" y="80367"/>
                </a:lnTo>
                <a:close/>
                <a:moveTo>
                  <a:pt x="58936" y="42863"/>
                </a:moveTo>
                <a:lnTo>
                  <a:pt x="69652" y="42863"/>
                </a:lnTo>
                <a:cubicBezTo>
                  <a:pt x="72598" y="42863"/>
                  <a:pt x="75009" y="45274"/>
                  <a:pt x="75009" y="48220"/>
                </a:cubicBezTo>
                <a:lnTo>
                  <a:pt x="75009" y="58936"/>
                </a:lnTo>
                <a:cubicBezTo>
                  <a:pt x="75009" y="61883"/>
                  <a:pt x="72598" y="64294"/>
                  <a:pt x="69652" y="64294"/>
                </a:cubicBezTo>
                <a:lnTo>
                  <a:pt x="58936" y="64294"/>
                </a:lnTo>
                <a:cubicBezTo>
                  <a:pt x="55989" y="64294"/>
                  <a:pt x="53578" y="61883"/>
                  <a:pt x="53578" y="58936"/>
                </a:cubicBezTo>
                <a:lnTo>
                  <a:pt x="53578" y="48220"/>
                </a:lnTo>
                <a:cubicBezTo>
                  <a:pt x="53578" y="45274"/>
                  <a:pt x="55989" y="42863"/>
                  <a:pt x="58936" y="42863"/>
                </a:cubicBezTo>
                <a:close/>
                <a:moveTo>
                  <a:pt x="53578" y="80367"/>
                </a:moveTo>
                <a:cubicBezTo>
                  <a:pt x="53578" y="77420"/>
                  <a:pt x="55989" y="75009"/>
                  <a:pt x="58936" y="75009"/>
                </a:cubicBezTo>
                <a:lnTo>
                  <a:pt x="69652" y="75009"/>
                </a:lnTo>
                <a:cubicBezTo>
                  <a:pt x="72598" y="75009"/>
                  <a:pt x="75009" y="77420"/>
                  <a:pt x="75009" y="80367"/>
                </a:cubicBezTo>
                <a:lnTo>
                  <a:pt x="75009" y="91083"/>
                </a:lnTo>
                <a:cubicBezTo>
                  <a:pt x="75009" y="94030"/>
                  <a:pt x="72598" y="96441"/>
                  <a:pt x="69652" y="96441"/>
                </a:cubicBezTo>
                <a:lnTo>
                  <a:pt x="58936" y="96441"/>
                </a:lnTo>
                <a:cubicBezTo>
                  <a:pt x="55989" y="96441"/>
                  <a:pt x="53578" y="94030"/>
                  <a:pt x="53578" y="91083"/>
                </a:cubicBezTo>
                <a:lnTo>
                  <a:pt x="53578" y="80367"/>
                </a:lnTo>
                <a:close/>
                <a:moveTo>
                  <a:pt x="58936" y="107156"/>
                </a:moveTo>
                <a:lnTo>
                  <a:pt x="133945" y="107156"/>
                </a:lnTo>
                <a:cubicBezTo>
                  <a:pt x="136892" y="107156"/>
                  <a:pt x="139303" y="109567"/>
                  <a:pt x="139303" y="112514"/>
                </a:cubicBezTo>
                <a:lnTo>
                  <a:pt x="139303" y="123230"/>
                </a:lnTo>
                <a:cubicBezTo>
                  <a:pt x="139303" y="126176"/>
                  <a:pt x="136892" y="128588"/>
                  <a:pt x="133945" y="128588"/>
                </a:cubicBezTo>
                <a:lnTo>
                  <a:pt x="58936" y="128588"/>
                </a:lnTo>
                <a:cubicBezTo>
                  <a:pt x="55989" y="128588"/>
                  <a:pt x="53578" y="126176"/>
                  <a:pt x="53578" y="123230"/>
                </a:cubicBezTo>
                <a:lnTo>
                  <a:pt x="53578" y="112514"/>
                </a:lnTo>
                <a:cubicBezTo>
                  <a:pt x="53578" y="109567"/>
                  <a:pt x="55989" y="107156"/>
                  <a:pt x="58936" y="107156"/>
                </a:cubicBezTo>
                <a:close/>
                <a:moveTo>
                  <a:pt x="85725" y="48220"/>
                </a:moveTo>
                <a:cubicBezTo>
                  <a:pt x="85725" y="45274"/>
                  <a:pt x="88136" y="42863"/>
                  <a:pt x="91083" y="42863"/>
                </a:cubicBezTo>
                <a:lnTo>
                  <a:pt x="101798" y="42863"/>
                </a:lnTo>
                <a:cubicBezTo>
                  <a:pt x="104745" y="42863"/>
                  <a:pt x="107156" y="45274"/>
                  <a:pt x="107156" y="48220"/>
                </a:cubicBezTo>
                <a:lnTo>
                  <a:pt x="107156" y="58936"/>
                </a:lnTo>
                <a:cubicBezTo>
                  <a:pt x="107156" y="61883"/>
                  <a:pt x="104745" y="64294"/>
                  <a:pt x="101798" y="64294"/>
                </a:cubicBezTo>
                <a:lnTo>
                  <a:pt x="91083" y="64294"/>
                </a:lnTo>
                <a:cubicBezTo>
                  <a:pt x="88136" y="64294"/>
                  <a:pt x="85725" y="61883"/>
                  <a:pt x="85725" y="58936"/>
                </a:cubicBezTo>
                <a:lnTo>
                  <a:pt x="85725" y="48220"/>
                </a:lnTo>
                <a:close/>
                <a:moveTo>
                  <a:pt x="91083" y="75009"/>
                </a:moveTo>
                <a:lnTo>
                  <a:pt x="101798" y="75009"/>
                </a:lnTo>
                <a:cubicBezTo>
                  <a:pt x="104745" y="75009"/>
                  <a:pt x="107156" y="77420"/>
                  <a:pt x="107156" y="80367"/>
                </a:cubicBezTo>
                <a:lnTo>
                  <a:pt x="107156" y="91083"/>
                </a:lnTo>
                <a:cubicBezTo>
                  <a:pt x="107156" y="94030"/>
                  <a:pt x="104745" y="96441"/>
                  <a:pt x="101798" y="96441"/>
                </a:cubicBezTo>
                <a:lnTo>
                  <a:pt x="91083" y="96441"/>
                </a:lnTo>
                <a:cubicBezTo>
                  <a:pt x="88136" y="96441"/>
                  <a:pt x="85725" y="94030"/>
                  <a:pt x="85725" y="91083"/>
                </a:cubicBezTo>
                <a:lnTo>
                  <a:pt x="85725" y="80367"/>
                </a:lnTo>
                <a:cubicBezTo>
                  <a:pt x="85725" y="77420"/>
                  <a:pt x="88136" y="75009"/>
                  <a:pt x="91083" y="75009"/>
                </a:cubicBezTo>
                <a:close/>
                <a:moveTo>
                  <a:pt x="117872" y="48220"/>
                </a:moveTo>
                <a:cubicBezTo>
                  <a:pt x="117872" y="45274"/>
                  <a:pt x="120283" y="42863"/>
                  <a:pt x="123230" y="42863"/>
                </a:cubicBezTo>
                <a:lnTo>
                  <a:pt x="133945" y="42863"/>
                </a:lnTo>
                <a:cubicBezTo>
                  <a:pt x="136892" y="42863"/>
                  <a:pt x="139303" y="45274"/>
                  <a:pt x="139303" y="48220"/>
                </a:cubicBezTo>
                <a:lnTo>
                  <a:pt x="139303" y="58936"/>
                </a:lnTo>
                <a:cubicBezTo>
                  <a:pt x="139303" y="61883"/>
                  <a:pt x="136892" y="64294"/>
                  <a:pt x="133945" y="64294"/>
                </a:cubicBezTo>
                <a:lnTo>
                  <a:pt x="123230" y="64294"/>
                </a:lnTo>
                <a:cubicBezTo>
                  <a:pt x="120283" y="64294"/>
                  <a:pt x="117872" y="61883"/>
                  <a:pt x="117872" y="58936"/>
                </a:cubicBezTo>
                <a:lnTo>
                  <a:pt x="117872" y="48220"/>
                </a:lnTo>
                <a:close/>
                <a:moveTo>
                  <a:pt x="123230" y="75009"/>
                </a:moveTo>
                <a:lnTo>
                  <a:pt x="133945" y="75009"/>
                </a:lnTo>
                <a:cubicBezTo>
                  <a:pt x="136892" y="75009"/>
                  <a:pt x="139303" y="77420"/>
                  <a:pt x="139303" y="80367"/>
                </a:cubicBezTo>
                <a:lnTo>
                  <a:pt x="139303" y="91083"/>
                </a:lnTo>
                <a:cubicBezTo>
                  <a:pt x="139303" y="94030"/>
                  <a:pt x="136892" y="96441"/>
                  <a:pt x="133945" y="96441"/>
                </a:cubicBezTo>
                <a:lnTo>
                  <a:pt x="123230" y="96441"/>
                </a:lnTo>
                <a:cubicBezTo>
                  <a:pt x="120283" y="96441"/>
                  <a:pt x="117872" y="94030"/>
                  <a:pt x="117872" y="91083"/>
                </a:cubicBezTo>
                <a:lnTo>
                  <a:pt x="117872" y="80367"/>
                </a:lnTo>
                <a:cubicBezTo>
                  <a:pt x="117872" y="77420"/>
                  <a:pt x="120283" y="75009"/>
                  <a:pt x="123230" y="75009"/>
                </a:cubicBezTo>
                <a:close/>
                <a:moveTo>
                  <a:pt x="150019" y="48220"/>
                </a:moveTo>
                <a:cubicBezTo>
                  <a:pt x="150019" y="45274"/>
                  <a:pt x="152430" y="42863"/>
                  <a:pt x="155377" y="42863"/>
                </a:cubicBezTo>
                <a:lnTo>
                  <a:pt x="166092" y="42863"/>
                </a:lnTo>
                <a:cubicBezTo>
                  <a:pt x="169039" y="42863"/>
                  <a:pt x="171450" y="45274"/>
                  <a:pt x="171450" y="48220"/>
                </a:cubicBezTo>
                <a:lnTo>
                  <a:pt x="171450" y="58936"/>
                </a:lnTo>
                <a:cubicBezTo>
                  <a:pt x="171450" y="61883"/>
                  <a:pt x="169039" y="64294"/>
                  <a:pt x="166092" y="64294"/>
                </a:cubicBezTo>
                <a:lnTo>
                  <a:pt x="155377" y="64294"/>
                </a:lnTo>
                <a:cubicBezTo>
                  <a:pt x="152430" y="64294"/>
                  <a:pt x="150019" y="61883"/>
                  <a:pt x="150019" y="58936"/>
                </a:cubicBezTo>
                <a:lnTo>
                  <a:pt x="150019" y="48220"/>
                </a:lnTo>
                <a:close/>
                <a:moveTo>
                  <a:pt x="155377" y="75009"/>
                </a:moveTo>
                <a:lnTo>
                  <a:pt x="166092" y="75009"/>
                </a:lnTo>
                <a:cubicBezTo>
                  <a:pt x="169039" y="75009"/>
                  <a:pt x="171450" y="77420"/>
                  <a:pt x="171450" y="80367"/>
                </a:cubicBezTo>
                <a:lnTo>
                  <a:pt x="171450" y="91083"/>
                </a:lnTo>
                <a:cubicBezTo>
                  <a:pt x="171450" y="94030"/>
                  <a:pt x="169039" y="96441"/>
                  <a:pt x="166092" y="96441"/>
                </a:cubicBezTo>
                <a:lnTo>
                  <a:pt x="155377" y="96441"/>
                </a:lnTo>
                <a:cubicBezTo>
                  <a:pt x="152430" y="96441"/>
                  <a:pt x="150019" y="94030"/>
                  <a:pt x="150019" y="91083"/>
                </a:cubicBezTo>
                <a:lnTo>
                  <a:pt x="150019" y="80367"/>
                </a:lnTo>
                <a:cubicBezTo>
                  <a:pt x="150019" y="77420"/>
                  <a:pt x="152430" y="75009"/>
                  <a:pt x="155377" y="75009"/>
                </a:cubicBezTo>
                <a:close/>
              </a:path>
            </a:pathLst>
          </a:custGeom>
          <a:solidFill>
            <a:srgbClr val="3B82F6"/>
          </a:solidFill>
          <a:ln/>
        </p:spPr>
      </p:sp>
      <p:sp>
        <p:nvSpPr>
          <p:cNvPr id="38" name="Text 36"/>
          <p:cNvSpPr/>
          <p:nvPr/>
        </p:nvSpPr>
        <p:spPr>
          <a:xfrm>
            <a:off x="762000" y="4538663"/>
            <a:ext cx="5181600" cy="266700"/>
          </a:xfrm>
          <a:prstGeom prst="rect">
            <a:avLst/>
          </a:prstGeom>
          <a:noFill/>
          <a:ln/>
        </p:spPr>
        <p:txBody>
          <a:bodyPr wrap="square" lIns="0" tIns="0" rIns="0" bIns="0" rtlCol="0" anchor="ctr"/>
          <a:lstStyle/>
          <a:p>
            <a:pPr>
              <a:lnSpc>
                <a:spcPct val="130000"/>
              </a:lnSpc>
            </a:pPr>
            <a:r>
              <a:rPr lang="en-US" sz="1350" b="1" dirty="0">
                <a:solidFill>
                  <a:srgbClr val="3B82F6"/>
                </a:solidFill>
                <a:latin typeface="MiSans" pitchFamily="34" charset="0"/>
                <a:ea typeface="MiSans" pitchFamily="34" charset="-122"/>
                <a:cs typeface="MiSans" pitchFamily="34" charset="-120"/>
              </a:rPr>
              <a:t>Câu lệnh Prompt phổ biến</a:t>
            </a:r>
            <a:endParaRPr lang="en-US" sz="1600" dirty="0"/>
          </a:p>
        </p:txBody>
      </p:sp>
      <p:sp>
        <p:nvSpPr>
          <p:cNvPr id="39" name="Shape 37"/>
          <p:cNvSpPr/>
          <p:nvPr/>
        </p:nvSpPr>
        <p:spPr>
          <a:xfrm>
            <a:off x="542925" y="4919663"/>
            <a:ext cx="5314950" cy="419100"/>
          </a:xfrm>
          <a:custGeom>
            <a:avLst/>
            <a:gdLst/>
            <a:ahLst/>
            <a:cxnLst/>
            <a:rect l="l" t="t" r="r" b="b"/>
            <a:pathLst>
              <a:path w="5314950" h="419100">
                <a:moveTo>
                  <a:pt x="76201" y="0"/>
                </a:moveTo>
                <a:lnTo>
                  <a:pt x="5238749" y="0"/>
                </a:lnTo>
                <a:cubicBezTo>
                  <a:pt x="5280834" y="0"/>
                  <a:pt x="5314950" y="34116"/>
                  <a:pt x="5314950" y="76201"/>
                </a:cubicBezTo>
                <a:lnTo>
                  <a:pt x="5314950" y="342899"/>
                </a:lnTo>
                <a:cubicBezTo>
                  <a:pt x="5314950" y="384984"/>
                  <a:pt x="5280834" y="419100"/>
                  <a:pt x="5238749" y="419100"/>
                </a:cubicBezTo>
                <a:lnTo>
                  <a:pt x="76201" y="419100"/>
                </a:lnTo>
                <a:cubicBezTo>
                  <a:pt x="34116" y="419100"/>
                  <a:pt x="0" y="384984"/>
                  <a:pt x="0" y="342899"/>
                </a:cubicBezTo>
                <a:lnTo>
                  <a:pt x="0" y="76201"/>
                </a:lnTo>
                <a:cubicBezTo>
                  <a:pt x="0" y="34144"/>
                  <a:pt x="34144" y="0"/>
                  <a:pt x="76201" y="0"/>
                </a:cubicBezTo>
                <a:close/>
              </a:path>
            </a:pathLst>
          </a:custGeom>
          <a:solidFill>
            <a:srgbClr val="1E293B"/>
          </a:solidFill>
          <a:ln/>
        </p:spPr>
      </p:sp>
      <p:sp>
        <p:nvSpPr>
          <p:cNvPr id="40" name="Text 38"/>
          <p:cNvSpPr/>
          <p:nvPr/>
        </p:nvSpPr>
        <p:spPr>
          <a:xfrm>
            <a:off x="657225" y="5053013"/>
            <a:ext cx="334268"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/doc</a:t>
            </a:r>
            <a:endParaRPr lang="en-US" sz="1600" dirty="0"/>
          </a:p>
        </p:txBody>
      </p:sp>
      <p:sp>
        <p:nvSpPr>
          <p:cNvPr id="41" name="Text 39"/>
          <p:cNvSpPr/>
          <p:nvPr/>
        </p:nvSpPr>
        <p:spPr>
          <a:xfrm>
            <a:off x="997744" y="5053013"/>
            <a:ext cx="87897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Google style</a:t>
            </a:r>
            <a:endParaRPr lang="en-US" sz="1600" dirty="0"/>
          </a:p>
        </p:txBody>
      </p:sp>
      <p:sp>
        <p:nvSpPr>
          <p:cNvPr id="42" name="Shape 40"/>
          <p:cNvSpPr/>
          <p:nvPr/>
        </p:nvSpPr>
        <p:spPr>
          <a:xfrm>
            <a:off x="542925" y="5410200"/>
            <a:ext cx="5314950" cy="419100"/>
          </a:xfrm>
          <a:custGeom>
            <a:avLst/>
            <a:gdLst/>
            <a:ahLst/>
            <a:cxnLst/>
            <a:rect l="l" t="t" r="r" b="b"/>
            <a:pathLst>
              <a:path w="5314950" h="419100">
                <a:moveTo>
                  <a:pt x="76201" y="0"/>
                </a:moveTo>
                <a:lnTo>
                  <a:pt x="5238749" y="0"/>
                </a:lnTo>
                <a:cubicBezTo>
                  <a:pt x="5280834" y="0"/>
                  <a:pt x="5314950" y="34116"/>
                  <a:pt x="5314950" y="76201"/>
                </a:cubicBezTo>
                <a:lnTo>
                  <a:pt x="5314950" y="342899"/>
                </a:lnTo>
                <a:cubicBezTo>
                  <a:pt x="5314950" y="384984"/>
                  <a:pt x="5280834" y="419100"/>
                  <a:pt x="5238749" y="419100"/>
                </a:cubicBezTo>
                <a:lnTo>
                  <a:pt x="76201" y="419100"/>
                </a:lnTo>
                <a:cubicBezTo>
                  <a:pt x="34116" y="419100"/>
                  <a:pt x="0" y="384984"/>
                  <a:pt x="0" y="342899"/>
                </a:cubicBezTo>
                <a:lnTo>
                  <a:pt x="0" y="76201"/>
                </a:lnTo>
                <a:cubicBezTo>
                  <a:pt x="0" y="34144"/>
                  <a:pt x="34144" y="0"/>
                  <a:pt x="76201" y="0"/>
                </a:cubicBezTo>
                <a:close/>
              </a:path>
            </a:pathLst>
          </a:custGeom>
          <a:solidFill>
            <a:srgbClr val="1E293B"/>
          </a:solidFill>
          <a:ln/>
        </p:spPr>
      </p:sp>
      <p:sp>
        <p:nvSpPr>
          <p:cNvPr id="43" name="Text 41"/>
          <p:cNvSpPr/>
          <p:nvPr/>
        </p:nvSpPr>
        <p:spPr>
          <a:xfrm>
            <a:off x="657225" y="5543550"/>
            <a:ext cx="606623"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/explain</a:t>
            </a:r>
            <a:endParaRPr lang="en-US" sz="1600" dirty="0"/>
          </a:p>
        </p:txBody>
      </p:sp>
      <p:sp>
        <p:nvSpPr>
          <p:cNvPr id="44" name="Text 42"/>
          <p:cNvSpPr/>
          <p:nvPr/>
        </p:nvSpPr>
        <p:spPr>
          <a:xfrm>
            <a:off x="1270099" y="5543550"/>
            <a:ext cx="1900089" cy="142875"/>
          </a:xfrm>
          <a:prstGeom prst="rect">
            <a:avLst/>
          </a:prstGeom>
          <a:noFill/>
          <a:ln/>
        </p:spPr>
        <p:txBody>
          <a:bodyPr wrap="square" lIns="0" tIns="0" rIns="0" bIns="0" rtlCol="0" anchor="ctr"/>
          <a:lstStyle/>
          <a:p>
            <a:pPr>
              <a:lnSpc>
                <a:spcPct val="130000"/>
              </a:lnSpc>
            </a:pPr>
            <a:r>
              <a:rPr lang="en-US" sz="975" dirty="0">
                <a:solidFill>
                  <a:srgbClr val="F1F5F9">
                    <a:alpha val="70000"/>
                  </a:srgbClr>
                </a:solidFill>
                <a:latin typeface="MiSans" pitchFamily="34" charset="0"/>
                <a:ea typeface="MiSans" pitchFamily="34" charset="-122"/>
                <a:cs typeface="MiSans" pitchFamily="34" charset="-120"/>
              </a:rPr>
              <a:t>- Giải thích chức năng code</a:t>
            </a:r>
            <a:endParaRPr lang="en-US" sz="1600" dirty="0"/>
          </a:p>
        </p:txBody>
      </p:sp>
      <p:sp>
        <p:nvSpPr>
          <p:cNvPr id="45" name="Shape 43"/>
          <p:cNvSpPr/>
          <p:nvPr/>
        </p:nvSpPr>
        <p:spPr>
          <a:xfrm>
            <a:off x="542925" y="5900738"/>
            <a:ext cx="5314950" cy="419100"/>
          </a:xfrm>
          <a:custGeom>
            <a:avLst/>
            <a:gdLst/>
            <a:ahLst/>
            <a:cxnLst/>
            <a:rect l="l" t="t" r="r" b="b"/>
            <a:pathLst>
              <a:path w="5314950" h="419100">
                <a:moveTo>
                  <a:pt x="76201" y="0"/>
                </a:moveTo>
                <a:lnTo>
                  <a:pt x="5238749" y="0"/>
                </a:lnTo>
                <a:cubicBezTo>
                  <a:pt x="5280834" y="0"/>
                  <a:pt x="5314950" y="34116"/>
                  <a:pt x="5314950" y="76201"/>
                </a:cubicBezTo>
                <a:lnTo>
                  <a:pt x="5314950" y="342899"/>
                </a:lnTo>
                <a:cubicBezTo>
                  <a:pt x="5314950" y="384984"/>
                  <a:pt x="5280834" y="419100"/>
                  <a:pt x="5238749" y="419100"/>
                </a:cubicBezTo>
                <a:lnTo>
                  <a:pt x="76201" y="419100"/>
                </a:lnTo>
                <a:cubicBezTo>
                  <a:pt x="34116" y="419100"/>
                  <a:pt x="0" y="384984"/>
                  <a:pt x="0" y="342899"/>
                </a:cubicBezTo>
                <a:lnTo>
                  <a:pt x="0" y="76201"/>
                </a:lnTo>
                <a:cubicBezTo>
                  <a:pt x="0" y="34144"/>
                  <a:pt x="34144" y="0"/>
                  <a:pt x="76201" y="0"/>
                </a:cubicBezTo>
                <a:close/>
              </a:path>
            </a:pathLst>
          </a:custGeom>
          <a:solidFill>
            <a:srgbClr val="1E293B"/>
          </a:solidFill>
          <a:ln/>
        </p:spPr>
      </p:sp>
      <p:sp>
        <p:nvSpPr>
          <p:cNvPr id="46" name="Text 44"/>
          <p:cNvSpPr/>
          <p:nvPr/>
        </p:nvSpPr>
        <p:spPr>
          <a:xfrm>
            <a:off x="657225" y="6034088"/>
            <a:ext cx="1423541"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write all docstrings</a:t>
            </a:r>
            <a:endParaRPr lang="en-US" sz="1600" dirty="0"/>
          </a:p>
        </p:txBody>
      </p:sp>
      <p:sp>
        <p:nvSpPr>
          <p:cNvPr id="47" name="Text 45"/>
          <p:cNvSpPr/>
          <p:nvPr/>
        </p:nvSpPr>
        <p:spPr>
          <a:xfrm>
            <a:off x="2087017" y="6034088"/>
            <a:ext cx="1627882" cy="142875"/>
          </a:xfrm>
          <a:prstGeom prst="rect">
            <a:avLst/>
          </a:prstGeom>
          <a:noFill/>
          <a:ln/>
        </p:spPr>
        <p:txBody>
          <a:bodyPr wrap="square" lIns="0" tIns="0" rIns="0" bIns="0" rtlCol="0" anchor="ctr"/>
          <a:lstStyle/>
          <a:p>
            <a:pPr>
              <a:lnSpc>
                <a:spcPct val="130000"/>
              </a:lnSpc>
            </a:pPr>
            <a:r>
              <a:rPr lang="en-US" sz="975" dirty="0">
                <a:solidFill>
                  <a:srgbClr val="F1F5F9">
                    <a:alpha val="70000"/>
                  </a:srgbClr>
                </a:solidFill>
                <a:latin typeface="MiSans" pitchFamily="34" charset="0"/>
                <a:ea typeface="MiSans" pitchFamily="34" charset="-122"/>
                <a:cs typeface="MiSans" pitchFamily="34" charset="-120"/>
              </a:rPr>
              <a:t>- Tạo doc cho toàn file</a:t>
            </a:r>
            <a:endParaRPr lang="en-US" sz="1600" dirty="0"/>
          </a:p>
        </p:txBody>
      </p:sp>
      <p:sp>
        <p:nvSpPr>
          <p:cNvPr id="48" name="Shape 46"/>
          <p:cNvSpPr/>
          <p:nvPr/>
        </p:nvSpPr>
        <p:spPr>
          <a:xfrm>
            <a:off x="6176963" y="4381500"/>
            <a:ext cx="5629275" cy="2095500"/>
          </a:xfrm>
          <a:custGeom>
            <a:avLst/>
            <a:gdLst/>
            <a:ahLst/>
            <a:cxnLst/>
            <a:rect l="l" t="t" r="r" b="b"/>
            <a:pathLst>
              <a:path w="5629275" h="2095500">
                <a:moveTo>
                  <a:pt x="114310" y="0"/>
                </a:moveTo>
                <a:lnTo>
                  <a:pt x="5514965" y="0"/>
                </a:lnTo>
                <a:cubicBezTo>
                  <a:pt x="5578097" y="0"/>
                  <a:pt x="5629275" y="51178"/>
                  <a:pt x="5629275" y="114310"/>
                </a:cubicBezTo>
                <a:lnTo>
                  <a:pt x="5629275" y="1981190"/>
                </a:lnTo>
                <a:cubicBezTo>
                  <a:pt x="5629275" y="2044322"/>
                  <a:pt x="5578097" y="2095500"/>
                  <a:pt x="5514965" y="2095500"/>
                </a:cubicBezTo>
                <a:lnTo>
                  <a:pt x="114310" y="2095500"/>
                </a:lnTo>
                <a:cubicBezTo>
                  <a:pt x="51178" y="2095500"/>
                  <a:pt x="0" y="2044322"/>
                  <a:pt x="0" y="1981190"/>
                </a:cubicBezTo>
                <a:lnTo>
                  <a:pt x="0" y="114310"/>
                </a:lnTo>
                <a:cubicBezTo>
                  <a:pt x="0" y="51220"/>
                  <a:pt x="51220" y="0"/>
                  <a:pt x="114310" y="0"/>
                </a:cubicBezTo>
                <a:close/>
              </a:path>
            </a:pathLst>
          </a:custGeom>
          <a:solidFill>
            <a:srgbClr val="0F172A"/>
          </a:solidFill>
          <a:ln w="12700">
            <a:solidFill>
              <a:srgbClr val="10B981">
                <a:alpha val="30196"/>
              </a:srgbClr>
            </a:solidFill>
            <a:prstDash val="solid"/>
          </a:ln>
        </p:spPr>
      </p:sp>
      <p:sp>
        <p:nvSpPr>
          <p:cNvPr id="49" name="Shape 47"/>
          <p:cNvSpPr/>
          <p:nvPr/>
        </p:nvSpPr>
        <p:spPr>
          <a:xfrm>
            <a:off x="6347222" y="4586288"/>
            <a:ext cx="192881" cy="171450"/>
          </a:xfrm>
          <a:custGeom>
            <a:avLst/>
            <a:gdLst/>
            <a:ahLst/>
            <a:cxnLst/>
            <a:rect l="l" t="t" r="r" b="b"/>
            <a:pathLst>
              <a:path w="192881" h="171450">
                <a:moveTo>
                  <a:pt x="103640" y="-6329"/>
                </a:moveTo>
                <a:cubicBezTo>
                  <a:pt x="102267" y="-9008"/>
                  <a:pt x="99488" y="-10716"/>
                  <a:pt x="96474" y="-10716"/>
                </a:cubicBezTo>
                <a:cubicBezTo>
                  <a:pt x="93460" y="-10716"/>
                  <a:pt x="90681" y="-9008"/>
                  <a:pt x="89308" y="-6329"/>
                </a:cubicBezTo>
                <a:lnTo>
                  <a:pt x="64662" y="41958"/>
                </a:lnTo>
                <a:lnTo>
                  <a:pt x="11117" y="50464"/>
                </a:lnTo>
                <a:cubicBezTo>
                  <a:pt x="8137" y="50933"/>
                  <a:pt x="5659" y="53042"/>
                  <a:pt x="4722" y="55922"/>
                </a:cubicBezTo>
                <a:cubicBezTo>
                  <a:pt x="3784" y="58802"/>
                  <a:pt x="4554" y="61950"/>
                  <a:pt x="6664" y="64093"/>
                </a:cubicBezTo>
                <a:lnTo>
                  <a:pt x="44972" y="102435"/>
                </a:lnTo>
                <a:lnTo>
                  <a:pt x="36534" y="155979"/>
                </a:lnTo>
                <a:cubicBezTo>
                  <a:pt x="36065" y="158960"/>
                  <a:pt x="37304" y="161973"/>
                  <a:pt x="39748" y="163748"/>
                </a:cubicBezTo>
                <a:cubicBezTo>
                  <a:pt x="42193" y="165523"/>
                  <a:pt x="45407" y="165791"/>
                  <a:pt x="48120" y="164418"/>
                </a:cubicBezTo>
                <a:lnTo>
                  <a:pt x="96474" y="139839"/>
                </a:lnTo>
                <a:lnTo>
                  <a:pt x="144795" y="164418"/>
                </a:lnTo>
                <a:cubicBezTo>
                  <a:pt x="147474" y="165791"/>
                  <a:pt x="150722" y="165523"/>
                  <a:pt x="153166" y="163748"/>
                </a:cubicBezTo>
                <a:cubicBezTo>
                  <a:pt x="155611" y="161973"/>
                  <a:pt x="156850" y="158993"/>
                  <a:pt x="156381" y="155979"/>
                </a:cubicBezTo>
                <a:lnTo>
                  <a:pt x="147909" y="102435"/>
                </a:lnTo>
                <a:lnTo>
                  <a:pt x="186217" y="64093"/>
                </a:lnTo>
                <a:cubicBezTo>
                  <a:pt x="188361" y="61950"/>
                  <a:pt x="189097" y="58802"/>
                  <a:pt x="188160" y="55922"/>
                </a:cubicBezTo>
                <a:cubicBezTo>
                  <a:pt x="187222" y="53042"/>
                  <a:pt x="184778" y="50933"/>
                  <a:pt x="181764" y="50464"/>
                </a:cubicBezTo>
                <a:lnTo>
                  <a:pt x="128253" y="41958"/>
                </a:lnTo>
                <a:lnTo>
                  <a:pt x="103640" y="-6329"/>
                </a:lnTo>
                <a:close/>
              </a:path>
            </a:pathLst>
          </a:custGeom>
          <a:solidFill>
            <a:srgbClr val="10B981"/>
          </a:solidFill>
          <a:ln/>
        </p:spPr>
      </p:sp>
      <p:sp>
        <p:nvSpPr>
          <p:cNvPr id="50" name="Text 48"/>
          <p:cNvSpPr/>
          <p:nvPr/>
        </p:nvSpPr>
        <p:spPr>
          <a:xfrm>
            <a:off x="6553200" y="4538663"/>
            <a:ext cx="5181600" cy="266700"/>
          </a:xfrm>
          <a:prstGeom prst="rect">
            <a:avLst/>
          </a:prstGeom>
          <a:noFill/>
          <a:ln/>
        </p:spPr>
        <p:txBody>
          <a:bodyPr wrap="square" lIns="0" tIns="0" rIns="0" bIns="0" rtlCol="0" anchor="ctr"/>
          <a:lstStyle/>
          <a:p>
            <a:pPr>
              <a:lnSpc>
                <a:spcPct val="130000"/>
              </a:lnSpc>
            </a:pPr>
            <a:r>
              <a:rPr lang="en-US" sz="1350" b="1" dirty="0">
                <a:solidFill>
                  <a:srgbClr val="10B981"/>
                </a:solidFill>
                <a:latin typeface="MiSans" pitchFamily="34" charset="0"/>
                <a:ea typeface="MiSans" pitchFamily="34" charset="-122"/>
                <a:cs typeface="MiSans" pitchFamily="34" charset="-120"/>
              </a:rPr>
              <a:t>Lợi ích</a:t>
            </a:r>
            <a:endParaRPr lang="en-US" sz="1600" dirty="0"/>
          </a:p>
        </p:txBody>
      </p:sp>
      <p:sp>
        <p:nvSpPr>
          <p:cNvPr id="51" name="Shape 49"/>
          <p:cNvSpPr/>
          <p:nvPr/>
        </p:nvSpPr>
        <p:spPr>
          <a:xfrm>
            <a:off x="6353175" y="49577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2" name="Text 50"/>
          <p:cNvSpPr/>
          <p:nvPr/>
        </p:nvSpPr>
        <p:spPr>
          <a:xfrm>
            <a:off x="6600825" y="4919663"/>
            <a:ext cx="2124075"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Tiết kiệm thờigian viết tài liệu</a:t>
            </a:r>
            <a:endParaRPr lang="en-US" sz="1600" dirty="0"/>
          </a:p>
        </p:txBody>
      </p:sp>
      <p:sp>
        <p:nvSpPr>
          <p:cNvPr id="53" name="Shape 51"/>
          <p:cNvSpPr/>
          <p:nvPr/>
        </p:nvSpPr>
        <p:spPr>
          <a:xfrm>
            <a:off x="6353175" y="52625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4" name="Text 52"/>
          <p:cNvSpPr/>
          <p:nvPr/>
        </p:nvSpPr>
        <p:spPr>
          <a:xfrm>
            <a:off x="6600825" y="5224463"/>
            <a:ext cx="2409825"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Đảm bảo nhất quán về định dạng</a:t>
            </a:r>
            <a:endParaRPr lang="en-US" sz="1600" dirty="0"/>
          </a:p>
        </p:txBody>
      </p:sp>
      <p:sp>
        <p:nvSpPr>
          <p:cNvPr id="55" name="Shape 53"/>
          <p:cNvSpPr/>
          <p:nvPr/>
        </p:nvSpPr>
        <p:spPr>
          <a:xfrm>
            <a:off x="6353175" y="55673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6" name="Text 54"/>
          <p:cNvSpPr/>
          <p:nvPr/>
        </p:nvSpPr>
        <p:spPr>
          <a:xfrm>
            <a:off x="6600825" y="5529263"/>
            <a:ext cx="194310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Giảm thiểu lỗi thiếu tài liệu</a:t>
            </a:r>
            <a:endParaRPr lang="en-US" sz="1600" dirty="0"/>
          </a:p>
        </p:txBody>
      </p:sp>
      <p:sp>
        <p:nvSpPr>
          <p:cNvPr id="57" name="Shape 55"/>
          <p:cNvSpPr/>
          <p:nvPr/>
        </p:nvSpPr>
        <p:spPr>
          <a:xfrm>
            <a:off x="6353175" y="587216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8" name="Text 56"/>
          <p:cNvSpPr/>
          <p:nvPr/>
        </p:nvSpPr>
        <p:spPr>
          <a:xfrm>
            <a:off x="6600825" y="5834063"/>
            <a:ext cx="2838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Tăng tốc độ onboarding thành viên mới</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488156" y="561975"/>
            <a:ext cx="171450" cy="171450"/>
          </a:xfrm>
          <a:custGeom>
            <a:avLst/>
            <a:gdLst/>
            <a:ahLst/>
            <a:cxnLst/>
            <a:rect l="l" t="t" r="r" b="b"/>
            <a:pathLst>
              <a:path w="171450" h="171450">
                <a:moveTo>
                  <a:pt x="160768" y="64294"/>
                </a:moveTo>
                <a:lnTo>
                  <a:pt x="163413" y="64294"/>
                </a:lnTo>
                <a:cubicBezTo>
                  <a:pt x="167867" y="64294"/>
                  <a:pt x="171450" y="60711"/>
                  <a:pt x="171450" y="56257"/>
                </a:cubicBezTo>
                <a:lnTo>
                  <a:pt x="171450" y="8037"/>
                </a:lnTo>
                <a:cubicBezTo>
                  <a:pt x="171450" y="4789"/>
                  <a:pt x="169508" y="1842"/>
                  <a:pt x="166494" y="603"/>
                </a:cubicBezTo>
                <a:cubicBezTo>
                  <a:pt x="163480" y="-636"/>
                  <a:pt x="160031" y="67"/>
                  <a:pt x="157721" y="2344"/>
                </a:cubicBezTo>
                <a:lnTo>
                  <a:pt x="140408" y="19690"/>
                </a:lnTo>
                <a:cubicBezTo>
                  <a:pt x="125574" y="7400"/>
                  <a:pt x="106487" y="0"/>
                  <a:pt x="85725" y="0"/>
                </a:cubicBezTo>
                <a:cubicBezTo>
                  <a:pt x="42528" y="0"/>
                  <a:pt x="6798" y="31946"/>
                  <a:pt x="871" y="73502"/>
                </a:cubicBezTo>
                <a:cubicBezTo>
                  <a:pt x="33" y="79363"/>
                  <a:pt x="4085" y="84787"/>
                  <a:pt x="9945" y="85625"/>
                </a:cubicBezTo>
                <a:cubicBezTo>
                  <a:pt x="15806" y="86462"/>
                  <a:pt x="21230" y="82376"/>
                  <a:pt x="22067" y="76550"/>
                </a:cubicBezTo>
                <a:cubicBezTo>
                  <a:pt x="26521" y="45374"/>
                  <a:pt x="53344" y="21431"/>
                  <a:pt x="85725" y="21431"/>
                </a:cubicBezTo>
                <a:cubicBezTo>
                  <a:pt x="100593" y="21431"/>
                  <a:pt x="114255" y="26454"/>
                  <a:pt x="125138" y="34926"/>
                </a:cubicBezTo>
                <a:lnTo>
                  <a:pt x="109500" y="50564"/>
                </a:lnTo>
                <a:cubicBezTo>
                  <a:pt x="107190" y="52875"/>
                  <a:pt x="106520" y="56324"/>
                  <a:pt x="107759" y="59338"/>
                </a:cubicBezTo>
                <a:cubicBezTo>
                  <a:pt x="108998" y="62352"/>
                  <a:pt x="111945" y="64294"/>
                  <a:pt x="115193" y="64294"/>
                </a:cubicBezTo>
                <a:lnTo>
                  <a:pt x="160768" y="64294"/>
                </a:lnTo>
                <a:close/>
                <a:moveTo>
                  <a:pt x="170613" y="97948"/>
                </a:moveTo>
                <a:cubicBezTo>
                  <a:pt x="171450" y="92087"/>
                  <a:pt x="167365" y="86663"/>
                  <a:pt x="161538" y="85825"/>
                </a:cubicBezTo>
                <a:cubicBezTo>
                  <a:pt x="155711" y="84988"/>
                  <a:pt x="150253" y="89074"/>
                  <a:pt x="149416" y="94900"/>
                </a:cubicBezTo>
                <a:cubicBezTo>
                  <a:pt x="144962" y="126043"/>
                  <a:pt x="118140" y="149985"/>
                  <a:pt x="85758" y="149985"/>
                </a:cubicBezTo>
                <a:cubicBezTo>
                  <a:pt x="70891" y="149985"/>
                  <a:pt x="57228" y="144962"/>
                  <a:pt x="46345" y="136490"/>
                </a:cubicBezTo>
                <a:lnTo>
                  <a:pt x="61950" y="120886"/>
                </a:lnTo>
                <a:cubicBezTo>
                  <a:pt x="64260" y="118575"/>
                  <a:pt x="64930" y="115126"/>
                  <a:pt x="63691" y="112112"/>
                </a:cubicBezTo>
                <a:cubicBezTo>
                  <a:pt x="62452" y="109098"/>
                  <a:pt x="59505" y="107156"/>
                  <a:pt x="56257" y="107156"/>
                </a:cubicBezTo>
                <a:lnTo>
                  <a:pt x="8037" y="107156"/>
                </a:lnTo>
                <a:cubicBezTo>
                  <a:pt x="3583" y="107156"/>
                  <a:pt x="0" y="110739"/>
                  <a:pt x="0" y="115193"/>
                </a:cubicBezTo>
                <a:lnTo>
                  <a:pt x="0" y="163413"/>
                </a:lnTo>
                <a:cubicBezTo>
                  <a:pt x="0" y="166661"/>
                  <a:pt x="1942" y="169608"/>
                  <a:pt x="4956" y="170847"/>
                </a:cubicBezTo>
                <a:cubicBezTo>
                  <a:pt x="7970" y="172086"/>
                  <a:pt x="11419" y="171383"/>
                  <a:pt x="13729" y="169106"/>
                </a:cubicBezTo>
                <a:lnTo>
                  <a:pt x="31075" y="151760"/>
                </a:lnTo>
                <a:cubicBezTo>
                  <a:pt x="45876" y="164050"/>
                  <a:pt x="64963" y="171450"/>
                  <a:pt x="85725" y="171450"/>
                </a:cubicBezTo>
                <a:cubicBezTo>
                  <a:pt x="128922" y="171450"/>
                  <a:pt x="164652" y="139504"/>
                  <a:pt x="170579" y="97948"/>
                </a:cubicBezTo>
                <a:close/>
              </a:path>
            </a:pathLst>
          </a:custGeom>
          <a:solidFill>
            <a:srgbClr val="FFFFFF"/>
          </a:solidFill>
          <a:ln/>
        </p:spPr>
      </p:sp>
      <p:sp>
        <p:nvSpPr>
          <p:cNvPr id="4" name="Text 2"/>
          <p:cNvSpPr/>
          <p:nvPr/>
        </p:nvSpPr>
        <p:spPr>
          <a:xfrm>
            <a:off x="876300" y="381000"/>
            <a:ext cx="8391525"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12 | MỨC LUẬN LÝ</a:t>
            </a:r>
            <a:endParaRPr lang="en-US" sz="1600" dirty="0"/>
          </a:p>
        </p:txBody>
      </p:sp>
      <p:sp>
        <p:nvSpPr>
          <p:cNvPr id="5" name="Text 3"/>
          <p:cNvSpPr/>
          <p:nvPr/>
        </p:nvSpPr>
        <p:spPr>
          <a:xfrm>
            <a:off x="876300" y="571500"/>
            <a:ext cx="84677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Luồng đối chiếu và cập nhật tài liệu (Synchronization Workflow)</a:t>
            </a:r>
            <a:endParaRPr lang="en-US" sz="1600" dirty="0"/>
          </a:p>
        </p:txBody>
      </p:sp>
      <p:sp>
        <p:nvSpPr>
          <p:cNvPr id="6" name="Shape 4"/>
          <p:cNvSpPr/>
          <p:nvPr/>
        </p:nvSpPr>
        <p:spPr>
          <a:xfrm>
            <a:off x="385763" y="1147763"/>
            <a:ext cx="6791325" cy="5391150"/>
          </a:xfrm>
          <a:custGeom>
            <a:avLst/>
            <a:gdLst/>
            <a:ahLst/>
            <a:cxnLst/>
            <a:rect l="l" t="t" r="r" b="b"/>
            <a:pathLst>
              <a:path w="6791325" h="5391150">
                <a:moveTo>
                  <a:pt x="114292" y="0"/>
                </a:moveTo>
                <a:lnTo>
                  <a:pt x="6677033" y="0"/>
                </a:lnTo>
                <a:cubicBezTo>
                  <a:pt x="6740155" y="0"/>
                  <a:pt x="6791325" y="51170"/>
                  <a:pt x="6791325" y="114292"/>
                </a:cubicBezTo>
                <a:lnTo>
                  <a:pt x="6791325" y="5276858"/>
                </a:lnTo>
                <a:cubicBezTo>
                  <a:pt x="6791325" y="5339980"/>
                  <a:pt x="6740155" y="5391150"/>
                  <a:pt x="6677033" y="5391150"/>
                </a:cubicBezTo>
                <a:lnTo>
                  <a:pt x="114292" y="5391150"/>
                </a:lnTo>
                <a:cubicBezTo>
                  <a:pt x="51170" y="5391150"/>
                  <a:pt x="0" y="5339980"/>
                  <a:pt x="0" y="5276858"/>
                </a:cubicBezTo>
                <a:lnTo>
                  <a:pt x="0" y="114292"/>
                </a:lnTo>
                <a:cubicBezTo>
                  <a:pt x="0" y="51213"/>
                  <a:pt x="51213" y="0"/>
                  <a:pt x="114292"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8B5CF6"/>
          </a:solidFill>
          <a:ln/>
        </p:spPr>
      </p:sp>
      <p:sp>
        <p:nvSpPr>
          <p:cNvPr id="8" name="Text 6"/>
          <p:cNvSpPr/>
          <p:nvPr/>
        </p:nvSpPr>
        <p:spPr>
          <a:xfrm>
            <a:off x="819150" y="1343025"/>
            <a:ext cx="62579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Quy trình phát hiện Stale Comments</a:t>
            </a:r>
            <a:endParaRPr lang="en-US" sz="1600" dirty="0"/>
          </a:p>
        </p:txBody>
      </p:sp>
      <p:sp>
        <p:nvSpPr>
          <p:cNvPr id="9" name="Shape 7"/>
          <p:cNvSpPr/>
          <p:nvPr/>
        </p:nvSpPr>
        <p:spPr>
          <a:xfrm>
            <a:off x="581025" y="17621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EF4444"/>
          </a:solidFill>
          <a:ln/>
        </p:spPr>
      </p:sp>
      <p:sp>
        <p:nvSpPr>
          <p:cNvPr id="10" name="Shape 8"/>
          <p:cNvSpPr/>
          <p:nvPr/>
        </p:nvSpPr>
        <p:spPr>
          <a:xfrm>
            <a:off x="714375" y="1895475"/>
            <a:ext cx="190500" cy="190500"/>
          </a:xfrm>
          <a:custGeom>
            <a:avLst/>
            <a:gdLst/>
            <a:ahLst/>
            <a:cxnLst/>
            <a:rect l="l" t="t" r="r" b="b"/>
            <a:pathLst>
              <a:path w="190500" h="190500">
                <a:moveTo>
                  <a:pt x="175468" y="8074"/>
                </a:moveTo>
                <a:cubicBezTo>
                  <a:pt x="167320" y="-74"/>
                  <a:pt x="154149" y="-74"/>
                  <a:pt x="146000" y="8074"/>
                </a:cubicBezTo>
                <a:lnTo>
                  <a:pt x="136922" y="17152"/>
                </a:lnTo>
                <a:lnTo>
                  <a:pt x="173348" y="53578"/>
                </a:lnTo>
                <a:lnTo>
                  <a:pt x="182426" y="44500"/>
                </a:lnTo>
                <a:cubicBezTo>
                  <a:pt x="190574" y="36351"/>
                  <a:pt x="190574" y="23180"/>
                  <a:pt x="182426" y="15032"/>
                </a:cubicBezTo>
                <a:lnTo>
                  <a:pt x="175468" y="8074"/>
                </a:lnTo>
                <a:close/>
                <a:moveTo>
                  <a:pt x="64145" y="89929"/>
                </a:moveTo>
                <a:cubicBezTo>
                  <a:pt x="61875" y="92199"/>
                  <a:pt x="60127" y="94990"/>
                  <a:pt x="59122" y="98078"/>
                </a:cubicBezTo>
                <a:lnTo>
                  <a:pt x="48109" y="131118"/>
                </a:lnTo>
                <a:cubicBezTo>
                  <a:pt x="47030" y="134317"/>
                  <a:pt x="47885" y="137852"/>
                  <a:pt x="50267" y="140271"/>
                </a:cubicBezTo>
                <a:cubicBezTo>
                  <a:pt x="52648" y="142689"/>
                  <a:pt x="56183" y="143508"/>
                  <a:pt x="59420" y="142429"/>
                </a:cubicBezTo>
                <a:lnTo>
                  <a:pt x="92459" y="131415"/>
                </a:lnTo>
                <a:cubicBezTo>
                  <a:pt x="95510" y="130411"/>
                  <a:pt x="98301" y="128662"/>
                  <a:pt x="100608" y="126392"/>
                </a:cubicBezTo>
                <a:lnTo>
                  <a:pt x="160734" y="66191"/>
                </a:lnTo>
                <a:lnTo>
                  <a:pt x="124309" y="29766"/>
                </a:lnTo>
                <a:lnTo>
                  <a:pt x="64145" y="89929"/>
                </a:lnTo>
                <a:close/>
                <a:moveTo>
                  <a:pt x="35719" y="23812"/>
                </a:moveTo>
                <a:cubicBezTo>
                  <a:pt x="15999" y="23812"/>
                  <a:pt x="0" y="39812"/>
                  <a:pt x="0" y="59531"/>
                </a:cubicBezTo>
                <a:lnTo>
                  <a:pt x="0" y="154781"/>
                </a:lnTo>
                <a:cubicBezTo>
                  <a:pt x="0" y="174501"/>
                  <a:pt x="15999" y="190500"/>
                  <a:pt x="35719" y="190500"/>
                </a:cubicBezTo>
                <a:lnTo>
                  <a:pt x="130969" y="190500"/>
                </a:lnTo>
                <a:cubicBezTo>
                  <a:pt x="150688" y="190500"/>
                  <a:pt x="166688" y="174501"/>
                  <a:pt x="166688" y="154781"/>
                </a:cubicBezTo>
                <a:lnTo>
                  <a:pt x="166688" y="119063"/>
                </a:lnTo>
                <a:cubicBezTo>
                  <a:pt x="166688" y="112477"/>
                  <a:pt x="161367" y="107156"/>
                  <a:pt x="154781" y="107156"/>
                </a:cubicBezTo>
                <a:cubicBezTo>
                  <a:pt x="148196" y="107156"/>
                  <a:pt x="142875" y="112477"/>
                  <a:pt x="142875" y="119063"/>
                </a:cubicBezTo>
                <a:lnTo>
                  <a:pt x="142875" y="154781"/>
                </a:lnTo>
                <a:cubicBezTo>
                  <a:pt x="142875" y="161367"/>
                  <a:pt x="137554" y="166688"/>
                  <a:pt x="130969" y="166688"/>
                </a:cubicBezTo>
                <a:lnTo>
                  <a:pt x="35719" y="166688"/>
                </a:lnTo>
                <a:cubicBezTo>
                  <a:pt x="29133" y="166688"/>
                  <a:pt x="23812" y="161367"/>
                  <a:pt x="23812" y="154781"/>
                </a:cubicBezTo>
                <a:lnTo>
                  <a:pt x="23812" y="59531"/>
                </a:lnTo>
                <a:cubicBezTo>
                  <a:pt x="23812" y="52946"/>
                  <a:pt x="29133" y="47625"/>
                  <a:pt x="35719" y="47625"/>
                </a:cubicBezTo>
                <a:lnTo>
                  <a:pt x="71438" y="47625"/>
                </a:lnTo>
                <a:cubicBezTo>
                  <a:pt x="78023" y="47625"/>
                  <a:pt x="83344" y="42304"/>
                  <a:pt x="83344" y="35719"/>
                </a:cubicBezTo>
                <a:cubicBezTo>
                  <a:pt x="83344" y="29133"/>
                  <a:pt x="78023" y="23812"/>
                  <a:pt x="71438" y="23812"/>
                </a:cubicBezTo>
                <a:lnTo>
                  <a:pt x="35719" y="23812"/>
                </a:lnTo>
                <a:close/>
              </a:path>
            </a:pathLst>
          </a:custGeom>
          <a:solidFill>
            <a:srgbClr val="FFFFFF"/>
          </a:solidFill>
          <a:ln/>
        </p:spPr>
      </p:sp>
      <p:sp>
        <p:nvSpPr>
          <p:cNvPr id="11" name="Text 9"/>
          <p:cNvSpPr/>
          <p:nvPr/>
        </p:nvSpPr>
        <p:spPr>
          <a:xfrm>
            <a:off x="1190625" y="1762125"/>
            <a:ext cx="58769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1. Code thay đổi</a:t>
            </a:r>
            <a:endParaRPr lang="en-US" sz="1600" dirty="0"/>
          </a:p>
        </p:txBody>
      </p:sp>
      <p:sp>
        <p:nvSpPr>
          <p:cNvPr id="12" name="Text 10"/>
          <p:cNvSpPr/>
          <p:nvPr/>
        </p:nvSpPr>
        <p:spPr>
          <a:xfrm>
            <a:off x="1190625" y="2066925"/>
            <a:ext cx="5867400" cy="228600"/>
          </a:xfrm>
          <a:prstGeom prst="rect">
            <a:avLst/>
          </a:prstGeom>
          <a:noFill/>
          <a:ln/>
        </p:spPr>
        <p:txBody>
          <a:bodyPr wrap="square" lIns="0" tIns="0" rIns="0" bIns="0" rtlCol="0" anchor="ctr"/>
          <a:lstStyle/>
          <a:p>
            <a:pPr>
              <a:lnSpc>
                <a:spcPct val="130000"/>
              </a:lnSpc>
            </a:pPr>
            <a:r>
              <a:rPr lang="en-US" sz="1200" dirty="0">
                <a:solidFill>
                  <a:srgbClr val="F1F5F9">
                    <a:alpha val="70000"/>
                  </a:srgbClr>
                </a:solidFill>
                <a:latin typeface="MiSans" pitchFamily="34" charset="0"/>
                <a:ea typeface="MiSans" pitchFamily="34" charset="-122"/>
                <a:cs typeface="MiSans" pitchFamily="34" charset="-120"/>
              </a:rPr>
              <a:t>Developer refactor code, thay đổi logic nhưng quên cập nhật docstring</a:t>
            </a:r>
            <a:endParaRPr lang="en-US" sz="1600" dirty="0"/>
          </a:p>
        </p:txBody>
      </p:sp>
      <p:sp>
        <p:nvSpPr>
          <p:cNvPr id="13" name="Shape 11"/>
          <p:cNvSpPr/>
          <p:nvPr/>
        </p:nvSpPr>
        <p:spPr>
          <a:xfrm>
            <a:off x="3693765" y="2589163"/>
            <a:ext cx="171450" cy="228600"/>
          </a:xfrm>
          <a:custGeom>
            <a:avLst/>
            <a:gdLst/>
            <a:ahLst/>
            <a:cxnLst/>
            <a:rect l="l" t="t" r="r" b="b"/>
            <a:pathLst>
              <a:path w="171450" h="228600">
                <a:moveTo>
                  <a:pt x="75634" y="224403"/>
                </a:moveTo>
                <a:cubicBezTo>
                  <a:pt x="81216" y="229984"/>
                  <a:pt x="90279" y="229984"/>
                  <a:pt x="95860" y="224403"/>
                </a:cubicBezTo>
                <a:lnTo>
                  <a:pt x="167298" y="152966"/>
                </a:lnTo>
                <a:cubicBezTo>
                  <a:pt x="172879" y="147384"/>
                  <a:pt x="172879" y="138321"/>
                  <a:pt x="167298" y="132740"/>
                </a:cubicBezTo>
                <a:cubicBezTo>
                  <a:pt x="161717" y="127159"/>
                  <a:pt x="152653" y="127159"/>
                  <a:pt x="147072" y="132740"/>
                </a:cubicBezTo>
                <a:lnTo>
                  <a:pt x="100013" y="179799"/>
                </a:lnTo>
                <a:lnTo>
                  <a:pt x="100013" y="14288"/>
                </a:lnTo>
                <a:cubicBezTo>
                  <a:pt x="100013" y="6385"/>
                  <a:pt x="93628" y="0"/>
                  <a:pt x="85725" y="0"/>
                </a:cubicBezTo>
                <a:cubicBezTo>
                  <a:pt x="77822" y="0"/>
                  <a:pt x="71438" y="6385"/>
                  <a:pt x="71438" y="14288"/>
                </a:cubicBezTo>
                <a:lnTo>
                  <a:pt x="71438" y="179799"/>
                </a:lnTo>
                <a:lnTo>
                  <a:pt x="24378" y="132740"/>
                </a:lnTo>
                <a:cubicBezTo>
                  <a:pt x="18797" y="127159"/>
                  <a:pt x="9733" y="127159"/>
                  <a:pt x="4152" y="132740"/>
                </a:cubicBezTo>
                <a:cubicBezTo>
                  <a:pt x="-1429" y="138321"/>
                  <a:pt x="-1429" y="147384"/>
                  <a:pt x="4152" y="152966"/>
                </a:cubicBezTo>
                <a:lnTo>
                  <a:pt x="75590" y="224403"/>
                </a:lnTo>
                <a:close/>
              </a:path>
            </a:pathLst>
          </a:custGeom>
          <a:solidFill>
            <a:srgbClr val="8B5CF6"/>
          </a:solidFill>
          <a:ln/>
        </p:spPr>
      </p:sp>
      <p:sp>
        <p:nvSpPr>
          <p:cNvPr id="14" name="Shape 12"/>
          <p:cNvSpPr/>
          <p:nvPr/>
        </p:nvSpPr>
        <p:spPr>
          <a:xfrm>
            <a:off x="581025" y="311155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15" name="Shape 13"/>
          <p:cNvSpPr/>
          <p:nvPr/>
        </p:nvSpPr>
        <p:spPr>
          <a:xfrm>
            <a:off x="714375" y="3244900"/>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FFFFFF"/>
          </a:solidFill>
          <a:ln/>
        </p:spPr>
      </p:sp>
      <p:sp>
        <p:nvSpPr>
          <p:cNvPr id="16" name="Text 14"/>
          <p:cNvSpPr/>
          <p:nvPr/>
        </p:nvSpPr>
        <p:spPr>
          <a:xfrm>
            <a:off x="1190625" y="3111550"/>
            <a:ext cx="58769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2. GenAI quét so sánh</a:t>
            </a:r>
            <a:endParaRPr lang="en-US" sz="1600" dirty="0"/>
          </a:p>
        </p:txBody>
      </p:sp>
      <p:sp>
        <p:nvSpPr>
          <p:cNvPr id="17" name="Text 15"/>
          <p:cNvSpPr/>
          <p:nvPr/>
        </p:nvSpPr>
        <p:spPr>
          <a:xfrm>
            <a:off x="1190625" y="3416350"/>
            <a:ext cx="5867400" cy="228600"/>
          </a:xfrm>
          <a:prstGeom prst="rect">
            <a:avLst/>
          </a:prstGeom>
          <a:noFill/>
          <a:ln/>
        </p:spPr>
        <p:txBody>
          <a:bodyPr wrap="square" lIns="0" tIns="0" rIns="0" bIns="0" rtlCol="0" anchor="ctr"/>
          <a:lstStyle/>
          <a:p>
            <a:pPr>
              <a:lnSpc>
                <a:spcPct val="130000"/>
              </a:lnSpc>
            </a:pPr>
            <a:r>
              <a:rPr lang="en-US" sz="1200" dirty="0">
                <a:solidFill>
                  <a:srgbClr val="F1F5F9">
                    <a:alpha val="70000"/>
                  </a:srgbClr>
                </a:solidFill>
                <a:latin typeface="MiSans" pitchFamily="34" charset="0"/>
                <a:ea typeface="MiSans" pitchFamily="34" charset="-122"/>
                <a:cs typeface="MiSans" pitchFamily="34" charset="-120"/>
              </a:rPr>
              <a:t>AI đọc cả code và docstring, phân tích sự tương đồng và mâu thuẫn</a:t>
            </a:r>
            <a:endParaRPr lang="en-US" sz="1600" dirty="0"/>
          </a:p>
        </p:txBody>
      </p:sp>
      <p:sp>
        <p:nvSpPr>
          <p:cNvPr id="18" name="Shape 16"/>
          <p:cNvSpPr/>
          <p:nvPr/>
        </p:nvSpPr>
        <p:spPr>
          <a:xfrm>
            <a:off x="3693765" y="3938588"/>
            <a:ext cx="171450" cy="228600"/>
          </a:xfrm>
          <a:custGeom>
            <a:avLst/>
            <a:gdLst/>
            <a:ahLst/>
            <a:cxnLst/>
            <a:rect l="l" t="t" r="r" b="b"/>
            <a:pathLst>
              <a:path w="171450" h="228600">
                <a:moveTo>
                  <a:pt x="75634" y="224403"/>
                </a:moveTo>
                <a:cubicBezTo>
                  <a:pt x="81216" y="229984"/>
                  <a:pt x="90279" y="229984"/>
                  <a:pt x="95860" y="224403"/>
                </a:cubicBezTo>
                <a:lnTo>
                  <a:pt x="167298" y="152966"/>
                </a:lnTo>
                <a:cubicBezTo>
                  <a:pt x="172879" y="147384"/>
                  <a:pt x="172879" y="138321"/>
                  <a:pt x="167298" y="132740"/>
                </a:cubicBezTo>
                <a:cubicBezTo>
                  <a:pt x="161717" y="127159"/>
                  <a:pt x="152653" y="127159"/>
                  <a:pt x="147072" y="132740"/>
                </a:cubicBezTo>
                <a:lnTo>
                  <a:pt x="100013" y="179799"/>
                </a:lnTo>
                <a:lnTo>
                  <a:pt x="100013" y="14288"/>
                </a:lnTo>
                <a:cubicBezTo>
                  <a:pt x="100013" y="6385"/>
                  <a:pt x="93628" y="0"/>
                  <a:pt x="85725" y="0"/>
                </a:cubicBezTo>
                <a:cubicBezTo>
                  <a:pt x="77822" y="0"/>
                  <a:pt x="71438" y="6385"/>
                  <a:pt x="71438" y="14288"/>
                </a:cubicBezTo>
                <a:lnTo>
                  <a:pt x="71438" y="179799"/>
                </a:lnTo>
                <a:lnTo>
                  <a:pt x="24378" y="132740"/>
                </a:lnTo>
                <a:cubicBezTo>
                  <a:pt x="18797" y="127159"/>
                  <a:pt x="9733" y="127159"/>
                  <a:pt x="4152" y="132740"/>
                </a:cubicBezTo>
                <a:cubicBezTo>
                  <a:pt x="-1429" y="138321"/>
                  <a:pt x="-1429" y="147384"/>
                  <a:pt x="4152" y="152966"/>
                </a:cubicBezTo>
                <a:lnTo>
                  <a:pt x="75590" y="224403"/>
                </a:lnTo>
                <a:close/>
              </a:path>
            </a:pathLst>
          </a:custGeom>
          <a:solidFill>
            <a:srgbClr val="8B5CF6"/>
          </a:solidFill>
          <a:ln/>
        </p:spPr>
      </p:sp>
      <p:sp>
        <p:nvSpPr>
          <p:cNvPr id="19" name="Shape 17"/>
          <p:cNvSpPr/>
          <p:nvPr/>
        </p:nvSpPr>
        <p:spPr>
          <a:xfrm>
            <a:off x="581025" y="44608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F59E0B"/>
          </a:solidFill>
          <a:ln/>
        </p:spPr>
      </p:sp>
      <p:sp>
        <p:nvSpPr>
          <p:cNvPr id="20" name="Shape 18"/>
          <p:cNvSpPr/>
          <p:nvPr/>
        </p:nvSpPr>
        <p:spPr>
          <a:xfrm>
            <a:off x="714375" y="4594175"/>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FFFFF"/>
          </a:solidFill>
          <a:ln/>
        </p:spPr>
      </p:sp>
      <p:sp>
        <p:nvSpPr>
          <p:cNvPr id="21" name="Text 19"/>
          <p:cNvSpPr/>
          <p:nvPr/>
        </p:nvSpPr>
        <p:spPr>
          <a:xfrm>
            <a:off x="1190625" y="4460825"/>
            <a:ext cx="58769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3. Phát hiện mâu thuẫn</a:t>
            </a:r>
            <a:endParaRPr lang="en-US" sz="1600" dirty="0"/>
          </a:p>
        </p:txBody>
      </p:sp>
      <p:sp>
        <p:nvSpPr>
          <p:cNvPr id="22" name="Text 20"/>
          <p:cNvSpPr/>
          <p:nvPr/>
        </p:nvSpPr>
        <p:spPr>
          <a:xfrm>
            <a:off x="1190625" y="4765625"/>
            <a:ext cx="5867400" cy="228600"/>
          </a:xfrm>
          <a:prstGeom prst="rect">
            <a:avLst/>
          </a:prstGeom>
          <a:noFill/>
          <a:ln/>
        </p:spPr>
        <p:txBody>
          <a:bodyPr wrap="square" lIns="0" tIns="0" rIns="0" bIns="0" rtlCol="0" anchor="ctr"/>
          <a:lstStyle/>
          <a:p>
            <a:pPr>
              <a:lnSpc>
                <a:spcPct val="130000"/>
              </a:lnSpc>
            </a:pPr>
            <a:r>
              <a:rPr lang="en-US" sz="1200" dirty="0">
                <a:solidFill>
                  <a:srgbClr val="F1F5F9">
                    <a:alpha val="70000"/>
                  </a:srgbClr>
                </a:solidFill>
                <a:latin typeface="MiSans" pitchFamily="34" charset="0"/>
                <a:ea typeface="MiSans" pitchFamily="34" charset="-122"/>
                <a:cs typeface="MiSans" pitchFamily="34" charset="-120"/>
              </a:rPr>
              <a:t>AI xác định docstring không còn mô tả đúng chức năng hiện tại</a:t>
            </a:r>
            <a:endParaRPr lang="en-US" sz="1600" dirty="0"/>
          </a:p>
        </p:txBody>
      </p:sp>
      <p:sp>
        <p:nvSpPr>
          <p:cNvPr id="23" name="Shape 21"/>
          <p:cNvSpPr/>
          <p:nvPr/>
        </p:nvSpPr>
        <p:spPr>
          <a:xfrm>
            <a:off x="3693765" y="5288012"/>
            <a:ext cx="171450" cy="228600"/>
          </a:xfrm>
          <a:custGeom>
            <a:avLst/>
            <a:gdLst/>
            <a:ahLst/>
            <a:cxnLst/>
            <a:rect l="l" t="t" r="r" b="b"/>
            <a:pathLst>
              <a:path w="171450" h="228600">
                <a:moveTo>
                  <a:pt x="75634" y="224403"/>
                </a:moveTo>
                <a:cubicBezTo>
                  <a:pt x="81216" y="229984"/>
                  <a:pt x="90279" y="229984"/>
                  <a:pt x="95860" y="224403"/>
                </a:cubicBezTo>
                <a:lnTo>
                  <a:pt x="167298" y="152966"/>
                </a:lnTo>
                <a:cubicBezTo>
                  <a:pt x="172879" y="147384"/>
                  <a:pt x="172879" y="138321"/>
                  <a:pt x="167298" y="132740"/>
                </a:cubicBezTo>
                <a:cubicBezTo>
                  <a:pt x="161717" y="127159"/>
                  <a:pt x="152653" y="127159"/>
                  <a:pt x="147072" y="132740"/>
                </a:cubicBezTo>
                <a:lnTo>
                  <a:pt x="100013" y="179799"/>
                </a:lnTo>
                <a:lnTo>
                  <a:pt x="100013" y="14288"/>
                </a:lnTo>
                <a:cubicBezTo>
                  <a:pt x="100013" y="6385"/>
                  <a:pt x="93628" y="0"/>
                  <a:pt x="85725" y="0"/>
                </a:cubicBezTo>
                <a:cubicBezTo>
                  <a:pt x="77822" y="0"/>
                  <a:pt x="71438" y="6385"/>
                  <a:pt x="71438" y="14288"/>
                </a:cubicBezTo>
                <a:lnTo>
                  <a:pt x="71438" y="179799"/>
                </a:lnTo>
                <a:lnTo>
                  <a:pt x="24378" y="132740"/>
                </a:lnTo>
                <a:cubicBezTo>
                  <a:pt x="18797" y="127159"/>
                  <a:pt x="9733" y="127159"/>
                  <a:pt x="4152" y="132740"/>
                </a:cubicBezTo>
                <a:cubicBezTo>
                  <a:pt x="-1429" y="138321"/>
                  <a:pt x="-1429" y="147384"/>
                  <a:pt x="4152" y="152966"/>
                </a:cubicBezTo>
                <a:lnTo>
                  <a:pt x="75590" y="224403"/>
                </a:lnTo>
                <a:close/>
              </a:path>
            </a:pathLst>
          </a:custGeom>
          <a:solidFill>
            <a:srgbClr val="8B5CF6"/>
          </a:solidFill>
          <a:ln/>
        </p:spPr>
      </p:sp>
      <p:sp>
        <p:nvSpPr>
          <p:cNvPr id="24" name="Shape 22"/>
          <p:cNvSpPr/>
          <p:nvPr/>
        </p:nvSpPr>
        <p:spPr>
          <a:xfrm>
            <a:off x="581025" y="5810250"/>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25" name="Shape 23"/>
          <p:cNvSpPr/>
          <p:nvPr/>
        </p:nvSpPr>
        <p:spPr>
          <a:xfrm>
            <a:off x="714375" y="5943600"/>
            <a:ext cx="190500" cy="190500"/>
          </a:xfrm>
          <a:custGeom>
            <a:avLst/>
            <a:gdLst/>
            <a:ahLst/>
            <a:cxnLst/>
            <a:rect l="l" t="t" r="r" b="b"/>
            <a:pathLst>
              <a:path w="190500" h="190500">
                <a:moveTo>
                  <a:pt x="148270" y="4539"/>
                </a:moveTo>
                <a:lnTo>
                  <a:pt x="115453" y="37356"/>
                </a:lnTo>
                <a:lnTo>
                  <a:pt x="153144" y="75047"/>
                </a:lnTo>
                <a:lnTo>
                  <a:pt x="185961" y="42230"/>
                </a:lnTo>
                <a:cubicBezTo>
                  <a:pt x="188863" y="39291"/>
                  <a:pt x="190500" y="35347"/>
                  <a:pt x="190500" y="31254"/>
                </a:cubicBezTo>
                <a:cubicBezTo>
                  <a:pt x="190500" y="27161"/>
                  <a:pt x="188863" y="23217"/>
                  <a:pt x="185961" y="20278"/>
                </a:cubicBezTo>
                <a:lnTo>
                  <a:pt x="170222" y="4539"/>
                </a:lnTo>
                <a:cubicBezTo>
                  <a:pt x="167283" y="1637"/>
                  <a:pt x="163339" y="0"/>
                  <a:pt x="159246" y="0"/>
                </a:cubicBezTo>
                <a:cubicBezTo>
                  <a:pt x="155153" y="0"/>
                  <a:pt x="151209" y="1637"/>
                  <a:pt x="148270" y="4539"/>
                </a:cubicBezTo>
                <a:close/>
                <a:moveTo>
                  <a:pt x="102840" y="49969"/>
                </a:moveTo>
                <a:lnTo>
                  <a:pt x="4539" y="148270"/>
                </a:lnTo>
                <a:cubicBezTo>
                  <a:pt x="1637" y="151209"/>
                  <a:pt x="0" y="155153"/>
                  <a:pt x="0" y="159246"/>
                </a:cubicBezTo>
                <a:cubicBezTo>
                  <a:pt x="0" y="163339"/>
                  <a:pt x="1637" y="167283"/>
                  <a:pt x="4539" y="170222"/>
                </a:cubicBezTo>
                <a:lnTo>
                  <a:pt x="20278" y="185961"/>
                </a:lnTo>
                <a:cubicBezTo>
                  <a:pt x="23217" y="188863"/>
                  <a:pt x="27161" y="190500"/>
                  <a:pt x="31254" y="190500"/>
                </a:cubicBezTo>
                <a:cubicBezTo>
                  <a:pt x="35347" y="190500"/>
                  <a:pt x="39291" y="188863"/>
                  <a:pt x="42230" y="185961"/>
                </a:cubicBezTo>
                <a:lnTo>
                  <a:pt x="140531" y="87660"/>
                </a:lnTo>
                <a:lnTo>
                  <a:pt x="102840" y="49969"/>
                </a:lnTo>
                <a:close/>
              </a:path>
            </a:pathLst>
          </a:custGeom>
          <a:solidFill>
            <a:srgbClr val="FFFFFF"/>
          </a:solidFill>
          <a:ln/>
        </p:spPr>
      </p:sp>
      <p:sp>
        <p:nvSpPr>
          <p:cNvPr id="26" name="Text 24"/>
          <p:cNvSpPr/>
          <p:nvPr/>
        </p:nvSpPr>
        <p:spPr>
          <a:xfrm>
            <a:off x="1190625" y="5810250"/>
            <a:ext cx="58769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4. Đề xuất cập nhật</a:t>
            </a:r>
            <a:endParaRPr lang="en-US" sz="1600" dirty="0"/>
          </a:p>
        </p:txBody>
      </p:sp>
      <p:sp>
        <p:nvSpPr>
          <p:cNvPr id="27" name="Text 25"/>
          <p:cNvSpPr/>
          <p:nvPr/>
        </p:nvSpPr>
        <p:spPr>
          <a:xfrm>
            <a:off x="1190625" y="6115050"/>
            <a:ext cx="5867400" cy="228600"/>
          </a:xfrm>
          <a:prstGeom prst="rect">
            <a:avLst/>
          </a:prstGeom>
          <a:noFill/>
          <a:ln/>
        </p:spPr>
        <p:txBody>
          <a:bodyPr wrap="square" lIns="0" tIns="0" rIns="0" bIns="0" rtlCol="0" anchor="ctr"/>
          <a:lstStyle/>
          <a:p>
            <a:pPr>
              <a:lnSpc>
                <a:spcPct val="130000"/>
              </a:lnSpc>
            </a:pPr>
            <a:r>
              <a:rPr lang="en-US" sz="1200" dirty="0">
                <a:solidFill>
                  <a:srgbClr val="F1F5F9">
                    <a:alpha val="70000"/>
                  </a:srgbClr>
                </a:solidFill>
                <a:latin typeface="MiSans" pitchFamily="34" charset="0"/>
                <a:ea typeface="MiSans" pitchFamily="34" charset="-122"/>
                <a:cs typeface="MiSans" pitchFamily="34" charset="-120"/>
              </a:rPr>
              <a:t>AI đề xuất sửa đổi docstring để đồng bộ với code mới</a:t>
            </a:r>
            <a:endParaRPr lang="en-US" sz="1600" dirty="0"/>
          </a:p>
        </p:txBody>
      </p:sp>
      <p:sp>
        <p:nvSpPr>
          <p:cNvPr id="28" name="Shape 26"/>
          <p:cNvSpPr/>
          <p:nvPr/>
        </p:nvSpPr>
        <p:spPr>
          <a:xfrm>
            <a:off x="7335143" y="1147763"/>
            <a:ext cx="4467225" cy="1971675"/>
          </a:xfrm>
          <a:custGeom>
            <a:avLst/>
            <a:gdLst/>
            <a:ahLst/>
            <a:cxnLst/>
            <a:rect l="l" t="t" r="r" b="b"/>
            <a:pathLst>
              <a:path w="4467225" h="1971675">
                <a:moveTo>
                  <a:pt x="114298" y="0"/>
                </a:moveTo>
                <a:lnTo>
                  <a:pt x="4352927" y="0"/>
                </a:lnTo>
                <a:cubicBezTo>
                  <a:pt x="4416010" y="0"/>
                  <a:pt x="4467225" y="51215"/>
                  <a:pt x="4467225" y="114298"/>
                </a:cubicBezTo>
                <a:lnTo>
                  <a:pt x="4467225" y="1857377"/>
                </a:lnTo>
                <a:cubicBezTo>
                  <a:pt x="4467225" y="1920460"/>
                  <a:pt x="4416010" y="1971675"/>
                  <a:pt x="4352927" y="1971675"/>
                </a:cubicBezTo>
                <a:lnTo>
                  <a:pt x="114298" y="1971675"/>
                </a:lnTo>
                <a:cubicBezTo>
                  <a:pt x="51215" y="1971675"/>
                  <a:pt x="0" y="1920460"/>
                  <a:pt x="0" y="1857377"/>
                </a:cubicBezTo>
                <a:lnTo>
                  <a:pt x="0" y="114298"/>
                </a:lnTo>
                <a:cubicBezTo>
                  <a:pt x="0" y="51215"/>
                  <a:pt x="51215" y="0"/>
                  <a:pt x="114298" y="0"/>
                </a:cubicBezTo>
                <a:close/>
              </a:path>
            </a:pathLst>
          </a:custGeom>
          <a:solidFill>
            <a:srgbClr val="0F172A"/>
          </a:solidFill>
          <a:ln w="12700">
            <a:solidFill>
              <a:srgbClr val="EF4444">
                <a:alpha val="30196"/>
              </a:srgbClr>
            </a:solidFill>
            <a:prstDash val="solid"/>
          </a:ln>
        </p:spPr>
      </p:sp>
      <p:sp>
        <p:nvSpPr>
          <p:cNvPr id="29" name="Shape 27"/>
          <p:cNvSpPr/>
          <p:nvPr/>
        </p:nvSpPr>
        <p:spPr>
          <a:xfrm>
            <a:off x="7505402" y="1352550"/>
            <a:ext cx="192881" cy="171450"/>
          </a:xfrm>
          <a:custGeom>
            <a:avLst/>
            <a:gdLst/>
            <a:ahLst/>
            <a:cxnLst/>
            <a:rect l="l" t="t" r="r" b="b"/>
            <a:pathLst>
              <a:path w="192881" h="171450">
                <a:moveTo>
                  <a:pt x="64294" y="32147"/>
                </a:moveTo>
                <a:cubicBezTo>
                  <a:pt x="64294" y="14399"/>
                  <a:pt x="78693" y="0"/>
                  <a:pt x="96441" y="0"/>
                </a:cubicBezTo>
                <a:cubicBezTo>
                  <a:pt x="114188" y="0"/>
                  <a:pt x="128588" y="14399"/>
                  <a:pt x="128588" y="32147"/>
                </a:cubicBezTo>
                <a:lnTo>
                  <a:pt x="128588" y="33352"/>
                </a:lnTo>
                <a:cubicBezTo>
                  <a:pt x="128588" y="38610"/>
                  <a:pt x="124335" y="42863"/>
                  <a:pt x="119077" y="42863"/>
                </a:cubicBezTo>
                <a:lnTo>
                  <a:pt x="73837" y="42863"/>
                </a:lnTo>
                <a:cubicBezTo>
                  <a:pt x="68580" y="42863"/>
                  <a:pt x="64327" y="38610"/>
                  <a:pt x="64327" y="33352"/>
                </a:cubicBezTo>
                <a:lnTo>
                  <a:pt x="64327" y="32147"/>
                </a:lnTo>
                <a:close/>
                <a:moveTo>
                  <a:pt x="180023" y="36433"/>
                </a:moveTo>
                <a:cubicBezTo>
                  <a:pt x="183572" y="41155"/>
                  <a:pt x="182601" y="47885"/>
                  <a:pt x="177879" y="51435"/>
                </a:cubicBezTo>
                <a:lnTo>
                  <a:pt x="145130" y="75980"/>
                </a:lnTo>
                <a:cubicBezTo>
                  <a:pt x="146905" y="78961"/>
                  <a:pt x="148244" y="82242"/>
                  <a:pt x="149081" y="85725"/>
                </a:cubicBezTo>
                <a:lnTo>
                  <a:pt x="182166" y="85725"/>
                </a:lnTo>
                <a:cubicBezTo>
                  <a:pt x="188093" y="85725"/>
                  <a:pt x="192881" y="90514"/>
                  <a:pt x="192881" y="96441"/>
                </a:cubicBezTo>
                <a:cubicBezTo>
                  <a:pt x="192881" y="102368"/>
                  <a:pt x="188093" y="107156"/>
                  <a:pt x="182166" y="107156"/>
                </a:cubicBezTo>
                <a:lnTo>
                  <a:pt x="150019" y="107156"/>
                </a:lnTo>
                <a:lnTo>
                  <a:pt x="150019" y="117872"/>
                </a:lnTo>
                <a:cubicBezTo>
                  <a:pt x="150019" y="118743"/>
                  <a:pt x="149985" y="119647"/>
                  <a:pt x="149952" y="120517"/>
                </a:cubicBezTo>
                <a:lnTo>
                  <a:pt x="177879" y="141446"/>
                </a:lnTo>
                <a:cubicBezTo>
                  <a:pt x="182601" y="144996"/>
                  <a:pt x="183572" y="151727"/>
                  <a:pt x="180023" y="156448"/>
                </a:cubicBezTo>
                <a:cubicBezTo>
                  <a:pt x="176473" y="161170"/>
                  <a:pt x="169742" y="162141"/>
                  <a:pt x="165021" y="158591"/>
                </a:cubicBezTo>
                <a:lnTo>
                  <a:pt x="143891" y="142752"/>
                </a:lnTo>
                <a:cubicBezTo>
                  <a:pt x="136122" y="157553"/>
                  <a:pt x="121622" y="168269"/>
                  <a:pt x="104477" y="170847"/>
                </a:cubicBezTo>
                <a:lnTo>
                  <a:pt x="104477" y="93762"/>
                </a:lnTo>
                <a:cubicBezTo>
                  <a:pt x="104477" y="89308"/>
                  <a:pt x="100894" y="85725"/>
                  <a:pt x="96441" y="85725"/>
                </a:cubicBezTo>
                <a:cubicBezTo>
                  <a:pt x="91987" y="85725"/>
                  <a:pt x="88404" y="89308"/>
                  <a:pt x="88404" y="93762"/>
                </a:cubicBezTo>
                <a:lnTo>
                  <a:pt x="88404" y="170847"/>
                </a:lnTo>
                <a:cubicBezTo>
                  <a:pt x="71259" y="168269"/>
                  <a:pt x="56759" y="157553"/>
                  <a:pt x="48990" y="142752"/>
                </a:cubicBezTo>
                <a:lnTo>
                  <a:pt x="27861" y="158591"/>
                </a:lnTo>
                <a:cubicBezTo>
                  <a:pt x="23139" y="162141"/>
                  <a:pt x="16408" y="161170"/>
                  <a:pt x="12859" y="156448"/>
                </a:cubicBezTo>
                <a:cubicBezTo>
                  <a:pt x="9309" y="151727"/>
                  <a:pt x="10280" y="144996"/>
                  <a:pt x="15002" y="141446"/>
                </a:cubicBezTo>
                <a:lnTo>
                  <a:pt x="42929" y="120517"/>
                </a:lnTo>
                <a:cubicBezTo>
                  <a:pt x="42896" y="119647"/>
                  <a:pt x="42863" y="118776"/>
                  <a:pt x="42863" y="117872"/>
                </a:cubicBezTo>
                <a:lnTo>
                  <a:pt x="42863" y="107156"/>
                </a:lnTo>
                <a:lnTo>
                  <a:pt x="10716" y="107156"/>
                </a:lnTo>
                <a:cubicBezTo>
                  <a:pt x="4789" y="107156"/>
                  <a:pt x="0" y="102368"/>
                  <a:pt x="0" y="96441"/>
                </a:cubicBezTo>
                <a:cubicBezTo>
                  <a:pt x="0" y="90514"/>
                  <a:pt x="4789" y="85725"/>
                  <a:pt x="10716" y="85725"/>
                </a:cubicBezTo>
                <a:lnTo>
                  <a:pt x="43800" y="85725"/>
                </a:lnTo>
                <a:cubicBezTo>
                  <a:pt x="44637" y="82242"/>
                  <a:pt x="45977" y="78961"/>
                  <a:pt x="47752" y="75980"/>
                </a:cubicBezTo>
                <a:lnTo>
                  <a:pt x="15002" y="51435"/>
                </a:lnTo>
                <a:cubicBezTo>
                  <a:pt x="10280" y="47885"/>
                  <a:pt x="9309" y="41155"/>
                  <a:pt x="12859" y="36433"/>
                </a:cubicBezTo>
                <a:cubicBezTo>
                  <a:pt x="16408" y="31712"/>
                  <a:pt x="23139" y="30740"/>
                  <a:pt x="27861" y="34290"/>
                </a:cubicBezTo>
                <a:lnTo>
                  <a:pt x="64294" y="61615"/>
                </a:lnTo>
                <a:cubicBezTo>
                  <a:pt x="68413" y="59907"/>
                  <a:pt x="72933" y="58936"/>
                  <a:pt x="77688" y="58936"/>
                </a:cubicBezTo>
                <a:lnTo>
                  <a:pt x="115193" y="58936"/>
                </a:lnTo>
                <a:cubicBezTo>
                  <a:pt x="119948" y="58936"/>
                  <a:pt x="124469" y="59874"/>
                  <a:pt x="128588" y="61615"/>
                </a:cubicBezTo>
                <a:lnTo>
                  <a:pt x="165021" y="34290"/>
                </a:lnTo>
                <a:cubicBezTo>
                  <a:pt x="169742" y="30740"/>
                  <a:pt x="176473" y="31712"/>
                  <a:pt x="180023" y="36433"/>
                </a:cubicBezTo>
                <a:close/>
              </a:path>
            </a:pathLst>
          </a:custGeom>
          <a:solidFill>
            <a:srgbClr val="EF4444"/>
          </a:solidFill>
          <a:ln/>
        </p:spPr>
      </p:sp>
      <p:sp>
        <p:nvSpPr>
          <p:cNvPr id="30" name="Text 28"/>
          <p:cNvSpPr/>
          <p:nvPr/>
        </p:nvSpPr>
        <p:spPr>
          <a:xfrm>
            <a:off x="7711380" y="1304925"/>
            <a:ext cx="4019550" cy="266700"/>
          </a:xfrm>
          <a:prstGeom prst="rect">
            <a:avLst/>
          </a:prstGeom>
          <a:noFill/>
          <a:ln/>
        </p:spPr>
        <p:txBody>
          <a:bodyPr wrap="square" lIns="0" tIns="0" rIns="0" bIns="0" rtlCol="0" anchor="ctr"/>
          <a:lstStyle/>
          <a:p>
            <a:pPr>
              <a:lnSpc>
                <a:spcPct val="130000"/>
              </a:lnSpc>
            </a:pPr>
            <a:r>
              <a:rPr lang="en-US" sz="1350" b="1" dirty="0">
                <a:solidFill>
                  <a:srgbClr val="EF4444"/>
                </a:solidFill>
                <a:latin typeface="MiSans" pitchFamily="34" charset="0"/>
                <a:ea typeface="MiSans" pitchFamily="34" charset="-122"/>
                <a:cs typeface="MiSans" pitchFamily="34" charset="-120"/>
              </a:rPr>
              <a:t>Vấn đề Stale Comments</a:t>
            </a:r>
            <a:endParaRPr lang="en-US" sz="1600" dirty="0"/>
          </a:p>
        </p:txBody>
      </p:sp>
      <p:sp>
        <p:nvSpPr>
          <p:cNvPr id="31" name="Shape 29"/>
          <p:cNvSpPr/>
          <p:nvPr/>
        </p:nvSpPr>
        <p:spPr>
          <a:xfrm>
            <a:off x="7492305" y="1685925"/>
            <a:ext cx="4152900" cy="971550"/>
          </a:xfrm>
          <a:custGeom>
            <a:avLst/>
            <a:gdLst/>
            <a:ahLst/>
            <a:cxnLst/>
            <a:rect l="l" t="t" r="r" b="b"/>
            <a:pathLst>
              <a:path w="4152900" h="971550">
                <a:moveTo>
                  <a:pt x="76199" y="0"/>
                </a:moveTo>
                <a:lnTo>
                  <a:pt x="4076701" y="0"/>
                </a:lnTo>
                <a:cubicBezTo>
                  <a:pt x="4118785" y="0"/>
                  <a:pt x="4152900" y="34115"/>
                  <a:pt x="4152900" y="76199"/>
                </a:cubicBezTo>
                <a:lnTo>
                  <a:pt x="4152900" y="895351"/>
                </a:lnTo>
                <a:cubicBezTo>
                  <a:pt x="4152900" y="937435"/>
                  <a:pt x="4118785" y="971550"/>
                  <a:pt x="4076701" y="971550"/>
                </a:cubicBezTo>
                <a:lnTo>
                  <a:pt x="76199" y="971550"/>
                </a:lnTo>
                <a:cubicBezTo>
                  <a:pt x="34115" y="971550"/>
                  <a:pt x="0" y="937435"/>
                  <a:pt x="0" y="895351"/>
                </a:cubicBezTo>
                <a:lnTo>
                  <a:pt x="0" y="76199"/>
                </a:lnTo>
                <a:cubicBezTo>
                  <a:pt x="0" y="34143"/>
                  <a:pt x="34143" y="0"/>
                  <a:pt x="76199" y="0"/>
                </a:cubicBezTo>
                <a:close/>
              </a:path>
            </a:pathLst>
          </a:custGeom>
          <a:solidFill>
            <a:srgbClr val="1E293B"/>
          </a:solidFill>
          <a:ln/>
        </p:spPr>
      </p:sp>
      <p:sp>
        <p:nvSpPr>
          <p:cNvPr id="32" name="Text 30"/>
          <p:cNvSpPr/>
          <p:nvPr/>
        </p:nvSpPr>
        <p:spPr>
          <a:xfrm>
            <a:off x="7492305" y="1685925"/>
            <a:ext cx="4214813" cy="97155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calculate</a:t>
            </a:r>
            <a:pPr>
              <a:lnSpc>
                <a:spcPct val="130000"/>
              </a:lnSpc>
            </a:pPr>
            <a:r>
              <a:rPr lang="en-US" sz="975" dirty="0">
                <a:solidFill>
                  <a:srgbClr val="F1F5F9"/>
                </a:solidFill>
                <a:latin typeface="MiSans" pitchFamily="34" charset="0"/>
                <a:ea typeface="MiSans" pitchFamily="34" charset="-122"/>
                <a:cs typeface="MiSans" pitchFamily="34" charset="-120"/>
              </a:rPr>
              <a:t>(x):</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"""Tính bình phương của x"""</a:t>
            </a:r>
            <a:endParaRPr lang="en-US" sz="1600" dirty="0"/>
          </a:p>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Nhưng code lại tính căn bậc 2!</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np.sqrt(x)</a:t>
            </a:r>
            <a:endParaRPr lang="en-US" sz="1600" dirty="0"/>
          </a:p>
        </p:txBody>
      </p:sp>
      <p:sp>
        <p:nvSpPr>
          <p:cNvPr id="33" name="Shape 31"/>
          <p:cNvSpPr/>
          <p:nvPr/>
        </p:nvSpPr>
        <p:spPr>
          <a:xfrm>
            <a:off x="7511355" y="28098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35421"/>
                </a:moveTo>
                <a:cubicBezTo>
                  <a:pt x="70139" y="35421"/>
                  <a:pt x="72926" y="38208"/>
                  <a:pt x="72926" y="41672"/>
                </a:cubicBezTo>
                <a:lnTo>
                  <a:pt x="72926" y="70842"/>
                </a:lnTo>
                <a:cubicBezTo>
                  <a:pt x="72926" y="74306"/>
                  <a:pt x="70139" y="77093"/>
                  <a:pt x="66675" y="77093"/>
                </a:cubicBezTo>
                <a:cubicBezTo>
                  <a:pt x="63211" y="77093"/>
                  <a:pt x="60424" y="74306"/>
                  <a:pt x="60424" y="70842"/>
                </a:cubicBezTo>
                <a:lnTo>
                  <a:pt x="60424" y="41672"/>
                </a:lnTo>
                <a:cubicBezTo>
                  <a:pt x="60424" y="38208"/>
                  <a:pt x="63211" y="35421"/>
                  <a:pt x="66675" y="35421"/>
                </a:cubicBezTo>
                <a:close/>
                <a:moveTo>
                  <a:pt x="59721" y="91678"/>
                </a:moveTo>
                <a:cubicBezTo>
                  <a:pt x="59563" y="89097"/>
                  <a:pt x="60850" y="86641"/>
                  <a:pt x="63063" y="85303"/>
                </a:cubicBezTo>
                <a:cubicBezTo>
                  <a:pt x="65276" y="83964"/>
                  <a:pt x="68048" y="83964"/>
                  <a:pt x="70261" y="85303"/>
                </a:cubicBezTo>
                <a:cubicBezTo>
                  <a:pt x="72474" y="86641"/>
                  <a:pt x="73761" y="89097"/>
                  <a:pt x="73603" y="91678"/>
                </a:cubicBezTo>
                <a:cubicBezTo>
                  <a:pt x="73761" y="94259"/>
                  <a:pt x="72474" y="96715"/>
                  <a:pt x="70261" y="98054"/>
                </a:cubicBezTo>
                <a:cubicBezTo>
                  <a:pt x="68048" y="99392"/>
                  <a:pt x="65276" y="99392"/>
                  <a:pt x="63063" y="98054"/>
                </a:cubicBezTo>
                <a:cubicBezTo>
                  <a:pt x="60850" y="96715"/>
                  <a:pt x="59563" y="94259"/>
                  <a:pt x="59721" y="91678"/>
                </a:cubicBezTo>
                <a:close/>
              </a:path>
            </a:pathLst>
          </a:custGeom>
          <a:solidFill>
            <a:srgbClr val="EF4444"/>
          </a:solidFill>
          <a:ln/>
        </p:spPr>
      </p:sp>
      <p:sp>
        <p:nvSpPr>
          <p:cNvPr id="34" name="Text 32"/>
          <p:cNvSpPr/>
          <p:nvPr/>
        </p:nvSpPr>
        <p:spPr>
          <a:xfrm>
            <a:off x="7720905" y="2771775"/>
            <a:ext cx="39909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Docstring nói "bình phương" nhưng code tính "căn bậc 2"</a:t>
            </a:r>
            <a:endParaRPr lang="en-US" sz="1600" dirty="0"/>
          </a:p>
        </p:txBody>
      </p:sp>
      <p:sp>
        <p:nvSpPr>
          <p:cNvPr id="35" name="Shape 33"/>
          <p:cNvSpPr/>
          <p:nvPr/>
        </p:nvSpPr>
        <p:spPr>
          <a:xfrm>
            <a:off x="7335143" y="3281363"/>
            <a:ext cx="4467225" cy="2400300"/>
          </a:xfrm>
          <a:custGeom>
            <a:avLst/>
            <a:gdLst/>
            <a:ahLst/>
            <a:cxnLst/>
            <a:rect l="l" t="t" r="r" b="b"/>
            <a:pathLst>
              <a:path w="4467225" h="2400300">
                <a:moveTo>
                  <a:pt x="114302" y="0"/>
                </a:moveTo>
                <a:lnTo>
                  <a:pt x="4352923" y="0"/>
                </a:lnTo>
                <a:cubicBezTo>
                  <a:pt x="4416008" y="0"/>
                  <a:pt x="4467225" y="51217"/>
                  <a:pt x="4467225" y="114302"/>
                </a:cubicBezTo>
                <a:lnTo>
                  <a:pt x="4467225" y="2285998"/>
                </a:lnTo>
                <a:cubicBezTo>
                  <a:pt x="4467225" y="2349083"/>
                  <a:pt x="4416008" y="2400300"/>
                  <a:pt x="4352923" y="2400300"/>
                </a:cubicBezTo>
                <a:lnTo>
                  <a:pt x="114302" y="2400300"/>
                </a:lnTo>
                <a:cubicBezTo>
                  <a:pt x="51217" y="2400300"/>
                  <a:pt x="0" y="2349083"/>
                  <a:pt x="0" y="2285998"/>
                </a:cubicBezTo>
                <a:lnTo>
                  <a:pt x="0" y="114302"/>
                </a:lnTo>
                <a:cubicBezTo>
                  <a:pt x="0" y="51217"/>
                  <a:pt x="51217" y="0"/>
                  <a:pt x="114302" y="0"/>
                </a:cubicBezTo>
                <a:close/>
              </a:path>
            </a:pathLst>
          </a:custGeom>
          <a:solidFill>
            <a:srgbClr val="0F172A"/>
          </a:solidFill>
          <a:ln w="12700">
            <a:solidFill>
              <a:srgbClr val="10B981">
                <a:alpha val="30196"/>
              </a:srgbClr>
            </a:solidFill>
            <a:prstDash val="solid"/>
          </a:ln>
        </p:spPr>
      </p:sp>
      <p:sp>
        <p:nvSpPr>
          <p:cNvPr id="36" name="Shape 34"/>
          <p:cNvSpPr/>
          <p:nvPr/>
        </p:nvSpPr>
        <p:spPr>
          <a:xfrm>
            <a:off x="7516118" y="3486150"/>
            <a:ext cx="171450" cy="171450"/>
          </a:xfrm>
          <a:custGeom>
            <a:avLst/>
            <a:gdLst/>
            <a:ahLst/>
            <a:cxnLst/>
            <a:rect l="l" t="t" r="r" b="b"/>
            <a:pathLst>
              <a:path w="171450" h="171450">
                <a:moveTo>
                  <a:pt x="3148" y="39715"/>
                </a:moveTo>
                <a:cubicBezTo>
                  <a:pt x="-1038" y="35529"/>
                  <a:pt x="-1038" y="28731"/>
                  <a:pt x="3148" y="24545"/>
                </a:cubicBezTo>
                <a:cubicBezTo>
                  <a:pt x="7334" y="20360"/>
                  <a:pt x="14131" y="20360"/>
                  <a:pt x="18317" y="24545"/>
                </a:cubicBezTo>
                <a:lnTo>
                  <a:pt x="71895" y="78124"/>
                </a:lnTo>
                <a:cubicBezTo>
                  <a:pt x="76081" y="82309"/>
                  <a:pt x="76081" y="89107"/>
                  <a:pt x="71895" y="93293"/>
                </a:cubicBezTo>
                <a:lnTo>
                  <a:pt x="18317" y="146871"/>
                </a:lnTo>
                <a:cubicBezTo>
                  <a:pt x="14131" y="151057"/>
                  <a:pt x="7334" y="151057"/>
                  <a:pt x="3148" y="146871"/>
                </a:cubicBezTo>
                <a:cubicBezTo>
                  <a:pt x="-1038" y="142685"/>
                  <a:pt x="-1038" y="135888"/>
                  <a:pt x="3148" y="131702"/>
                </a:cubicBezTo>
                <a:lnTo>
                  <a:pt x="49124" y="85725"/>
                </a:lnTo>
                <a:lnTo>
                  <a:pt x="3148" y="39715"/>
                </a:lnTo>
                <a:close/>
                <a:moveTo>
                  <a:pt x="75009" y="128588"/>
                </a:moveTo>
                <a:lnTo>
                  <a:pt x="160734" y="128588"/>
                </a:lnTo>
                <a:cubicBezTo>
                  <a:pt x="166661" y="128588"/>
                  <a:pt x="171450" y="133376"/>
                  <a:pt x="171450" y="139303"/>
                </a:cubicBezTo>
                <a:cubicBezTo>
                  <a:pt x="171450" y="145230"/>
                  <a:pt x="166661" y="150019"/>
                  <a:pt x="160734" y="150019"/>
                </a:cubicBezTo>
                <a:lnTo>
                  <a:pt x="75009" y="150019"/>
                </a:lnTo>
                <a:cubicBezTo>
                  <a:pt x="69082" y="150019"/>
                  <a:pt x="64294" y="145230"/>
                  <a:pt x="64294" y="139303"/>
                </a:cubicBezTo>
                <a:cubicBezTo>
                  <a:pt x="64294" y="133376"/>
                  <a:pt x="69082" y="128588"/>
                  <a:pt x="75009" y="128588"/>
                </a:cubicBezTo>
                <a:close/>
              </a:path>
            </a:pathLst>
          </a:custGeom>
          <a:solidFill>
            <a:srgbClr val="10B981"/>
          </a:solidFill>
          <a:ln/>
        </p:spPr>
      </p:sp>
      <p:sp>
        <p:nvSpPr>
          <p:cNvPr id="37" name="Text 35"/>
          <p:cNvSpPr/>
          <p:nvPr/>
        </p:nvSpPr>
        <p:spPr>
          <a:xfrm>
            <a:off x="7711380" y="3438525"/>
            <a:ext cx="4019550" cy="266700"/>
          </a:xfrm>
          <a:prstGeom prst="rect">
            <a:avLst/>
          </a:prstGeom>
          <a:noFill/>
          <a:ln/>
        </p:spPr>
        <p:txBody>
          <a:bodyPr wrap="square" lIns="0" tIns="0" rIns="0" bIns="0" rtlCol="0" anchor="ctr"/>
          <a:lstStyle/>
          <a:p>
            <a:pPr>
              <a:lnSpc>
                <a:spcPct val="130000"/>
              </a:lnSpc>
            </a:pPr>
            <a:r>
              <a:rPr lang="en-US" sz="1350" b="1" dirty="0">
                <a:solidFill>
                  <a:srgbClr val="10B981"/>
                </a:solidFill>
                <a:latin typeface="MiSans" pitchFamily="34" charset="0"/>
                <a:ea typeface="MiSans" pitchFamily="34" charset="-122"/>
                <a:cs typeface="MiSans" pitchFamily="34" charset="-120"/>
              </a:rPr>
              <a:t>Prompt phát hiện</a:t>
            </a:r>
            <a:endParaRPr lang="en-US" sz="1600" dirty="0"/>
          </a:p>
        </p:txBody>
      </p:sp>
      <p:sp>
        <p:nvSpPr>
          <p:cNvPr id="38" name="Shape 36"/>
          <p:cNvSpPr/>
          <p:nvPr/>
        </p:nvSpPr>
        <p:spPr>
          <a:xfrm>
            <a:off x="7492305" y="3819525"/>
            <a:ext cx="4152900" cy="600075"/>
          </a:xfrm>
          <a:custGeom>
            <a:avLst/>
            <a:gdLst/>
            <a:ahLst/>
            <a:cxnLst/>
            <a:rect l="l" t="t" r="r" b="b"/>
            <a:pathLst>
              <a:path w="4152900" h="600075">
                <a:moveTo>
                  <a:pt x="76198" y="0"/>
                </a:moveTo>
                <a:lnTo>
                  <a:pt x="4076702" y="0"/>
                </a:lnTo>
                <a:cubicBezTo>
                  <a:pt x="4118785" y="0"/>
                  <a:pt x="4152900" y="34115"/>
                  <a:pt x="4152900" y="76198"/>
                </a:cubicBezTo>
                <a:lnTo>
                  <a:pt x="4152900" y="523877"/>
                </a:lnTo>
                <a:cubicBezTo>
                  <a:pt x="4152900" y="565960"/>
                  <a:pt x="4118785" y="600075"/>
                  <a:pt x="4076702" y="600075"/>
                </a:cubicBezTo>
                <a:lnTo>
                  <a:pt x="76198" y="600075"/>
                </a:lnTo>
                <a:cubicBezTo>
                  <a:pt x="34115" y="600075"/>
                  <a:pt x="0" y="565960"/>
                  <a:pt x="0" y="523877"/>
                </a:cubicBezTo>
                <a:lnTo>
                  <a:pt x="0" y="76198"/>
                </a:lnTo>
                <a:cubicBezTo>
                  <a:pt x="0" y="34115"/>
                  <a:pt x="34115" y="0"/>
                  <a:pt x="76198" y="0"/>
                </a:cubicBezTo>
                <a:close/>
              </a:path>
            </a:pathLst>
          </a:custGeom>
          <a:solidFill>
            <a:srgbClr val="1E293B"/>
          </a:solidFill>
          <a:ln/>
        </p:spPr>
      </p:sp>
      <p:sp>
        <p:nvSpPr>
          <p:cNvPr id="39" name="Text 37"/>
          <p:cNvSpPr/>
          <p:nvPr/>
        </p:nvSpPr>
        <p:spPr>
          <a:xfrm>
            <a:off x="7606605" y="3952875"/>
            <a:ext cx="1763911"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are any of the docstrings</a:t>
            </a:r>
            <a:endParaRPr lang="en-US" sz="1600" dirty="0"/>
          </a:p>
        </p:txBody>
      </p:sp>
      <p:sp>
        <p:nvSpPr>
          <p:cNvPr id="40" name="Text 38"/>
          <p:cNvSpPr/>
          <p:nvPr/>
        </p:nvSpPr>
        <p:spPr>
          <a:xfrm>
            <a:off x="7606605" y="4138613"/>
            <a:ext cx="878979"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out of sync?</a:t>
            </a:r>
            <a:endParaRPr lang="en-US" sz="1600" dirty="0"/>
          </a:p>
        </p:txBody>
      </p:sp>
      <p:sp>
        <p:nvSpPr>
          <p:cNvPr id="41" name="Shape 39"/>
          <p:cNvSpPr/>
          <p:nvPr/>
        </p:nvSpPr>
        <p:spPr>
          <a:xfrm>
            <a:off x="7520880" y="45720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42" name="Text 40"/>
          <p:cNvSpPr/>
          <p:nvPr/>
        </p:nvSpPr>
        <p:spPr>
          <a:xfrm>
            <a:off x="7759005" y="4533900"/>
            <a:ext cx="10953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Quét toàn bộ file</a:t>
            </a:r>
            <a:endParaRPr lang="en-US" sz="1600" dirty="0"/>
          </a:p>
        </p:txBody>
      </p:sp>
      <p:sp>
        <p:nvSpPr>
          <p:cNvPr id="43" name="Shape 41"/>
          <p:cNvSpPr/>
          <p:nvPr/>
        </p:nvSpPr>
        <p:spPr>
          <a:xfrm>
            <a:off x="7520880" y="48387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44" name="Text 42"/>
          <p:cNvSpPr/>
          <p:nvPr/>
        </p:nvSpPr>
        <p:spPr>
          <a:xfrm>
            <a:off x="7759005" y="4800600"/>
            <a:ext cx="13239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So sánh code vs doc</a:t>
            </a:r>
            <a:endParaRPr lang="en-US" sz="1600" dirty="0"/>
          </a:p>
        </p:txBody>
      </p:sp>
      <p:sp>
        <p:nvSpPr>
          <p:cNvPr id="45" name="Shape 43"/>
          <p:cNvSpPr/>
          <p:nvPr/>
        </p:nvSpPr>
        <p:spPr>
          <a:xfrm>
            <a:off x="7520880" y="5105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46" name="Text 44"/>
          <p:cNvSpPr/>
          <p:nvPr/>
        </p:nvSpPr>
        <p:spPr>
          <a:xfrm>
            <a:off x="7759005" y="5067300"/>
            <a:ext cx="11620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Liệt kê mâu thuẫn</a:t>
            </a:r>
            <a:endParaRPr lang="en-US" sz="1600" dirty="0"/>
          </a:p>
        </p:txBody>
      </p:sp>
      <p:sp>
        <p:nvSpPr>
          <p:cNvPr id="47" name="Shape 45"/>
          <p:cNvSpPr/>
          <p:nvPr/>
        </p:nvSpPr>
        <p:spPr>
          <a:xfrm>
            <a:off x="7520880" y="53721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48" name="Text 46"/>
          <p:cNvSpPr/>
          <p:nvPr/>
        </p:nvSpPr>
        <p:spPr>
          <a:xfrm>
            <a:off x="7759005" y="5334000"/>
            <a:ext cx="9715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Đề xuất sửa lỗi</a:t>
            </a:r>
            <a:endParaRPr lang="en-US" sz="1600" dirty="0"/>
          </a:p>
        </p:txBody>
      </p:sp>
      <p:sp>
        <p:nvSpPr>
          <p:cNvPr id="49" name="Shape 47"/>
          <p:cNvSpPr/>
          <p:nvPr/>
        </p:nvSpPr>
        <p:spPr>
          <a:xfrm>
            <a:off x="7335143" y="5843588"/>
            <a:ext cx="4467225" cy="695325"/>
          </a:xfrm>
          <a:custGeom>
            <a:avLst/>
            <a:gdLst/>
            <a:ahLst/>
            <a:cxnLst/>
            <a:rect l="l" t="t" r="r" b="b"/>
            <a:pathLst>
              <a:path w="4467225" h="695325">
                <a:moveTo>
                  <a:pt x="114298" y="0"/>
                </a:moveTo>
                <a:lnTo>
                  <a:pt x="4352927" y="0"/>
                </a:lnTo>
                <a:cubicBezTo>
                  <a:pt x="4416052" y="0"/>
                  <a:pt x="4467225" y="51173"/>
                  <a:pt x="4467225" y="114298"/>
                </a:cubicBezTo>
                <a:lnTo>
                  <a:pt x="4467225" y="581027"/>
                </a:lnTo>
                <a:cubicBezTo>
                  <a:pt x="4467225" y="644152"/>
                  <a:pt x="4416052" y="695325"/>
                  <a:pt x="4352927" y="695325"/>
                </a:cubicBezTo>
                <a:lnTo>
                  <a:pt x="114298" y="695325"/>
                </a:lnTo>
                <a:cubicBezTo>
                  <a:pt x="51173" y="695325"/>
                  <a:pt x="0" y="644152"/>
                  <a:pt x="0" y="581027"/>
                </a:cubicBezTo>
                <a:lnTo>
                  <a:pt x="0" y="114298"/>
                </a:lnTo>
                <a:cubicBezTo>
                  <a:pt x="0" y="51215"/>
                  <a:pt x="51215" y="0"/>
                  <a:pt x="114298"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50" name="Shape 48"/>
          <p:cNvSpPr/>
          <p:nvPr/>
        </p:nvSpPr>
        <p:spPr>
          <a:xfrm>
            <a:off x="7492305" y="601027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10B981"/>
          </a:solidFill>
          <a:ln/>
        </p:spPr>
      </p:sp>
      <p:sp>
        <p:nvSpPr>
          <p:cNvPr id="51" name="Text 49"/>
          <p:cNvSpPr/>
          <p:nvPr/>
        </p:nvSpPr>
        <p:spPr>
          <a:xfrm>
            <a:off x="7701855" y="5962650"/>
            <a:ext cx="40576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Giá trị:</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Tự động phát hiện lỗi tài liệu trước khi gây hiểu nhầm cho developer khác.</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98872" y="561975"/>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FFFFFF"/>
          </a:solidFill>
          <a:ln/>
        </p:spPr>
      </p:sp>
      <p:sp>
        <p:nvSpPr>
          <p:cNvPr id="4" name="Text 2"/>
          <p:cNvSpPr/>
          <p:nvPr/>
        </p:nvSpPr>
        <p:spPr>
          <a:xfrm>
            <a:off x="876300" y="381000"/>
            <a:ext cx="583882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12 | MỨC VẬT LÝ</a:t>
            </a:r>
            <a:endParaRPr lang="en-US" sz="1600" dirty="0"/>
          </a:p>
        </p:txBody>
      </p:sp>
      <p:sp>
        <p:nvSpPr>
          <p:cNvPr id="5" name="Text 3"/>
          <p:cNvSpPr/>
          <p:nvPr/>
        </p:nvSpPr>
        <p:spPr>
          <a:xfrm>
            <a:off x="876300" y="571500"/>
            <a:ext cx="59150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Lab 12.1: Yêu cầu GenAI giải thích mã nguồn</a:t>
            </a:r>
            <a:endParaRPr lang="en-US" sz="1600" dirty="0"/>
          </a:p>
        </p:txBody>
      </p:sp>
      <p:sp>
        <p:nvSpPr>
          <p:cNvPr id="6" name="Shape 4"/>
          <p:cNvSpPr/>
          <p:nvPr/>
        </p:nvSpPr>
        <p:spPr>
          <a:xfrm>
            <a:off x="385763" y="1147763"/>
            <a:ext cx="5610225" cy="2686050"/>
          </a:xfrm>
          <a:custGeom>
            <a:avLst/>
            <a:gdLst/>
            <a:ahLst/>
            <a:cxnLst/>
            <a:rect l="l" t="t" r="r" b="b"/>
            <a:pathLst>
              <a:path w="5610225" h="2686050">
                <a:moveTo>
                  <a:pt x="114291" y="0"/>
                </a:moveTo>
                <a:lnTo>
                  <a:pt x="5495934" y="0"/>
                </a:lnTo>
                <a:cubicBezTo>
                  <a:pt x="5559055" y="0"/>
                  <a:pt x="5610225" y="51170"/>
                  <a:pt x="5610225" y="114291"/>
                </a:cubicBezTo>
                <a:lnTo>
                  <a:pt x="5610225" y="2571759"/>
                </a:lnTo>
                <a:cubicBezTo>
                  <a:pt x="5610225" y="2634880"/>
                  <a:pt x="5559055" y="2686050"/>
                  <a:pt x="5495934" y="2686050"/>
                </a:cubicBezTo>
                <a:lnTo>
                  <a:pt x="114291" y="2686050"/>
                </a:lnTo>
                <a:cubicBezTo>
                  <a:pt x="51170" y="2686050"/>
                  <a:pt x="0" y="2634880"/>
                  <a:pt x="0" y="2571759"/>
                </a:cubicBezTo>
                <a:lnTo>
                  <a:pt x="0" y="114291"/>
                </a:lnTo>
                <a:cubicBezTo>
                  <a:pt x="0" y="51212"/>
                  <a:pt x="51212" y="0"/>
                  <a:pt x="114291"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16744" y="1381125"/>
            <a:ext cx="166688" cy="190500"/>
          </a:xfrm>
          <a:custGeom>
            <a:avLst/>
            <a:gdLst/>
            <a:ahLst/>
            <a:cxnLst/>
            <a:rect l="l" t="t" r="r" b="b"/>
            <a:pathLst>
              <a:path w="166688" h="190500">
                <a:moveTo>
                  <a:pt x="28761" y="930"/>
                </a:moveTo>
                <a:cubicBezTo>
                  <a:pt x="31775" y="-595"/>
                  <a:pt x="35421" y="-260"/>
                  <a:pt x="38100" y="1786"/>
                </a:cubicBezTo>
                <a:lnTo>
                  <a:pt x="157163" y="91046"/>
                </a:lnTo>
                <a:cubicBezTo>
                  <a:pt x="160251" y="93352"/>
                  <a:pt x="161479" y="97371"/>
                  <a:pt x="160288" y="101017"/>
                </a:cubicBezTo>
                <a:cubicBezTo>
                  <a:pt x="159097" y="104663"/>
                  <a:pt x="155674" y="107119"/>
                  <a:pt x="151805" y="107119"/>
                </a:cubicBezTo>
                <a:lnTo>
                  <a:pt x="95138" y="107119"/>
                </a:lnTo>
                <a:lnTo>
                  <a:pt x="128215" y="173236"/>
                </a:lnTo>
                <a:cubicBezTo>
                  <a:pt x="131155" y="179115"/>
                  <a:pt x="128774" y="186258"/>
                  <a:pt x="122895" y="189198"/>
                </a:cubicBezTo>
                <a:cubicBezTo>
                  <a:pt x="117016" y="192137"/>
                  <a:pt x="109872" y="189756"/>
                  <a:pt x="106933" y="183877"/>
                </a:cubicBezTo>
                <a:lnTo>
                  <a:pt x="73856" y="117760"/>
                </a:lnTo>
                <a:lnTo>
                  <a:pt x="39886" y="163078"/>
                </a:lnTo>
                <a:cubicBezTo>
                  <a:pt x="37579" y="166167"/>
                  <a:pt x="33561" y="167394"/>
                  <a:pt x="29914" y="166204"/>
                </a:cubicBezTo>
                <a:cubicBezTo>
                  <a:pt x="26268" y="165013"/>
                  <a:pt x="23812" y="161590"/>
                  <a:pt x="23812" y="157758"/>
                </a:cubicBezTo>
                <a:lnTo>
                  <a:pt x="23812" y="8930"/>
                </a:lnTo>
                <a:cubicBezTo>
                  <a:pt x="23812" y="5544"/>
                  <a:pt x="25710" y="2456"/>
                  <a:pt x="28761" y="930"/>
                </a:cubicBez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Thao tác thực hiện</a:t>
            </a:r>
            <a:endParaRPr lang="en-US" sz="1600" dirty="0"/>
          </a:p>
        </p:txBody>
      </p:sp>
      <p:sp>
        <p:nvSpPr>
          <p:cNvPr id="9" name="Shape 7"/>
          <p:cNvSpPr/>
          <p:nvPr/>
        </p:nvSpPr>
        <p:spPr>
          <a:xfrm>
            <a:off x="581025" y="17621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B82F6"/>
          </a:solidFill>
          <a:ln/>
        </p:spPr>
      </p:sp>
      <p:sp>
        <p:nvSpPr>
          <p:cNvPr id="10" name="Text 8"/>
          <p:cNvSpPr/>
          <p:nvPr/>
        </p:nvSpPr>
        <p:spPr>
          <a:xfrm>
            <a:off x="542925" y="1762125"/>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1000125" y="1762125"/>
            <a:ext cx="19335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Bôi đen hàm phức tạp</a:t>
            </a:r>
            <a:endParaRPr lang="en-US" sz="1600" dirty="0"/>
          </a:p>
        </p:txBody>
      </p:sp>
      <p:sp>
        <p:nvSpPr>
          <p:cNvPr id="12" name="Text 10"/>
          <p:cNvSpPr/>
          <p:nvPr/>
        </p:nvSpPr>
        <p:spPr>
          <a:xfrm>
            <a:off x="1000125" y="2028825"/>
            <a:ext cx="1924050" cy="200025"/>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Ví dụ: </a:t>
            </a:r>
            <a:pPr>
              <a:lnSpc>
                <a:spcPct val="120000"/>
              </a:lnSpc>
            </a:pPr>
            <a:r>
              <a:rPr lang="en-US" sz="1050" dirty="0">
                <a:solidFill>
                  <a:srgbClr val="3B82F6"/>
                </a:solidFill>
                <a:highlight>
                  <a:srgbClr val="0F172A">
                    <a:alpha val="100000"/>
                  </a:srgbClr>
                </a:highlight>
                <a:latin typeface="MiSans" pitchFamily="34" charset="0"/>
                <a:ea typeface="MiSans" pitchFamily="34" charset="-122"/>
                <a:cs typeface="MiSans" pitchFamily="34" charset="-120"/>
              </a:rPr>
              <a:t>calculate_distance</a:t>
            </a:r>
            <a:endParaRPr lang="en-US" sz="1600" dirty="0"/>
          </a:p>
        </p:txBody>
      </p:sp>
      <p:sp>
        <p:nvSpPr>
          <p:cNvPr id="13" name="Shape 11"/>
          <p:cNvSpPr/>
          <p:nvPr/>
        </p:nvSpPr>
        <p:spPr>
          <a:xfrm>
            <a:off x="581025" y="23431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B82F6"/>
          </a:solidFill>
          <a:ln/>
        </p:spPr>
      </p:sp>
      <p:sp>
        <p:nvSpPr>
          <p:cNvPr id="14" name="Text 12"/>
          <p:cNvSpPr/>
          <p:nvPr/>
        </p:nvSpPr>
        <p:spPr>
          <a:xfrm>
            <a:off x="542925" y="2343150"/>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2</a:t>
            </a:r>
            <a:endParaRPr lang="en-US" sz="1600" dirty="0"/>
          </a:p>
        </p:txBody>
      </p:sp>
      <p:sp>
        <p:nvSpPr>
          <p:cNvPr id="15" name="Text 13"/>
          <p:cNvSpPr/>
          <p:nvPr/>
        </p:nvSpPr>
        <p:spPr>
          <a:xfrm>
            <a:off x="1000125" y="2343150"/>
            <a:ext cx="22383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Mở Inline Chat</a:t>
            </a:r>
            <a:endParaRPr lang="en-US" sz="1600" dirty="0"/>
          </a:p>
        </p:txBody>
      </p:sp>
      <p:sp>
        <p:nvSpPr>
          <p:cNvPr id="16" name="Text 14"/>
          <p:cNvSpPr/>
          <p:nvPr/>
        </p:nvSpPr>
        <p:spPr>
          <a:xfrm>
            <a:off x="1000125" y="2609850"/>
            <a:ext cx="22288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Ctrl+I (Windows) hoặc Cmd+I (Mac)</a:t>
            </a:r>
            <a:endParaRPr lang="en-US" sz="1600" dirty="0"/>
          </a:p>
        </p:txBody>
      </p:sp>
      <p:sp>
        <p:nvSpPr>
          <p:cNvPr id="17" name="Shape 15"/>
          <p:cNvSpPr/>
          <p:nvPr/>
        </p:nvSpPr>
        <p:spPr>
          <a:xfrm>
            <a:off x="581025" y="29146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B82F6"/>
          </a:solidFill>
          <a:ln/>
        </p:spPr>
      </p:sp>
      <p:sp>
        <p:nvSpPr>
          <p:cNvPr id="18" name="Text 16"/>
          <p:cNvSpPr/>
          <p:nvPr/>
        </p:nvSpPr>
        <p:spPr>
          <a:xfrm>
            <a:off x="542925" y="2914650"/>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1000125" y="2914650"/>
            <a:ext cx="8477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Nhập lệnh</a:t>
            </a:r>
            <a:endParaRPr lang="en-US" sz="1600" dirty="0"/>
          </a:p>
        </p:txBody>
      </p:sp>
      <p:sp>
        <p:nvSpPr>
          <p:cNvPr id="20" name="Shape 18"/>
          <p:cNvSpPr/>
          <p:nvPr/>
        </p:nvSpPr>
        <p:spPr>
          <a:xfrm>
            <a:off x="1000125" y="3219450"/>
            <a:ext cx="771525" cy="419100"/>
          </a:xfrm>
          <a:custGeom>
            <a:avLst/>
            <a:gdLst/>
            <a:ahLst/>
            <a:cxnLst/>
            <a:rect l="l" t="t" r="r" b="b"/>
            <a:pathLst>
              <a:path w="771525" h="419100">
                <a:moveTo>
                  <a:pt x="76201" y="0"/>
                </a:moveTo>
                <a:lnTo>
                  <a:pt x="695324" y="0"/>
                </a:lnTo>
                <a:cubicBezTo>
                  <a:pt x="737409" y="0"/>
                  <a:pt x="771525" y="34116"/>
                  <a:pt x="771525" y="76201"/>
                </a:cubicBezTo>
                <a:lnTo>
                  <a:pt x="771525" y="342899"/>
                </a:lnTo>
                <a:cubicBezTo>
                  <a:pt x="771525" y="384984"/>
                  <a:pt x="737409" y="419100"/>
                  <a:pt x="695324" y="419100"/>
                </a:cubicBezTo>
                <a:lnTo>
                  <a:pt x="76201" y="419100"/>
                </a:lnTo>
                <a:cubicBezTo>
                  <a:pt x="34116" y="419100"/>
                  <a:pt x="0" y="384984"/>
                  <a:pt x="0" y="342899"/>
                </a:cubicBezTo>
                <a:lnTo>
                  <a:pt x="0" y="76201"/>
                </a:lnTo>
                <a:cubicBezTo>
                  <a:pt x="0" y="34144"/>
                  <a:pt x="34144" y="0"/>
                  <a:pt x="76201" y="0"/>
                </a:cubicBezTo>
                <a:close/>
              </a:path>
            </a:pathLst>
          </a:custGeom>
          <a:solidFill>
            <a:srgbClr val="1E293B"/>
          </a:solidFill>
          <a:ln/>
        </p:spPr>
      </p:sp>
      <p:sp>
        <p:nvSpPr>
          <p:cNvPr id="21" name="Text 19"/>
          <p:cNvSpPr/>
          <p:nvPr/>
        </p:nvSpPr>
        <p:spPr>
          <a:xfrm>
            <a:off x="1114425" y="3352800"/>
            <a:ext cx="606623"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/explain</a:t>
            </a:r>
            <a:endParaRPr lang="en-US" sz="1600" dirty="0"/>
          </a:p>
        </p:txBody>
      </p:sp>
      <p:sp>
        <p:nvSpPr>
          <p:cNvPr id="22" name="Shape 20"/>
          <p:cNvSpPr/>
          <p:nvPr/>
        </p:nvSpPr>
        <p:spPr>
          <a:xfrm>
            <a:off x="385763" y="3990975"/>
            <a:ext cx="5610225" cy="1666875"/>
          </a:xfrm>
          <a:custGeom>
            <a:avLst/>
            <a:gdLst/>
            <a:ahLst/>
            <a:cxnLst/>
            <a:rect l="l" t="t" r="r" b="b"/>
            <a:pathLst>
              <a:path w="5610225" h="1666875">
                <a:moveTo>
                  <a:pt x="114298" y="0"/>
                </a:moveTo>
                <a:lnTo>
                  <a:pt x="5495927" y="0"/>
                </a:lnTo>
                <a:cubicBezTo>
                  <a:pt x="5559052" y="0"/>
                  <a:pt x="5610225" y="51173"/>
                  <a:pt x="5610225" y="114298"/>
                </a:cubicBezTo>
                <a:lnTo>
                  <a:pt x="5610225" y="1552577"/>
                </a:lnTo>
                <a:cubicBezTo>
                  <a:pt x="5610225" y="1615702"/>
                  <a:pt x="5559052" y="1666875"/>
                  <a:pt x="5495927" y="1666875"/>
                </a:cubicBezTo>
                <a:lnTo>
                  <a:pt x="114298" y="1666875"/>
                </a:lnTo>
                <a:cubicBezTo>
                  <a:pt x="51173" y="1666875"/>
                  <a:pt x="0" y="1615702"/>
                  <a:pt x="0" y="1552577"/>
                </a:cubicBezTo>
                <a:lnTo>
                  <a:pt x="0" y="114298"/>
                </a:lnTo>
                <a:cubicBezTo>
                  <a:pt x="0" y="51173"/>
                  <a:pt x="51173" y="0"/>
                  <a:pt x="114298" y="0"/>
                </a:cubicBezTo>
                <a:close/>
              </a:path>
            </a:pathLst>
          </a:custGeom>
          <a:solidFill>
            <a:srgbClr val="0F172A"/>
          </a:solidFill>
          <a:ln w="12700">
            <a:solidFill>
              <a:srgbClr val="8B5CF6">
                <a:alpha val="30196"/>
              </a:srgbClr>
            </a:solidFill>
            <a:prstDash val="solid"/>
          </a:ln>
        </p:spPr>
      </p:sp>
      <p:sp>
        <p:nvSpPr>
          <p:cNvPr id="23" name="Shape 21"/>
          <p:cNvSpPr/>
          <p:nvPr/>
        </p:nvSpPr>
        <p:spPr>
          <a:xfrm>
            <a:off x="556022" y="4195763"/>
            <a:ext cx="192881" cy="171450"/>
          </a:xfrm>
          <a:custGeom>
            <a:avLst/>
            <a:gdLst/>
            <a:ahLst/>
            <a:cxnLst/>
            <a:rect l="l" t="t" r="r" b="b"/>
            <a:pathLst>
              <a:path w="192881" h="171450">
                <a:moveTo>
                  <a:pt x="120819" y="402"/>
                </a:moveTo>
                <a:cubicBezTo>
                  <a:pt x="115126" y="-1239"/>
                  <a:pt x="109199" y="2076"/>
                  <a:pt x="107558" y="7769"/>
                </a:cubicBezTo>
                <a:lnTo>
                  <a:pt x="64696" y="157788"/>
                </a:lnTo>
                <a:cubicBezTo>
                  <a:pt x="63055" y="163480"/>
                  <a:pt x="66370" y="169407"/>
                  <a:pt x="72063" y="171048"/>
                </a:cubicBezTo>
                <a:cubicBezTo>
                  <a:pt x="77755" y="172689"/>
                  <a:pt x="83682" y="169374"/>
                  <a:pt x="85323" y="163681"/>
                </a:cubicBezTo>
                <a:lnTo>
                  <a:pt x="128186" y="13662"/>
                </a:lnTo>
                <a:cubicBezTo>
                  <a:pt x="129826" y="7970"/>
                  <a:pt x="126511" y="2043"/>
                  <a:pt x="120819" y="402"/>
                </a:cubicBezTo>
                <a:close/>
                <a:moveTo>
                  <a:pt x="142451" y="45977"/>
                </a:moveTo>
                <a:cubicBezTo>
                  <a:pt x="138265" y="50163"/>
                  <a:pt x="138265" y="56960"/>
                  <a:pt x="142451" y="61146"/>
                </a:cubicBezTo>
                <a:lnTo>
                  <a:pt x="167030" y="85725"/>
                </a:lnTo>
                <a:lnTo>
                  <a:pt x="142451" y="110304"/>
                </a:lnTo>
                <a:cubicBezTo>
                  <a:pt x="138265" y="114490"/>
                  <a:pt x="138265" y="121287"/>
                  <a:pt x="142451" y="125473"/>
                </a:cubicBezTo>
                <a:cubicBezTo>
                  <a:pt x="146637" y="129659"/>
                  <a:pt x="153434" y="129659"/>
                  <a:pt x="157620" y="125473"/>
                </a:cubicBezTo>
                <a:lnTo>
                  <a:pt x="189767" y="93326"/>
                </a:lnTo>
                <a:cubicBezTo>
                  <a:pt x="193953" y="89141"/>
                  <a:pt x="193953" y="82343"/>
                  <a:pt x="189767" y="78157"/>
                </a:cubicBezTo>
                <a:lnTo>
                  <a:pt x="157620" y="46010"/>
                </a:lnTo>
                <a:cubicBezTo>
                  <a:pt x="153434" y="41824"/>
                  <a:pt x="146637" y="41824"/>
                  <a:pt x="142451" y="46010"/>
                </a:cubicBezTo>
                <a:close/>
                <a:moveTo>
                  <a:pt x="50464" y="45977"/>
                </a:moveTo>
                <a:cubicBezTo>
                  <a:pt x="46278" y="41791"/>
                  <a:pt x="39480" y="41791"/>
                  <a:pt x="35295" y="45977"/>
                </a:cubicBezTo>
                <a:lnTo>
                  <a:pt x="3148" y="78124"/>
                </a:lnTo>
                <a:cubicBezTo>
                  <a:pt x="-1038" y="82309"/>
                  <a:pt x="-1038" y="89107"/>
                  <a:pt x="3148" y="93293"/>
                </a:cubicBezTo>
                <a:lnTo>
                  <a:pt x="35295" y="125440"/>
                </a:lnTo>
                <a:cubicBezTo>
                  <a:pt x="39480" y="129626"/>
                  <a:pt x="46278" y="129626"/>
                  <a:pt x="50464" y="125440"/>
                </a:cubicBezTo>
                <a:cubicBezTo>
                  <a:pt x="54650" y="121254"/>
                  <a:pt x="54650" y="114456"/>
                  <a:pt x="50464" y="110270"/>
                </a:cubicBezTo>
                <a:lnTo>
                  <a:pt x="25885" y="85725"/>
                </a:lnTo>
                <a:lnTo>
                  <a:pt x="50430" y="61146"/>
                </a:lnTo>
                <a:cubicBezTo>
                  <a:pt x="54616" y="56960"/>
                  <a:pt x="54616" y="50163"/>
                  <a:pt x="50430" y="45977"/>
                </a:cubicBezTo>
                <a:close/>
              </a:path>
            </a:pathLst>
          </a:custGeom>
          <a:solidFill>
            <a:srgbClr val="8B5CF6"/>
          </a:solidFill>
          <a:ln/>
        </p:spPr>
      </p:sp>
      <p:sp>
        <p:nvSpPr>
          <p:cNvPr id="24" name="Text 22"/>
          <p:cNvSpPr/>
          <p:nvPr/>
        </p:nvSpPr>
        <p:spPr>
          <a:xfrm>
            <a:off x="762000" y="4148137"/>
            <a:ext cx="5162550" cy="266700"/>
          </a:xfrm>
          <a:prstGeom prst="rect">
            <a:avLst/>
          </a:prstGeom>
          <a:noFill/>
          <a:ln/>
        </p:spPr>
        <p:txBody>
          <a:bodyPr wrap="square" lIns="0" tIns="0" rIns="0" bIns="0" rtlCol="0" anchor="ctr"/>
          <a:lstStyle/>
          <a:p>
            <a:pPr>
              <a:lnSpc>
                <a:spcPct val="130000"/>
              </a:lnSpc>
            </a:pPr>
            <a:r>
              <a:rPr lang="en-US" sz="1350" b="1" dirty="0">
                <a:solidFill>
                  <a:srgbClr val="8B5CF6"/>
                </a:solidFill>
                <a:latin typeface="MiSans" pitchFamily="34" charset="0"/>
                <a:ea typeface="MiSans" pitchFamily="34" charset="-122"/>
                <a:cs typeface="MiSans" pitchFamily="34" charset="-120"/>
              </a:rPr>
              <a:t>Code mẫu</a:t>
            </a:r>
            <a:endParaRPr lang="en-US" sz="1600" dirty="0"/>
          </a:p>
        </p:txBody>
      </p:sp>
      <p:sp>
        <p:nvSpPr>
          <p:cNvPr id="25" name="Shape 23"/>
          <p:cNvSpPr/>
          <p:nvPr/>
        </p:nvSpPr>
        <p:spPr>
          <a:xfrm>
            <a:off x="542925" y="4529138"/>
            <a:ext cx="5295900" cy="971550"/>
          </a:xfrm>
          <a:custGeom>
            <a:avLst/>
            <a:gdLst/>
            <a:ahLst/>
            <a:cxnLst/>
            <a:rect l="l" t="t" r="r" b="b"/>
            <a:pathLst>
              <a:path w="5295900" h="971550">
                <a:moveTo>
                  <a:pt x="76199" y="0"/>
                </a:moveTo>
                <a:lnTo>
                  <a:pt x="5219701" y="0"/>
                </a:lnTo>
                <a:cubicBezTo>
                  <a:pt x="5261785" y="0"/>
                  <a:pt x="5295900" y="34115"/>
                  <a:pt x="5295900" y="76199"/>
                </a:cubicBezTo>
                <a:lnTo>
                  <a:pt x="5295900" y="895351"/>
                </a:lnTo>
                <a:cubicBezTo>
                  <a:pt x="5295900" y="937435"/>
                  <a:pt x="5261785" y="971550"/>
                  <a:pt x="5219701" y="971550"/>
                </a:cubicBezTo>
                <a:lnTo>
                  <a:pt x="76199" y="971550"/>
                </a:lnTo>
                <a:cubicBezTo>
                  <a:pt x="34115" y="971550"/>
                  <a:pt x="0" y="937435"/>
                  <a:pt x="0" y="895351"/>
                </a:cubicBezTo>
                <a:lnTo>
                  <a:pt x="0" y="76199"/>
                </a:lnTo>
                <a:cubicBezTo>
                  <a:pt x="0" y="34143"/>
                  <a:pt x="34143" y="0"/>
                  <a:pt x="76199" y="0"/>
                </a:cubicBezTo>
                <a:close/>
              </a:path>
            </a:pathLst>
          </a:custGeom>
          <a:solidFill>
            <a:srgbClr val="1E293B"/>
          </a:solidFill>
          <a:ln/>
        </p:spPr>
      </p:sp>
      <p:sp>
        <p:nvSpPr>
          <p:cNvPr id="26" name="Text 24"/>
          <p:cNvSpPr/>
          <p:nvPr/>
        </p:nvSpPr>
        <p:spPr>
          <a:xfrm>
            <a:off x="542925" y="4529138"/>
            <a:ext cx="5357813" cy="97155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calculate_distance</a:t>
            </a:r>
            <a:pPr>
              <a:lnSpc>
                <a:spcPct val="130000"/>
              </a:lnSpc>
            </a:pPr>
            <a:r>
              <a:rPr lang="en-US" sz="975" dirty="0">
                <a:solidFill>
                  <a:srgbClr val="F1F5F9"/>
                </a:solidFill>
                <a:latin typeface="MiSans" pitchFamily="34" charset="0"/>
                <a:ea typeface="MiSans" pitchFamily="34" charset="-122"/>
                <a:cs typeface="MiSans" pitchFamily="34" charset="-120"/>
              </a:rPr>
              <a:t>(p1, p2):</a:t>
            </a:r>
            <a:endParaRPr lang="en-US" sz="1600" dirty="0"/>
          </a:p>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Tính khoảng cách Euclidean</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np.sqrt((p1.x - p2.x)**2 +</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(p1.y - p2.y)**2)</a:t>
            </a:r>
            <a:endParaRPr lang="en-US" sz="1600" dirty="0"/>
          </a:p>
        </p:txBody>
      </p:sp>
      <p:sp>
        <p:nvSpPr>
          <p:cNvPr id="27" name="Shape 25"/>
          <p:cNvSpPr/>
          <p:nvPr/>
        </p:nvSpPr>
        <p:spPr>
          <a:xfrm>
            <a:off x="6196013" y="1147763"/>
            <a:ext cx="5610225" cy="2905125"/>
          </a:xfrm>
          <a:custGeom>
            <a:avLst/>
            <a:gdLst/>
            <a:ahLst/>
            <a:cxnLst/>
            <a:rect l="l" t="t" r="r" b="b"/>
            <a:pathLst>
              <a:path w="5610225" h="2905125">
                <a:moveTo>
                  <a:pt x="114288" y="0"/>
                </a:moveTo>
                <a:lnTo>
                  <a:pt x="5495937" y="0"/>
                </a:lnTo>
                <a:cubicBezTo>
                  <a:pt x="5559057" y="0"/>
                  <a:pt x="5610225" y="51168"/>
                  <a:pt x="5610225" y="114288"/>
                </a:cubicBezTo>
                <a:lnTo>
                  <a:pt x="5610225" y="2790837"/>
                </a:lnTo>
                <a:cubicBezTo>
                  <a:pt x="5610225" y="2853957"/>
                  <a:pt x="5559057" y="2905125"/>
                  <a:pt x="5495937" y="2905125"/>
                </a:cubicBezTo>
                <a:lnTo>
                  <a:pt x="114288" y="2905125"/>
                </a:lnTo>
                <a:cubicBezTo>
                  <a:pt x="51168" y="2905125"/>
                  <a:pt x="0" y="2853957"/>
                  <a:pt x="0" y="2790837"/>
                </a:cubicBezTo>
                <a:lnTo>
                  <a:pt x="0" y="114288"/>
                </a:lnTo>
                <a:cubicBezTo>
                  <a:pt x="0" y="51168"/>
                  <a:pt x="51168" y="0"/>
                  <a:pt x="11428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8" name="Shape 26"/>
          <p:cNvSpPr/>
          <p:nvPr/>
        </p:nvSpPr>
        <p:spPr>
          <a:xfrm>
            <a:off x="641508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10B981"/>
          </a:solidFill>
          <a:ln/>
        </p:spPr>
      </p:sp>
      <p:sp>
        <p:nvSpPr>
          <p:cNvPr id="29" name="Text 27"/>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Kết quả đầu ra</a:t>
            </a:r>
            <a:endParaRPr lang="en-US" sz="1600" dirty="0"/>
          </a:p>
        </p:txBody>
      </p:sp>
      <p:sp>
        <p:nvSpPr>
          <p:cNvPr id="30" name="Shape 28"/>
          <p:cNvSpPr/>
          <p:nvPr/>
        </p:nvSpPr>
        <p:spPr>
          <a:xfrm>
            <a:off x="6396038" y="1766888"/>
            <a:ext cx="5210175" cy="1762125"/>
          </a:xfrm>
          <a:custGeom>
            <a:avLst/>
            <a:gdLst/>
            <a:ahLst/>
            <a:cxnLst/>
            <a:rect l="l" t="t" r="r" b="b"/>
            <a:pathLst>
              <a:path w="5210175" h="1762125">
                <a:moveTo>
                  <a:pt x="76194" y="0"/>
                </a:moveTo>
                <a:lnTo>
                  <a:pt x="5133981" y="0"/>
                </a:lnTo>
                <a:cubicBezTo>
                  <a:pt x="5176033" y="0"/>
                  <a:pt x="5210175" y="34142"/>
                  <a:pt x="5210175" y="76194"/>
                </a:cubicBezTo>
                <a:lnTo>
                  <a:pt x="5210175" y="1685931"/>
                </a:lnTo>
                <a:cubicBezTo>
                  <a:pt x="5210175" y="1728012"/>
                  <a:pt x="5176062" y="1762125"/>
                  <a:pt x="5133981" y="1762125"/>
                </a:cubicBezTo>
                <a:lnTo>
                  <a:pt x="76194" y="1762125"/>
                </a:lnTo>
                <a:cubicBezTo>
                  <a:pt x="34142" y="1762125"/>
                  <a:pt x="0" y="1727983"/>
                  <a:pt x="0" y="1685931"/>
                </a:cubicBezTo>
                <a:lnTo>
                  <a:pt x="0" y="76194"/>
                </a:lnTo>
                <a:cubicBezTo>
                  <a:pt x="0" y="34142"/>
                  <a:pt x="34142" y="0"/>
                  <a:pt x="76194" y="0"/>
                </a:cubicBezTo>
                <a:close/>
              </a:path>
            </a:pathLst>
          </a:custGeom>
          <a:solidFill>
            <a:srgbClr val="0F172A"/>
          </a:solidFill>
          <a:ln w="12700">
            <a:solidFill>
              <a:srgbClr val="10B981">
                <a:alpha val="30196"/>
              </a:srgbClr>
            </a:solidFill>
            <a:prstDash val="solid"/>
          </a:ln>
        </p:spPr>
      </p:sp>
      <p:sp>
        <p:nvSpPr>
          <p:cNvPr id="31" name="Text 29"/>
          <p:cNvSpPr/>
          <p:nvPr/>
        </p:nvSpPr>
        <p:spPr>
          <a:xfrm>
            <a:off x="6553200" y="1924050"/>
            <a:ext cx="497205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GenAI xuất ra diễn giải chi tiết:</a:t>
            </a:r>
            <a:endParaRPr lang="en-US" sz="1600" dirty="0"/>
          </a:p>
        </p:txBody>
      </p:sp>
      <p:sp>
        <p:nvSpPr>
          <p:cNvPr id="32" name="Shape 30"/>
          <p:cNvSpPr/>
          <p:nvPr/>
        </p:nvSpPr>
        <p:spPr>
          <a:xfrm>
            <a:off x="6605588" y="2305050"/>
            <a:ext cx="66675" cy="133350"/>
          </a:xfrm>
          <a:custGeom>
            <a:avLst/>
            <a:gdLst/>
            <a:ahLst/>
            <a:cxnLst/>
            <a:rect l="l" t="t" r="r" b="b"/>
            <a:pathLst>
              <a:path w="66675" h="133350">
                <a:moveTo>
                  <a:pt x="64357" y="60789"/>
                </a:moveTo>
                <a:cubicBezTo>
                  <a:pt x="67613" y="64044"/>
                  <a:pt x="67613" y="69332"/>
                  <a:pt x="64357" y="72587"/>
                </a:cubicBezTo>
                <a:lnTo>
                  <a:pt x="22685" y="114259"/>
                </a:lnTo>
                <a:cubicBezTo>
                  <a:pt x="19430" y="117515"/>
                  <a:pt x="14142" y="117515"/>
                  <a:pt x="10887" y="114259"/>
                </a:cubicBezTo>
                <a:cubicBezTo>
                  <a:pt x="7631" y="111003"/>
                  <a:pt x="7631" y="105716"/>
                  <a:pt x="10887" y="102461"/>
                </a:cubicBezTo>
                <a:lnTo>
                  <a:pt x="46673" y="66675"/>
                </a:lnTo>
                <a:lnTo>
                  <a:pt x="10913" y="30889"/>
                </a:lnTo>
                <a:cubicBezTo>
                  <a:pt x="7657" y="27634"/>
                  <a:pt x="7657" y="22347"/>
                  <a:pt x="10913" y="19091"/>
                </a:cubicBezTo>
                <a:cubicBezTo>
                  <a:pt x="14168" y="15835"/>
                  <a:pt x="19456" y="15835"/>
                  <a:pt x="22711" y="19091"/>
                </a:cubicBezTo>
                <a:lnTo>
                  <a:pt x="64383" y="60763"/>
                </a:lnTo>
                <a:close/>
              </a:path>
            </a:pathLst>
          </a:custGeom>
          <a:solidFill>
            <a:srgbClr val="10B981"/>
          </a:solidFill>
          <a:ln/>
        </p:spPr>
      </p:sp>
      <p:sp>
        <p:nvSpPr>
          <p:cNvPr id="33" name="Text 31"/>
          <p:cNvSpPr/>
          <p:nvPr/>
        </p:nvSpPr>
        <p:spPr>
          <a:xfrm>
            <a:off x="6796088" y="2266950"/>
            <a:ext cx="4562475"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Chức năng:</a:t>
            </a:r>
            <a:pPr>
              <a:lnSpc>
                <a:spcPct val="120000"/>
              </a:lnSpc>
            </a:pPr>
            <a:r>
              <a:rPr lang="en-US" sz="1050" dirty="0">
                <a:solidFill>
                  <a:srgbClr val="F1F5F9">
                    <a:alpha val="90000"/>
                  </a:srgbClr>
                </a:solidFill>
                <a:latin typeface="MiSans" pitchFamily="34" charset="0"/>
                <a:ea typeface="MiSans" pitchFamily="34" charset="-122"/>
                <a:cs typeface="MiSans" pitchFamily="34" charset="-120"/>
              </a:rPr>
              <a:t> Tính khoảng cách Euclidean giữa 2 điểm trong không gian 2D</a:t>
            </a:r>
            <a:endParaRPr lang="en-US" sz="1600" dirty="0"/>
          </a:p>
        </p:txBody>
      </p:sp>
      <p:sp>
        <p:nvSpPr>
          <p:cNvPr id="34" name="Shape 32"/>
          <p:cNvSpPr/>
          <p:nvPr/>
        </p:nvSpPr>
        <p:spPr>
          <a:xfrm>
            <a:off x="6605588" y="2609850"/>
            <a:ext cx="66675" cy="133350"/>
          </a:xfrm>
          <a:custGeom>
            <a:avLst/>
            <a:gdLst/>
            <a:ahLst/>
            <a:cxnLst/>
            <a:rect l="l" t="t" r="r" b="b"/>
            <a:pathLst>
              <a:path w="66675" h="133350">
                <a:moveTo>
                  <a:pt x="64357" y="60789"/>
                </a:moveTo>
                <a:cubicBezTo>
                  <a:pt x="67613" y="64044"/>
                  <a:pt x="67613" y="69332"/>
                  <a:pt x="64357" y="72587"/>
                </a:cubicBezTo>
                <a:lnTo>
                  <a:pt x="22685" y="114259"/>
                </a:lnTo>
                <a:cubicBezTo>
                  <a:pt x="19430" y="117515"/>
                  <a:pt x="14142" y="117515"/>
                  <a:pt x="10887" y="114259"/>
                </a:cubicBezTo>
                <a:cubicBezTo>
                  <a:pt x="7631" y="111003"/>
                  <a:pt x="7631" y="105716"/>
                  <a:pt x="10887" y="102461"/>
                </a:cubicBezTo>
                <a:lnTo>
                  <a:pt x="46673" y="66675"/>
                </a:lnTo>
                <a:lnTo>
                  <a:pt x="10913" y="30889"/>
                </a:lnTo>
                <a:cubicBezTo>
                  <a:pt x="7657" y="27634"/>
                  <a:pt x="7657" y="22347"/>
                  <a:pt x="10913" y="19091"/>
                </a:cubicBezTo>
                <a:cubicBezTo>
                  <a:pt x="14168" y="15835"/>
                  <a:pt x="19456" y="15835"/>
                  <a:pt x="22711" y="19091"/>
                </a:cubicBezTo>
                <a:lnTo>
                  <a:pt x="64383" y="60763"/>
                </a:lnTo>
                <a:close/>
              </a:path>
            </a:pathLst>
          </a:custGeom>
          <a:solidFill>
            <a:srgbClr val="10B981"/>
          </a:solidFill>
          <a:ln/>
        </p:spPr>
      </p:sp>
      <p:sp>
        <p:nvSpPr>
          <p:cNvPr id="35" name="Text 33"/>
          <p:cNvSpPr/>
          <p:nvPr/>
        </p:nvSpPr>
        <p:spPr>
          <a:xfrm>
            <a:off x="6796088" y="2571750"/>
            <a:ext cx="3438525"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Tham số đầu vào:</a:t>
            </a:r>
            <a:pPr>
              <a:lnSpc>
                <a:spcPct val="120000"/>
              </a:lnSpc>
            </a:pPr>
            <a:r>
              <a:rPr lang="en-US" sz="1050" dirty="0">
                <a:solidFill>
                  <a:srgbClr val="F1F5F9">
                    <a:alpha val="90000"/>
                  </a:srgbClr>
                </a:solidFill>
                <a:latin typeface="MiSans" pitchFamily="34" charset="0"/>
                <a:ea typeface="MiSans" pitchFamily="34" charset="-122"/>
                <a:cs typeface="MiSans" pitchFamily="34" charset="-120"/>
              </a:rPr>
              <a:t> p1, p2 là các object có thuộc tính x, y</a:t>
            </a:r>
            <a:endParaRPr lang="en-US" sz="1600" dirty="0"/>
          </a:p>
        </p:txBody>
      </p:sp>
      <p:sp>
        <p:nvSpPr>
          <p:cNvPr id="36" name="Shape 34"/>
          <p:cNvSpPr/>
          <p:nvPr/>
        </p:nvSpPr>
        <p:spPr>
          <a:xfrm>
            <a:off x="6605588" y="2914650"/>
            <a:ext cx="66675" cy="133350"/>
          </a:xfrm>
          <a:custGeom>
            <a:avLst/>
            <a:gdLst/>
            <a:ahLst/>
            <a:cxnLst/>
            <a:rect l="l" t="t" r="r" b="b"/>
            <a:pathLst>
              <a:path w="66675" h="133350">
                <a:moveTo>
                  <a:pt x="64357" y="60789"/>
                </a:moveTo>
                <a:cubicBezTo>
                  <a:pt x="67613" y="64044"/>
                  <a:pt x="67613" y="69332"/>
                  <a:pt x="64357" y="72587"/>
                </a:cubicBezTo>
                <a:lnTo>
                  <a:pt x="22685" y="114259"/>
                </a:lnTo>
                <a:cubicBezTo>
                  <a:pt x="19430" y="117515"/>
                  <a:pt x="14142" y="117515"/>
                  <a:pt x="10887" y="114259"/>
                </a:cubicBezTo>
                <a:cubicBezTo>
                  <a:pt x="7631" y="111003"/>
                  <a:pt x="7631" y="105716"/>
                  <a:pt x="10887" y="102461"/>
                </a:cubicBezTo>
                <a:lnTo>
                  <a:pt x="46673" y="66675"/>
                </a:lnTo>
                <a:lnTo>
                  <a:pt x="10913" y="30889"/>
                </a:lnTo>
                <a:cubicBezTo>
                  <a:pt x="7657" y="27634"/>
                  <a:pt x="7657" y="22347"/>
                  <a:pt x="10913" y="19091"/>
                </a:cubicBezTo>
                <a:cubicBezTo>
                  <a:pt x="14168" y="15835"/>
                  <a:pt x="19456" y="15835"/>
                  <a:pt x="22711" y="19091"/>
                </a:cubicBezTo>
                <a:lnTo>
                  <a:pt x="64383" y="60763"/>
                </a:lnTo>
                <a:close/>
              </a:path>
            </a:pathLst>
          </a:custGeom>
          <a:solidFill>
            <a:srgbClr val="10B981"/>
          </a:solidFill>
          <a:ln/>
        </p:spPr>
      </p:sp>
      <p:sp>
        <p:nvSpPr>
          <p:cNvPr id="37" name="Text 35"/>
          <p:cNvSpPr/>
          <p:nvPr/>
        </p:nvSpPr>
        <p:spPr>
          <a:xfrm>
            <a:off x="6796088" y="2876550"/>
            <a:ext cx="1905000"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Công thức:</a:t>
            </a:r>
            <a:pPr>
              <a:lnSpc>
                <a:spcPct val="120000"/>
              </a:lnSpc>
            </a:pPr>
            <a:r>
              <a:rPr lang="en-US" sz="1050" dirty="0">
                <a:solidFill>
                  <a:srgbClr val="F1F5F9">
                    <a:alpha val="90000"/>
                  </a:srgbClr>
                </a:solidFill>
                <a:latin typeface="MiSans" pitchFamily="34" charset="0"/>
                <a:ea typeface="MiSans" pitchFamily="34" charset="-122"/>
                <a:cs typeface="MiSans" pitchFamily="34" charset="-120"/>
              </a:rPr>
              <a:t> √[(x₁-x₂)² + (y₁-y₂)²]</a:t>
            </a:r>
            <a:endParaRPr lang="en-US" sz="1600" dirty="0"/>
          </a:p>
        </p:txBody>
      </p:sp>
      <p:sp>
        <p:nvSpPr>
          <p:cNvPr id="38" name="Shape 36"/>
          <p:cNvSpPr/>
          <p:nvPr/>
        </p:nvSpPr>
        <p:spPr>
          <a:xfrm>
            <a:off x="6605588" y="3219450"/>
            <a:ext cx="66675" cy="133350"/>
          </a:xfrm>
          <a:custGeom>
            <a:avLst/>
            <a:gdLst/>
            <a:ahLst/>
            <a:cxnLst/>
            <a:rect l="l" t="t" r="r" b="b"/>
            <a:pathLst>
              <a:path w="66675" h="133350">
                <a:moveTo>
                  <a:pt x="64357" y="60789"/>
                </a:moveTo>
                <a:cubicBezTo>
                  <a:pt x="67613" y="64044"/>
                  <a:pt x="67613" y="69332"/>
                  <a:pt x="64357" y="72587"/>
                </a:cubicBezTo>
                <a:lnTo>
                  <a:pt x="22685" y="114259"/>
                </a:lnTo>
                <a:cubicBezTo>
                  <a:pt x="19430" y="117515"/>
                  <a:pt x="14142" y="117515"/>
                  <a:pt x="10887" y="114259"/>
                </a:cubicBezTo>
                <a:cubicBezTo>
                  <a:pt x="7631" y="111003"/>
                  <a:pt x="7631" y="105716"/>
                  <a:pt x="10887" y="102461"/>
                </a:cubicBezTo>
                <a:lnTo>
                  <a:pt x="46673" y="66675"/>
                </a:lnTo>
                <a:lnTo>
                  <a:pt x="10913" y="30889"/>
                </a:lnTo>
                <a:cubicBezTo>
                  <a:pt x="7657" y="27634"/>
                  <a:pt x="7657" y="22347"/>
                  <a:pt x="10913" y="19091"/>
                </a:cubicBezTo>
                <a:cubicBezTo>
                  <a:pt x="14168" y="15835"/>
                  <a:pt x="19456" y="15835"/>
                  <a:pt x="22711" y="19091"/>
                </a:cubicBezTo>
                <a:lnTo>
                  <a:pt x="64383" y="60763"/>
                </a:lnTo>
                <a:close/>
              </a:path>
            </a:pathLst>
          </a:custGeom>
          <a:solidFill>
            <a:srgbClr val="10B981"/>
          </a:solidFill>
          <a:ln/>
        </p:spPr>
      </p:sp>
      <p:sp>
        <p:nvSpPr>
          <p:cNvPr id="39" name="Text 37"/>
          <p:cNvSpPr/>
          <p:nvPr/>
        </p:nvSpPr>
        <p:spPr>
          <a:xfrm>
            <a:off x="6796088" y="3181350"/>
            <a:ext cx="2667000"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Giá trị trả về:</a:t>
            </a:r>
            <a:pPr>
              <a:lnSpc>
                <a:spcPct val="120000"/>
              </a:lnSpc>
            </a:pPr>
            <a:r>
              <a:rPr lang="en-US" sz="1050" dirty="0">
                <a:solidFill>
                  <a:srgbClr val="F1F5F9">
                    <a:alpha val="90000"/>
                  </a:srgbClr>
                </a:solidFill>
                <a:latin typeface="MiSans" pitchFamily="34" charset="0"/>
                <a:ea typeface="MiSans" pitchFamily="34" charset="-122"/>
                <a:cs typeface="MiSans" pitchFamily="34" charset="-120"/>
              </a:rPr>
              <a:t> Số thực (float) - khoảng cách</a:t>
            </a:r>
            <a:endParaRPr lang="en-US" sz="1600" dirty="0"/>
          </a:p>
        </p:txBody>
      </p:sp>
      <p:sp>
        <p:nvSpPr>
          <p:cNvPr id="40" name="Shape 38"/>
          <p:cNvSpPr/>
          <p:nvPr/>
        </p:nvSpPr>
        <p:spPr>
          <a:xfrm>
            <a:off x="6196013" y="4214813"/>
            <a:ext cx="5610225" cy="2257425"/>
          </a:xfrm>
          <a:custGeom>
            <a:avLst/>
            <a:gdLst/>
            <a:ahLst/>
            <a:cxnLst/>
            <a:rect l="l" t="t" r="r" b="b"/>
            <a:pathLst>
              <a:path w="5610225" h="2257425">
                <a:moveTo>
                  <a:pt x="114293" y="0"/>
                </a:moveTo>
                <a:lnTo>
                  <a:pt x="5495932" y="0"/>
                </a:lnTo>
                <a:cubicBezTo>
                  <a:pt x="5559012" y="0"/>
                  <a:pt x="5610225" y="51213"/>
                  <a:pt x="5610225" y="114293"/>
                </a:cubicBezTo>
                <a:lnTo>
                  <a:pt x="5610225" y="2143132"/>
                </a:lnTo>
                <a:cubicBezTo>
                  <a:pt x="5610225" y="2206212"/>
                  <a:pt x="5559012" y="2257425"/>
                  <a:pt x="5495932" y="2257425"/>
                </a:cubicBezTo>
                <a:lnTo>
                  <a:pt x="114293" y="2257425"/>
                </a:lnTo>
                <a:cubicBezTo>
                  <a:pt x="51213" y="2257425"/>
                  <a:pt x="0" y="2206212"/>
                  <a:pt x="0" y="2143132"/>
                </a:cubicBezTo>
                <a:lnTo>
                  <a:pt x="0" y="114293"/>
                </a:lnTo>
                <a:cubicBezTo>
                  <a:pt x="0" y="51213"/>
                  <a:pt x="51213" y="0"/>
                  <a:pt x="114293" y="0"/>
                </a:cubicBezTo>
                <a:close/>
              </a:path>
            </a:pathLst>
          </a:custGeom>
          <a:gradFill rotWithShape="1" flip="none">
            <a:gsLst>
              <a:gs pos="0">
                <a:srgbClr val="3B82F6">
                  <a:alpha val="10000"/>
                </a:srgbClr>
              </a:gs>
              <a:gs pos="100000">
                <a:srgbClr val="8B5CF6">
                  <a:alpha val="10000"/>
                </a:srgbClr>
              </a:gs>
            </a:gsLst>
            <a:lin ang="0" scaled="1"/>
          </a:gradFill>
          <a:ln w="12700">
            <a:solidFill>
              <a:srgbClr val="3B82F6">
                <a:alpha val="30196"/>
              </a:srgbClr>
            </a:solidFill>
            <a:prstDash val="solid"/>
          </a:ln>
        </p:spPr>
      </p:sp>
      <p:sp>
        <p:nvSpPr>
          <p:cNvPr id="41" name="Shape 39"/>
          <p:cNvSpPr/>
          <p:nvPr/>
        </p:nvSpPr>
        <p:spPr>
          <a:xfrm>
            <a:off x="6398419" y="4419600"/>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F59E0B"/>
          </a:solidFill>
          <a:ln/>
        </p:spPr>
      </p:sp>
      <p:sp>
        <p:nvSpPr>
          <p:cNvPr id="42" name="Text 40"/>
          <p:cNvSpPr/>
          <p:nvPr/>
        </p:nvSpPr>
        <p:spPr>
          <a:xfrm>
            <a:off x="6572250" y="4371975"/>
            <a:ext cx="516255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Ứng dụng thực tế</a:t>
            </a:r>
            <a:endParaRPr lang="en-US" sz="1600" dirty="0"/>
          </a:p>
        </p:txBody>
      </p:sp>
      <p:sp>
        <p:nvSpPr>
          <p:cNvPr id="43" name="Shape 41"/>
          <p:cNvSpPr/>
          <p:nvPr/>
        </p:nvSpPr>
        <p:spPr>
          <a:xfrm>
            <a:off x="6353175" y="4752975"/>
            <a:ext cx="2590800" cy="723900"/>
          </a:xfrm>
          <a:custGeom>
            <a:avLst/>
            <a:gdLst/>
            <a:ahLst/>
            <a:cxnLst/>
            <a:rect l="l" t="t" r="r" b="b"/>
            <a:pathLst>
              <a:path w="2590800" h="723900">
                <a:moveTo>
                  <a:pt x="76198" y="0"/>
                </a:moveTo>
                <a:lnTo>
                  <a:pt x="2514602" y="0"/>
                </a:lnTo>
                <a:cubicBezTo>
                  <a:pt x="2556657" y="0"/>
                  <a:pt x="2590800" y="34143"/>
                  <a:pt x="2590800" y="76198"/>
                </a:cubicBezTo>
                <a:lnTo>
                  <a:pt x="2590800" y="647702"/>
                </a:lnTo>
                <a:cubicBezTo>
                  <a:pt x="2590800" y="689757"/>
                  <a:pt x="2556657" y="723900"/>
                  <a:pt x="25146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4" name="Shape 42"/>
          <p:cNvSpPr/>
          <p:nvPr/>
        </p:nvSpPr>
        <p:spPr>
          <a:xfrm>
            <a:off x="7548563" y="4867275"/>
            <a:ext cx="200025" cy="228600"/>
          </a:xfrm>
          <a:custGeom>
            <a:avLst/>
            <a:gdLst/>
            <a:ahLst/>
            <a:cxnLst/>
            <a:rect l="l" t="t" r="r" b="b"/>
            <a:pathLst>
              <a:path w="200025" h="228600">
                <a:moveTo>
                  <a:pt x="107737" y="-5804"/>
                </a:moveTo>
                <a:cubicBezTo>
                  <a:pt x="102647" y="-6831"/>
                  <a:pt x="97423" y="-6831"/>
                  <a:pt x="92333" y="-5804"/>
                </a:cubicBezTo>
                <a:lnTo>
                  <a:pt x="8617" y="10939"/>
                </a:lnTo>
                <a:cubicBezTo>
                  <a:pt x="3617" y="11921"/>
                  <a:pt x="0" y="16341"/>
                  <a:pt x="0" y="21431"/>
                </a:cubicBezTo>
                <a:cubicBezTo>
                  <a:pt x="0" y="26030"/>
                  <a:pt x="2902" y="30048"/>
                  <a:pt x="7144" y="31522"/>
                </a:cubicBezTo>
                <a:lnTo>
                  <a:pt x="7144" y="64294"/>
                </a:lnTo>
                <a:lnTo>
                  <a:pt x="134" y="99387"/>
                </a:lnTo>
                <a:cubicBezTo>
                  <a:pt x="45" y="99789"/>
                  <a:pt x="0" y="100236"/>
                  <a:pt x="0" y="100682"/>
                </a:cubicBezTo>
                <a:cubicBezTo>
                  <a:pt x="0" y="104254"/>
                  <a:pt x="2902" y="107201"/>
                  <a:pt x="6519" y="107201"/>
                </a:cubicBezTo>
                <a:lnTo>
                  <a:pt x="22101" y="107201"/>
                </a:lnTo>
                <a:cubicBezTo>
                  <a:pt x="25673" y="107201"/>
                  <a:pt x="28620" y="104299"/>
                  <a:pt x="28620" y="100682"/>
                </a:cubicBezTo>
                <a:cubicBezTo>
                  <a:pt x="28620" y="100236"/>
                  <a:pt x="28575" y="99834"/>
                  <a:pt x="28486" y="99387"/>
                </a:cubicBezTo>
                <a:lnTo>
                  <a:pt x="21431" y="64294"/>
                </a:lnTo>
                <a:lnTo>
                  <a:pt x="21431" y="34513"/>
                </a:lnTo>
                <a:lnTo>
                  <a:pt x="42863" y="38799"/>
                </a:lnTo>
                <a:lnTo>
                  <a:pt x="42863" y="64294"/>
                </a:lnTo>
                <a:cubicBezTo>
                  <a:pt x="42863" y="95860"/>
                  <a:pt x="68446" y="121444"/>
                  <a:pt x="100013" y="121444"/>
                </a:cubicBezTo>
                <a:cubicBezTo>
                  <a:pt x="131579" y="121444"/>
                  <a:pt x="157163" y="95860"/>
                  <a:pt x="157163" y="64294"/>
                </a:cubicBezTo>
                <a:lnTo>
                  <a:pt x="157163" y="38799"/>
                </a:lnTo>
                <a:lnTo>
                  <a:pt x="191408" y="31968"/>
                </a:lnTo>
                <a:cubicBezTo>
                  <a:pt x="196408" y="30941"/>
                  <a:pt x="200025" y="26521"/>
                  <a:pt x="200025" y="21431"/>
                </a:cubicBezTo>
                <a:cubicBezTo>
                  <a:pt x="200025" y="16341"/>
                  <a:pt x="196408" y="11921"/>
                  <a:pt x="191408" y="10939"/>
                </a:cubicBezTo>
                <a:lnTo>
                  <a:pt x="107737" y="-5804"/>
                </a:lnTo>
                <a:close/>
                <a:moveTo>
                  <a:pt x="100013" y="100013"/>
                </a:moveTo>
                <a:cubicBezTo>
                  <a:pt x="80278" y="100013"/>
                  <a:pt x="64294" y="84028"/>
                  <a:pt x="64294" y="64294"/>
                </a:cubicBezTo>
                <a:lnTo>
                  <a:pt x="135731" y="64294"/>
                </a:lnTo>
                <a:cubicBezTo>
                  <a:pt x="135731" y="84028"/>
                  <a:pt x="119747" y="100013"/>
                  <a:pt x="100013" y="100013"/>
                </a:cubicBezTo>
                <a:close/>
                <a:moveTo>
                  <a:pt x="53623" y="142920"/>
                </a:moveTo>
                <a:cubicBezTo>
                  <a:pt x="26209" y="155511"/>
                  <a:pt x="7144" y="183193"/>
                  <a:pt x="7144" y="215339"/>
                </a:cubicBezTo>
                <a:cubicBezTo>
                  <a:pt x="7144" y="222662"/>
                  <a:pt x="13082" y="228600"/>
                  <a:pt x="20404" y="228600"/>
                </a:cubicBezTo>
                <a:lnTo>
                  <a:pt x="89297" y="228600"/>
                </a:lnTo>
                <a:lnTo>
                  <a:pt x="89297" y="163413"/>
                </a:lnTo>
                <a:lnTo>
                  <a:pt x="63669" y="144214"/>
                </a:lnTo>
                <a:cubicBezTo>
                  <a:pt x="60767" y="142027"/>
                  <a:pt x="56882" y="141446"/>
                  <a:pt x="53578" y="142964"/>
                </a:cubicBezTo>
                <a:close/>
                <a:moveTo>
                  <a:pt x="110728" y="228600"/>
                </a:moveTo>
                <a:lnTo>
                  <a:pt x="179621" y="228600"/>
                </a:lnTo>
                <a:cubicBezTo>
                  <a:pt x="186943" y="228600"/>
                  <a:pt x="192881" y="222662"/>
                  <a:pt x="192881" y="215339"/>
                </a:cubicBezTo>
                <a:cubicBezTo>
                  <a:pt x="192881" y="183193"/>
                  <a:pt x="173816" y="155511"/>
                  <a:pt x="146402" y="142964"/>
                </a:cubicBezTo>
                <a:cubicBezTo>
                  <a:pt x="143098" y="141446"/>
                  <a:pt x="139214" y="142027"/>
                  <a:pt x="136312" y="144214"/>
                </a:cubicBezTo>
                <a:lnTo>
                  <a:pt x="110683" y="163413"/>
                </a:lnTo>
                <a:lnTo>
                  <a:pt x="110683" y="228600"/>
                </a:lnTo>
                <a:close/>
              </a:path>
            </a:pathLst>
          </a:custGeom>
          <a:solidFill>
            <a:srgbClr val="3B82F6"/>
          </a:solidFill>
          <a:ln/>
        </p:spPr>
      </p:sp>
      <p:sp>
        <p:nvSpPr>
          <p:cNvPr id="45" name="Text 43"/>
          <p:cNvSpPr/>
          <p:nvPr/>
        </p:nvSpPr>
        <p:spPr>
          <a:xfrm>
            <a:off x="6434138" y="5172075"/>
            <a:ext cx="2428875" cy="190500"/>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Onboarding dev mới</a:t>
            </a:r>
            <a:endParaRPr lang="en-US" sz="1600" dirty="0"/>
          </a:p>
        </p:txBody>
      </p:sp>
      <p:sp>
        <p:nvSpPr>
          <p:cNvPr id="46" name="Shape 44"/>
          <p:cNvSpPr/>
          <p:nvPr/>
        </p:nvSpPr>
        <p:spPr>
          <a:xfrm>
            <a:off x="9058275" y="4752975"/>
            <a:ext cx="2590800" cy="723900"/>
          </a:xfrm>
          <a:custGeom>
            <a:avLst/>
            <a:gdLst/>
            <a:ahLst/>
            <a:cxnLst/>
            <a:rect l="l" t="t" r="r" b="b"/>
            <a:pathLst>
              <a:path w="2590800" h="723900">
                <a:moveTo>
                  <a:pt x="76198" y="0"/>
                </a:moveTo>
                <a:lnTo>
                  <a:pt x="2514602" y="0"/>
                </a:lnTo>
                <a:cubicBezTo>
                  <a:pt x="2556657" y="0"/>
                  <a:pt x="2590800" y="34143"/>
                  <a:pt x="2590800" y="76198"/>
                </a:cubicBezTo>
                <a:lnTo>
                  <a:pt x="2590800" y="647702"/>
                </a:lnTo>
                <a:cubicBezTo>
                  <a:pt x="2590800" y="689757"/>
                  <a:pt x="2556657" y="723900"/>
                  <a:pt x="25146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7" name="Shape 45"/>
          <p:cNvSpPr/>
          <p:nvPr/>
        </p:nvSpPr>
        <p:spPr>
          <a:xfrm>
            <a:off x="10239375" y="4867275"/>
            <a:ext cx="228600" cy="228600"/>
          </a:xfrm>
          <a:custGeom>
            <a:avLst/>
            <a:gdLst/>
            <a:ahLst/>
            <a:cxnLst/>
            <a:rect l="l" t="t" r="r" b="b"/>
            <a:pathLst>
              <a:path w="228600" h="228600">
                <a:moveTo>
                  <a:pt x="114300" y="67866"/>
                </a:moveTo>
                <a:cubicBezTo>
                  <a:pt x="135985" y="67866"/>
                  <a:pt x="153591" y="50260"/>
                  <a:pt x="153591" y="28575"/>
                </a:cubicBezTo>
                <a:cubicBezTo>
                  <a:pt x="153591" y="6890"/>
                  <a:pt x="135985" y="-10716"/>
                  <a:pt x="114300" y="-10716"/>
                </a:cubicBezTo>
                <a:cubicBezTo>
                  <a:pt x="92615" y="-10716"/>
                  <a:pt x="75009" y="6890"/>
                  <a:pt x="75009" y="28575"/>
                </a:cubicBezTo>
                <a:cubicBezTo>
                  <a:pt x="75009" y="50260"/>
                  <a:pt x="92615" y="67866"/>
                  <a:pt x="114300" y="67866"/>
                </a:cubicBezTo>
                <a:close/>
                <a:moveTo>
                  <a:pt x="114300" y="201231"/>
                </a:moveTo>
                <a:lnTo>
                  <a:pt x="114300" y="134570"/>
                </a:lnTo>
                <a:cubicBezTo>
                  <a:pt x="121578" y="131534"/>
                  <a:pt x="128989" y="128454"/>
                  <a:pt x="136490" y="125328"/>
                </a:cubicBezTo>
                <a:cubicBezTo>
                  <a:pt x="153903" y="118095"/>
                  <a:pt x="172566" y="114345"/>
                  <a:pt x="191452" y="114345"/>
                </a:cubicBezTo>
                <a:lnTo>
                  <a:pt x="200025" y="114345"/>
                </a:lnTo>
                <a:lnTo>
                  <a:pt x="200025" y="185782"/>
                </a:lnTo>
                <a:lnTo>
                  <a:pt x="191452" y="185782"/>
                </a:lnTo>
                <a:cubicBezTo>
                  <a:pt x="165065" y="185782"/>
                  <a:pt x="138901" y="191006"/>
                  <a:pt x="114523" y="201186"/>
                </a:cubicBezTo>
                <a:lnTo>
                  <a:pt x="114300" y="201275"/>
                </a:lnTo>
                <a:close/>
                <a:moveTo>
                  <a:pt x="114300" y="103584"/>
                </a:moveTo>
                <a:lnTo>
                  <a:pt x="103093" y="98896"/>
                </a:lnTo>
                <a:cubicBezTo>
                  <a:pt x="82198" y="90190"/>
                  <a:pt x="59784" y="85725"/>
                  <a:pt x="37148" y="85725"/>
                </a:cubicBezTo>
                <a:lnTo>
                  <a:pt x="21431" y="85725"/>
                </a:lnTo>
                <a:cubicBezTo>
                  <a:pt x="9599" y="85725"/>
                  <a:pt x="0" y="95324"/>
                  <a:pt x="0" y="107156"/>
                </a:cubicBezTo>
                <a:lnTo>
                  <a:pt x="0" y="192881"/>
                </a:lnTo>
                <a:cubicBezTo>
                  <a:pt x="0" y="204713"/>
                  <a:pt x="9599" y="214313"/>
                  <a:pt x="21431" y="214313"/>
                </a:cubicBezTo>
                <a:lnTo>
                  <a:pt x="37148" y="214313"/>
                </a:lnTo>
                <a:cubicBezTo>
                  <a:pt x="59784" y="214313"/>
                  <a:pt x="82198" y="218777"/>
                  <a:pt x="103093" y="227484"/>
                </a:cubicBezTo>
                <a:lnTo>
                  <a:pt x="108808" y="229850"/>
                </a:lnTo>
                <a:cubicBezTo>
                  <a:pt x="112335" y="231324"/>
                  <a:pt x="116265" y="231324"/>
                  <a:pt x="119792" y="229850"/>
                </a:cubicBezTo>
                <a:lnTo>
                  <a:pt x="125507" y="227484"/>
                </a:lnTo>
                <a:cubicBezTo>
                  <a:pt x="146402" y="218777"/>
                  <a:pt x="168816" y="214312"/>
                  <a:pt x="191453" y="214312"/>
                </a:cubicBezTo>
                <a:lnTo>
                  <a:pt x="207169" y="214312"/>
                </a:lnTo>
                <a:cubicBezTo>
                  <a:pt x="219001" y="214312"/>
                  <a:pt x="228600" y="204713"/>
                  <a:pt x="228600" y="192881"/>
                </a:cubicBezTo>
                <a:lnTo>
                  <a:pt x="228600" y="107156"/>
                </a:lnTo>
                <a:cubicBezTo>
                  <a:pt x="228600" y="95324"/>
                  <a:pt x="219001" y="85725"/>
                  <a:pt x="207169" y="85725"/>
                </a:cubicBezTo>
                <a:lnTo>
                  <a:pt x="191453" y="85725"/>
                </a:lnTo>
                <a:cubicBezTo>
                  <a:pt x="168816" y="85725"/>
                  <a:pt x="146402" y="90190"/>
                  <a:pt x="125507" y="98896"/>
                </a:cubicBezTo>
                <a:lnTo>
                  <a:pt x="114300" y="103584"/>
                </a:lnTo>
                <a:close/>
              </a:path>
            </a:pathLst>
          </a:custGeom>
          <a:solidFill>
            <a:srgbClr val="8B5CF6"/>
          </a:solidFill>
          <a:ln/>
        </p:spPr>
      </p:sp>
      <p:sp>
        <p:nvSpPr>
          <p:cNvPr id="48" name="Text 46"/>
          <p:cNvSpPr/>
          <p:nvPr/>
        </p:nvSpPr>
        <p:spPr>
          <a:xfrm>
            <a:off x="9139238" y="5172075"/>
            <a:ext cx="2428875" cy="190500"/>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Hiểu code legacy</a:t>
            </a:r>
            <a:endParaRPr lang="en-US" sz="1600" dirty="0"/>
          </a:p>
        </p:txBody>
      </p:sp>
      <p:sp>
        <p:nvSpPr>
          <p:cNvPr id="49" name="Shape 47"/>
          <p:cNvSpPr/>
          <p:nvPr/>
        </p:nvSpPr>
        <p:spPr>
          <a:xfrm>
            <a:off x="6353175" y="5591175"/>
            <a:ext cx="2590800" cy="723900"/>
          </a:xfrm>
          <a:custGeom>
            <a:avLst/>
            <a:gdLst/>
            <a:ahLst/>
            <a:cxnLst/>
            <a:rect l="l" t="t" r="r" b="b"/>
            <a:pathLst>
              <a:path w="2590800" h="723900">
                <a:moveTo>
                  <a:pt x="76198" y="0"/>
                </a:moveTo>
                <a:lnTo>
                  <a:pt x="2514602" y="0"/>
                </a:lnTo>
                <a:cubicBezTo>
                  <a:pt x="2556657" y="0"/>
                  <a:pt x="2590800" y="34143"/>
                  <a:pt x="2590800" y="76198"/>
                </a:cubicBezTo>
                <a:lnTo>
                  <a:pt x="2590800" y="647702"/>
                </a:lnTo>
                <a:cubicBezTo>
                  <a:pt x="2590800" y="689757"/>
                  <a:pt x="2556657" y="723900"/>
                  <a:pt x="25146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50" name="Shape 48"/>
          <p:cNvSpPr/>
          <p:nvPr/>
        </p:nvSpPr>
        <p:spPr>
          <a:xfrm>
            <a:off x="7505700" y="5705475"/>
            <a:ext cx="285750" cy="228600"/>
          </a:xfrm>
          <a:custGeom>
            <a:avLst/>
            <a:gdLst/>
            <a:ahLst/>
            <a:cxnLst/>
            <a:rect l="l" t="t" r="r" b="b"/>
            <a:pathLst>
              <a:path w="285750" h="228600">
                <a:moveTo>
                  <a:pt x="57150" y="42863"/>
                </a:moveTo>
                <a:cubicBezTo>
                  <a:pt x="57150" y="27102"/>
                  <a:pt x="69964" y="14288"/>
                  <a:pt x="85725" y="14288"/>
                </a:cubicBezTo>
                <a:lnTo>
                  <a:pt x="242888" y="14288"/>
                </a:lnTo>
                <a:cubicBezTo>
                  <a:pt x="258648" y="14288"/>
                  <a:pt x="271463" y="27102"/>
                  <a:pt x="271463" y="42863"/>
                </a:cubicBezTo>
                <a:lnTo>
                  <a:pt x="271463" y="150019"/>
                </a:lnTo>
                <a:lnTo>
                  <a:pt x="228600" y="150019"/>
                </a:lnTo>
                <a:lnTo>
                  <a:pt x="228600" y="142875"/>
                </a:lnTo>
                <a:cubicBezTo>
                  <a:pt x="228600" y="134972"/>
                  <a:pt x="222215" y="128588"/>
                  <a:pt x="214313" y="128588"/>
                </a:cubicBezTo>
                <a:lnTo>
                  <a:pt x="185738" y="128588"/>
                </a:lnTo>
                <a:cubicBezTo>
                  <a:pt x="177835" y="128588"/>
                  <a:pt x="171450" y="134972"/>
                  <a:pt x="171450" y="142875"/>
                </a:cubicBezTo>
                <a:lnTo>
                  <a:pt x="171450" y="150019"/>
                </a:lnTo>
                <a:lnTo>
                  <a:pt x="113809" y="150019"/>
                </a:lnTo>
                <a:cubicBezTo>
                  <a:pt x="118676" y="141625"/>
                  <a:pt x="121444" y="131847"/>
                  <a:pt x="121444" y="121444"/>
                </a:cubicBezTo>
                <a:cubicBezTo>
                  <a:pt x="121444" y="89877"/>
                  <a:pt x="95860" y="64294"/>
                  <a:pt x="64294" y="64294"/>
                </a:cubicBezTo>
                <a:cubicBezTo>
                  <a:pt x="61883" y="64294"/>
                  <a:pt x="59472" y="64428"/>
                  <a:pt x="57150" y="64740"/>
                </a:cubicBezTo>
                <a:lnTo>
                  <a:pt x="57150" y="42863"/>
                </a:lnTo>
                <a:close/>
                <a:moveTo>
                  <a:pt x="148679" y="200025"/>
                </a:moveTo>
                <a:cubicBezTo>
                  <a:pt x="146402" y="189220"/>
                  <a:pt x="141402" y="179442"/>
                  <a:pt x="134347" y="171450"/>
                </a:cubicBezTo>
                <a:lnTo>
                  <a:pt x="271463" y="171450"/>
                </a:lnTo>
                <a:cubicBezTo>
                  <a:pt x="271463" y="187211"/>
                  <a:pt x="258648" y="200025"/>
                  <a:pt x="242888" y="200025"/>
                </a:cubicBezTo>
                <a:lnTo>
                  <a:pt x="148679" y="200025"/>
                </a:lnTo>
                <a:close/>
                <a:moveTo>
                  <a:pt x="28575" y="121444"/>
                </a:moveTo>
                <a:cubicBezTo>
                  <a:pt x="28575" y="101730"/>
                  <a:pt x="44580" y="85725"/>
                  <a:pt x="64294" y="85725"/>
                </a:cubicBezTo>
                <a:cubicBezTo>
                  <a:pt x="84007" y="85725"/>
                  <a:pt x="100013" y="101730"/>
                  <a:pt x="100013" y="121444"/>
                </a:cubicBezTo>
                <a:cubicBezTo>
                  <a:pt x="100013" y="141157"/>
                  <a:pt x="84007" y="157163"/>
                  <a:pt x="64294" y="157163"/>
                </a:cubicBezTo>
                <a:cubicBezTo>
                  <a:pt x="44580" y="157163"/>
                  <a:pt x="28575" y="141157"/>
                  <a:pt x="28575" y="121444"/>
                </a:cubicBezTo>
                <a:close/>
                <a:moveTo>
                  <a:pt x="0" y="214313"/>
                </a:moveTo>
                <a:cubicBezTo>
                  <a:pt x="0" y="190649"/>
                  <a:pt x="19199" y="171450"/>
                  <a:pt x="42863" y="171450"/>
                </a:cubicBezTo>
                <a:lnTo>
                  <a:pt x="85725" y="171450"/>
                </a:lnTo>
                <a:cubicBezTo>
                  <a:pt x="109389" y="171450"/>
                  <a:pt x="128588" y="190649"/>
                  <a:pt x="128588" y="214313"/>
                </a:cubicBezTo>
                <a:cubicBezTo>
                  <a:pt x="128588" y="222215"/>
                  <a:pt x="122203" y="228600"/>
                  <a:pt x="114300" y="228600"/>
                </a:cubicBezTo>
                <a:lnTo>
                  <a:pt x="14288" y="228600"/>
                </a:lnTo>
                <a:cubicBezTo>
                  <a:pt x="6385" y="228600"/>
                  <a:pt x="0" y="222215"/>
                  <a:pt x="0" y="214313"/>
                </a:cubicBezTo>
                <a:close/>
              </a:path>
            </a:pathLst>
          </a:custGeom>
          <a:solidFill>
            <a:srgbClr val="10B981"/>
          </a:solidFill>
          <a:ln/>
        </p:spPr>
      </p:sp>
      <p:sp>
        <p:nvSpPr>
          <p:cNvPr id="51" name="Text 49"/>
          <p:cNvSpPr/>
          <p:nvPr/>
        </p:nvSpPr>
        <p:spPr>
          <a:xfrm>
            <a:off x="6434138" y="6010275"/>
            <a:ext cx="2428875" cy="190500"/>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Tạo tài liệu đào tạo</a:t>
            </a:r>
            <a:endParaRPr lang="en-US" sz="1600" dirty="0"/>
          </a:p>
        </p:txBody>
      </p:sp>
      <p:sp>
        <p:nvSpPr>
          <p:cNvPr id="52" name="Shape 50"/>
          <p:cNvSpPr/>
          <p:nvPr/>
        </p:nvSpPr>
        <p:spPr>
          <a:xfrm>
            <a:off x="9058275" y="5591175"/>
            <a:ext cx="2590800" cy="723900"/>
          </a:xfrm>
          <a:custGeom>
            <a:avLst/>
            <a:gdLst/>
            <a:ahLst/>
            <a:cxnLst/>
            <a:rect l="l" t="t" r="r" b="b"/>
            <a:pathLst>
              <a:path w="2590800" h="723900">
                <a:moveTo>
                  <a:pt x="76198" y="0"/>
                </a:moveTo>
                <a:lnTo>
                  <a:pt x="2514602" y="0"/>
                </a:lnTo>
                <a:cubicBezTo>
                  <a:pt x="2556657" y="0"/>
                  <a:pt x="2590800" y="34143"/>
                  <a:pt x="2590800" y="76198"/>
                </a:cubicBezTo>
                <a:lnTo>
                  <a:pt x="2590800" y="647702"/>
                </a:lnTo>
                <a:cubicBezTo>
                  <a:pt x="2590800" y="689757"/>
                  <a:pt x="2556657" y="723900"/>
                  <a:pt x="25146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53" name="Shape 51"/>
          <p:cNvSpPr/>
          <p:nvPr/>
        </p:nvSpPr>
        <p:spPr>
          <a:xfrm>
            <a:off x="10225088" y="5705475"/>
            <a:ext cx="257175" cy="228600"/>
          </a:xfrm>
          <a:custGeom>
            <a:avLst/>
            <a:gdLst/>
            <a:ahLst/>
            <a:cxnLst/>
            <a:rect l="l" t="t" r="r" b="b"/>
            <a:pathLst>
              <a:path w="257175" h="228600">
                <a:moveTo>
                  <a:pt x="171450" y="64294"/>
                </a:moveTo>
                <a:cubicBezTo>
                  <a:pt x="171450" y="107692"/>
                  <a:pt x="133052" y="142875"/>
                  <a:pt x="85725" y="142875"/>
                </a:cubicBezTo>
                <a:cubicBezTo>
                  <a:pt x="73804" y="142875"/>
                  <a:pt x="62463" y="140643"/>
                  <a:pt x="52149" y="136624"/>
                </a:cubicBezTo>
                <a:lnTo>
                  <a:pt x="15716" y="155912"/>
                </a:lnTo>
                <a:cubicBezTo>
                  <a:pt x="11564" y="158100"/>
                  <a:pt x="6474" y="157341"/>
                  <a:pt x="3125" y="154037"/>
                </a:cubicBezTo>
                <a:cubicBezTo>
                  <a:pt x="-223" y="150733"/>
                  <a:pt x="-982" y="145599"/>
                  <a:pt x="1250" y="141446"/>
                </a:cubicBezTo>
                <a:lnTo>
                  <a:pt x="17145" y="111443"/>
                </a:lnTo>
                <a:cubicBezTo>
                  <a:pt x="6385" y="98316"/>
                  <a:pt x="0" y="81975"/>
                  <a:pt x="0" y="64294"/>
                </a:cubicBezTo>
                <a:cubicBezTo>
                  <a:pt x="0" y="20895"/>
                  <a:pt x="38398" y="-14287"/>
                  <a:pt x="85725" y="-14287"/>
                </a:cubicBezTo>
                <a:cubicBezTo>
                  <a:pt x="133052" y="-14287"/>
                  <a:pt x="171450" y="20895"/>
                  <a:pt x="171450" y="64294"/>
                </a:cubicBezTo>
                <a:close/>
                <a:moveTo>
                  <a:pt x="171450" y="228600"/>
                </a:moveTo>
                <a:cubicBezTo>
                  <a:pt x="129436" y="228600"/>
                  <a:pt x="94476" y="200873"/>
                  <a:pt x="87154" y="164306"/>
                </a:cubicBezTo>
                <a:cubicBezTo>
                  <a:pt x="140732" y="163637"/>
                  <a:pt x="187300" y="125507"/>
                  <a:pt x="192435" y="73804"/>
                </a:cubicBezTo>
                <a:cubicBezTo>
                  <a:pt x="229627" y="82376"/>
                  <a:pt x="257175" y="113228"/>
                  <a:pt x="257175" y="150019"/>
                </a:cubicBezTo>
                <a:cubicBezTo>
                  <a:pt x="257175" y="167700"/>
                  <a:pt x="250790" y="184041"/>
                  <a:pt x="240030" y="197168"/>
                </a:cubicBezTo>
                <a:lnTo>
                  <a:pt x="255925" y="227171"/>
                </a:lnTo>
                <a:cubicBezTo>
                  <a:pt x="258113" y="231324"/>
                  <a:pt x="257354" y="236413"/>
                  <a:pt x="254050" y="239762"/>
                </a:cubicBezTo>
                <a:cubicBezTo>
                  <a:pt x="250746" y="243111"/>
                  <a:pt x="245611" y="243870"/>
                  <a:pt x="241459" y="241637"/>
                </a:cubicBezTo>
                <a:lnTo>
                  <a:pt x="205026" y="222349"/>
                </a:lnTo>
                <a:cubicBezTo>
                  <a:pt x="194712" y="226368"/>
                  <a:pt x="183371" y="228600"/>
                  <a:pt x="171450" y="228600"/>
                </a:cubicBezTo>
                <a:close/>
              </a:path>
            </a:pathLst>
          </a:custGeom>
          <a:solidFill>
            <a:srgbClr val="F59E0B"/>
          </a:solidFill>
          <a:ln/>
        </p:spPr>
      </p:sp>
      <p:sp>
        <p:nvSpPr>
          <p:cNvPr id="54" name="Text 52"/>
          <p:cNvSpPr/>
          <p:nvPr/>
        </p:nvSpPr>
        <p:spPr>
          <a:xfrm>
            <a:off x="9139238" y="6010275"/>
            <a:ext cx="2428875" cy="190500"/>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Giải thích cho PM</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509587" y="561975"/>
            <a:ext cx="128588" cy="171450"/>
          </a:xfrm>
          <a:custGeom>
            <a:avLst/>
            <a:gdLst/>
            <a:ahLst/>
            <a:cxnLst/>
            <a:rect l="l" t="t" r="r" b="b"/>
            <a:pathLst>
              <a:path w="128588" h="171450">
                <a:moveTo>
                  <a:pt x="0" y="21431"/>
                </a:moveTo>
                <a:cubicBezTo>
                  <a:pt x="0" y="9611"/>
                  <a:pt x="9611" y="0"/>
                  <a:pt x="21431" y="0"/>
                </a:cubicBezTo>
                <a:lnTo>
                  <a:pt x="71493" y="0"/>
                </a:lnTo>
                <a:cubicBezTo>
                  <a:pt x="77186" y="0"/>
                  <a:pt x="82644" y="2244"/>
                  <a:pt x="86663" y="6262"/>
                </a:cubicBezTo>
                <a:lnTo>
                  <a:pt x="122326" y="41958"/>
                </a:lnTo>
                <a:cubicBezTo>
                  <a:pt x="126344" y="45977"/>
                  <a:pt x="128588" y="51435"/>
                  <a:pt x="128588" y="57128"/>
                </a:cubicBezTo>
                <a:lnTo>
                  <a:pt x="128588" y="150019"/>
                </a:lnTo>
                <a:cubicBezTo>
                  <a:pt x="128588" y="161839"/>
                  <a:pt x="118977" y="171450"/>
                  <a:pt x="107156" y="171450"/>
                </a:cubicBezTo>
                <a:lnTo>
                  <a:pt x="21431" y="171450"/>
                </a:lnTo>
                <a:cubicBezTo>
                  <a:pt x="9611" y="171450"/>
                  <a:pt x="0" y="161839"/>
                  <a:pt x="0" y="150019"/>
                </a:cubicBezTo>
                <a:lnTo>
                  <a:pt x="0" y="21431"/>
                </a:lnTo>
                <a:close/>
                <a:moveTo>
                  <a:pt x="69652" y="19590"/>
                </a:moveTo>
                <a:lnTo>
                  <a:pt x="69652" y="50899"/>
                </a:lnTo>
                <a:cubicBezTo>
                  <a:pt x="69652" y="55353"/>
                  <a:pt x="73235" y="58936"/>
                  <a:pt x="77688" y="58936"/>
                </a:cubicBezTo>
                <a:lnTo>
                  <a:pt x="108998" y="58936"/>
                </a:lnTo>
                <a:lnTo>
                  <a:pt x="69652" y="19590"/>
                </a:lnTo>
                <a:close/>
                <a:moveTo>
                  <a:pt x="51636" y="98986"/>
                </a:moveTo>
                <a:cubicBezTo>
                  <a:pt x="54516" y="95603"/>
                  <a:pt x="54147" y="90547"/>
                  <a:pt x="50765" y="87667"/>
                </a:cubicBezTo>
                <a:cubicBezTo>
                  <a:pt x="47383" y="84787"/>
                  <a:pt x="42327" y="85156"/>
                  <a:pt x="39447" y="88538"/>
                </a:cubicBezTo>
                <a:lnTo>
                  <a:pt x="23373" y="107290"/>
                </a:lnTo>
                <a:cubicBezTo>
                  <a:pt x="20795" y="110304"/>
                  <a:pt x="20795" y="114724"/>
                  <a:pt x="23373" y="117738"/>
                </a:cubicBezTo>
                <a:lnTo>
                  <a:pt x="39447" y="136490"/>
                </a:lnTo>
                <a:cubicBezTo>
                  <a:pt x="42327" y="139872"/>
                  <a:pt x="47417" y="140241"/>
                  <a:pt x="50765" y="137361"/>
                </a:cubicBezTo>
                <a:cubicBezTo>
                  <a:pt x="54114" y="134481"/>
                  <a:pt x="54516" y="129391"/>
                  <a:pt x="51636" y="126043"/>
                </a:cubicBezTo>
                <a:lnTo>
                  <a:pt x="40050" y="112514"/>
                </a:lnTo>
                <a:lnTo>
                  <a:pt x="51636" y="98986"/>
                </a:lnTo>
                <a:close/>
                <a:moveTo>
                  <a:pt x="89141" y="88538"/>
                </a:moveTo>
                <a:cubicBezTo>
                  <a:pt x="86261" y="85156"/>
                  <a:pt x="81171" y="84787"/>
                  <a:pt x="77822" y="87667"/>
                </a:cubicBezTo>
                <a:cubicBezTo>
                  <a:pt x="74474" y="90547"/>
                  <a:pt x="74072" y="95637"/>
                  <a:pt x="76952" y="98986"/>
                </a:cubicBezTo>
                <a:lnTo>
                  <a:pt x="88538" y="112514"/>
                </a:lnTo>
                <a:lnTo>
                  <a:pt x="76952" y="126043"/>
                </a:lnTo>
                <a:cubicBezTo>
                  <a:pt x="74072" y="129425"/>
                  <a:pt x="74440" y="134481"/>
                  <a:pt x="77822" y="137361"/>
                </a:cubicBezTo>
                <a:cubicBezTo>
                  <a:pt x="81204" y="140241"/>
                  <a:pt x="86261" y="139872"/>
                  <a:pt x="89141" y="136490"/>
                </a:cubicBezTo>
                <a:lnTo>
                  <a:pt x="105214" y="117738"/>
                </a:lnTo>
                <a:cubicBezTo>
                  <a:pt x="107792" y="114724"/>
                  <a:pt x="107792" y="110304"/>
                  <a:pt x="105214" y="107290"/>
                </a:cubicBezTo>
                <a:lnTo>
                  <a:pt x="89141" y="88538"/>
                </a:lnTo>
                <a:close/>
              </a:path>
            </a:pathLst>
          </a:custGeom>
          <a:solidFill>
            <a:srgbClr val="FFFFFF"/>
          </a:solidFill>
          <a:ln/>
        </p:spPr>
      </p:sp>
      <p:sp>
        <p:nvSpPr>
          <p:cNvPr id="4" name="Text 2"/>
          <p:cNvSpPr/>
          <p:nvPr/>
        </p:nvSpPr>
        <p:spPr>
          <a:xfrm>
            <a:off x="876300" y="381000"/>
            <a:ext cx="6819900"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12 | MỨC VẬT LÝ</a:t>
            </a:r>
            <a:endParaRPr lang="en-US" sz="1600" dirty="0"/>
          </a:p>
        </p:txBody>
      </p:sp>
      <p:sp>
        <p:nvSpPr>
          <p:cNvPr id="5" name="Text 3"/>
          <p:cNvSpPr/>
          <p:nvPr/>
        </p:nvSpPr>
        <p:spPr>
          <a:xfrm>
            <a:off x="876300" y="571500"/>
            <a:ext cx="68961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Lab 12.2: Tự động tạo Docstring theo chuẩn Google</a:t>
            </a:r>
            <a:endParaRPr lang="en-US" sz="1600" dirty="0"/>
          </a:p>
        </p:txBody>
      </p:sp>
      <p:sp>
        <p:nvSpPr>
          <p:cNvPr id="6" name="Shape 4"/>
          <p:cNvSpPr/>
          <p:nvPr/>
        </p:nvSpPr>
        <p:spPr>
          <a:xfrm>
            <a:off x="385763" y="1147763"/>
            <a:ext cx="5610225" cy="2686050"/>
          </a:xfrm>
          <a:custGeom>
            <a:avLst/>
            <a:gdLst/>
            <a:ahLst/>
            <a:cxnLst/>
            <a:rect l="l" t="t" r="r" b="b"/>
            <a:pathLst>
              <a:path w="5610225" h="2686050">
                <a:moveTo>
                  <a:pt x="114291" y="0"/>
                </a:moveTo>
                <a:lnTo>
                  <a:pt x="5495934" y="0"/>
                </a:lnTo>
                <a:cubicBezTo>
                  <a:pt x="5559055" y="0"/>
                  <a:pt x="5610225" y="51170"/>
                  <a:pt x="5610225" y="114291"/>
                </a:cubicBezTo>
                <a:lnTo>
                  <a:pt x="5610225" y="2571759"/>
                </a:lnTo>
                <a:cubicBezTo>
                  <a:pt x="5610225" y="2634880"/>
                  <a:pt x="5559055" y="2686050"/>
                  <a:pt x="5495934" y="2686050"/>
                </a:cubicBezTo>
                <a:lnTo>
                  <a:pt x="114291" y="2686050"/>
                </a:lnTo>
                <a:cubicBezTo>
                  <a:pt x="51170" y="2686050"/>
                  <a:pt x="0" y="2634880"/>
                  <a:pt x="0" y="2571759"/>
                </a:cubicBezTo>
                <a:lnTo>
                  <a:pt x="0" y="114291"/>
                </a:lnTo>
                <a:cubicBezTo>
                  <a:pt x="0" y="51212"/>
                  <a:pt x="51212" y="0"/>
                  <a:pt x="114291"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3497" y="44128"/>
                </a:moveTo>
                <a:cubicBezTo>
                  <a:pt x="-1153" y="39477"/>
                  <a:pt x="-1153" y="31924"/>
                  <a:pt x="3497" y="27273"/>
                </a:cubicBezTo>
                <a:cubicBezTo>
                  <a:pt x="8148" y="22622"/>
                  <a:pt x="15701" y="22622"/>
                  <a:pt x="20352" y="27273"/>
                </a:cubicBezTo>
                <a:lnTo>
                  <a:pt x="79883" y="86804"/>
                </a:lnTo>
                <a:cubicBezTo>
                  <a:pt x="84534" y="91455"/>
                  <a:pt x="84534" y="99008"/>
                  <a:pt x="79883" y="103659"/>
                </a:cubicBezTo>
                <a:lnTo>
                  <a:pt x="20352" y="163190"/>
                </a:lnTo>
                <a:cubicBezTo>
                  <a:pt x="15701" y="167841"/>
                  <a:pt x="8148" y="167841"/>
                  <a:pt x="3497" y="163190"/>
                </a:cubicBezTo>
                <a:cubicBezTo>
                  <a:pt x="-1153" y="158539"/>
                  <a:pt x="-1153" y="150986"/>
                  <a:pt x="3497" y="146335"/>
                </a:cubicBezTo>
                <a:lnTo>
                  <a:pt x="54583" y="95250"/>
                </a:lnTo>
                <a:lnTo>
                  <a:pt x="3497" y="44128"/>
                </a:lnTo>
                <a:close/>
                <a:moveTo>
                  <a:pt x="83344" y="142875"/>
                </a:moveTo>
                <a:lnTo>
                  <a:pt x="178594" y="142875"/>
                </a:lnTo>
                <a:cubicBezTo>
                  <a:pt x="185179" y="142875"/>
                  <a:pt x="190500" y="148196"/>
                  <a:pt x="190500" y="154781"/>
                </a:cubicBezTo>
                <a:cubicBezTo>
                  <a:pt x="190500" y="161367"/>
                  <a:pt x="185179" y="166688"/>
                  <a:pt x="178594" y="166688"/>
                </a:cubicBezTo>
                <a:lnTo>
                  <a:pt x="83344" y="166688"/>
                </a:lnTo>
                <a:cubicBezTo>
                  <a:pt x="76758" y="166688"/>
                  <a:pt x="71438" y="161367"/>
                  <a:pt x="71438" y="154781"/>
                </a:cubicBezTo>
                <a:cubicBezTo>
                  <a:pt x="71438" y="148196"/>
                  <a:pt x="76758" y="142875"/>
                  <a:pt x="83344" y="142875"/>
                </a:cubicBezTo>
                <a:close/>
              </a:path>
            </a:pathLst>
          </a:custGeom>
          <a:solidFill>
            <a:srgbClr val="8B5C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MiSans" pitchFamily="34" charset="0"/>
                <a:ea typeface="MiSans" pitchFamily="34" charset="-122"/>
                <a:cs typeface="MiSans" pitchFamily="34" charset="-120"/>
              </a:rPr>
              <a:t>Thao tác thực hiện</a:t>
            </a:r>
            <a:endParaRPr lang="en-US" sz="1600" dirty="0"/>
          </a:p>
        </p:txBody>
      </p:sp>
      <p:sp>
        <p:nvSpPr>
          <p:cNvPr id="9" name="Shape 7"/>
          <p:cNvSpPr/>
          <p:nvPr/>
        </p:nvSpPr>
        <p:spPr>
          <a:xfrm>
            <a:off x="581025" y="17621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solidFill>
          <a:ln/>
        </p:spPr>
      </p:sp>
      <p:sp>
        <p:nvSpPr>
          <p:cNvPr id="10" name="Text 8"/>
          <p:cNvSpPr/>
          <p:nvPr/>
        </p:nvSpPr>
        <p:spPr>
          <a:xfrm>
            <a:off x="542925" y="1762125"/>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1000125" y="1762125"/>
            <a:ext cx="19335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Đặt con trỏ tại hàm</a:t>
            </a:r>
            <a:endParaRPr lang="en-US" sz="1600" dirty="0"/>
          </a:p>
        </p:txBody>
      </p:sp>
      <p:sp>
        <p:nvSpPr>
          <p:cNvPr id="12" name="Text 10"/>
          <p:cNvSpPr/>
          <p:nvPr/>
        </p:nvSpPr>
        <p:spPr>
          <a:xfrm>
            <a:off x="1000125" y="2028825"/>
            <a:ext cx="1924050" cy="200025"/>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Ví dụ: </a:t>
            </a:r>
            <a:pPr>
              <a:lnSpc>
                <a:spcPct val="120000"/>
              </a:lnSpc>
            </a:pPr>
            <a:r>
              <a:rPr lang="en-US" sz="1050" dirty="0">
                <a:solidFill>
                  <a:srgbClr val="8B5CF6"/>
                </a:solidFill>
                <a:highlight>
                  <a:srgbClr val="0F172A">
                    <a:alpha val="100000"/>
                  </a:srgbClr>
                </a:highlight>
                <a:latin typeface="MiSans" pitchFamily="34" charset="0"/>
                <a:ea typeface="MiSans" pitchFamily="34" charset="-122"/>
                <a:cs typeface="MiSans" pitchFamily="34" charset="-120"/>
              </a:rPr>
              <a:t>get_euclidean_dist</a:t>
            </a:r>
            <a:endParaRPr lang="en-US" sz="1600" dirty="0"/>
          </a:p>
        </p:txBody>
      </p:sp>
      <p:sp>
        <p:nvSpPr>
          <p:cNvPr id="13" name="Shape 11"/>
          <p:cNvSpPr/>
          <p:nvPr/>
        </p:nvSpPr>
        <p:spPr>
          <a:xfrm>
            <a:off x="581025" y="23431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solidFill>
          <a:ln/>
        </p:spPr>
      </p:sp>
      <p:sp>
        <p:nvSpPr>
          <p:cNvPr id="14" name="Text 12"/>
          <p:cNvSpPr/>
          <p:nvPr/>
        </p:nvSpPr>
        <p:spPr>
          <a:xfrm>
            <a:off x="542925" y="2343150"/>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2</a:t>
            </a:r>
            <a:endParaRPr lang="en-US" sz="1600" dirty="0"/>
          </a:p>
        </p:txBody>
      </p:sp>
      <p:sp>
        <p:nvSpPr>
          <p:cNvPr id="15" name="Text 13"/>
          <p:cNvSpPr/>
          <p:nvPr/>
        </p:nvSpPr>
        <p:spPr>
          <a:xfrm>
            <a:off x="1000125" y="2343150"/>
            <a:ext cx="11715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Mở Inline Chat</a:t>
            </a:r>
            <a:endParaRPr lang="en-US" sz="1600" dirty="0"/>
          </a:p>
        </p:txBody>
      </p:sp>
      <p:sp>
        <p:nvSpPr>
          <p:cNvPr id="16" name="Text 14"/>
          <p:cNvSpPr/>
          <p:nvPr/>
        </p:nvSpPr>
        <p:spPr>
          <a:xfrm>
            <a:off x="1000125" y="2609850"/>
            <a:ext cx="11620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Ctrl+I hoặc Ctrl+K</a:t>
            </a:r>
            <a:endParaRPr lang="en-US" sz="1600" dirty="0"/>
          </a:p>
        </p:txBody>
      </p:sp>
      <p:sp>
        <p:nvSpPr>
          <p:cNvPr id="17" name="Shape 15"/>
          <p:cNvSpPr/>
          <p:nvPr/>
        </p:nvSpPr>
        <p:spPr>
          <a:xfrm>
            <a:off x="581025" y="291465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solidFill>
          <a:ln/>
        </p:spPr>
      </p:sp>
      <p:sp>
        <p:nvSpPr>
          <p:cNvPr id="18" name="Text 16"/>
          <p:cNvSpPr/>
          <p:nvPr/>
        </p:nvSpPr>
        <p:spPr>
          <a:xfrm>
            <a:off x="542925" y="2914650"/>
            <a:ext cx="381000" cy="3048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1000125" y="2914650"/>
            <a:ext cx="146685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Nhập prompt</a:t>
            </a:r>
            <a:endParaRPr lang="en-US" sz="1600" dirty="0"/>
          </a:p>
        </p:txBody>
      </p:sp>
      <p:sp>
        <p:nvSpPr>
          <p:cNvPr id="20" name="Shape 18"/>
          <p:cNvSpPr/>
          <p:nvPr/>
        </p:nvSpPr>
        <p:spPr>
          <a:xfrm>
            <a:off x="1000125" y="3219450"/>
            <a:ext cx="1390650" cy="419100"/>
          </a:xfrm>
          <a:custGeom>
            <a:avLst/>
            <a:gdLst/>
            <a:ahLst/>
            <a:cxnLst/>
            <a:rect l="l" t="t" r="r" b="b"/>
            <a:pathLst>
              <a:path w="1390650" h="419100">
                <a:moveTo>
                  <a:pt x="76201" y="0"/>
                </a:moveTo>
                <a:lnTo>
                  <a:pt x="1314449" y="0"/>
                </a:lnTo>
                <a:cubicBezTo>
                  <a:pt x="1356534" y="0"/>
                  <a:pt x="1390650" y="34116"/>
                  <a:pt x="1390650" y="76201"/>
                </a:cubicBezTo>
                <a:lnTo>
                  <a:pt x="1390650" y="342899"/>
                </a:lnTo>
                <a:cubicBezTo>
                  <a:pt x="1390650" y="384984"/>
                  <a:pt x="1356534" y="419100"/>
                  <a:pt x="1314449" y="419100"/>
                </a:cubicBezTo>
                <a:lnTo>
                  <a:pt x="76201" y="419100"/>
                </a:lnTo>
                <a:cubicBezTo>
                  <a:pt x="34116" y="419100"/>
                  <a:pt x="0" y="384984"/>
                  <a:pt x="0" y="342899"/>
                </a:cubicBezTo>
                <a:lnTo>
                  <a:pt x="0" y="76201"/>
                </a:lnTo>
                <a:cubicBezTo>
                  <a:pt x="0" y="34144"/>
                  <a:pt x="34144" y="0"/>
                  <a:pt x="76201" y="0"/>
                </a:cubicBezTo>
                <a:close/>
              </a:path>
            </a:pathLst>
          </a:custGeom>
          <a:solidFill>
            <a:srgbClr val="1E293B"/>
          </a:solidFill>
          <a:ln/>
        </p:spPr>
      </p:sp>
      <p:sp>
        <p:nvSpPr>
          <p:cNvPr id="21" name="Text 19"/>
          <p:cNvSpPr/>
          <p:nvPr/>
        </p:nvSpPr>
        <p:spPr>
          <a:xfrm>
            <a:off x="1114425" y="3352800"/>
            <a:ext cx="334268"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/doc</a:t>
            </a:r>
            <a:endParaRPr lang="en-US" sz="1600" dirty="0"/>
          </a:p>
        </p:txBody>
      </p:sp>
      <p:sp>
        <p:nvSpPr>
          <p:cNvPr id="22" name="Text 20"/>
          <p:cNvSpPr/>
          <p:nvPr/>
        </p:nvSpPr>
        <p:spPr>
          <a:xfrm>
            <a:off x="1454944" y="3352800"/>
            <a:ext cx="87897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Google style</a:t>
            </a:r>
            <a:endParaRPr lang="en-US" sz="1600" dirty="0"/>
          </a:p>
        </p:txBody>
      </p:sp>
      <p:sp>
        <p:nvSpPr>
          <p:cNvPr id="23" name="Shape 21"/>
          <p:cNvSpPr/>
          <p:nvPr/>
        </p:nvSpPr>
        <p:spPr>
          <a:xfrm>
            <a:off x="385763" y="3990975"/>
            <a:ext cx="5610225" cy="1485900"/>
          </a:xfrm>
          <a:custGeom>
            <a:avLst/>
            <a:gdLst/>
            <a:ahLst/>
            <a:cxnLst/>
            <a:rect l="l" t="t" r="r" b="b"/>
            <a:pathLst>
              <a:path w="5610225" h="1485900">
                <a:moveTo>
                  <a:pt x="114295" y="0"/>
                </a:moveTo>
                <a:lnTo>
                  <a:pt x="5495930" y="0"/>
                </a:lnTo>
                <a:cubicBezTo>
                  <a:pt x="5559011" y="0"/>
                  <a:pt x="5610225" y="51214"/>
                  <a:pt x="5610225" y="114295"/>
                </a:cubicBezTo>
                <a:lnTo>
                  <a:pt x="5610225" y="1371605"/>
                </a:lnTo>
                <a:cubicBezTo>
                  <a:pt x="5610225" y="1434686"/>
                  <a:pt x="5559011" y="1485900"/>
                  <a:pt x="5495930" y="1485900"/>
                </a:cubicBezTo>
                <a:lnTo>
                  <a:pt x="114295" y="1485900"/>
                </a:lnTo>
                <a:cubicBezTo>
                  <a:pt x="51214" y="1485900"/>
                  <a:pt x="0" y="1434686"/>
                  <a:pt x="0" y="1371605"/>
                </a:cubicBezTo>
                <a:lnTo>
                  <a:pt x="0" y="114295"/>
                </a:lnTo>
                <a:cubicBezTo>
                  <a:pt x="0" y="51214"/>
                  <a:pt x="51214" y="0"/>
                  <a:pt x="114295" y="0"/>
                </a:cubicBezTo>
                <a:close/>
              </a:path>
            </a:pathLst>
          </a:custGeom>
          <a:solidFill>
            <a:srgbClr val="0F172A"/>
          </a:solidFill>
          <a:ln w="12700">
            <a:solidFill>
              <a:srgbClr val="3B82F6">
                <a:alpha val="30196"/>
              </a:srgbClr>
            </a:solidFill>
            <a:prstDash val="solid"/>
          </a:ln>
        </p:spPr>
      </p:sp>
      <p:sp>
        <p:nvSpPr>
          <p:cNvPr id="24" name="Shape 22"/>
          <p:cNvSpPr/>
          <p:nvPr/>
        </p:nvSpPr>
        <p:spPr>
          <a:xfrm>
            <a:off x="556022" y="4195763"/>
            <a:ext cx="192881" cy="171450"/>
          </a:xfrm>
          <a:custGeom>
            <a:avLst/>
            <a:gdLst/>
            <a:ahLst/>
            <a:cxnLst/>
            <a:rect l="l" t="t" r="r" b="b"/>
            <a:pathLst>
              <a:path w="192881" h="171450">
                <a:moveTo>
                  <a:pt x="120819" y="402"/>
                </a:moveTo>
                <a:cubicBezTo>
                  <a:pt x="115126" y="-1239"/>
                  <a:pt x="109199" y="2076"/>
                  <a:pt x="107558" y="7769"/>
                </a:cubicBezTo>
                <a:lnTo>
                  <a:pt x="64696" y="157788"/>
                </a:lnTo>
                <a:cubicBezTo>
                  <a:pt x="63055" y="163480"/>
                  <a:pt x="66370" y="169407"/>
                  <a:pt x="72063" y="171048"/>
                </a:cubicBezTo>
                <a:cubicBezTo>
                  <a:pt x="77755" y="172689"/>
                  <a:pt x="83682" y="169374"/>
                  <a:pt x="85323" y="163681"/>
                </a:cubicBezTo>
                <a:lnTo>
                  <a:pt x="128186" y="13662"/>
                </a:lnTo>
                <a:cubicBezTo>
                  <a:pt x="129826" y="7970"/>
                  <a:pt x="126511" y="2043"/>
                  <a:pt x="120819" y="402"/>
                </a:cubicBezTo>
                <a:close/>
                <a:moveTo>
                  <a:pt x="142451" y="45977"/>
                </a:moveTo>
                <a:cubicBezTo>
                  <a:pt x="138265" y="50163"/>
                  <a:pt x="138265" y="56960"/>
                  <a:pt x="142451" y="61146"/>
                </a:cubicBezTo>
                <a:lnTo>
                  <a:pt x="167030" y="85725"/>
                </a:lnTo>
                <a:lnTo>
                  <a:pt x="142451" y="110304"/>
                </a:lnTo>
                <a:cubicBezTo>
                  <a:pt x="138265" y="114490"/>
                  <a:pt x="138265" y="121287"/>
                  <a:pt x="142451" y="125473"/>
                </a:cubicBezTo>
                <a:cubicBezTo>
                  <a:pt x="146637" y="129659"/>
                  <a:pt x="153434" y="129659"/>
                  <a:pt x="157620" y="125473"/>
                </a:cubicBezTo>
                <a:lnTo>
                  <a:pt x="189767" y="93326"/>
                </a:lnTo>
                <a:cubicBezTo>
                  <a:pt x="193953" y="89141"/>
                  <a:pt x="193953" y="82343"/>
                  <a:pt x="189767" y="78157"/>
                </a:cubicBezTo>
                <a:lnTo>
                  <a:pt x="157620" y="46010"/>
                </a:lnTo>
                <a:cubicBezTo>
                  <a:pt x="153434" y="41824"/>
                  <a:pt x="146637" y="41824"/>
                  <a:pt x="142451" y="46010"/>
                </a:cubicBezTo>
                <a:close/>
                <a:moveTo>
                  <a:pt x="50464" y="45977"/>
                </a:moveTo>
                <a:cubicBezTo>
                  <a:pt x="46278" y="41791"/>
                  <a:pt x="39480" y="41791"/>
                  <a:pt x="35295" y="45977"/>
                </a:cubicBezTo>
                <a:lnTo>
                  <a:pt x="3148" y="78124"/>
                </a:lnTo>
                <a:cubicBezTo>
                  <a:pt x="-1038" y="82309"/>
                  <a:pt x="-1038" y="89107"/>
                  <a:pt x="3148" y="93293"/>
                </a:cubicBezTo>
                <a:lnTo>
                  <a:pt x="35295" y="125440"/>
                </a:lnTo>
                <a:cubicBezTo>
                  <a:pt x="39480" y="129626"/>
                  <a:pt x="46278" y="129626"/>
                  <a:pt x="50464" y="125440"/>
                </a:cubicBezTo>
                <a:cubicBezTo>
                  <a:pt x="54650" y="121254"/>
                  <a:pt x="54650" y="114456"/>
                  <a:pt x="50464" y="110270"/>
                </a:cubicBezTo>
                <a:lnTo>
                  <a:pt x="25885" y="85725"/>
                </a:lnTo>
                <a:lnTo>
                  <a:pt x="50430" y="61146"/>
                </a:lnTo>
                <a:cubicBezTo>
                  <a:pt x="54616" y="56960"/>
                  <a:pt x="54616" y="50163"/>
                  <a:pt x="50430" y="45977"/>
                </a:cubicBezTo>
                <a:close/>
              </a:path>
            </a:pathLst>
          </a:custGeom>
          <a:solidFill>
            <a:srgbClr val="3B82F6"/>
          </a:solidFill>
          <a:ln/>
        </p:spPr>
      </p:sp>
      <p:sp>
        <p:nvSpPr>
          <p:cNvPr id="25" name="Text 23"/>
          <p:cNvSpPr/>
          <p:nvPr/>
        </p:nvSpPr>
        <p:spPr>
          <a:xfrm>
            <a:off x="762000" y="4148137"/>
            <a:ext cx="5162550" cy="266700"/>
          </a:xfrm>
          <a:prstGeom prst="rect">
            <a:avLst/>
          </a:prstGeom>
          <a:noFill/>
          <a:ln/>
        </p:spPr>
        <p:txBody>
          <a:bodyPr wrap="square" lIns="0" tIns="0" rIns="0" bIns="0" rtlCol="0" anchor="ctr"/>
          <a:lstStyle/>
          <a:p>
            <a:pPr>
              <a:lnSpc>
                <a:spcPct val="130000"/>
              </a:lnSpc>
            </a:pPr>
            <a:r>
              <a:rPr lang="en-US" sz="1350" b="1" dirty="0">
                <a:solidFill>
                  <a:srgbClr val="3B82F6"/>
                </a:solidFill>
                <a:latin typeface="MiSans" pitchFamily="34" charset="0"/>
                <a:ea typeface="MiSans" pitchFamily="34" charset="-122"/>
                <a:cs typeface="MiSans" pitchFamily="34" charset="-120"/>
              </a:rPr>
              <a:t>Code trước khi thêm doc</a:t>
            </a:r>
            <a:endParaRPr lang="en-US" sz="1600" dirty="0"/>
          </a:p>
        </p:txBody>
      </p:sp>
      <p:sp>
        <p:nvSpPr>
          <p:cNvPr id="26" name="Shape 24"/>
          <p:cNvSpPr/>
          <p:nvPr/>
        </p:nvSpPr>
        <p:spPr>
          <a:xfrm>
            <a:off x="542925" y="4529138"/>
            <a:ext cx="5295900" cy="790575"/>
          </a:xfrm>
          <a:custGeom>
            <a:avLst/>
            <a:gdLst/>
            <a:ahLst/>
            <a:cxnLst/>
            <a:rect l="l" t="t" r="r" b="b"/>
            <a:pathLst>
              <a:path w="5295900" h="790575">
                <a:moveTo>
                  <a:pt x="76204" y="0"/>
                </a:moveTo>
                <a:lnTo>
                  <a:pt x="5219696" y="0"/>
                </a:lnTo>
                <a:cubicBezTo>
                  <a:pt x="5261783" y="0"/>
                  <a:pt x="5295900" y="34117"/>
                  <a:pt x="5295900" y="76204"/>
                </a:cubicBezTo>
                <a:lnTo>
                  <a:pt x="5295900" y="714371"/>
                </a:lnTo>
                <a:cubicBezTo>
                  <a:pt x="5295900" y="756458"/>
                  <a:pt x="5261783" y="790575"/>
                  <a:pt x="5219696" y="790575"/>
                </a:cubicBezTo>
                <a:lnTo>
                  <a:pt x="76204" y="790575"/>
                </a:lnTo>
                <a:cubicBezTo>
                  <a:pt x="34117" y="790575"/>
                  <a:pt x="0" y="756458"/>
                  <a:pt x="0" y="714371"/>
                </a:cubicBezTo>
                <a:lnTo>
                  <a:pt x="0" y="76204"/>
                </a:lnTo>
                <a:cubicBezTo>
                  <a:pt x="0" y="34146"/>
                  <a:pt x="34146" y="0"/>
                  <a:pt x="76204" y="0"/>
                </a:cubicBezTo>
                <a:close/>
              </a:path>
            </a:pathLst>
          </a:custGeom>
          <a:solidFill>
            <a:srgbClr val="1E293B"/>
          </a:solidFill>
          <a:ln/>
        </p:spPr>
      </p:sp>
      <p:sp>
        <p:nvSpPr>
          <p:cNvPr id="27" name="Text 25"/>
          <p:cNvSpPr/>
          <p:nvPr/>
        </p:nvSpPr>
        <p:spPr>
          <a:xfrm>
            <a:off x="542925" y="4529138"/>
            <a:ext cx="5357813" cy="790575"/>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get_euclidean_dist</a:t>
            </a:r>
            <a:pPr>
              <a:lnSpc>
                <a:spcPct val="130000"/>
              </a:lnSpc>
            </a:pPr>
            <a:r>
              <a:rPr lang="en-US" sz="975" dirty="0">
                <a:solidFill>
                  <a:srgbClr val="F1F5F9"/>
                </a:solidFill>
                <a:latin typeface="MiSans" pitchFamily="34" charset="0"/>
                <a:ea typeface="MiSans" pitchFamily="34" charset="-122"/>
                <a:cs typeface="MiSans" pitchFamily="34" charset="-120"/>
              </a:rPr>
              <a:t>(p1, p2):</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np.sqrt((p1.x - p2.x)**2 +</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(p1.y - p2.y)**2)</a:t>
            </a:r>
            <a:endParaRPr lang="en-US" sz="1600" dirty="0"/>
          </a:p>
        </p:txBody>
      </p:sp>
      <p:sp>
        <p:nvSpPr>
          <p:cNvPr id="28" name="Shape 26"/>
          <p:cNvSpPr/>
          <p:nvPr/>
        </p:nvSpPr>
        <p:spPr>
          <a:xfrm>
            <a:off x="6196013" y="1147763"/>
            <a:ext cx="5610225" cy="3457575"/>
          </a:xfrm>
          <a:custGeom>
            <a:avLst/>
            <a:gdLst/>
            <a:ahLst/>
            <a:cxnLst/>
            <a:rect l="l" t="t" r="r" b="b"/>
            <a:pathLst>
              <a:path w="5610225" h="3457575">
                <a:moveTo>
                  <a:pt x="114307" y="0"/>
                </a:moveTo>
                <a:lnTo>
                  <a:pt x="5495918" y="0"/>
                </a:lnTo>
                <a:cubicBezTo>
                  <a:pt x="5559048" y="0"/>
                  <a:pt x="5610225" y="51177"/>
                  <a:pt x="5610225" y="114307"/>
                </a:cubicBezTo>
                <a:lnTo>
                  <a:pt x="5610225" y="3343268"/>
                </a:lnTo>
                <a:cubicBezTo>
                  <a:pt x="5610225" y="3406398"/>
                  <a:pt x="5559048" y="3457575"/>
                  <a:pt x="5495918" y="3457575"/>
                </a:cubicBezTo>
                <a:lnTo>
                  <a:pt x="114307" y="3457575"/>
                </a:lnTo>
                <a:cubicBezTo>
                  <a:pt x="51177" y="3457575"/>
                  <a:pt x="0" y="3406398"/>
                  <a:pt x="0" y="3343268"/>
                </a:cubicBezTo>
                <a:lnTo>
                  <a:pt x="0" y="114307"/>
                </a:lnTo>
                <a:cubicBezTo>
                  <a:pt x="0" y="51219"/>
                  <a:pt x="51219" y="0"/>
                  <a:pt x="114307"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9" name="Shape 27"/>
          <p:cNvSpPr/>
          <p:nvPr/>
        </p:nvSpPr>
        <p:spPr>
          <a:xfrm>
            <a:off x="641508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10B981"/>
          </a:solidFill>
          <a:ln/>
        </p:spPr>
      </p:sp>
      <p:sp>
        <p:nvSpPr>
          <p:cNvPr id="30" name="Text 28"/>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Kết quả: Docstring Google Style</a:t>
            </a:r>
            <a:endParaRPr lang="en-US" sz="1600" dirty="0"/>
          </a:p>
        </p:txBody>
      </p:sp>
      <p:sp>
        <p:nvSpPr>
          <p:cNvPr id="31" name="Shape 29"/>
          <p:cNvSpPr/>
          <p:nvPr/>
        </p:nvSpPr>
        <p:spPr>
          <a:xfrm>
            <a:off x="6391275" y="1762125"/>
            <a:ext cx="5219700" cy="2647950"/>
          </a:xfrm>
          <a:custGeom>
            <a:avLst/>
            <a:gdLst/>
            <a:ahLst/>
            <a:cxnLst/>
            <a:rect l="l" t="t" r="r" b="b"/>
            <a:pathLst>
              <a:path w="5219700" h="2647950">
                <a:moveTo>
                  <a:pt x="76208" y="0"/>
                </a:moveTo>
                <a:lnTo>
                  <a:pt x="5143492" y="0"/>
                </a:lnTo>
                <a:cubicBezTo>
                  <a:pt x="5185552" y="0"/>
                  <a:pt x="5219700" y="34148"/>
                  <a:pt x="5219700" y="76208"/>
                </a:cubicBezTo>
                <a:lnTo>
                  <a:pt x="5219700" y="2571742"/>
                </a:lnTo>
                <a:cubicBezTo>
                  <a:pt x="5219700" y="2613831"/>
                  <a:pt x="5185581" y="2647950"/>
                  <a:pt x="5143492" y="2647950"/>
                </a:cubicBezTo>
                <a:lnTo>
                  <a:pt x="76208" y="2647950"/>
                </a:lnTo>
                <a:cubicBezTo>
                  <a:pt x="34119" y="2647950"/>
                  <a:pt x="0" y="2613831"/>
                  <a:pt x="0" y="2571742"/>
                </a:cubicBezTo>
                <a:lnTo>
                  <a:pt x="0" y="76208"/>
                </a:lnTo>
                <a:cubicBezTo>
                  <a:pt x="0" y="34148"/>
                  <a:pt x="34148" y="0"/>
                  <a:pt x="76208" y="0"/>
                </a:cubicBezTo>
                <a:close/>
              </a:path>
            </a:pathLst>
          </a:custGeom>
          <a:solidFill>
            <a:srgbClr val="1E293B"/>
          </a:solidFill>
          <a:ln/>
        </p:spPr>
      </p:sp>
      <p:sp>
        <p:nvSpPr>
          <p:cNvPr id="32" name="Text 30"/>
          <p:cNvSpPr/>
          <p:nvPr/>
        </p:nvSpPr>
        <p:spPr>
          <a:xfrm>
            <a:off x="6391275" y="1762125"/>
            <a:ext cx="5281613" cy="264795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get_euclidean_dist</a:t>
            </a:r>
            <a:pPr>
              <a:lnSpc>
                <a:spcPct val="130000"/>
              </a:lnSpc>
            </a:pPr>
            <a:r>
              <a:rPr lang="en-US" sz="975" dirty="0">
                <a:solidFill>
                  <a:srgbClr val="F1F5F9"/>
                </a:solidFill>
                <a:latin typeface="MiSans" pitchFamily="34" charset="0"/>
                <a:ea typeface="MiSans" pitchFamily="34" charset="-122"/>
                <a:cs typeface="MiSans" pitchFamily="34" charset="-120"/>
              </a:rPr>
              <a:t>(p1, p2):</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Calculate the Euclidean distance between two points.</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Args:</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p1 (Point): The first point with x and y attributes.</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p2 (Point): The second point with x and y attributes.</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Returns:</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float: The Euclidean distance between p1 and p2.</a:t>
            </a:r>
            <a:endParaRPr lang="en-US" sz="1600" dirty="0"/>
          </a:p>
          <a:p>
            <a:pPr>
              <a:lnSpc>
                <a:spcPct val="130000"/>
              </a:lnSpc>
            </a:pPr>
            <a:r>
              <a:rPr lang="en-US" sz="975" dirty="0">
                <a:solidFill>
                  <a:srgbClr val="10B981"/>
                </a:solidFill>
                <a:latin typeface="MiSans" pitchFamily="34" charset="0"/>
                <a:ea typeface="MiSans" pitchFamily="34" charset="-122"/>
                <a:cs typeface="MiSans" pitchFamily="34" charset="-120"/>
              </a:rPr>
              <a:t>"""</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np.sqrt((p1.x - p2.x)**2 +</a:t>
            </a:r>
            <a:endParaRPr lang="en-US" sz="1600" dirty="0"/>
          </a:p>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(p1.y - p2.y)**2)</a:t>
            </a:r>
            <a:endParaRPr lang="en-US" sz="1600" dirty="0"/>
          </a:p>
        </p:txBody>
      </p:sp>
      <p:sp>
        <p:nvSpPr>
          <p:cNvPr id="33" name="Shape 31"/>
          <p:cNvSpPr/>
          <p:nvPr/>
        </p:nvSpPr>
        <p:spPr>
          <a:xfrm>
            <a:off x="6196013" y="4762500"/>
            <a:ext cx="5610225" cy="1838325"/>
          </a:xfrm>
          <a:custGeom>
            <a:avLst/>
            <a:gdLst/>
            <a:ahLst/>
            <a:cxnLst/>
            <a:rect l="l" t="t" r="r" b="b"/>
            <a:pathLst>
              <a:path w="5610225" h="1838325">
                <a:moveTo>
                  <a:pt x="114307" y="0"/>
                </a:moveTo>
                <a:lnTo>
                  <a:pt x="5495918" y="0"/>
                </a:lnTo>
                <a:cubicBezTo>
                  <a:pt x="5559048" y="0"/>
                  <a:pt x="5610225" y="51177"/>
                  <a:pt x="5610225" y="114307"/>
                </a:cubicBezTo>
                <a:lnTo>
                  <a:pt x="5610225" y="1724018"/>
                </a:lnTo>
                <a:cubicBezTo>
                  <a:pt x="5610225" y="1787148"/>
                  <a:pt x="5559048" y="1838325"/>
                  <a:pt x="5495918" y="1838325"/>
                </a:cubicBezTo>
                <a:lnTo>
                  <a:pt x="114307" y="1838325"/>
                </a:lnTo>
                <a:cubicBezTo>
                  <a:pt x="51177" y="1838325"/>
                  <a:pt x="0" y="1787148"/>
                  <a:pt x="0" y="1724018"/>
                </a:cubicBezTo>
                <a:lnTo>
                  <a:pt x="0" y="114307"/>
                </a:lnTo>
                <a:cubicBezTo>
                  <a:pt x="0" y="51219"/>
                  <a:pt x="51219" y="0"/>
                  <a:pt x="114307"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34" name="Text 32"/>
          <p:cNvSpPr/>
          <p:nvPr/>
        </p:nvSpPr>
        <p:spPr>
          <a:xfrm>
            <a:off x="6353175" y="4919663"/>
            <a:ext cx="53816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Cấu trúc Google Style</a:t>
            </a:r>
            <a:endParaRPr lang="en-US" sz="1600" dirty="0"/>
          </a:p>
        </p:txBody>
      </p:sp>
      <p:sp>
        <p:nvSpPr>
          <p:cNvPr id="35" name="Shape 33"/>
          <p:cNvSpPr/>
          <p:nvPr/>
        </p:nvSpPr>
        <p:spPr>
          <a:xfrm>
            <a:off x="6353175" y="5300663"/>
            <a:ext cx="2609850" cy="533400"/>
          </a:xfrm>
          <a:custGeom>
            <a:avLst/>
            <a:gdLst/>
            <a:ahLst/>
            <a:cxnLst/>
            <a:rect l="l" t="t" r="r" b="b"/>
            <a:pathLst>
              <a:path w="2609850" h="533400">
                <a:moveTo>
                  <a:pt x="76202" y="0"/>
                </a:moveTo>
                <a:lnTo>
                  <a:pt x="2533648" y="0"/>
                </a:lnTo>
                <a:cubicBezTo>
                  <a:pt x="2575733" y="0"/>
                  <a:pt x="2609850" y="34117"/>
                  <a:pt x="2609850" y="76202"/>
                </a:cubicBezTo>
                <a:lnTo>
                  <a:pt x="2609850" y="457198"/>
                </a:lnTo>
                <a:cubicBezTo>
                  <a:pt x="2609850" y="499283"/>
                  <a:pt x="2575733" y="533400"/>
                  <a:pt x="253364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solidFill>
          <a:ln/>
        </p:spPr>
      </p:sp>
      <p:sp>
        <p:nvSpPr>
          <p:cNvPr id="36" name="Text 34"/>
          <p:cNvSpPr/>
          <p:nvPr/>
        </p:nvSpPr>
        <p:spPr>
          <a:xfrm>
            <a:off x="6429375" y="5376863"/>
            <a:ext cx="2524125" cy="190500"/>
          </a:xfrm>
          <a:prstGeom prst="rect">
            <a:avLst/>
          </a:prstGeom>
          <a:noFill/>
          <a:ln/>
        </p:spPr>
        <p:txBody>
          <a:bodyPr wrap="square" lIns="0" tIns="0" rIns="0" bIns="0" rtlCol="0" anchor="ctr"/>
          <a:lstStyle/>
          <a:p>
            <a:pPr>
              <a:lnSpc>
                <a:spcPct val="120000"/>
              </a:lnSpc>
            </a:pPr>
            <a:r>
              <a:rPr lang="en-US" sz="1050" b="1" dirty="0">
                <a:solidFill>
                  <a:srgbClr val="3B82F6"/>
                </a:solidFill>
                <a:latin typeface="MiSans" pitchFamily="34" charset="0"/>
                <a:ea typeface="MiSans" pitchFamily="34" charset="-122"/>
                <a:cs typeface="MiSans" pitchFamily="34" charset="-120"/>
              </a:rPr>
              <a:t>Args</a:t>
            </a:r>
            <a:endParaRPr lang="en-US" sz="1600" dirty="0"/>
          </a:p>
        </p:txBody>
      </p:sp>
      <p:sp>
        <p:nvSpPr>
          <p:cNvPr id="37" name="Text 35"/>
          <p:cNvSpPr/>
          <p:nvPr/>
        </p:nvSpPr>
        <p:spPr>
          <a:xfrm>
            <a:off x="6429375" y="5567363"/>
            <a:ext cx="25241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Tham số đầu vào</a:t>
            </a:r>
            <a:endParaRPr lang="en-US" sz="1600" dirty="0"/>
          </a:p>
        </p:txBody>
      </p:sp>
      <p:sp>
        <p:nvSpPr>
          <p:cNvPr id="38" name="Shape 36"/>
          <p:cNvSpPr/>
          <p:nvPr/>
        </p:nvSpPr>
        <p:spPr>
          <a:xfrm>
            <a:off x="9039225" y="5300663"/>
            <a:ext cx="2609850" cy="533400"/>
          </a:xfrm>
          <a:custGeom>
            <a:avLst/>
            <a:gdLst/>
            <a:ahLst/>
            <a:cxnLst/>
            <a:rect l="l" t="t" r="r" b="b"/>
            <a:pathLst>
              <a:path w="2609850" h="533400">
                <a:moveTo>
                  <a:pt x="76202" y="0"/>
                </a:moveTo>
                <a:lnTo>
                  <a:pt x="2533648" y="0"/>
                </a:lnTo>
                <a:cubicBezTo>
                  <a:pt x="2575733" y="0"/>
                  <a:pt x="2609850" y="34117"/>
                  <a:pt x="2609850" y="76202"/>
                </a:cubicBezTo>
                <a:lnTo>
                  <a:pt x="2609850" y="457198"/>
                </a:lnTo>
                <a:cubicBezTo>
                  <a:pt x="2609850" y="499283"/>
                  <a:pt x="2575733" y="533400"/>
                  <a:pt x="253364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solidFill>
          <a:ln/>
        </p:spPr>
      </p:sp>
      <p:sp>
        <p:nvSpPr>
          <p:cNvPr id="39" name="Text 37"/>
          <p:cNvSpPr/>
          <p:nvPr/>
        </p:nvSpPr>
        <p:spPr>
          <a:xfrm>
            <a:off x="9115425" y="5376863"/>
            <a:ext cx="2524125"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Returns</a:t>
            </a:r>
            <a:endParaRPr lang="en-US" sz="1600" dirty="0"/>
          </a:p>
        </p:txBody>
      </p:sp>
      <p:sp>
        <p:nvSpPr>
          <p:cNvPr id="40" name="Text 38"/>
          <p:cNvSpPr/>
          <p:nvPr/>
        </p:nvSpPr>
        <p:spPr>
          <a:xfrm>
            <a:off x="9115425" y="5567363"/>
            <a:ext cx="25241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Giá trị trả về</a:t>
            </a:r>
            <a:endParaRPr lang="en-US" sz="1600" dirty="0"/>
          </a:p>
        </p:txBody>
      </p:sp>
      <p:sp>
        <p:nvSpPr>
          <p:cNvPr id="41" name="Shape 39"/>
          <p:cNvSpPr/>
          <p:nvPr/>
        </p:nvSpPr>
        <p:spPr>
          <a:xfrm>
            <a:off x="6353175" y="5910263"/>
            <a:ext cx="2609850" cy="533400"/>
          </a:xfrm>
          <a:custGeom>
            <a:avLst/>
            <a:gdLst/>
            <a:ahLst/>
            <a:cxnLst/>
            <a:rect l="l" t="t" r="r" b="b"/>
            <a:pathLst>
              <a:path w="2609850" h="533400">
                <a:moveTo>
                  <a:pt x="76202" y="0"/>
                </a:moveTo>
                <a:lnTo>
                  <a:pt x="2533648" y="0"/>
                </a:lnTo>
                <a:cubicBezTo>
                  <a:pt x="2575733" y="0"/>
                  <a:pt x="2609850" y="34117"/>
                  <a:pt x="2609850" y="76202"/>
                </a:cubicBezTo>
                <a:lnTo>
                  <a:pt x="2609850" y="457198"/>
                </a:lnTo>
                <a:cubicBezTo>
                  <a:pt x="2609850" y="499283"/>
                  <a:pt x="2575733" y="533400"/>
                  <a:pt x="253364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solidFill>
          <a:ln/>
        </p:spPr>
      </p:sp>
      <p:sp>
        <p:nvSpPr>
          <p:cNvPr id="42" name="Text 40"/>
          <p:cNvSpPr/>
          <p:nvPr/>
        </p:nvSpPr>
        <p:spPr>
          <a:xfrm>
            <a:off x="6429375" y="5986463"/>
            <a:ext cx="2524125" cy="190500"/>
          </a:xfrm>
          <a:prstGeom prst="rect">
            <a:avLst/>
          </a:prstGeom>
          <a:noFill/>
          <a:ln/>
        </p:spPr>
        <p:txBody>
          <a:bodyPr wrap="square" lIns="0" tIns="0" rIns="0" bIns="0" rtlCol="0" anchor="ctr"/>
          <a:lstStyle/>
          <a:p>
            <a:pPr>
              <a:lnSpc>
                <a:spcPct val="120000"/>
              </a:lnSpc>
            </a:pPr>
            <a:r>
              <a:rPr lang="en-US" sz="1050" b="1" dirty="0">
                <a:solidFill>
                  <a:srgbClr val="8B5CF6"/>
                </a:solidFill>
                <a:latin typeface="MiSans" pitchFamily="34" charset="0"/>
                <a:ea typeface="MiSans" pitchFamily="34" charset="-122"/>
                <a:cs typeface="MiSans" pitchFamily="34" charset="-120"/>
              </a:rPr>
              <a:t>Raises</a:t>
            </a:r>
            <a:endParaRPr lang="en-US" sz="1600" dirty="0"/>
          </a:p>
        </p:txBody>
      </p:sp>
      <p:sp>
        <p:nvSpPr>
          <p:cNvPr id="43" name="Text 41"/>
          <p:cNvSpPr/>
          <p:nvPr/>
        </p:nvSpPr>
        <p:spPr>
          <a:xfrm>
            <a:off x="6429375" y="6176963"/>
            <a:ext cx="25241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Exception có thể xảy ra</a:t>
            </a:r>
            <a:endParaRPr lang="en-US" sz="1600" dirty="0"/>
          </a:p>
        </p:txBody>
      </p:sp>
      <p:sp>
        <p:nvSpPr>
          <p:cNvPr id="44" name="Shape 42"/>
          <p:cNvSpPr/>
          <p:nvPr/>
        </p:nvSpPr>
        <p:spPr>
          <a:xfrm>
            <a:off x="9039225" y="5910263"/>
            <a:ext cx="2609850" cy="533400"/>
          </a:xfrm>
          <a:custGeom>
            <a:avLst/>
            <a:gdLst/>
            <a:ahLst/>
            <a:cxnLst/>
            <a:rect l="l" t="t" r="r" b="b"/>
            <a:pathLst>
              <a:path w="2609850" h="533400">
                <a:moveTo>
                  <a:pt x="76202" y="0"/>
                </a:moveTo>
                <a:lnTo>
                  <a:pt x="2533648" y="0"/>
                </a:lnTo>
                <a:cubicBezTo>
                  <a:pt x="2575733" y="0"/>
                  <a:pt x="2609850" y="34117"/>
                  <a:pt x="2609850" y="76202"/>
                </a:cubicBezTo>
                <a:lnTo>
                  <a:pt x="2609850" y="457198"/>
                </a:lnTo>
                <a:cubicBezTo>
                  <a:pt x="2609850" y="499283"/>
                  <a:pt x="2575733" y="533400"/>
                  <a:pt x="2533648" y="533400"/>
                </a:cubicBezTo>
                <a:lnTo>
                  <a:pt x="76202" y="533400"/>
                </a:lnTo>
                <a:cubicBezTo>
                  <a:pt x="34117" y="533400"/>
                  <a:pt x="0" y="499283"/>
                  <a:pt x="0" y="457198"/>
                </a:cubicBezTo>
                <a:lnTo>
                  <a:pt x="0" y="76202"/>
                </a:lnTo>
                <a:cubicBezTo>
                  <a:pt x="0" y="34145"/>
                  <a:pt x="34145" y="0"/>
                  <a:pt x="76202" y="0"/>
                </a:cubicBezTo>
                <a:close/>
              </a:path>
            </a:pathLst>
          </a:custGeom>
          <a:solidFill>
            <a:srgbClr val="0F172A"/>
          </a:solidFill>
          <a:ln/>
        </p:spPr>
      </p:sp>
      <p:sp>
        <p:nvSpPr>
          <p:cNvPr id="45" name="Text 43"/>
          <p:cNvSpPr/>
          <p:nvPr/>
        </p:nvSpPr>
        <p:spPr>
          <a:xfrm>
            <a:off x="9115425" y="5986463"/>
            <a:ext cx="2524125" cy="190500"/>
          </a:xfrm>
          <a:prstGeom prst="rect">
            <a:avLst/>
          </a:prstGeom>
          <a:noFill/>
          <a:ln/>
        </p:spPr>
        <p:txBody>
          <a:bodyPr wrap="square" lIns="0" tIns="0" rIns="0" bIns="0" rtlCol="0" anchor="ctr"/>
          <a:lstStyle/>
          <a:p>
            <a:pPr>
              <a:lnSpc>
                <a:spcPct val="120000"/>
              </a:lnSpc>
            </a:pPr>
            <a:r>
              <a:rPr lang="en-US" sz="1050" b="1" dirty="0">
                <a:solidFill>
                  <a:srgbClr val="F59E0B"/>
                </a:solidFill>
                <a:latin typeface="MiSans" pitchFamily="34" charset="0"/>
                <a:ea typeface="MiSans" pitchFamily="34" charset="-122"/>
                <a:cs typeface="MiSans" pitchFamily="34" charset="-120"/>
              </a:rPr>
              <a:t>Examples</a:t>
            </a:r>
            <a:endParaRPr lang="en-US" sz="1600" dirty="0"/>
          </a:p>
        </p:txBody>
      </p:sp>
      <p:sp>
        <p:nvSpPr>
          <p:cNvPr id="46" name="Text 44"/>
          <p:cNvSpPr/>
          <p:nvPr/>
        </p:nvSpPr>
        <p:spPr>
          <a:xfrm>
            <a:off x="9115425" y="6176963"/>
            <a:ext cx="25241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Ví dụ sử dụng</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66126" y="439351"/>
            <a:ext cx="366126" cy="366126"/>
          </a:xfrm>
          <a:custGeom>
            <a:avLst/>
            <a:gdLst/>
            <a:ahLst/>
            <a:cxnLst/>
            <a:rect l="l" t="t" r="r" b="b"/>
            <a:pathLst>
              <a:path w="366126" h="366126">
                <a:moveTo>
                  <a:pt x="73225" y="0"/>
                </a:moveTo>
                <a:lnTo>
                  <a:pt x="292901" y="0"/>
                </a:lnTo>
                <a:cubicBezTo>
                  <a:pt x="333342" y="0"/>
                  <a:pt x="366126" y="32784"/>
                  <a:pt x="366126" y="73225"/>
                </a:cubicBezTo>
                <a:lnTo>
                  <a:pt x="366126" y="292901"/>
                </a:lnTo>
                <a:cubicBezTo>
                  <a:pt x="366126" y="333342"/>
                  <a:pt x="333342" y="366126"/>
                  <a:pt x="292901" y="366126"/>
                </a:cubicBezTo>
                <a:lnTo>
                  <a:pt x="73225" y="366126"/>
                </a:lnTo>
                <a:cubicBezTo>
                  <a:pt x="32784" y="366126"/>
                  <a:pt x="0" y="333342"/>
                  <a:pt x="0" y="292901"/>
                </a:cubicBezTo>
                <a:lnTo>
                  <a:pt x="0" y="73225"/>
                </a:lnTo>
                <a:cubicBezTo>
                  <a:pt x="0" y="32811"/>
                  <a:pt x="32811" y="0"/>
                  <a:pt x="73225" y="0"/>
                </a:cubicBezTo>
                <a:close/>
              </a:path>
            </a:pathLst>
          </a:custGeom>
          <a:solidFill>
            <a:srgbClr val="10B981"/>
          </a:solidFill>
          <a:ln/>
        </p:spPr>
      </p:sp>
      <p:sp>
        <p:nvSpPr>
          <p:cNvPr id="3" name="Shape 1"/>
          <p:cNvSpPr/>
          <p:nvPr/>
        </p:nvSpPr>
        <p:spPr>
          <a:xfrm>
            <a:off x="469099" y="540036"/>
            <a:ext cx="164757" cy="164757"/>
          </a:xfrm>
          <a:custGeom>
            <a:avLst/>
            <a:gdLst/>
            <a:ahLst/>
            <a:cxnLst/>
            <a:rect l="l" t="t" r="r" b="b"/>
            <a:pathLst>
              <a:path w="164757" h="164757">
                <a:moveTo>
                  <a:pt x="43056" y="11681"/>
                </a:moveTo>
                <a:cubicBezTo>
                  <a:pt x="46563" y="14127"/>
                  <a:pt x="47400" y="18953"/>
                  <a:pt x="44954" y="22429"/>
                </a:cubicBezTo>
                <a:lnTo>
                  <a:pt x="26934" y="48172"/>
                </a:lnTo>
                <a:cubicBezTo>
                  <a:pt x="25615" y="50038"/>
                  <a:pt x="23555" y="51229"/>
                  <a:pt x="21270" y="51422"/>
                </a:cubicBezTo>
                <a:cubicBezTo>
                  <a:pt x="18986" y="51615"/>
                  <a:pt x="16733" y="50843"/>
                  <a:pt x="15124" y="49234"/>
                </a:cubicBezTo>
                <a:lnTo>
                  <a:pt x="2253" y="36362"/>
                </a:lnTo>
                <a:cubicBezTo>
                  <a:pt x="-740" y="33338"/>
                  <a:pt x="-740" y="28446"/>
                  <a:pt x="2253" y="25421"/>
                </a:cubicBezTo>
                <a:cubicBezTo>
                  <a:pt x="5245" y="22397"/>
                  <a:pt x="10169" y="22429"/>
                  <a:pt x="13193" y="25421"/>
                </a:cubicBezTo>
                <a:lnTo>
                  <a:pt x="19565" y="31793"/>
                </a:lnTo>
                <a:lnTo>
                  <a:pt x="32308" y="13580"/>
                </a:lnTo>
                <a:cubicBezTo>
                  <a:pt x="34753" y="10072"/>
                  <a:pt x="39580" y="9235"/>
                  <a:pt x="43056" y="11681"/>
                </a:cubicBezTo>
                <a:close/>
                <a:moveTo>
                  <a:pt x="43056" y="63167"/>
                </a:moveTo>
                <a:cubicBezTo>
                  <a:pt x="46563" y="65613"/>
                  <a:pt x="47400" y="70440"/>
                  <a:pt x="44954" y="73915"/>
                </a:cubicBezTo>
                <a:lnTo>
                  <a:pt x="26934" y="99659"/>
                </a:lnTo>
                <a:cubicBezTo>
                  <a:pt x="25615" y="101525"/>
                  <a:pt x="23555" y="102716"/>
                  <a:pt x="21270" y="102909"/>
                </a:cubicBezTo>
                <a:cubicBezTo>
                  <a:pt x="18986" y="103102"/>
                  <a:pt x="16733" y="102329"/>
                  <a:pt x="15124" y="100720"/>
                </a:cubicBezTo>
                <a:lnTo>
                  <a:pt x="2253" y="87849"/>
                </a:lnTo>
                <a:cubicBezTo>
                  <a:pt x="-772" y="84824"/>
                  <a:pt x="-772" y="79933"/>
                  <a:pt x="2253" y="76940"/>
                </a:cubicBezTo>
                <a:cubicBezTo>
                  <a:pt x="5277" y="73947"/>
                  <a:pt x="10169" y="73915"/>
                  <a:pt x="13161" y="76940"/>
                </a:cubicBezTo>
                <a:lnTo>
                  <a:pt x="19533" y="83312"/>
                </a:lnTo>
                <a:lnTo>
                  <a:pt x="32276" y="65098"/>
                </a:lnTo>
                <a:cubicBezTo>
                  <a:pt x="34721" y="61591"/>
                  <a:pt x="39548" y="60754"/>
                  <a:pt x="43023" y="63200"/>
                </a:cubicBezTo>
                <a:close/>
                <a:moveTo>
                  <a:pt x="72081" y="30892"/>
                </a:moveTo>
                <a:cubicBezTo>
                  <a:pt x="72081" y="25196"/>
                  <a:pt x="76683" y="20595"/>
                  <a:pt x="82378" y="20595"/>
                </a:cubicBezTo>
                <a:lnTo>
                  <a:pt x="154459" y="20595"/>
                </a:lnTo>
                <a:cubicBezTo>
                  <a:pt x="160155" y="20595"/>
                  <a:pt x="164757" y="25196"/>
                  <a:pt x="164757" y="30892"/>
                </a:cubicBezTo>
                <a:cubicBezTo>
                  <a:pt x="164757" y="36588"/>
                  <a:pt x="160155" y="41189"/>
                  <a:pt x="154459" y="41189"/>
                </a:cubicBezTo>
                <a:lnTo>
                  <a:pt x="82378" y="41189"/>
                </a:lnTo>
                <a:cubicBezTo>
                  <a:pt x="76683" y="41189"/>
                  <a:pt x="72081" y="36588"/>
                  <a:pt x="72081" y="30892"/>
                </a:cubicBezTo>
                <a:close/>
                <a:moveTo>
                  <a:pt x="72081" y="82378"/>
                </a:moveTo>
                <a:cubicBezTo>
                  <a:pt x="72081" y="76683"/>
                  <a:pt x="76683" y="72081"/>
                  <a:pt x="82378" y="72081"/>
                </a:cubicBezTo>
                <a:lnTo>
                  <a:pt x="154459" y="72081"/>
                </a:lnTo>
                <a:cubicBezTo>
                  <a:pt x="160155" y="72081"/>
                  <a:pt x="164757" y="76683"/>
                  <a:pt x="164757" y="82378"/>
                </a:cubicBezTo>
                <a:cubicBezTo>
                  <a:pt x="164757" y="88074"/>
                  <a:pt x="160155" y="92676"/>
                  <a:pt x="154459" y="92676"/>
                </a:cubicBezTo>
                <a:lnTo>
                  <a:pt x="82378" y="92676"/>
                </a:lnTo>
                <a:cubicBezTo>
                  <a:pt x="76683" y="92676"/>
                  <a:pt x="72081" y="88074"/>
                  <a:pt x="72081" y="82378"/>
                </a:cubicBezTo>
                <a:close/>
                <a:moveTo>
                  <a:pt x="51486" y="133865"/>
                </a:moveTo>
                <a:cubicBezTo>
                  <a:pt x="51486" y="128169"/>
                  <a:pt x="56088" y="123568"/>
                  <a:pt x="61784" y="123568"/>
                </a:cubicBezTo>
                <a:lnTo>
                  <a:pt x="154459" y="123568"/>
                </a:lnTo>
                <a:cubicBezTo>
                  <a:pt x="160155" y="123568"/>
                  <a:pt x="164757" y="128169"/>
                  <a:pt x="164757" y="133865"/>
                </a:cubicBezTo>
                <a:cubicBezTo>
                  <a:pt x="164757" y="139561"/>
                  <a:pt x="160155" y="144162"/>
                  <a:pt x="154459" y="144162"/>
                </a:cubicBezTo>
                <a:lnTo>
                  <a:pt x="61784" y="144162"/>
                </a:lnTo>
                <a:cubicBezTo>
                  <a:pt x="56088" y="144162"/>
                  <a:pt x="51486" y="139561"/>
                  <a:pt x="51486" y="133865"/>
                </a:cubicBezTo>
                <a:close/>
                <a:moveTo>
                  <a:pt x="20595" y="120993"/>
                </a:moveTo>
                <a:cubicBezTo>
                  <a:pt x="27699" y="120993"/>
                  <a:pt x="33466" y="126761"/>
                  <a:pt x="33466" y="133865"/>
                </a:cubicBezTo>
                <a:cubicBezTo>
                  <a:pt x="33466" y="140969"/>
                  <a:pt x="27699" y="146736"/>
                  <a:pt x="20595" y="146736"/>
                </a:cubicBezTo>
                <a:cubicBezTo>
                  <a:pt x="13491" y="146736"/>
                  <a:pt x="7723" y="140969"/>
                  <a:pt x="7723" y="133865"/>
                </a:cubicBezTo>
                <a:cubicBezTo>
                  <a:pt x="7723" y="126761"/>
                  <a:pt x="13491" y="120993"/>
                  <a:pt x="20595" y="120993"/>
                </a:cubicBezTo>
                <a:close/>
              </a:path>
            </a:pathLst>
          </a:custGeom>
          <a:solidFill>
            <a:srgbClr val="FFFFFF"/>
          </a:solidFill>
          <a:ln/>
        </p:spPr>
      </p:sp>
      <p:sp>
        <p:nvSpPr>
          <p:cNvPr id="4" name="Text 2"/>
          <p:cNvSpPr/>
          <p:nvPr/>
        </p:nvSpPr>
        <p:spPr>
          <a:xfrm>
            <a:off x="842090" y="366126"/>
            <a:ext cx="7267604" cy="183063"/>
          </a:xfrm>
          <a:prstGeom prst="rect">
            <a:avLst/>
          </a:prstGeom>
          <a:noFill/>
          <a:ln/>
        </p:spPr>
        <p:txBody>
          <a:bodyPr wrap="square" lIns="0" tIns="0" rIns="0" bIns="0" rtlCol="0" anchor="ctr"/>
          <a:lstStyle/>
          <a:p>
            <a:pPr>
              <a:lnSpc>
                <a:spcPct val="120000"/>
              </a:lnSpc>
            </a:pPr>
            <a:r>
              <a:rPr lang="en-US" sz="1009" b="1" spc="50" kern="0" dirty="0">
                <a:solidFill>
                  <a:srgbClr val="10B981"/>
                </a:solidFill>
                <a:latin typeface="MiSans" pitchFamily="34" charset="0"/>
                <a:ea typeface="MiSans" pitchFamily="34" charset="-122"/>
                <a:cs typeface="MiSans" pitchFamily="34" charset="-120"/>
              </a:rPr>
              <a:t>CHƯƠNG 12 | MỨC VẬT LÝ</a:t>
            </a:r>
            <a:endParaRPr lang="en-US" sz="1600" dirty="0"/>
          </a:p>
        </p:txBody>
      </p:sp>
      <p:sp>
        <p:nvSpPr>
          <p:cNvPr id="5" name="Text 3"/>
          <p:cNvSpPr/>
          <p:nvPr/>
        </p:nvSpPr>
        <p:spPr>
          <a:xfrm>
            <a:off x="842090" y="549189"/>
            <a:ext cx="7340829" cy="329514"/>
          </a:xfrm>
          <a:prstGeom prst="rect">
            <a:avLst/>
          </a:prstGeom>
          <a:noFill/>
          <a:ln/>
        </p:spPr>
        <p:txBody>
          <a:bodyPr wrap="square" lIns="0" tIns="0" rIns="0" bIns="0" rtlCol="0" anchor="ctr"/>
          <a:lstStyle/>
          <a:p>
            <a:pPr>
              <a:lnSpc>
                <a:spcPct val="100000"/>
              </a:lnSpc>
            </a:pPr>
            <a:r>
              <a:rPr lang="en-US" sz="2162" b="1" dirty="0">
                <a:solidFill>
                  <a:srgbClr val="F1F5F9"/>
                </a:solidFill>
                <a:latin typeface="MiSans" pitchFamily="34" charset="0"/>
                <a:ea typeface="MiSans" pitchFamily="34" charset="-122"/>
                <a:cs typeface="MiSans" pitchFamily="34" charset="-120"/>
              </a:rPr>
              <a:t>Lab 12.3 &amp; 12.4: Tạo docstring đồng loạt và rà soát lỗi thờ</a:t>
            </a:r>
            <a:endParaRPr lang="en-US" sz="1600" dirty="0"/>
          </a:p>
        </p:txBody>
      </p:sp>
      <p:sp>
        <p:nvSpPr>
          <p:cNvPr id="6" name="Shape 4"/>
          <p:cNvSpPr/>
          <p:nvPr/>
        </p:nvSpPr>
        <p:spPr>
          <a:xfrm>
            <a:off x="370703" y="1102955"/>
            <a:ext cx="5629189" cy="3853477"/>
          </a:xfrm>
          <a:custGeom>
            <a:avLst/>
            <a:gdLst/>
            <a:ahLst/>
            <a:cxnLst/>
            <a:rect l="l" t="t" r="r" b="b"/>
            <a:pathLst>
              <a:path w="5629189" h="3853477">
                <a:moveTo>
                  <a:pt x="109824" y="0"/>
                </a:moveTo>
                <a:lnTo>
                  <a:pt x="5519365" y="0"/>
                </a:lnTo>
                <a:cubicBezTo>
                  <a:pt x="5580019" y="0"/>
                  <a:pt x="5629189" y="49170"/>
                  <a:pt x="5629189" y="109824"/>
                </a:cubicBezTo>
                <a:lnTo>
                  <a:pt x="5629189" y="3743653"/>
                </a:lnTo>
                <a:cubicBezTo>
                  <a:pt x="5629189" y="3804308"/>
                  <a:pt x="5580019" y="3853477"/>
                  <a:pt x="5519365" y="3853477"/>
                </a:cubicBezTo>
                <a:lnTo>
                  <a:pt x="109824" y="3853477"/>
                </a:lnTo>
                <a:cubicBezTo>
                  <a:pt x="49170" y="3853477"/>
                  <a:pt x="0" y="3804308"/>
                  <a:pt x="0" y="3743653"/>
                </a:cubicBezTo>
                <a:lnTo>
                  <a:pt x="0" y="109824"/>
                </a:lnTo>
                <a:cubicBezTo>
                  <a:pt x="0" y="49211"/>
                  <a:pt x="49211" y="0"/>
                  <a:pt x="109824"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04108" y="1327207"/>
            <a:ext cx="137297" cy="183063"/>
          </a:xfrm>
          <a:custGeom>
            <a:avLst/>
            <a:gdLst/>
            <a:ahLst/>
            <a:cxnLst/>
            <a:rect l="l" t="t" r="r" b="b"/>
            <a:pathLst>
              <a:path w="137297" h="183063">
                <a:moveTo>
                  <a:pt x="0" y="22883"/>
                </a:moveTo>
                <a:cubicBezTo>
                  <a:pt x="0" y="10262"/>
                  <a:pt x="10262" y="0"/>
                  <a:pt x="22883" y="0"/>
                </a:cubicBezTo>
                <a:lnTo>
                  <a:pt x="76336" y="0"/>
                </a:lnTo>
                <a:cubicBezTo>
                  <a:pt x="82414" y="0"/>
                  <a:pt x="88242" y="2396"/>
                  <a:pt x="92533" y="6686"/>
                </a:cubicBezTo>
                <a:lnTo>
                  <a:pt x="130611" y="44800"/>
                </a:lnTo>
                <a:cubicBezTo>
                  <a:pt x="134902" y="49091"/>
                  <a:pt x="137297" y="54919"/>
                  <a:pt x="137297" y="60997"/>
                </a:cubicBezTo>
                <a:lnTo>
                  <a:pt x="137297" y="160180"/>
                </a:lnTo>
                <a:cubicBezTo>
                  <a:pt x="137297" y="172802"/>
                  <a:pt x="127036" y="183063"/>
                  <a:pt x="114414" y="183063"/>
                </a:cubicBezTo>
                <a:lnTo>
                  <a:pt x="22883" y="183063"/>
                </a:lnTo>
                <a:cubicBezTo>
                  <a:pt x="10262" y="183063"/>
                  <a:pt x="0" y="172802"/>
                  <a:pt x="0" y="160180"/>
                </a:cubicBezTo>
                <a:lnTo>
                  <a:pt x="0" y="22883"/>
                </a:lnTo>
                <a:close/>
                <a:moveTo>
                  <a:pt x="74369" y="20916"/>
                </a:moveTo>
                <a:lnTo>
                  <a:pt x="74369" y="54347"/>
                </a:lnTo>
                <a:cubicBezTo>
                  <a:pt x="74369" y="59102"/>
                  <a:pt x="78195" y="62928"/>
                  <a:pt x="82950" y="62928"/>
                </a:cubicBezTo>
                <a:lnTo>
                  <a:pt x="116381" y="62928"/>
                </a:lnTo>
                <a:lnTo>
                  <a:pt x="74369" y="20916"/>
                </a:lnTo>
                <a:close/>
                <a:moveTo>
                  <a:pt x="42905" y="91532"/>
                </a:moveTo>
                <a:cubicBezTo>
                  <a:pt x="38150" y="91532"/>
                  <a:pt x="34324" y="95357"/>
                  <a:pt x="34324" y="100113"/>
                </a:cubicBezTo>
                <a:cubicBezTo>
                  <a:pt x="34324" y="104868"/>
                  <a:pt x="38150" y="108694"/>
                  <a:pt x="42905" y="108694"/>
                </a:cubicBezTo>
                <a:lnTo>
                  <a:pt x="94392" y="108694"/>
                </a:lnTo>
                <a:cubicBezTo>
                  <a:pt x="99147" y="108694"/>
                  <a:pt x="102973" y="104868"/>
                  <a:pt x="102973" y="100113"/>
                </a:cubicBezTo>
                <a:cubicBezTo>
                  <a:pt x="102973" y="95357"/>
                  <a:pt x="99147" y="91532"/>
                  <a:pt x="94392" y="91532"/>
                </a:cubicBezTo>
                <a:lnTo>
                  <a:pt x="42905" y="91532"/>
                </a:lnTo>
                <a:close/>
                <a:moveTo>
                  <a:pt x="42905" y="125856"/>
                </a:moveTo>
                <a:cubicBezTo>
                  <a:pt x="38150" y="125856"/>
                  <a:pt x="34324" y="129682"/>
                  <a:pt x="34324" y="134437"/>
                </a:cubicBezTo>
                <a:cubicBezTo>
                  <a:pt x="34324" y="139192"/>
                  <a:pt x="38150" y="143018"/>
                  <a:pt x="42905" y="143018"/>
                </a:cubicBezTo>
                <a:lnTo>
                  <a:pt x="94392" y="143018"/>
                </a:lnTo>
                <a:cubicBezTo>
                  <a:pt x="99147" y="143018"/>
                  <a:pt x="102973" y="139192"/>
                  <a:pt x="102973" y="134437"/>
                </a:cubicBezTo>
                <a:cubicBezTo>
                  <a:pt x="102973" y="129682"/>
                  <a:pt x="99147" y="125856"/>
                  <a:pt x="94392" y="125856"/>
                </a:cubicBezTo>
                <a:lnTo>
                  <a:pt x="42905" y="125856"/>
                </a:lnTo>
                <a:close/>
              </a:path>
            </a:pathLst>
          </a:custGeom>
          <a:solidFill>
            <a:srgbClr val="3B82F6"/>
          </a:solidFill>
          <a:ln/>
        </p:spPr>
      </p:sp>
      <p:sp>
        <p:nvSpPr>
          <p:cNvPr id="8" name="Text 6"/>
          <p:cNvSpPr/>
          <p:nvPr/>
        </p:nvSpPr>
        <p:spPr>
          <a:xfrm>
            <a:off x="787171" y="1290595"/>
            <a:ext cx="5116613" cy="256288"/>
          </a:xfrm>
          <a:prstGeom prst="rect">
            <a:avLst/>
          </a:prstGeom>
          <a:noFill/>
          <a:ln/>
        </p:spPr>
        <p:txBody>
          <a:bodyPr wrap="square" lIns="0" tIns="0" rIns="0" bIns="0" rtlCol="0" anchor="ctr"/>
          <a:lstStyle/>
          <a:p>
            <a:pPr>
              <a:lnSpc>
                <a:spcPct val="120000"/>
              </a:lnSpc>
            </a:pPr>
            <a:r>
              <a:rPr lang="en-US" sz="1441" b="1" dirty="0">
                <a:solidFill>
                  <a:srgbClr val="3B82F6"/>
                </a:solidFill>
                <a:latin typeface="MiSans" pitchFamily="34" charset="0"/>
                <a:ea typeface="MiSans" pitchFamily="34" charset="-122"/>
                <a:cs typeface="MiSans" pitchFamily="34" charset="-120"/>
              </a:rPr>
              <a:t>Lab 12.3: Tạo docstring đồng loạt</a:t>
            </a:r>
            <a:endParaRPr lang="en-US" sz="1600" dirty="0"/>
          </a:p>
        </p:txBody>
      </p:sp>
      <p:sp>
        <p:nvSpPr>
          <p:cNvPr id="9" name="Shape 7"/>
          <p:cNvSpPr/>
          <p:nvPr/>
        </p:nvSpPr>
        <p:spPr>
          <a:xfrm>
            <a:off x="558342" y="1693333"/>
            <a:ext cx="5253910" cy="1272288"/>
          </a:xfrm>
          <a:custGeom>
            <a:avLst/>
            <a:gdLst/>
            <a:ahLst/>
            <a:cxnLst/>
            <a:rect l="l" t="t" r="r" b="b"/>
            <a:pathLst>
              <a:path w="5253910" h="1272288">
                <a:moveTo>
                  <a:pt x="73220" y="0"/>
                </a:moveTo>
                <a:lnTo>
                  <a:pt x="5180690" y="0"/>
                </a:lnTo>
                <a:cubicBezTo>
                  <a:pt x="5221128" y="0"/>
                  <a:pt x="5253910" y="32782"/>
                  <a:pt x="5253910" y="73220"/>
                </a:cubicBezTo>
                <a:lnTo>
                  <a:pt x="5253910" y="1199068"/>
                </a:lnTo>
                <a:cubicBezTo>
                  <a:pt x="5253910" y="1239506"/>
                  <a:pt x="5221128" y="1272288"/>
                  <a:pt x="5180690" y="1272288"/>
                </a:cubicBezTo>
                <a:lnTo>
                  <a:pt x="73220" y="1272288"/>
                </a:lnTo>
                <a:cubicBezTo>
                  <a:pt x="32782" y="1272288"/>
                  <a:pt x="0" y="1239506"/>
                  <a:pt x="0" y="1199068"/>
                </a:cubicBezTo>
                <a:lnTo>
                  <a:pt x="0" y="73220"/>
                </a:lnTo>
                <a:cubicBezTo>
                  <a:pt x="0" y="32809"/>
                  <a:pt x="32809" y="0"/>
                  <a:pt x="73220" y="0"/>
                </a:cubicBezTo>
                <a:close/>
              </a:path>
            </a:pathLst>
          </a:custGeom>
          <a:solidFill>
            <a:srgbClr val="0F172A"/>
          </a:solidFill>
          <a:ln/>
        </p:spPr>
      </p:sp>
      <p:sp>
        <p:nvSpPr>
          <p:cNvPr id="10" name="Text 8"/>
          <p:cNvSpPr/>
          <p:nvPr/>
        </p:nvSpPr>
        <p:spPr>
          <a:xfrm>
            <a:off x="668180" y="1803171"/>
            <a:ext cx="5107459" cy="219676"/>
          </a:xfrm>
          <a:prstGeom prst="rect">
            <a:avLst/>
          </a:prstGeom>
          <a:noFill/>
          <a:ln/>
        </p:spPr>
        <p:txBody>
          <a:bodyPr wrap="square" lIns="0" tIns="0" rIns="0" bIns="0" rtlCol="0" anchor="ctr"/>
          <a:lstStyle/>
          <a:p>
            <a:pPr>
              <a:lnSpc>
                <a:spcPct val="130000"/>
              </a:lnSpc>
            </a:pPr>
            <a:r>
              <a:rPr lang="en-US" sz="1153" b="1" dirty="0">
                <a:solidFill>
                  <a:srgbClr val="F1F5F9"/>
                </a:solidFill>
                <a:latin typeface="MiSans" pitchFamily="34" charset="0"/>
                <a:ea typeface="MiSans" pitchFamily="34" charset="-122"/>
                <a:cs typeface="MiSans" pitchFamily="34" charset="-120"/>
              </a:rPr>
              <a:t>Thao tác:</a:t>
            </a:r>
            <a:endParaRPr lang="en-US" sz="1600" dirty="0"/>
          </a:p>
        </p:txBody>
      </p:sp>
      <p:sp>
        <p:nvSpPr>
          <p:cNvPr id="11" name="Shape 9"/>
          <p:cNvSpPr/>
          <p:nvPr/>
        </p:nvSpPr>
        <p:spPr>
          <a:xfrm>
            <a:off x="668180" y="2096072"/>
            <a:ext cx="5034234" cy="759712"/>
          </a:xfrm>
          <a:custGeom>
            <a:avLst/>
            <a:gdLst/>
            <a:ahLst/>
            <a:cxnLst/>
            <a:rect l="l" t="t" r="r" b="b"/>
            <a:pathLst>
              <a:path w="5034234" h="759712">
                <a:moveTo>
                  <a:pt x="73229" y="0"/>
                </a:moveTo>
                <a:lnTo>
                  <a:pt x="4961006" y="0"/>
                </a:lnTo>
                <a:cubicBezTo>
                  <a:pt x="5001449" y="0"/>
                  <a:pt x="5034234" y="32786"/>
                  <a:pt x="5034234" y="73229"/>
                </a:cubicBezTo>
                <a:lnTo>
                  <a:pt x="5034234" y="686483"/>
                </a:lnTo>
                <a:cubicBezTo>
                  <a:pt x="5034234" y="726926"/>
                  <a:pt x="5001449" y="759712"/>
                  <a:pt x="4961006" y="759712"/>
                </a:cubicBezTo>
                <a:lnTo>
                  <a:pt x="73229" y="759712"/>
                </a:lnTo>
                <a:cubicBezTo>
                  <a:pt x="32813" y="759712"/>
                  <a:pt x="0" y="726899"/>
                  <a:pt x="0" y="686483"/>
                </a:cubicBezTo>
                <a:lnTo>
                  <a:pt x="0" y="73229"/>
                </a:lnTo>
                <a:cubicBezTo>
                  <a:pt x="0" y="32813"/>
                  <a:pt x="32813" y="0"/>
                  <a:pt x="73229" y="0"/>
                </a:cubicBezTo>
                <a:close/>
              </a:path>
            </a:pathLst>
          </a:custGeom>
          <a:solidFill>
            <a:srgbClr val="1E293B"/>
          </a:solidFill>
          <a:ln/>
        </p:spPr>
      </p:sp>
      <p:sp>
        <p:nvSpPr>
          <p:cNvPr id="12" name="Text 10"/>
          <p:cNvSpPr/>
          <p:nvPr/>
        </p:nvSpPr>
        <p:spPr>
          <a:xfrm>
            <a:off x="778018" y="2224216"/>
            <a:ext cx="2283855" cy="137297"/>
          </a:xfrm>
          <a:prstGeom prst="rect">
            <a:avLst/>
          </a:prstGeom>
          <a:noFill/>
          <a:ln/>
        </p:spPr>
        <p:txBody>
          <a:bodyPr wrap="square" lIns="0" tIns="0" rIns="0" bIns="0" rtlCol="0" anchor="ctr"/>
          <a:lstStyle/>
          <a:p>
            <a:pPr>
              <a:lnSpc>
                <a:spcPct val="130000"/>
              </a:lnSpc>
            </a:pPr>
            <a:r>
              <a:rPr lang="en-US" sz="937" dirty="0">
                <a:solidFill>
                  <a:srgbClr val="F1F5F9">
                    <a:alpha val="50000"/>
                  </a:srgbClr>
                </a:solidFill>
                <a:latin typeface="MiSans" pitchFamily="34" charset="0"/>
                <a:ea typeface="MiSans" pitchFamily="34" charset="-122"/>
                <a:cs typeface="MiSans" pitchFamily="34" charset="-120"/>
              </a:rPr>
              <a:t># Mở cửa sổ Chat bên thanh công cụ</a:t>
            </a:r>
            <a:endParaRPr lang="en-US" sz="1600" dirty="0"/>
          </a:p>
        </p:txBody>
      </p:sp>
      <p:sp>
        <p:nvSpPr>
          <p:cNvPr id="13" name="Text 11"/>
          <p:cNvSpPr/>
          <p:nvPr/>
        </p:nvSpPr>
        <p:spPr>
          <a:xfrm>
            <a:off x="778018" y="2402703"/>
            <a:ext cx="1367967" cy="137297"/>
          </a:xfrm>
          <a:prstGeom prst="rect">
            <a:avLst/>
          </a:prstGeom>
          <a:noFill/>
          <a:ln/>
        </p:spPr>
        <p:txBody>
          <a:bodyPr wrap="square" lIns="0" tIns="0" rIns="0" bIns="0" rtlCol="0" anchor="ctr"/>
          <a:lstStyle/>
          <a:p>
            <a:pPr>
              <a:lnSpc>
                <a:spcPct val="130000"/>
              </a:lnSpc>
            </a:pPr>
            <a:r>
              <a:rPr lang="en-US" sz="937" dirty="0">
                <a:solidFill>
                  <a:srgbClr val="8B5CF6"/>
                </a:solidFill>
                <a:latin typeface="MiSans" pitchFamily="34" charset="0"/>
                <a:ea typeface="MiSans" pitchFamily="34" charset="-122"/>
                <a:cs typeface="MiSans" pitchFamily="34" charset="-120"/>
              </a:rPr>
              <a:t>write all docstrings</a:t>
            </a:r>
            <a:endParaRPr lang="en-US" sz="1600" dirty="0"/>
          </a:p>
        </p:txBody>
      </p:sp>
      <p:sp>
        <p:nvSpPr>
          <p:cNvPr id="14" name="Text 12"/>
          <p:cNvSpPr/>
          <p:nvPr/>
        </p:nvSpPr>
        <p:spPr>
          <a:xfrm>
            <a:off x="778018" y="2581189"/>
            <a:ext cx="1302608" cy="137297"/>
          </a:xfrm>
          <a:prstGeom prst="rect">
            <a:avLst/>
          </a:prstGeom>
          <a:noFill/>
          <a:ln/>
        </p:spPr>
        <p:txBody>
          <a:bodyPr wrap="square" lIns="0" tIns="0" rIns="0" bIns="0" rtlCol="0" anchor="ctr"/>
          <a:lstStyle/>
          <a:p>
            <a:pPr>
              <a:lnSpc>
                <a:spcPct val="130000"/>
              </a:lnSpc>
            </a:pPr>
            <a:r>
              <a:rPr lang="en-US" sz="937" dirty="0">
                <a:solidFill>
                  <a:srgbClr val="8B5CF6"/>
                </a:solidFill>
                <a:latin typeface="MiSans" pitchFamily="34" charset="0"/>
                <a:ea typeface="MiSans" pitchFamily="34" charset="-122"/>
                <a:cs typeface="MiSans" pitchFamily="34" charset="-120"/>
              </a:rPr>
              <a:t>for my current file</a:t>
            </a:r>
            <a:endParaRPr lang="en-US" sz="1600" dirty="0"/>
          </a:p>
        </p:txBody>
      </p:sp>
      <p:sp>
        <p:nvSpPr>
          <p:cNvPr id="15" name="Shape 13"/>
          <p:cNvSpPr/>
          <p:nvPr/>
        </p:nvSpPr>
        <p:spPr>
          <a:xfrm>
            <a:off x="558342" y="3070883"/>
            <a:ext cx="5253910" cy="887856"/>
          </a:xfrm>
          <a:custGeom>
            <a:avLst/>
            <a:gdLst/>
            <a:ahLst/>
            <a:cxnLst/>
            <a:rect l="l" t="t" r="r" b="b"/>
            <a:pathLst>
              <a:path w="5253910" h="887856">
                <a:moveTo>
                  <a:pt x="73221" y="0"/>
                </a:moveTo>
                <a:lnTo>
                  <a:pt x="5180688" y="0"/>
                </a:lnTo>
                <a:cubicBezTo>
                  <a:pt x="5221100" y="0"/>
                  <a:pt x="5253910" y="32809"/>
                  <a:pt x="5253910" y="73221"/>
                </a:cubicBezTo>
                <a:lnTo>
                  <a:pt x="5253910" y="814634"/>
                </a:lnTo>
                <a:cubicBezTo>
                  <a:pt x="5253910" y="855046"/>
                  <a:pt x="5221100" y="887856"/>
                  <a:pt x="5180688" y="887856"/>
                </a:cubicBezTo>
                <a:lnTo>
                  <a:pt x="73221" y="887856"/>
                </a:lnTo>
                <a:cubicBezTo>
                  <a:pt x="32809" y="887856"/>
                  <a:pt x="0" y="855046"/>
                  <a:pt x="0" y="814634"/>
                </a:cubicBezTo>
                <a:lnTo>
                  <a:pt x="0" y="73221"/>
                </a:lnTo>
                <a:cubicBezTo>
                  <a:pt x="0" y="32809"/>
                  <a:pt x="32809" y="0"/>
                  <a:pt x="73221" y="0"/>
                </a:cubicBezTo>
                <a:close/>
              </a:path>
            </a:pathLst>
          </a:custGeom>
          <a:solidFill>
            <a:srgbClr val="0F172A"/>
          </a:solidFill>
          <a:ln/>
        </p:spPr>
      </p:sp>
      <p:sp>
        <p:nvSpPr>
          <p:cNvPr id="16" name="Text 14"/>
          <p:cNvSpPr/>
          <p:nvPr/>
        </p:nvSpPr>
        <p:spPr>
          <a:xfrm>
            <a:off x="668180" y="3180721"/>
            <a:ext cx="5107459" cy="219676"/>
          </a:xfrm>
          <a:prstGeom prst="rect">
            <a:avLst/>
          </a:prstGeom>
          <a:noFill/>
          <a:ln/>
        </p:spPr>
        <p:txBody>
          <a:bodyPr wrap="square" lIns="0" tIns="0" rIns="0" bIns="0" rtlCol="0" anchor="ctr"/>
          <a:lstStyle/>
          <a:p>
            <a:pPr>
              <a:lnSpc>
                <a:spcPct val="130000"/>
              </a:lnSpc>
            </a:pPr>
            <a:r>
              <a:rPr lang="en-US" sz="1153" b="1" dirty="0">
                <a:solidFill>
                  <a:srgbClr val="10B981"/>
                </a:solidFill>
                <a:latin typeface="MiSans" pitchFamily="34" charset="0"/>
                <a:ea typeface="MiSans" pitchFamily="34" charset="-122"/>
                <a:cs typeface="MiSans" pitchFamily="34" charset="-120"/>
              </a:rPr>
              <a:t>Kết quả:</a:t>
            </a:r>
            <a:endParaRPr lang="en-US" sz="1600" dirty="0"/>
          </a:p>
        </p:txBody>
      </p:sp>
      <p:sp>
        <p:nvSpPr>
          <p:cNvPr id="17" name="Text 15"/>
          <p:cNvSpPr/>
          <p:nvPr/>
        </p:nvSpPr>
        <p:spPr>
          <a:xfrm>
            <a:off x="668180" y="3473622"/>
            <a:ext cx="5098306" cy="375279"/>
          </a:xfrm>
          <a:prstGeom prst="rect">
            <a:avLst/>
          </a:prstGeom>
          <a:noFill/>
          <a:ln/>
        </p:spPr>
        <p:txBody>
          <a:bodyPr wrap="square" lIns="0" tIns="0" rIns="0" bIns="0" rtlCol="0" anchor="ctr"/>
          <a:lstStyle/>
          <a:p>
            <a:pPr>
              <a:lnSpc>
                <a:spcPct val="120000"/>
              </a:lnSpc>
            </a:pPr>
            <a:r>
              <a:rPr lang="en-US" sz="1009" dirty="0">
                <a:solidFill>
                  <a:srgbClr val="F1F5F9">
                    <a:alpha val="80000"/>
                  </a:srgbClr>
                </a:solidFill>
                <a:latin typeface="MiSans" pitchFamily="34" charset="0"/>
                <a:ea typeface="MiSans" pitchFamily="34" charset="-122"/>
                <a:cs typeface="MiSans" pitchFamily="34" charset="-120"/>
              </a:rPr>
              <a:t>Toàn bộ các hàm trong tệp </a:t>
            </a:r>
            <a:pPr>
              <a:lnSpc>
                <a:spcPct val="120000"/>
              </a:lnSpc>
            </a:pPr>
            <a:r>
              <a:rPr lang="en-US" sz="1009" dirty="0">
                <a:solidFill>
                  <a:srgbClr val="3B82F6"/>
                </a:solidFill>
                <a:latin typeface="MiSans" pitchFamily="34" charset="0"/>
                <a:ea typeface="MiSans" pitchFamily="34" charset="-122"/>
                <a:cs typeface="MiSans" pitchFamily="34" charset="-120"/>
              </a:rPr>
              <a:t>flask_distances.py</a:t>
            </a:r>
            <a:pPr>
              <a:lnSpc>
                <a:spcPct val="120000"/>
              </a:lnSpc>
            </a:pPr>
            <a:r>
              <a:rPr lang="en-US" sz="1009" dirty="0">
                <a:solidFill>
                  <a:srgbClr val="F1F5F9">
                    <a:alpha val="80000"/>
                  </a:srgbClr>
                </a:solidFill>
                <a:latin typeface="MiSans" pitchFamily="34" charset="0"/>
                <a:ea typeface="MiSans" pitchFamily="34" charset="-122"/>
                <a:cs typeface="MiSans" pitchFamily="34" charset="-120"/>
              </a:rPr>
              <a:t> đều được bổ sung docstring đồng nhất theo chuẩn đã chọn.</a:t>
            </a:r>
            <a:endParaRPr lang="en-US" sz="1600" dirty="0"/>
          </a:p>
        </p:txBody>
      </p:sp>
      <p:sp>
        <p:nvSpPr>
          <p:cNvPr id="18" name="Shape 16"/>
          <p:cNvSpPr/>
          <p:nvPr/>
        </p:nvSpPr>
        <p:spPr>
          <a:xfrm>
            <a:off x="562919" y="4073153"/>
            <a:ext cx="5244757" cy="411892"/>
          </a:xfrm>
          <a:custGeom>
            <a:avLst/>
            <a:gdLst/>
            <a:ahLst/>
            <a:cxnLst/>
            <a:rect l="l" t="t" r="r" b="b"/>
            <a:pathLst>
              <a:path w="5244757" h="411892">
                <a:moveTo>
                  <a:pt x="73226" y="0"/>
                </a:moveTo>
                <a:lnTo>
                  <a:pt x="5171531" y="0"/>
                </a:lnTo>
                <a:cubicBezTo>
                  <a:pt x="5211972" y="0"/>
                  <a:pt x="5244757" y="32784"/>
                  <a:pt x="5244757" y="73226"/>
                </a:cubicBezTo>
                <a:lnTo>
                  <a:pt x="5244757" y="338666"/>
                </a:lnTo>
                <a:cubicBezTo>
                  <a:pt x="5244757" y="379107"/>
                  <a:pt x="5211972" y="411892"/>
                  <a:pt x="5171531" y="411892"/>
                </a:cubicBezTo>
                <a:lnTo>
                  <a:pt x="73226" y="411892"/>
                </a:lnTo>
                <a:cubicBezTo>
                  <a:pt x="32784" y="411892"/>
                  <a:pt x="0" y="379107"/>
                  <a:pt x="0" y="338666"/>
                </a:cubicBezTo>
                <a:lnTo>
                  <a:pt x="0" y="73226"/>
                </a:lnTo>
                <a:cubicBezTo>
                  <a:pt x="0" y="32812"/>
                  <a:pt x="32812" y="0"/>
                  <a:pt x="73226"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19" name="Shape 17"/>
          <p:cNvSpPr/>
          <p:nvPr/>
        </p:nvSpPr>
        <p:spPr>
          <a:xfrm>
            <a:off x="711658" y="4224180"/>
            <a:ext cx="96108" cy="128144"/>
          </a:xfrm>
          <a:custGeom>
            <a:avLst/>
            <a:gdLst/>
            <a:ahLst/>
            <a:cxnLst/>
            <a:rect l="l" t="t" r="r" b="b"/>
            <a:pathLst>
              <a:path w="96108" h="128144">
                <a:moveTo>
                  <a:pt x="73307" y="96108"/>
                </a:moveTo>
                <a:cubicBezTo>
                  <a:pt x="75135" y="90527"/>
                  <a:pt x="78789" y="85471"/>
                  <a:pt x="82918" y="81116"/>
                </a:cubicBezTo>
                <a:cubicBezTo>
                  <a:pt x="91102" y="72507"/>
                  <a:pt x="96108" y="60868"/>
                  <a:pt x="96108" y="48054"/>
                </a:cubicBezTo>
                <a:cubicBezTo>
                  <a:pt x="96108" y="21524"/>
                  <a:pt x="74584" y="0"/>
                  <a:pt x="48054" y="0"/>
                </a:cubicBezTo>
                <a:cubicBezTo>
                  <a:pt x="21524" y="0"/>
                  <a:pt x="0" y="21524"/>
                  <a:pt x="0" y="48054"/>
                </a:cubicBezTo>
                <a:cubicBezTo>
                  <a:pt x="0" y="60868"/>
                  <a:pt x="5006" y="72507"/>
                  <a:pt x="13190" y="81116"/>
                </a:cubicBezTo>
                <a:cubicBezTo>
                  <a:pt x="17319" y="85471"/>
                  <a:pt x="20999" y="90527"/>
                  <a:pt x="22801" y="96108"/>
                </a:cubicBezTo>
                <a:lnTo>
                  <a:pt x="73282" y="96108"/>
                </a:lnTo>
                <a:close/>
                <a:moveTo>
                  <a:pt x="72081" y="108122"/>
                </a:moveTo>
                <a:lnTo>
                  <a:pt x="24027" y="108122"/>
                </a:lnTo>
                <a:lnTo>
                  <a:pt x="24027" y="112126"/>
                </a:lnTo>
                <a:cubicBezTo>
                  <a:pt x="24027" y="123189"/>
                  <a:pt x="32987" y="132149"/>
                  <a:pt x="44050" y="132149"/>
                </a:cubicBezTo>
                <a:lnTo>
                  <a:pt x="52059" y="132149"/>
                </a:lnTo>
                <a:cubicBezTo>
                  <a:pt x="63121" y="132149"/>
                  <a:pt x="72081" y="123189"/>
                  <a:pt x="72081" y="112126"/>
                </a:cubicBezTo>
                <a:lnTo>
                  <a:pt x="72081" y="108122"/>
                </a:lnTo>
                <a:close/>
                <a:moveTo>
                  <a:pt x="46052" y="28032"/>
                </a:moveTo>
                <a:cubicBezTo>
                  <a:pt x="36091" y="28032"/>
                  <a:pt x="28032" y="36091"/>
                  <a:pt x="28032" y="46052"/>
                </a:cubicBezTo>
                <a:cubicBezTo>
                  <a:pt x="28032" y="49381"/>
                  <a:pt x="25354" y="52059"/>
                  <a:pt x="22025" y="52059"/>
                </a:cubicBezTo>
                <a:cubicBezTo>
                  <a:pt x="18696" y="52059"/>
                  <a:pt x="16018" y="49381"/>
                  <a:pt x="16018" y="46052"/>
                </a:cubicBezTo>
                <a:cubicBezTo>
                  <a:pt x="16018" y="29458"/>
                  <a:pt x="29458" y="16018"/>
                  <a:pt x="46052" y="16018"/>
                </a:cubicBezTo>
                <a:cubicBezTo>
                  <a:pt x="49381" y="16018"/>
                  <a:pt x="52059" y="18696"/>
                  <a:pt x="52059" y="22025"/>
                </a:cubicBezTo>
                <a:cubicBezTo>
                  <a:pt x="52059" y="25354"/>
                  <a:pt x="49381" y="28032"/>
                  <a:pt x="46052" y="28032"/>
                </a:cubicBezTo>
                <a:close/>
              </a:path>
            </a:pathLst>
          </a:custGeom>
          <a:solidFill>
            <a:srgbClr val="10B981"/>
          </a:solidFill>
          <a:ln/>
        </p:spPr>
      </p:sp>
      <p:sp>
        <p:nvSpPr>
          <p:cNvPr id="20" name="Text 18"/>
          <p:cNvSpPr/>
          <p:nvPr/>
        </p:nvSpPr>
        <p:spPr>
          <a:xfrm>
            <a:off x="894865" y="4187568"/>
            <a:ext cx="4862468" cy="183063"/>
          </a:xfrm>
          <a:prstGeom prst="rect">
            <a:avLst/>
          </a:prstGeom>
          <a:noFill/>
          <a:ln/>
        </p:spPr>
        <p:txBody>
          <a:bodyPr wrap="square" lIns="0" tIns="0" rIns="0" bIns="0" rtlCol="0" anchor="ctr"/>
          <a:lstStyle/>
          <a:p>
            <a:pPr>
              <a:lnSpc>
                <a:spcPct val="120000"/>
              </a:lnSpc>
            </a:pPr>
            <a:r>
              <a:rPr lang="en-US" sz="1009" b="1" dirty="0">
                <a:solidFill>
                  <a:srgbClr val="F1F5F9">
                    <a:alpha val="90000"/>
                  </a:srgbClr>
                </a:solidFill>
                <a:latin typeface="MiSans" pitchFamily="34" charset="0"/>
                <a:ea typeface="MiSans" pitchFamily="34" charset="-122"/>
                <a:cs typeface="MiSans" pitchFamily="34" charset="-120"/>
              </a:rPr>
              <a:t>Lợi ích:</a:t>
            </a:r>
            <a:pPr>
              <a:lnSpc>
                <a:spcPct val="120000"/>
              </a:lnSpc>
            </a:pPr>
            <a:r>
              <a:rPr lang="en-US" sz="1009" dirty="0">
                <a:solidFill>
                  <a:srgbClr val="F1F5F9">
                    <a:alpha val="90000"/>
                  </a:srgbClr>
                </a:solidFill>
                <a:latin typeface="MiSans" pitchFamily="34" charset="0"/>
                <a:ea typeface="MiSans" pitchFamily="34" charset="-122"/>
                <a:cs typeface="MiSans" pitchFamily="34" charset="-120"/>
              </a:rPr>
              <a:t> Tiết kiệm thờigian cho file có nhiều hàm cần tài liệu hóa.</a:t>
            </a:r>
            <a:endParaRPr lang="en-US" sz="1600" dirty="0"/>
          </a:p>
        </p:txBody>
      </p:sp>
      <p:sp>
        <p:nvSpPr>
          <p:cNvPr id="21" name="Shape 19"/>
          <p:cNvSpPr/>
          <p:nvPr/>
        </p:nvSpPr>
        <p:spPr>
          <a:xfrm>
            <a:off x="370703" y="5107459"/>
            <a:ext cx="5629189" cy="1748252"/>
          </a:xfrm>
          <a:custGeom>
            <a:avLst/>
            <a:gdLst/>
            <a:ahLst/>
            <a:cxnLst/>
            <a:rect l="l" t="t" r="r" b="b"/>
            <a:pathLst>
              <a:path w="5629189" h="1748252">
                <a:moveTo>
                  <a:pt x="109843" y="0"/>
                </a:moveTo>
                <a:lnTo>
                  <a:pt x="5519347" y="0"/>
                </a:lnTo>
                <a:cubicBezTo>
                  <a:pt x="5580011" y="0"/>
                  <a:pt x="5629189" y="49178"/>
                  <a:pt x="5629189" y="109843"/>
                </a:cubicBezTo>
                <a:lnTo>
                  <a:pt x="5629189" y="1638410"/>
                </a:lnTo>
                <a:cubicBezTo>
                  <a:pt x="5629189" y="1699074"/>
                  <a:pt x="5580011" y="1748252"/>
                  <a:pt x="5519347" y="1748252"/>
                </a:cubicBezTo>
                <a:lnTo>
                  <a:pt x="109843" y="1748252"/>
                </a:lnTo>
                <a:cubicBezTo>
                  <a:pt x="49178" y="1748252"/>
                  <a:pt x="0" y="1699074"/>
                  <a:pt x="0" y="1638410"/>
                </a:cubicBezTo>
                <a:lnTo>
                  <a:pt x="0" y="109843"/>
                </a:lnTo>
                <a:cubicBezTo>
                  <a:pt x="0" y="49219"/>
                  <a:pt x="49219" y="0"/>
                  <a:pt x="109843" y="0"/>
                </a:cubicBezTo>
                <a:close/>
              </a:path>
            </a:pathLst>
          </a:custGeom>
          <a:solidFill>
            <a:srgbClr val="0F172A"/>
          </a:solidFill>
          <a:ln w="12700">
            <a:solidFill>
              <a:srgbClr val="3B82F6">
                <a:alpha val="30196"/>
              </a:srgbClr>
            </a:solidFill>
            <a:prstDash val="solid"/>
          </a:ln>
        </p:spPr>
      </p:sp>
      <p:sp>
        <p:nvSpPr>
          <p:cNvPr id="22" name="Text 20"/>
          <p:cNvSpPr/>
          <p:nvPr/>
        </p:nvSpPr>
        <p:spPr>
          <a:xfrm>
            <a:off x="521730" y="5258486"/>
            <a:ext cx="5409514" cy="256288"/>
          </a:xfrm>
          <a:prstGeom prst="rect">
            <a:avLst/>
          </a:prstGeom>
          <a:noFill/>
          <a:ln/>
        </p:spPr>
        <p:txBody>
          <a:bodyPr wrap="square" lIns="0" tIns="0" rIns="0" bIns="0" rtlCol="0" anchor="ctr"/>
          <a:lstStyle/>
          <a:p>
            <a:pPr>
              <a:lnSpc>
                <a:spcPct val="130000"/>
              </a:lnSpc>
            </a:pPr>
            <a:r>
              <a:rPr lang="en-US" sz="1297" b="1" dirty="0">
                <a:solidFill>
                  <a:srgbClr val="3B82F6"/>
                </a:solidFill>
                <a:latin typeface="MiSans" pitchFamily="34" charset="0"/>
                <a:ea typeface="MiSans" pitchFamily="34" charset="-122"/>
                <a:cs typeface="MiSans" pitchFamily="34" charset="-120"/>
              </a:rPr>
              <a:t>File ví dụ</a:t>
            </a:r>
            <a:endParaRPr lang="en-US" sz="1600" dirty="0"/>
          </a:p>
        </p:txBody>
      </p:sp>
      <p:sp>
        <p:nvSpPr>
          <p:cNvPr id="23" name="Shape 21"/>
          <p:cNvSpPr/>
          <p:nvPr/>
        </p:nvSpPr>
        <p:spPr>
          <a:xfrm>
            <a:off x="521730" y="5588000"/>
            <a:ext cx="5327135" cy="1116685"/>
          </a:xfrm>
          <a:custGeom>
            <a:avLst/>
            <a:gdLst/>
            <a:ahLst/>
            <a:cxnLst/>
            <a:rect l="l" t="t" r="r" b="b"/>
            <a:pathLst>
              <a:path w="5327135" h="1116685">
                <a:moveTo>
                  <a:pt x="73221" y="0"/>
                </a:moveTo>
                <a:lnTo>
                  <a:pt x="5253914" y="0"/>
                </a:lnTo>
                <a:cubicBezTo>
                  <a:pt x="5294353" y="0"/>
                  <a:pt x="5327135" y="32782"/>
                  <a:pt x="5327135" y="73221"/>
                </a:cubicBezTo>
                <a:lnTo>
                  <a:pt x="5327135" y="1043464"/>
                </a:lnTo>
                <a:cubicBezTo>
                  <a:pt x="5327135" y="1083903"/>
                  <a:pt x="5294353" y="1116685"/>
                  <a:pt x="5253914" y="1116685"/>
                </a:cubicBezTo>
                <a:lnTo>
                  <a:pt x="73221" y="1116685"/>
                </a:lnTo>
                <a:cubicBezTo>
                  <a:pt x="32809" y="1116685"/>
                  <a:pt x="0" y="1083875"/>
                  <a:pt x="0" y="1043464"/>
                </a:cubicBezTo>
                <a:lnTo>
                  <a:pt x="0" y="73221"/>
                </a:lnTo>
                <a:cubicBezTo>
                  <a:pt x="0" y="32809"/>
                  <a:pt x="32809" y="0"/>
                  <a:pt x="73221" y="0"/>
                </a:cubicBezTo>
                <a:close/>
              </a:path>
            </a:pathLst>
          </a:custGeom>
          <a:solidFill>
            <a:srgbClr val="1E293B"/>
          </a:solidFill>
          <a:ln/>
        </p:spPr>
      </p:sp>
      <p:sp>
        <p:nvSpPr>
          <p:cNvPr id="24" name="Text 22"/>
          <p:cNvSpPr/>
          <p:nvPr/>
        </p:nvSpPr>
        <p:spPr>
          <a:xfrm>
            <a:off x="521730" y="5588000"/>
            <a:ext cx="5386631" cy="1116685"/>
          </a:xfrm>
          <a:prstGeom prst="rect">
            <a:avLst/>
          </a:prstGeom>
          <a:noFill/>
          <a:ln/>
        </p:spPr>
        <p:txBody>
          <a:bodyPr wrap="square" lIns="109838" tIns="109838" rIns="109838" bIns="109838" rtlCol="0" anchor="ctr"/>
          <a:lstStyle/>
          <a:p>
            <a:pPr>
              <a:lnSpc>
                <a:spcPct val="130000"/>
              </a:lnSpc>
            </a:pPr>
            <a:r>
              <a:rPr lang="en-US" sz="937" dirty="0">
                <a:solidFill>
                  <a:srgbClr val="F1F5F9">
                    <a:alpha val="50000"/>
                  </a:srgbClr>
                </a:solidFill>
                <a:latin typeface="MiSans" pitchFamily="34" charset="0"/>
                <a:ea typeface="MiSans" pitchFamily="34" charset="-122"/>
                <a:cs typeface="MiSans" pitchFamily="34" charset="-120"/>
              </a:rPr>
              <a:t># flask_distances.py</a:t>
            </a:r>
            <a:endParaRPr lang="en-US" sz="1600" dirty="0"/>
          </a:p>
          <a:p>
            <a:pPr>
              <a:lnSpc>
                <a:spcPct val="130000"/>
              </a:lnSpc>
            </a:pPr>
            <a:r>
              <a:rPr lang="en-US" sz="937" dirty="0">
                <a:solidFill>
                  <a:srgbClr val="8B5CF6"/>
                </a:solidFill>
                <a:latin typeface="MiSans" pitchFamily="34" charset="0"/>
                <a:ea typeface="MiSans" pitchFamily="34" charset="-122"/>
                <a:cs typeface="MiSans" pitchFamily="34" charset="-120"/>
              </a:rPr>
              <a:t>def</a:t>
            </a:r>
            <a:pPr>
              <a:lnSpc>
                <a:spcPct val="130000"/>
              </a:lnSpc>
            </a:pPr>
            <a:r>
              <a:rPr lang="en-US" sz="937" dirty="0">
                <a:solidFill>
                  <a:srgbClr val="3B82F6"/>
                </a:solidFill>
                <a:latin typeface="MiSans" pitchFamily="34" charset="0"/>
                <a:ea typeface="MiSans" pitchFamily="34" charset="-122"/>
                <a:cs typeface="MiSans" pitchFamily="34" charset="-120"/>
              </a:rPr>
              <a:t>calc_dist</a:t>
            </a:r>
            <a:pPr>
              <a:lnSpc>
                <a:spcPct val="130000"/>
              </a:lnSpc>
            </a:pPr>
            <a:r>
              <a:rPr lang="en-US" sz="937" dirty="0">
                <a:solidFill>
                  <a:srgbClr val="F1F5F9"/>
                </a:solidFill>
                <a:latin typeface="MiSans" pitchFamily="34" charset="0"/>
                <a:ea typeface="MiSans" pitchFamily="34" charset="-122"/>
                <a:cs typeface="MiSans" pitchFamily="34" charset="-120"/>
              </a:rPr>
              <a:t>(): ...</a:t>
            </a:r>
            <a:endParaRPr lang="en-US" sz="1600" dirty="0"/>
          </a:p>
          <a:p>
            <a:pPr>
              <a:lnSpc>
                <a:spcPct val="130000"/>
              </a:lnSpc>
            </a:pPr>
            <a:r>
              <a:rPr lang="en-US" sz="937" dirty="0">
                <a:solidFill>
                  <a:srgbClr val="8B5CF6"/>
                </a:solidFill>
                <a:latin typeface="MiSans" pitchFamily="34" charset="0"/>
                <a:ea typeface="MiSans" pitchFamily="34" charset="-122"/>
                <a:cs typeface="MiSans" pitchFamily="34" charset="-120"/>
              </a:rPr>
              <a:t>def</a:t>
            </a:r>
            <a:pPr>
              <a:lnSpc>
                <a:spcPct val="130000"/>
              </a:lnSpc>
            </a:pPr>
            <a:r>
              <a:rPr lang="en-US" sz="937" dirty="0">
                <a:solidFill>
                  <a:srgbClr val="3B82F6"/>
                </a:solidFill>
                <a:latin typeface="MiSans" pitchFamily="34" charset="0"/>
                <a:ea typeface="MiSans" pitchFamily="34" charset="-122"/>
                <a:cs typeface="MiSans" pitchFamily="34" charset="-120"/>
              </a:rPr>
              <a:t>normalize</a:t>
            </a:r>
            <a:pPr>
              <a:lnSpc>
                <a:spcPct val="130000"/>
              </a:lnSpc>
            </a:pPr>
            <a:r>
              <a:rPr lang="en-US" sz="937" dirty="0">
                <a:solidFill>
                  <a:srgbClr val="F1F5F9"/>
                </a:solidFill>
                <a:latin typeface="MiSans" pitchFamily="34" charset="0"/>
                <a:ea typeface="MiSans" pitchFamily="34" charset="-122"/>
                <a:cs typeface="MiSans" pitchFamily="34" charset="-120"/>
              </a:rPr>
              <a:t>(): ...</a:t>
            </a:r>
            <a:endParaRPr lang="en-US" sz="1600" dirty="0"/>
          </a:p>
          <a:p>
            <a:pPr>
              <a:lnSpc>
                <a:spcPct val="130000"/>
              </a:lnSpc>
            </a:pPr>
            <a:r>
              <a:rPr lang="en-US" sz="937" dirty="0">
                <a:solidFill>
                  <a:srgbClr val="8B5CF6"/>
                </a:solidFill>
                <a:latin typeface="MiSans" pitchFamily="34" charset="0"/>
                <a:ea typeface="MiSans" pitchFamily="34" charset="-122"/>
                <a:cs typeface="MiSans" pitchFamily="34" charset="-120"/>
              </a:rPr>
              <a:t>def</a:t>
            </a:r>
            <a:pPr>
              <a:lnSpc>
                <a:spcPct val="130000"/>
              </a:lnSpc>
            </a:pPr>
            <a:r>
              <a:rPr lang="en-US" sz="937" dirty="0">
                <a:solidFill>
                  <a:srgbClr val="3B82F6"/>
                </a:solidFill>
                <a:latin typeface="MiSans" pitchFamily="34" charset="0"/>
                <a:ea typeface="MiSans" pitchFamily="34" charset="-122"/>
                <a:cs typeface="MiSans" pitchFamily="34" charset="-120"/>
              </a:rPr>
              <a:t>validate</a:t>
            </a:r>
            <a:pPr>
              <a:lnSpc>
                <a:spcPct val="130000"/>
              </a:lnSpc>
            </a:pPr>
            <a:r>
              <a:rPr lang="en-US" sz="937" dirty="0">
                <a:solidFill>
                  <a:srgbClr val="F1F5F9"/>
                </a:solidFill>
                <a:latin typeface="MiSans" pitchFamily="34" charset="0"/>
                <a:ea typeface="MiSans" pitchFamily="34" charset="-122"/>
                <a:cs typeface="MiSans" pitchFamily="34" charset="-120"/>
              </a:rPr>
              <a:t>(): ...</a:t>
            </a:r>
            <a:endParaRPr lang="en-US" sz="1600" dirty="0"/>
          </a:p>
          <a:p>
            <a:pPr>
              <a:lnSpc>
                <a:spcPct val="130000"/>
              </a:lnSpc>
            </a:pPr>
            <a:r>
              <a:rPr lang="en-US" sz="937" dirty="0">
                <a:solidFill>
                  <a:srgbClr val="F1F5F9">
                    <a:alpha val="50000"/>
                  </a:srgbClr>
                </a:solidFill>
                <a:latin typeface="MiSans" pitchFamily="34" charset="0"/>
                <a:ea typeface="MiSans" pitchFamily="34" charset="-122"/>
                <a:cs typeface="MiSans" pitchFamily="34" charset="-120"/>
              </a:rPr>
              <a:t># Tất cả đều được thêm docstring</a:t>
            </a:r>
            <a:endParaRPr lang="en-US" sz="1600" dirty="0"/>
          </a:p>
        </p:txBody>
      </p:sp>
      <p:sp>
        <p:nvSpPr>
          <p:cNvPr id="25" name="Shape 23"/>
          <p:cNvSpPr/>
          <p:nvPr/>
        </p:nvSpPr>
        <p:spPr>
          <a:xfrm>
            <a:off x="6189963" y="1102955"/>
            <a:ext cx="5629189" cy="4521658"/>
          </a:xfrm>
          <a:custGeom>
            <a:avLst/>
            <a:gdLst/>
            <a:ahLst/>
            <a:cxnLst/>
            <a:rect l="l" t="t" r="r" b="b"/>
            <a:pathLst>
              <a:path w="5629189" h="4521658">
                <a:moveTo>
                  <a:pt x="109831" y="0"/>
                </a:moveTo>
                <a:lnTo>
                  <a:pt x="5519358" y="0"/>
                </a:lnTo>
                <a:cubicBezTo>
                  <a:pt x="5580016" y="0"/>
                  <a:pt x="5629189" y="49173"/>
                  <a:pt x="5629189" y="109831"/>
                </a:cubicBezTo>
                <a:lnTo>
                  <a:pt x="5629189" y="4411827"/>
                </a:lnTo>
                <a:cubicBezTo>
                  <a:pt x="5629189" y="4472485"/>
                  <a:pt x="5580016" y="4521658"/>
                  <a:pt x="5519358" y="4521658"/>
                </a:cubicBezTo>
                <a:lnTo>
                  <a:pt x="109831" y="4521658"/>
                </a:lnTo>
                <a:cubicBezTo>
                  <a:pt x="49173" y="4521658"/>
                  <a:pt x="0" y="4472485"/>
                  <a:pt x="0" y="4411827"/>
                </a:cubicBezTo>
                <a:lnTo>
                  <a:pt x="0" y="109831"/>
                </a:lnTo>
                <a:cubicBezTo>
                  <a:pt x="0" y="49214"/>
                  <a:pt x="49214" y="0"/>
                  <a:pt x="109831"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26" name="Shape 24"/>
          <p:cNvSpPr/>
          <p:nvPr/>
        </p:nvSpPr>
        <p:spPr>
          <a:xfrm>
            <a:off x="6400485" y="1327207"/>
            <a:ext cx="183063" cy="183063"/>
          </a:xfrm>
          <a:custGeom>
            <a:avLst/>
            <a:gdLst/>
            <a:ahLst/>
            <a:cxnLst/>
            <a:rect l="l" t="t" r="r" b="b"/>
            <a:pathLst>
              <a:path w="183063" h="183063">
                <a:moveTo>
                  <a:pt x="148739" y="74369"/>
                </a:moveTo>
                <a:cubicBezTo>
                  <a:pt x="148739" y="90781"/>
                  <a:pt x="143411" y="105941"/>
                  <a:pt x="134437" y="118240"/>
                </a:cubicBezTo>
                <a:lnTo>
                  <a:pt x="179702" y="163541"/>
                </a:lnTo>
                <a:cubicBezTo>
                  <a:pt x="184171" y="168010"/>
                  <a:pt x="184171" y="175269"/>
                  <a:pt x="179702" y="179738"/>
                </a:cubicBezTo>
                <a:cubicBezTo>
                  <a:pt x="175233" y="184207"/>
                  <a:pt x="167975" y="184207"/>
                  <a:pt x="163505" y="179738"/>
                </a:cubicBezTo>
                <a:lnTo>
                  <a:pt x="118240" y="134437"/>
                </a:lnTo>
                <a:cubicBezTo>
                  <a:pt x="105941" y="143411"/>
                  <a:pt x="90781" y="148739"/>
                  <a:pt x="74369" y="148739"/>
                </a:cubicBezTo>
                <a:cubicBezTo>
                  <a:pt x="33287" y="148739"/>
                  <a:pt x="0" y="115451"/>
                  <a:pt x="0" y="74369"/>
                </a:cubicBezTo>
                <a:cubicBezTo>
                  <a:pt x="0" y="33287"/>
                  <a:pt x="33287" y="0"/>
                  <a:pt x="74369" y="0"/>
                </a:cubicBezTo>
                <a:cubicBezTo>
                  <a:pt x="115451" y="0"/>
                  <a:pt x="148739" y="33287"/>
                  <a:pt x="148739" y="74369"/>
                </a:cubicBezTo>
                <a:close/>
                <a:moveTo>
                  <a:pt x="74369" y="125856"/>
                </a:moveTo>
                <a:cubicBezTo>
                  <a:pt x="102786" y="125856"/>
                  <a:pt x="125856" y="102786"/>
                  <a:pt x="125856" y="74369"/>
                </a:cubicBezTo>
                <a:cubicBezTo>
                  <a:pt x="125856" y="45953"/>
                  <a:pt x="102786" y="22883"/>
                  <a:pt x="74369" y="22883"/>
                </a:cubicBezTo>
                <a:cubicBezTo>
                  <a:pt x="45953" y="22883"/>
                  <a:pt x="22883" y="45953"/>
                  <a:pt x="22883" y="74369"/>
                </a:cubicBezTo>
                <a:cubicBezTo>
                  <a:pt x="22883" y="102786"/>
                  <a:pt x="45953" y="125856"/>
                  <a:pt x="74369" y="125856"/>
                </a:cubicBezTo>
                <a:close/>
              </a:path>
            </a:pathLst>
          </a:custGeom>
          <a:solidFill>
            <a:srgbClr val="EF4444"/>
          </a:solidFill>
          <a:ln/>
        </p:spPr>
      </p:sp>
      <p:sp>
        <p:nvSpPr>
          <p:cNvPr id="27" name="Text 25"/>
          <p:cNvSpPr/>
          <p:nvPr/>
        </p:nvSpPr>
        <p:spPr>
          <a:xfrm>
            <a:off x="6606431" y="1290595"/>
            <a:ext cx="5116613" cy="256288"/>
          </a:xfrm>
          <a:prstGeom prst="rect">
            <a:avLst/>
          </a:prstGeom>
          <a:noFill/>
          <a:ln/>
        </p:spPr>
        <p:txBody>
          <a:bodyPr wrap="square" lIns="0" tIns="0" rIns="0" bIns="0" rtlCol="0" anchor="ctr"/>
          <a:lstStyle/>
          <a:p>
            <a:pPr>
              <a:lnSpc>
                <a:spcPct val="120000"/>
              </a:lnSpc>
            </a:pPr>
            <a:r>
              <a:rPr lang="en-US" sz="1441" b="1" dirty="0">
                <a:solidFill>
                  <a:srgbClr val="EF4444"/>
                </a:solidFill>
                <a:latin typeface="MiSans" pitchFamily="34" charset="0"/>
                <a:ea typeface="MiSans" pitchFamily="34" charset="-122"/>
                <a:cs typeface="MiSans" pitchFamily="34" charset="-120"/>
              </a:rPr>
              <a:t>Lab 12.4: Rà soát tài liệu lỗi thờ</a:t>
            </a:r>
            <a:endParaRPr lang="en-US" sz="1600" dirty="0"/>
          </a:p>
        </p:txBody>
      </p:sp>
      <p:sp>
        <p:nvSpPr>
          <p:cNvPr id="28" name="Shape 26"/>
          <p:cNvSpPr/>
          <p:nvPr/>
        </p:nvSpPr>
        <p:spPr>
          <a:xfrm>
            <a:off x="6382179" y="1697910"/>
            <a:ext cx="5244757" cy="1455351"/>
          </a:xfrm>
          <a:custGeom>
            <a:avLst/>
            <a:gdLst/>
            <a:ahLst/>
            <a:cxnLst/>
            <a:rect l="l" t="t" r="r" b="b"/>
            <a:pathLst>
              <a:path w="5244757" h="1455351">
                <a:moveTo>
                  <a:pt x="73219" y="0"/>
                </a:moveTo>
                <a:lnTo>
                  <a:pt x="5171538" y="0"/>
                </a:lnTo>
                <a:cubicBezTo>
                  <a:pt x="5211976" y="0"/>
                  <a:pt x="5244757" y="32781"/>
                  <a:pt x="5244757" y="73219"/>
                </a:cubicBezTo>
                <a:lnTo>
                  <a:pt x="5244757" y="1382133"/>
                </a:lnTo>
                <a:cubicBezTo>
                  <a:pt x="5244757" y="1422570"/>
                  <a:pt x="5211976" y="1455351"/>
                  <a:pt x="5171538" y="1455351"/>
                </a:cubicBezTo>
                <a:lnTo>
                  <a:pt x="73219" y="1455351"/>
                </a:lnTo>
                <a:cubicBezTo>
                  <a:pt x="32808" y="1455351"/>
                  <a:pt x="0" y="1422543"/>
                  <a:pt x="0" y="1382133"/>
                </a:cubicBezTo>
                <a:lnTo>
                  <a:pt x="0" y="73219"/>
                </a:lnTo>
                <a:cubicBezTo>
                  <a:pt x="0" y="32808"/>
                  <a:pt x="32808" y="0"/>
                  <a:pt x="73219" y="0"/>
                </a:cubicBezTo>
                <a:close/>
              </a:path>
            </a:pathLst>
          </a:custGeom>
          <a:solidFill>
            <a:srgbClr val="0F172A"/>
          </a:solidFill>
          <a:ln w="12700">
            <a:solidFill>
              <a:srgbClr val="EF4444">
                <a:alpha val="30196"/>
              </a:srgbClr>
            </a:solidFill>
            <a:prstDash val="solid"/>
          </a:ln>
        </p:spPr>
      </p:sp>
      <p:sp>
        <p:nvSpPr>
          <p:cNvPr id="29" name="Text 27"/>
          <p:cNvSpPr/>
          <p:nvPr/>
        </p:nvSpPr>
        <p:spPr>
          <a:xfrm>
            <a:off x="6496593" y="1812324"/>
            <a:ext cx="5089153" cy="219676"/>
          </a:xfrm>
          <a:prstGeom prst="rect">
            <a:avLst/>
          </a:prstGeom>
          <a:noFill/>
          <a:ln/>
        </p:spPr>
        <p:txBody>
          <a:bodyPr wrap="square" lIns="0" tIns="0" rIns="0" bIns="0" rtlCol="0" anchor="ctr"/>
          <a:lstStyle/>
          <a:p>
            <a:pPr>
              <a:lnSpc>
                <a:spcPct val="130000"/>
              </a:lnSpc>
            </a:pPr>
            <a:r>
              <a:rPr lang="en-US" sz="1153" b="1" dirty="0">
                <a:solidFill>
                  <a:srgbClr val="EF4444"/>
                </a:solidFill>
                <a:latin typeface="MiSans" pitchFamily="34" charset="0"/>
                <a:ea typeface="MiSans" pitchFamily="34" charset="-122"/>
                <a:cs typeface="MiSans" pitchFamily="34" charset="-120"/>
              </a:rPr>
              <a:t>Tạo lỗi cố ý:</a:t>
            </a:r>
            <a:endParaRPr lang="en-US" sz="1600" dirty="0"/>
          </a:p>
        </p:txBody>
      </p:sp>
      <p:sp>
        <p:nvSpPr>
          <p:cNvPr id="30" name="Shape 28"/>
          <p:cNvSpPr/>
          <p:nvPr/>
        </p:nvSpPr>
        <p:spPr>
          <a:xfrm>
            <a:off x="6496593" y="2105225"/>
            <a:ext cx="5015928" cy="933622"/>
          </a:xfrm>
          <a:custGeom>
            <a:avLst/>
            <a:gdLst/>
            <a:ahLst/>
            <a:cxnLst/>
            <a:rect l="l" t="t" r="r" b="b"/>
            <a:pathLst>
              <a:path w="5015928" h="933622">
                <a:moveTo>
                  <a:pt x="73224" y="0"/>
                </a:moveTo>
                <a:lnTo>
                  <a:pt x="4942704" y="0"/>
                </a:lnTo>
                <a:cubicBezTo>
                  <a:pt x="4983144" y="0"/>
                  <a:pt x="5015928" y="32783"/>
                  <a:pt x="5015928" y="73224"/>
                </a:cubicBezTo>
                <a:lnTo>
                  <a:pt x="5015928" y="860398"/>
                </a:lnTo>
                <a:cubicBezTo>
                  <a:pt x="5015928" y="900838"/>
                  <a:pt x="4983144" y="933622"/>
                  <a:pt x="4942704" y="933622"/>
                </a:cubicBezTo>
                <a:lnTo>
                  <a:pt x="73224" y="933622"/>
                </a:lnTo>
                <a:cubicBezTo>
                  <a:pt x="32783" y="933622"/>
                  <a:pt x="0" y="900838"/>
                  <a:pt x="0" y="860398"/>
                </a:cubicBezTo>
                <a:lnTo>
                  <a:pt x="0" y="73224"/>
                </a:lnTo>
                <a:cubicBezTo>
                  <a:pt x="0" y="32811"/>
                  <a:pt x="32811" y="0"/>
                  <a:pt x="73224" y="0"/>
                </a:cubicBezTo>
                <a:close/>
              </a:path>
            </a:pathLst>
          </a:custGeom>
          <a:solidFill>
            <a:srgbClr val="1E293B"/>
          </a:solidFill>
          <a:ln/>
        </p:spPr>
      </p:sp>
      <p:sp>
        <p:nvSpPr>
          <p:cNvPr id="31" name="Text 29"/>
          <p:cNvSpPr/>
          <p:nvPr/>
        </p:nvSpPr>
        <p:spPr>
          <a:xfrm>
            <a:off x="6496593" y="2105225"/>
            <a:ext cx="5075423" cy="933622"/>
          </a:xfrm>
          <a:prstGeom prst="rect">
            <a:avLst/>
          </a:prstGeom>
          <a:noFill/>
          <a:ln/>
        </p:spPr>
        <p:txBody>
          <a:bodyPr wrap="square" lIns="109838" tIns="109838" rIns="109838" bIns="109838" rtlCol="0" anchor="ctr"/>
          <a:lstStyle/>
          <a:p>
            <a:pPr>
              <a:lnSpc>
                <a:spcPct val="130000"/>
              </a:lnSpc>
            </a:pPr>
            <a:r>
              <a:rPr lang="en-US" sz="937" dirty="0">
                <a:solidFill>
                  <a:srgbClr val="8B5CF6"/>
                </a:solidFill>
                <a:latin typeface="MiSans" pitchFamily="34" charset="0"/>
                <a:ea typeface="MiSans" pitchFamily="34" charset="-122"/>
                <a:cs typeface="MiSans" pitchFamily="34" charset="-120"/>
              </a:rPr>
              <a:t>def</a:t>
            </a:r>
            <a:pPr>
              <a:lnSpc>
                <a:spcPct val="130000"/>
              </a:lnSpc>
            </a:pPr>
            <a:r>
              <a:rPr lang="en-US" sz="937" dirty="0">
                <a:solidFill>
                  <a:srgbClr val="3B82F6"/>
                </a:solidFill>
                <a:latin typeface="MiSans" pitchFamily="34" charset="0"/>
                <a:ea typeface="MiSans" pitchFamily="34" charset="-122"/>
                <a:cs typeface="MiSans" pitchFamily="34" charset="-120"/>
              </a:rPr>
              <a:t>calc_sqrt</a:t>
            </a:r>
            <a:pPr>
              <a:lnSpc>
                <a:spcPct val="130000"/>
              </a:lnSpc>
            </a:pPr>
            <a:r>
              <a:rPr lang="en-US" sz="937" dirty="0">
                <a:solidFill>
                  <a:srgbClr val="F1F5F9"/>
                </a:solidFill>
                <a:latin typeface="MiSans" pitchFamily="34" charset="0"/>
                <a:ea typeface="MiSans" pitchFamily="34" charset="-122"/>
                <a:cs typeface="MiSans" pitchFamily="34" charset="-120"/>
              </a:rPr>
              <a:t>(x):</a:t>
            </a:r>
            <a:endParaRPr lang="en-US" sz="1600" dirty="0"/>
          </a:p>
          <a:p>
            <a:pPr>
              <a:lnSpc>
                <a:spcPct val="130000"/>
              </a:lnSpc>
            </a:pPr>
            <a:r>
              <a:rPr lang="en-US" sz="937" dirty="0">
                <a:solidFill>
                  <a:srgbClr val="10B981"/>
                </a:solidFill>
                <a:latin typeface="MiSans" pitchFamily="34" charset="0"/>
                <a:ea typeface="MiSans" pitchFamily="34" charset="-122"/>
                <a:cs typeface="MiSans" pitchFamily="34" charset="-120"/>
              </a:rPr>
              <a:t>"""Calculate squared value"""</a:t>
            </a:r>
            <a:endParaRPr lang="en-US" sz="1600" dirty="0"/>
          </a:p>
          <a:p>
            <a:pPr>
              <a:lnSpc>
                <a:spcPct val="130000"/>
              </a:lnSpc>
            </a:pPr>
            <a:r>
              <a:rPr lang="en-US" sz="937" dirty="0">
                <a:solidFill>
                  <a:srgbClr val="F1F5F9">
                    <a:alpha val="50000"/>
                  </a:srgbClr>
                </a:solidFill>
                <a:latin typeface="MiSans" pitchFamily="34" charset="0"/>
                <a:ea typeface="MiSans" pitchFamily="34" charset="-122"/>
                <a:cs typeface="MiSans" pitchFamily="34" charset="-120"/>
              </a:rPr>
              <a:t># Nhưng lại tính căn bậc 2!</a:t>
            </a:r>
            <a:endParaRPr lang="en-US" sz="1600" dirty="0"/>
          </a:p>
          <a:p>
            <a:pPr>
              <a:lnSpc>
                <a:spcPct val="130000"/>
              </a:lnSpc>
            </a:pPr>
            <a:r>
              <a:rPr lang="en-US" sz="937" dirty="0">
                <a:solidFill>
                  <a:srgbClr val="8B5CF6"/>
                </a:solidFill>
                <a:latin typeface="MiSans" pitchFamily="34" charset="0"/>
                <a:ea typeface="MiSans" pitchFamily="34" charset="-122"/>
                <a:cs typeface="MiSans" pitchFamily="34" charset="-120"/>
              </a:rPr>
              <a:t>return</a:t>
            </a:r>
            <a:pPr>
              <a:lnSpc>
                <a:spcPct val="130000"/>
              </a:lnSpc>
            </a:pPr>
            <a:r>
              <a:rPr lang="en-US" sz="937" dirty="0">
                <a:solidFill>
                  <a:srgbClr val="F1F5F9"/>
                </a:solidFill>
                <a:latin typeface="MiSans" pitchFamily="34" charset="0"/>
                <a:ea typeface="MiSans" pitchFamily="34" charset="-122"/>
                <a:cs typeface="MiSans" pitchFamily="34" charset="-120"/>
              </a:rPr>
              <a:t> np.sqrt(x)</a:t>
            </a:r>
            <a:endParaRPr lang="en-US" sz="1600" dirty="0"/>
          </a:p>
        </p:txBody>
      </p:sp>
      <p:sp>
        <p:nvSpPr>
          <p:cNvPr id="32" name="Shape 30"/>
          <p:cNvSpPr/>
          <p:nvPr/>
        </p:nvSpPr>
        <p:spPr>
          <a:xfrm>
            <a:off x="6377602" y="3267676"/>
            <a:ext cx="5253910" cy="1089225"/>
          </a:xfrm>
          <a:custGeom>
            <a:avLst/>
            <a:gdLst/>
            <a:ahLst/>
            <a:cxnLst/>
            <a:rect l="l" t="t" r="r" b="b"/>
            <a:pathLst>
              <a:path w="5253910" h="1089225">
                <a:moveTo>
                  <a:pt x="73229" y="0"/>
                </a:moveTo>
                <a:lnTo>
                  <a:pt x="5180681" y="0"/>
                </a:lnTo>
                <a:cubicBezTo>
                  <a:pt x="5221124" y="0"/>
                  <a:pt x="5253910" y="32786"/>
                  <a:pt x="5253910" y="73229"/>
                </a:cubicBezTo>
                <a:lnTo>
                  <a:pt x="5253910" y="1015997"/>
                </a:lnTo>
                <a:cubicBezTo>
                  <a:pt x="5253910" y="1056440"/>
                  <a:pt x="5221124" y="1089225"/>
                  <a:pt x="5180681" y="1089225"/>
                </a:cubicBezTo>
                <a:lnTo>
                  <a:pt x="73229" y="1089225"/>
                </a:lnTo>
                <a:cubicBezTo>
                  <a:pt x="32786" y="1089225"/>
                  <a:pt x="0" y="1056440"/>
                  <a:pt x="0" y="1015997"/>
                </a:cubicBezTo>
                <a:lnTo>
                  <a:pt x="0" y="73229"/>
                </a:lnTo>
                <a:cubicBezTo>
                  <a:pt x="0" y="32813"/>
                  <a:pt x="32813" y="0"/>
                  <a:pt x="73229" y="0"/>
                </a:cubicBezTo>
                <a:close/>
              </a:path>
            </a:pathLst>
          </a:custGeom>
          <a:solidFill>
            <a:srgbClr val="0F172A"/>
          </a:solidFill>
          <a:ln/>
        </p:spPr>
      </p:sp>
      <p:sp>
        <p:nvSpPr>
          <p:cNvPr id="33" name="Text 31"/>
          <p:cNvSpPr/>
          <p:nvPr/>
        </p:nvSpPr>
        <p:spPr>
          <a:xfrm>
            <a:off x="6487440" y="3377514"/>
            <a:ext cx="5107459" cy="219676"/>
          </a:xfrm>
          <a:prstGeom prst="rect">
            <a:avLst/>
          </a:prstGeom>
          <a:noFill/>
          <a:ln/>
        </p:spPr>
        <p:txBody>
          <a:bodyPr wrap="square" lIns="0" tIns="0" rIns="0" bIns="0" rtlCol="0" anchor="ctr"/>
          <a:lstStyle/>
          <a:p>
            <a:pPr>
              <a:lnSpc>
                <a:spcPct val="130000"/>
              </a:lnSpc>
            </a:pPr>
            <a:r>
              <a:rPr lang="en-US" sz="1153" b="1" dirty="0">
                <a:solidFill>
                  <a:srgbClr val="F1F5F9"/>
                </a:solidFill>
                <a:latin typeface="MiSans" pitchFamily="34" charset="0"/>
                <a:ea typeface="MiSans" pitchFamily="34" charset="-122"/>
                <a:cs typeface="MiSans" pitchFamily="34" charset="-120"/>
              </a:rPr>
              <a:t>Prompt phát hiện:</a:t>
            </a:r>
            <a:endParaRPr lang="en-US" sz="1600" dirty="0"/>
          </a:p>
        </p:txBody>
      </p:sp>
      <p:sp>
        <p:nvSpPr>
          <p:cNvPr id="34" name="Shape 32"/>
          <p:cNvSpPr/>
          <p:nvPr/>
        </p:nvSpPr>
        <p:spPr>
          <a:xfrm>
            <a:off x="6487440" y="3670414"/>
            <a:ext cx="5034234" cy="576649"/>
          </a:xfrm>
          <a:custGeom>
            <a:avLst/>
            <a:gdLst/>
            <a:ahLst/>
            <a:cxnLst/>
            <a:rect l="l" t="t" r="r" b="b"/>
            <a:pathLst>
              <a:path w="5034234" h="576649">
                <a:moveTo>
                  <a:pt x="73223" y="0"/>
                </a:moveTo>
                <a:lnTo>
                  <a:pt x="4961011" y="0"/>
                </a:lnTo>
                <a:cubicBezTo>
                  <a:pt x="5001451" y="0"/>
                  <a:pt x="5034234" y="32783"/>
                  <a:pt x="5034234" y="73223"/>
                </a:cubicBezTo>
                <a:lnTo>
                  <a:pt x="5034234" y="503426"/>
                </a:lnTo>
                <a:cubicBezTo>
                  <a:pt x="5034234" y="543866"/>
                  <a:pt x="5001451" y="576649"/>
                  <a:pt x="4961011" y="576649"/>
                </a:cubicBezTo>
                <a:lnTo>
                  <a:pt x="73223" y="576649"/>
                </a:lnTo>
                <a:cubicBezTo>
                  <a:pt x="32783" y="576649"/>
                  <a:pt x="0" y="543866"/>
                  <a:pt x="0" y="503426"/>
                </a:cubicBezTo>
                <a:lnTo>
                  <a:pt x="0" y="73223"/>
                </a:lnTo>
                <a:cubicBezTo>
                  <a:pt x="0" y="32783"/>
                  <a:pt x="32783" y="0"/>
                  <a:pt x="73223" y="0"/>
                </a:cubicBezTo>
                <a:close/>
              </a:path>
            </a:pathLst>
          </a:custGeom>
          <a:solidFill>
            <a:srgbClr val="1E293B"/>
          </a:solidFill>
          <a:ln/>
        </p:spPr>
      </p:sp>
      <p:sp>
        <p:nvSpPr>
          <p:cNvPr id="35" name="Text 33"/>
          <p:cNvSpPr/>
          <p:nvPr/>
        </p:nvSpPr>
        <p:spPr>
          <a:xfrm>
            <a:off x="6597278" y="3798559"/>
            <a:ext cx="1695050" cy="137297"/>
          </a:xfrm>
          <a:prstGeom prst="rect">
            <a:avLst/>
          </a:prstGeom>
          <a:noFill/>
          <a:ln/>
        </p:spPr>
        <p:txBody>
          <a:bodyPr wrap="square" lIns="0" tIns="0" rIns="0" bIns="0" rtlCol="0" anchor="ctr"/>
          <a:lstStyle/>
          <a:p>
            <a:pPr>
              <a:lnSpc>
                <a:spcPct val="130000"/>
              </a:lnSpc>
            </a:pPr>
            <a:r>
              <a:rPr lang="en-US" sz="937" dirty="0">
                <a:solidFill>
                  <a:srgbClr val="8B5CF6"/>
                </a:solidFill>
                <a:latin typeface="MiSans" pitchFamily="34" charset="0"/>
                <a:ea typeface="MiSans" pitchFamily="34" charset="-122"/>
                <a:cs typeface="MiSans" pitchFamily="34" charset="-120"/>
              </a:rPr>
              <a:t>are any of the docstrings</a:t>
            </a:r>
            <a:endParaRPr lang="en-US" sz="1600" dirty="0"/>
          </a:p>
        </p:txBody>
      </p:sp>
      <p:sp>
        <p:nvSpPr>
          <p:cNvPr id="36" name="Text 34"/>
          <p:cNvSpPr/>
          <p:nvPr/>
        </p:nvSpPr>
        <p:spPr>
          <a:xfrm>
            <a:off x="6597278" y="3977045"/>
            <a:ext cx="844664" cy="137297"/>
          </a:xfrm>
          <a:prstGeom prst="rect">
            <a:avLst/>
          </a:prstGeom>
          <a:noFill/>
          <a:ln/>
        </p:spPr>
        <p:txBody>
          <a:bodyPr wrap="square" lIns="0" tIns="0" rIns="0" bIns="0" rtlCol="0" anchor="ctr"/>
          <a:lstStyle/>
          <a:p>
            <a:pPr>
              <a:lnSpc>
                <a:spcPct val="130000"/>
              </a:lnSpc>
            </a:pPr>
            <a:r>
              <a:rPr lang="en-US" sz="937" dirty="0">
                <a:solidFill>
                  <a:srgbClr val="8B5CF6"/>
                </a:solidFill>
                <a:latin typeface="MiSans" pitchFamily="34" charset="0"/>
                <a:ea typeface="MiSans" pitchFamily="34" charset="-122"/>
                <a:cs typeface="MiSans" pitchFamily="34" charset="-120"/>
              </a:rPr>
              <a:t>out of sync?</a:t>
            </a:r>
            <a:endParaRPr lang="en-US" sz="1600" dirty="0"/>
          </a:p>
        </p:txBody>
      </p:sp>
      <p:sp>
        <p:nvSpPr>
          <p:cNvPr id="37" name="Shape 35"/>
          <p:cNvSpPr/>
          <p:nvPr/>
        </p:nvSpPr>
        <p:spPr>
          <a:xfrm>
            <a:off x="6382179" y="4471315"/>
            <a:ext cx="5244757" cy="961081"/>
          </a:xfrm>
          <a:custGeom>
            <a:avLst/>
            <a:gdLst/>
            <a:ahLst/>
            <a:cxnLst/>
            <a:rect l="l" t="t" r="r" b="b"/>
            <a:pathLst>
              <a:path w="5244757" h="961081">
                <a:moveTo>
                  <a:pt x="73225" y="0"/>
                </a:moveTo>
                <a:lnTo>
                  <a:pt x="5171532" y="0"/>
                </a:lnTo>
                <a:cubicBezTo>
                  <a:pt x="5211973" y="0"/>
                  <a:pt x="5244757" y="32784"/>
                  <a:pt x="5244757" y="73225"/>
                </a:cubicBezTo>
                <a:lnTo>
                  <a:pt x="5244757" y="887856"/>
                </a:lnTo>
                <a:cubicBezTo>
                  <a:pt x="5244757" y="928297"/>
                  <a:pt x="5211973" y="961081"/>
                  <a:pt x="5171532" y="961081"/>
                </a:cubicBezTo>
                <a:lnTo>
                  <a:pt x="73225" y="961081"/>
                </a:lnTo>
                <a:cubicBezTo>
                  <a:pt x="32784" y="961081"/>
                  <a:pt x="0" y="928297"/>
                  <a:pt x="0" y="887856"/>
                </a:cubicBezTo>
                <a:lnTo>
                  <a:pt x="0" y="73225"/>
                </a:lnTo>
                <a:cubicBezTo>
                  <a:pt x="0" y="32811"/>
                  <a:pt x="32811" y="0"/>
                  <a:pt x="73225"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38" name="Text 36"/>
          <p:cNvSpPr/>
          <p:nvPr/>
        </p:nvSpPr>
        <p:spPr>
          <a:xfrm>
            <a:off x="6496593" y="4585730"/>
            <a:ext cx="5089153" cy="219676"/>
          </a:xfrm>
          <a:prstGeom prst="rect">
            <a:avLst/>
          </a:prstGeom>
          <a:noFill/>
          <a:ln/>
        </p:spPr>
        <p:txBody>
          <a:bodyPr wrap="square" lIns="0" tIns="0" rIns="0" bIns="0" rtlCol="0" anchor="ctr"/>
          <a:lstStyle/>
          <a:p>
            <a:pPr>
              <a:lnSpc>
                <a:spcPct val="130000"/>
              </a:lnSpc>
            </a:pPr>
            <a:r>
              <a:rPr lang="en-US" sz="1153" b="1" dirty="0">
                <a:solidFill>
                  <a:srgbClr val="10B981"/>
                </a:solidFill>
                <a:latin typeface="MiSans" pitchFamily="34" charset="0"/>
                <a:ea typeface="MiSans" pitchFamily="34" charset="-122"/>
                <a:cs typeface="MiSans" pitchFamily="34" charset="-120"/>
              </a:rPr>
              <a:t>Kết quả AI phát hiện:</a:t>
            </a:r>
            <a:endParaRPr lang="en-US" sz="1600" dirty="0"/>
          </a:p>
        </p:txBody>
      </p:sp>
      <p:sp>
        <p:nvSpPr>
          <p:cNvPr id="39" name="Shape 37"/>
          <p:cNvSpPr/>
          <p:nvPr/>
        </p:nvSpPr>
        <p:spPr>
          <a:xfrm>
            <a:off x="6514900" y="4915243"/>
            <a:ext cx="128144" cy="128144"/>
          </a:xfrm>
          <a:custGeom>
            <a:avLst/>
            <a:gdLst/>
            <a:ahLst/>
            <a:cxnLst/>
            <a:rect l="l" t="t" r="r" b="b"/>
            <a:pathLst>
              <a:path w="128144" h="128144">
                <a:moveTo>
                  <a:pt x="64072" y="0"/>
                </a:moveTo>
                <a:cubicBezTo>
                  <a:pt x="67751" y="0"/>
                  <a:pt x="71130" y="2027"/>
                  <a:pt x="72882" y="5256"/>
                </a:cubicBezTo>
                <a:lnTo>
                  <a:pt x="126943" y="105369"/>
                </a:lnTo>
                <a:cubicBezTo>
                  <a:pt x="128620" y="108472"/>
                  <a:pt x="128545" y="112226"/>
                  <a:pt x="126743" y="115255"/>
                </a:cubicBezTo>
                <a:cubicBezTo>
                  <a:pt x="124941" y="118283"/>
                  <a:pt x="121662" y="120135"/>
                  <a:pt x="118133" y="120135"/>
                </a:cubicBezTo>
                <a:lnTo>
                  <a:pt x="10011" y="120135"/>
                </a:lnTo>
                <a:cubicBezTo>
                  <a:pt x="6482" y="120135"/>
                  <a:pt x="3229" y="118283"/>
                  <a:pt x="1402" y="115255"/>
                </a:cubicBezTo>
                <a:cubicBezTo>
                  <a:pt x="-425" y="112226"/>
                  <a:pt x="-476" y="108472"/>
                  <a:pt x="1201" y="105369"/>
                </a:cubicBezTo>
                <a:lnTo>
                  <a:pt x="55262" y="5256"/>
                </a:lnTo>
                <a:cubicBezTo>
                  <a:pt x="57014" y="2027"/>
                  <a:pt x="60393" y="0"/>
                  <a:pt x="64072" y="0"/>
                </a:cubicBezTo>
                <a:close/>
                <a:moveTo>
                  <a:pt x="64072" y="42047"/>
                </a:moveTo>
                <a:cubicBezTo>
                  <a:pt x="60743" y="42047"/>
                  <a:pt x="58065" y="44725"/>
                  <a:pt x="58065" y="48054"/>
                </a:cubicBezTo>
                <a:lnTo>
                  <a:pt x="58065" y="76086"/>
                </a:lnTo>
                <a:cubicBezTo>
                  <a:pt x="58065" y="79414"/>
                  <a:pt x="60743" y="82092"/>
                  <a:pt x="64072" y="82092"/>
                </a:cubicBezTo>
                <a:cubicBezTo>
                  <a:pt x="67401" y="82092"/>
                  <a:pt x="70079" y="79414"/>
                  <a:pt x="70079" y="76086"/>
                </a:cubicBezTo>
                <a:lnTo>
                  <a:pt x="70079" y="48054"/>
                </a:lnTo>
                <a:cubicBezTo>
                  <a:pt x="70079" y="44725"/>
                  <a:pt x="67401" y="42047"/>
                  <a:pt x="64072" y="42047"/>
                </a:cubicBezTo>
                <a:close/>
                <a:moveTo>
                  <a:pt x="70755" y="96108"/>
                </a:moveTo>
                <a:cubicBezTo>
                  <a:pt x="70907" y="93628"/>
                  <a:pt x="69670" y="91268"/>
                  <a:pt x="67543" y="89981"/>
                </a:cubicBezTo>
                <a:cubicBezTo>
                  <a:pt x="65417" y="88695"/>
                  <a:pt x="62752" y="88695"/>
                  <a:pt x="60626" y="89981"/>
                </a:cubicBezTo>
                <a:cubicBezTo>
                  <a:pt x="58500" y="91268"/>
                  <a:pt x="57263" y="93628"/>
                  <a:pt x="57415" y="96108"/>
                </a:cubicBezTo>
                <a:cubicBezTo>
                  <a:pt x="57263" y="98589"/>
                  <a:pt x="58500" y="100949"/>
                  <a:pt x="60626" y="102235"/>
                </a:cubicBezTo>
                <a:cubicBezTo>
                  <a:pt x="62752" y="103521"/>
                  <a:pt x="65417" y="103521"/>
                  <a:pt x="67543" y="102235"/>
                </a:cubicBezTo>
                <a:cubicBezTo>
                  <a:pt x="69670" y="100949"/>
                  <a:pt x="70907" y="98589"/>
                  <a:pt x="70755" y="96108"/>
                </a:cubicBezTo>
                <a:close/>
              </a:path>
            </a:pathLst>
          </a:custGeom>
          <a:solidFill>
            <a:srgbClr val="EF4444"/>
          </a:solidFill>
          <a:ln/>
        </p:spPr>
      </p:sp>
      <p:sp>
        <p:nvSpPr>
          <p:cNvPr id="40" name="Text 38"/>
          <p:cNvSpPr/>
          <p:nvPr/>
        </p:nvSpPr>
        <p:spPr>
          <a:xfrm>
            <a:off x="6729999" y="4878631"/>
            <a:ext cx="4091459" cy="183063"/>
          </a:xfrm>
          <a:prstGeom prst="rect">
            <a:avLst/>
          </a:prstGeom>
          <a:noFill/>
          <a:ln/>
        </p:spPr>
        <p:txBody>
          <a:bodyPr wrap="square" lIns="0" tIns="0" rIns="0" bIns="0" rtlCol="0" anchor="ctr"/>
          <a:lstStyle/>
          <a:p>
            <a:pPr>
              <a:lnSpc>
                <a:spcPct val="120000"/>
              </a:lnSpc>
            </a:pPr>
            <a:r>
              <a:rPr lang="en-US" sz="1009" dirty="0">
                <a:solidFill>
                  <a:srgbClr val="F1F5F9">
                    <a:alpha val="90000"/>
                  </a:srgbClr>
                </a:solidFill>
                <a:latin typeface="MiSans" pitchFamily="34" charset="0"/>
                <a:ea typeface="MiSans" pitchFamily="34" charset="-122"/>
                <a:cs typeface="MiSans" pitchFamily="34" charset="-120"/>
              </a:rPr>
              <a:t>Phát hiện mâu thuẫn: Docstring ghi "squared" nhưng code tính "sqrt"</a:t>
            </a:r>
            <a:endParaRPr lang="en-US" sz="1600" dirty="0"/>
          </a:p>
        </p:txBody>
      </p:sp>
      <p:sp>
        <p:nvSpPr>
          <p:cNvPr id="41" name="Shape 39"/>
          <p:cNvSpPr/>
          <p:nvPr/>
        </p:nvSpPr>
        <p:spPr>
          <a:xfrm>
            <a:off x="6506891" y="5171532"/>
            <a:ext cx="144162" cy="128144"/>
          </a:xfrm>
          <a:custGeom>
            <a:avLst/>
            <a:gdLst/>
            <a:ahLst/>
            <a:cxnLst/>
            <a:rect l="l" t="t" r="r" b="b"/>
            <a:pathLst>
              <a:path w="144162" h="128144">
                <a:moveTo>
                  <a:pt x="127493" y="24678"/>
                </a:moveTo>
                <a:cubicBezTo>
                  <a:pt x="129396" y="22776"/>
                  <a:pt x="132574" y="23251"/>
                  <a:pt x="133525" y="25754"/>
                </a:cubicBezTo>
                <a:cubicBezTo>
                  <a:pt x="135227" y="30184"/>
                  <a:pt x="136153" y="35014"/>
                  <a:pt x="136153" y="40045"/>
                </a:cubicBezTo>
                <a:cubicBezTo>
                  <a:pt x="136153" y="62170"/>
                  <a:pt x="118233" y="80090"/>
                  <a:pt x="96108" y="80090"/>
                </a:cubicBezTo>
                <a:cubicBezTo>
                  <a:pt x="91728" y="80090"/>
                  <a:pt x="87498" y="79389"/>
                  <a:pt x="83544" y="78088"/>
                </a:cubicBezTo>
                <a:lnTo>
                  <a:pt x="36766" y="124865"/>
                </a:lnTo>
                <a:cubicBezTo>
                  <a:pt x="29733" y="131898"/>
                  <a:pt x="18321" y="131898"/>
                  <a:pt x="11288" y="124865"/>
                </a:cubicBezTo>
                <a:cubicBezTo>
                  <a:pt x="4255" y="117833"/>
                  <a:pt x="4255" y="106420"/>
                  <a:pt x="11288" y="99387"/>
                </a:cubicBezTo>
                <a:lnTo>
                  <a:pt x="58065" y="52609"/>
                </a:lnTo>
                <a:cubicBezTo>
                  <a:pt x="56764" y="48655"/>
                  <a:pt x="56063" y="44450"/>
                  <a:pt x="56063" y="40045"/>
                </a:cubicBezTo>
                <a:cubicBezTo>
                  <a:pt x="56063" y="17920"/>
                  <a:pt x="73983" y="0"/>
                  <a:pt x="96108" y="0"/>
                </a:cubicBezTo>
                <a:cubicBezTo>
                  <a:pt x="101139" y="0"/>
                  <a:pt x="105969" y="926"/>
                  <a:pt x="110399" y="2628"/>
                </a:cubicBezTo>
                <a:cubicBezTo>
                  <a:pt x="112902" y="3579"/>
                  <a:pt x="113353" y="6758"/>
                  <a:pt x="111475" y="8660"/>
                </a:cubicBezTo>
                <a:lnTo>
                  <a:pt x="89275" y="30860"/>
                </a:lnTo>
                <a:cubicBezTo>
                  <a:pt x="88525" y="31611"/>
                  <a:pt x="88099" y="32637"/>
                  <a:pt x="88099" y="33688"/>
                </a:cubicBezTo>
                <a:lnTo>
                  <a:pt x="88099" y="44050"/>
                </a:lnTo>
                <a:cubicBezTo>
                  <a:pt x="88099" y="46252"/>
                  <a:pt x="89901" y="48054"/>
                  <a:pt x="92104" y="48054"/>
                </a:cubicBezTo>
                <a:lnTo>
                  <a:pt x="102465" y="48054"/>
                </a:lnTo>
                <a:cubicBezTo>
                  <a:pt x="103516" y="48054"/>
                  <a:pt x="104543" y="47629"/>
                  <a:pt x="105293" y="46878"/>
                </a:cubicBezTo>
                <a:lnTo>
                  <a:pt x="127493" y="24678"/>
                </a:lnTo>
                <a:close/>
              </a:path>
            </a:pathLst>
          </a:custGeom>
          <a:solidFill>
            <a:srgbClr val="3B82F6"/>
          </a:solidFill>
          <a:ln/>
        </p:spPr>
      </p:sp>
      <p:sp>
        <p:nvSpPr>
          <p:cNvPr id="42" name="Text 40"/>
          <p:cNvSpPr/>
          <p:nvPr/>
        </p:nvSpPr>
        <p:spPr>
          <a:xfrm>
            <a:off x="6729999" y="5134919"/>
            <a:ext cx="3551423" cy="183063"/>
          </a:xfrm>
          <a:prstGeom prst="rect">
            <a:avLst/>
          </a:prstGeom>
          <a:noFill/>
          <a:ln/>
        </p:spPr>
        <p:txBody>
          <a:bodyPr wrap="square" lIns="0" tIns="0" rIns="0" bIns="0" rtlCol="0" anchor="ctr"/>
          <a:lstStyle/>
          <a:p>
            <a:pPr>
              <a:lnSpc>
                <a:spcPct val="120000"/>
              </a:lnSpc>
            </a:pPr>
            <a:r>
              <a:rPr lang="en-US" sz="1009" dirty="0">
                <a:solidFill>
                  <a:srgbClr val="F1F5F9">
                    <a:alpha val="90000"/>
                  </a:srgbClr>
                </a:solidFill>
                <a:latin typeface="MiSans" pitchFamily="34" charset="0"/>
                <a:ea typeface="MiSans" pitchFamily="34" charset="-122"/>
                <a:cs typeface="MiSans" pitchFamily="34" charset="-120"/>
              </a:rPr>
              <a:t>Đề xuất sửa: Bỏ chữ "squared" hoặc đổi thành "square root"</a:t>
            </a:r>
            <a:endParaRPr lang="en-US" sz="1600" dirty="0"/>
          </a:p>
        </p:txBody>
      </p:sp>
      <p:sp>
        <p:nvSpPr>
          <p:cNvPr id="43" name="Shape 41"/>
          <p:cNvSpPr/>
          <p:nvPr/>
        </p:nvSpPr>
        <p:spPr>
          <a:xfrm>
            <a:off x="6189963" y="5780216"/>
            <a:ext cx="5629189" cy="1070919"/>
          </a:xfrm>
          <a:custGeom>
            <a:avLst/>
            <a:gdLst/>
            <a:ahLst/>
            <a:cxnLst/>
            <a:rect l="l" t="t" r="r" b="b"/>
            <a:pathLst>
              <a:path w="5629189" h="1070919">
                <a:moveTo>
                  <a:pt x="109833" y="0"/>
                </a:moveTo>
                <a:lnTo>
                  <a:pt x="5519356" y="0"/>
                </a:lnTo>
                <a:cubicBezTo>
                  <a:pt x="5580015" y="0"/>
                  <a:pt x="5629189" y="49174"/>
                  <a:pt x="5629189" y="109833"/>
                </a:cubicBezTo>
                <a:lnTo>
                  <a:pt x="5629189" y="961085"/>
                </a:lnTo>
                <a:cubicBezTo>
                  <a:pt x="5629189" y="1021745"/>
                  <a:pt x="5580015" y="1070919"/>
                  <a:pt x="5519356" y="1070919"/>
                </a:cubicBezTo>
                <a:lnTo>
                  <a:pt x="109833" y="1070919"/>
                </a:lnTo>
                <a:cubicBezTo>
                  <a:pt x="49174" y="1070919"/>
                  <a:pt x="0" y="1021745"/>
                  <a:pt x="0" y="961085"/>
                </a:cubicBezTo>
                <a:lnTo>
                  <a:pt x="0" y="109833"/>
                </a:lnTo>
                <a:cubicBezTo>
                  <a:pt x="0" y="49215"/>
                  <a:pt x="49215" y="0"/>
                  <a:pt x="109833" y="0"/>
                </a:cubicBezTo>
                <a:close/>
              </a:path>
            </a:pathLst>
          </a:custGeom>
          <a:gradFill rotWithShape="1" flip="none">
            <a:gsLst>
              <a:gs pos="0">
                <a:srgbClr val="8B5CF6">
                  <a:alpha val="10000"/>
                </a:srgbClr>
              </a:gs>
              <a:gs pos="100000">
                <a:srgbClr val="10B981">
                  <a:alpha val="10000"/>
                </a:srgbClr>
              </a:gs>
            </a:gsLst>
            <a:lin ang="0" scaled="1"/>
          </a:gradFill>
          <a:ln w="12700">
            <a:solidFill>
              <a:srgbClr val="8B5CF6">
                <a:alpha val="30196"/>
              </a:srgbClr>
            </a:solidFill>
            <a:prstDash val="solid"/>
          </a:ln>
        </p:spPr>
      </p:sp>
      <p:sp>
        <p:nvSpPr>
          <p:cNvPr id="44" name="Shape 42"/>
          <p:cNvSpPr/>
          <p:nvPr/>
        </p:nvSpPr>
        <p:spPr>
          <a:xfrm>
            <a:off x="6363873" y="5977009"/>
            <a:ext cx="164757" cy="164757"/>
          </a:xfrm>
          <a:custGeom>
            <a:avLst/>
            <a:gdLst/>
            <a:ahLst/>
            <a:cxnLst/>
            <a:rect l="l" t="t" r="r" b="b"/>
            <a:pathLst>
              <a:path w="164757" h="164757">
                <a:moveTo>
                  <a:pt x="82378" y="0"/>
                </a:moveTo>
                <a:cubicBezTo>
                  <a:pt x="83859" y="0"/>
                  <a:pt x="85339" y="322"/>
                  <a:pt x="86690" y="933"/>
                </a:cubicBezTo>
                <a:lnTo>
                  <a:pt x="147316" y="26644"/>
                </a:lnTo>
                <a:cubicBezTo>
                  <a:pt x="154395" y="29637"/>
                  <a:pt x="159672" y="36620"/>
                  <a:pt x="159640" y="45051"/>
                </a:cubicBezTo>
                <a:cubicBezTo>
                  <a:pt x="159479" y="76972"/>
                  <a:pt x="146350" y="135377"/>
                  <a:pt x="90906" y="161925"/>
                </a:cubicBezTo>
                <a:cubicBezTo>
                  <a:pt x="85532" y="164499"/>
                  <a:pt x="79289" y="164499"/>
                  <a:pt x="73915" y="161925"/>
                </a:cubicBezTo>
                <a:cubicBezTo>
                  <a:pt x="18439" y="135377"/>
                  <a:pt x="5342" y="76972"/>
                  <a:pt x="5181" y="45051"/>
                </a:cubicBezTo>
                <a:cubicBezTo>
                  <a:pt x="5149" y="36620"/>
                  <a:pt x="10426" y="29637"/>
                  <a:pt x="17505" y="26644"/>
                </a:cubicBezTo>
                <a:lnTo>
                  <a:pt x="78099" y="933"/>
                </a:lnTo>
                <a:cubicBezTo>
                  <a:pt x="79450" y="322"/>
                  <a:pt x="80898" y="0"/>
                  <a:pt x="82378" y="0"/>
                </a:cubicBezTo>
                <a:close/>
                <a:moveTo>
                  <a:pt x="82378" y="21496"/>
                </a:moveTo>
                <a:lnTo>
                  <a:pt x="82378" y="143165"/>
                </a:lnTo>
                <a:cubicBezTo>
                  <a:pt x="126785" y="121669"/>
                  <a:pt x="138724" y="74044"/>
                  <a:pt x="139014" y="45533"/>
                </a:cubicBezTo>
                <a:lnTo>
                  <a:pt x="82378" y="21528"/>
                </a:lnTo>
                <a:lnTo>
                  <a:pt x="82378" y="21528"/>
                </a:lnTo>
                <a:close/>
              </a:path>
            </a:pathLst>
          </a:custGeom>
          <a:solidFill>
            <a:srgbClr val="10B981"/>
          </a:solidFill>
          <a:ln/>
        </p:spPr>
      </p:sp>
      <p:sp>
        <p:nvSpPr>
          <p:cNvPr id="45" name="Text 43"/>
          <p:cNvSpPr/>
          <p:nvPr/>
        </p:nvSpPr>
        <p:spPr>
          <a:xfrm>
            <a:off x="6551512" y="5931243"/>
            <a:ext cx="5198991" cy="256288"/>
          </a:xfrm>
          <a:prstGeom prst="rect">
            <a:avLst/>
          </a:prstGeom>
          <a:noFill/>
          <a:ln/>
        </p:spPr>
        <p:txBody>
          <a:bodyPr wrap="square" lIns="0" tIns="0" rIns="0" bIns="0" rtlCol="0" anchor="ctr"/>
          <a:lstStyle/>
          <a:p>
            <a:pPr>
              <a:lnSpc>
                <a:spcPct val="130000"/>
              </a:lnSpc>
            </a:pPr>
            <a:r>
              <a:rPr lang="en-US" sz="1297" b="1" dirty="0">
                <a:solidFill>
                  <a:srgbClr val="F1F5F9"/>
                </a:solidFill>
                <a:latin typeface="MiSans" pitchFamily="34" charset="0"/>
                <a:ea typeface="MiSans" pitchFamily="34" charset="-122"/>
                <a:cs typeface="MiSans" pitchFamily="34" charset="-120"/>
              </a:rPr>
              <a:t>Giá trị của tính năng này</a:t>
            </a:r>
            <a:endParaRPr lang="en-US" sz="1600" dirty="0"/>
          </a:p>
        </p:txBody>
      </p:sp>
      <p:sp>
        <p:nvSpPr>
          <p:cNvPr id="46" name="Text 44"/>
          <p:cNvSpPr/>
          <p:nvPr/>
        </p:nvSpPr>
        <p:spPr>
          <a:xfrm>
            <a:off x="6340990" y="6260757"/>
            <a:ext cx="5400360" cy="439351"/>
          </a:xfrm>
          <a:prstGeom prst="rect">
            <a:avLst/>
          </a:prstGeom>
          <a:noFill/>
          <a:ln/>
        </p:spPr>
        <p:txBody>
          <a:bodyPr wrap="square" lIns="0" tIns="0" rIns="0" bIns="0" rtlCol="0" anchor="ctr"/>
          <a:lstStyle/>
          <a:p>
            <a:pPr>
              <a:lnSpc>
                <a:spcPct val="130000"/>
              </a:lnSpc>
            </a:pPr>
            <a:r>
              <a:rPr lang="en-US" sz="1153" dirty="0">
                <a:solidFill>
                  <a:srgbClr val="F1F5F9">
                    <a:alpha val="90000"/>
                  </a:srgbClr>
                </a:solidFill>
                <a:latin typeface="MiSans" pitchFamily="34" charset="0"/>
                <a:ea typeface="MiSans" pitchFamily="34" charset="-122"/>
                <a:cs typeface="MiSans" pitchFamily="34" charset="-120"/>
              </a:rPr>
              <a:t>Tự động phát hiện tài liệu lỗi thờtrước khi gây hiểu nhầm, đảm bảo tính chân thực và nhất quán của dự án trong dài hạn.</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98872" y="561975"/>
            <a:ext cx="150019" cy="171450"/>
          </a:xfrm>
          <a:custGeom>
            <a:avLst/>
            <a:gdLst/>
            <a:ahLst/>
            <a:cxnLst/>
            <a:rect l="l" t="t" r="r" b="b"/>
            <a:pathLst>
              <a:path w="150019" h="171450">
                <a:moveTo>
                  <a:pt x="10716" y="0"/>
                </a:moveTo>
                <a:cubicBezTo>
                  <a:pt x="16643" y="0"/>
                  <a:pt x="21431" y="4789"/>
                  <a:pt x="21431" y="10716"/>
                </a:cubicBezTo>
                <a:lnTo>
                  <a:pt x="21431" y="16073"/>
                </a:lnTo>
                <a:lnTo>
                  <a:pt x="44537" y="10314"/>
                </a:lnTo>
                <a:cubicBezTo>
                  <a:pt x="57295" y="7133"/>
                  <a:pt x="70757" y="8606"/>
                  <a:pt x="82544" y="14500"/>
                </a:cubicBezTo>
                <a:cubicBezTo>
                  <a:pt x="98048" y="22268"/>
                  <a:pt x="116298" y="22268"/>
                  <a:pt x="131802" y="14500"/>
                </a:cubicBezTo>
                <a:lnTo>
                  <a:pt x="135017" y="12892"/>
                </a:lnTo>
                <a:cubicBezTo>
                  <a:pt x="141915" y="9410"/>
                  <a:pt x="150019" y="14433"/>
                  <a:pt x="150019" y="22134"/>
                </a:cubicBezTo>
                <a:lnTo>
                  <a:pt x="150019" y="115796"/>
                </a:lnTo>
                <a:cubicBezTo>
                  <a:pt x="150019" y="120249"/>
                  <a:pt x="147239" y="124268"/>
                  <a:pt x="143054" y="125842"/>
                </a:cubicBezTo>
                <a:lnTo>
                  <a:pt x="131434" y="130195"/>
                </a:lnTo>
                <a:cubicBezTo>
                  <a:pt x="115963" y="135988"/>
                  <a:pt x="98751" y="135084"/>
                  <a:pt x="83984" y="127717"/>
                </a:cubicBezTo>
                <a:cubicBezTo>
                  <a:pt x="71292" y="121354"/>
                  <a:pt x="56726" y="119781"/>
                  <a:pt x="42963" y="123230"/>
                </a:cubicBezTo>
                <a:lnTo>
                  <a:pt x="21431" y="128588"/>
                </a:lnTo>
                <a:lnTo>
                  <a:pt x="21431" y="160734"/>
                </a:lnTo>
                <a:cubicBezTo>
                  <a:pt x="21431" y="166661"/>
                  <a:pt x="16643" y="171450"/>
                  <a:pt x="10716" y="171450"/>
                </a:cubicBezTo>
                <a:cubicBezTo>
                  <a:pt x="4789" y="171450"/>
                  <a:pt x="0" y="166661"/>
                  <a:pt x="0" y="160734"/>
                </a:cubicBezTo>
                <a:lnTo>
                  <a:pt x="0" y="10716"/>
                </a:lnTo>
                <a:cubicBezTo>
                  <a:pt x="0" y="4789"/>
                  <a:pt x="4789" y="0"/>
                  <a:pt x="10716" y="0"/>
                </a:cubicBezTo>
                <a:close/>
                <a:moveTo>
                  <a:pt x="21431" y="62653"/>
                </a:moveTo>
                <a:lnTo>
                  <a:pt x="42863" y="57998"/>
                </a:lnTo>
                <a:lnTo>
                  <a:pt x="42863" y="79932"/>
                </a:lnTo>
                <a:lnTo>
                  <a:pt x="21431" y="84586"/>
                </a:lnTo>
                <a:lnTo>
                  <a:pt x="21431" y="106520"/>
                </a:lnTo>
                <a:lnTo>
                  <a:pt x="37773" y="102435"/>
                </a:lnTo>
                <a:cubicBezTo>
                  <a:pt x="39480" y="101999"/>
                  <a:pt x="41155" y="101631"/>
                  <a:pt x="42863" y="101330"/>
                </a:cubicBezTo>
                <a:lnTo>
                  <a:pt x="42863" y="79932"/>
                </a:lnTo>
                <a:lnTo>
                  <a:pt x="55889" y="77119"/>
                </a:lnTo>
                <a:cubicBezTo>
                  <a:pt x="58668" y="76516"/>
                  <a:pt x="61481" y="76282"/>
                  <a:pt x="64294" y="76416"/>
                </a:cubicBezTo>
                <a:lnTo>
                  <a:pt x="64294" y="54985"/>
                </a:lnTo>
                <a:cubicBezTo>
                  <a:pt x="68848" y="55118"/>
                  <a:pt x="73402" y="55855"/>
                  <a:pt x="77822" y="57128"/>
                </a:cubicBezTo>
                <a:lnTo>
                  <a:pt x="85725" y="59438"/>
                </a:lnTo>
                <a:lnTo>
                  <a:pt x="85725" y="81774"/>
                </a:lnTo>
                <a:lnTo>
                  <a:pt x="71761" y="77655"/>
                </a:lnTo>
                <a:cubicBezTo>
                  <a:pt x="69317" y="76952"/>
                  <a:pt x="66805" y="76516"/>
                  <a:pt x="64294" y="76382"/>
                </a:cubicBezTo>
                <a:lnTo>
                  <a:pt x="64294" y="100292"/>
                </a:lnTo>
                <a:cubicBezTo>
                  <a:pt x="71594" y="100928"/>
                  <a:pt x="78793" y="102535"/>
                  <a:pt x="85725" y="105114"/>
                </a:cubicBezTo>
                <a:lnTo>
                  <a:pt x="85725" y="81740"/>
                </a:lnTo>
                <a:lnTo>
                  <a:pt x="93326" y="83984"/>
                </a:lnTo>
                <a:cubicBezTo>
                  <a:pt x="97847" y="85323"/>
                  <a:pt x="102468" y="86127"/>
                  <a:pt x="107156" y="86462"/>
                </a:cubicBezTo>
                <a:lnTo>
                  <a:pt x="107156" y="64963"/>
                </a:lnTo>
                <a:cubicBezTo>
                  <a:pt x="104544" y="64696"/>
                  <a:pt x="101932" y="64193"/>
                  <a:pt x="99387" y="63457"/>
                </a:cubicBezTo>
                <a:lnTo>
                  <a:pt x="85725" y="59438"/>
                </a:lnTo>
                <a:lnTo>
                  <a:pt x="85725" y="38677"/>
                </a:lnTo>
                <a:cubicBezTo>
                  <a:pt x="81372" y="37404"/>
                  <a:pt x="77086" y="35730"/>
                  <a:pt x="72933" y="33654"/>
                </a:cubicBezTo>
                <a:cubicBezTo>
                  <a:pt x="70187" y="32281"/>
                  <a:pt x="67274" y="31310"/>
                  <a:pt x="64294" y="30707"/>
                </a:cubicBezTo>
                <a:lnTo>
                  <a:pt x="64294" y="54951"/>
                </a:lnTo>
                <a:cubicBezTo>
                  <a:pt x="59941" y="54817"/>
                  <a:pt x="55587" y="55219"/>
                  <a:pt x="51335" y="56157"/>
                </a:cubicBezTo>
                <a:lnTo>
                  <a:pt x="42863" y="57998"/>
                </a:lnTo>
                <a:lnTo>
                  <a:pt x="42863" y="32817"/>
                </a:lnTo>
                <a:lnTo>
                  <a:pt x="21431" y="38174"/>
                </a:lnTo>
                <a:lnTo>
                  <a:pt x="21431" y="62653"/>
                </a:lnTo>
                <a:close/>
                <a:moveTo>
                  <a:pt x="107156" y="112414"/>
                </a:moveTo>
                <a:cubicBezTo>
                  <a:pt x="112782" y="112916"/>
                  <a:pt x="118508" y="112179"/>
                  <a:pt x="123899" y="110137"/>
                </a:cubicBezTo>
                <a:lnTo>
                  <a:pt x="128588" y="108395"/>
                </a:lnTo>
                <a:lnTo>
                  <a:pt x="128588" y="84386"/>
                </a:lnTo>
                <a:lnTo>
                  <a:pt x="125942" y="84988"/>
                </a:lnTo>
                <a:cubicBezTo>
                  <a:pt x="119781" y="86428"/>
                  <a:pt x="113452" y="86897"/>
                  <a:pt x="107156" y="86495"/>
                </a:cubicBezTo>
                <a:lnTo>
                  <a:pt x="107156" y="112414"/>
                </a:lnTo>
                <a:close/>
                <a:moveTo>
                  <a:pt x="128588" y="62385"/>
                </a:moveTo>
                <a:lnTo>
                  <a:pt x="128588" y="38677"/>
                </a:lnTo>
                <a:cubicBezTo>
                  <a:pt x="121589" y="40719"/>
                  <a:pt x="114389" y="41724"/>
                  <a:pt x="107156" y="41724"/>
                </a:cubicBezTo>
                <a:lnTo>
                  <a:pt x="107156" y="64963"/>
                </a:lnTo>
                <a:cubicBezTo>
                  <a:pt x="111811" y="65432"/>
                  <a:pt x="116532" y="65131"/>
                  <a:pt x="121120" y="64093"/>
                </a:cubicBezTo>
                <a:lnTo>
                  <a:pt x="128588" y="62352"/>
                </a:lnTo>
                <a:close/>
              </a:path>
            </a:pathLst>
          </a:custGeom>
          <a:solidFill>
            <a:srgbClr val="FFFFFF"/>
          </a:solidFill>
          <a:ln/>
        </p:spPr>
      </p:sp>
      <p:sp>
        <p:nvSpPr>
          <p:cNvPr id="4" name="Text 2"/>
          <p:cNvSpPr/>
          <p:nvPr/>
        </p:nvSpPr>
        <p:spPr>
          <a:xfrm>
            <a:off x="876300" y="381000"/>
            <a:ext cx="5810250"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12 | KẾT LUẬN</a:t>
            </a:r>
            <a:endParaRPr lang="en-US" sz="1600" dirty="0"/>
          </a:p>
        </p:txBody>
      </p:sp>
      <p:sp>
        <p:nvSpPr>
          <p:cNvPr id="5" name="Text 3"/>
          <p:cNvSpPr/>
          <p:nvPr/>
        </p:nvSpPr>
        <p:spPr>
          <a:xfrm>
            <a:off x="876300" y="571500"/>
            <a:ext cx="58864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Kết luận: Giá trị của GenAI trong tài liệu hóa</a:t>
            </a:r>
            <a:endParaRPr lang="en-US" sz="1600" dirty="0"/>
          </a:p>
        </p:txBody>
      </p:sp>
      <p:sp>
        <p:nvSpPr>
          <p:cNvPr id="6" name="Shape 4"/>
          <p:cNvSpPr/>
          <p:nvPr/>
        </p:nvSpPr>
        <p:spPr>
          <a:xfrm>
            <a:off x="385763" y="1147763"/>
            <a:ext cx="3695700" cy="2143125"/>
          </a:xfrm>
          <a:custGeom>
            <a:avLst/>
            <a:gdLst/>
            <a:ahLst/>
            <a:cxnLst/>
            <a:rect l="l" t="t" r="r" b="b"/>
            <a:pathLst>
              <a:path w="3695700" h="2143125">
                <a:moveTo>
                  <a:pt x="114293" y="0"/>
                </a:moveTo>
                <a:lnTo>
                  <a:pt x="3581407" y="0"/>
                </a:lnTo>
                <a:cubicBezTo>
                  <a:pt x="3644529" y="0"/>
                  <a:pt x="3695700" y="51171"/>
                  <a:pt x="3695700" y="114293"/>
                </a:cubicBezTo>
                <a:lnTo>
                  <a:pt x="3695700" y="2028832"/>
                </a:lnTo>
                <a:cubicBezTo>
                  <a:pt x="3695700" y="2091954"/>
                  <a:pt x="3644529" y="2143125"/>
                  <a:pt x="3581407" y="2143125"/>
                </a:cubicBezTo>
                <a:lnTo>
                  <a:pt x="114293" y="2143125"/>
                </a:lnTo>
                <a:cubicBezTo>
                  <a:pt x="51171" y="2143125"/>
                  <a:pt x="0" y="2091954"/>
                  <a:pt x="0" y="2028832"/>
                </a:cubicBezTo>
                <a:lnTo>
                  <a:pt x="0" y="114293"/>
                </a:lnTo>
                <a:cubicBezTo>
                  <a:pt x="0" y="51171"/>
                  <a:pt x="51171" y="0"/>
                  <a:pt x="114293"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1025" y="13430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B82F6"/>
          </a:solidFill>
          <a:ln/>
        </p:spPr>
      </p:sp>
      <p:sp>
        <p:nvSpPr>
          <p:cNvPr id="8" name="Shape 6"/>
          <p:cNvSpPr/>
          <p:nvPr/>
        </p:nvSpPr>
        <p:spPr>
          <a:xfrm>
            <a:off x="733425" y="1495425"/>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FFFFFF"/>
          </a:solidFill>
          <a:ln/>
        </p:spPr>
      </p:sp>
      <p:sp>
        <p:nvSpPr>
          <p:cNvPr id="9" name="Text 7"/>
          <p:cNvSpPr/>
          <p:nvPr/>
        </p:nvSpPr>
        <p:spPr>
          <a:xfrm>
            <a:off x="581025" y="2028825"/>
            <a:ext cx="34004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Tăng tốc độ code</a:t>
            </a:r>
            <a:endParaRPr lang="en-US" sz="1600" dirty="0"/>
          </a:p>
        </p:txBody>
      </p:sp>
      <p:sp>
        <p:nvSpPr>
          <p:cNvPr id="10" name="Text 8"/>
          <p:cNvSpPr/>
          <p:nvPr/>
        </p:nvSpPr>
        <p:spPr>
          <a:xfrm>
            <a:off x="581025" y="2409825"/>
            <a:ext cx="3381375" cy="6858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Tự động hóa việc tạo docstring giúp developer tiết kiệm thờigian đáng kể, tập trung vào logic chính.</a:t>
            </a:r>
            <a:endParaRPr lang="en-US" sz="1600" dirty="0"/>
          </a:p>
        </p:txBody>
      </p:sp>
      <p:sp>
        <p:nvSpPr>
          <p:cNvPr id="11" name="Shape 9"/>
          <p:cNvSpPr/>
          <p:nvPr/>
        </p:nvSpPr>
        <p:spPr>
          <a:xfrm>
            <a:off x="4246513" y="1147763"/>
            <a:ext cx="3695700" cy="2143125"/>
          </a:xfrm>
          <a:custGeom>
            <a:avLst/>
            <a:gdLst/>
            <a:ahLst/>
            <a:cxnLst/>
            <a:rect l="l" t="t" r="r" b="b"/>
            <a:pathLst>
              <a:path w="3695700" h="2143125">
                <a:moveTo>
                  <a:pt x="114293" y="0"/>
                </a:moveTo>
                <a:lnTo>
                  <a:pt x="3581407" y="0"/>
                </a:lnTo>
                <a:cubicBezTo>
                  <a:pt x="3644529" y="0"/>
                  <a:pt x="3695700" y="51171"/>
                  <a:pt x="3695700" y="114293"/>
                </a:cubicBezTo>
                <a:lnTo>
                  <a:pt x="3695700" y="2028832"/>
                </a:lnTo>
                <a:cubicBezTo>
                  <a:pt x="3695700" y="2091954"/>
                  <a:pt x="3644529" y="2143125"/>
                  <a:pt x="3581407" y="2143125"/>
                </a:cubicBezTo>
                <a:lnTo>
                  <a:pt x="114293" y="2143125"/>
                </a:lnTo>
                <a:cubicBezTo>
                  <a:pt x="51171" y="2143125"/>
                  <a:pt x="0" y="2091954"/>
                  <a:pt x="0" y="2028832"/>
                </a:cubicBezTo>
                <a:lnTo>
                  <a:pt x="0" y="114293"/>
                </a:lnTo>
                <a:cubicBezTo>
                  <a:pt x="0" y="51171"/>
                  <a:pt x="51171" y="0"/>
                  <a:pt x="114293"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12" name="Shape 10"/>
          <p:cNvSpPr/>
          <p:nvPr/>
        </p:nvSpPr>
        <p:spPr>
          <a:xfrm>
            <a:off x="4441775" y="13430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B5CF6"/>
          </a:solidFill>
          <a:ln/>
        </p:spPr>
      </p:sp>
      <p:sp>
        <p:nvSpPr>
          <p:cNvPr id="13" name="Shape 11"/>
          <p:cNvSpPr/>
          <p:nvPr/>
        </p:nvSpPr>
        <p:spPr>
          <a:xfrm>
            <a:off x="4594175" y="1495425"/>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FFFFFF"/>
          </a:solidFill>
          <a:ln/>
        </p:spPr>
      </p:sp>
      <p:sp>
        <p:nvSpPr>
          <p:cNvPr id="14" name="Text 12"/>
          <p:cNvSpPr/>
          <p:nvPr/>
        </p:nvSpPr>
        <p:spPr>
          <a:xfrm>
            <a:off x="4441775" y="2028825"/>
            <a:ext cx="34004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Rà soát Stale Comments</a:t>
            </a:r>
            <a:endParaRPr lang="en-US" sz="1600" dirty="0"/>
          </a:p>
        </p:txBody>
      </p:sp>
      <p:sp>
        <p:nvSpPr>
          <p:cNvPr id="15" name="Text 13"/>
          <p:cNvSpPr/>
          <p:nvPr/>
        </p:nvSpPr>
        <p:spPr>
          <a:xfrm>
            <a:off x="4441775" y="2409825"/>
            <a:ext cx="3381375"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Cơ chế tự động phát hiện tài liệu lỗi thờ, đảm bảo tính chân thực và nhất quán của dự án.</a:t>
            </a:r>
            <a:endParaRPr lang="en-US" sz="1600" dirty="0"/>
          </a:p>
        </p:txBody>
      </p:sp>
      <p:sp>
        <p:nvSpPr>
          <p:cNvPr id="16" name="Shape 14"/>
          <p:cNvSpPr/>
          <p:nvPr/>
        </p:nvSpPr>
        <p:spPr>
          <a:xfrm>
            <a:off x="8107263" y="1147763"/>
            <a:ext cx="3695700" cy="2143125"/>
          </a:xfrm>
          <a:custGeom>
            <a:avLst/>
            <a:gdLst/>
            <a:ahLst/>
            <a:cxnLst/>
            <a:rect l="l" t="t" r="r" b="b"/>
            <a:pathLst>
              <a:path w="3695700" h="2143125">
                <a:moveTo>
                  <a:pt x="114293" y="0"/>
                </a:moveTo>
                <a:lnTo>
                  <a:pt x="3581407" y="0"/>
                </a:lnTo>
                <a:cubicBezTo>
                  <a:pt x="3644529" y="0"/>
                  <a:pt x="3695700" y="51171"/>
                  <a:pt x="3695700" y="114293"/>
                </a:cubicBezTo>
                <a:lnTo>
                  <a:pt x="3695700" y="2028832"/>
                </a:lnTo>
                <a:cubicBezTo>
                  <a:pt x="3695700" y="2091954"/>
                  <a:pt x="3644529" y="2143125"/>
                  <a:pt x="3581407" y="2143125"/>
                </a:cubicBezTo>
                <a:lnTo>
                  <a:pt x="114293" y="2143125"/>
                </a:lnTo>
                <a:cubicBezTo>
                  <a:pt x="51171" y="2143125"/>
                  <a:pt x="0" y="2091954"/>
                  <a:pt x="0" y="2028832"/>
                </a:cubicBezTo>
                <a:lnTo>
                  <a:pt x="0" y="114293"/>
                </a:lnTo>
                <a:cubicBezTo>
                  <a:pt x="0" y="51171"/>
                  <a:pt x="51171" y="0"/>
                  <a:pt x="114293"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17" name="Shape 15"/>
          <p:cNvSpPr/>
          <p:nvPr/>
        </p:nvSpPr>
        <p:spPr>
          <a:xfrm>
            <a:off x="8302526" y="13430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0B981"/>
          </a:solidFill>
          <a:ln/>
        </p:spPr>
      </p:sp>
      <p:sp>
        <p:nvSpPr>
          <p:cNvPr id="18" name="Shape 16"/>
          <p:cNvSpPr/>
          <p:nvPr/>
        </p:nvSpPr>
        <p:spPr>
          <a:xfrm>
            <a:off x="8426351" y="1495425"/>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FFFFFF"/>
          </a:solidFill>
          <a:ln/>
        </p:spPr>
      </p:sp>
      <p:sp>
        <p:nvSpPr>
          <p:cNvPr id="19" name="Text 17"/>
          <p:cNvSpPr/>
          <p:nvPr/>
        </p:nvSpPr>
        <p:spPr>
          <a:xfrm>
            <a:off x="8302526" y="2028825"/>
            <a:ext cx="34004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Duy trì nhất quán</a:t>
            </a:r>
            <a:endParaRPr lang="en-US" sz="1600" dirty="0"/>
          </a:p>
        </p:txBody>
      </p:sp>
      <p:sp>
        <p:nvSpPr>
          <p:cNvPr id="20" name="Text 18"/>
          <p:cNvSpPr/>
          <p:nvPr/>
        </p:nvSpPr>
        <p:spPr>
          <a:xfrm>
            <a:off x="8302526" y="2409825"/>
            <a:ext cx="3381375" cy="6858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Đảm bảo toàn bộ team tuân thủ cùng một chuẩn định dạng docstring (Google, NumPy, PEP 257).</a:t>
            </a:r>
            <a:endParaRPr lang="en-US" sz="1600" dirty="0"/>
          </a:p>
        </p:txBody>
      </p:sp>
      <p:sp>
        <p:nvSpPr>
          <p:cNvPr id="21" name="Shape 19"/>
          <p:cNvSpPr/>
          <p:nvPr/>
        </p:nvSpPr>
        <p:spPr>
          <a:xfrm>
            <a:off x="385763" y="3452813"/>
            <a:ext cx="11420475" cy="1762125"/>
          </a:xfrm>
          <a:custGeom>
            <a:avLst/>
            <a:gdLst/>
            <a:ahLst/>
            <a:cxnLst/>
            <a:rect l="l" t="t" r="r" b="b"/>
            <a:pathLst>
              <a:path w="11420475" h="1762125">
                <a:moveTo>
                  <a:pt x="114291" y="0"/>
                </a:moveTo>
                <a:lnTo>
                  <a:pt x="11306184" y="0"/>
                </a:lnTo>
                <a:cubicBezTo>
                  <a:pt x="11369305" y="0"/>
                  <a:pt x="11420475" y="51170"/>
                  <a:pt x="11420475" y="114291"/>
                </a:cubicBezTo>
                <a:lnTo>
                  <a:pt x="11420475" y="1647834"/>
                </a:lnTo>
                <a:cubicBezTo>
                  <a:pt x="11420475" y="1710955"/>
                  <a:pt x="11369305" y="1762125"/>
                  <a:pt x="11306184" y="1762125"/>
                </a:cubicBezTo>
                <a:lnTo>
                  <a:pt x="114291" y="1762125"/>
                </a:lnTo>
                <a:cubicBezTo>
                  <a:pt x="51170" y="1762125"/>
                  <a:pt x="0" y="1710955"/>
                  <a:pt x="0" y="1647834"/>
                </a:cubicBezTo>
                <a:lnTo>
                  <a:pt x="0" y="114291"/>
                </a:lnTo>
                <a:cubicBezTo>
                  <a:pt x="0" y="51212"/>
                  <a:pt x="51212" y="0"/>
                  <a:pt x="114291"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22" name="Shape 20"/>
          <p:cNvSpPr/>
          <p:nvPr/>
        </p:nvSpPr>
        <p:spPr>
          <a:xfrm>
            <a:off x="604838" y="3686175"/>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3B82F6"/>
          </a:solidFill>
          <a:ln/>
        </p:spPr>
      </p:sp>
      <p:sp>
        <p:nvSpPr>
          <p:cNvPr id="23" name="Text 21"/>
          <p:cNvSpPr/>
          <p:nvPr/>
        </p:nvSpPr>
        <p:spPr>
          <a:xfrm>
            <a:off x="819150" y="3648075"/>
            <a:ext cx="1088707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Tóm tắt các tính năng chính</a:t>
            </a:r>
            <a:endParaRPr lang="en-US" sz="1600" dirty="0"/>
          </a:p>
        </p:txBody>
      </p:sp>
      <p:sp>
        <p:nvSpPr>
          <p:cNvPr id="24" name="Shape 22"/>
          <p:cNvSpPr/>
          <p:nvPr/>
        </p:nvSpPr>
        <p:spPr>
          <a:xfrm>
            <a:off x="581025" y="40671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B82F6">
              <a:alpha val="20000"/>
            </a:srgbClr>
          </a:solidFill>
          <a:ln/>
        </p:spPr>
      </p:sp>
      <p:sp>
        <p:nvSpPr>
          <p:cNvPr id="25" name="Shape 23"/>
          <p:cNvSpPr/>
          <p:nvPr/>
        </p:nvSpPr>
        <p:spPr>
          <a:xfrm>
            <a:off x="677466" y="41529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6" name="Text 24"/>
          <p:cNvSpPr/>
          <p:nvPr/>
        </p:nvSpPr>
        <p:spPr>
          <a:xfrm>
            <a:off x="1000125" y="4067175"/>
            <a:ext cx="28098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Giải thích code (/explain)</a:t>
            </a:r>
            <a:endParaRPr lang="en-US" sz="1600" dirty="0"/>
          </a:p>
        </p:txBody>
      </p:sp>
      <p:sp>
        <p:nvSpPr>
          <p:cNvPr id="27" name="Text 25"/>
          <p:cNvSpPr/>
          <p:nvPr/>
        </p:nvSpPr>
        <p:spPr>
          <a:xfrm>
            <a:off x="1000125" y="4295775"/>
            <a:ext cx="28003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Diễn giải chức năng bằng ngôn ngữ tự nhiên</a:t>
            </a:r>
            <a:endParaRPr lang="en-US" sz="1600" dirty="0"/>
          </a:p>
        </p:txBody>
      </p:sp>
      <p:sp>
        <p:nvSpPr>
          <p:cNvPr id="28" name="Shape 26"/>
          <p:cNvSpPr/>
          <p:nvPr/>
        </p:nvSpPr>
        <p:spPr>
          <a:xfrm>
            <a:off x="581025" y="46005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alpha val="20000"/>
            </a:srgbClr>
          </a:solidFill>
          <a:ln/>
        </p:spPr>
      </p:sp>
      <p:sp>
        <p:nvSpPr>
          <p:cNvPr id="29" name="Shape 27"/>
          <p:cNvSpPr/>
          <p:nvPr/>
        </p:nvSpPr>
        <p:spPr>
          <a:xfrm>
            <a:off x="677466" y="46863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8B5CF6"/>
          </a:solidFill>
          <a:ln/>
        </p:spPr>
      </p:sp>
      <p:sp>
        <p:nvSpPr>
          <p:cNvPr id="30" name="Text 28"/>
          <p:cNvSpPr/>
          <p:nvPr/>
        </p:nvSpPr>
        <p:spPr>
          <a:xfrm>
            <a:off x="1000125" y="4600575"/>
            <a:ext cx="23622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Tạo docstring (/doc)</a:t>
            </a:r>
            <a:endParaRPr lang="en-US" sz="1600" dirty="0"/>
          </a:p>
        </p:txBody>
      </p:sp>
      <p:sp>
        <p:nvSpPr>
          <p:cNvPr id="31" name="Text 29"/>
          <p:cNvSpPr/>
          <p:nvPr/>
        </p:nvSpPr>
        <p:spPr>
          <a:xfrm>
            <a:off x="1000125" y="4829175"/>
            <a:ext cx="235267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Theo chuẩn Google, NumPy, PEP 257</a:t>
            </a:r>
            <a:endParaRPr lang="en-US" sz="1600" dirty="0"/>
          </a:p>
        </p:txBody>
      </p:sp>
      <p:sp>
        <p:nvSpPr>
          <p:cNvPr id="32" name="Shape 30"/>
          <p:cNvSpPr/>
          <p:nvPr/>
        </p:nvSpPr>
        <p:spPr>
          <a:xfrm>
            <a:off x="6172200" y="40671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10B981">
              <a:alpha val="20000"/>
            </a:srgbClr>
          </a:solidFill>
          <a:ln/>
        </p:spPr>
      </p:sp>
      <p:sp>
        <p:nvSpPr>
          <p:cNvPr id="33" name="Shape 31"/>
          <p:cNvSpPr/>
          <p:nvPr/>
        </p:nvSpPr>
        <p:spPr>
          <a:xfrm>
            <a:off x="6268641" y="41529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4" name="Text 32"/>
          <p:cNvSpPr/>
          <p:nvPr/>
        </p:nvSpPr>
        <p:spPr>
          <a:xfrm>
            <a:off x="6591300" y="4067175"/>
            <a:ext cx="20669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Tạo đồng loạt (write all)</a:t>
            </a:r>
            <a:endParaRPr lang="en-US" sz="1600" dirty="0"/>
          </a:p>
        </p:txBody>
      </p:sp>
      <p:sp>
        <p:nvSpPr>
          <p:cNvPr id="35" name="Text 33"/>
          <p:cNvSpPr/>
          <p:nvPr/>
        </p:nvSpPr>
        <p:spPr>
          <a:xfrm>
            <a:off x="6591300" y="4295775"/>
            <a:ext cx="20574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Tài liệu hóa toàn bộ file cùng lúc</a:t>
            </a:r>
            <a:endParaRPr lang="en-US" sz="1600" dirty="0"/>
          </a:p>
        </p:txBody>
      </p:sp>
      <p:sp>
        <p:nvSpPr>
          <p:cNvPr id="36" name="Shape 34"/>
          <p:cNvSpPr/>
          <p:nvPr/>
        </p:nvSpPr>
        <p:spPr>
          <a:xfrm>
            <a:off x="6172200" y="46005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59E0B">
              <a:alpha val="20000"/>
            </a:srgbClr>
          </a:solidFill>
          <a:ln/>
        </p:spPr>
      </p:sp>
      <p:sp>
        <p:nvSpPr>
          <p:cNvPr id="37" name="Shape 35"/>
          <p:cNvSpPr/>
          <p:nvPr/>
        </p:nvSpPr>
        <p:spPr>
          <a:xfrm>
            <a:off x="6268641" y="46863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F59E0B"/>
          </a:solidFill>
          <a:ln/>
        </p:spPr>
      </p:sp>
      <p:sp>
        <p:nvSpPr>
          <p:cNvPr id="38" name="Text 36"/>
          <p:cNvSpPr/>
          <p:nvPr/>
        </p:nvSpPr>
        <p:spPr>
          <a:xfrm>
            <a:off x="6591300" y="4600575"/>
            <a:ext cx="24384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Phát hiện lỗi thờ(out of sync)</a:t>
            </a:r>
            <a:endParaRPr lang="en-US" sz="1600" dirty="0"/>
          </a:p>
        </p:txBody>
      </p:sp>
      <p:sp>
        <p:nvSpPr>
          <p:cNvPr id="39" name="Text 37"/>
          <p:cNvSpPr/>
          <p:nvPr/>
        </p:nvSpPr>
        <p:spPr>
          <a:xfrm>
            <a:off x="6591300" y="4829175"/>
            <a:ext cx="242887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Đảm bảo docstring luôn khớp với code</a:t>
            </a:r>
            <a:endParaRPr lang="en-US" sz="1600" dirty="0"/>
          </a:p>
        </p:txBody>
      </p:sp>
      <p:sp>
        <p:nvSpPr>
          <p:cNvPr id="40" name="Shape 38"/>
          <p:cNvSpPr/>
          <p:nvPr/>
        </p:nvSpPr>
        <p:spPr>
          <a:xfrm>
            <a:off x="385763" y="5376863"/>
            <a:ext cx="11420475" cy="847725"/>
          </a:xfrm>
          <a:custGeom>
            <a:avLst/>
            <a:gdLst/>
            <a:ahLst/>
            <a:cxnLst/>
            <a:rect l="l" t="t" r="r" b="b"/>
            <a:pathLst>
              <a:path w="11420475" h="847725">
                <a:moveTo>
                  <a:pt x="114299" y="0"/>
                </a:moveTo>
                <a:lnTo>
                  <a:pt x="11306176" y="0"/>
                </a:lnTo>
                <a:cubicBezTo>
                  <a:pt x="11369302" y="0"/>
                  <a:pt x="11420475" y="51173"/>
                  <a:pt x="11420475" y="114299"/>
                </a:cubicBezTo>
                <a:lnTo>
                  <a:pt x="11420475" y="733426"/>
                </a:lnTo>
                <a:cubicBezTo>
                  <a:pt x="11420475" y="796552"/>
                  <a:pt x="11369302" y="847725"/>
                  <a:pt x="11306176" y="847725"/>
                </a:cubicBezTo>
                <a:lnTo>
                  <a:pt x="114299" y="847725"/>
                </a:lnTo>
                <a:cubicBezTo>
                  <a:pt x="51216" y="847725"/>
                  <a:pt x="0" y="796509"/>
                  <a:pt x="0" y="733426"/>
                </a:cubicBezTo>
                <a:lnTo>
                  <a:pt x="0" y="114299"/>
                </a:lnTo>
                <a:cubicBezTo>
                  <a:pt x="0" y="51216"/>
                  <a:pt x="51216" y="0"/>
                  <a:pt x="114299" y="0"/>
                </a:cubicBezTo>
                <a:close/>
              </a:path>
            </a:pathLst>
          </a:custGeom>
          <a:solidFill>
            <a:srgbClr val="0F172A"/>
          </a:solidFill>
          <a:ln w="12700">
            <a:solidFill>
              <a:srgbClr val="10B981">
                <a:alpha val="30196"/>
              </a:srgbClr>
            </a:solidFill>
            <a:prstDash val="solid"/>
          </a:ln>
        </p:spPr>
      </p:sp>
      <p:sp>
        <p:nvSpPr>
          <p:cNvPr id="41" name="Shape 39"/>
          <p:cNvSpPr/>
          <p:nvPr/>
        </p:nvSpPr>
        <p:spPr>
          <a:xfrm>
            <a:off x="664964" y="5591175"/>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10B981"/>
          </a:solidFill>
          <a:ln/>
        </p:spPr>
      </p:sp>
      <p:sp>
        <p:nvSpPr>
          <p:cNvPr id="42" name="Text 40"/>
          <p:cNvSpPr/>
          <p:nvPr/>
        </p:nvSpPr>
        <p:spPr>
          <a:xfrm>
            <a:off x="776288" y="5534025"/>
            <a:ext cx="10915650" cy="5334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Thông điệp cốt lõi:</a:t>
            </a:r>
            <a:pPr algn="ctr">
              <a:lnSpc>
                <a:spcPct val="130000"/>
              </a:lnSpc>
            </a:pPr>
            <a:r>
              <a:rPr lang="en-US" sz="1350" dirty="0">
                <a:solidFill>
                  <a:srgbClr val="F1F5F9">
                    <a:alpha val="90000"/>
                  </a:srgbClr>
                </a:solidFill>
                <a:latin typeface="MiSans" pitchFamily="34" charset="0"/>
                <a:ea typeface="MiSans" pitchFamily="34" charset="-122"/>
                <a:cs typeface="MiSans" pitchFamily="34" charset="-120"/>
              </a:rPr>
              <a:t> Kỹ thuật áp dụng GenAI vào tài liệu hóa không chỉ đẩy nhanh tốc độ code mà còn cung cấp cơ chế tự động hóa việc rà soát Stale Comments, giúp đội ngũ phát triển duy trì được tính chân thực và nhất quán của dự án.</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pic>
        <p:nvPicPr>
          <p:cNvPr id="2" name="Image 0" descr="https://kimi-web-img.moonshot.cn/img/c8.alamy.com/ab2f0d54393e316b74591b06e92488885b878273.jpg">    </p:cNvPr>
          <p:cNvPicPr>
            <a:picLocks noChangeAspect="1"/>
          </p:cNvPicPr>
          <p:nvPr/>
        </p:nvPicPr>
        <p:blipFill>
          <a:blip r:embed="rId1">
            <a:alphaModFix amt="30000"/>
          </a:blip>
          <a:srcRect l="0" r="0" t="11755" b="1175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8B5CF6">
                  <a:alpha val="20000"/>
                </a:srgbClr>
              </a:gs>
            </a:gsLst>
            <a:lin ang="2700000" scaled="1"/>
          </a:gradFill>
          <a:ln/>
        </p:spPr>
      </p:sp>
      <p:sp>
        <p:nvSpPr>
          <p:cNvPr id="4" name="Shape 1"/>
          <p:cNvSpPr/>
          <p:nvPr/>
        </p:nvSpPr>
        <p:spPr>
          <a:xfrm>
            <a:off x="385763" y="1519238"/>
            <a:ext cx="1247775" cy="390525"/>
          </a:xfrm>
          <a:custGeom>
            <a:avLst/>
            <a:gdLst/>
            <a:ahLst/>
            <a:cxnLst/>
            <a:rect l="l" t="t" r="r" b="b"/>
            <a:pathLst>
              <a:path w="1247775" h="390525">
                <a:moveTo>
                  <a:pt x="76199" y="0"/>
                </a:moveTo>
                <a:lnTo>
                  <a:pt x="1171576" y="0"/>
                </a:lnTo>
                <a:cubicBezTo>
                  <a:pt x="1213659" y="0"/>
                  <a:pt x="1247775" y="34116"/>
                  <a:pt x="1247775" y="76199"/>
                </a:cubicBezTo>
                <a:lnTo>
                  <a:pt x="1247775" y="314326"/>
                </a:lnTo>
                <a:cubicBezTo>
                  <a:pt x="1247775" y="356409"/>
                  <a:pt x="1213659" y="390525"/>
                  <a:pt x="1171576" y="390525"/>
                </a:cubicBezTo>
                <a:lnTo>
                  <a:pt x="76199" y="390525"/>
                </a:lnTo>
                <a:cubicBezTo>
                  <a:pt x="34144" y="390525"/>
                  <a:pt x="0" y="356381"/>
                  <a:pt x="0" y="314326"/>
                </a:cubicBezTo>
                <a:lnTo>
                  <a:pt x="0" y="76199"/>
                </a:lnTo>
                <a:cubicBezTo>
                  <a:pt x="0" y="34144"/>
                  <a:pt x="34144" y="0"/>
                  <a:pt x="76199" y="0"/>
                </a:cubicBezTo>
                <a:close/>
              </a:path>
            </a:pathLst>
          </a:custGeom>
          <a:solidFill>
            <a:srgbClr val="8B5CF6">
              <a:alpha val="20000"/>
            </a:srgbClr>
          </a:solidFill>
          <a:ln w="12700">
            <a:solidFill>
              <a:srgbClr val="8B5CF6">
                <a:alpha val="50196"/>
              </a:srgbClr>
            </a:solidFill>
            <a:prstDash val="solid"/>
          </a:ln>
        </p:spPr>
      </p:sp>
      <p:sp>
        <p:nvSpPr>
          <p:cNvPr id="5" name="Text 2"/>
          <p:cNvSpPr/>
          <p:nvPr/>
        </p:nvSpPr>
        <p:spPr>
          <a:xfrm>
            <a:off x="542925" y="1609725"/>
            <a:ext cx="1004887" cy="209550"/>
          </a:xfrm>
          <a:prstGeom prst="rect">
            <a:avLst/>
          </a:prstGeom>
          <a:noFill/>
          <a:ln/>
        </p:spPr>
        <p:txBody>
          <a:bodyPr wrap="square" lIns="0" tIns="0" rIns="0" bIns="0" rtlCol="0" anchor="ctr"/>
          <a:lstStyle/>
          <a:p>
            <a:pPr>
              <a:lnSpc>
                <a:spcPct val="130000"/>
              </a:lnSpc>
            </a:pPr>
            <a:r>
              <a:rPr lang="en-US" sz="1200" b="1" spc="60" kern="0" dirty="0">
                <a:solidFill>
                  <a:srgbClr val="8B5CF6"/>
                </a:solidFill>
                <a:latin typeface="MiSans" pitchFamily="34" charset="0"/>
                <a:ea typeface="MiSans" pitchFamily="34" charset="-122"/>
                <a:cs typeface="MiSans" pitchFamily="34" charset="-120"/>
              </a:rPr>
              <a:t>CHƯƠNG 13</a:t>
            </a:r>
            <a:endParaRPr lang="en-US" sz="1600" dirty="0"/>
          </a:p>
        </p:txBody>
      </p:sp>
      <p:sp>
        <p:nvSpPr>
          <p:cNvPr id="6" name="Text 3"/>
          <p:cNvSpPr/>
          <p:nvPr/>
        </p:nvSpPr>
        <p:spPr>
          <a:xfrm>
            <a:off x="381000" y="2066925"/>
            <a:ext cx="11715750" cy="1428750"/>
          </a:xfrm>
          <a:prstGeom prst="rect">
            <a:avLst/>
          </a:prstGeom>
          <a:noFill/>
          <a:ln/>
        </p:spPr>
        <p:txBody>
          <a:bodyPr wrap="square" lIns="0" tIns="0" rIns="0" bIns="0" rtlCol="0" anchor="ctr"/>
          <a:lstStyle/>
          <a:p>
            <a:pPr>
              <a:lnSpc>
                <a:spcPct val="100000"/>
              </a:lnSpc>
            </a:pPr>
            <a:r>
              <a:rPr lang="en-US" sz="4500" b="1" dirty="0">
                <a:solidFill>
                  <a:srgbClr val="F1F5F9"/>
                </a:solidFill>
                <a:latin typeface="MiSans" pitchFamily="34" charset="0"/>
                <a:ea typeface="MiSans" pitchFamily="34" charset="-122"/>
                <a:cs typeface="MiSans" pitchFamily="34" charset="-120"/>
              </a:rPr>
              <a:t>Viết và bảo trì</a:t>
            </a:r>
            <a:endParaRPr lang="en-US" sz="1600" dirty="0"/>
          </a:p>
          <a:p>
            <a:pPr>
              <a:lnSpc>
                <a:spcPct val="100000"/>
              </a:lnSpc>
            </a:pPr>
            <a:r>
              <a:rPr lang="en-US" sz="4500" b="1" dirty="0">
                <a:solidFill>
                  <a:srgbClr val="F1F5F9"/>
                </a:solidFill>
                <a:latin typeface="MiSans" pitchFamily="34" charset="0"/>
                <a:ea typeface="MiSans" pitchFamily="34" charset="-122"/>
                <a:cs typeface="MiSans" pitchFamily="34" charset="-120"/>
              </a:rPr>
              <a:t>kiểm thử đơn vị</a:t>
            </a:r>
            <a:endParaRPr lang="en-US" sz="1600" dirty="0"/>
          </a:p>
        </p:txBody>
      </p:sp>
      <p:sp>
        <p:nvSpPr>
          <p:cNvPr id="7" name="Text 4"/>
          <p:cNvSpPr/>
          <p:nvPr/>
        </p:nvSpPr>
        <p:spPr>
          <a:xfrm>
            <a:off x="381000" y="3648075"/>
            <a:ext cx="11544300" cy="304800"/>
          </a:xfrm>
          <a:prstGeom prst="rect">
            <a:avLst/>
          </a:prstGeom>
          <a:noFill/>
          <a:ln/>
        </p:spPr>
        <p:txBody>
          <a:bodyPr wrap="square" lIns="0" tIns="0" rIns="0" bIns="0" rtlCol="0" anchor="ctr"/>
          <a:lstStyle/>
          <a:p>
            <a:pPr>
              <a:lnSpc>
                <a:spcPct val="110000"/>
              </a:lnSpc>
            </a:pPr>
            <a:r>
              <a:rPr lang="en-US" sz="1800" dirty="0">
                <a:solidFill>
                  <a:srgbClr val="F1F5F9">
                    <a:alpha val="70000"/>
                  </a:srgbClr>
                </a:solidFill>
                <a:latin typeface="MiSans" pitchFamily="34" charset="0"/>
                <a:ea typeface="MiSans" pitchFamily="34" charset="-122"/>
                <a:cs typeface="MiSans" pitchFamily="34" charset="-120"/>
              </a:rPr>
              <a:t>Writing and Maintaining Unit Tests</a:t>
            </a:r>
            <a:endParaRPr lang="en-US" sz="1600" dirty="0"/>
          </a:p>
        </p:txBody>
      </p:sp>
      <p:sp>
        <p:nvSpPr>
          <p:cNvPr id="8" name="Shape 5"/>
          <p:cNvSpPr/>
          <p:nvPr/>
        </p:nvSpPr>
        <p:spPr>
          <a:xfrm>
            <a:off x="385763" y="4491038"/>
            <a:ext cx="2733675" cy="847725"/>
          </a:xfrm>
          <a:custGeom>
            <a:avLst/>
            <a:gdLst/>
            <a:ahLst/>
            <a:cxnLst/>
            <a:rect l="l" t="t" r="r" b="b"/>
            <a:pathLst>
              <a:path w="2733675" h="847725">
                <a:moveTo>
                  <a:pt x="76202" y="0"/>
                </a:moveTo>
                <a:lnTo>
                  <a:pt x="2657473" y="0"/>
                </a:lnTo>
                <a:cubicBezTo>
                  <a:pt x="2699530" y="0"/>
                  <a:pt x="2733675" y="34145"/>
                  <a:pt x="2733675" y="76202"/>
                </a:cubicBezTo>
                <a:lnTo>
                  <a:pt x="2733675" y="771523"/>
                </a:lnTo>
                <a:cubicBezTo>
                  <a:pt x="2733675" y="813580"/>
                  <a:pt x="2699530" y="847725"/>
                  <a:pt x="2657473" y="847725"/>
                </a:cubicBezTo>
                <a:lnTo>
                  <a:pt x="76202" y="847725"/>
                </a:lnTo>
                <a:cubicBezTo>
                  <a:pt x="34145" y="847725"/>
                  <a:pt x="0" y="813580"/>
                  <a:pt x="0" y="771523"/>
                </a:cubicBezTo>
                <a:lnTo>
                  <a:pt x="0" y="76202"/>
                </a:lnTo>
                <a:cubicBezTo>
                  <a:pt x="0" y="34145"/>
                  <a:pt x="34145" y="0"/>
                  <a:pt x="76202" y="0"/>
                </a:cubicBezTo>
                <a:close/>
              </a:path>
            </a:pathLst>
          </a:custGeom>
          <a:solidFill>
            <a:srgbClr val="3B82F6">
              <a:alpha val="10196"/>
            </a:srgbClr>
          </a:solidFill>
          <a:ln w="12700">
            <a:solidFill>
              <a:srgbClr val="3B82F6">
                <a:alpha val="30196"/>
              </a:srgbClr>
            </a:solidFill>
            <a:prstDash val="solid"/>
          </a:ln>
        </p:spPr>
      </p:sp>
      <p:sp>
        <p:nvSpPr>
          <p:cNvPr id="9" name="Shape 6"/>
          <p:cNvSpPr/>
          <p:nvPr/>
        </p:nvSpPr>
        <p:spPr>
          <a:xfrm>
            <a:off x="571500" y="4648200"/>
            <a:ext cx="228600" cy="228600"/>
          </a:xfrm>
          <a:custGeom>
            <a:avLst/>
            <a:gdLst/>
            <a:ahLst/>
            <a:cxnLst/>
            <a:rect l="l" t="t" r="r" b="b"/>
            <a:pathLst>
              <a:path w="228600" h="228600">
                <a:moveTo>
                  <a:pt x="152966" y="4197"/>
                </a:moveTo>
                <a:cubicBezTo>
                  <a:pt x="147384" y="-1384"/>
                  <a:pt x="138321" y="-1384"/>
                  <a:pt x="132740" y="4197"/>
                </a:cubicBezTo>
                <a:cubicBezTo>
                  <a:pt x="127159" y="9778"/>
                  <a:pt x="127159" y="18842"/>
                  <a:pt x="132740" y="24423"/>
                </a:cubicBezTo>
                <a:lnTo>
                  <a:pt x="136937" y="28575"/>
                </a:lnTo>
                <a:lnTo>
                  <a:pt x="12546" y="152966"/>
                </a:lnTo>
                <a:cubicBezTo>
                  <a:pt x="4509" y="161002"/>
                  <a:pt x="0" y="171896"/>
                  <a:pt x="0" y="183282"/>
                </a:cubicBezTo>
                <a:lnTo>
                  <a:pt x="0" y="185738"/>
                </a:lnTo>
                <a:cubicBezTo>
                  <a:pt x="0" y="209401"/>
                  <a:pt x="19199" y="228600"/>
                  <a:pt x="42863" y="228600"/>
                </a:cubicBezTo>
                <a:lnTo>
                  <a:pt x="45318" y="228600"/>
                </a:lnTo>
                <a:cubicBezTo>
                  <a:pt x="56704" y="228600"/>
                  <a:pt x="67598" y="224091"/>
                  <a:pt x="75634" y="216054"/>
                </a:cubicBezTo>
                <a:lnTo>
                  <a:pt x="200025" y="91663"/>
                </a:lnTo>
                <a:lnTo>
                  <a:pt x="204222" y="95860"/>
                </a:lnTo>
                <a:cubicBezTo>
                  <a:pt x="209803" y="101441"/>
                  <a:pt x="218867" y="101441"/>
                  <a:pt x="224448" y="95860"/>
                </a:cubicBezTo>
                <a:cubicBezTo>
                  <a:pt x="230029" y="90279"/>
                  <a:pt x="230029" y="81216"/>
                  <a:pt x="224448" y="75634"/>
                </a:cubicBezTo>
                <a:lnTo>
                  <a:pt x="153010" y="4197"/>
                </a:lnTo>
                <a:close/>
                <a:moveTo>
                  <a:pt x="91663" y="114300"/>
                </a:moveTo>
                <a:lnTo>
                  <a:pt x="157163" y="48801"/>
                </a:lnTo>
                <a:lnTo>
                  <a:pt x="179799" y="71438"/>
                </a:lnTo>
                <a:lnTo>
                  <a:pt x="136937" y="114300"/>
                </a:lnTo>
                <a:lnTo>
                  <a:pt x="91619" y="114300"/>
                </a:lnTo>
                <a:close/>
              </a:path>
            </a:pathLst>
          </a:custGeom>
          <a:solidFill>
            <a:srgbClr val="3B82F6"/>
          </a:solidFill>
          <a:ln/>
        </p:spPr>
      </p:sp>
      <p:sp>
        <p:nvSpPr>
          <p:cNvPr id="10" name="Text 7"/>
          <p:cNvSpPr/>
          <p:nvPr/>
        </p:nvSpPr>
        <p:spPr>
          <a:xfrm>
            <a:off x="542925" y="4953000"/>
            <a:ext cx="24955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Tự động sinh Unit Test</a:t>
            </a:r>
            <a:endParaRPr lang="en-US" sz="1600" dirty="0"/>
          </a:p>
        </p:txBody>
      </p:sp>
      <p:sp>
        <p:nvSpPr>
          <p:cNvPr id="11" name="Shape 8"/>
          <p:cNvSpPr/>
          <p:nvPr/>
        </p:nvSpPr>
        <p:spPr>
          <a:xfrm>
            <a:off x="3281363" y="4491038"/>
            <a:ext cx="2733675" cy="847725"/>
          </a:xfrm>
          <a:custGeom>
            <a:avLst/>
            <a:gdLst/>
            <a:ahLst/>
            <a:cxnLst/>
            <a:rect l="l" t="t" r="r" b="b"/>
            <a:pathLst>
              <a:path w="2733675" h="847725">
                <a:moveTo>
                  <a:pt x="76202" y="0"/>
                </a:moveTo>
                <a:lnTo>
                  <a:pt x="2657473" y="0"/>
                </a:lnTo>
                <a:cubicBezTo>
                  <a:pt x="2699530" y="0"/>
                  <a:pt x="2733675" y="34145"/>
                  <a:pt x="2733675" y="76202"/>
                </a:cubicBezTo>
                <a:lnTo>
                  <a:pt x="2733675" y="771523"/>
                </a:lnTo>
                <a:cubicBezTo>
                  <a:pt x="2733675" y="813580"/>
                  <a:pt x="2699530" y="847725"/>
                  <a:pt x="2657473" y="847725"/>
                </a:cubicBezTo>
                <a:lnTo>
                  <a:pt x="76202" y="847725"/>
                </a:lnTo>
                <a:cubicBezTo>
                  <a:pt x="34145" y="847725"/>
                  <a:pt x="0" y="813580"/>
                  <a:pt x="0" y="771523"/>
                </a:cubicBezTo>
                <a:lnTo>
                  <a:pt x="0" y="76202"/>
                </a:lnTo>
                <a:cubicBezTo>
                  <a:pt x="0" y="34145"/>
                  <a:pt x="34145" y="0"/>
                  <a:pt x="76202" y="0"/>
                </a:cubicBezTo>
                <a:close/>
              </a:path>
            </a:pathLst>
          </a:custGeom>
          <a:solidFill>
            <a:srgbClr val="8B5CF6">
              <a:alpha val="10196"/>
            </a:srgbClr>
          </a:solidFill>
          <a:ln w="12700">
            <a:solidFill>
              <a:srgbClr val="8B5CF6">
                <a:alpha val="30196"/>
              </a:srgbClr>
            </a:solidFill>
            <a:prstDash val="solid"/>
          </a:ln>
        </p:spPr>
      </p:sp>
      <p:sp>
        <p:nvSpPr>
          <p:cNvPr id="12" name="Shape 9"/>
          <p:cNvSpPr/>
          <p:nvPr/>
        </p:nvSpPr>
        <p:spPr>
          <a:xfrm>
            <a:off x="3467100" y="4648200"/>
            <a:ext cx="228600" cy="228600"/>
          </a:xfrm>
          <a:custGeom>
            <a:avLst/>
            <a:gdLst/>
            <a:ahLst/>
            <a:cxnLst/>
            <a:rect l="l" t="t" r="r" b="b"/>
            <a:pathLst>
              <a:path w="228600" h="228600">
                <a:moveTo>
                  <a:pt x="194980" y="33352"/>
                </a:moveTo>
                <a:lnTo>
                  <a:pt x="200025" y="38130"/>
                </a:lnTo>
                <a:lnTo>
                  <a:pt x="200025" y="14288"/>
                </a:lnTo>
                <a:cubicBezTo>
                  <a:pt x="200025" y="6385"/>
                  <a:pt x="206410" y="0"/>
                  <a:pt x="214313" y="0"/>
                </a:cubicBezTo>
                <a:cubicBezTo>
                  <a:pt x="222215" y="0"/>
                  <a:pt x="228600" y="6385"/>
                  <a:pt x="228600" y="14288"/>
                </a:cubicBezTo>
                <a:lnTo>
                  <a:pt x="228600" y="71438"/>
                </a:lnTo>
                <a:cubicBezTo>
                  <a:pt x="228600" y="79340"/>
                  <a:pt x="222215" y="85725"/>
                  <a:pt x="214313" y="85725"/>
                </a:cubicBezTo>
                <a:lnTo>
                  <a:pt x="157163" y="85725"/>
                </a:lnTo>
                <a:cubicBezTo>
                  <a:pt x="149260" y="85725"/>
                  <a:pt x="142875" y="79340"/>
                  <a:pt x="142875" y="71438"/>
                </a:cubicBezTo>
                <a:cubicBezTo>
                  <a:pt x="142875" y="63535"/>
                  <a:pt x="149260" y="57150"/>
                  <a:pt x="157163" y="57150"/>
                </a:cubicBezTo>
                <a:lnTo>
                  <a:pt x="178549" y="57150"/>
                </a:lnTo>
                <a:lnTo>
                  <a:pt x="175156" y="53935"/>
                </a:lnTo>
                <a:cubicBezTo>
                  <a:pt x="175067" y="53846"/>
                  <a:pt x="174977" y="53757"/>
                  <a:pt x="174888" y="53667"/>
                </a:cubicBezTo>
                <a:cubicBezTo>
                  <a:pt x="141402" y="20181"/>
                  <a:pt x="87154" y="20181"/>
                  <a:pt x="53667" y="53667"/>
                </a:cubicBezTo>
                <a:cubicBezTo>
                  <a:pt x="20181" y="87154"/>
                  <a:pt x="20181" y="141402"/>
                  <a:pt x="53667" y="174888"/>
                </a:cubicBezTo>
                <a:cubicBezTo>
                  <a:pt x="87154" y="208374"/>
                  <a:pt x="141402" y="208374"/>
                  <a:pt x="174888" y="174888"/>
                </a:cubicBezTo>
                <a:cubicBezTo>
                  <a:pt x="178549" y="171227"/>
                  <a:pt x="181808" y="167342"/>
                  <a:pt x="184666" y="163235"/>
                </a:cubicBezTo>
                <a:cubicBezTo>
                  <a:pt x="189175" y="156761"/>
                  <a:pt x="198105" y="155198"/>
                  <a:pt x="204579" y="159707"/>
                </a:cubicBezTo>
                <a:cubicBezTo>
                  <a:pt x="211053" y="164217"/>
                  <a:pt x="212616" y="173147"/>
                  <a:pt x="208106" y="179621"/>
                </a:cubicBezTo>
                <a:cubicBezTo>
                  <a:pt x="204311" y="185068"/>
                  <a:pt x="199980" y="190247"/>
                  <a:pt x="195114" y="195114"/>
                </a:cubicBezTo>
                <a:cubicBezTo>
                  <a:pt x="150465" y="239762"/>
                  <a:pt x="78090" y="239762"/>
                  <a:pt x="33486" y="195114"/>
                </a:cubicBezTo>
                <a:cubicBezTo>
                  <a:pt x="-11117" y="150465"/>
                  <a:pt x="-11162" y="78135"/>
                  <a:pt x="33486" y="33486"/>
                </a:cubicBezTo>
                <a:cubicBezTo>
                  <a:pt x="78090" y="-11117"/>
                  <a:pt x="150331" y="-11162"/>
                  <a:pt x="194980" y="33352"/>
                </a:cubicBezTo>
                <a:close/>
              </a:path>
            </a:pathLst>
          </a:custGeom>
          <a:solidFill>
            <a:srgbClr val="8B5CF6"/>
          </a:solidFill>
          <a:ln/>
        </p:spPr>
      </p:sp>
      <p:sp>
        <p:nvSpPr>
          <p:cNvPr id="13" name="Text 10"/>
          <p:cNvSpPr/>
          <p:nvPr/>
        </p:nvSpPr>
        <p:spPr>
          <a:xfrm>
            <a:off x="3438525" y="4953000"/>
            <a:ext cx="24955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TDD Workflow</a:t>
            </a:r>
            <a:endParaRPr lang="en-US" sz="1600" dirty="0"/>
          </a:p>
        </p:txBody>
      </p:sp>
      <p:sp>
        <p:nvSpPr>
          <p:cNvPr id="14" name="Shape 11"/>
          <p:cNvSpPr/>
          <p:nvPr/>
        </p:nvSpPr>
        <p:spPr>
          <a:xfrm>
            <a:off x="6176963" y="4491038"/>
            <a:ext cx="2733675" cy="847725"/>
          </a:xfrm>
          <a:custGeom>
            <a:avLst/>
            <a:gdLst/>
            <a:ahLst/>
            <a:cxnLst/>
            <a:rect l="l" t="t" r="r" b="b"/>
            <a:pathLst>
              <a:path w="2733675" h="847725">
                <a:moveTo>
                  <a:pt x="76202" y="0"/>
                </a:moveTo>
                <a:lnTo>
                  <a:pt x="2657473" y="0"/>
                </a:lnTo>
                <a:cubicBezTo>
                  <a:pt x="2699530" y="0"/>
                  <a:pt x="2733675" y="34145"/>
                  <a:pt x="2733675" y="76202"/>
                </a:cubicBezTo>
                <a:lnTo>
                  <a:pt x="2733675" y="771523"/>
                </a:lnTo>
                <a:cubicBezTo>
                  <a:pt x="2733675" y="813580"/>
                  <a:pt x="2699530" y="847725"/>
                  <a:pt x="2657473" y="847725"/>
                </a:cubicBezTo>
                <a:lnTo>
                  <a:pt x="76202" y="847725"/>
                </a:lnTo>
                <a:cubicBezTo>
                  <a:pt x="34145" y="847725"/>
                  <a:pt x="0" y="813580"/>
                  <a:pt x="0" y="771523"/>
                </a:cubicBezTo>
                <a:lnTo>
                  <a:pt x="0" y="76202"/>
                </a:lnTo>
                <a:cubicBezTo>
                  <a:pt x="0" y="34145"/>
                  <a:pt x="34145" y="0"/>
                  <a:pt x="76202" y="0"/>
                </a:cubicBezTo>
                <a:close/>
              </a:path>
            </a:pathLst>
          </a:custGeom>
          <a:solidFill>
            <a:srgbClr val="10B981">
              <a:alpha val="10196"/>
            </a:srgbClr>
          </a:solidFill>
          <a:ln w="12700">
            <a:solidFill>
              <a:srgbClr val="10B981">
                <a:alpha val="30196"/>
              </a:srgbClr>
            </a:solidFill>
            <a:prstDash val="solid"/>
          </a:ln>
        </p:spPr>
      </p:sp>
      <p:sp>
        <p:nvSpPr>
          <p:cNvPr id="15" name="Shape 12"/>
          <p:cNvSpPr/>
          <p:nvPr/>
        </p:nvSpPr>
        <p:spPr>
          <a:xfrm>
            <a:off x="6376988" y="4648200"/>
            <a:ext cx="200025" cy="228600"/>
          </a:xfrm>
          <a:custGeom>
            <a:avLst/>
            <a:gdLst/>
            <a:ahLst/>
            <a:cxnLst/>
            <a:rect l="l" t="t" r="r" b="b"/>
            <a:pathLst>
              <a:path w="200025" h="228600">
                <a:moveTo>
                  <a:pt x="200025" y="91886"/>
                </a:moveTo>
                <a:cubicBezTo>
                  <a:pt x="193417" y="96262"/>
                  <a:pt x="185827" y="99789"/>
                  <a:pt x="177924" y="102602"/>
                </a:cubicBezTo>
                <a:cubicBezTo>
                  <a:pt x="156939" y="110103"/>
                  <a:pt x="129391" y="114300"/>
                  <a:pt x="100013" y="114300"/>
                </a:cubicBezTo>
                <a:cubicBezTo>
                  <a:pt x="70634" y="114300"/>
                  <a:pt x="43041" y="110058"/>
                  <a:pt x="22101" y="102602"/>
                </a:cubicBezTo>
                <a:cubicBezTo>
                  <a:pt x="14243" y="99789"/>
                  <a:pt x="6608" y="96262"/>
                  <a:pt x="0" y="91886"/>
                </a:cubicBezTo>
                <a:lnTo>
                  <a:pt x="0" y="128588"/>
                </a:lnTo>
                <a:cubicBezTo>
                  <a:pt x="0" y="148322"/>
                  <a:pt x="44782" y="164306"/>
                  <a:pt x="100013" y="164306"/>
                </a:cubicBezTo>
                <a:cubicBezTo>
                  <a:pt x="155243" y="164306"/>
                  <a:pt x="200025" y="148322"/>
                  <a:pt x="200025" y="128588"/>
                </a:cubicBezTo>
                <a:lnTo>
                  <a:pt x="200025" y="91886"/>
                </a:lnTo>
                <a:close/>
                <a:moveTo>
                  <a:pt x="200025" y="57150"/>
                </a:moveTo>
                <a:lnTo>
                  <a:pt x="200025" y="35719"/>
                </a:lnTo>
                <a:cubicBezTo>
                  <a:pt x="200025" y="15984"/>
                  <a:pt x="155243" y="0"/>
                  <a:pt x="100013" y="0"/>
                </a:cubicBezTo>
                <a:cubicBezTo>
                  <a:pt x="44782" y="0"/>
                  <a:pt x="0" y="15984"/>
                  <a:pt x="0" y="35719"/>
                </a:cubicBezTo>
                <a:lnTo>
                  <a:pt x="0" y="57150"/>
                </a:lnTo>
                <a:cubicBezTo>
                  <a:pt x="0" y="76885"/>
                  <a:pt x="44782" y="92869"/>
                  <a:pt x="100013" y="92869"/>
                </a:cubicBezTo>
                <a:cubicBezTo>
                  <a:pt x="155243" y="92869"/>
                  <a:pt x="200025" y="76885"/>
                  <a:pt x="200025" y="57150"/>
                </a:cubicBezTo>
                <a:close/>
                <a:moveTo>
                  <a:pt x="177924" y="174040"/>
                </a:moveTo>
                <a:cubicBezTo>
                  <a:pt x="156984" y="181496"/>
                  <a:pt x="129436" y="185738"/>
                  <a:pt x="100013" y="185738"/>
                </a:cubicBezTo>
                <a:cubicBezTo>
                  <a:pt x="70589" y="185738"/>
                  <a:pt x="43041" y="181496"/>
                  <a:pt x="22101" y="174040"/>
                </a:cubicBezTo>
                <a:cubicBezTo>
                  <a:pt x="14243" y="171227"/>
                  <a:pt x="6608" y="167700"/>
                  <a:pt x="0" y="163324"/>
                </a:cubicBezTo>
                <a:lnTo>
                  <a:pt x="0" y="192881"/>
                </a:lnTo>
                <a:cubicBezTo>
                  <a:pt x="0" y="212616"/>
                  <a:pt x="44782" y="228600"/>
                  <a:pt x="100013" y="228600"/>
                </a:cubicBezTo>
                <a:cubicBezTo>
                  <a:pt x="155243" y="228600"/>
                  <a:pt x="200025" y="212616"/>
                  <a:pt x="200025" y="192881"/>
                </a:cubicBezTo>
                <a:lnTo>
                  <a:pt x="200025" y="163324"/>
                </a:lnTo>
                <a:cubicBezTo>
                  <a:pt x="193417" y="167700"/>
                  <a:pt x="185827" y="171227"/>
                  <a:pt x="177924" y="174040"/>
                </a:cubicBezTo>
                <a:close/>
              </a:path>
            </a:pathLst>
          </a:custGeom>
          <a:solidFill>
            <a:srgbClr val="10B981"/>
          </a:solidFill>
          <a:ln/>
        </p:spPr>
      </p:sp>
      <p:sp>
        <p:nvSpPr>
          <p:cNvPr id="16" name="Text 13"/>
          <p:cNvSpPr/>
          <p:nvPr/>
        </p:nvSpPr>
        <p:spPr>
          <a:xfrm>
            <a:off x="6334125" y="4953000"/>
            <a:ext cx="24955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Sinh Mock Data</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EF4444"/>
          </a:solidFill>
          <a:ln/>
        </p:spPr>
      </p:sp>
      <p:sp>
        <p:nvSpPr>
          <p:cNvPr id="3" name="Shape 1"/>
          <p:cNvSpPr/>
          <p:nvPr/>
        </p:nvSpPr>
        <p:spPr>
          <a:xfrm>
            <a:off x="488156" y="561975"/>
            <a:ext cx="171450" cy="171450"/>
          </a:xfrm>
          <a:custGeom>
            <a:avLst/>
            <a:gdLst/>
            <a:ahLst/>
            <a:cxnLst/>
            <a:rect l="l" t="t" r="r" b="b"/>
            <a:pathLst>
              <a:path w="171450" h="171450">
                <a:moveTo>
                  <a:pt x="85725" y="0"/>
                </a:moveTo>
                <a:cubicBezTo>
                  <a:pt x="90647" y="0"/>
                  <a:pt x="95168" y="2712"/>
                  <a:pt x="97512" y="7032"/>
                </a:cubicBezTo>
                <a:lnTo>
                  <a:pt x="169843" y="140977"/>
                </a:lnTo>
                <a:cubicBezTo>
                  <a:pt x="172086" y="145130"/>
                  <a:pt x="171986" y="150153"/>
                  <a:pt x="169575" y="154205"/>
                </a:cubicBezTo>
                <a:cubicBezTo>
                  <a:pt x="167164" y="158256"/>
                  <a:pt x="162777" y="160734"/>
                  <a:pt x="158055" y="160734"/>
                </a:cubicBezTo>
                <a:lnTo>
                  <a:pt x="13395" y="160734"/>
                </a:lnTo>
                <a:cubicBezTo>
                  <a:pt x="8673" y="160734"/>
                  <a:pt x="4320" y="158256"/>
                  <a:pt x="1875" y="154205"/>
                </a:cubicBezTo>
                <a:cubicBezTo>
                  <a:pt x="-569" y="150153"/>
                  <a:pt x="-636" y="145130"/>
                  <a:pt x="1607" y="140977"/>
                </a:cubicBezTo>
                <a:lnTo>
                  <a:pt x="73938" y="7032"/>
                </a:lnTo>
                <a:cubicBezTo>
                  <a:pt x="76282" y="2712"/>
                  <a:pt x="80803" y="0"/>
                  <a:pt x="85725" y="0"/>
                </a:cubicBezTo>
                <a:close/>
                <a:moveTo>
                  <a:pt x="85725" y="56257"/>
                </a:moveTo>
                <a:cubicBezTo>
                  <a:pt x="81271" y="56257"/>
                  <a:pt x="77688" y="59840"/>
                  <a:pt x="77688" y="64294"/>
                </a:cubicBezTo>
                <a:lnTo>
                  <a:pt x="77688" y="101798"/>
                </a:lnTo>
                <a:cubicBezTo>
                  <a:pt x="77688" y="106252"/>
                  <a:pt x="81271" y="109835"/>
                  <a:pt x="85725" y="109835"/>
                </a:cubicBezTo>
                <a:cubicBezTo>
                  <a:pt x="90179" y="109835"/>
                  <a:pt x="93762" y="106252"/>
                  <a:pt x="93762" y="101798"/>
                </a:cubicBezTo>
                <a:lnTo>
                  <a:pt x="93762" y="64294"/>
                </a:lnTo>
                <a:cubicBezTo>
                  <a:pt x="93762" y="59840"/>
                  <a:pt x="90179" y="56257"/>
                  <a:pt x="85725" y="56257"/>
                </a:cubicBezTo>
                <a:close/>
                <a:moveTo>
                  <a:pt x="94666" y="128588"/>
                </a:moveTo>
                <a:cubicBezTo>
                  <a:pt x="94869" y="125269"/>
                  <a:pt x="93214" y="122111"/>
                  <a:pt x="90369" y="120390"/>
                </a:cubicBezTo>
                <a:cubicBezTo>
                  <a:pt x="87524" y="118670"/>
                  <a:pt x="83959" y="118670"/>
                  <a:pt x="81114" y="120390"/>
                </a:cubicBezTo>
                <a:cubicBezTo>
                  <a:pt x="78269" y="122111"/>
                  <a:pt x="76614" y="125269"/>
                  <a:pt x="76818" y="128587"/>
                </a:cubicBezTo>
                <a:cubicBezTo>
                  <a:pt x="76614" y="131906"/>
                  <a:pt x="78269" y="135064"/>
                  <a:pt x="81114" y="136785"/>
                </a:cubicBezTo>
                <a:cubicBezTo>
                  <a:pt x="83959" y="138505"/>
                  <a:pt x="87524" y="138505"/>
                  <a:pt x="90369" y="136785"/>
                </a:cubicBezTo>
                <a:cubicBezTo>
                  <a:pt x="93214" y="135064"/>
                  <a:pt x="94869" y="131906"/>
                  <a:pt x="94666" y="128588"/>
                </a:cubicBezTo>
                <a:close/>
              </a:path>
            </a:pathLst>
          </a:custGeom>
          <a:solidFill>
            <a:srgbClr val="FFFFFF"/>
          </a:solidFill>
          <a:ln/>
        </p:spPr>
      </p:sp>
      <p:sp>
        <p:nvSpPr>
          <p:cNvPr id="4" name="Text 2"/>
          <p:cNvSpPr/>
          <p:nvPr/>
        </p:nvSpPr>
        <p:spPr>
          <a:xfrm>
            <a:off x="876300" y="381000"/>
            <a:ext cx="3886200" cy="190500"/>
          </a:xfrm>
          <a:prstGeom prst="rect">
            <a:avLst/>
          </a:prstGeom>
          <a:noFill/>
          <a:ln/>
        </p:spPr>
        <p:txBody>
          <a:bodyPr wrap="square" lIns="0" tIns="0" rIns="0" bIns="0" rtlCol="0" anchor="ctr"/>
          <a:lstStyle/>
          <a:p>
            <a:pPr>
              <a:lnSpc>
                <a:spcPct val="120000"/>
              </a:lnSpc>
            </a:pPr>
            <a:r>
              <a:rPr lang="en-US" sz="1050" b="1" spc="53" kern="0" dirty="0">
                <a:solidFill>
                  <a:srgbClr val="EF4444"/>
                </a:solidFill>
                <a:latin typeface="MiSans" pitchFamily="34" charset="0"/>
                <a:ea typeface="MiSans" pitchFamily="34" charset="-122"/>
                <a:cs typeface="MiSans" pitchFamily="34" charset="-120"/>
              </a:rPr>
              <a:t>CHƯƠNG 13 | MỨC Ý TƯỞNG</a:t>
            </a:r>
            <a:endParaRPr lang="en-US" sz="1600" dirty="0"/>
          </a:p>
        </p:txBody>
      </p:sp>
      <p:sp>
        <p:nvSpPr>
          <p:cNvPr id="5" name="Text 3"/>
          <p:cNvSpPr/>
          <p:nvPr/>
        </p:nvSpPr>
        <p:spPr>
          <a:xfrm>
            <a:off x="876300" y="571500"/>
            <a:ext cx="39624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Vấn đề trong kiểm thử đơn vị</a:t>
            </a:r>
            <a:endParaRPr lang="en-US" sz="1600" dirty="0"/>
          </a:p>
        </p:txBody>
      </p:sp>
      <p:sp>
        <p:nvSpPr>
          <p:cNvPr id="6" name="Shape 4"/>
          <p:cNvSpPr/>
          <p:nvPr/>
        </p:nvSpPr>
        <p:spPr>
          <a:xfrm>
            <a:off x="385763" y="1147763"/>
            <a:ext cx="5610225" cy="2466975"/>
          </a:xfrm>
          <a:custGeom>
            <a:avLst/>
            <a:gdLst/>
            <a:ahLst/>
            <a:cxnLst/>
            <a:rect l="l" t="t" r="r" b="b"/>
            <a:pathLst>
              <a:path w="5610225" h="2466975">
                <a:moveTo>
                  <a:pt x="114295" y="0"/>
                </a:moveTo>
                <a:lnTo>
                  <a:pt x="5495930" y="0"/>
                </a:lnTo>
                <a:cubicBezTo>
                  <a:pt x="5559053" y="0"/>
                  <a:pt x="5610225" y="51172"/>
                  <a:pt x="5610225" y="114295"/>
                </a:cubicBezTo>
                <a:lnTo>
                  <a:pt x="5610225" y="2352680"/>
                </a:lnTo>
                <a:cubicBezTo>
                  <a:pt x="5610225" y="2415803"/>
                  <a:pt x="5559053" y="2466975"/>
                  <a:pt x="5495930" y="2466975"/>
                </a:cubicBezTo>
                <a:lnTo>
                  <a:pt x="114295" y="2466975"/>
                </a:lnTo>
                <a:cubicBezTo>
                  <a:pt x="51172" y="2466975"/>
                  <a:pt x="0" y="2415803"/>
                  <a:pt x="0" y="2352680"/>
                </a:cubicBezTo>
                <a:lnTo>
                  <a:pt x="0" y="114295"/>
                </a:lnTo>
                <a:cubicBezTo>
                  <a:pt x="0" y="51214"/>
                  <a:pt x="51214" y="0"/>
                  <a:pt x="114295"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619125" y="1343025"/>
            <a:ext cx="285750" cy="285750"/>
          </a:xfrm>
          <a:custGeom>
            <a:avLst/>
            <a:gdLst/>
            <a:ahLst/>
            <a:cxnLst/>
            <a:rect l="l" t="t" r="r" b="b"/>
            <a:pathLst>
              <a:path w="285750" h="285750">
                <a:moveTo>
                  <a:pt x="142875" y="0"/>
                </a:moveTo>
                <a:cubicBezTo>
                  <a:pt x="221730" y="0"/>
                  <a:pt x="285750" y="64020"/>
                  <a:pt x="285750" y="142875"/>
                </a:cubicBezTo>
                <a:cubicBezTo>
                  <a:pt x="285750" y="221730"/>
                  <a:pt x="221730" y="285750"/>
                  <a:pt x="142875" y="285750"/>
                </a:cubicBezTo>
                <a:cubicBezTo>
                  <a:pt x="64020" y="285750"/>
                  <a:pt x="0" y="221730"/>
                  <a:pt x="0" y="142875"/>
                </a:cubicBezTo>
                <a:cubicBezTo>
                  <a:pt x="0" y="64020"/>
                  <a:pt x="64020" y="0"/>
                  <a:pt x="142875" y="0"/>
                </a:cubicBezTo>
                <a:close/>
                <a:moveTo>
                  <a:pt x="129480" y="66973"/>
                </a:moveTo>
                <a:lnTo>
                  <a:pt x="129480" y="142875"/>
                </a:lnTo>
                <a:cubicBezTo>
                  <a:pt x="129480" y="147340"/>
                  <a:pt x="131713" y="151526"/>
                  <a:pt x="135452" y="154037"/>
                </a:cubicBezTo>
                <a:lnTo>
                  <a:pt x="189030" y="189756"/>
                </a:lnTo>
                <a:cubicBezTo>
                  <a:pt x="195169" y="193886"/>
                  <a:pt x="203485" y="192212"/>
                  <a:pt x="207615" y="186017"/>
                </a:cubicBezTo>
                <a:cubicBezTo>
                  <a:pt x="211745" y="179822"/>
                  <a:pt x="210071" y="171562"/>
                  <a:pt x="203876" y="167432"/>
                </a:cubicBezTo>
                <a:lnTo>
                  <a:pt x="156270" y="135731"/>
                </a:lnTo>
                <a:lnTo>
                  <a:pt x="156270" y="66973"/>
                </a:lnTo>
                <a:cubicBezTo>
                  <a:pt x="156270" y="59550"/>
                  <a:pt x="150298" y="53578"/>
                  <a:pt x="142875" y="53578"/>
                </a:cubicBezTo>
                <a:cubicBezTo>
                  <a:pt x="135452" y="53578"/>
                  <a:pt x="129480" y="59550"/>
                  <a:pt x="129480" y="66973"/>
                </a:cubicBezTo>
                <a:close/>
              </a:path>
            </a:pathLst>
          </a:custGeom>
          <a:solidFill>
            <a:srgbClr val="EF4444"/>
          </a:solidFill>
          <a:ln/>
        </p:spPr>
      </p:sp>
      <p:sp>
        <p:nvSpPr>
          <p:cNvPr id="8" name="Text 6"/>
          <p:cNvSpPr/>
          <p:nvPr/>
        </p:nvSpPr>
        <p:spPr>
          <a:xfrm>
            <a:off x="1052513" y="1352550"/>
            <a:ext cx="18383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Thách thức thờigian</a:t>
            </a:r>
            <a:endParaRPr lang="en-US" sz="1600" dirty="0"/>
          </a:p>
        </p:txBody>
      </p:sp>
      <p:sp>
        <p:nvSpPr>
          <p:cNvPr id="9" name="Text 7"/>
          <p:cNvSpPr/>
          <p:nvPr/>
        </p:nvSpPr>
        <p:spPr>
          <a:xfrm>
            <a:off x="581025" y="1781175"/>
            <a:ext cx="5295900" cy="495300"/>
          </a:xfrm>
          <a:prstGeom prst="rect">
            <a:avLst/>
          </a:prstGeom>
          <a:noFill/>
          <a:ln/>
        </p:spPr>
        <p:txBody>
          <a:bodyPr wrap="square" lIns="0" tIns="0" rIns="0" bIns="0" rtlCol="0" anchor="ctr"/>
          <a:lstStyle/>
          <a:p>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Việc viết test đòi hỏi </a:t>
            </a:r>
            <a:pPr>
              <a:lnSpc>
                <a:spcPct val="140000"/>
              </a:lnSpc>
            </a:pPr>
            <a:r>
              <a:rPr lang="en-US" sz="1200" dirty="0">
                <a:solidFill>
                  <a:srgbClr val="EF4444"/>
                </a:solidFill>
                <a:highlight>
                  <a:srgbClr val="EF4444">
                    <a:alpha val="20000"/>
                  </a:srgbClr>
                </a:highlight>
                <a:latin typeface="MiSans" pitchFamily="34" charset="0"/>
                <a:ea typeface="MiSans" pitchFamily="34" charset="-122"/>
                <a:cs typeface="MiSans" pitchFamily="34" charset="-120"/>
              </a:rPr>
              <a:t>nhiều thờigian và công sức </a:t>
            </a:r>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để lường trước các trường hợp biên (edge cases), khiến lập trình viên đôi khi bỏ qua bước này.</a:t>
            </a:r>
            <a:endParaRPr lang="en-US" sz="1600" dirty="0"/>
          </a:p>
        </p:txBody>
      </p:sp>
      <p:sp>
        <p:nvSpPr>
          <p:cNvPr id="10" name="Shape 8"/>
          <p:cNvSpPr/>
          <p:nvPr/>
        </p:nvSpPr>
        <p:spPr>
          <a:xfrm>
            <a:off x="581025" y="2428875"/>
            <a:ext cx="5219700" cy="990600"/>
          </a:xfrm>
          <a:custGeom>
            <a:avLst/>
            <a:gdLst/>
            <a:ahLst/>
            <a:cxnLst/>
            <a:rect l="l" t="t" r="r" b="b"/>
            <a:pathLst>
              <a:path w="5219700" h="990600">
                <a:moveTo>
                  <a:pt x="76197" y="0"/>
                </a:moveTo>
                <a:lnTo>
                  <a:pt x="5143503" y="0"/>
                </a:lnTo>
                <a:cubicBezTo>
                  <a:pt x="5185585" y="0"/>
                  <a:pt x="5219700" y="34115"/>
                  <a:pt x="5219700" y="76197"/>
                </a:cubicBezTo>
                <a:lnTo>
                  <a:pt x="5219700" y="914403"/>
                </a:lnTo>
                <a:cubicBezTo>
                  <a:pt x="5219700" y="956485"/>
                  <a:pt x="5185585" y="990600"/>
                  <a:pt x="5143503" y="990600"/>
                </a:cubicBezTo>
                <a:lnTo>
                  <a:pt x="76197" y="990600"/>
                </a:lnTo>
                <a:cubicBezTo>
                  <a:pt x="34115" y="990600"/>
                  <a:pt x="0" y="956485"/>
                  <a:pt x="0" y="914403"/>
                </a:cubicBezTo>
                <a:lnTo>
                  <a:pt x="0" y="76197"/>
                </a:lnTo>
                <a:cubicBezTo>
                  <a:pt x="0" y="34143"/>
                  <a:pt x="34143" y="0"/>
                  <a:pt x="76197" y="0"/>
                </a:cubicBezTo>
                <a:close/>
              </a:path>
            </a:pathLst>
          </a:custGeom>
          <a:solidFill>
            <a:srgbClr val="0F172A"/>
          </a:solidFill>
          <a:ln/>
        </p:spPr>
      </p:sp>
      <p:sp>
        <p:nvSpPr>
          <p:cNvPr id="11" name="Text 9"/>
          <p:cNvSpPr/>
          <p:nvPr/>
        </p:nvSpPr>
        <p:spPr>
          <a:xfrm>
            <a:off x="733425" y="2619375"/>
            <a:ext cx="11239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Thờigian viết test</a:t>
            </a:r>
            <a:endParaRPr lang="en-US" sz="1600" dirty="0"/>
          </a:p>
        </p:txBody>
      </p:sp>
      <p:sp>
        <p:nvSpPr>
          <p:cNvPr id="12" name="Text 10"/>
          <p:cNvSpPr/>
          <p:nvPr/>
        </p:nvSpPr>
        <p:spPr>
          <a:xfrm>
            <a:off x="5012531" y="2581275"/>
            <a:ext cx="723900" cy="266700"/>
          </a:xfrm>
          <a:prstGeom prst="rect">
            <a:avLst/>
          </a:prstGeom>
          <a:noFill/>
          <a:ln/>
        </p:spPr>
        <p:txBody>
          <a:bodyPr wrap="square" lIns="0" tIns="0" rIns="0" bIns="0" rtlCol="0" anchor="ctr"/>
          <a:lstStyle/>
          <a:p>
            <a:pPr>
              <a:lnSpc>
                <a:spcPct val="130000"/>
              </a:lnSpc>
            </a:pPr>
            <a:r>
              <a:rPr lang="en-US" sz="1350" b="1" dirty="0">
                <a:solidFill>
                  <a:srgbClr val="EF4444"/>
                </a:solidFill>
                <a:latin typeface="MiSans" pitchFamily="34" charset="0"/>
                <a:ea typeface="MiSans" pitchFamily="34" charset="-122"/>
                <a:cs typeface="MiSans" pitchFamily="34" charset="-120"/>
              </a:rPr>
              <a:t>30-50%</a:t>
            </a:r>
            <a:endParaRPr lang="en-US" sz="1600" dirty="0"/>
          </a:p>
        </p:txBody>
      </p:sp>
      <p:sp>
        <p:nvSpPr>
          <p:cNvPr id="13" name="Shape 11"/>
          <p:cNvSpPr/>
          <p:nvPr/>
        </p:nvSpPr>
        <p:spPr>
          <a:xfrm>
            <a:off x="733425" y="2924175"/>
            <a:ext cx="4914900" cy="114300"/>
          </a:xfrm>
          <a:custGeom>
            <a:avLst/>
            <a:gdLst/>
            <a:ahLst/>
            <a:cxnLst/>
            <a:rect l="l" t="t" r="r" b="b"/>
            <a:pathLst>
              <a:path w="4914900" h="114300">
                <a:moveTo>
                  <a:pt x="57150" y="0"/>
                </a:moveTo>
                <a:lnTo>
                  <a:pt x="4857750" y="0"/>
                </a:lnTo>
                <a:cubicBezTo>
                  <a:pt x="4889292" y="0"/>
                  <a:pt x="4914900" y="25608"/>
                  <a:pt x="4914900" y="57150"/>
                </a:cubicBezTo>
                <a:lnTo>
                  <a:pt x="4914900" y="57150"/>
                </a:lnTo>
                <a:cubicBezTo>
                  <a:pt x="4914900" y="88692"/>
                  <a:pt x="4889292" y="114300"/>
                  <a:pt x="4857750" y="114300"/>
                </a:cubicBezTo>
                <a:lnTo>
                  <a:pt x="57150" y="114300"/>
                </a:lnTo>
                <a:cubicBezTo>
                  <a:pt x="25608" y="114300"/>
                  <a:pt x="0" y="88692"/>
                  <a:pt x="0" y="57150"/>
                </a:cubicBezTo>
                <a:lnTo>
                  <a:pt x="0" y="57150"/>
                </a:lnTo>
                <a:cubicBezTo>
                  <a:pt x="0" y="25608"/>
                  <a:pt x="25608" y="0"/>
                  <a:pt x="57150" y="0"/>
                </a:cubicBezTo>
                <a:close/>
              </a:path>
            </a:pathLst>
          </a:custGeom>
          <a:solidFill>
            <a:srgbClr val="1E293B"/>
          </a:solidFill>
          <a:ln/>
        </p:spPr>
      </p:sp>
      <p:sp>
        <p:nvSpPr>
          <p:cNvPr id="14" name="Shape 12"/>
          <p:cNvSpPr/>
          <p:nvPr/>
        </p:nvSpPr>
        <p:spPr>
          <a:xfrm>
            <a:off x="733425" y="2924175"/>
            <a:ext cx="1962150" cy="114300"/>
          </a:xfrm>
          <a:custGeom>
            <a:avLst/>
            <a:gdLst/>
            <a:ahLst/>
            <a:cxnLst/>
            <a:rect l="l" t="t" r="r" b="b"/>
            <a:pathLst>
              <a:path w="1962150" h="114300">
                <a:moveTo>
                  <a:pt x="57150" y="0"/>
                </a:moveTo>
                <a:lnTo>
                  <a:pt x="1905000" y="0"/>
                </a:lnTo>
                <a:cubicBezTo>
                  <a:pt x="1936542" y="0"/>
                  <a:pt x="1962150" y="25608"/>
                  <a:pt x="1962150" y="57150"/>
                </a:cubicBezTo>
                <a:lnTo>
                  <a:pt x="1962150" y="57150"/>
                </a:lnTo>
                <a:cubicBezTo>
                  <a:pt x="1962150" y="88692"/>
                  <a:pt x="1936542" y="114300"/>
                  <a:pt x="1905000" y="114300"/>
                </a:cubicBezTo>
                <a:lnTo>
                  <a:pt x="57150" y="114300"/>
                </a:lnTo>
                <a:cubicBezTo>
                  <a:pt x="25608" y="114300"/>
                  <a:pt x="0" y="88692"/>
                  <a:pt x="0" y="57150"/>
                </a:cubicBezTo>
                <a:lnTo>
                  <a:pt x="0" y="57150"/>
                </a:lnTo>
                <a:cubicBezTo>
                  <a:pt x="0" y="25608"/>
                  <a:pt x="25608" y="0"/>
                  <a:pt x="57150" y="0"/>
                </a:cubicBezTo>
                <a:close/>
              </a:path>
            </a:pathLst>
          </a:custGeom>
          <a:gradFill rotWithShape="1" flip="none">
            <a:gsLst>
              <a:gs pos="0">
                <a:srgbClr val="EF4444"/>
              </a:gs>
              <a:gs pos="100000">
                <a:srgbClr val="F59E0B"/>
              </a:gs>
            </a:gsLst>
            <a:lin ang="0" scaled="1"/>
          </a:gradFill>
          <a:ln/>
        </p:spPr>
      </p:sp>
      <p:sp>
        <p:nvSpPr>
          <p:cNvPr id="15" name="Text 13"/>
          <p:cNvSpPr/>
          <p:nvPr/>
        </p:nvSpPr>
        <p:spPr>
          <a:xfrm>
            <a:off x="733425" y="3114675"/>
            <a:ext cx="497205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Tỷ lệ thờigian viết test so với tổng thờigian phát triển</a:t>
            </a:r>
            <a:endParaRPr lang="en-US" sz="1600" dirty="0"/>
          </a:p>
        </p:txBody>
      </p:sp>
      <p:sp>
        <p:nvSpPr>
          <p:cNvPr id="16" name="Shape 14"/>
          <p:cNvSpPr/>
          <p:nvPr/>
        </p:nvSpPr>
        <p:spPr>
          <a:xfrm>
            <a:off x="385763" y="3776662"/>
            <a:ext cx="5610225" cy="1914525"/>
          </a:xfrm>
          <a:custGeom>
            <a:avLst/>
            <a:gdLst/>
            <a:ahLst/>
            <a:cxnLst/>
            <a:rect l="l" t="t" r="r" b="b"/>
            <a:pathLst>
              <a:path w="5610225" h="1914525">
                <a:moveTo>
                  <a:pt x="114297" y="0"/>
                </a:moveTo>
                <a:lnTo>
                  <a:pt x="5495928" y="0"/>
                </a:lnTo>
                <a:cubicBezTo>
                  <a:pt x="5559010" y="0"/>
                  <a:pt x="5610225" y="51215"/>
                  <a:pt x="5610225" y="114297"/>
                </a:cubicBezTo>
                <a:lnTo>
                  <a:pt x="5610225" y="1800228"/>
                </a:lnTo>
                <a:cubicBezTo>
                  <a:pt x="5610225" y="1863310"/>
                  <a:pt x="5559010" y="1914525"/>
                  <a:pt x="5495928" y="1914525"/>
                </a:cubicBezTo>
                <a:lnTo>
                  <a:pt x="114297" y="1914525"/>
                </a:lnTo>
                <a:cubicBezTo>
                  <a:pt x="51215" y="1914525"/>
                  <a:pt x="0" y="1863310"/>
                  <a:pt x="0" y="1800228"/>
                </a:cubicBezTo>
                <a:lnTo>
                  <a:pt x="0" y="114297"/>
                </a:lnTo>
                <a:cubicBezTo>
                  <a:pt x="0" y="51215"/>
                  <a:pt x="51215" y="0"/>
                  <a:pt x="114297"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17" name="Shape 15"/>
          <p:cNvSpPr/>
          <p:nvPr/>
        </p:nvSpPr>
        <p:spPr>
          <a:xfrm>
            <a:off x="609600" y="3990975"/>
            <a:ext cx="228600" cy="228600"/>
          </a:xfrm>
          <a:custGeom>
            <a:avLst/>
            <a:gdLst/>
            <a:ahLst/>
            <a:cxnLst/>
            <a:rect l="l" t="t" r="r" b="b"/>
            <a:pathLst>
              <a:path w="228600" h="228600">
                <a:moveTo>
                  <a:pt x="100013" y="0"/>
                </a:moveTo>
                <a:cubicBezTo>
                  <a:pt x="115773" y="0"/>
                  <a:pt x="128588" y="9599"/>
                  <a:pt x="128588" y="21431"/>
                </a:cubicBezTo>
                <a:cubicBezTo>
                  <a:pt x="128588" y="26075"/>
                  <a:pt x="126623" y="30361"/>
                  <a:pt x="123230" y="33888"/>
                </a:cubicBezTo>
                <a:cubicBezTo>
                  <a:pt x="120283" y="36969"/>
                  <a:pt x="117872" y="40719"/>
                  <a:pt x="117872" y="45006"/>
                </a:cubicBezTo>
                <a:cubicBezTo>
                  <a:pt x="117872" y="51703"/>
                  <a:pt x="123319" y="57150"/>
                  <a:pt x="130016" y="57150"/>
                </a:cubicBezTo>
                <a:lnTo>
                  <a:pt x="150019" y="57150"/>
                </a:lnTo>
                <a:cubicBezTo>
                  <a:pt x="161851" y="57150"/>
                  <a:pt x="171450" y="66749"/>
                  <a:pt x="171450" y="78581"/>
                </a:cubicBezTo>
                <a:lnTo>
                  <a:pt x="171450" y="98584"/>
                </a:lnTo>
                <a:cubicBezTo>
                  <a:pt x="171450" y="105281"/>
                  <a:pt x="176897" y="110728"/>
                  <a:pt x="183594" y="110728"/>
                </a:cubicBezTo>
                <a:cubicBezTo>
                  <a:pt x="187836" y="110728"/>
                  <a:pt x="191631" y="108317"/>
                  <a:pt x="194712" y="105370"/>
                </a:cubicBezTo>
                <a:cubicBezTo>
                  <a:pt x="198239" y="102022"/>
                  <a:pt x="202525" y="100013"/>
                  <a:pt x="207169" y="100013"/>
                </a:cubicBezTo>
                <a:cubicBezTo>
                  <a:pt x="219001" y="100013"/>
                  <a:pt x="228600" y="112827"/>
                  <a:pt x="228600" y="128588"/>
                </a:cubicBezTo>
                <a:cubicBezTo>
                  <a:pt x="228600" y="144348"/>
                  <a:pt x="219001" y="157163"/>
                  <a:pt x="207169" y="157163"/>
                </a:cubicBezTo>
                <a:cubicBezTo>
                  <a:pt x="202525" y="157163"/>
                  <a:pt x="198194" y="155198"/>
                  <a:pt x="194712" y="151805"/>
                </a:cubicBezTo>
                <a:cubicBezTo>
                  <a:pt x="191631" y="148858"/>
                  <a:pt x="187881" y="146447"/>
                  <a:pt x="183594" y="146447"/>
                </a:cubicBezTo>
                <a:cubicBezTo>
                  <a:pt x="176897" y="146447"/>
                  <a:pt x="171450" y="151894"/>
                  <a:pt x="171450" y="158591"/>
                </a:cubicBezTo>
                <a:lnTo>
                  <a:pt x="171450" y="207169"/>
                </a:lnTo>
                <a:cubicBezTo>
                  <a:pt x="171450" y="219001"/>
                  <a:pt x="161851" y="228600"/>
                  <a:pt x="150019" y="228600"/>
                </a:cubicBezTo>
                <a:lnTo>
                  <a:pt x="124658" y="228600"/>
                </a:lnTo>
                <a:cubicBezTo>
                  <a:pt x="118943" y="228600"/>
                  <a:pt x="114300" y="223957"/>
                  <a:pt x="114300" y="218242"/>
                </a:cubicBezTo>
                <a:cubicBezTo>
                  <a:pt x="114300" y="214134"/>
                  <a:pt x="116890" y="210517"/>
                  <a:pt x="120194" y="208062"/>
                </a:cubicBezTo>
                <a:cubicBezTo>
                  <a:pt x="125373" y="204177"/>
                  <a:pt x="128588" y="198819"/>
                  <a:pt x="128588" y="192881"/>
                </a:cubicBezTo>
                <a:cubicBezTo>
                  <a:pt x="128588" y="181049"/>
                  <a:pt x="115773" y="171450"/>
                  <a:pt x="100013" y="171450"/>
                </a:cubicBezTo>
                <a:cubicBezTo>
                  <a:pt x="84252" y="171450"/>
                  <a:pt x="71438" y="181049"/>
                  <a:pt x="71438" y="192881"/>
                </a:cubicBezTo>
                <a:cubicBezTo>
                  <a:pt x="71438" y="198819"/>
                  <a:pt x="74652" y="204177"/>
                  <a:pt x="79831" y="208062"/>
                </a:cubicBezTo>
                <a:cubicBezTo>
                  <a:pt x="83135" y="210517"/>
                  <a:pt x="85725" y="214089"/>
                  <a:pt x="85725" y="218242"/>
                </a:cubicBezTo>
                <a:cubicBezTo>
                  <a:pt x="85725" y="223957"/>
                  <a:pt x="81082" y="228600"/>
                  <a:pt x="75367" y="228600"/>
                </a:cubicBezTo>
                <a:lnTo>
                  <a:pt x="21431" y="228600"/>
                </a:lnTo>
                <a:cubicBezTo>
                  <a:pt x="9599" y="228600"/>
                  <a:pt x="0" y="219001"/>
                  <a:pt x="0" y="207169"/>
                </a:cubicBezTo>
                <a:lnTo>
                  <a:pt x="0" y="153233"/>
                </a:lnTo>
                <a:cubicBezTo>
                  <a:pt x="0" y="147518"/>
                  <a:pt x="4643" y="142875"/>
                  <a:pt x="10358" y="142875"/>
                </a:cubicBezTo>
                <a:cubicBezTo>
                  <a:pt x="14466" y="142875"/>
                  <a:pt x="18083" y="145465"/>
                  <a:pt x="20538" y="148769"/>
                </a:cubicBezTo>
                <a:cubicBezTo>
                  <a:pt x="24423" y="153948"/>
                  <a:pt x="29781" y="157163"/>
                  <a:pt x="35719" y="157163"/>
                </a:cubicBezTo>
                <a:cubicBezTo>
                  <a:pt x="47551" y="157163"/>
                  <a:pt x="57150" y="144348"/>
                  <a:pt x="57150" y="128588"/>
                </a:cubicBezTo>
                <a:cubicBezTo>
                  <a:pt x="57150" y="112827"/>
                  <a:pt x="47551" y="100013"/>
                  <a:pt x="35719" y="100013"/>
                </a:cubicBezTo>
                <a:cubicBezTo>
                  <a:pt x="29781" y="100013"/>
                  <a:pt x="24423" y="103227"/>
                  <a:pt x="20538" y="108406"/>
                </a:cubicBezTo>
                <a:cubicBezTo>
                  <a:pt x="18083" y="111710"/>
                  <a:pt x="14511" y="114300"/>
                  <a:pt x="10358" y="114300"/>
                </a:cubicBezTo>
                <a:cubicBezTo>
                  <a:pt x="4643" y="114300"/>
                  <a:pt x="0" y="109657"/>
                  <a:pt x="0" y="103942"/>
                </a:cubicBezTo>
                <a:lnTo>
                  <a:pt x="0" y="78581"/>
                </a:lnTo>
                <a:cubicBezTo>
                  <a:pt x="0" y="66749"/>
                  <a:pt x="9599" y="57150"/>
                  <a:pt x="21431" y="57150"/>
                </a:cubicBezTo>
                <a:lnTo>
                  <a:pt x="70009" y="57150"/>
                </a:lnTo>
                <a:cubicBezTo>
                  <a:pt x="76706" y="57150"/>
                  <a:pt x="82153" y="51703"/>
                  <a:pt x="82153" y="45006"/>
                </a:cubicBezTo>
                <a:cubicBezTo>
                  <a:pt x="82153" y="40764"/>
                  <a:pt x="79742" y="36969"/>
                  <a:pt x="76795" y="33888"/>
                </a:cubicBezTo>
                <a:cubicBezTo>
                  <a:pt x="73447" y="30361"/>
                  <a:pt x="71438" y="26075"/>
                  <a:pt x="71438" y="21431"/>
                </a:cubicBezTo>
                <a:cubicBezTo>
                  <a:pt x="71438" y="9599"/>
                  <a:pt x="84252" y="0"/>
                  <a:pt x="100013" y="0"/>
                </a:cubicBezTo>
                <a:close/>
              </a:path>
            </a:pathLst>
          </a:custGeom>
          <a:solidFill>
            <a:srgbClr val="F59E0B"/>
          </a:solidFill>
          <a:ln/>
        </p:spPr>
      </p:sp>
      <p:sp>
        <p:nvSpPr>
          <p:cNvPr id="18" name="Text 16"/>
          <p:cNvSpPr/>
          <p:nvPr/>
        </p:nvSpPr>
        <p:spPr>
          <a:xfrm>
            <a:off x="981075" y="3971925"/>
            <a:ext cx="19526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Edge Cases phức tạp</a:t>
            </a:r>
            <a:endParaRPr lang="en-US" sz="1600" dirty="0"/>
          </a:p>
        </p:txBody>
      </p:sp>
      <p:sp>
        <p:nvSpPr>
          <p:cNvPr id="19" name="Shape 17"/>
          <p:cNvSpPr/>
          <p:nvPr/>
        </p:nvSpPr>
        <p:spPr>
          <a:xfrm>
            <a:off x="600075" y="43910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20" name="Text 18"/>
          <p:cNvSpPr/>
          <p:nvPr/>
        </p:nvSpPr>
        <p:spPr>
          <a:xfrm>
            <a:off x="847725" y="4352925"/>
            <a:ext cx="19240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Input rỗng, null, undefined</a:t>
            </a:r>
            <a:endParaRPr lang="en-US" sz="1600" dirty="0"/>
          </a:p>
        </p:txBody>
      </p:sp>
      <p:sp>
        <p:nvSpPr>
          <p:cNvPr id="21" name="Shape 19"/>
          <p:cNvSpPr/>
          <p:nvPr/>
        </p:nvSpPr>
        <p:spPr>
          <a:xfrm>
            <a:off x="600075" y="46958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22" name="Text 20"/>
          <p:cNvSpPr/>
          <p:nvPr/>
        </p:nvSpPr>
        <p:spPr>
          <a:xfrm>
            <a:off x="847725" y="4657725"/>
            <a:ext cx="1695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Giá trị cực lớn, cực nhỏ</a:t>
            </a:r>
            <a:endParaRPr lang="en-US" sz="1600" dirty="0"/>
          </a:p>
        </p:txBody>
      </p:sp>
      <p:sp>
        <p:nvSpPr>
          <p:cNvPr id="23" name="Shape 21"/>
          <p:cNvSpPr/>
          <p:nvPr/>
        </p:nvSpPr>
        <p:spPr>
          <a:xfrm>
            <a:off x="600075" y="50006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24" name="Text 22"/>
          <p:cNvSpPr/>
          <p:nvPr/>
        </p:nvSpPr>
        <p:spPr>
          <a:xfrm>
            <a:off x="847725" y="4962525"/>
            <a:ext cx="1704975"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Ký tự đặc biệt, Unicode</a:t>
            </a:r>
            <a:endParaRPr lang="en-US" sz="1600" dirty="0"/>
          </a:p>
        </p:txBody>
      </p:sp>
      <p:sp>
        <p:nvSpPr>
          <p:cNvPr id="25" name="Shape 23"/>
          <p:cNvSpPr/>
          <p:nvPr/>
        </p:nvSpPr>
        <p:spPr>
          <a:xfrm>
            <a:off x="600075" y="53054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26" name="Text 24"/>
          <p:cNvSpPr/>
          <p:nvPr/>
        </p:nvSpPr>
        <p:spPr>
          <a:xfrm>
            <a:off x="847725" y="5267325"/>
            <a:ext cx="1933575"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Thứ tự thực thi bất thường</a:t>
            </a:r>
            <a:endParaRPr lang="en-US" sz="1600" dirty="0"/>
          </a:p>
        </p:txBody>
      </p:sp>
      <p:sp>
        <p:nvSpPr>
          <p:cNvPr id="27" name="Shape 25"/>
          <p:cNvSpPr/>
          <p:nvPr/>
        </p:nvSpPr>
        <p:spPr>
          <a:xfrm>
            <a:off x="6196013" y="1147763"/>
            <a:ext cx="5610225" cy="4391025"/>
          </a:xfrm>
          <a:custGeom>
            <a:avLst/>
            <a:gdLst/>
            <a:ahLst/>
            <a:cxnLst/>
            <a:rect l="l" t="t" r="r" b="b"/>
            <a:pathLst>
              <a:path w="5610225" h="4391025">
                <a:moveTo>
                  <a:pt x="114298" y="0"/>
                </a:moveTo>
                <a:lnTo>
                  <a:pt x="5495927" y="0"/>
                </a:lnTo>
                <a:cubicBezTo>
                  <a:pt x="5559052" y="0"/>
                  <a:pt x="5610225" y="51173"/>
                  <a:pt x="5610225" y="114298"/>
                </a:cubicBezTo>
                <a:lnTo>
                  <a:pt x="5610225" y="4276727"/>
                </a:lnTo>
                <a:cubicBezTo>
                  <a:pt x="5610225" y="4339852"/>
                  <a:pt x="5559052" y="4391025"/>
                  <a:pt x="5495927" y="4391025"/>
                </a:cubicBezTo>
                <a:lnTo>
                  <a:pt x="114298" y="4391025"/>
                </a:lnTo>
                <a:cubicBezTo>
                  <a:pt x="51173" y="4391025"/>
                  <a:pt x="0" y="4339852"/>
                  <a:pt x="0" y="4276727"/>
                </a:cubicBezTo>
                <a:lnTo>
                  <a:pt x="0" y="114298"/>
                </a:lnTo>
                <a:cubicBezTo>
                  <a:pt x="0" y="51215"/>
                  <a:pt x="51215" y="0"/>
                  <a:pt x="114298"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28" name="Shape 26"/>
          <p:cNvSpPr/>
          <p:nvPr/>
        </p:nvSpPr>
        <p:spPr>
          <a:xfrm>
            <a:off x="6429375" y="1343025"/>
            <a:ext cx="285750" cy="285750"/>
          </a:xfrm>
          <a:custGeom>
            <a:avLst/>
            <a:gdLst/>
            <a:ahLst/>
            <a:cxnLst/>
            <a:rect l="l" t="t" r="r" b="b"/>
            <a:pathLst>
              <a:path w="285750" h="285750">
                <a:moveTo>
                  <a:pt x="272355" y="107156"/>
                </a:moveTo>
                <a:lnTo>
                  <a:pt x="191988" y="107156"/>
                </a:lnTo>
                <a:cubicBezTo>
                  <a:pt x="186575" y="107156"/>
                  <a:pt x="181663" y="103919"/>
                  <a:pt x="179598" y="98896"/>
                </a:cubicBezTo>
                <a:cubicBezTo>
                  <a:pt x="177533" y="93873"/>
                  <a:pt x="178650" y="88125"/>
                  <a:pt x="182500" y="84274"/>
                </a:cubicBezTo>
                <a:lnTo>
                  <a:pt x="208564" y="58210"/>
                </a:lnTo>
                <a:cubicBezTo>
                  <a:pt x="166539" y="25505"/>
                  <a:pt x="105705" y="28463"/>
                  <a:pt x="67084" y="67084"/>
                </a:cubicBezTo>
                <a:cubicBezTo>
                  <a:pt x="25226" y="108942"/>
                  <a:pt x="25226" y="176752"/>
                  <a:pt x="67084" y="218610"/>
                </a:cubicBezTo>
                <a:cubicBezTo>
                  <a:pt x="108942" y="260468"/>
                  <a:pt x="176752" y="260468"/>
                  <a:pt x="218610" y="218610"/>
                </a:cubicBezTo>
                <a:cubicBezTo>
                  <a:pt x="223186" y="214033"/>
                  <a:pt x="227261" y="209178"/>
                  <a:pt x="230832" y="204043"/>
                </a:cubicBezTo>
                <a:cubicBezTo>
                  <a:pt x="236469" y="195951"/>
                  <a:pt x="247631" y="193997"/>
                  <a:pt x="255724" y="199634"/>
                </a:cubicBezTo>
                <a:cubicBezTo>
                  <a:pt x="263816" y="205271"/>
                  <a:pt x="265770" y="216433"/>
                  <a:pt x="260133" y="224526"/>
                </a:cubicBezTo>
                <a:cubicBezTo>
                  <a:pt x="255389" y="231335"/>
                  <a:pt x="249975" y="237809"/>
                  <a:pt x="243892" y="243892"/>
                </a:cubicBezTo>
                <a:cubicBezTo>
                  <a:pt x="188082" y="299703"/>
                  <a:pt x="97613" y="299703"/>
                  <a:pt x="41858" y="243892"/>
                </a:cubicBezTo>
                <a:cubicBezTo>
                  <a:pt x="-13897" y="188082"/>
                  <a:pt x="-13953" y="97668"/>
                  <a:pt x="41858" y="41858"/>
                </a:cubicBezTo>
                <a:cubicBezTo>
                  <a:pt x="94487" y="-10771"/>
                  <a:pt x="177868" y="-13729"/>
                  <a:pt x="234014" y="32817"/>
                </a:cubicBezTo>
                <a:lnTo>
                  <a:pt x="262868" y="3907"/>
                </a:lnTo>
                <a:cubicBezTo>
                  <a:pt x="266719" y="56"/>
                  <a:pt x="272467" y="-1060"/>
                  <a:pt x="277490" y="1005"/>
                </a:cubicBezTo>
                <a:cubicBezTo>
                  <a:pt x="282513" y="3070"/>
                  <a:pt x="285750" y="7981"/>
                  <a:pt x="285750" y="13395"/>
                </a:cubicBezTo>
                <a:lnTo>
                  <a:pt x="285750" y="93762"/>
                </a:lnTo>
                <a:cubicBezTo>
                  <a:pt x="285750" y="101185"/>
                  <a:pt x="279778" y="107156"/>
                  <a:pt x="272355" y="107156"/>
                </a:cubicBezTo>
                <a:close/>
              </a:path>
            </a:pathLst>
          </a:custGeom>
          <a:solidFill>
            <a:srgbClr val="3B82F6"/>
          </a:solidFill>
          <a:ln/>
        </p:spPr>
      </p:sp>
      <p:sp>
        <p:nvSpPr>
          <p:cNvPr id="29" name="Text 27"/>
          <p:cNvSpPr/>
          <p:nvPr/>
        </p:nvSpPr>
        <p:spPr>
          <a:xfrm>
            <a:off x="6862763" y="1352550"/>
            <a:ext cx="29146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Test-Driven Development (TDD)</a:t>
            </a:r>
            <a:endParaRPr lang="en-US" sz="1600" dirty="0"/>
          </a:p>
        </p:txBody>
      </p:sp>
      <p:sp>
        <p:nvSpPr>
          <p:cNvPr id="30" name="Text 28"/>
          <p:cNvSpPr/>
          <p:nvPr/>
        </p:nvSpPr>
        <p:spPr>
          <a:xfrm>
            <a:off x="6391275" y="1781175"/>
            <a:ext cx="5295900" cy="495300"/>
          </a:xfrm>
          <a:prstGeom prst="rect">
            <a:avLst/>
          </a:prstGeom>
          <a:noFill/>
          <a:ln/>
        </p:spPr>
        <p:txBody>
          <a:bodyPr wrap="square" lIns="0" tIns="0" rIns="0" bIns="0" rtlCol="0" anchor="ctr"/>
          <a:lstStyle/>
          <a:p>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Phương pháp Agile phổ biến: lập trình viên viết </a:t>
            </a:r>
            <a:pPr>
              <a:lnSpc>
                <a:spcPct val="140000"/>
              </a:lnSpc>
            </a:pPr>
            <a:r>
              <a:rPr lang="en-US" sz="1200" b="1" dirty="0">
                <a:solidFill>
                  <a:srgbClr val="3B82F6"/>
                </a:solidFill>
                <a:latin typeface="MiSans" pitchFamily="34" charset="0"/>
                <a:ea typeface="MiSans" pitchFamily="34" charset="-122"/>
                <a:cs typeface="MiSans" pitchFamily="34" charset="-120"/>
              </a:rPr>
              <a:t>các kịch bản kiểm thử trước</a:t>
            </a:r>
            <a:pPr>
              <a:lnSpc>
                <a:spcPct val="140000"/>
              </a:lnSpc>
            </a:pPr>
            <a:r>
              <a:rPr lang="en-US" sz="1200" dirty="0">
                <a:solidFill>
                  <a:srgbClr val="F1F5F9">
                    <a:alpha val="80000"/>
                  </a:srgbClr>
                </a:solidFill>
                <a:latin typeface="MiSans" pitchFamily="34" charset="0"/>
                <a:ea typeface="MiSans" pitchFamily="34" charset="-122"/>
                <a:cs typeface="MiSans" pitchFamily="34" charset="-120"/>
              </a:rPr>
              <a:t>, sau đó mới viết mã nguồn tối thiểu để vượt qua các bài test đó.</a:t>
            </a:r>
            <a:endParaRPr lang="en-US" sz="1600" dirty="0"/>
          </a:p>
        </p:txBody>
      </p:sp>
      <p:sp>
        <p:nvSpPr>
          <p:cNvPr id="31" name="Shape 29"/>
          <p:cNvSpPr/>
          <p:nvPr/>
        </p:nvSpPr>
        <p:spPr>
          <a:xfrm>
            <a:off x="6391275" y="2428875"/>
            <a:ext cx="5219700" cy="1828800"/>
          </a:xfrm>
          <a:custGeom>
            <a:avLst/>
            <a:gdLst/>
            <a:ahLst/>
            <a:cxnLst/>
            <a:rect l="l" t="t" r="r" b="b"/>
            <a:pathLst>
              <a:path w="5219700" h="1828800">
                <a:moveTo>
                  <a:pt x="76206" y="0"/>
                </a:moveTo>
                <a:lnTo>
                  <a:pt x="5143494" y="0"/>
                </a:lnTo>
                <a:cubicBezTo>
                  <a:pt x="5185581" y="0"/>
                  <a:pt x="5219700" y="34119"/>
                  <a:pt x="5219700" y="76206"/>
                </a:cubicBezTo>
                <a:lnTo>
                  <a:pt x="5219700" y="1752594"/>
                </a:lnTo>
                <a:cubicBezTo>
                  <a:pt x="5219700" y="1794681"/>
                  <a:pt x="5185581" y="1828800"/>
                  <a:pt x="5143494" y="1828800"/>
                </a:cubicBezTo>
                <a:lnTo>
                  <a:pt x="76206" y="1828800"/>
                </a:lnTo>
                <a:cubicBezTo>
                  <a:pt x="34119" y="1828800"/>
                  <a:pt x="0" y="1794681"/>
                  <a:pt x="0" y="1752594"/>
                </a:cubicBezTo>
                <a:lnTo>
                  <a:pt x="0" y="76206"/>
                </a:lnTo>
                <a:cubicBezTo>
                  <a:pt x="0" y="34147"/>
                  <a:pt x="34147" y="0"/>
                  <a:pt x="76206" y="0"/>
                </a:cubicBezTo>
                <a:close/>
              </a:path>
            </a:pathLst>
          </a:custGeom>
          <a:solidFill>
            <a:srgbClr val="0F172A"/>
          </a:solidFill>
          <a:ln/>
        </p:spPr>
      </p:sp>
      <p:sp>
        <p:nvSpPr>
          <p:cNvPr id="32" name="Text 30"/>
          <p:cNvSpPr/>
          <p:nvPr/>
        </p:nvSpPr>
        <p:spPr>
          <a:xfrm>
            <a:off x="6543675" y="2581275"/>
            <a:ext cx="4991100"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Chu trình Red-Green-Refactor</a:t>
            </a:r>
            <a:endParaRPr lang="en-US" sz="1600" dirty="0"/>
          </a:p>
        </p:txBody>
      </p:sp>
      <p:sp>
        <p:nvSpPr>
          <p:cNvPr id="33" name="Shape 31"/>
          <p:cNvSpPr/>
          <p:nvPr/>
        </p:nvSpPr>
        <p:spPr>
          <a:xfrm>
            <a:off x="6543675" y="2924175"/>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EF4444"/>
          </a:solidFill>
          <a:ln/>
        </p:spPr>
      </p:sp>
      <p:sp>
        <p:nvSpPr>
          <p:cNvPr id="34" name="Shape 32"/>
          <p:cNvSpPr/>
          <p:nvPr/>
        </p:nvSpPr>
        <p:spPr>
          <a:xfrm>
            <a:off x="6762750" y="3114675"/>
            <a:ext cx="171450" cy="228600"/>
          </a:xfrm>
          <a:custGeom>
            <a:avLst/>
            <a:gdLst/>
            <a:ahLst/>
            <a:cxnLst/>
            <a:rect l="l" t="t" r="r" b="b"/>
            <a:pathLst>
              <a:path w="171450" h="228600">
                <a:moveTo>
                  <a:pt x="24601" y="32772"/>
                </a:moveTo>
                <a:cubicBezTo>
                  <a:pt x="19020" y="27191"/>
                  <a:pt x="9957" y="27191"/>
                  <a:pt x="4376" y="32772"/>
                </a:cubicBezTo>
                <a:cubicBezTo>
                  <a:pt x="-1206" y="38353"/>
                  <a:pt x="-1206" y="47417"/>
                  <a:pt x="4376" y="52998"/>
                </a:cubicBezTo>
                <a:lnTo>
                  <a:pt x="65723" y="114300"/>
                </a:lnTo>
                <a:lnTo>
                  <a:pt x="4420" y="175647"/>
                </a:lnTo>
                <a:cubicBezTo>
                  <a:pt x="-1161" y="181228"/>
                  <a:pt x="-1161" y="190292"/>
                  <a:pt x="4420" y="195873"/>
                </a:cubicBezTo>
                <a:cubicBezTo>
                  <a:pt x="10001" y="201454"/>
                  <a:pt x="19065" y="201454"/>
                  <a:pt x="24646" y="195873"/>
                </a:cubicBezTo>
                <a:lnTo>
                  <a:pt x="85948" y="134526"/>
                </a:lnTo>
                <a:lnTo>
                  <a:pt x="147295" y="195828"/>
                </a:lnTo>
                <a:cubicBezTo>
                  <a:pt x="152876" y="201409"/>
                  <a:pt x="161940" y="201409"/>
                  <a:pt x="167521" y="195828"/>
                </a:cubicBezTo>
                <a:cubicBezTo>
                  <a:pt x="173102" y="190247"/>
                  <a:pt x="173102" y="181183"/>
                  <a:pt x="167521" y="175602"/>
                </a:cubicBezTo>
                <a:lnTo>
                  <a:pt x="106174" y="114300"/>
                </a:lnTo>
                <a:lnTo>
                  <a:pt x="167476" y="52953"/>
                </a:lnTo>
                <a:cubicBezTo>
                  <a:pt x="173057" y="47372"/>
                  <a:pt x="173057" y="38308"/>
                  <a:pt x="167476" y="32727"/>
                </a:cubicBezTo>
                <a:cubicBezTo>
                  <a:pt x="161895" y="27146"/>
                  <a:pt x="152832" y="27146"/>
                  <a:pt x="147251" y="32727"/>
                </a:cubicBezTo>
                <a:lnTo>
                  <a:pt x="85948" y="94074"/>
                </a:lnTo>
                <a:lnTo>
                  <a:pt x="24601" y="32772"/>
                </a:lnTo>
                <a:close/>
              </a:path>
            </a:pathLst>
          </a:custGeom>
          <a:solidFill>
            <a:srgbClr val="FFFFFF"/>
          </a:solidFill>
          <a:ln/>
        </p:spPr>
      </p:sp>
      <p:sp>
        <p:nvSpPr>
          <p:cNvPr id="35" name="Text 33"/>
          <p:cNvSpPr/>
          <p:nvPr/>
        </p:nvSpPr>
        <p:spPr>
          <a:xfrm>
            <a:off x="6510338" y="3609975"/>
            <a:ext cx="676275" cy="190500"/>
          </a:xfrm>
          <a:prstGeom prst="rect">
            <a:avLst/>
          </a:prstGeom>
          <a:noFill/>
          <a:ln/>
        </p:spPr>
        <p:txBody>
          <a:bodyPr wrap="square" lIns="0" tIns="0" rIns="0" bIns="0" rtlCol="0" anchor="ctr"/>
          <a:lstStyle/>
          <a:p>
            <a:pPr algn="ctr">
              <a:lnSpc>
                <a:spcPct val="120000"/>
              </a:lnSpc>
            </a:pPr>
            <a:r>
              <a:rPr lang="en-US" sz="1050" b="1" dirty="0">
                <a:solidFill>
                  <a:srgbClr val="EF4444"/>
                </a:solidFill>
                <a:latin typeface="MiSans" pitchFamily="34" charset="0"/>
                <a:ea typeface="MiSans" pitchFamily="34" charset="-122"/>
                <a:cs typeface="MiSans" pitchFamily="34" charset="-120"/>
              </a:rPr>
              <a:t>RED</a:t>
            </a:r>
            <a:endParaRPr lang="en-US" sz="1600" dirty="0"/>
          </a:p>
        </p:txBody>
      </p:sp>
      <p:sp>
        <p:nvSpPr>
          <p:cNvPr id="36" name="Text 34"/>
          <p:cNvSpPr/>
          <p:nvPr/>
        </p:nvSpPr>
        <p:spPr>
          <a:xfrm>
            <a:off x="6515100" y="3800475"/>
            <a:ext cx="666750" cy="3048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Viết test</a:t>
            </a:r>
            <a:endParaRPr lang="en-US" sz="1600" dirty="0"/>
          </a:p>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Test fail</a:t>
            </a:r>
            <a:endParaRPr lang="en-US" sz="1600" dirty="0"/>
          </a:p>
        </p:txBody>
      </p:sp>
      <p:sp>
        <p:nvSpPr>
          <p:cNvPr id="37" name="Shape 35"/>
          <p:cNvSpPr/>
          <p:nvPr/>
        </p:nvSpPr>
        <p:spPr>
          <a:xfrm>
            <a:off x="7810202" y="3419475"/>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F1F5F9">
              <a:alpha val="40000"/>
            </a:srgbClr>
          </a:solidFill>
          <a:ln/>
        </p:spPr>
      </p:sp>
      <p:sp>
        <p:nvSpPr>
          <p:cNvPr id="38" name="Shape 36"/>
          <p:cNvSpPr/>
          <p:nvPr/>
        </p:nvSpPr>
        <p:spPr>
          <a:xfrm>
            <a:off x="8657481" y="2924175"/>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10B981"/>
          </a:solidFill>
          <a:ln/>
        </p:spPr>
      </p:sp>
      <p:sp>
        <p:nvSpPr>
          <p:cNvPr id="39" name="Shape 37"/>
          <p:cNvSpPr/>
          <p:nvPr/>
        </p:nvSpPr>
        <p:spPr>
          <a:xfrm>
            <a:off x="8862268" y="3114675"/>
            <a:ext cx="200025" cy="228600"/>
          </a:xfrm>
          <a:custGeom>
            <a:avLst/>
            <a:gdLst/>
            <a:ahLst/>
            <a:cxnLst/>
            <a:rect l="l" t="t" r="r" b="b"/>
            <a:pathLst>
              <a:path w="200025" h="228600">
                <a:moveTo>
                  <a:pt x="194131" y="31299"/>
                </a:moveTo>
                <a:cubicBezTo>
                  <a:pt x="200516" y="35942"/>
                  <a:pt x="201945" y="44872"/>
                  <a:pt x="197301" y="51256"/>
                </a:cubicBezTo>
                <a:lnTo>
                  <a:pt x="83001" y="208419"/>
                </a:lnTo>
                <a:cubicBezTo>
                  <a:pt x="80546" y="211812"/>
                  <a:pt x="76751" y="213911"/>
                  <a:pt x="72554" y="214268"/>
                </a:cubicBezTo>
                <a:cubicBezTo>
                  <a:pt x="68357" y="214625"/>
                  <a:pt x="64294" y="213062"/>
                  <a:pt x="61347" y="210116"/>
                </a:cubicBezTo>
                <a:lnTo>
                  <a:pt x="4197" y="152966"/>
                </a:lnTo>
                <a:cubicBezTo>
                  <a:pt x="-1384" y="147384"/>
                  <a:pt x="-1384" y="138321"/>
                  <a:pt x="4197" y="132740"/>
                </a:cubicBezTo>
                <a:cubicBezTo>
                  <a:pt x="9778" y="127159"/>
                  <a:pt x="18842" y="127159"/>
                  <a:pt x="24423" y="132740"/>
                </a:cubicBezTo>
                <a:lnTo>
                  <a:pt x="69741" y="178058"/>
                </a:lnTo>
                <a:lnTo>
                  <a:pt x="174218" y="34424"/>
                </a:lnTo>
                <a:cubicBezTo>
                  <a:pt x="178862" y="28039"/>
                  <a:pt x="187791" y="26610"/>
                  <a:pt x="194176" y="31254"/>
                </a:cubicBezTo>
                <a:close/>
              </a:path>
            </a:pathLst>
          </a:custGeom>
          <a:solidFill>
            <a:srgbClr val="FFFFFF"/>
          </a:solidFill>
          <a:ln/>
        </p:spPr>
      </p:sp>
      <p:sp>
        <p:nvSpPr>
          <p:cNvPr id="40" name="Text 38"/>
          <p:cNvSpPr/>
          <p:nvPr/>
        </p:nvSpPr>
        <p:spPr>
          <a:xfrm>
            <a:off x="8624143" y="3609975"/>
            <a:ext cx="676275" cy="190500"/>
          </a:xfrm>
          <a:prstGeom prst="rect">
            <a:avLst/>
          </a:prstGeom>
          <a:noFill/>
          <a:ln/>
        </p:spPr>
        <p:txBody>
          <a:bodyPr wrap="square" lIns="0" tIns="0" rIns="0" bIns="0" rtlCol="0" anchor="ctr"/>
          <a:lstStyle/>
          <a:p>
            <a:pPr algn="ctr">
              <a:lnSpc>
                <a:spcPct val="120000"/>
              </a:lnSpc>
            </a:pPr>
            <a:r>
              <a:rPr lang="en-US" sz="1050" b="1" dirty="0">
                <a:solidFill>
                  <a:srgbClr val="10B981"/>
                </a:solidFill>
                <a:latin typeface="MiSans" pitchFamily="34" charset="0"/>
                <a:ea typeface="MiSans" pitchFamily="34" charset="-122"/>
                <a:cs typeface="MiSans" pitchFamily="34" charset="-120"/>
              </a:rPr>
              <a:t>GREEN</a:t>
            </a:r>
            <a:endParaRPr lang="en-US" sz="1600" dirty="0"/>
          </a:p>
        </p:txBody>
      </p:sp>
      <p:sp>
        <p:nvSpPr>
          <p:cNvPr id="41" name="Text 39"/>
          <p:cNvSpPr/>
          <p:nvPr/>
        </p:nvSpPr>
        <p:spPr>
          <a:xfrm>
            <a:off x="8628906" y="3800475"/>
            <a:ext cx="666750" cy="3048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Viết code</a:t>
            </a:r>
            <a:endParaRPr lang="en-US" sz="1600" dirty="0"/>
          </a:p>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Test pass</a:t>
            </a:r>
            <a:endParaRPr lang="en-US" sz="1600" dirty="0"/>
          </a:p>
        </p:txBody>
      </p:sp>
      <p:sp>
        <p:nvSpPr>
          <p:cNvPr id="42" name="Shape 40"/>
          <p:cNvSpPr/>
          <p:nvPr/>
        </p:nvSpPr>
        <p:spPr>
          <a:xfrm>
            <a:off x="9924008" y="3419475"/>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F1F5F9">
              <a:alpha val="40000"/>
            </a:srgbClr>
          </a:solidFill>
          <a:ln/>
        </p:spPr>
      </p:sp>
      <p:sp>
        <p:nvSpPr>
          <p:cNvPr id="43" name="Shape 41"/>
          <p:cNvSpPr/>
          <p:nvPr/>
        </p:nvSpPr>
        <p:spPr>
          <a:xfrm>
            <a:off x="10810131" y="2924175"/>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3B82F6"/>
          </a:solidFill>
          <a:ln/>
        </p:spPr>
      </p:sp>
      <p:sp>
        <p:nvSpPr>
          <p:cNvPr id="44" name="Shape 42"/>
          <p:cNvSpPr/>
          <p:nvPr/>
        </p:nvSpPr>
        <p:spPr>
          <a:xfrm>
            <a:off x="11000631" y="3114675"/>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FFFFFF"/>
          </a:solidFill>
          <a:ln/>
        </p:spPr>
      </p:sp>
      <p:sp>
        <p:nvSpPr>
          <p:cNvPr id="45" name="Text 43"/>
          <p:cNvSpPr/>
          <p:nvPr/>
        </p:nvSpPr>
        <p:spPr>
          <a:xfrm>
            <a:off x="10737949" y="3609975"/>
            <a:ext cx="752475" cy="190500"/>
          </a:xfrm>
          <a:prstGeom prst="rect">
            <a:avLst/>
          </a:prstGeom>
          <a:noFill/>
          <a:ln/>
        </p:spPr>
        <p:txBody>
          <a:bodyPr wrap="square" lIns="0" tIns="0" rIns="0" bIns="0" rtlCol="0" anchor="ctr"/>
          <a:lstStyle/>
          <a:p>
            <a:pPr algn="ctr">
              <a:lnSpc>
                <a:spcPct val="120000"/>
              </a:lnSpc>
            </a:pPr>
            <a:r>
              <a:rPr lang="en-US" sz="1050" b="1" dirty="0">
                <a:solidFill>
                  <a:srgbClr val="3B82F6"/>
                </a:solidFill>
                <a:latin typeface="MiSans" pitchFamily="34" charset="0"/>
                <a:ea typeface="MiSans" pitchFamily="34" charset="-122"/>
                <a:cs typeface="MiSans" pitchFamily="34" charset="-120"/>
              </a:rPr>
              <a:t>REFACTOR</a:t>
            </a:r>
            <a:endParaRPr lang="en-US" sz="1600" dirty="0"/>
          </a:p>
        </p:txBody>
      </p:sp>
      <p:sp>
        <p:nvSpPr>
          <p:cNvPr id="46" name="Text 44"/>
          <p:cNvSpPr/>
          <p:nvPr/>
        </p:nvSpPr>
        <p:spPr>
          <a:xfrm>
            <a:off x="10742712" y="3800475"/>
            <a:ext cx="742950" cy="3048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Cải thiện</a:t>
            </a:r>
            <a:endParaRPr lang="en-US" sz="1600" dirty="0"/>
          </a:p>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Code</a:t>
            </a:r>
            <a:endParaRPr lang="en-US" sz="1600" dirty="0"/>
          </a:p>
        </p:txBody>
      </p:sp>
      <p:sp>
        <p:nvSpPr>
          <p:cNvPr id="47" name="Shape 45"/>
          <p:cNvSpPr/>
          <p:nvPr/>
        </p:nvSpPr>
        <p:spPr>
          <a:xfrm>
            <a:off x="6196013" y="57007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8B5CF6">
                  <a:alpha val="10000"/>
                </a:srgbClr>
              </a:gs>
              <a:gs pos="100000">
                <a:srgbClr val="8B5CF6">
                  <a:alpha val="5000"/>
                </a:srgbClr>
              </a:gs>
            </a:gsLst>
            <a:lin ang="0" scaled="1"/>
          </a:gradFill>
          <a:ln w="12700">
            <a:solidFill>
              <a:srgbClr val="8B5CF6">
                <a:alpha val="30196"/>
              </a:srgbClr>
            </a:solidFill>
            <a:prstDash val="solid"/>
          </a:ln>
        </p:spPr>
      </p:sp>
      <p:sp>
        <p:nvSpPr>
          <p:cNvPr id="48" name="Shape 46"/>
          <p:cNvSpPr/>
          <p:nvPr/>
        </p:nvSpPr>
        <p:spPr>
          <a:xfrm>
            <a:off x="6372225" y="59055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8B5CF6"/>
          </a:solidFill>
          <a:ln/>
        </p:spPr>
      </p:sp>
      <p:sp>
        <p:nvSpPr>
          <p:cNvPr id="49" name="Text 47"/>
          <p:cNvSpPr/>
          <p:nvPr/>
        </p:nvSpPr>
        <p:spPr>
          <a:xfrm>
            <a:off x="6600825" y="58578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Vấn đề cốt lõi:</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TDD rất hiệu quả nhưng tốn thờigian. Nhiều developer bỏ qua hoặc viết test sơ sài do áp lực deadline.</a:t>
            </a:r>
            <a:endParaRPr lang="en-US" sz="16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74850" y="449820"/>
            <a:ext cx="374850" cy="374850"/>
          </a:xfrm>
          <a:custGeom>
            <a:avLst/>
            <a:gdLst/>
            <a:ahLst/>
            <a:cxnLst/>
            <a:rect l="l" t="t" r="r" b="b"/>
            <a:pathLst>
              <a:path w="374850" h="374850">
                <a:moveTo>
                  <a:pt x="74970" y="0"/>
                </a:moveTo>
                <a:lnTo>
                  <a:pt x="299880" y="0"/>
                </a:lnTo>
                <a:cubicBezTo>
                  <a:pt x="341285" y="0"/>
                  <a:pt x="374850" y="33565"/>
                  <a:pt x="374850" y="74970"/>
                </a:cubicBezTo>
                <a:lnTo>
                  <a:pt x="374850" y="299880"/>
                </a:lnTo>
                <a:cubicBezTo>
                  <a:pt x="374850" y="341285"/>
                  <a:pt x="341285" y="374850"/>
                  <a:pt x="299880" y="374850"/>
                </a:cubicBezTo>
                <a:lnTo>
                  <a:pt x="74970" y="374850"/>
                </a:lnTo>
                <a:cubicBezTo>
                  <a:pt x="33565" y="374850"/>
                  <a:pt x="0" y="341285"/>
                  <a:pt x="0" y="299880"/>
                </a:cubicBezTo>
                <a:lnTo>
                  <a:pt x="0" y="74970"/>
                </a:lnTo>
                <a:cubicBezTo>
                  <a:pt x="0" y="33565"/>
                  <a:pt x="33565" y="0"/>
                  <a:pt x="74970" y="0"/>
                </a:cubicBezTo>
                <a:close/>
              </a:path>
            </a:pathLst>
          </a:custGeom>
          <a:solidFill>
            <a:srgbClr val="10B981"/>
          </a:solidFill>
          <a:ln/>
        </p:spPr>
      </p:sp>
      <p:sp>
        <p:nvSpPr>
          <p:cNvPr id="3" name="Shape 1"/>
          <p:cNvSpPr/>
          <p:nvPr/>
        </p:nvSpPr>
        <p:spPr>
          <a:xfrm>
            <a:off x="480277" y="552904"/>
            <a:ext cx="168683" cy="168683"/>
          </a:xfrm>
          <a:custGeom>
            <a:avLst/>
            <a:gdLst/>
            <a:ahLst/>
            <a:cxnLst/>
            <a:rect l="l" t="t" r="r" b="b"/>
            <a:pathLst>
              <a:path w="168683" h="168683">
                <a:moveTo>
                  <a:pt x="131289" y="4019"/>
                </a:moveTo>
                <a:lnTo>
                  <a:pt x="102231" y="33078"/>
                </a:lnTo>
                <a:lnTo>
                  <a:pt x="135605" y="66452"/>
                </a:lnTo>
                <a:lnTo>
                  <a:pt x="164663" y="37393"/>
                </a:lnTo>
                <a:cubicBezTo>
                  <a:pt x="167233" y="34791"/>
                  <a:pt x="168683" y="31299"/>
                  <a:pt x="168683" y="27674"/>
                </a:cubicBezTo>
                <a:cubicBezTo>
                  <a:pt x="168683" y="24050"/>
                  <a:pt x="167233" y="20558"/>
                  <a:pt x="164663" y="17955"/>
                </a:cubicBezTo>
                <a:lnTo>
                  <a:pt x="150727" y="4019"/>
                </a:lnTo>
                <a:cubicBezTo>
                  <a:pt x="148124" y="1450"/>
                  <a:pt x="144632" y="0"/>
                  <a:pt x="141008" y="0"/>
                </a:cubicBezTo>
                <a:cubicBezTo>
                  <a:pt x="137384" y="0"/>
                  <a:pt x="133892" y="1450"/>
                  <a:pt x="131289" y="4019"/>
                </a:cubicBezTo>
                <a:close/>
                <a:moveTo>
                  <a:pt x="91062" y="44246"/>
                </a:moveTo>
                <a:lnTo>
                  <a:pt x="4019" y="131289"/>
                </a:lnTo>
                <a:cubicBezTo>
                  <a:pt x="1450" y="133892"/>
                  <a:pt x="0" y="137384"/>
                  <a:pt x="0" y="141008"/>
                </a:cubicBezTo>
                <a:cubicBezTo>
                  <a:pt x="0" y="144632"/>
                  <a:pt x="1450" y="148124"/>
                  <a:pt x="4019" y="150727"/>
                </a:cubicBezTo>
                <a:lnTo>
                  <a:pt x="17955" y="164663"/>
                </a:lnTo>
                <a:cubicBezTo>
                  <a:pt x="20558" y="167233"/>
                  <a:pt x="24050" y="168683"/>
                  <a:pt x="27674" y="168683"/>
                </a:cubicBezTo>
                <a:cubicBezTo>
                  <a:pt x="31299" y="168683"/>
                  <a:pt x="34791" y="167233"/>
                  <a:pt x="37393" y="164663"/>
                </a:cubicBezTo>
                <a:lnTo>
                  <a:pt x="124436" y="77620"/>
                </a:lnTo>
                <a:lnTo>
                  <a:pt x="91062" y="44246"/>
                </a:lnTo>
                <a:close/>
              </a:path>
            </a:pathLst>
          </a:custGeom>
          <a:solidFill>
            <a:srgbClr val="FFFFFF"/>
          </a:solidFill>
          <a:ln/>
        </p:spPr>
      </p:sp>
      <p:sp>
        <p:nvSpPr>
          <p:cNvPr id="4" name="Text 2"/>
          <p:cNvSpPr/>
          <p:nvPr/>
        </p:nvSpPr>
        <p:spPr>
          <a:xfrm>
            <a:off x="862155" y="374850"/>
            <a:ext cx="3907812" cy="187425"/>
          </a:xfrm>
          <a:prstGeom prst="rect">
            <a:avLst/>
          </a:prstGeom>
          <a:noFill/>
          <a:ln/>
        </p:spPr>
        <p:txBody>
          <a:bodyPr wrap="square" lIns="0" tIns="0" rIns="0" bIns="0" rtlCol="0" anchor="ctr"/>
          <a:lstStyle/>
          <a:p>
            <a:pPr>
              <a:lnSpc>
                <a:spcPct val="120000"/>
              </a:lnSpc>
            </a:pPr>
            <a:r>
              <a:rPr lang="en-US" sz="1033" b="1" spc="52" kern="0" dirty="0">
                <a:solidFill>
                  <a:srgbClr val="10B981"/>
                </a:solidFill>
                <a:latin typeface="MiSans" pitchFamily="34" charset="0"/>
                <a:ea typeface="MiSans" pitchFamily="34" charset="-122"/>
                <a:cs typeface="MiSans" pitchFamily="34" charset="-120"/>
              </a:rPr>
              <a:t>CHƯƠNG 13 | GIẢI PHÁP</a:t>
            </a:r>
            <a:endParaRPr lang="en-US" sz="1600" dirty="0"/>
          </a:p>
        </p:txBody>
      </p:sp>
      <p:sp>
        <p:nvSpPr>
          <p:cNvPr id="5" name="Text 3"/>
          <p:cNvSpPr/>
          <p:nvPr/>
        </p:nvSpPr>
        <p:spPr>
          <a:xfrm>
            <a:off x="862155" y="562275"/>
            <a:ext cx="3982782" cy="337365"/>
          </a:xfrm>
          <a:prstGeom prst="rect">
            <a:avLst/>
          </a:prstGeom>
          <a:noFill/>
          <a:ln/>
        </p:spPr>
        <p:txBody>
          <a:bodyPr wrap="square" lIns="0" tIns="0" rIns="0" bIns="0" rtlCol="0" anchor="ctr"/>
          <a:lstStyle/>
          <a:p>
            <a:pPr>
              <a:lnSpc>
                <a:spcPct val="100000"/>
              </a:lnSpc>
            </a:pPr>
            <a:r>
              <a:rPr lang="en-US" sz="2214" b="1" dirty="0">
                <a:solidFill>
                  <a:srgbClr val="F1F5F9"/>
                </a:solidFill>
                <a:latin typeface="MiSans" pitchFamily="34" charset="0"/>
                <a:ea typeface="MiSans" pitchFamily="34" charset="-122"/>
                <a:cs typeface="MiSans" pitchFamily="34" charset="-120"/>
              </a:rPr>
              <a:t>Giải pháp GenAI cho kiểm thử</a:t>
            </a:r>
            <a:endParaRPr lang="en-US" sz="1600" dirty="0"/>
          </a:p>
        </p:txBody>
      </p:sp>
      <p:sp>
        <p:nvSpPr>
          <p:cNvPr id="6" name="Shape 4"/>
          <p:cNvSpPr/>
          <p:nvPr/>
        </p:nvSpPr>
        <p:spPr>
          <a:xfrm>
            <a:off x="379536" y="1129236"/>
            <a:ext cx="3701645" cy="2633322"/>
          </a:xfrm>
          <a:custGeom>
            <a:avLst/>
            <a:gdLst/>
            <a:ahLst/>
            <a:cxnLst/>
            <a:rect l="l" t="t" r="r" b="b"/>
            <a:pathLst>
              <a:path w="3701645" h="2633322">
                <a:moveTo>
                  <a:pt x="112443" y="0"/>
                </a:moveTo>
                <a:lnTo>
                  <a:pt x="3589202" y="0"/>
                </a:lnTo>
                <a:cubicBezTo>
                  <a:pt x="3651303" y="0"/>
                  <a:pt x="3701645" y="50342"/>
                  <a:pt x="3701645" y="112443"/>
                </a:cubicBezTo>
                <a:lnTo>
                  <a:pt x="3701645" y="2520879"/>
                </a:lnTo>
                <a:cubicBezTo>
                  <a:pt x="3701645" y="2582980"/>
                  <a:pt x="3651303" y="2633322"/>
                  <a:pt x="3589202" y="2633322"/>
                </a:cubicBezTo>
                <a:lnTo>
                  <a:pt x="112443" y="2633322"/>
                </a:lnTo>
                <a:cubicBezTo>
                  <a:pt x="50342" y="2633322"/>
                  <a:pt x="0" y="2582980"/>
                  <a:pt x="0" y="2520879"/>
                </a:cubicBezTo>
                <a:lnTo>
                  <a:pt x="0" y="112443"/>
                </a:lnTo>
                <a:cubicBezTo>
                  <a:pt x="0" y="50384"/>
                  <a:pt x="50384" y="0"/>
                  <a:pt x="112443"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71646" y="1321347"/>
            <a:ext cx="524790" cy="524790"/>
          </a:xfrm>
          <a:custGeom>
            <a:avLst/>
            <a:gdLst/>
            <a:ahLst/>
            <a:cxnLst/>
            <a:rect l="l" t="t" r="r" b="b"/>
            <a:pathLst>
              <a:path w="524790" h="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3B82F6"/>
          </a:solidFill>
          <a:ln/>
        </p:spPr>
      </p:sp>
      <p:sp>
        <p:nvSpPr>
          <p:cNvPr id="8" name="Shape 6"/>
          <p:cNvSpPr/>
          <p:nvPr/>
        </p:nvSpPr>
        <p:spPr>
          <a:xfrm>
            <a:off x="735643" y="1471287"/>
            <a:ext cx="196796" cy="224910"/>
          </a:xfrm>
          <a:custGeom>
            <a:avLst/>
            <a:gdLst/>
            <a:ahLst/>
            <a:cxnLst/>
            <a:rect l="l" t="t" r="r" b="b"/>
            <a:pathLst>
              <a:path w="196796" h="224910">
                <a:moveTo>
                  <a:pt x="148827" y="-4349"/>
                </a:moveTo>
                <a:cubicBezTo>
                  <a:pt x="154055" y="-571"/>
                  <a:pt x="155987" y="6282"/>
                  <a:pt x="153615" y="12256"/>
                </a:cubicBezTo>
                <a:lnTo>
                  <a:pt x="119176" y="98398"/>
                </a:lnTo>
                <a:lnTo>
                  <a:pt x="182739" y="98398"/>
                </a:lnTo>
                <a:cubicBezTo>
                  <a:pt x="188670" y="98398"/>
                  <a:pt x="193941" y="102088"/>
                  <a:pt x="195962" y="107667"/>
                </a:cubicBezTo>
                <a:cubicBezTo>
                  <a:pt x="197982" y="113246"/>
                  <a:pt x="196269" y="119483"/>
                  <a:pt x="191745" y="123261"/>
                </a:cubicBezTo>
                <a:lnTo>
                  <a:pt x="65233" y="228688"/>
                </a:lnTo>
                <a:cubicBezTo>
                  <a:pt x="60269" y="232817"/>
                  <a:pt x="53197" y="233037"/>
                  <a:pt x="47969" y="229259"/>
                </a:cubicBezTo>
                <a:cubicBezTo>
                  <a:pt x="42742" y="225481"/>
                  <a:pt x="40809" y="218628"/>
                  <a:pt x="43181" y="212654"/>
                </a:cubicBezTo>
                <a:lnTo>
                  <a:pt x="77620" y="126512"/>
                </a:lnTo>
                <a:lnTo>
                  <a:pt x="14057" y="126512"/>
                </a:lnTo>
                <a:cubicBezTo>
                  <a:pt x="8127" y="126512"/>
                  <a:pt x="2855" y="122822"/>
                  <a:pt x="835" y="117243"/>
                </a:cubicBezTo>
                <a:cubicBezTo>
                  <a:pt x="-1186" y="111664"/>
                  <a:pt x="527" y="105427"/>
                  <a:pt x="5052" y="101649"/>
                </a:cubicBezTo>
                <a:lnTo>
                  <a:pt x="131564" y="-3778"/>
                </a:lnTo>
                <a:cubicBezTo>
                  <a:pt x="136527" y="-7907"/>
                  <a:pt x="143600" y="-8127"/>
                  <a:pt x="148827" y="-4349"/>
                </a:cubicBezTo>
                <a:close/>
              </a:path>
            </a:pathLst>
          </a:custGeom>
          <a:solidFill>
            <a:srgbClr val="FFFFFF"/>
          </a:solidFill>
          <a:ln/>
        </p:spPr>
      </p:sp>
      <p:sp>
        <p:nvSpPr>
          <p:cNvPr id="9" name="Text 7"/>
          <p:cNvSpPr/>
          <p:nvPr/>
        </p:nvSpPr>
        <p:spPr>
          <a:xfrm>
            <a:off x="571646" y="1996077"/>
            <a:ext cx="3411136" cy="262395"/>
          </a:xfrm>
          <a:prstGeom prst="rect">
            <a:avLst/>
          </a:prstGeom>
          <a:noFill/>
          <a:ln/>
        </p:spPr>
        <p:txBody>
          <a:bodyPr wrap="square" lIns="0" tIns="0" rIns="0" bIns="0" rtlCol="0" anchor="ctr"/>
          <a:lstStyle/>
          <a:p>
            <a:pPr>
              <a:lnSpc>
                <a:spcPct val="120000"/>
              </a:lnSpc>
            </a:pPr>
            <a:r>
              <a:rPr lang="en-US" sz="1476" b="1" dirty="0">
                <a:solidFill>
                  <a:srgbClr val="F1F5F9"/>
                </a:solidFill>
                <a:latin typeface="MiSans" pitchFamily="34" charset="0"/>
                <a:ea typeface="MiSans" pitchFamily="34" charset="-122"/>
                <a:cs typeface="MiSans" pitchFamily="34" charset="-120"/>
              </a:rPr>
              <a:t>Tăng tốc viết test</a:t>
            </a:r>
            <a:endParaRPr lang="en-US" sz="1600" dirty="0"/>
          </a:p>
        </p:txBody>
      </p:sp>
      <p:sp>
        <p:nvSpPr>
          <p:cNvPr id="10" name="Text 8"/>
          <p:cNvSpPr/>
          <p:nvPr/>
        </p:nvSpPr>
        <p:spPr>
          <a:xfrm>
            <a:off x="571646" y="2370927"/>
            <a:ext cx="3392394" cy="674730"/>
          </a:xfrm>
          <a:prstGeom prst="rect">
            <a:avLst/>
          </a:prstGeom>
          <a:noFill/>
          <a:ln/>
        </p:spPr>
        <p:txBody>
          <a:bodyPr wrap="square" lIns="0" tIns="0" rIns="0" bIns="0" rtlCol="0" anchor="ctr"/>
          <a:lstStyle/>
          <a:p>
            <a:pPr>
              <a:lnSpc>
                <a:spcPct val="130000"/>
              </a:lnSpc>
            </a:pPr>
            <a:r>
              <a:rPr lang="en-US" sz="1181" dirty="0">
                <a:solidFill>
                  <a:srgbClr val="F1F5F9">
                    <a:alpha val="80000"/>
                  </a:srgbClr>
                </a:solidFill>
                <a:latin typeface="MiSans" pitchFamily="34" charset="0"/>
                <a:ea typeface="MiSans" pitchFamily="34" charset="-122"/>
                <a:cs typeface="MiSans" pitchFamily="34" charset="-120"/>
              </a:rPr>
              <a:t>GenAI tự động sinh các bài test cơ bản với </a:t>
            </a:r>
            <a:pPr>
              <a:lnSpc>
                <a:spcPct val="130000"/>
              </a:lnSpc>
            </a:pPr>
            <a:r>
              <a:rPr lang="en-US" sz="1181" b="1" dirty="0">
                <a:solidFill>
                  <a:srgbClr val="3B82F6"/>
                </a:solidFill>
                <a:latin typeface="MiSans" pitchFamily="34" charset="0"/>
                <a:ea typeface="MiSans" pitchFamily="34" charset="-122"/>
                <a:cs typeface="MiSans" pitchFamily="34" charset="-120"/>
              </a:rPr>
              <a:t>độ chính xác cao</a:t>
            </a:r>
            <a:pPr>
              <a:lnSpc>
                <a:spcPct val="130000"/>
              </a:lnSpc>
            </a:pPr>
            <a:r>
              <a:rPr lang="en-US" sz="1181" dirty="0">
                <a:solidFill>
                  <a:srgbClr val="F1F5F9">
                    <a:alpha val="80000"/>
                  </a:srgbClr>
                </a:solidFill>
                <a:latin typeface="MiSans" pitchFamily="34" charset="0"/>
                <a:ea typeface="MiSans" pitchFamily="34" charset="-122"/>
                <a:cs typeface="MiSans" pitchFamily="34" charset="-120"/>
              </a:rPr>
              <a:t>, giúp lập trình viên tập trung vào các test case phức tạp hơn.</a:t>
            </a:r>
            <a:endParaRPr lang="en-US" sz="1600" dirty="0"/>
          </a:p>
        </p:txBody>
      </p:sp>
      <p:sp>
        <p:nvSpPr>
          <p:cNvPr id="11" name="Shape 9"/>
          <p:cNvSpPr/>
          <p:nvPr/>
        </p:nvSpPr>
        <p:spPr>
          <a:xfrm>
            <a:off x="571646" y="3158112"/>
            <a:ext cx="3317424" cy="412335"/>
          </a:xfrm>
          <a:custGeom>
            <a:avLst/>
            <a:gdLst/>
            <a:ahLst/>
            <a:cxnLst/>
            <a:rect l="l" t="t" r="r" b="b"/>
            <a:pathLst>
              <a:path w="3317424" h="412335">
                <a:moveTo>
                  <a:pt x="74971" y="0"/>
                </a:moveTo>
                <a:lnTo>
                  <a:pt x="3242453" y="0"/>
                </a:lnTo>
                <a:cubicBezTo>
                  <a:pt x="3283830" y="0"/>
                  <a:pt x="3317424" y="33593"/>
                  <a:pt x="3317424" y="74971"/>
                </a:cubicBezTo>
                <a:lnTo>
                  <a:pt x="3317424" y="337364"/>
                </a:lnTo>
                <a:cubicBezTo>
                  <a:pt x="3317424" y="378742"/>
                  <a:pt x="3283830" y="412335"/>
                  <a:pt x="3242453" y="412335"/>
                </a:cubicBezTo>
                <a:lnTo>
                  <a:pt x="74971" y="412335"/>
                </a:lnTo>
                <a:cubicBezTo>
                  <a:pt x="33593" y="412335"/>
                  <a:pt x="0" y="378742"/>
                  <a:pt x="0" y="337364"/>
                </a:cubicBezTo>
                <a:lnTo>
                  <a:pt x="0" y="74971"/>
                </a:lnTo>
                <a:cubicBezTo>
                  <a:pt x="0" y="33593"/>
                  <a:pt x="33593" y="0"/>
                  <a:pt x="74971" y="0"/>
                </a:cubicBezTo>
                <a:close/>
              </a:path>
            </a:pathLst>
          </a:custGeom>
          <a:solidFill>
            <a:srgbClr val="0F172A"/>
          </a:solidFill>
          <a:ln/>
        </p:spPr>
      </p:sp>
      <p:sp>
        <p:nvSpPr>
          <p:cNvPr id="12" name="Shape 10"/>
          <p:cNvSpPr/>
          <p:nvPr/>
        </p:nvSpPr>
        <p:spPr>
          <a:xfrm>
            <a:off x="702844" y="3308052"/>
            <a:ext cx="131198" cy="131198"/>
          </a:xfrm>
          <a:custGeom>
            <a:avLst/>
            <a:gdLst/>
            <a:ahLst/>
            <a:cxnLst/>
            <a:rect l="l" t="t" r="r" b="b"/>
            <a:pathLst>
              <a:path w="131198" h="131198">
                <a:moveTo>
                  <a:pt x="65599" y="0"/>
                </a:moveTo>
                <a:cubicBezTo>
                  <a:pt x="101804" y="0"/>
                  <a:pt x="131198" y="29394"/>
                  <a:pt x="131198" y="65599"/>
                </a:cubicBezTo>
                <a:cubicBezTo>
                  <a:pt x="131198" y="101804"/>
                  <a:pt x="101804" y="131198"/>
                  <a:pt x="65599" y="131198"/>
                </a:cubicBezTo>
                <a:cubicBezTo>
                  <a:pt x="29394" y="131198"/>
                  <a:pt x="0" y="101804"/>
                  <a:pt x="0" y="65599"/>
                </a:cubicBezTo>
                <a:cubicBezTo>
                  <a:pt x="0" y="29394"/>
                  <a:pt x="29394" y="0"/>
                  <a:pt x="65599" y="0"/>
                </a:cubicBezTo>
                <a:close/>
                <a:moveTo>
                  <a:pt x="59449" y="30749"/>
                </a:moveTo>
                <a:lnTo>
                  <a:pt x="59449" y="65599"/>
                </a:lnTo>
                <a:cubicBezTo>
                  <a:pt x="59449" y="67649"/>
                  <a:pt x="60474" y="69571"/>
                  <a:pt x="62191" y="70724"/>
                </a:cubicBezTo>
                <a:lnTo>
                  <a:pt x="86790" y="87123"/>
                </a:lnTo>
                <a:cubicBezTo>
                  <a:pt x="89609" y="89020"/>
                  <a:pt x="93427" y="88251"/>
                  <a:pt x="95323" y="85407"/>
                </a:cubicBezTo>
                <a:cubicBezTo>
                  <a:pt x="97219" y="82562"/>
                  <a:pt x="96451" y="78770"/>
                  <a:pt x="93606" y="76874"/>
                </a:cubicBezTo>
                <a:lnTo>
                  <a:pt x="71749" y="62319"/>
                </a:lnTo>
                <a:lnTo>
                  <a:pt x="71749" y="30749"/>
                </a:lnTo>
                <a:cubicBezTo>
                  <a:pt x="71749" y="27341"/>
                  <a:pt x="69007" y="24600"/>
                  <a:pt x="65599" y="24600"/>
                </a:cubicBezTo>
                <a:cubicBezTo>
                  <a:pt x="62191" y="24600"/>
                  <a:pt x="59449" y="27341"/>
                  <a:pt x="59449" y="30749"/>
                </a:cubicBezTo>
                <a:close/>
              </a:path>
            </a:pathLst>
          </a:custGeom>
          <a:solidFill>
            <a:srgbClr val="3B82F6"/>
          </a:solidFill>
          <a:ln/>
        </p:spPr>
      </p:sp>
      <p:sp>
        <p:nvSpPr>
          <p:cNvPr id="13" name="Text 11"/>
          <p:cNvSpPr/>
          <p:nvPr/>
        </p:nvSpPr>
        <p:spPr>
          <a:xfrm>
            <a:off x="908104" y="3270567"/>
            <a:ext cx="2934110" cy="187425"/>
          </a:xfrm>
          <a:prstGeom prst="rect">
            <a:avLst/>
          </a:prstGeom>
          <a:noFill/>
          <a:ln/>
        </p:spPr>
        <p:txBody>
          <a:bodyPr wrap="square" lIns="0" tIns="0" rIns="0" bIns="0" rtlCol="0" anchor="ctr"/>
          <a:lstStyle/>
          <a:p>
            <a:pPr>
              <a:lnSpc>
                <a:spcPct val="120000"/>
              </a:lnSpc>
            </a:pPr>
            <a:r>
              <a:rPr lang="en-US" sz="1033" dirty="0">
                <a:solidFill>
                  <a:srgbClr val="F1F5F9">
                    <a:alpha val="70000"/>
                  </a:srgbClr>
                </a:solidFill>
                <a:latin typeface="MiSans" pitchFamily="34" charset="0"/>
                <a:ea typeface="MiSans" pitchFamily="34" charset="-122"/>
                <a:cs typeface="MiSans" pitchFamily="34" charset="-120"/>
              </a:rPr>
              <a:t>Tiết kiệm 60-70% thờigian viết test cơ bản</a:t>
            </a:r>
            <a:endParaRPr lang="en-US" sz="1600" dirty="0"/>
          </a:p>
        </p:txBody>
      </p:sp>
      <p:sp>
        <p:nvSpPr>
          <p:cNvPr id="14" name="Shape 12"/>
          <p:cNvSpPr/>
          <p:nvPr/>
        </p:nvSpPr>
        <p:spPr>
          <a:xfrm>
            <a:off x="4244592" y="1129236"/>
            <a:ext cx="3701645" cy="2633322"/>
          </a:xfrm>
          <a:custGeom>
            <a:avLst/>
            <a:gdLst/>
            <a:ahLst/>
            <a:cxnLst/>
            <a:rect l="l" t="t" r="r" b="b"/>
            <a:pathLst>
              <a:path w="3701645" h="2633322">
                <a:moveTo>
                  <a:pt x="112443" y="0"/>
                </a:moveTo>
                <a:lnTo>
                  <a:pt x="3589202" y="0"/>
                </a:lnTo>
                <a:cubicBezTo>
                  <a:pt x="3651303" y="0"/>
                  <a:pt x="3701645" y="50342"/>
                  <a:pt x="3701645" y="112443"/>
                </a:cubicBezTo>
                <a:lnTo>
                  <a:pt x="3701645" y="2520879"/>
                </a:lnTo>
                <a:cubicBezTo>
                  <a:pt x="3701645" y="2582980"/>
                  <a:pt x="3651303" y="2633322"/>
                  <a:pt x="3589202" y="2633322"/>
                </a:cubicBezTo>
                <a:lnTo>
                  <a:pt x="112443" y="2633322"/>
                </a:lnTo>
                <a:cubicBezTo>
                  <a:pt x="50342" y="2633322"/>
                  <a:pt x="0" y="2582980"/>
                  <a:pt x="0" y="2520879"/>
                </a:cubicBezTo>
                <a:lnTo>
                  <a:pt x="0" y="112443"/>
                </a:lnTo>
                <a:cubicBezTo>
                  <a:pt x="0" y="50384"/>
                  <a:pt x="50384" y="0"/>
                  <a:pt x="112443"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15" name="Shape 13"/>
          <p:cNvSpPr/>
          <p:nvPr/>
        </p:nvSpPr>
        <p:spPr>
          <a:xfrm>
            <a:off x="4436703" y="1321347"/>
            <a:ext cx="524790" cy="524790"/>
          </a:xfrm>
          <a:custGeom>
            <a:avLst/>
            <a:gdLst/>
            <a:ahLst/>
            <a:cxnLst/>
            <a:rect l="l" t="t" r="r" b="b"/>
            <a:pathLst>
              <a:path w="524790" h="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8B5CF6"/>
          </a:solidFill>
          <a:ln/>
        </p:spPr>
      </p:sp>
      <p:sp>
        <p:nvSpPr>
          <p:cNvPr id="16" name="Shape 14"/>
          <p:cNvSpPr/>
          <p:nvPr/>
        </p:nvSpPr>
        <p:spPr>
          <a:xfrm>
            <a:off x="4586643" y="1471287"/>
            <a:ext cx="224910" cy="224910"/>
          </a:xfrm>
          <a:custGeom>
            <a:avLst/>
            <a:gdLst/>
            <a:ahLst/>
            <a:cxnLst/>
            <a:rect l="l" t="t" r="r" b="b"/>
            <a:pathLst>
              <a:path w="224910" h="224910">
                <a:moveTo>
                  <a:pt x="191832" y="32814"/>
                </a:moveTo>
                <a:lnTo>
                  <a:pt x="196796" y="37514"/>
                </a:lnTo>
                <a:lnTo>
                  <a:pt x="196796" y="14057"/>
                </a:lnTo>
                <a:cubicBezTo>
                  <a:pt x="196796" y="6282"/>
                  <a:pt x="203078" y="0"/>
                  <a:pt x="210853" y="0"/>
                </a:cubicBezTo>
                <a:cubicBezTo>
                  <a:pt x="218628" y="0"/>
                  <a:pt x="224910" y="6282"/>
                  <a:pt x="224910" y="14057"/>
                </a:cubicBezTo>
                <a:lnTo>
                  <a:pt x="224910" y="70284"/>
                </a:lnTo>
                <a:cubicBezTo>
                  <a:pt x="224910" y="78060"/>
                  <a:pt x="218628" y="84341"/>
                  <a:pt x="210853" y="84341"/>
                </a:cubicBezTo>
                <a:lnTo>
                  <a:pt x="154626" y="84341"/>
                </a:lnTo>
                <a:cubicBezTo>
                  <a:pt x="146850" y="84341"/>
                  <a:pt x="140569" y="78060"/>
                  <a:pt x="140569" y="70284"/>
                </a:cubicBezTo>
                <a:cubicBezTo>
                  <a:pt x="140569" y="62509"/>
                  <a:pt x="146850" y="56228"/>
                  <a:pt x="154626" y="56228"/>
                </a:cubicBezTo>
                <a:lnTo>
                  <a:pt x="175667" y="56228"/>
                </a:lnTo>
                <a:lnTo>
                  <a:pt x="172329" y="53065"/>
                </a:lnTo>
                <a:cubicBezTo>
                  <a:pt x="172241" y="52977"/>
                  <a:pt x="172153" y="52889"/>
                  <a:pt x="172065" y="52801"/>
                </a:cubicBezTo>
                <a:cubicBezTo>
                  <a:pt x="139119" y="19855"/>
                  <a:pt x="85747" y="19855"/>
                  <a:pt x="52801" y="52801"/>
                </a:cubicBezTo>
                <a:cubicBezTo>
                  <a:pt x="19855" y="85747"/>
                  <a:pt x="19855" y="139119"/>
                  <a:pt x="52801" y="172065"/>
                </a:cubicBezTo>
                <a:cubicBezTo>
                  <a:pt x="85747" y="205011"/>
                  <a:pt x="139119" y="205011"/>
                  <a:pt x="172065" y="172065"/>
                </a:cubicBezTo>
                <a:cubicBezTo>
                  <a:pt x="175667" y="168463"/>
                  <a:pt x="178874" y="164641"/>
                  <a:pt x="181685" y="160600"/>
                </a:cubicBezTo>
                <a:cubicBezTo>
                  <a:pt x="186122" y="154230"/>
                  <a:pt x="194907" y="152693"/>
                  <a:pt x="201277" y="157130"/>
                </a:cubicBezTo>
                <a:cubicBezTo>
                  <a:pt x="207646" y="161566"/>
                  <a:pt x="209184" y="170352"/>
                  <a:pt x="204747" y="176721"/>
                </a:cubicBezTo>
                <a:cubicBezTo>
                  <a:pt x="201013" y="182081"/>
                  <a:pt x="196752" y="187176"/>
                  <a:pt x="191964" y="191964"/>
                </a:cubicBezTo>
                <a:cubicBezTo>
                  <a:pt x="148037" y="235892"/>
                  <a:pt x="76830" y="235892"/>
                  <a:pt x="32946" y="191964"/>
                </a:cubicBezTo>
                <a:cubicBezTo>
                  <a:pt x="-10938" y="148037"/>
                  <a:pt x="-10982" y="76874"/>
                  <a:pt x="32946" y="32946"/>
                </a:cubicBezTo>
                <a:cubicBezTo>
                  <a:pt x="76830" y="-10938"/>
                  <a:pt x="147905" y="-10982"/>
                  <a:pt x="191832" y="32814"/>
                </a:cubicBezTo>
                <a:close/>
              </a:path>
            </a:pathLst>
          </a:custGeom>
          <a:solidFill>
            <a:srgbClr val="FFFFFF"/>
          </a:solidFill>
          <a:ln/>
        </p:spPr>
      </p:sp>
      <p:sp>
        <p:nvSpPr>
          <p:cNvPr id="17" name="Text 15"/>
          <p:cNvSpPr/>
          <p:nvPr/>
        </p:nvSpPr>
        <p:spPr>
          <a:xfrm>
            <a:off x="4436703" y="1996077"/>
            <a:ext cx="3411136" cy="262395"/>
          </a:xfrm>
          <a:prstGeom prst="rect">
            <a:avLst/>
          </a:prstGeom>
          <a:noFill/>
          <a:ln/>
        </p:spPr>
        <p:txBody>
          <a:bodyPr wrap="square" lIns="0" tIns="0" rIns="0" bIns="0" rtlCol="0" anchor="ctr"/>
          <a:lstStyle/>
          <a:p>
            <a:pPr>
              <a:lnSpc>
                <a:spcPct val="120000"/>
              </a:lnSpc>
            </a:pPr>
            <a:r>
              <a:rPr lang="en-US" sz="1476" b="1" dirty="0">
                <a:solidFill>
                  <a:srgbClr val="F1F5F9"/>
                </a:solidFill>
                <a:latin typeface="MiSans" pitchFamily="34" charset="0"/>
                <a:ea typeface="MiSans" pitchFamily="34" charset="-122"/>
                <a:cs typeface="MiSans" pitchFamily="34" charset="-120"/>
              </a:rPr>
              <a:t>Tự động hóa TDD</a:t>
            </a:r>
            <a:endParaRPr lang="en-US" sz="1600" dirty="0"/>
          </a:p>
        </p:txBody>
      </p:sp>
      <p:sp>
        <p:nvSpPr>
          <p:cNvPr id="18" name="Text 16"/>
          <p:cNvSpPr/>
          <p:nvPr/>
        </p:nvSpPr>
        <p:spPr>
          <a:xfrm>
            <a:off x="4436703" y="2370927"/>
            <a:ext cx="3392394" cy="449820"/>
          </a:xfrm>
          <a:prstGeom prst="rect">
            <a:avLst/>
          </a:prstGeom>
          <a:noFill/>
          <a:ln/>
        </p:spPr>
        <p:txBody>
          <a:bodyPr wrap="square" lIns="0" tIns="0" rIns="0" bIns="0" rtlCol="0" anchor="ctr"/>
          <a:lstStyle/>
          <a:p>
            <a:pPr>
              <a:lnSpc>
                <a:spcPct val="130000"/>
              </a:lnSpc>
            </a:pPr>
            <a:r>
              <a:rPr lang="en-US" sz="1181" dirty="0">
                <a:solidFill>
                  <a:srgbClr val="F1F5F9">
                    <a:alpha val="80000"/>
                  </a:srgbClr>
                </a:solidFill>
                <a:latin typeface="MiSans" pitchFamily="34" charset="0"/>
                <a:ea typeface="MiSans" pitchFamily="34" charset="-122"/>
                <a:cs typeface="MiSans" pitchFamily="34" charset="-120"/>
              </a:rPr>
              <a:t>GenAI </a:t>
            </a:r>
            <a:pPr>
              <a:lnSpc>
                <a:spcPct val="130000"/>
              </a:lnSpc>
            </a:pPr>
            <a:r>
              <a:rPr lang="en-US" sz="1181" b="1" dirty="0">
                <a:solidFill>
                  <a:srgbClr val="8B5CF6"/>
                </a:solidFill>
                <a:latin typeface="MiSans" pitchFamily="34" charset="0"/>
                <a:ea typeface="MiSans" pitchFamily="34" charset="-122"/>
                <a:cs typeface="MiSans" pitchFamily="34" charset="-120"/>
              </a:rPr>
              <a:t>đọc lỗi từ các bài test thất bại</a:t>
            </a:r>
            <a:pPr>
              <a:lnSpc>
                <a:spcPct val="130000"/>
              </a:lnSpc>
            </a:pPr>
            <a:r>
              <a:rPr lang="en-US" sz="1181" dirty="0">
                <a:solidFill>
                  <a:srgbClr val="F1F5F9">
                    <a:alpha val="80000"/>
                  </a:srgbClr>
                </a:solidFill>
                <a:latin typeface="MiSans" pitchFamily="34" charset="0"/>
                <a:ea typeface="MiSans" pitchFamily="34" charset="-122"/>
                <a:cs typeface="MiSans" pitchFamily="34" charset="-120"/>
              </a:rPr>
              <a:t> để viết và sửa mã nguồn cho đến khi thành công.</a:t>
            </a:r>
            <a:endParaRPr lang="en-US" sz="1600" dirty="0"/>
          </a:p>
        </p:txBody>
      </p:sp>
      <p:sp>
        <p:nvSpPr>
          <p:cNvPr id="19" name="Shape 17"/>
          <p:cNvSpPr/>
          <p:nvPr/>
        </p:nvSpPr>
        <p:spPr>
          <a:xfrm>
            <a:off x="4436703" y="2933202"/>
            <a:ext cx="3317424" cy="412335"/>
          </a:xfrm>
          <a:custGeom>
            <a:avLst/>
            <a:gdLst/>
            <a:ahLst/>
            <a:cxnLst/>
            <a:rect l="l" t="t" r="r" b="b"/>
            <a:pathLst>
              <a:path w="3317424" h="412335">
                <a:moveTo>
                  <a:pt x="74971" y="0"/>
                </a:moveTo>
                <a:lnTo>
                  <a:pt x="3242453" y="0"/>
                </a:lnTo>
                <a:cubicBezTo>
                  <a:pt x="3283830" y="0"/>
                  <a:pt x="3317424" y="33593"/>
                  <a:pt x="3317424" y="74971"/>
                </a:cubicBezTo>
                <a:lnTo>
                  <a:pt x="3317424" y="337364"/>
                </a:lnTo>
                <a:cubicBezTo>
                  <a:pt x="3317424" y="378742"/>
                  <a:pt x="3283830" y="412335"/>
                  <a:pt x="3242453" y="412335"/>
                </a:cubicBezTo>
                <a:lnTo>
                  <a:pt x="74971" y="412335"/>
                </a:lnTo>
                <a:cubicBezTo>
                  <a:pt x="33593" y="412335"/>
                  <a:pt x="0" y="378742"/>
                  <a:pt x="0" y="337364"/>
                </a:cubicBezTo>
                <a:lnTo>
                  <a:pt x="0" y="74971"/>
                </a:lnTo>
                <a:cubicBezTo>
                  <a:pt x="0" y="33593"/>
                  <a:pt x="33593" y="0"/>
                  <a:pt x="74971" y="0"/>
                </a:cubicBezTo>
                <a:close/>
              </a:path>
            </a:pathLst>
          </a:custGeom>
          <a:solidFill>
            <a:srgbClr val="0F172A"/>
          </a:solidFill>
          <a:ln/>
        </p:spPr>
      </p:sp>
      <p:sp>
        <p:nvSpPr>
          <p:cNvPr id="20" name="Shape 18"/>
          <p:cNvSpPr/>
          <p:nvPr/>
        </p:nvSpPr>
        <p:spPr>
          <a:xfrm>
            <a:off x="4567900" y="3083142"/>
            <a:ext cx="131198" cy="131198"/>
          </a:xfrm>
          <a:custGeom>
            <a:avLst/>
            <a:gdLst/>
            <a:ahLst/>
            <a:cxnLst/>
            <a:rect l="l" t="t" r="r" b="b"/>
            <a:pathLst>
              <a:path w="131198" h="131198">
                <a:moveTo>
                  <a:pt x="65599" y="131198"/>
                </a:moveTo>
                <a:cubicBezTo>
                  <a:pt x="101804" y="131198"/>
                  <a:pt x="131198" y="101804"/>
                  <a:pt x="131198" y="65599"/>
                </a:cubicBezTo>
                <a:cubicBezTo>
                  <a:pt x="131198" y="29394"/>
                  <a:pt x="101804" y="0"/>
                  <a:pt x="65599" y="0"/>
                </a:cubicBezTo>
                <a:cubicBezTo>
                  <a:pt x="29394" y="0"/>
                  <a:pt x="0" y="29394"/>
                  <a:pt x="0" y="65599"/>
                </a:cubicBezTo>
                <a:cubicBezTo>
                  <a:pt x="0" y="101804"/>
                  <a:pt x="29394" y="131198"/>
                  <a:pt x="65599" y="131198"/>
                </a:cubicBezTo>
                <a:close/>
                <a:moveTo>
                  <a:pt x="87226" y="54503"/>
                </a:moveTo>
                <a:lnTo>
                  <a:pt x="66726" y="87303"/>
                </a:lnTo>
                <a:cubicBezTo>
                  <a:pt x="65650" y="89020"/>
                  <a:pt x="63805" y="90096"/>
                  <a:pt x="61781" y="90198"/>
                </a:cubicBezTo>
                <a:cubicBezTo>
                  <a:pt x="59756" y="90301"/>
                  <a:pt x="57809" y="89378"/>
                  <a:pt x="56605" y="87738"/>
                </a:cubicBezTo>
                <a:lnTo>
                  <a:pt x="44305" y="71339"/>
                </a:lnTo>
                <a:cubicBezTo>
                  <a:pt x="42255" y="68622"/>
                  <a:pt x="42819" y="64779"/>
                  <a:pt x="45535" y="62729"/>
                </a:cubicBezTo>
                <a:cubicBezTo>
                  <a:pt x="48251" y="60679"/>
                  <a:pt x="52095" y="61243"/>
                  <a:pt x="54145" y="63959"/>
                </a:cubicBezTo>
                <a:lnTo>
                  <a:pt x="61063" y="73184"/>
                </a:lnTo>
                <a:lnTo>
                  <a:pt x="76797" y="47995"/>
                </a:lnTo>
                <a:cubicBezTo>
                  <a:pt x="78590" y="45125"/>
                  <a:pt x="82383" y="44228"/>
                  <a:pt x="85278" y="46047"/>
                </a:cubicBezTo>
                <a:cubicBezTo>
                  <a:pt x="88174" y="47867"/>
                  <a:pt x="89045" y="51633"/>
                  <a:pt x="87226" y="54529"/>
                </a:cubicBezTo>
                <a:close/>
              </a:path>
            </a:pathLst>
          </a:custGeom>
          <a:solidFill>
            <a:srgbClr val="8B5CF6"/>
          </a:solidFill>
          <a:ln/>
        </p:spPr>
      </p:sp>
      <p:sp>
        <p:nvSpPr>
          <p:cNvPr id="21" name="Text 19"/>
          <p:cNvSpPr/>
          <p:nvPr/>
        </p:nvSpPr>
        <p:spPr>
          <a:xfrm>
            <a:off x="4773160" y="3045657"/>
            <a:ext cx="2934110" cy="187425"/>
          </a:xfrm>
          <a:prstGeom prst="rect">
            <a:avLst/>
          </a:prstGeom>
          <a:noFill/>
          <a:ln/>
        </p:spPr>
        <p:txBody>
          <a:bodyPr wrap="square" lIns="0" tIns="0" rIns="0" bIns="0" rtlCol="0" anchor="ctr"/>
          <a:lstStyle/>
          <a:p>
            <a:pPr>
              <a:lnSpc>
                <a:spcPct val="120000"/>
              </a:lnSpc>
            </a:pPr>
            <a:r>
              <a:rPr lang="en-US" sz="1033" dirty="0">
                <a:solidFill>
                  <a:srgbClr val="F1F5F9">
                    <a:alpha val="70000"/>
                  </a:srgbClr>
                </a:solidFill>
                <a:latin typeface="MiSans" pitchFamily="34" charset="0"/>
                <a:ea typeface="MiSans" pitchFamily="34" charset="-122"/>
                <a:cs typeface="MiSans" pitchFamily="34" charset="-120"/>
              </a:rPr>
              <a:t>Biến TDD từ khó thành dễ dàng</a:t>
            </a:r>
            <a:endParaRPr lang="en-US" sz="1600" dirty="0"/>
          </a:p>
        </p:txBody>
      </p:sp>
      <p:sp>
        <p:nvSpPr>
          <p:cNvPr id="22" name="Shape 20"/>
          <p:cNvSpPr/>
          <p:nvPr/>
        </p:nvSpPr>
        <p:spPr>
          <a:xfrm>
            <a:off x="8109648" y="1129236"/>
            <a:ext cx="3701645" cy="2633322"/>
          </a:xfrm>
          <a:custGeom>
            <a:avLst/>
            <a:gdLst/>
            <a:ahLst/>
            <a:cxnLst/>
            <a:rect l="l" t="t" r="r" b="b"/>
            <a:pathLst>
              <a:path w="3701645" h="2633322">
                <a:moveTo>
                  <a:pt x="112443" y="0"/>
                </a:moveTo>
                <a:lnTo>
                  <a:pt x="3589202" y="0"/>
                </a:lnTo>
                <a:cubicBezTo>
                  <a:pt x="3651303" y="0"/>
                  <a:pt x="3701645" y="50342"/>
                  <a:pt x="3701645" y="112443"/>
                </a:cubicBezTo>
                <a:lnTo>
                  <a:pt x="3701645" y="2520879"/>
                </a:lnTo>
                <a:cubicBezTo>
                  <a:pt x="3701645" y="2582980"/>
                  <a:pt x="3651303" y="2633322"/>
                  <a:pt x="3589202" y="2633322"/>
                </a:cubicBezTo>
                <a:lnTo>
                  <a:pt x="112443" y="2633322"/>
                </a:lnTo>
                <a:cubicBezTo>
                  <a:pt x="50342" y="2633322"/>
                  <a:pt x="0" y="2582980"/>
                  <a:pt x="0" y="2520879"/>
                </a:cubicBezTo>
                <a:lnTo>
                  <a:pt x="0" y="112443"/>
                </a:lnTo>
                <a:cubicBezTo>
                  <a:pt x="0" y="50384"/>
                  <a:pt x="50384" y="0"/>
                  <a:pt x="112443"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3" name="Shape 21"/>
          <p:cNvSpPr/>
          <p:nvPr/>
        </p:nvSpPr>
        <p:spPr>
          <a:xfrm>
            <a:off x="8301759" y="1321347"/>
            <a:ext cx="524790" cy="524790"/>
          </a:xfrm>
          <a:custGeom>
            <a:avLst/>
            <a:gdLst/>
            <a:ahLst/>
            <a:cxnLst/>
            <a:rect l="l" t="t" r="r" b="b"/>
            <a:pathLst>
              <a:path w="524790" h="524790">
                <a:moveTo>
                  <a:pt x="112457" y="0"/>
                </a:moveTo>
                <a:lnTo>
                  <a:pt x="412333" y="0"/>
                </a:lnTo>
                <a:cubicBezTo>
                  <a:pt x="474441" y="0"/>
                  <a:pt x="524790" y="50349"/>
                  <a:pt x="524790" y="112457"/>
                </a:cubicBezTo>
                <a:lnTo>
                  <a:pt x="524790" y="412333"/>
                </a:lnTo>
                <a:cubicBezTo>
                  <a:pt x="524790" y="474441"/>
                  <a:pt x="474441" y="524790"/>
                  <a:pt x="412333" y="524790"/>
                </a:cubicBezTo>
                <a:lnTo>
                  <a:pt x="112457" y="524790"/>
                </a:lnTo>
                <a:cubicBezTo>
                  <a:pt x="50349" y="524790"/>
                  <a:pt x="0" y="474441"/>
                  <a:pt x="0" y="412333"/>
                </a:cubicBezTo>
                <a:lnTo>
                  <a:pt x="0" y="112457"/>
                </a:lnTo>
                <a:cubicBezTo>
                  <a:pt x="0" y="50390"/>
                  <a:pt x="50390" y="0"/>
                  <a:pt x="112457" y="0"/>
                </a:cubicBezTo>
                <a:close/>
              </a:path>
            </a:pathLst>
          </a:custGeom>
          <a:solidFill>
            <a:srgbClr val="10B981"/>
          </a:solidFill>
          <a:ln/>
        </p:spPr>
      </p:sp>
      <p:sp>
        <p:nvSpPr>
          <p:cNvPr id="24" name="Shape 22"/>
          <p:cNvSpPr/>
          <p:nvPr/>
        </p:nvSpPr>
        <p:spPr>
          <a:xfrm>
            <a:off x="8465756" y="1471287"/>
            <a:ext cx="196796" cy="224910"/>
          </a:xfrm>
          <a:custGeom>
            <a:avLst/>
            <a:gdLst/>
            <a:ahLst/>
            <a:cxnLst/>
            <a:rect l="l" t="t" r="r" b="b"/>
            <a:pathLst>
              <a:path w="196796" h="224910">
                <a:moveTo>
                  <a:pt x="196796" y="90403"/>
                </a:moveTo>
                <a:cubicBezTo>
                  <a:pt x="190295" y="94708"/>
                  <a:pt x="182827" y="98179"/>
                  <a:pt x="175052" y="100946"/>
                </a:cubicBezTo>
                <a:cubicBezTo>
                  <a:pt x="154406" y="108326"/>
                  <a:pt x="127303" y="112455"/>
                  <a:pt x="98398" y="112455"/>
                </a:cubicBezTo>
                <a:cubicBezTo>
                  <a:pt x="69494" y="112455"/>
                  <a:pt x="42346" y="108282"/>
                  <a:pt x="21744" y="100946"/>
                </a:cubicBezTo>
                <a:cubicBezTo>
                  <a:pt x="14013" y="98179"/>
                  <a:pt x="6501" y="94708"/>
                  <a:pt x="0" y="90403"/>
                </a:cubicBezTo>
                <a:lnTo>
                  <a:pt x="0" y="126512"/>
                </a:lnTo>
                <a:cubicBezTo>
                  <a:pt x="0" y="145928"/>
                  <a:pt x="44060" y="161654"/>
                  <a:pt x="98398" y="161654"/>
                </a:cubicBezTo>
                <a:cubicBezTo>
                  <a:pt x="152737" y="161654"/>
                  <a:pt x="196796" y="145928"/>
                  <a:pt x="196796" y="126512"/>
                </a:cubicBezTo>
                <a:lnTo>
                  <a:pt x="196796" y="90403"/>
                </a:lnTo>
                <a:close/>
                <a:moveTo>
                  <a:pt x="196796" y="56228"/>
                </a:moveTo>
                <a:lnTo>
                  <a:pt x="196796" y="35142"/>
                </a:lnTo>
                <a:cubicBezTo>
                  <a:pt x="196796" y="15726"/>
                  <a:pt x="152737" y="0"/>
                  <a:pt x="98398" y="0"/>
                </a:cubicBezTo>
                <a:cubicBezTo>
                  <a:pt x="44060" y="0"/>
                  <a:pt x="0" y="15726"/>
                  <a:pt x="0" y="35142"/>
                </a:cubicBezTo>
                <a:lnTo>
                  <a:pt x="0" y="56228"/>
                </a:lnTo>
                <a:cubicBezTo>
                  <a:pt x="0" y="75644"/>
                  <a:pt x="44060" y="91370"/>
                  <a:pt x="98398" y="91370"/>
                </a:cubicBezTo>
                <a:cubicBezTo>
                  <a:pt x="152737" y="91370"/>
                  <a:pt x="196796" y="75644"/>
                  <a:pt x="196796" y="56228"/>
                </a:cubicBezTo>
                <a:close/>
                <a:moveTo>
                  <a:pt x="175052" y="171230"/>
                </a:moveTo>
                <a:cubicBezTo>
                  <a:pt x="154450" y="178566"/>
                  <a:pt x="127347" y="182739"/>
                  <a:pt x="98398" y="182739"/>
                </a:cubicBezTo>
                <a:cubicBezTo>
                  <a:pt x="69450" y="182739"/>
                  <a:pt x="42346" y="178566"/>
                  <a:pt x="21744" y="171230"/>
                </a:cubicBezTo>
                <a:cubicBezTo>
                  <a:pt x="14013" y="168463"/>
                  <a:pt x="6501" y="164993"/>
                  <a:pt x="0" y="160688"/>
                </a:cubicBezTo>
                <a:lnTo>
                  <a:pt x="0" y="189768"/>
                </a:lnTo>
                <a:cubicBezTo>
                  <a:pt x="0" y="209184"/>
                  <a:pt x="44060" y="224910"/>
                  <a:pt x="98398" y="224910"/>
                </a:cubicBezTo>
                <a:cubicBezTo>
                  <a:pt x="152737" y="224910"/>
                  <a:pt x="196796" y="209184"/>
                  <a:pt x="196796" y="189768"/>
                </a:cubicBezTo>
                <a:lnTo>
                  <a:pt x="196796" y="160688"/>
                </a:lnTo>
                <a:cubicBezTo>
                  <a:pt x="190295" y="164993"/>
                  <a:pt x="182827" y="168463"/>
                  <a:pt x="175052" y="171230"/>
                </a:cubicBezTo>
                <a:close/>
              </a:path>
            </a:pathLst>
          </a:custGeom>
          <a:solidFill>
            <a:srgbClr val="FFFFFF"/>
          </a:solidFill>
          <a:ln/>
        </p:spPr>
      </p:sp>
      <p:sp>
        <p:nvSpPr>
          <p:cNvPr id="25" name="Text 23"/>
          <p:cNvSpPr/>
          <p:nvPr/>
        </p:nvSpPr>
        <p:spPr>
          <a:xfrm>
            <a:off x="8301759" y="1996077"/>
            <a:ext cx="3411136" cy="262395"/>
          </a:xfrm>
          <a:prstGeom prst="rect">
            <a:avLst/>
          </a:prstGeom>
          <a:noFill/>
          <a:ln/>
        </p:spPr>
        <p:txBody>
          <a:bodyPr wrap="square" lIns="0" tIns="0" rIns="0" bIns="0" rtlCol="0" anchor="ctr"/>
          <a:lstStyle/>
          <a:p>
            <a:pPr>
              <a:lnSpc>
                <a:spcPct val="120000"/>
              </a:lnSpc>
            </a:pPr>
            <a:r>
              <a:rPr lang="en-US" sz="1476" b="1" dirty="0">
                <a:solidFill>
                  <a:srgbClr val="F1F5F9"/>
                </a:solidFill>
                <a:latin typeface="MiSans" pitchFamily="34" charset="0"/>
                <a:ea typeface="MiSans" pitchFamily="34" charset="-122"/>
                <a:cs typeface="MiSans" pitchFamily="34" charset="-120"/>
              </a:rPr>
              <a:t>Sinh dữ liệu mẫu</a:t>
            </a:r>
            <a:endParaRPr lang="en-US" sz="1600" dirty="0"/>
          </a:p>
        </p:txBody>
      </p:sp>
      <p:sp>
        <p:nvSpPr>
          <p:cNvPr id="26" name="Text 24"/>
          <p:cNvSpPr/>
          <p:nvPr/>
        </p:nvSpPr>
        <p:spPr>
          <a:xfrm>
            <a:off x="8301759" y="2370927"/>
            <a:ext cx="3392394" cy="449820"/>
          </a:xfrm>
          <a:prstGeom prst="rect">
            <a:avLst/>
          </a:prstGeom>
          <a:noFill/>
          <a:ln/>
        </p:spPr>
        <p:txBody>
          <a:bodyPr wrap="square" lIns="0" tIns="0" rIns="0" bIns="0" rtlCol="0" anchor="ctr"/>
          <a:lstStyle/>
          <a:p>
            <a:pPr>
              <a:lnSpc>
                <a:spcPct val="130000"/>
              </a:lnSpc>
            </a:pPr>
            <a:r>
              <a:rPr lang="en-US" sz="1181" dirty="0">
                <a:solidFill>
                  <a:srgbClr val="F1F5F9">
                    <a:alpha val="80000"/>
                  </a:srgbClr>
                </a:solidFill>
                <a:latin typeface="MiSans" pitchFamily="34" charset="0"/>
                <a:ea typeface="MiSans" pitchFamily="34" charset="-122"/>
                <a:cs typeface="MiSans" pitchFamily="34" charset="-120"/>
              </a:rPr>
              <a:t>AI hỗ trợ sinh </a:t>
            </a:r>
            <a:pPr>
              <a:lnSpc>
                <a:spcPct val="130000"/>
              </a:lnSpc>
            </a:pPr>
            <a:r>
              <a:rPr lang="en-US" sz="1181" b="1" dirty="0">
                <a:solidFill>
                  <a:srgbClr val="10B981"/>
                </a:solidFill>
                <a:latin typeface="MiSans" pitchFamily="34" charset="0"/>
                <a:ea typeface="MiSans" pitchFamily="34" charset="-122"/>
                <a:cs typeface="MiSans" pitchFamily="34" charset="-120"/>
              </a:rPr>
              <a:t>mock data chân thực</a:t>
            </a:r>
            <a:pPr>
              <a:lnSpc>
                <a:spcPct val="130000"/>
              </a:lnSpc>
            </a:pPr>
            <a:r>
              <a:rPr lang="en-US" sz="1181" dirty="0">
                <a:solidFill>
                  <a:srgbClr val="F1F5F9">
                    <a:alpha val="80000"/>
                  </a:srgbClr>
                </a:solidFill>
                <a:latin typeface="MiSans" pitchFamily="34" charset="0"/>
                <a:ea typeface="MiSans" pitchFamily="34" charset="-122"/>
                <a:cs typeface="MiSans" pitchFamily="34" charset="-120"/>
              </a:rPr>
              <a:t> một cách nhanh chóng cho quá trình kiểm thử.</a:t>
            </a:r>
            <a:endParaRPr lang="en-US" sz="1600" dirty="0"/>
          </a:p>
        </p:txBody>
      </p:sp>
      <p:sp>
        <p:nvSpPr>
          <p:cNvPr id="27" name="Shape 25"/>
          <p:cNvSpPr/>
          <p:nvPr/>
        </p:nvSpPr>
        <p:spPr>
          <a:xfrm>
            <a:off x="8301759" y="2933202"/>
            <a:ext cx="3317424" cy="412335"/>
          </a:xfrm>
          <a:custGeom>
            <a:avLst/>
            <a:gdLst/>
            <a:ahLst/>
            <a:cxnLst/>
            <a:rect l="l" t="t" r="r" b="b"/>
            <a:pathLst>
              <a:path w="3317424" h="412335">
                <a:moveTo>
                  <a:pt x="74971" y="0"/>
                </a:moveTo>
                <a:lnTo>
                  <a:pt x="3242453" y="0"/>
                </a:lnTo>
                <a:cubicBezTo>
                  <a:pt x="3283830" y="0"/>
                  <a:pt x="3317424" y="33593"/>
                  <a:pt x="3317424" y="74971"/>
                </a:cubicBezTo>
                <a:lnTo>
                  <a:pt x="3317424" y="337364"/>
                </a:lnTo>
                <a:cubicBezTo>
                  <a:pt x="3317424" y="378742"/>
                  <a:pt x="3283830" y="412335"/>
                  <a:pt x="3242453" y="412335"/>
                </a:cubicBezTo>
                <a:lnTo>
                  <a:pt x="74971" y="412335"/>
                </a:lnTo>
                <a:cubicBezTo>
                  <a:pt x="33593" y="412335"/>
                  <a:pt x="0" y="378742"/>
                  <a:pt x="0" y="337364"/>
                </a:cubicBezTo>
                <a:lnTo>
                  <a:pt x="0" y="74971"/>
                </a:lnTo>
                <a:cubicBezTo>
                  <a:pt x="0" y="33593"/>
                  <a:pt x="33593" y="0"/>
                  <a:pt x="74971" y="0"/>
                </a:cubicBezTo>
                <a:close/>
              </a:path>
            </a:pathLst>
          </a:custGeom>
          <a:solidFill>
            <a:srgbClr val="0F172A"/>
          </a:solidFill>
          <a:ln/>
        </p:spPr>
      </p:sp>
      <p:sp>
        <p:nvSpPr>
          <p:cNvPr id="28" name="Shape 26"/>
          <p:cNvSpPr/>
          <p:nvPr/>
        </p:nvSpPr>
        <p:spPr>
          <a:xfrm>
            <a:off x="8441156" y="3083142"/>
            <a:ext cx="114798" cy="131198"/>
          </a:xfrm>
          <a:custGeom>
            <a:avLst/>
            <a:gdLst/>
            <a:ahLst/>
            <a:cxnLst/>
            <a:rect l="l" t="t" r="r" b="b"/>
            <a:pathLst>
              <a:path w="114798" h="131198">
                <a:moveTo>
                  <a:pt x="65599" y="40999"/>
                </a:moveTo>
                <a:lnTo>
                  <a:pt x="65599" y="65599"/>
                </a:lnTo>
                <a:lnTo>
                  <a:pt x="98398" y="65599"/>
                </a:lnTo>
                <a:lnTo>
                  <a:pt x="98398" y="40999"/>
                </a:lnTo>
                <a:lnTo>
                  <a:pt x="65599" y="40999"/>
                </a:lnTo>
                <a:close/>
                <a:moveTo>
                  <a:pt x="49199" y="40999"/>
                </a:moveTo>
                <a:lnTo>
                  <a:pt x="16400" y="40999"/>
                </a:lnTo>
                <a:lnTo>
                  <a:pt x="16400" y="65599"/>
                </a:lnTo>
                <a:lnTo>
                  <a:pt x="49199" y="65599"/>
                </a:lnTo>
                <a:lnTo>
                  <a:pt x="49199" y="40999"/>
                </a:lnTo>
                <a:close/>
                <a:moveTo>
                  <a:pt x="0" y="81998"/>
                </a:moveTo>
                <a:lnTo>
                  <a:pt x="0" y="24600"/>
                </a:lnTo>
                <a:cubicBezTo>
                  <a:pt x="0" y="15554"/>
                  <a:pt x="7354" y="8200"/>
                  <a:pt x="16400" y="8200"/>
                </a:cubicBezTo>
                <a:lnTo>
                  <a:pt x="98398" y="8200"/>
                </a:lnTo>
                <a:cubicBezTo>
                  <a:pt x="107444" y="8200"/>
                  <a:pt x="114798" y="15554"/>
                  <a:pt x="114798" y="24600"/>
                </a:cubicBezTo>
                <a:lnTo>
                  <a:pt x="114798" y="106598"/>
                </a:lnTo>
                <a:cubicBezTo>
                  <a:pt x="114798" y="115643"/>
                  <a:pt x="107444" y="122998"/>
                  <a:pt x="98398" y="122998"/>
                </a:cubicBezTo>
                <a:lnTo>
                  <a:pt x="16400" y="122998"/>
                </a:lnTo>
                <a:cubicBezTo>
                  <a:pt x="7354" y="122998"/>
                  <a:pt x="0" y="115643"/>
                  <a:pt x="0" y="106598"/>
                </a:cubicBezTo>
                <a:lnTo>
                  <a:pt x="0" y="81998"/>
                </a:lnTo>
                <a:close/>
                <a:moveTo>
                  <a:pt x="98398" y="81998"/>
                </a:moveTo>
                <a:lnTo>
                  <a:pt x="65599" y="81998"/>
                </a:lnTo>
                <a:lnTo>
                  <a:pt x="65599" y="106598"/>
                </a:lnTo>
                <a:lnTo>
                  <a:pt x="98398" y="106598"/>
                </a:lnTo>
                <a:lnTo>
                  <a:pt x="98398" y="81998"/>
                </a:lnTo>
                <a:close/>
                <a:moveTo>
                  <a:pt x="49199" y="106598"/>
                </a:moveTo>
                <a:lnTo>
                  <a:pt x="49199" y="81998"/>
                </a:lnTo>
                <a:lnTo>
                  <a:pt x="16400" y="81998"/>
                </a:lnTo>
                <a:lnTo>
                  <a:pt x="16400" y="106598"/>
                </a:lnTo>
                <a:lnTo>
                  <a:pt x="49199" y="106598"/>
                </a:lnTo>
                <a:close/>
              </a:path>
            </a:pathLst>
          </a:custGeom>
          <a:solidFill>
            <a:srgbClr val="10B981"/>
          </a:solidFill>
          <a:ln/>
        </p:spPr>
      </p:sp>
      <p:sp>
        <p:nvSpPr>
          <p:cNvPr id="29" name="Text 27"/>
          <p:cNvSpPr/>
          <p:nvPr/>
        </p:nvSpPr>
        <p:spPr>
          <a:xfrm>
            <a:off x="8638216" y="3045657"/>
            <a:ext cx="2934110" cy="187425"/>
          </a:xfrm>
          <a:prstGeom prst="rect">
            <a:avLst/>
          </a:prstGeom>
          <a:noFill/>
          <a:ln/>
        </p:spPr>
        <p:txBody>
          <a:bodyPr wrap="square" lIns="0" tIns="0" rIns="0" bIns="0" rtlCol="0" anchor="ctr"/>
          <a:lstStyle/>
          <a:p>
            <a:pPr>
              <a:lnSpc>
                <a:spcPct val="120000"/>
              </a:lnSpc>
            </a:pPr>
            <a:r>
              <a:rPr lang="en-US" sz="1033" dirty="0">
                <a:solidFill>
                  <a:srgbClr val="F1F5F9">
                    <a:alpha val="70000"/>
                  </a:srgbClr>
                </a:solidFill>
                <a:latin typeface="MiSans" pitchFamily="34" charset="0"/>
                <a:ea typeface="MiSans" pitchFamily="34" charset="-122"/>
                <a:cs typeface="MiSans" pitchFamily="34" charset="-120"/>
              </a:rPr>
              <a:t>Tạo dữ liệu test phong phú, đa dạng</a:t>
            </a:r>
            <a:endParaRPr lang="en-US" sz="1600" dirty="0"/>
          </a:p>
        </p:txBody>
      </p:sp>
      <p:sp>
        <p:nvSpPr>
          <p:cNvPr id="30" name="Shape 28"/>
          <p:cNvSpPr/>
          <p:nvPr/>
        </p:nvSpPr>
        <p:spPr>
          <a:xfrm>
            <a:off x="379536" y="3921869"/>
            <a:ext cx="11432929" cy="1939849"/>
          </a:xfrm>
          <a:custGeom>
            <a:avLst/>
            <a:gdLst/>
            <a:ahLst/>
            <a:cxnLst/>
            <a:rect l="l" t="t" r="r" b="b"/>
            <a:pathLst>
              <a:path w="11432929" h="1939849">
                <a:moveTo>
                  <a:pt x="112453" y="0"/>
                </a:moveTo>
                <a:lnTo>
                  <a:pt x="11320475" y="0"/>
                </a:lnTo>
                <a:cubicBezTo>
                  <a:pt x="11382582" y="0"/>
                  <a:pt x="11432929" y="50347"/>
                  <a:pt x="11432929" y="112453"/>
                </a:cubicBezTo>
                <a:lnTo>
                  <a:pt x="11432929" y="1827396"/>
                </a:lnTo>
                <a:cubicBezTo>
                  <a:pt x="11432929" y="1889502"/>
                  <a:pt x="11382582" y="1939849"/>
                  <a:pt x="11320475" y="1939849"/>
                </a:cubicBezTo>
                <a:lnTo>
                  <a:pt x="112453" y="1939849"/>
                </a:lnTo>
                <a:cubicBezTo>
                  <a:pt x="50347" y="1939849"/>
                  <a:pt x="0" y="1889502"/>
                  <a:pt x="0" y="1827396"/>
                </a:cubicBezTo>
                <a:lnTo>
                  <a:pt x="0" y="112453"/>
                </a:lnTo>
                <a:cubicBezTo>
                  <a:pt x="0" y="50347"/>
                  <a:pt x="50347" y="0"/>
                  <a:pt x="112453"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31" name="Shape 29"/>
          <p:cNvSpPr/>
          <p:nvPr/>
        </p:nvSpPr>
        <p:spPr>
          <a:xfrm>
            <a:off x="571646" y="4151465"/>
            <a:ext cx="234281" cy="187425"/>
          </a:xfrm>
          <a:custGeom>
            <a:avLst/>
            <a:gdLst/>
            <a:ahLst/>
            <a:cxnLst/>
            <a:rect l="l" t="t" r="r" b="b"/>
            <a:pathLst>
              <a:path w="234281" h="187425">
                <a:moveTo>
                  <a:pt x="152246" y="77057"/>
                </a:moveTo>
                <a:cubicBezTo>
                  <a:pt x="156712" y="75849"/>
                  <a:pt x="161398" y="77972"/>
                  <a:pt x="163411" y="82108"/>
                </a:cubicBezTo>
                <a:lnTo>
                  <a:pt x="170220" y="95872"/>
                </a:lnTo>
                <a:cubicBezTo>
                  <a:pt x="173990" y="96385"/>
                  <a:pt x="177688" y="97410"/>
                  <a:pt x="181165" y="98837"/>
                </a:cubicBezTo>
                <a:lnTo>
                  <a:pt x="193978" y="90308"/>
                </a:lnTo>
                <a:cubicBezTo>
                  <a:pt x="197821" y="87746"/>
                  <a:pt x="202910" y="88258"/>
                  <a:pt x="206168" y="91516"/>
                </a:cubicBezTo>
                <a:lnTo>
                  <a:pt x="213196" y="98545"/>
                </a:lnTo>
                <a:cubicBezTo>
                  <a:pt x="216454" y="101803"/>
                  <a:pt x="216966" y="106927"/>
                  <a:pt x="214404" y="110735"/>
                </a:cubicBezTo>
                <a:lnTo>
                  <a:pt x="205875" y="123510"/>
                </a:lnTo>
                <a:cubicBezTo>
                  <a:pt x="206570" y="125231"/>
                  <a:pt x="207193" y="127024"/>
                  <a:pt x="207705" y="128891"/>
                </a:cubicBezTo>
                <a:cubicBezTo>
                  <a:pt x="208218" y="130758"/>
                  <a:pt x="208547" y="132589"/>
                  <a:pt x="208803" y="134456"/>
                </a:cubicBezTo>
                <a:lnTo>
                  <a:pt x="222604" y="141264"/>
                </a:lnTo>
                <a:cubicBezTo>
                  <a:pt x="226740" y="143314"/>
                  <a:pt x="228864" y="148000"/>
                  <a:pt x="227656" y="152429"/>
                </a:cubicBezTo>
                <a:lnTo>
                  <a:pt x="225093" y="162020"/>
                </a:lnTo>
                <a:cubicBezTo>
                  <a:pt x="223885" y="166450"/>
                  <a:pt x="219749" y="169451"/>
                  <a:pt x="215136" y="169158"/>
                </a:cubicBezTo>
                <a:lnTo>
                  <a:pt x="199761" y="168170"/>
                </a:lnTo>
                <a:cubicBezTo>
                  <a:pt x="197455" y="171135"/>
                  <a:pt x="194783" y="173881"/>
                  <a:pt x="191745" y="176223"/>
                </a:cubicBezTo>
                <a:lnTo>
                  <a:pt x="192733" y="191562"/>
                </a:lnTo>
                <a:cubicBezTo>
                  <a:pt x="193026" y="196174"/>
                  <a:pt x="190024" y="200347"/>
                  <a:pt x="185595" y="201519"/>
                </a:cubicBezTo>
                <a:lnTo>
                  <a:pt x="176004" y="204081"/>
                </a:lnTo>
                <a:cubicBezTo>
                  <a:pt x="171538" y="205289"/>
                  <a:pt x="166889" y="203166"/>
                  <a:pt x="164839" y="199029"/>
                </a:cubicBezTo>
                <a:lnTo>
                  <a:pt x="158030" y="185265"/>
                </a:lnTo>
                <a:cubicBezTo>
                  <a:pt x="154260" y="184753"/>
                  <a:pt x="150562" y="183728"/>
                  <a:pt x="147085" y="182300"/>
                </a:cubicBezTo>
                <a:lnTo>
                  <a:pt x="134272" y="190829"/>
                </a:lnTo>
                <a:cubicBezTo>
                  <a:pt x="130429" y="193392"/>
                  <a:pt x="125341" y="192879"/>
                  <a:pt x="122083" y="189621"/>
                </a:cubicBezTo>
                <a:lnTo>
                  <a:pt x="115054" y="182593"/>
                </a:lnTo>
                <a:cubicBezTo>
                  <a:pt x="111796" y="179335"/>
                  <a:pt x="111284" y="174247"/>
                  <a:pt x="113846" y="170403"/>
                </a:cubicBezTo>
                <a:lnTo>
                  <a:pt x="122375" y="157591"/>
                </a:lnTo>
                <a:cubicBezTo>
                  <a:pt x="121680" y="155870"/>
                  <a:pt x="121058" y="154077"/>
                  <a:pt x="120545" y="152210"/>
                </a:cubicBezTo>
                <a:cubicBezTo>
                  <a:pt x="120033" y="150343"/>
                  <a:pt x="119703" y="148476"/>
                  <a:pt x="119447" y="146645"/>
                </a:cubicBezTo>
                <a:lnTo>
                  <a:pt x="105646" y="139837"/>
                </a:lnTo>
                <a:cubicBezTo>
                  <a:pt x="101510" y="137787"/>
                  <a:pt x="99423" y="133101"/>
                  <a:pt x="100595" y="128672"/>
                </a:cubicBezTo>
                <a:lnTo>
                  <a:pt x="103157" y="119081"/>
                </a:lnTo>
                <a:cubicBezTo>
                  <a:pt x="104365" y="114651"/>
                  <a:pt x="108502" y="111650"/>
                  <a:pt x="113114" y="111943"/>
                </a:cubicBezTo>
                <a:lnTo>
                  <a:pt x="128452" y="112931"/>
                </a:lnTo>
                <a:cubicBezTo>
                  <a:pt x="130758" y="109966"/>
                  <a:pt x="133431" y="107220"/>
                  <a:pt x="136469" y="104877"/>
                </a:cubicBezTo>
                <a:lnTo>
                  <a:pt x="135480" y="89576"/>
                </a:lnTo>
                <a:cubicBezTo>
                  <a:pt x="135188" y="84964"/>
                  <a:pt x="138189" y="80790"/>
                  <a:pt x="142619" y="79619"/>
                </a:cubicBezTo>
                <a:lnTo>
                  <a:pt x="152210" y="77057"/>
                </a:lnTo>
                <a:close/>
                <a:moveTo>
                  <a:pt x="164143" y="124462"/>
                </a:moveTo>
                <a:cubicBezTo>
                  <a:pt x="155254" y="124472"/>
                  <a:pt x="148045" y="131697"/>
                  <a:pt x="148055" y="140587"/>
                </a:cubicBezTo>
                <a:cubicBezTo>
                  <a:pt x="148065" y="149477"/>
                  <a:pt x="155290" y="156686"/>
                  <a:pt x="164180" y="156676"/>
                </a:cubicBezTo>
                <a:cubicBezTo>
                  <a:pt x="173070" y="156666"/>
                  <a:pt x="180279" y="149440"/>
                  <a:pt x="180268" y="140550"/>
                </a:cubicBezTo>
                <a:cubicBezTo>
                  <a:pt x="180258" y="131661"/>
                  <a:pt x="173033" y="124452"/>
                  <a:pt x="164143" y="124462"/>
                </a:cubicBezTo>
                <a:close/>
                <a:moveTo>
                  <a:pt x="82328" y="-16656"/>
                </a:moveTo>
                <a:lnTo>
                  <a:pt x="91919" y="-14093"/>
                </a:lnTo>
                <a:cubicBezTo>
                  <a:pt x="96348" y="-12885"/>
                  <a:pt x="99350" y="-8712"/>
                  <a:pt x="99057" y="-4137"/>
                </a:cubicBezTo>
                <a:lnTo>
                  <a:pt x="98069" y="11165"/>
                </a:lnTo>
                <a:cubicBezTo>
                  <a:pt x="101107" y="13508"/>
                  <a:pt x="103779" y="16217"/>
                  <a:pt x="106086" y="19218"/>
                </a:cubicBezTo>
                <a:lnTo>
                  <a:pt x="121460" y="18230"/>
                </a:lnTo>
                <a:cubicBezTo>
                  <a:pt x="126036" y="17937"/>
                  <a:pt x="130209" y="20939"/>
                  <a:pt x="131417" y="25368"/>
                </a:cubicBezTo>
                <a:lnTo>
                  <a:pt x="133980" y="34959"/>
                </a:lnTo>
                <a:cubicBezTo>
                  <a:pt x="135151" y="39389"/>
                  <a:pt x="133064" y="44074"/>
                  <a:pt x="128928" y="46124"/>
                </a:cubicBezTo>
                <a:lnTo>
                  <a:pt x="115127" y="52933"/>
                </a:lnTo>
                <a:cubicBezTo>
                  <a:pt x="114871" y="54800"/>
                  <a:pt x="114505" y="56667"/>
                  <a:pt x="114029" y="58497"/>
                </a:cubicBezTo>
                <a:cubicBezTo>
                  <a:pt x="113553" y="60327"/>
                  <a:pt x="112894" y="62158"/>
                  <a:pt x="112199" y="63878"/>
                </a:cubicBezTo>
                <a:lnTo>
                  <a:pt x="120728" y="76691"/>
                </a:lnTo>
                <a:cubicBezTo>
                  <a:pt x="123291" y="80534"/>
                  <a:pt x="122778" y="85623"/>
                  <a:pt x="119520" y="88880"/>
                </a:cubicBezTo>
                <a:lnTo>
                  <a:pt x="112492" y="95909"/>
                </a:lnTo>
                <a:cubicBezTo>
                  <a:pt x="109234" y="99167"/>
                  <a:pt x="104145" y="99679"/>
                  <a:pt x="100302" y="97117"/>
                </a:cubicBezTo>
                <a:lnTo>
                  <a:pt x="87489" y="88588"/>
                </a:lnTo>
                <a:cubicBezTo>
                  <a:pt x="84012" y="90015"/>
                  <a:pt x="80315" y="91040"/>
                  <a:pt x="76544" y="91553"/>
                </a:cubicBezTo>
                <a:lnTo>
                  <a:pt x="69735" y="105317"/>
                </a:lnTo>
                <a:cubicBezTo>
                  <a:pt x="67685" y="109453"/>
                  <a:pt x="63000" y="111540"/>
                  <a:pt x="58570" y="110368"/>
                </a:cubicBezTo>
                <a:lnTo>
                  <a:pt x="48979" y="107806"/>
                </a:lnTo>
                <a:cubicBezTo>
                  <a:pt x="44513" y="106598"/>
                  <a:pt x="41548" y="102425"/>
                  <a:pt x="41841" y="97849"/>
                </a:cubicBezTo>
                <a:lnTo>
                  <a:pt x="42830" y="82511"/>
                </a:lnTo>
                <a:cubicBezTo>
                  <a:pt x="39791" y="80168"/>
                  <a:pt x="37119" y="77459"/>
                  <a:pt x="34813" y="74458"/>
                </a:cubicBezTo>
                <a:lnTo>
                  <a:pt x="19438" y="75446"/>
                </a:lnTo>
                <a:cubicBezTo>
                  <a:pt x="14862" y="75739"/>
                  <a:pt x="10689" y="72737"/>
                  <a:pt x="9481" y="68308"/>
                </a:cubicBezTo>
                <a:lnTo>
                  <a:pt x="6919" y="58717"/>
                </a:lnTo>
                <a:cubicBezTo>
                  <a:pt x="5747" y="54287"/>
                  <a:pt x="7834" y="49602"/>
                  <a:pt x="11970" y="47552"/>
                </a:cubicBezTo>
                <a:lnTo>
                  <a:pt x="25771" y="40743"/>
                </a:lnTo>
                <a:cubicBezTo>
                  <a:pt x="26027" y="38876"/>
                  <a:pt x="26393" y="37046"/>
                  <a:pt x="26869" y="35179"/>
                </a:cubicBezTo>
                <a:cubicBezTo>
                  <a:pt x="27382" y="33312"/>
                  <a:pt x="27967" y="31518"/>
                  <a:pt x="28699" y="29798"/>
                </a:cubicBezTo>
                <a:lnTo>
                  <a:pt x="20170" y="17022"/>
                </a:lnTo>
                <a:cubicBezTo>
                  <a:pt x="17608" y="13178"/>
                  <a:pt x="18120" y="8090"/>
                  <a:pt x="21378" y="4832"/>
                </a:cubicBezTo>
                <a:lnTo>
                  <a:pt x="28407" y="-2196"/>
                </a:lnTo>
                <a:cubicBezTo>
                  <a:pt x="31665" y="-5454"/>
                  <a:pt x="36753" y="-5967"/>
                  <a:pt x="40597" y="-3404"/>
                </a:cubicBezTo>
                <a:lnTo>
                  <a:pt x="53409" y="5125"/>
                </a:lnTo>
                <a:cubicBezTo>
                  <a:pt x="56886" y="3697"/>
                  <a:pt x="60584" y="2672"/>
                  <a:pt x="64354" y="2160"/>
                </a:cubicBezTo>
                <a:lnTo>
                  <a:pt x="71163" y="-11604"/>
                </a:lnTo>
                <a:cubicBezTo>
                  <a:pt x="73213" y="-15741"/>
                  <a:pt x="77862" y="-17827"/>
                  <a:pt x="82328" y="-16656"/>
                </a:cubicBezTo>
                <a:close/>
                <a:moveTo>
                  <a:pt x="70431" y="30749"/>
                </a:moveTo>
                <a:cubicBezTo>
                  <a:pt x="61541" y="30749"/>
                  <a:pt x="54324" y="37967"/>
                  <a:pt x="54324" y="46856"/>
                </a:cubicBezTo>
                <a:cubicBezTo>
                  <a:pt x="54324" y="55746"/>
                  <a:pt x="61541" y="62963"/>
                  <a:pt x="70431" y="62963"/>
                </a:cubicBezTo>
                <a:cubicBezTo>
                  <a:pt x="79320" y="62963"/>
                  <a:pt x="86538" y="55746"/>
                  <a:pt x="86538" y="46856"/>
                </a:cubicBezTo>
                <a:cubicBezTo>
                  <a:pt x="86538" y="37967"/>
                  <a:pt x="79320" y="30749"/>
                  <a:pt x="70431" y="30749"/>
                </a:cubicBezTo>
                <a:close/>
              </a:path>
            </a:pathLst>
          </a:custGeom>
          <a:solidFill>
            <a:srgbClr val="3B82F6"/>
          </a:solidFill>
          <a:ln/>
        </p:spPr>
      </p:sp>
      <p:sp>
        <p:nvSpPr>
          <p:cNvPr id="32" name="Text 30"/>
          <p:cNvSpPr/>
          <p:nvPr/>
        </p:nvSpPr>
        <p:spPr>
          <a:xfrm>
            <a:off x="805928" y="4113980"/>
            <a:ext cx="10908138" cy="262395"/>
          </a:xfrm>
          <a:prstGeom prst="rect">
            <a:avLst/>
          </a:prstGeom>
          <a:noFill/>
          <a:ln/>
        </p:spPr>
        <p:txBody>
          <a:bodyPr wrap="square" lIns="0" tIns="0" rIns="0" bIns="0" rtlCol="0" anchor="ctr"/>
          <a:lstStyle/>
          <a:p>
            <a:pPr>
              <a:lnSpc>
                <a:spcPct val="120000"/>
              </a:lnSpc>
            </a:pPr>
            <a:r>
              <a:rPr lang="en-US" sz="1476" b="1" dirty="0">
                <a:solidFill>
                  <a:srgbClr val="F1F5F9"/>
                </a:solidFill>
                <a:latin typeface="MiSans" pitchFamily="34" charset="0"/>
                <a:ea typeface="MiSans" pitchFamily="34" charset="-122"/>
                <a:cs typeface="MiSans" pitchFamily="34" charset="-120"/>
              </a:rPr>
              <a:t>Các tính năng hỗ trợ kiểm thử</a:t>
            </a:r>
            <a:endParaRPr lang="en-US" sz="1600" dirty="0"/>
          </a:p>
        </p:txBody>
      </p:sp>
      <p:sp>
        <p:nvSpPr>
          <p:cNvPr id="33" name="Shape 31"/>
          <p:cNvSpPr/>
          <p:nvPr/>
        </p:nvSpPr>
        <p:spPr>
          <a:xfrm>
            <a:off x="571646" y="4526315"/>
            <a:ext cx="2652065" cy="1143293"/>
          </a:xfrm>
          <a:custGeom>
            <a:avLst/>
            <a:gdLst/>
            <a:ahLst/>
            <a:cxnLst/>
            <a:rect l="l" t="t" r="r" b="b"/>
            <a:pathLst>
              <a:path w="2652065" h="1143293">
                <a:moveTo>
                  <a:pt x="74966" y="0"/>
                </a:moveTo>
                <a:lnTo>
                  <a:pt x="2577099" y="0"/>
                </a:lnTo>
                <a:cubicBezTo>
                  <a:pt x="2618501" y="0"/>
                  <a:pt x="2652065" y="33563"/>
                  <a:pt x="2652065" y="74966"/>
                </a:cubicBezTo>
                <a:lnTo>
                  <a:pt x="2652065" y="1068327"/>
                </a:lnTo>
                <a:cubicBezTo>
                  <a:pt x="2652065" y="1109730"/>
                  <a:pt x="2618501" y="1143293"/>
                  <a:pt x="2577099" y="1143293"/>
                </a:cubicBezTo>
                <a:lnTo>
                  <a:pt x="74966" y="1143293"/>
                </a:lnTo>
                <a:cubicBezTo>
                  <a:pt x="33563" y="1143293"/>
                  <a:pt x="0" y="1109730"/>
                  <a:pt x="0" y="1068327"/>
                </a:cubicBezTo>
                <a:lnTo>
                  <a:pt x="0" y="74966"/>
                </a:lnTo>
                <a:cubicBezTo>
                  <a:pt x="0" y="33591"/>
                  <a:pt x="33591" y="0"/>
                  <a:pt x="74966" y="0"/>
                </a:cubicBezTo>
                <a:close/>
              </a:path>
            </a:pathLst>
          </a:custGeom>
          <a:solidFill>
            <a:srgbClr val="0F172A"/>
          </a:solidFill>
          <a:ln/>
        </p:spPr>
      </p:sp>
      <p:sp>
        <p:nvSpPr>
          <p:cNvPr id="34" name="Shape 32"/>
          <p:cNvSpPr/>
          <p:nvPr/>
        </p:nvSpPr>
        <p:spPr>
          <a:xfrm>
            <a:off x="1758574" y="4676255"/>
            <a:ext cx="281138" cy="281138"/>
          </a:xfrm>
          <a:custGeom>
            <a:avLst/>
            <a:gdLst/>
            <a:ahLst/>
            <a:cxnLst/>
            <a:rect l="l" t="t" r="r" b="b"/>
            <a:pathLst>
              <a:path w="281138" h="281138">
                <a:moveTo>
                  <a:pt x="188121" y="5162"/>
                </a:moveTo>
                <a:cubicBezTo>
                  <a:pt x="181257" y="-1702"/>
                  <a:pt x="170110" y="-1702"/>
                  <a:pt x="163246" y="5162"/>
                </a:cubicBezTo>
                <a:cubicBezTo>
                  <a:pt x="156383" y="12025"/>
                  <a:pt x="156383" y="23172"/>
                  <a:pt x="163246" y="30036"/>
                </a:cubicBezTo>
                <a:lnTo>
                  <a:pt x="168408" y="35142"/>
                </a:lnTo>
                <a:lnTo>
                  <a:pt x="15430" y="188121"/>
                </a:lnTo>
                <a:cubicBezTo>
                  <a:pt x="5546" y="198004"/>
                  <a:pt x="0" y="211402"/>
                  <a:pt x="0" y="225404"/>
                </a:cubicBezTo>
                <a:lnTo>
                  <a:pt x="0" y="228424"/>
                </a:lnTo>
                <a:cubicBezTo>
                  <a:pt x="0" y="257526"/>
                  <a:pt x="23611" y="281138"/>
                  <a:pt x="52713" y="281138"/>
                </a:cubicBezTo>
                <a:lnTo>
                  <a:pt x="55733" y="281138"/>
                </a:lnTo>
                <a:cubicBezTo>
                  <a:pt x="69735" y="281138"/>
                  <a:pt x="83133" y="275592"/>
                  <a:pt x="93017" y="265708"/>
                </a:cubicBezTo>
                <a:lnTo>
                  <a:pt x="245995" y="112730"/>
                </a:lnTo>
                <a:lnTo>
                  <a:pt x="251157" y="117891"/>
                </a:lnTo>
                <a:cubicBezTo>
                  <a:pt x="258021" y="124755"/>
                  <a:pt x="269167" y="124755"/>
                  <a:pt x="276031" y="117891"/>
                </a:cubicBezTo>
                <a:cubicBezTo>
                  <a:pt x="282895" y="111027"/>
                  <a:pt x="282895" y="99881"/>
                  <a:pt x="276031" y="93017"/>
                </a:cubicBezTo>
                <a:lnTo>
                  <a:pt x="188175" y="5162"/>
                </a:lnTo>
                <a:close/>
                <a:moveTo>
                  <a:pt x="112730" y="140569"/>
                </a:moveTo>
                <a:lnTo>
                  <a:pt x="193282" y="60016"/>
                </a:lnTo>
                <a:lnTo>
                  <a:pt x="221121" y="87855"/>
                </a:lnTo>
                <a:lnTo>
                  <a:pt x="168408" y="140569"/>
                </a:lnTo>
                <a:lnTo>
                  <a:pt x="112675" y="140569"/>
                </a:lnTo>
                <a:close/>
              </a:path>
            </a:pathLst>
          </a:custGeom>
          <a:solidFill>
            <a:srgbClr val="3B82F6"/>
          </a:solidFill>
          <a:ln/>
        </p:spPr>
      </p:sp>
      <p:sp>
        <p:nvSpPr>
          <p:cNvPr id="35" name="Text 33"/>
          <p:cNvSpPr/>
          <p:nvPr/>
        </p:nvSpPr>
        <p:spPr>
          <a:xfrm>
            <a:off x="684101" y="5069848"/>
            <a:ext cx="2427154" cy="224910"/>
          </a:xfrm>
          <a:prstGeom prst="rect">
            <a:avLst/>
          </a:prstGeom>
          <a:noFill/>
          <a:ln/>
        </p:spPr>
        <p:txBody>
          <a:bodyPr wrap="square" lIns="0" tIns="0" rIns="0" bIns="0" rtlCol="0" anchor="ctr"/>
          <a:lstStyle/>
          <a:p>
            <a:pPr algn="ctr">
              <a:lnSpc>
                <a:spcPct val="130000"/>
              </a:lnSpc>
            </a:pPr>
            <a:r>
              <a:rPr lang="en-US" sz="1181" b="1" dirty="0">
                <a:solidFill>
                  <a:srgbClr val="F1F5F9"/>
                </a:solidFill>
                <a:latin typeface="MiSans" pitchFamily="34" charset="0"/>
                <a:ea typeface="MiSans" pitchFamily="34" charset="-122"/>
                <a:cs typeface="MiSans" pitchFamily="34" charset="-120"/>
              </a:rPr>
              <a:t>/tests</a:t>
            </a:r>
            <a:endParaRPr lang="en-US" sz="1600" dirty="0"/>
          </a:p>
        </p:txBody>
      </p:sp>
      <p:sp>
        <p:nvSpPr>
          <p:cNvPr id="36" name="Text 34"/>
          <p:cNvSpPr/>
          <p:nvPr/>
        </p:nvSpPr>
        <p:spPr>
          <a:xfrm>
            <a:off x="688787" y="5332243"/>
            <a:ext cx="2417783" cy="187425"/>
          </a:xfrm>
          <a:prstGeom prst="rect">
            <a:avLst/>
          </a:prstGeom>
          <a:noFill/>
          <a:ln/>
        </p:spPr>
        <p:txBody>
          <a:bodyPr wrap="square" lIns="0" tIns="0" rIns="0" bIns="0" rtlCol="0" anchor="ctr"/>
          <a:lstStyle/>
          <a:p>
            <a:pPr algn="ctr">
              <a:lnSpc>
                <a:spcPct val="120000"/>
              </a:lnSpc>
            </a:pPr>
            <a:r>
              <a:rPr lang="en-US" sz="1033" dirty="0">
                <a:solidFill>
                  <a:srgbClr val="F1F5F9">
                    <a:alpha val="70000"/>
                  </a:srgbClr>
                </a:solidFill>
                <a:latin typeface="MiSans" pitchFamily="34" charset="0"/>
                <a:ea typeface="MiSans" pitchFamily="34" charset="-122"/>
                <a:cs typeface="MiSans" pitchFamily="34" charset="-120"/>
              </a:rPr>
              <a:t>Sinh unit test tự động</a:t>
            </a:r>
            <a:endParaRPr lang="en-US" sz="1600" dirty="0"/>
          </a:p>
        </p:txBody>
      </p:sp>
      <p:sp>
        <p:nvSpPr>
          <p:cNvPr id="37" name="Shape 35"/>
          <p:cNvSpPr/>
          <p:nvPr/>
        </p:nvSpPr>
        <p:spPr>
          <a:xfrm>
            <a:off x="3372040" y="4526315"/>
            <a:ext cx="2652065" cy="1143293"/>
          </a:xfrm>
          <a:custGeom>
            <a:avLst/>
            <a:gdLst/>
            <a:ahLst/>
            <a:cxnLst/>
            <a:rect l="l" t="t" r="r" b="b"/>
            <a:pathLst>
              <a:path w="2652065" h="1143293">
                <a:moveTo>
                  <a:pt x="74966" y="0"/>
                </a:moveTo>
                <a:lnTo>
                  <a:pt x="2577099" y="0"/>
                </a:lnTo>
                <a:cubicBezTo>
                  <a:pt x="2618501" y="0"/>
                  <a:pt x="2652065" y="33563"/>
                  <a:pt x="2652065" y="74966"/>
                </a:cubicBezTo>
                <a:lnTo>
                  <a:pt x="2652065" y="1068327"/>
                </a:lnTo>
                <a:cubicBezTo>
                  <a:pt x="2652065" y="1109730"/>
                  <a:pt x="2618501" y="1143293"/>
                  <a:pt x="2577099" y="1143293"/>
                </a:cubicBezTo>
                <a:lnTo>
                  <a:pt x="74966" y="1143293"/>
                </a:lnTo>
                <a:cubicBezTo>
                  <a:pt x="33563" y="1143293"/>
                  <a:pt x="0" y="1109730"/>
                  <a:pt x="0" y="1068327"/>
                </a:cubicBezTo>
                <a:lnTo>
                  <a:pt x="0" y="74966"/>
                </a:lnTo>
                <a:cubicBezTo>
                  <a:pt x="0" y="33591"/>
                  <a:pt x="33591" y="0"/>
                  <a:pt x="74966" y="0"/>
                </a:cubicBezTo>
                <a:close/>
              </a:path>
            </a:pathLst>
          </a:custGeom>
          <a:solidFill>
            <a:srgbClr val="0F172A"/>
          </a:solidFill>
          <a:ln/>
        </p:spPr>
      </p:sp>
      <p:sp>
        <p:nvSpPr>
          <p:cNvPr id="38" name="Shape 36"/>
          <p:cNvSpPr/>
          <p:nvPr/>
        </p:nvSpPr>
        <p:spPr>
          <a:xfrm>
            <a:off x="4558968" y="4676255"/>
            <a:ext cx="281138" cy="281138"/>
          </a:xfrm>
          <a:custGeom>
            <a:avLst/>
            <a:gdLst/>
            <a:ahLst/>
            <a:cxnLst/>
            <a:rect l="l" t="t" r="r" b="b"/>
            <a:pathLst>
              <a:path w="281138" h="281138">
                <a:moveTo>
                  <a:pt x="140569" y="281138"/>
                </a:moveTo>
                <a:cubicBezTo>
                  <a:pt x="218151" y="281138"/>
                  <a:pt x="281138" y="218151"/>
                  <a:pt x="281138" y="140569"/>
                </a:cubicBezTo>
                <a:cubicBezTo>
                  <a:pt x="281138" y="62987"/>
                  <a:pt x="218151" y="0"/>
                  <a:pt x="140569" y="0"/>
                </a:cubicBezTo>
                <a:cubicBezTo>
                  <a:pt x="62987" y="0"/>
                  <a:pt x="0" y="62987"/>
                  <a:pt x="0" y="140569"/>
                </a:cubicBezTo>
                <a:cubicBezTo>
                  <a:pt x="0" y="218151"/>
                  <a:pt x="62987" y="281138"/>
                  <a:pt x="140569" y="281138"/>
                </a:cubicBezTo>
                <a:close/>
                <a:moveTo>
                  <a:pt x="127390" y="188889"/>
                </a:moveTo>
                <a:lnTo>
                  <a:pt x="127390" y="153747"/>
                </a:lnTo>
                <a:lnTo>
                  <a:pt x="92248" y="153747"/>
                </a:lnTo>
                <a:cubicBezTo>
                  <a:pt x="84945" y="153747"/>
                  <a:pt x="79070" y="147872"/>
                  <a:pt x="79070" y="140569"/>
                </a:cubicBezTo>
                <a:cubicBezTo>
                  <a:pt x="79070" y="133266"/>
                  <a:pt x="84945" y="127390"/>
                  <a:pt x="92248" y="127390"/>
                </a:cubicBezTo>
                <a:lnTo>
                  <a:pt x="127390" y="127390"/>
                </a:lnTo>
                <a:lnTo>
                  <a:pt x="127390" y="92248"/>
                </a:lnTo>
                <a:cubicBezTo>
                  <a:pt x="127390" y="84945"/>
                  <a:pt x="133266" y="79070"/>
                  <a:pt x="140569" y="79070"/>
                </a:cubicBezTo>
                <a:cubicBezTo>
                  <a:pt x="147872" y="79070"/>
                  <a:pt x="153747" y="84945"/>
                  <a:pt x="153747" y="92248"/>
                </a:cubicBezTo>
                <a:lnTo>
                  <a:pt x="153747" y="127390"/>
                </a:lnTo>
                <a:lnTo>
                  <a:pt x="188889" y="127390"/>
                </a:lnTo>
                <a:cubicBezTo>
                  <a:pt x="196192" y="127390"/>
                  <a:pt x="202068" y="133266"/>
                  <a:pt x="202068" y="140569"/>
                </a:cubicBezTo>
                <a:cubicBezTo>
                  <a:pt x="202068" y="147872"/>
                  <a:pt x="196192" y="153747"/>
                  <a:pt x="188889" y="153747"/>
                </a:cubicBezTo>
                <a:lnTo>
                  <a:pt x="153747" y="153747"/>
                </a:lnTo>
                <a:lnTo>
                  <a:pt x="153747" y="188889"/>
                </a:lnTo>
                <a:cubicBezTo>
                  <a:pt x="153747" y="196192"/>
                  <a:pt x="147872" y="202068"/>
                  <a:pt x="140569" y="202068"/>
                </a:cubicBezTo>
                <a:cubicBezTo>
                  <a:pt x="133266" y="202068"/>
                  <a:pt x="127390" y="196192"/>
                  <a:pt x="127390" y="188889"/>
                </a:cubicBezTo>
                <a:close/>
              </a:path>
            </a:pathLst>
          </a:custGeom>
          <a:solidFill>
            <a:srgbClr val="8B5CF6"/>
          </a:solidFill>
          <a:ln/>
        </p:spPr>
      </p:sp>
      <p:sp>
        <p:nvSpPr>
          <p:cNvPr id="39" name="Text 37"/>
          <p:cNvSpPr/>
          <p:nvPr/>
        </p:nvSpPr>
        <p:spPr>
          <a:xfrm>
            <a:off x="3484495" y="5069848"/>
            <a:ext cx="2427154" cy="224910"/>
          </a:xfrm>
          <a:prstGeom prst="rect">
            <a:avLst/>
          </a:prstGeom>
          <a:noFill/>
          <a:ln/>
        </p:spPr>
        <p:txBody>
          <a:bodyPr wrap="square" lIns="0" tIns="0" rIns="0" bIns="0" rtlCol="0" anchor="ctr"/>
          <a:lstStyle/>
          <a:p>
            <a:pPr algn="ctr">
              <a:lnSpc>
                <a:spcPct val="130000"/>
              </a:lnSpc>
            </a:pPr>
            <a:r>
              <a:rPr lang="en-US" sz="1181" b="1" dirty="0">
                <a:solidFill>
                  <a:srgbClr val="F1F5F9"/>
                </a:solidFill>
                <a:latin typeface="MiSans" pitchFamily="34" charset="0"/>
                <a:ea typeface="MiSans" pitchFamily="34" charset="-122"/>
                <a:cs typeface="MiSans" pitchFamily="34" charset="-120"/>
              </a:rPr>
              <a:t>/tests add</a:t>
            </a:r>
            <a:endParaRPr lang="en-US" sz="1600" dirty="0"/>
          </a:p>
        </p:txBody>
      </p:sp>
      <p:sp>
        <p:nvSpPr>
          <p:cNvPr id="40" name="Text 38"/>
          <p:cNvSpPr/>
          <p:nvPr/>
        </p:nvSpPr>
        <p:spPr>
          <a:xfrm>
            <a:off x="3489181" y="5332243"/>
            <a:ext cx="2417783" cy="187425"/>
          </a:xfrm>
          <a:prstGeom prst="rect">
            <a:avLst/>
          </a:prstGeom>
          <a:noFill/>
          <a:ln/>
        </p:spPr>
        <p:txBody>
          <a:bodyPr wrap="square" lIns="0" tIns="0" rIns="0" bIns="0" rtlCol="0" anchor="ctr"/>
          <a:lstStyle/>
          <a:p>
            <a:pPr algn="ctr">
              <a:lnSpc>
                <a:spcPct val="120000"/>
              </a:lnSpc>
            </a:pPr>
            <a:r>
              <a:rPr lang="en-US" sz="1033" dirty="0">
                <a:solidFill>
                  <a:srgbClr val="F1F5F9">
                    <a:alpha val="70000"/>
                  </a:srgbClr>
                </a:solidFill>
                <a:latin typeface="MiSans" pitchFamily="34" charset="0"/>
                <a:ea typeface="MiSans" pitchFamily="34" charset="-122"/>
                <a:cs typeface="MiSans" pitchFamily="34" charset="-120"/>
              </a:rPr>
              <a:t>Thêm edge cases</a:t>
            </a:r>
            <a:endParaRPr lang="en-US" sz="1600" dirty="0"/>
          </a:p>
        </p:txBody>
      </p:sp>
      <p:sp>
        <p:nvSpPr>
          <p:cNvPr id="41" name="Shape 39"/>
          <p:cNvSpPr/>
          <p:nvPr/>
        </p:nvSpPr>
        <p:spPr>
          <a:xfrm>
            <a:off x="6172434" y="4526315"/>
            <a:ext cx="2652065" cy="1143293"/>
          </a:xfrm>
          <a:custGeom>
            <a:avLst/>
            <a:gdLst/>
            <a:ahLst/>
            <a:cxnLst/>
            <a:rect l="l" t="t" r="r" b="b"/>
            <a:pathLst>
              <a:path w="2652065" h="1143293">
                <a:moveTo>
                  <a:pt x="74966" y="0"/>
                </a:moveTo>
                <a:lnTo>
                  <a:pt x="2577099" y="0"/>
                </a:lnTo>
                <a:cubicBezTo>
                  <a:pt x="2618501" y="0"/>
                  <a:pt x="2652065" y="33563"/>
                  <a:pt x="2652065" y="74966"/>
                </a:cubicBezTo>
                <a:lnTo>
                  <a:pt x="2652065" y="1068327"/>
                </a:lnTo>
                <a:cubicBezTo>
                  <a:pt x="2652065" y="1109730"/>
                  <a:pt x="2618501" y="1143293"/>
                  <a:pt x="2577099" y="1143293"/>
                </a:cubicBezTo>
                <a:lnTo>
                  <a:pt x="74966" y="1143293"/>
                </a:lnTo>
                <a:cubicBezTo>
                  <a:pt x="33563" y="1143293"/>
                  <a:pt x="0" y="1109730"/>
                  <a:pt x="0" y="1068327"/>
                </a:cubicBezTo>
                <a:lnTo>
                  <a:pt x="0" y="74966"/>
                </a:lnTo>
                <a:cubicBezTo>
                  <a:pt x="0" y="33591"/>
                  <a:pt x="33591" y="0"/>
                  <a:pt x="74966" y="0"/>
                </a:cubicBezTo>
                <a:close/>
              </a:path>
            </a:pathLst>
          </a:custGeom>
          <a:solidFill>
            <a:srgbClr val="0F172A"/>
          </a:solidFill>
          <a:ln/>
        </p:spPr>
      </p:sp>
      <p:sp>
        <p:nvSpPr>
          <p:cNvPr id="42" name="Shape 40"/>
          <p:cNvSpPr/>
          <p:nvPr/>
        </p:nvSpPr>
        <p:spPr>
          <a:xfrm>
            <a:off x="7359362" y="4676255"/>
            <a:ext cx="281138" cy="281138"/>
          </a:xfrm>
          <a:custGeom>
            <a:avLst/>
            <a:gdLst/>
            <a:ahLst/>
            <a:cxnLst/>
            <a:rect l="l" t="t" r="r" b="b"/>
            <a:pathLst>
              <a:path w="281138" h="281138">
                <a:moveTo>
                  <a:pt x="5162" y="65123"/>
                </a:moveTo>
                <a:cubicBezTo>
                  <a:pt x="-1702" y="58259"/>
                  <a:pt x="-1702" y="47113"/>
                  <a:pt x="5162" y="40249"/>
                </a:cubicBezTo>
                <a:cubicBezTo>
                  <a:pt x="12025" y="33385"/>
                  <a:pt x="23172" y="33385"/>
                  <a:pt x="30036" y="40249"/>
                </a:cubicBezTo>
                <a:lnTo>
                  <a:pt x="117891" y="128104"/>
                </a:lnTo>
                <a:cubicBezTo>
                  <a:pt x="124755" y="134968"/>
                  <a:pt x="124755" y="146115"/>
                  <a:pt x="117891" y="152978"/>
                </a:cubicBezTo>
                <a:lnTo>
                  <a:pt x="30036" y="240834"/>
                </a:lnTo>
                <a:cubicBezTo>
                  <a:pt x="23172" y="247698"/>
                  <a:pt x="12025" y="247698"/>
                  <a:pt x="5162" y="240834"/>
                </a:cubicBezTo>
                <a:cubicBezTo>
                  <a:pt x="-1702" y="233970"/>
                  <a:pt x="-1702" y="222824"/>
                  <a:pt x="5162" y="215960"/>
                </a:cubicBezTo>
                <a:lnTo>
                  <a:pt x="80553" y="140569"/>
                </a:lnTo>
                <a:lnTo>
                  <a:pt x="5162" y="65123"/>
                </a:lnTo>
                <a:close/>
                <a:moveTo>
                  <a:pt x="122998" y="210853"/>
                </a:moveTo>
                <a:lnTo>
                  <a:pt x="263566" y="210853"/>
                </a:lnTo>
                <a:cubicBezTo>
                  <a:pt x="273286" y="210853"/>
                  <a:pt x="281138" y="218705"/>
                  <a:pt x="281138" y="228424"/>
                </a:cubicBezTo>
                <a:cubicBezTo>
                  <a:pt x="281138" y="238143"/>
                  <a:pt x="273286" y="245995"/>
                  <a:pt x="263566" y="245995"/>
                </a:cubicBezTo>
                <a:lnTo>
                  <a:pt x="122998" y="245995"/>
                </a:lnTo>
                <a:cubicBezTo>
                  <a:pt x="113279" y="245995"/>
                  <a:pt x="105427" y="238143"/>
                  <a:pt x="105427" y="228424"/>
                </a:cubicBezTo>
                <a:cubicBezTo>
                  <a:pt x="105427" y="218705"/>
                  <a:pt x="113279" y="210853"/>
                  <a:pt x="122998" y="210853"/>
                </a:cubicBezTo>
                <a:close/>
              </a:path>
            </a:pathLst>
          </a:custGeom>
          <a:solidFill>
            <a:srgbClr val="10B981"/>
          </a:solidFill>
          <a:ln/>
        </p:spPr>
      </p:sp>
      <p:sp>
        <p:nvSpPr>
          <p:cNvPr id="43" name="Text 41"/>
          <p:cNvSpPr/>
          <p:nvPr/>
        </p:nvSpPr>
        <p:spPr>
          <a:xfrm>
            <a:off x="6284889" y="5069848"/>
            <a:ext cx="2427154" cy="224910"/>
          </a:xfrm>
          <a:prstGeom prst="rect">
            <a:avLst/>
          </a:prstGeom>
          <a:noFill/>
          <a:ln/>
        </p:spPr>
        <p:txBody>
          <a:bodyPr wrap="square" lIns="0" tIns="0" rIns="0" bIns="0" rtlCol="0" anchor="ctr"/>
          <a:lstStyle/>
          <a:p>
            <a:pPr algn="ctr">
              <a:lnSpc>
                <a:spcPct val="130000"/>
              </a:lnSpc>
            </a:pPr>
            <a:r>
              <a:rPr lang="en-US" sz="1181" b="1" dirty="0">
                <a:solidFill>
                  <a:srgbClr val="F1F5F9"/>
                </a:solidFill>
                <a:latin typeface="MiSans" pitchFamily="34" charset="0"/>
                <a:ea typeface="MiSans" pitchFamily="34" charset="-122"/>
                <a:cs typeface="MiSans" pitchFamily="34" charset="-120"/>
              </a:rPr>
              <a:t>/fix</a:t>
            </a:r>
            <a:endParaRPr lang="en-US" sz="1600" dirty="0"/>
          </a:p>
        </p:txBody>
      </p:sp>
      <p:sp>
        <p:nvSpPr>
          <p:cNvPr id="44" name="Text 42"/>
          <p:cNvSpPr/>
          <p:nvPr/>
        </p:nvSpPr>
        <p:spPr>
          <a:xfrm>
            <a:off x="6289575" y="5332243"/>
            <a:ext cx="2417783" cy="187425"/>
          </a:xfrm>
          <a:prstGeom prst="rect">
            <a:avLst/>
          </a:prstGeom>
          <a:noFill/>
          <a:ln/>
        </p:spPr>
        <p:txBody>
          <a:bodyPr wrap="square" lIns="0" tIns="0" rIns="0" bIns="0" rtlCol="0" anchor="ctr"/>
          <a:lstStyle/>
          <a:p>
            <a:pPr algn="ctr">
              <a:lnSpc>
                <a:spcPct val="120000"/>
              </a:lnSpc>
            </a:pPr>
            <a:r>
              <a:rPr lang="en-US" sz="1033" dirty="0">
                <a:solidFill>
                  <a:srgbClr val="F1F5F9">
                    <a:alpha val="70000"/>
                  </a:srgbClr>
                </a:solidFill>
                <a:latin typeface="MiSans" pitchFamily="34" charset="0"/>
                <a:ea typeface="MiSans" pitchFamily="34" charset="-122"/>
                <a:cs typeface="MiSans" pitchFamily="34" charset="-120"/>
              </a:rPr>
              <a:t>Sửa code theo lỗi test</a:t>
            </a:r>
            <a:endParaRPr lang="en-US" sz="1600" dirty="0"/>
          </a:p>
        </p:txBody>
      </p:sp>
      <p:sp>
        <p:nvSpPr>
          <p:cNvPr id="45" name="Shape 43"/>
          <p:cNvSpPr/>
          <p:nvPr/>
        </p:nvSpPr>
        <p:spPr>
          <a:xfrm>
            <a:off x="8972828" y="4526315"/>
            <a:ext cx="2652065" cy="1143293"/>
          </a:xfrm>
          <a:custGeom>
            <a:avLst/>
            <a:gdLst/>
            <a:ahLst/>
            <a:cxnLst/>
            <a:rect l="l" t="t" r="r" b="b"/>
            <a:pathLst>
              <a:path w="2652065" h="1143293">
                <a:moveTo>
                  <a:pt x="74966" y="0"/>
                </a:moveTo>
                <a:lnTo>
                  <a:pt x="2577099" y="0"/>
                </a:lnTo>
                <a:cubicBezTo>
                  <a:pt x="2618501" y="0"/>
                  <a:pt x="2652065" y="33563"/>
                  <a:pt x="2652065" y="74966"/>
                </a:cubicBezTo>
                <a:lnTo>
                  <a:pt x="2652065" y="1068327"/>
                </a:lnTo>
                <a:cubicBezTo>
                  <a:pt x="2652065" y="1109730"/>
                  <a:pt x="2618501" y="1143293"/>
                  <a:pt x="2577099" y="1143293"/>
                </a:cubicBezTo>
                <a:lnTo>
                  <a:pt x="74966" y="1143293"/>
                </a:lnTo>
                <a:cubicBezTo>
                  <a:pt x="33563" y="1143293"/>
                  <a:pt x="0" y="1109730"/>
                  <a:pt x="0" y="1068327"/>
                </a:cubicBezTo>
                <a:lnTo>
                  <a:pt x="0" y="74966"/>
                </a:lnTo>
                <a:cubicBezTo>
                  <a:pt x="0" y="33591"/>
                  <a:pt x="33591" y="0"/>
                  <a:pt x="74966" y="0"/>
                </a:cubicBezTo>
                <a:close/>
              </a:path>
            </a:pathLst>
          </a:custGeom>
          <a:solidFill>
            <a:srgbClr val="0F172A"/>
          </a:solidFill>
          <a:ln/>
        </p:spPr>
      </p:sp>
      <p:sp>
        <p:nvSpPr>
          <p:cNvPr id="46" name="Shape 44"/>
          <p:cNvSpPr/>
          <p:nvPr/>
        </p:nvSpPr>
        <p:spPr>
          <a:xfrm>
            <a:off x="10177473" y="4676255"/>
            <a:ext cx="245995" cy="281138"/>
          </a:xfrm>
          <a:custGeom>
            <a:avLst/>
            <a:gdLst/>
            <a:ahLst/>
            <a:cxnLst/>
            <a:rect l="l" t="t" r="r" b="b"/>
            <a:pathLst>
              <a:path w="245995" h="281138">
                <a:moveTo>
                  <a:pt x="140569" y="87855"/>
                </a:moveTo>
                <a:lnTo>
                  <a:pt x="140569" y="140569"/>
                </a:lnTo>
                <a:lnTo>
                  <a:pt x="210853" y="140569"/>
                </a:lnTo>
                <a:lnTo>
                  <a:pt x="210853" y="87855"/>
                </a:lnTo>
                <a:lnTo>
                  <a:pt x="140569" y="87855"/>
                </a:lnTo>
                <a:close/>
                <a:moveTo>
                  <a:pt x="105427" y="87855"/>
                </a:moveTo>
                <a:lnTo>
                  <a:pt x="35142" y="87855"/>
                </a:lnTo>
                <a:lnTo>
                  <a:pt x="35142" y="140569"/>
                </a:lnTo>
                <a:lnTo>
                  <a:pt x="105427" y="140569"/>
                </a:lnTo>
                <a:lnTo>
                  <a:pt x="105427" y="87855"/>
                </a:lnTo>
                <a:close/>
                <a:moveTo>
                  <a:pt x="0" y="175711"/>
                </a:moveTo>
                <a:lnTo>
                  <a:pt x="0" y="52713"/>
                </a:lnTo>
                <a:cubicBezTo>
                  <a:pt x="0" y="33330"/>
                  <a:pt x="15759" y="17571"/>
                  <a:pt x="35142" y="17571"/>
                </a:cubicBezTo>
                <a:lnTo>
                  <a:pt x="210853" y="17571"/>
                </a:lnTo>
                <a:cubicBezTo>
                  <a:pt x="230236" y="17571"/>
                  <a:pt x="245995" y="33330"/>
                  <a:pt x="245995" y="52713"/>
                </a:cubicBezTo>
                <a:lnTo>
                  <a:pt x="245995" y="228424"/>
                </a:lnTo>
                <a:cubicBezTo>
                  <a:pt x="245995" y="247807"/>
                  <a:pt x="230236" y="263566"/>
                  <a:pt x="210853" y="263566"/>
                </a:cubicBezTo>
                <a:lnTo>
                  <a:pt x="35142" y="263566"/>
                </a:lnTo>
                <a:cubicBezTo>
                  <a:pt x="15759" y="263566"/>
                  <a:pt x="0" y="247807"/>
                  <a:pt x="0" y="228424"/>
                </a:cubicBezTo>
                <a:lnTo>
                  <a:pt x="0" y="175711"/>
                </a:lnTo>
                <a:close/>
                <a:moveTo>
                  <a:pt x="210853" y="175711"/>
                </a:moveTo>
                <a:lnTo>
                  <a:pt x="140569" y="175711"/>
                </a:lnTo>
                <a:lnTo>
                  <a:pt x="140569" y="228424"/>
                </a:lnTo>
                <a:lnTo>
                  <a:pt x="210853" y="228424"/>
                </a:lnTo>
                <a:lnTo>
                  <a:pt x="210853" y="175711"/>
                </a:lnTo>
                <a:close/>
                <a:moveTo>
                  <a:pt x="105427" y="228424"/>
                </a:moveTo>
                <a:lnTo>
                  <a:pt x="105427" y="175711"/>
                </a:lnTo>
                <a:lnTo>
                  <a:pt x="35142" y="175711"/>
                </a:lnTo>
                <a:lnTo>
                  <a:pt x="35142" y="228424"/>
                </a:lnTo>
                <a:lnTo>
                  <a:pt x="105427" y="228424"/>
                </a:lnTo>
                <a:close/>
              </a:path>
            </a:pathLst>
          </a:custGeom>
          <a:solidFill>
            <a:srgbClr val="F59E0B"/>
          </a:solidFill>
          <a:ln/>
        </p:spPr>
      </p:sp>
      <p:sp>
        <p:nvSpPr>
          <p:cNvPr id="47" name="Text 45"/>
          <p:cNvSpPr/>
          <p:nvPr/>
        </p:nvSpPr>
        <p:spPr>
          <a:xfrm>
            <a:off x="9085283" y="5069848"/>
            <a:ext cx="2427154" cy="224910"/>
          </a:xfrm>
          <a:prstGeom prst="rect">
            <a:avLst/>
          </a:prstGeom>
          <a:noFill/>
          <a:ln/>
        </p:spPr>
        <p:txBody>
          <a:bodyPr wrap="square" lIns="0" tIns="0" rIns="0" bIns="0" rtlCol="0" anchor="ctr"/>
          <a:lstStyle/>
          <a:p>
            <a:pPr algn="ctr">
              <a:lnSpc>
                <a:spcPct val="130000"/>
              </a:lnSpc>
            </a:pPr>
            <a:r>
              <a:rPr lang="en-US" sz="1181" b="1" dirty="0">
                <a:solidFill>
                  <a:srgbClr val="F1F5F9"/>
                </a:solidFill>
                <a:latin typeface="MiSans" pitchFamily="34" charset="0"/>
                <a:ea typeface="MiSans" pitchFamily="34" charset="-122"/>
                <a:cs typeface="MiSans" pitchFamily="34" charset="-120"/>
              </a:rPr>
              <a:t>create table</a:t>
            </a:r>
            <a:endParaRPr lang="en-US" sz="1600" dirty="0"/>
          </a:p>
        </p:txBody>
      </p:sp>
      <p:sp>
        <p:nvSpPr>
          <p:cNvPr id="48" name="Text 46"/>
          <p:cNvSpPr/>
          <p:nvPr/>
        </p:nvSpPr>
        <p:spPr>
          <a:xfrm>
            <a:off x="9089969" y="5332243"/>
            <a:ext cx="2417783" cy="187425"/>
          </a:xfrm>
          <a:prstGeom prst="rect">
            <a:avLst/>
          </a:prstGeom>
          <a:noFill/>
          <a:ln/>
        </p:spPr>
        <p:txBody>
          <a:bodyPr wrap="square" lIns="0" tIns="0" rIns="0" bIns="0" rtlCol="0" anchor="ctr"/>
          <a:lstStyle/>
          <a:p>
            <a:pPr algn="ctr">
              <a:lnSpc>
                <a:spcPct val="120000"/>
              </a:lnSpc>
            </a:pPr>
            <a:r>
              <a:rPr lang="en-US" sz="1033" dirty="0">
                <a:solidFill>
                  <a:srgbClr val="F1F5F9">
                    <a:alpha val="70000"/>
                  </a:srgbClr>
                </a:solidFill>
                <a:latin typeface="MiSans" pitchFamily="34" charset="0"/>
                <a:ea typeface="MiSans" pitchFamily="34" charset="-122"/>
                <a:cs typeface="MiSans" pitchFamily="34" charset="-120"/>
              </a:rPr>
              <a:t>Sinh mock data</a:t>
            </a:r>
            <a:endParaRPr lang="en-US" sz="1600" dirty="0"/>
          </a:p>
        </p:txBody>
      </p:sp>
      <p:sp>
        <p:nvSpPr>
          <p:cNvPr id="49" name="Shape 47"/>
          <p:cNvSpPr/>
          <p:nvPr/>
        </p:nvSpPr>
        <p:spPr>
          <a:xfrm>
            <a:off x="379536" y="6021030"/>
            <a:ext cx="11432929" cy="834042"/>
          </a:xfrm>
          <a:custGeom>
            <a:avLst/>
            <a:gdLst/>
            <a:ahLst/>
            <a:cxnLst/>
            <a:rect l="l" t="t" r="r" b="b"/>
            <a:pathLst>
              <a:path w="11432929" h="834042">
                <a:moveTo>
                  <a:pt x="112454" y="0"/>
                </a:moveTo>
                <a:lnTo>
                  <a:pt x="11320475" y="0"/>
                </a:lnTo>
                <a:cubicBezTo>
                  <a:pt x="11382581" y="0"/>
                  <a:pt x="11432929" y="50347"/>
                  <a:pt x="11432929" y="112454"/>
                </a:cubicBezTo>
                <a:lnTo>
                  <a:pt x="11432929" y="721588"/>
                </a:lnTo>
                <a:cubicBezTo>
                  <a:pt x="11432929" y="783694"/>
                  <a:pt x="11382581" y="834042"/>
                  <a:pt x="11320475" y="834042"/>
                </a:cubicBezTo>
                <a:lnTo>
                  <a:pt x="112454" y="834042"/>
                </a:lnTo>
                <a:cubicBezTo>
                  <a:pt x="50389" y="834042"/>
                  <a:pt x="0" y="783653"/>
                  <a:pt x="0" y="721588"/>
                </a:cubicBezTo>
                <a:lnTo>
                  <a:pt x="0" y="112454"/>
                </a:lnTo>
                <a:cubicBezTo>
                  <a:pt x="0" y="50347"/>
                  <a:pt x="50347" y="0"/>
                  <a:pt x="112454" y="0"/>
                </a:cubicBezTo>
                <a:close/>
              </a:path>
            </a:pathLst>
          </a:custGeom>
          <a:solidFill>
            <a:srgbClr val="0F172A"/>
          </a:solidFill>
          <a:ln w="12700">
            <a:solidFill>
              <a:srgbClr val="10B981">
                <a:alpha val="30196"/>
              </a:srgbClr>
            </a:solidFill>
            <a:prstDash val="solid"/>
          </a:ln>
        </p:spPr>
      </p:sp>
      <p:sp>
        <p:nvSpPr>
          <p:cNvPr id="50" name="Shape 48"/>
          <p:cNvSpPr/>
          <p:nvPr/>
        </p:nvSpPr>
        <p:spPr>
          <a:xfrm>
            <a:off x="611474" y="6231883"/>
            <a:ext cx="126512" cy="168683"/>
          </a:xfrm>
          <a:custGeom>
            <a:avLst/>
            <a:gdLst/>
            <a:ahLst/>
            <a:cxnLst/>
            <a:rect l="l" t="t" r="r" b="b"/>
            <a:pathLst>
              <a:path w="126512" h="168683">
                <a:moveTo>
                  <a:pt x="96498" y="126512"/>
                </a:moveTo>
                <a:cubicBezTo>
                  <a:pt x="98903" y="119165"/>
                  <a:pt x="103713" y="112510"/>
                  <a:pt x="109149" y="106777"/>
                </a:cubicBezTo>
                <a:cubicBezTo>
                  <a:pt x="119923" y="95444"/>
                  <a:pt x="126512" y="80124"/>
                  <a:pt x="126512" y="63256"/>
                </a:cubicBezTo>
                <a:cubicBezTo>
                  <a:pt x="126512" y="28333"/>
                  <a:pt x="98179" y="0"/>
                  <a:pt x="63256" y="0"/>
                </a:cubicBezTo>
                <a:cubicBezTo>
                  <a:pt x="28333" y="0"/>
                  <a:pt x="0" y="28333"/>
                  <a:pt x="0" y="63256"/>
                </a:cubicBezTo>
                <a:cubicBezTo>
                  <a:pt x="0" y="80124"/>
                  <a:pt x="6589" y="95444"/>
                  <a:pt x="17362" y="106777"/>
                </a:cubicBezTo>
                <a:cubicBezTo>
                  <a:pt x="22799" y="112510"/>
                  <a:pt x="27642" y="119165"/>
                  <a:pt x="30014" y="126512"/>
                </a:cubicBezTo>
                <a:lnTo>
                  <a:pt x="96465" y="126512"/>
                </a:lnTo>
                <a:close/>
                <a:moveTo>
                  <a:pt x="94884" y="142326"/>
                </a:moveTo>
                <a:lnTo>
                  <a:pt x="31628" y="142326"/>
                </a:lnTo>
                <a:lnTo>
                  <a:pt x="31628" y="147597"/>
                </a:lnTo>
                <a:cubicBezTo>
                  <a:pt x="31628" y="162159"/>
                  <a:pt x="43423" y="173954"/>
                  <a:pt x="57985" y="173954"/>
                </a:cubicBezTo>
                <a:lnTo>
                  <a:pt x="68527" y="173954"/>
                </a:lnTo>
                <a:cubicBezTo>
                  <a:pt x="83089" y="173954"/>
                  <a:pt x="94884" y="162159"/>
                  <a:pt x="94884" y="147597"/>
                </a:cubicBezTo>
                <a:lnTo>
                  <a:pt x="94884" y="142326"/>
                </a:lnTo>
                <a:close/>
                <a:moveTo>
                  <a:pt x="60620" y="36899"/>
                </a:moveTo>
                <a:cubicBezTo>
                  <a:pt x="47508" y="36899"/>
                  <a:pt x="36899" y="47508"/>
                  <a:pt x="36899" y="60620"/>
                </a:cubicBezTo>
                <a:cubicBezTo>
                  <a:pt x="36899" y="65002"/>
                  <a:pt x="33374" y="68527"/>
                  <a:pt x="28992" y="68527"/>
                </a:cubicBezTo>
                <a:cubicBezTo>
                  <a:pt x="24611" y="68527"/>
                  <a:pt x="21085" y="65002"/>
                  <a:pt x="21085" y="60620"/>
                </a:cubicBezTo>
                <a:cubicBezTo>
                  <a:pt x="21085" y="38777"/>
                  <a:pt x="38777" y="21085"/>
                  <a:pt x="60620" y="21085"/>
                </a:cubicBezTo>
                <a:cubicBezTo>
                  <a:pt x="65002" y="21085"/>
                  <a:pt x="68527" y="24611"/>
                  <a:pt x="68527" y="28992"/>
                </a:cubicBezTo>
                <a:cubicBezTo>
                  <a:pt x="68527" y="33374"/>
                  <a:pt x="65002" y="36899"/>
                  <a:pt x="60620" y="36899"/>
                </a:cubicBezTo>
                <a:close/>
              </a:path>
            </a:pathLst>
          </a:custGeom>
          <a:solidFill>
            <a:srgbClr val="10B981"/>
          </a:solidFill>
          <a:ln/>
        </p:spPr>
      </p:sp>
      <p:sp>
        <p:nvSpPr>
          <p:cNvPr id="51" name="Text 49"/>
          <p:cNvSpPr/>
          <p:nvPr/>
        </p:nvSpPr>
        <p:spPr>
          <a:xfrm>
            <a:off x="762850" y="6175656"/>
            <a:ext cx="10937160" cy="524790"/>
          </a:xfrm>
          <a:prstGeom prst="rect">
            <a:avLst/>
          </a:prstGeom>
          <a:noFill/>
          <a:ln/>
        </p:spPr>
        <p:txBody>
          <a:bodyPr wrap="square" lIns="0" tIns="0" rIns="0" bIns="0" rtlCol="0" anchor="ctr"/>
          <a:lstStyle/>
          <a:p>
            <a:pPr algn="ctr">
              <a:lnSpc>
                <a:spcPct val="130000"/>
              </a:lnSpc>
            </a:pPr>
            <a:r>
              <a:rPr lang="en-US" sz="1328" b="1" dirty="0">
                <a:solidFill>
                  <a:srgbClr val="10B981"/>
                </a:solidFill>
                <a:latin typeface="MiSans" pitchFamily="34" charset="0"/>
                <a:ea typeface="MiSans" pitchFamily="34" charset="-122"/>
                <a:cs typeface="MiSans" pitchFamily="34" charset="-120"/>
              </a:rPr>
              <a:t>Giá trị cốt lõi:</a:t>
            </a:r>
            <a:pPr algn="ctr">
              <a:lnSpc>
                <a:spcPct val="130000"/>
              </a:lnSpc>
            </a:pPr>
            <a:r>
              <a:rPr lang="en-US" sz="1328" dirty="0">
                <a:solidFill>
                  <a:srgbClr val="F1F5F9">
                    <a:alpha val="90000"/>
                  </a:srgbClr>
                </a:solidFill>
                <a:latin typeface="MiSans" pitchFamily="34" charset="0"/>
                <a:ea typeface="MiSans" pitchFamily="34" charset="-122"/>
                <a:cs typeface="MiSans" pitchFamily="34" charset="-120"/>
              </a:rPr>
              <a:t> GenAI không chỉ là công cụ hỗ trợ viết mã mà còn là một "trợ lý kiểm thử" đắc lực, giúp giải quyết triệt để rào cản thờigian khi viết Unit Test.</a:t>
            </a:r>
            <a:endParaRPr lang="en-US" sz="16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0" y="26789"/>
                </a:moveTo>
                <a:cubicBezTo>
                  <a:pt x="0" y="17915"/>
                  <a:pt x="7200" y="10716"/>
                  <a:pt x="16073" y="10716"/>
                </a:cubicBezTo>
                <a:lnTo>
                  <a:pt x="48220" y="10716"/>
                </a:lnTo>
                <a:cubicBezTo>
                  <a:pt x="57094" y="10716"/>
                  <a:pt x="64294" y="17915"/>
                  <a:pt x="64294" y="26789"/>
                </a:cubicBezTo>
                <a:lnTo>
                  <a:pt x="64294" y="32147"/>
                </a:lnTo>
                <a:lnTo>
                  <a:pt x="107156" y="32147"/>
                </a:lnTo>
                <a:lnTo>
                  <a:pt x="107156" y="26789"/>
                </a:lnTo>
                <a:cubicBezTo>
                  <a:pt x="107156" y="17915"/>
                  <a:pt x="114356" y="10716"/>
                  <a:pt x="123230" y="10716"/>
                </a:cubicBezTo>
                <a:lnTo>
                  <a:pt x="155377" y="10716"/>
                </a:lnTo>
                <a:cubicBezTo>
                  <a:pt x="164250" y="10716"/>
                  <a:pt x="171450" y="17915"/>
                  <a:pt x="171450" y="26789"/>
                </a:cubicBezTo>
                <a:lnTo>
                  <a:pt x="171450" y="58936"/>
                </a:lnTo>
                <a:cubicBezTo>
                  <a:pt x="171450" y="67810"/>
                  <a:pt x="164250" y="75009"/>
                  <a:pt x="155377" y="75009"/>
                </a:cubicBezTo>
                <a:lnTo>
                  <a:pt x="123230" y="75009"/>
                </a:lnTo>
                <a:cubicBezTo>
                  <a:pt x="114356" y="75009"/>
                  <a:pt x="107156" y="67810"/>
                  <a:pt x="107156" y="58936"/>
                </a:cubicBezTo>
                <a:lnTo>
                  <a:pt x="107156" y="53578"/>
                </a:lnTo>
                <a:lnTo>
                  <a:pt x="64294" y="53578"/>
                </a:lnTo>
                <a:lnTo>
                  <a:pt x="64294" y="58936"/>
                </a:lnTo>
                <a:cubicBezTo>
                  <a:pt x="64294" y="61380"/>
                  <a:pt x="63724" y="63724"/>
                  <a:pt x="62753" y="65801"/>
                </a:cubicBezTo>
                <a:lnTo>
                  <a:pt x="85725" y="96441"/>
                </a:lnTo>
                <a:lnTo>
                  <a:pt x="112514" y="96441"/>
                </a:lnTo>
                <a:cubicBezTo>
                  <a:pt x="121388" y="96441"/>
                  <a:pt x="128588" y="103640"/>
                  <a:pt x="128588" y="112514"/>
                </a:cubicBezTo>
                <a:lnTo>
                  <a:pt x="128588" y="144661"/>
                </a:lnTo>
                <a:cubicBezTo>
                  <a:pt x="128588" y="153535"/>
                  <a:pt x="121388" y="160734"/>
                  <a:pt x="112514" y="160734"/>
                </a:cubicBezTo>
                <a:lnTo>
                  <a:pt x="80367" y="160734"/>
                </a:lnTo>
                <a:cubicBezTo>
                  <a:pt x="71493" y="160734"/>
                  <a:pt x="64294" y="153535"/>
                  <a:pt x="64294" y="144661"/>
                </a:cubicBezTo>
                <a:lnTo>
                  <a:pt x="64294" y="112514"/>
                </a:lnTo>
                <a:cubicBezTo>
                  <a:pt x="64294" y="110070"/>
                  <a:pt x="64863" y="107726"/>
                  <a:pt x="65834" y="105649"/>
                </a:cubicBezTo>
                <a:lnTo>
                  <a:pt x="42863" y="75009"/>
                </a:lnTo>
                <a:lnTo>
                  <a:pt x="16073" y="75009"/>
                </a:lnTo>
                <a:cubicBezTo>
                  <a:pt x="7200" y="75009"/>
                  <a:pt x="0" y="67810"/>
                  <a:pt x="0" y="58936"/>
                </a:cubicBezTo>
                <a:lnTo>
                  <a:pt x="0" y="26789"/>
                </a:lnTo>
                <a:close/>
              </a:path>
            </a:pathLst>
          </a:custGeom>
          <a:solidFill>
            <a:srgbClr val="FFFFFF"/>
          </a:solidFill>
          <a:ln/>
        </p:spPr>
      </p:sp>
      <p:sp>
        <p:nvSpPr>
          <p:cNvPr id="4" name="Text 2"/>
          <p:cNvSpPr/>
          <p:nvPr/>
        </p:nvSpPr>
        <p:spPr>
          <a:xfrm>
            <a:off x="876300" y="381000"/>
            <a:ext cx="8229600"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13 | MỨC LUẬN LÝ</a:t>
            </a:r>
            <a:endParaRPr lang="en-US" sz="1600" dirty="0"/>
          </a:p>
        </p:txBody>
      </p:sp>
      <p:sp>
        <p:nvSpPr>
          <p:cNvPr id="5" name="Text 3"/>
          <p:cNvSpPr/>
          <p:nvPr/>
        </p:nvSpPr>
        <p:spPr>
          <a:xfrm>
            <a:off x="876300" y="571500"/>
            <a:ext cx="83058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Luồng tự động hóa sinh kiểm thử (Standard Testing Workflow)</a:t>
            </a:r>
            <a:endParaRPr lang="en-US" sz="1600" dirty="0"/>
          </a:p>
        </p:txBody>
      </p:sp>
      <p:sp>
        <p:nvSpPr>
          <p:cNvPr id="6" name="Shape 4"/>
          <p:cNvSpPr/>
          <p:nvPr/>
        </p:nvSpPr>
        <p:spPr>
          <a:xfrm>
            <a:off x="385763" y="1147763"/>
            <a:ext cx="11420475" cy="2600325"/>
          </a:xfrm>
          <a:custGeom>
            <a:avLst/>
            <a:gdLst/>
            <a:ahLst/>
            <a:cxnLst/>
            <a:rect l="l" t="t" r="r" b="b"/>
            <a:pathLst>
              <a:path w="11420475" h="2600325">
                <a:moveTo>
                  <a:pt x="114310" y="0"/>
                </a:moveTo>
                <a:lnTo>
                  <a:pt x="11306165" y="0"/>
                </a:lnTo>
                <a:cubicBezTo>
                  <a:pt x="11369297" y="0"/>
                  <a:pt x="11420475" y="51178"/>
                  <a:pt x="11420475" y="114310"/>
                </a:cubicBezTo>
                <a:lnTo>
                  <a:pt x="11420475" y="2486015"/>
                </a:lnTo>
                <a:cubicBezTo>
                  <a:pt x="11420475" y="2549147"/>
                  <a:pt x="11369297" y="2600325"/>
                  <a:pt x="11306165" y="2600325"/>
                </a:cubicBezTo>
                <a:lnTo>
                  <a:pt x="114310" y="2600325"/>
                </a:lnTo>
                <a:cubicBezTo>
                  <a:pt x="51178" y="2600325"/>
                  <a:pt x="0" y="2549147"/>
                  <a:pt x="0" y="2486015"/>
                </a:cubicBezTo>
                <a:lnTo>
                  <a:pt x="0" y="114310"/>
                </a:lnTo>
                <a:cubicBezTo>
                  <a:pt x="0" y="51221"/>
                  <a:pt x="51221" y="0"/>
                  <a:pt x="114310"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1000125" y="1512094"/>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3B82F6"/>
              </a:gs>
              <a:gs pos="100000">
                <a:srgbClr val="3B82F6">
                  <a:alpha val="70000"/>
                </a:srgbClr>
              </a:gs>
            </a:gsLst>
            <a:lin ang="2700000" scaled="1"/>
          </a:gradFill>
          <a:ln/>
          <a:effectLst>
            <a:outerShdw sx="100000" sy="100000" kx="0" ky="0" algn="bl" rotWithShape="0" blurRad="101600" dist="50800" dir="2700000">
              <a:srgbClr val="ffffff">
                <a:alpha val="75000"/>
              </a:srgbClr>
            </a:outerShdw>
          </a:effectLst>
        </p:spPr>
      </p:sp>
      <p:sp>
        <p:nvSpPr>
          <p:cNvPr id="8" name="Shape 6"/>
          <p:cNvSpPr/>
          <p:nvPr/>
        </p:nvSpPr>
        <p:spPr>
          <a:xfrm>
            <a:off x="1222772" y="1750219"/>
            <a:ext cx="321469" cy="285750"/>
          </a:xfrm>
          <a:custGeom>
            <a:avLst/>
            <a:gdLst/>
            <a:ahLst/>
            <a:cxnLst/>
            <a:rect l="l" t="t" r="r" b="b"/>
            <a:pathLst>
              <a:path w="321469" h="285750">
                <a:moveTo>
                  <a:pt x="201364" y="670"/>
                </a:moveTo>
                <a:cubicBezTo>
                  <a:pt x="191877" y="-2065"/>
                  <a:pt x="181998" y="3460"/>
                  <a:pt x="179263" y="12948"/>
                </a:cubicBezTo>
                <a:lnTo>
                  <a:pt x="107826" y="262979"/>
                </a:lnTo>
                <a:cubicBezTo>
                  <a:pt x="105091" y="272467"/>
                  <a:pt x="110617" y="282346"/>
                  <a:pt x="120104" y="285080"/>
                </a:cubicBezTo>
                <a:cubicBezTo>
                  <a:pt x="129592" y="287815"/>
                  <a:pt x="139471" y="282290"/>
                  <a:pt x="142205" y="272802"/>
                </a:cubicBezTo>
                <a:lnTo>
                  <a:pt x="213643" y="22771"/>
                </a:lnTo>
                <a:cubicBezTo>
                  <a:pt x="216377" y="13283"/>
                  <a:pt x="210852" y="3404"/>
                  <a:pt x="201364" y="670"/>
                </a:cubicBezTo>
                <a:close/>
                <a:moveTo>
                  <a:pt x="237418" y="76628"/>
                </a:moveTo>
                <a:cubicBezTo>
                  <a:pt x="230442" y="83604"/>
                  <a:pt x="230442" y="94934"/>
                  <a:pt x="237418" y="101910"/>
                </a:cubicBezTo>
                <a:lnTo>
                  <a:pt x="278383" y="142875"/>
                </a:lnTo>
                <a:lnTo>
                  <a:pt x="237418" y="183840"/>
                </a:lnTo>
                <a:cubicBezTo>
                  <a:pt x="230442" y="190816"/>
                  <a:pt x="230442" y="202146"/>
                  <a:pt x="237418" y="209122"/>
                </a:cubicBezTo>
                <a:cubicBezTo>
                  <a:pt x="244394" y="216098"/>
                  <a:pt x="255724" y="216098"/>
                  <a:pt x="262700" y="209122"/>
                </a:cubicBezTo>
                <a:lnTo>
                  <a:pt x="316278" y="155544"/>
                </a:lnTo>
                <a:cubicBezTo>
                  <a:pt x="323255" y="148568"/>
                  <a:pt x="323255" y="137238"/>
                  <a:pt x="316278" y="130262"/>
                </a:cubicBezTo>
                <a:lnTo>
                  <a:pt x="262700" y="76684"/>
                </a:lnTo>
                <a:cubicBezTo>
                  <a:pt x="255724" y="69707"/>
                  <a:pt x="244394" y="69707"/>
                  <a:pt x="237418" y="76684"/>
                </a:cubicBezTo>
                <a:close/>
                <a:moveTo>
                  <a:pt x="84106" y="76628"/>
                </a:moveTo>
                <a:cubicBezTo>
                  <a:pt x="77130" y="69652"/>
                  <a:pt x="65801" y="69652"/>
                  <a:pt x="58824" y="76628"/>
                </a:cubicBezTo>
                <a:lnTo>
                  <a:pt x="5246" y="130206"/>
                </a:lnTo>
                <a:cubicBezTo>
                  <a:pt x="-1730" y="137182"/>
                  <a:pt x="-1730" y="148512"/>
                  <a:pt x="5246" y="155488"/>
                </a:cubicBezTo>
                <a:lnTo>
                  <a:pt x="58824" y="209066"/>
                </a:lnTo>
                <a:cubicBezTo>
                  <a:pt x="65801" y="216043"/>
                  <a:pt x="77130" y="216043"/>
                  <a:pt x="84106" y="209066"/>
                </a:cubicBezTo>
                <a:cubicBezTo>
                  <a:pt x="91083" y="202090"/>
                  <a:pt x="91083" y="190760"/>
                  <a:pt x="84106" y="183784"/>
                </a:cubicBezTo>
                <a:lnTo>
                  <a:pt x="43142" y="142875"/>
                </a:lnTo>
                <a:lnTo>
                  <a:pt x="84051" y="101910"/>
                </a:lnTo>
                <a:cubicBezTo>
                  <a:pt x="91027" y="94934"/>
                  <a:pt x="91027" y="83604"/>
                  <a:pt x="84051" y="76628"/>
                </a:cubicBezTo>
                <a:close/>
              </a:path>
            </a:pathLst>
          </a:custGeom>
          <a:solidFill>
            <a:srgbClr val="FFFFFF"/>
          </a:solidFill>
          <a:ln/>
        </p:spPr>
      </p:sp>
      <p:sp>
        <p:nvSpPr>
          <p:cNvPr id="9" name="Text 7"/>
          <p:cNvSpPr/>
          <p:nvPr/>
        </p:nvSpPr>
        <p:spPr>
          <a:xfrm>
            <a:off x="1076325" y="2388394"/>
            <a:ext cx="609600"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Bước 1</a:t>
            </a:r>
            <a:endParaRPr lang="en-US" sz="1600" dirty="0"/>
          </a:p>
        </p:txBody>
      </p:sp>
      <p:sp>
        <p:nvSpPr>
          <p:cNvPr id="10" name="Text 8"/>
          <p:cNvSpPr/>
          <p:nvPr/>
        </p:nvSpPr>
        <p:spPr>
          <a:xfrm>
            <a:off x="749498" y="2693194"/>
            <a:ext cx="1266825" cy="228600"/>
          </a:xfrm>
          <a:prstGeom prst="rect">
            <a:avLst/>
          </a:prstGeom>
          <a:noFill/>
          <a:ln/>
        </p:spPr>
        <p:txBody>
          <a:bodyPr wrap="square" lIns="0" tIns="0" rIns="0" bIns="0" rtlCol="0" anchor="ctr"/>
          <a:lstStyle/>
          <a:p>
            <a:pPr algn="ctr">
              <a:lnSpc>
                <a:spcPct val="130000"/>
              </a:lnSpc>
            </a:pPr>
            <a:r>
              <a:rPr lang="en-US" sz="1200" b="1" dirty="0">
                <a:solidFill>
                  <a:srgbClr val="F1F5F9">
                    <a:alpha val="80000"/>
                  </a:srgbClr>
                </a:solidFill>
                <a:latin typeface="MiSans" pitchFamily="34" charset="0"/>
                <a:ea typeface="MiSans" pitchFamily="34" charset="-122"/>
                <a:cs typeface="MiSans" pitchFamily="34" charset="-120"/>
              </a:rPr>
              <a:t>AI đọc mã nguồn</a:t>
            </a:r>
            <a:endParaRPr lang="en-US" sz="1600" dirty="0"/>
          </a:p>
        </p:txBody>
      </p:sp>
      <p:sp>
        <p:nvSpPr>
          <p:cNvPr id="11" name="Text 9"/>
          <p:cNvSpPr/>
          <p:nvPr/>
        </p:nvSpPr>
        <p:spPr>
          <a:xfrm>
            <a:off x="585788" y="2997994"/>
            <a:ext cx="15906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Phân tích logic, tham số, giá trị trả về</a:t>
            </a:r>
            <a:endParaRPr lang="en-US" sz="1600" dirty="0"/>
          </a:p>
        </p:txBody>
      </p:sp>
      <p:sp>
        <p:nvSpPr>
          <p:cNvPr id="12" name="Shape 10"/>
          <p:cNvSpPr/>
          <p:nvPr/>
        </p:nvSpPr>
        <p:spPr>
          <a:xfrm>
            <a:off x="2421731" y="2264569"/>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3B82F6"/>
          </a:solidFill>
          <a:ln/>
        </p:spPr>
      </p:sp>
      <p:sp>
        <p:nvSpPr>
          <p:cNvPr id="13" name="Shape 11"/>
          <p:cNvSpPr/>
          <p:nvPr/>
        </p:nvSpPr>
        <p:spPr>
          <a:xfrm>
            <a:off x="3362474" y="1512094"/>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8B5CF6"/>
              </a:gs>
              <a:gs pos="100000">
                <a:srgbClr val="8B5CF6">
                  <a:alpha val="70000"/>
                </a:srgbClr>
              </a:gs>
            </a:gsLst>
            <a:lin ang="2700000" scaled="1"/>
          </a:gradFill>
          <a:ln/>
          <a:effectLst>
            <a:outerShdw sx="100000" sy="100000" kx="0" ky="0" algn="bl" rotWithShape="0" blurRad="101600" dist="50800" dir="2700000">
              <a:srgbClr val="ffffff">
                <a:alpha val="75000"/>
              </a:srgbClr>
            </a:outerShdw>
          </a:effectLst>
        </p:spPr>
      </p:sp>
      <p:sp>
        <p:nvSpPr>
          <p:cNvPr id="14" name="Shape 12"/>
          <p:cNvSpPr/>
          <p:nvPr/>
        </p:nvSpPr>
        <p:spPr>
          <a:xfrm>
            <a:off x="3638699" y="1750219"/>
            <a:ext cx="214313" cy="285750"/>
          </a:xfrm>
          <a:custGeom>
            <a:avLst/>
            <a:gdLst/>
            <a:ahLst/>
            <a:cxnLst/>
            <a:rect l="l" t="t" r="r" b="b"/>
            <a:pathLst>
              <a:path w="214313" h="285750">
                <a:moveTo>
                  <a:pt x="173794" y="17859"/>
                </a:moveTo>
                <a:lnTo>
                  <a:pt x="178594" y="17859"/>
                </a:lnTo>
                <a:cubicBezTo>
                  <a:pt x="198295" y="17859"/>
                  <a:pt x="214313" y="33877"/>
                  <a:pt x="214313" y="53578"/>
                </a:cubicBezTo>
                <a:lnTo>
                  <a:pt x="214313" y="250031"/>
                </a:lnTo>
                <a:cubicBezTo>
                  <a:pt x="214313" y="269732"/>
                  <a:pt x="198295" y="285750"/>
                  <a:pt x="178594" y="285750"/>
                </a:cubicBezTo>
                <a:lnTo>
                  <a:pt x="35719" y="285750"/>
                </a:lnTo>
                <a:cubicBezTo>
                  <a:pt x="16018" y="285750"/>
                  <a:pt x="0" y="269732"/>
                  <a:pt x="0" y="250031"/>
                </a:cubicBezTo>
                <a:lnTo>
                  <a:pt x="0" y="53578"/>
                </a:lnTo>
                <a:cubicBezTo>
                  <a:pt x="0" y="33877"/>
                  <a:pt x="16018" y="17859"/>
                  <a:pt x="35719" y="17859"/>
                </a:cubicBezTo>
                <a:lnTo>
                  <a:pt x="40518" y="17859"/>
                </a:lnTo>
                <a:cubicBezTo>
                  <a:pt x="46658" y="7200"/>
                  <a:pt x="58210" y="0"/>
                  <a:pt x="71438" y="0"/>
                </a:cubicBezTo>
                <a:lnTo>
                  <a:pt x="142875" y="0"/>
                </a:lnTo>
                <a:cubicBezTo>
                  <a:pt x="156102" y="0"/>
                  <a:pt x="167655" y="7200"/>
                  <a:pt x="173794" y="17859"/>
                </a:cubicBezTo>
                <a:close/>
                <a:moveTo>
                  <a:pt x="138410" y="62508"/>
                </a:moveTo>
                <a:cubicBezTo>
                  <a:pt x="145833" y="62508"/>
                  <a:pt x="151805" y="56536"/>
                  <a:pt x="151805" y="49113"/>
                </a:cubicBezTo>
                <a:cubicBezTo>
                  <a:pt x="151805" y="41690"/>
                  <a:pt x="145833" y="35719"/>
                  <a:pt x="138410" y="35719"/>
                </a:cubicBezTo>
                <a:lnTo>
                  <a:pt x="75902" y="35719"/>
                </a:lnTo>
                <a:cubicBezTo>
                  <a:pt x="68480" y="35719"/>
                  <a:pt x="62508" y="41690"/>
                  <a:pt x="62508" y="49113"/>
                </a:cubicBezTo>
                <a:cubicBezTo>
                  <a:pt x="62508" y="56536"/>
                  <a:pt x="68480" y="62508"/>
                  <a:pt x="75902" y="62508"/>
                </a:cubicBezTo>
                <a:lnTo>
                  <a:pt x="138410" y="62508"/>
                </a:lnTo>
                <a:close/>
                <a:moveTo>
                  <a:pt x="71438" y="142875"/>
                </a:moveTo>
                <a:cubicBezTo>
                  <a:pt x="71438" y="133018"/>
                  <a:pt x="63435" y="125016"/>
                  <a:pt x="53578" y="125016"/>
                </a:cubicBezTo>
                <a:cubicBezTo>
                  <a:pt x="43721" y="125016"/>
                  <a:pt x="35719" y="133018"/>
                  <a:pt x="35719" y="142875"/>
                </a:cubicBezTo>
                <a:cubicBezTo>
                  <a:pt x="35719" y="152732"/>
                  <a:pt x="43721" y="160734"/>
                  <a:pt x="53578" y="160734"/>
                </a:cubicBezTo>
                <a:cubicBezTo>
                  <a:pt x="63435" y="160734"/>
                  <a:pt x="71438" y="152732"/>
                  <a:pt x="71438" y="142875"/>
                </a:cubicBezTo>
                <a:close/>
                <a:moveTo>
                  <a:pt x="89297" y="142875"/>
                </a:moveTo>
                <a:cubicBezTo>
                  <a:pt x="89297" y="150298"/>
                  <a:pt x="95269" y="156270"/>
                  <a:pt x="102691" y="156270"/>
                </a:cubicBezTo>
                <a:lnTo>
                  <a:pt x="165199" y="156270"/>
                </a:lnTo>
                <a:cubicBezTo>
                  <a:pt x="172622" y="156270"/>
                  <a:pt x="178594" y="150298"/>
                  <a:pt x="178594" y="142875"/>
                </a:cubicBezTo>
                <a:cubicBezTo>
                  <a:pt x="178594" y="135452"/>
                  <a:pt x="172622" y="129480"/>
                  <a:pt x="165199" y="129480"/>
                </a:cubicBezTo>
                <a:lnTo>
                  <a:pt x="102691" y="129480"/>
                </a:lnTo>
                <a:cubicBezTo>
                  <a:pt x="95269" y="129480"/>
                  <a:pt x="89297" y="135452"/>
                  <a:pt x="89297" y="142875"/>
                </a:cubicBezTo>
                <a:close/>
                <a:moveTo>
                  <a:pt x="89297" y="214313"/>
                </a:moveTo>
                <a:cubicBezTo>
                  <a:pt x="89297" y="221735"/>
                  <a:pt x="95269" y="227707"/>
                  <a:pt x="102691" y="227707"/>
                </a:cubicBezTo>
                <a:lnTo>
                  <a:pt x="165199" y="227707"/>
                </a:lnTo>
                <a:cubicBezTo>
                  <a:pt x="172622" y="227707"/>
                  <a:pt x="178594" y="221735"/>
                  <a:pt x="178594" y="214313"/>
                </a:cubicBezTo>
                <a:cubicBezTo>
                  <a:pt x="178594" y="206890"/>
                  <a:pt x="172622" y="200918"/>
                  <a:pt x="165199" y="200918"/>
                </a:cubicBezTo>
                <a:lnTo>
                  <a:pt x="102691" y="200918"/>
                </a:lnTo>
                <a:cubicBezTo>
                  <a:pt x="95269" y="200918"/>
                  <a:pt x="89297" y="206890"/>
                  <a:pt x="89297" y="214313"/>
                </a:cubicBezTo>
                <a:close/>
                <a:moveTo>
                  <a:pt x="53578" y="232172"/>
                </a:moveTo>
                <a:cubicBezTo>
                  <a:pt x="63435" y="232172"/>
                  <a:pt x="71438" y="224169"/>
                  <a:pt x="71438" y="214313"/>
                </a:cubicBezTo>
                <a:cubicBezTo>
                  <a:pt x="71438" y="204456"/>
                  <a:pt x="63435" y="196453"/>
                  <a:pt x="53578" y="196453"/>
                </a:cubicBezTo>
                <a:cubicBezTo>
                  <a:pt x="43721" y="196453"/>
                  <a:pt x="35719" y="204456"/>
                  <a:pt x="35719" y="214313"/>
                </a:cubicBezTo>
                <a:cubicBezTo>
                  <a:pt x="35719" y="224169"/>
                  <a:pt x="43721" y="232172"/>
                  <a:pt x="53578" y="232172"/>
                </a:cubicBezTo>
                <a:close/>
              </a:path>
            </a:pathLst>
          </a:custGeom>
          <a:solidFill>
            <a:srgbClr val="FFFFFF"/>
          </a:solidFill>
          <a:ln/>
        </p:spPr>
      </p:sp>
      <p:sp>
        <p:nvSpPr>
          <p:cNvPr id="15" name="Text 13"/>
          <p:cNvSpPr/>
          <p:nvPr/>
        </p:nvSpPr>
        <p:spPr>
          <a:xfrm>
            <a:off x="3424089" y="2388394"/>
            <a:ext cx="638175"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Bước 2</a:t>
            </a:r>
            <a:endParaRPr lang="en-US" sz="1600" dirty="0"/>
          </a:p>
        </p:txBody>
      </p:sp>
      <p:sp>
        <p:nvSpPr>
          <p:cNvPr id="16" name="Text 14"/>
          <p:cNvSpPr/>
          <p:nvPr/>
        </p:nvSpPr>
        <p:spPr>
          <a:xfrm>
            <a:off x="3085058" y="2693194"/>
            <a:ext cx="1314450" cy="228600"/>
          </a:xfrm>
          <a:prstGeom prst="rect">
            <a:avLst/>
          </a:prstGeom>
          <a:noFill/>
          <a:ln/>
        </p:spPr>
        <p:txBody>
          <a:bodyPr wrap="square" lIns="0" tIns="0" rIns="0" bIns="0" rtlCol="0" anchor="ctr"/>
          <a:lstStyle/>
          <a:p>
            <a:pPr algn="ctr">
              <a:lnSpc>
                <a:spcPct val="130000"/>
              </a:lnSpc>
            </a:pPr>
            <a:r>
              <a:rPr lang="en-US" sz="1200" b="1" dirty="0">
                <a:solidFill>
                  <a:srgbClr val="F1F5F9">
                    <a:alpha val="80000"/>
                  </a:srgbClr>
                </a:solidFill>
                <a:latin typeface="MiSans" pitchFamily="34" charset="0"/>
                <a:ea typeface="MiSans" pitchFamily="34" charset="-122"/>
                <a:cs typeface="MiSans" pitchFamily="34" charset="-120"/>
              </a:rPr>
              <a:t>Lên kế hoạch test</a:t>
            </a:r>
            <a:endParaRPr lang="en-US" sz="1600" dirty="0"/>
          </a:p>
        </p:txBody>
      </p:sp>
      <p:sp>
        <p:nvSpPr>
          <p:cNvPr id="17" name="Text 15"/>
          <p:cNvSpPr/>
          <p:nvPr/>
        </p:nvSpPr>
        <p:spPr>
          <a:xfrm>
            <a:off x="2948136" y="2997994"/>
            <a:ext cx="15906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Xác định các trường hợp cần kiểm thử</a:t>
            </a:r>
            <a:endParaRPr lang="en-US" sz="1600" dirty="0"/>
          </a:p>
        </p:txBody>
      </p:sp>
      <p:sp>
        <p:nvSpPr>
          <p:cNvPr id="18" name="Shape 16"/>
          <p:cNvSpPr/>
          <p:nvPr/>
        </p:nvSpPr>
        <p:spPr>
          <a:xfrm>
            <a:off x="4784080" y="2264569"/>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8B5CF6"/>
          </a:solidFill>
          <a:ln/>
        </p:spPr>
      </p:sp>
      <p:sp>
        <p:nvSpPr>
          <p:cNvPr id="19" name="Shape 17"/>
          <p:cNvSpPr/>
          <p:nvPr/>
        </p:nvSpPr>
        <p:spPr>
          <a:xfrm>
            <a:off x="5715000" y="1607344"/>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10B981"/>
              </a:gs>
              <a:gs pos="100000">
                <a:srgbClr val="10B981">
                  <a:alpha val="70000"/>
                </a:srgbClr>
              </a:gs>
            </a:gsLst>
            <a:lin ang="2700000" scaled="1"/>
          </a:gradFill>
          <a:ln/>
          <a:effectLst>
            <a:outerShdw sx="100000" sy="100000" kx="0" ky="0" algn="bl" rotWithShape="0" blurRad="101600" dist="50800" dir="2700000">
              <a:srgbClr val="ffffff">
                <a:alpha val="75000"/>
              </a:srgbClr>
            </a:outerShdw>
          </a:effectLst>
        </p:spPr>
      </p:sp>
      <p:sp>
        <p:nvSpPr>
          <p:cNvPr id="20" name="Shape 18"/>
          <p:cNvSpPr/>
          <p:nvPr/>
        </p:nvSpPr>
        <p:spPr>
          <a:xfrm>
            <a:off x="5955506" y="1845469"/>
            <a:ext cx="285750" cy="285750"/>
          </a:xfrm>
          <a:custGeom>
            <a:avLst/>
            <a:gdLst/>
            <a:ahLst/>
            <a:cxnLst/>
            <a:rect l="l" t="t" r="r" b="b"/>
            <a:pathLst>
              <a:path w="285750" h="285750">
                <a:moveTo>
                  <a:pt x="191207" y="5246"/>
                </a:moveTo>
                <a:cubicBezTo>
                  <a:pt x="184231" y="-1730"/>
                  <a:pt x="172901" y="-1730"/>
                  <a:pt x="165925" y="5246"/>
                </a:cubicBezTo>
                <a:cubicBezTo>
                  <a:pt x="158948" y="12223"/>
                  <a:pt x="158948" y="23552"/>
                  <a:pt x="165925" y="30528"/>
                </a:cubicBezTo>
                <a:lnTo>
                  <a:pt x="171171" y="35719"/>
                </a:lnTo>
                <a:lnTo>
                  <a:pt x="15683" y="191207"/>
                </a:lnTo>
                <a:cubicBezTo>
                  <a:pt x="5637" y="201253"/>
                  <a:pt x="0" y="214871"/>
                  <a:pt x="0" y="229102"/>
                </a:cubicBezTo>
                <a:lnTo>
                  <a:pt x="0" y="232172"/>
                </a:lnTo>
                <a:cubicBezTo>
                  <a:pt x="0" y="261751"/>
                  <a:pt x="23999" y="285750"/>
                  <a:pt x="53578" y="285750"/>
                </a:cubicBezTo>
                <a:lnTo>
                  <a:pt x="56648" y="285750"/>
                </a:lnTo>
                <a:cubicBezTo>
                  <a:pt x="70879" y="285750"/>
                  <a:pt x="84497" y="280113"/>
                  <a:pt x="94543" y="270067"/>
                </a:cubicBezTo>
                <a:lnTo>
                  <a:pt x="250031" y="114579"/>
                </a:lnTo>
                <a:lnTo>
                  <a:pt x="255277" y="119825"/>
                </a:lnTo>
                <a:cubicBezTo>
                  <a:pt x="262254" y="126802"/>
                  <a:pt x="273583" y="126802"/>
                  <a:pt x="280560" y="119825"/>
                </a:cubicBezTo>
                <a:cubicBezTo>
                  <a:pt x="287536" y="112849"/>
                  <a:pt x="287536" y="101519"/>
                  <a:pt x="280560" y="94543"/>
                </a:cubicBezTo>
                <a:lnTo>
                  <a:pt x="191263" y="5246"/>
                </a:lnTo>
                <a:close/>
                <a:moveTo>
                  <a:pt x="114579" y="142875"/>
                </a:moveTo>
                <a:lnTo>
                  <a:pt x="196453" y="61001"/>
                </a:lnTo>
                <a:lnTo>
                  <a:pt x="224749" y="89297"/>
                </a:lnTo>
                <a:lnTo>
                  <a:pt x="171171" y="142875"/>
                </a:lnTo>
                <a:lnTo>
                  <a:pt x="114523" y="142875"/>
                </a:lnTo>
                <a:close/>
              </a:path>
            </a:pathLst>
          </a:custGeom>
          <a:solidFill>
            <a:srgbClr val="FFFFFF"/>
          </a:solidFill>
          <a:ln/>
        </p:spPr>
      </p:sp>
      <p:sp>
        <p:nvSpPr>
          <p:cNvPr id="21" name="Text 19"/>
          <p:cNvSpPr/>
          <p:nvPr/>
        </p:nvSpPr>
        <p:spPr>
          <a:xfrm>
            <a:off x="5774531" y="2483644"/>
            <a:ext cx="647700"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Bước 3</a:t>
            </a:r>
            <a:endParaRPr lang="en-US" sz="1600" dirty="0"/>
          </a:p>
        </p:txBody>
      </p:sp>
      <p:sp>
        <p:nvSpPr>
          <p:cNvPr id="22" name="Text 20"/>
          <p:cNvSpPr/>
          <p:nvPr/>
        </p:nvSpPr>
        <p:spPr>
          <a:xfrm>
            <a:off x="5621982" y="2788444"/>
            <a:ext cx="952500" cy="228600"/>
          </a:xfrm>
          <a:prstGeom prst="rect">
            <a:avLst/>
          </a:prstGeom>
          <a:noFill/>
          <a:ln/>
        </p:spPr>
        <p:txBody>
          <a:bodyPr wrap="square" lIns="0" tIns="0" rIns="0" bIns="0" rtlCol="0" anchor="ctr"/>
          <a:lstStyle/>
          <a:p>
            <a:pPr algn="ctr">
              <a:lnSpc>
                <a:spcPct val="130000"/>
              </a:lnSpc>
            </a:pPr>
            <a:r>
              <a:rPr lang="en-US" sz="1200" b="1" dirty="0">
                <a:solidFill>
                  <a:srgbClr val="F1F5F9">
                    <a:alpha val="80000"/>
                  </a:srgbClr>
                </a:solidFill>
                <a:latin typeface="MiSans" pitchFamily="34" charset="0"/>
                <a:ea typeface="MiSans" pitchFamily="34" charset="-122"/>
                <a:cs typeface="MiSans" pitchFamily="34" charset="-120"/>
              </a:rPr>
              <a:t>Sinh mã test</a:t>
            </a:r>
            <a:endParaRPr lang="en-US" sz="1600" dirty="0"/>
          </a:p>
        </p:txBody>
      </p:sp>
      <p:sp>
        <p:nvSpPr>
          <p:cNvPr id="23" name="Text 21"/>
          <p:cNvSpPr/>
          <p:nvPr/>
        </p:nvSpPr>
        <p:spPr>
          <a:xfrm>
            <a:off x="5310336" y="3093244"/>
            <a:ext cx="157162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Tạo các hàm test cơ bản</a:t>
            </a:r>
            <a:endParaRPr lang="en-US" sz="1600" dirty="0"/>
          </a:p>
        </p:txBody>
      </p:sp>
      <p:sp>
        <p:nvSpPr>
          <p:cNvPr id="24" name="Shape 22"/>
          <p:cNvSpPr/>
          <p:nvPr/>
        </p:nvSpPr>
        <p:spPr>
          <a:xfrm>
            <a:off x="7126932" y="2264569"/>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10B981"/>
          </a:solidFill>
          <a:ln/>
        </p:spPr>
      </p:sp>
      <p:sp>
        <p:nvSpPr>
          <p:cNvPr id="25" name="Shape 23"/>
          <p:cNvSpPr/>
          <p:nvPr/>
        </p:nvSpPr>
        <p:spPr>
          <a:xfrm>
            <a:off x="8067675" y="1512094"/>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F59E0B"/>
              </a:gs>
              <a:gs pos="100000">
                <a:srgbClr val="F59E0B">
                  <a:alpha val="70000"/>
                </a:srgbClr>
              </a:gs>
            </a:gsLst>
            <a:lin ang="2700000" scaled="1"/>
          </a:gradFill>
          <a:ln/>
          <a:effectLst>
            <a:outerShdw sx="100000" sy="100000" kx="0" ky="0" algn="bl" rotWithShape="0" blurRad="101600" dist="50800" dir="2700000">
              <a:srgbClr val="ffffff">
                <a:alpha val="75000"/>
              </a:srgbClr>
            </a:outerShdw>
          </a:effectLst>
        </p:spPr>
      </p:sp>
      <p:sp>
        <p:nvSpPr>
          <p:cNvPr id="26" name="Shape 24"/>
          <p:cNvSpPr/>
          <p:nvPr/>
        </p:nvSpPr>
        <p:spPr>
          <a:xfrm>
            <a:off x="8308181" y="1750219"/>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29480" y="191988"/>
                </a:moveTo>
                <a:lnTo>
                  <a:pt x="129480" y="156270"/>
                </a:lnTo>
                <a:lnTo>
                  <a:pt x="93762" y="156270"/>
                </a:lnTo>
                <a:cubicBezTo>
                  <a:pt x="86339" y="156270"/>
                  <a:pt x="80367" y="150298"/>
                  <a:pt x="80367" y="142875"/>
                </a:cubicBezTo>
                <a:cubicBezTo>
                  <a:pt x="80367" y="135452"/>
                  <a:pt x="86339" y="129480"/>
                  <a:pt x="93762" y="129480"/>
                </a:cubicBezTo>
                <a:lnTo>
                  <a:pt x="129480" y="129480"/>
                </a:lnTo>
                <a:lnTo>
                  <a:pt x="129480" y="93762"/>
                </a:lnTo>
                <a:cubicBezTo>
                  <a:pt x="129480" y="86339"/>
                  <a:pt x="135452" y="80367"/>
                  <a:pt x="142875" y="80367"/>
                </a:cubicBezTo>
                <a:cubicBezTo>
                  <a:pt x="150298" y="80367"/>
                  <a:pt x="156270" y="86339"/>
                  <a:pt x="156270" y="93762"/>
                </a:cubicBezTo>
                <a:lnTo>
                  <a:pt x="156270" y="129480"/>
                </a:lnTo>
                <a:lnTo>
                  <a:pt x="191988" y="129480"/>
                </a:lnTo>
                <a:cubicBezTo>
                  <a:pt x="199411" y="129480"/>
                  <a:pt x="205383" y="135452"/>
                  <a:pt x="205383" y="142875"/>
                </a:cubicBezTo>
                <a:cubicBezTo>
                  <a:pt x="205383" y="150298"/>
                  <a:pt x="199411" y="156270"/>
                  <a:pt x="191988" y="156270"/>
                </a:cubicBezTo>
                <a:lnTo>
                  <a:pt x="156270" y="156270"/>
                </a:lnTo>
                <a:lnTo>
                  <a:pt x="156270" y="191988"/>
                </a:lnTo>
                <a:cubicBezTo>
                  <a:pt x="156270" y="199411"/>
                  <a:pt x="150298" y="205383"/>
                  <a:pt x="142875" y="205383"/>
                </a:cubicBezTo>
                <a:cubicBezTo>
                  <a:pt x="135452" y="205383"/>
                  <a:pt x="129480" y="199411"/>
                  <a:pt x="129480" y="191988"/>
                </a:cubicBezTo>
                <a:close/>
              </a:path>
            </a:pathLst>
          </a:custGeom>
          <a:solidFill>
            <a:srgbClr val="FFFFFF"/>
          </a:solidFill>
          <a:ln/>
        </p:spPr>
      </p:sp>
      <p:sp>
        <p:nvSpPr>
          <p:cNvPr id="27" name="Text 25"/>
          <p:cNvSpPr/>
          <p:nvPr/>
        </p:nvSpPr>
        <p:spPr>
          <a:xfrm>
            <a:off x="8127355" y="2388394"/>
            <a:ext cx="638175"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Bước 4</a:t>
            </a:r>
            <a:endParaRPr lang="en-US" sz="1600" dirty="0"/>
          </a:p>
        </p:txBody>
      </p:sp>
      <p:sp>
        <p:nvSpPr>
          <p:cNvPr id="28" name="Text 26"/>
          <p:cNvSpPr/>
          <p:nvPr/>
        </p:nvSpPr>
        <p:spPr>
          <a:xfrm>
            <a:off x="7709743" y="2693194"/>
            <a:ext cx="1476375" cy="228600"/>
          </a:xfrm>
          <a:prstGeom prst="rect">
            <a:avLst/>
          </a:prstGeom>
          <a:noFill/>
          <a:ln/>
        </p:spPr>
        <p:txBody>
          <a:bodyPr wrap="square" lIns="0" tIns="0" rIns="0" bIns="0" rtlCol="0" anchor="ctr"/>
          <a:lstStyle/>
          <a:p>
            <a:pPr algn="ctr">
              <a:lnSpc>
                <a:spcPct val="130000"/>
              </a:lnSpc>
            </a:pPr>
            <a:r>
              <a:rPr lang="en-US" sz="1200" b="1" dirty="0">
                <a:solidFill>
                  <a:srgbClr val="F1F5F9">
                    <a:alpha val="80000"/>
                  </a:srgbClr>
                </a:solidFill>
                <a:latin typeface="MiSans" pitchFamily="34" charset="0"/>
                <a:ea typeface="MiSans" pitchFamily="34" charset="-122"/>
                <a:cs typeface="MiSans" pitchFamily="34" charset="-120"/>
              </a:rPr>
              <a:t>Bổ sung edge cases</a:t>
            </a:r>
            <a:endParaRPr lang="en-US" sz="1600" dirty="0"/>
          </a:p>
        </p:txBody>
      </p:sp>
      <p:sp>
        <p:nvSpPr>
          <p:cNvPr id="29" name="Text 27"/>
          <p:cNvSpPr/>
          <p:nvPr/>
        </p:nvSpPr>
        <p:spPr>
          <a:xfrm>
            <a:off x="7653337" y="2997994"/>
            <a:ext cx="1590675" cy="3810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Thêm các trường hợp biên</a:t>
            </a:r>
            <a:endParaRPr lang="en-US" sz="1600" dirty="0"/>
          </a:p>
        </p:txBody>
      </p:sp>
      <p:sp>
        <p:nvSpPr>
          <p:cNvPr id="30" name="Shape 28"/>
          <p:cNvSpPr/>
          <p:nvPr/>
        </p:nvSpPr>
        <p:spPr>
          <a:xfrm>
            <a:off x="9489281" y="2264569"/>
            <a:ext cx="285750" cy="285750"/>
          </a:xfrm>
          <a:custGeom>
            <a:avLst/>
            <a:gdLst/>
            <a:ahLst/>
            <a:cxnLst/>
            <a:rect l="l" t="t" r="r" b="b"/>
            <a:pathLst>
              <a:path w="285750" h="285750">
                <a:moveTo>
                  <a:pt x="280504" y="155488"/>
                </a:moveTo>
                <a:cubicBezTo>
                  <a:pt x="287480" y="148512"/>
                  <a:pt x="287480" y="137182"/>
                  <a:pt x="280504" y="130206"/>
                </a:cubicBezTo>
                <a:lnTo>
                  <a:pt x="191207" y="40909"/>
                </a:lnTo>
                <a:cubicBezTo>
                  <a:pt x="184231" y="33933"/>
                  <a:pt x="172901" y="33933"/>
                  <a:pt x="165925" y="40909"/>
                </a:cubicBezTo>
                <a:cubicBezTo>
                  <a:pt x="158948" y="47885"/>
                  <a:pt x="158948" y="59215"/>
                  <a:pt x="165925" y="66191"/>
                </a:cubicBezTo>
                <a:lnTo>
                  <a:pt x="224749" y="125016"/>
                </a:lnTo>
                <a:lnTo>
                  <a:pt x="17859" y="125016"/>
                </a:lnTo>
                <a:cubicBezTo>
                  <a:pt x="7981" y="125016"/>
                  <a:pt x="0" y="132997"/>
                  <a:pt x="0" y="142875"/>
                </a:cubicBezTo>
                <a:cubicBezTo>
                  <a:pt x="0" y="152753"/>
                  <a:pt x="7981" y="160734"/>
                  <a:pt x="17859" y="160734"/>
                </a:cubicBezTo>
                <a:lnTo>
                  <a:pt x="224749" y="160734"/>
                </a:lnTo>
                <a:lnTo>
                  <a:pt x="165925" y="219559"/>
                </a:lnTo>
                <a:cubicBezTo>
                  <a:pt x="158948" y="226535"/>
                  <a:pt x="158948" y="237865"/>
                  <a:pt x="165925" y="244841"/>
                </a:cubicBezTo>
                <a:cubicBezTo>
                  <a:pt x="172901" y="251817"/>
                  <a:pt x="184231" y="251817"/>
                  <a:pt x="191207" y="244841"/>
                </a:cubicBezTo>
                <a:lnTo>
                  <a:pt x="280504" y="155544"/>
                </a:lnTo>
                <a:close/>
              </a:path>
            </a:pathLst>
          </a:custGeom>
          <a:solidFill>
            <a:srgbClr val="F59E0B"/>
          </a:solidFill>
          <a:ln/>
        </p:spPr>
      </p:sp>
      <p:sp>
        <p:nvSpPr>
          <p:cNvPr id="31" name="Shape 29"/>
          <p:cNvSpPr/>
          <p:nvPr/>
        </p:nvSpPr>
        <p:spPr>
          <a:xfrm>
            <a:off x="10429875" y="1493044"/>
            <a:ext cx="762000" cy="762000"/>
          </a:xfrm>
          <a:custGeom>
            <a:avLst/>
            <a:gdLst/>
            <a:ahLst/>
            <a:cxnLst/>
            <a:rect l="l" t="t" r="r" b="b"/>
            <a:pathLst>
              <a:path w="762000" h="762000">
                <a:moveTo>
                  <a:pt x="152400" y="0"/>
                </a:moveTo>
                <a:lnTo>
                  <a:pt x="609600" y="0"/>
                </a:lnTo>
                <a:cubicBezTo>
                  <a:pt x="693712" y="0"/>
                  <a:pt x="762000" y="68288"/>
                  <a:pt x="762000" y="152400"/>
                </a:cubicBezTo>
                <a:lnTo>
                  <a:pt x="762000" y="609600"/>
                </a:lnTo>
                <a:cubicBezTo>
                  <a:pt x="762000" y="693712"/>
                  <a:pt x="693712" y="762000"/>
                  <a:pt x="609600" y="762000"/>
                </a:cubicBezTo>
                <a:lnTo>
                  <a:pt x="152400" y="762000"/>
                </a:lnTo>
                <a:cubicBezTo>
                  <a:pt x="68288" y="762000"/>
                  <a:pt x="0" y="693712"/>
                  <a:pt x="0" y="609600"/>
                </a:cubicBezTo>
                <a:lnTo>
                  <a:pt x="0" y="152400"/>
                </a:lnTo>
                <a:cubicBezTo>
                  <a:pt x="0" y="68288"/>
                  <a:pt x="68288" y="0"/>
                  <a:pt x="152400" y="0"/>
                </a:cubicBezTo>
                <a:close/>
              </a:path>
            </a:pathLst>
          </a:custGeom>
          <a:gradFill rotWithShape="1" flip="none">
            <a:gsLst>
              <a:gs pos="0">
                <a:srgbClr val="10B981"/>
              </a:gs>
              <a:gs pos="100000">
                <a:srgbClr val="10B981">
                  <a:alpha val="70000"/>
                </a:srgbClr>
              </a:gs>
            </a:gsLst>
            <a:lin ang="2700000" scaled="1"/>
          </a:gradFill>
          <a:ln/>
          <a:effectLst>
            <a:outerShdw sx="100000" sy="100000" kx="0" ky="0" algn="bl" rotWithShape="0" blurRad="101600" dist="50800" dir="2700000">
              <a:srgbClr val="ffffff">
                <a:alpha val="75000"/>
              </a:srgbClr>
            </a:outerShdw>
          </a:effectLst>
        </p:spPr>
      </p:sp>
      <p:sp>
        <p:nvSpPr>
          <p:cNvPr id="32" name="Shape 30"/>
          <p:cNvSpPr/>
          <p:nvPr/>
        </p:nvSpPr>
        <p:spPr>
          <a:xfrm>
            <a:off x="10706100" y="1731169"/>
            <a:ext cx="214313" cy="285750"/>
          </a:xfrm>
          <a:custGeom>
            <a:avLst/>
            <a:gdLst/>
            <a:ahLst/>
            <a:cxnLst/>
            <a:rect l="l" t="t" r="r" b="b"/>
            <a:pathLst>
              <a:path w="214313" h="285750">
                <a:moveTo>
                  <a:pt x="139471" y="37281"/>
                </a:moveTo>
                <a:cubicBezTo>
                  <a:pt x="145275" y="29301"/>
                  <a:pt x="143489" y="18138"/>
                  <a:pt x="135508" y="12334"/>
                </a:cubicBezTo>
                <a:cubicBezTo>
                  <a:pt x="127527" y="6530"/>
                  <a:pt x="116365" y="8316"/>
                  <a:pt x="110561" y="16297"/>
                </a:cubicBezTo>
                <a:lnTo>
                  <a:pt x="51402" y="97613"/>
                </a:lnTo>
                <a:lnTo>
                  <a:pt x="30473" y="76684"/>
                </a:lnTo>
                <a:cubicBezTo>
                  <a:pt x="23496" y="69707"/>
                  <a:pt x="12167" y="69707"/>
                  <a:pt x="5190" y="76684"/>
                </a:cubicBezTo>
                <a:cubicBezTo>
                  <a:pt x="-1786" y="83660"/>
                  <a:pt x="-1786" y="94990"/>
                  <a:pt x="5190" y="101966"/>
                </a:cubicBezTo>
                <a:lnTo>
                  <a:pt x="40909" y="137685"/>
                </a:lnTo>
                <a:cubicBezTo>
                  <a:pt x="44593" y="141368"/>
                  <a:pt x="49727" y="143266"/>
                  <a:pt x="54918" y="142875"/>
                </a:cubicBezTo>
                <a:cubicBezTo>
                  <a:pt x="60108" y="142484"/>
                  <a:pt x="64908" y="139805"/>
                  <a:pt x="67977" y="135564"/>
                </a:cubicBezTo>
                <a:lnTo>
                  <a:pt x="139415" y="37337"/>
                </a:lnTo>
                <a:close/>
                <a:moveTo>
                  <a:pt x="210908" y="113184"/>
                </a:moveTo>
                <a:cubicBezTo>
                  <a:pt x="216712" y="105203"/>
                  <a:pt x="214926" y="94041"/>
                  <a:pt x="206946" y="88236"/>
                </a:cubicBezTo>
                <a:cubicBezTo>
                  <a:pt x="198965" y="82432"/>
                  <a:pt x="187802" y="84218"/>
                  <a:pt x="181998" y="92199"/>
                </a:cubicBezTo>
                <a:lnTo>
                  <a:pt x="87120" y="222628"/>
                </a:lnTo>
                <a:lnTo>
                  <a:pt x="48332" y="183840"/>
                </a:lnTo>
                <a:cubicBezTo>
                  <a:pt x="41356" y="176864"/>
                  <a:pt x="30026" y="176864"/>
                  <a:pt x="23050" y="183840"/>
                </a:cubicBezTo>
                <a:cubicBezTo>
                  <a:pt x="16073" y="190816"/>
                  <a:pt x="16073" y="202146"/>
                  <a:pt x="23050" y="209122"/>
                </a:cubicBezTo>
                <a:lnTo>
                  <a:pt x="76628" y="262700"/>
                </a:lnTo>
                <a:cubicBezTo>
                  <a:pt x="80311" y="266384"/>
                  <a:pt x="85446" y="268281"/>
                  <a:pt x="90636" y="267891"/>
                </a:cubicBezTo>
                <a:cubicBezTo>
                  <a:pt x="95827" y="267500"/>
                  <a:pt x="100626" y="264821"/>
                  <a:pt x="103696" y="260579"/>
                </a:cubicBezTo>
                <a:lnTo>
                  <a:pt x="210852" y="113240"/>
                </a:lnTo>
                <a:close/>
              </a:path>
            </a:pathLst>
          </a:custGeom>
          <a:solidFill>
            <a:srgbClr val="FFFFFF"/>
          </a:solidFill>
          <a:ln/>
        </p:spPr>
      </p:sp>
      <p:sp>
        <p:nvSpPr>
          <p:cNvPr id="33" name="Text 31"/>
          <p:cNvSpPr/>
          <p:nvPr/>
        </p:nvSpPr>
        <p:spPr>
          <a:xfrm>
            <a:off x="10488513" y="2369344"/>
            <a:ext cx="647700"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Bước 5</a:t>
            </a:r>
            <a:endParaRPr lang="en-US" sz="1600" dirty="0"/>
          </a:p>
        </p:txBody>
      </p:sp>
      <p:sp>
        <p:nvSpPr>
          <p:cNvPr id="34" name="Text 32"/>
          <p:cNvSpPr/>
          <p:nvPr/>
        </p:nvSpPr>
        <p:spPr>
          <a:xfrm>
            <a:off x="10010775" y="2674144"/>
            <a:ext cx="1600200" cy="457200"/>
          </a:xfrm>
          <a:prstGeom prst="rect">
            <a:avLst/>
          </a:prstGeom>
          <a:noFill/>
          <a:ln/>
        </p:spPr>
        <p:txBody>
          <a:bodyPr wrap="square" lIns="0" tIns="0" rIns="0" bIns="0" rtlCol="0" anchor="ctr"/>
          <a:lstStyle/>
          <a:p>
            <a:pPr algn="ctr">
              <a:lnSpc>
                <a:spcPct val="130000"/>
              </a:lnSpc>
            </a:pPr>
            <a:r>
              <a:rPr lang="en-US" sz="1200" b="1" dirty="0">
                <a:solidFill>
                  <a:srgbClr val="F1F5F9">
                    <a:alpha val="80000"/>
                  </a:srgbClr>
                </a:solidFill>
                <a:latin typeface="MiSans" pitchFamily="34" charset="0"/>
                <a:ea typeface="MiSans" pitchFamily="34" charset="-122"/>
                <a:cs typeface="MiSans" pitchFamily="34" charset="-120"/>
              </a:rPr>
              <a:t>Output test hoàn chỉnh</a:t>
            </a:r>
            <a:endParaRPr lang="en-US" sz="1600" dirty="0"/>
          </a:p>
        </p:txBody>
      </p:sp>
      <p:sp>
        <p:nvSpPr>
          <p:cNvPr id="35" name="Text 33"/>
          <p:cNvSpPr/>
          <p:nvPr/>
        </p:nvSpPr>
        <p:spPr>
          <a:xfrm>
            <a:off x="10083403" y="3207544"/>
            <a:ext cx="145732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File test sẵn sàng chạy</a:t>
            </a:r>
            <a:endParaRPr lang="en-US" sz="1600" dirty="0"/>
          </a:p>
        </p:txBody>
      </p:sp>
      <p:sp>
        <p:nvSpPr>
          <p:cNvPr id="36" name="Shape 34"/>
          <p:cNvSpPr/>
          <p:nvPr/>
        </p:nvSpPr>
        <p:spPr>
          <a:xfrm>
            <a:off x="385763" y="3905250"/>
            <a:ext cx="5629275" cy="2571750"/>
          </a:xfrm>
          <a:custGeom>
            <a:avLst/>
            <a:gdLst/>
            <a:ahLst/>
            <a:cxnLst/>
            <a:rect l="l" t="t" r="r" b="b"/>
            <a:pathLst>
              <a:path w="5629275" h="2571750">
                <a:moveTo>
                  <a:pt x="114289" y="0"/>
                </a:moveTo>
                <a:lnTo>
                  <a:pt x="5514986" y="0"/>
                </a:lnTo>
                <a:cubicBezTo>
                  <a:pt x="5578064" y="0"/>
                  <a:pt x="5629275" y="51211"/>
                  <a:pt x="5629275" y="114289"/>
                </a:cubicBezTo>
                <a:lnTo>
                  <a:pt x="5629275" y="2457461"/>
                </a:lnTo>
                <a:cubicBezTo>
                  <a:pt x="5629275" y="2520581"/>
                  <a:pt x="5578106" y="2571750"/>
                  <a:pt x="5514986" y="2571750"/>
                </a:cubicBezTo>
                <a:lnTo>
                  <a:pt x="114289" y="2571750"/>
                </a:lnTo>
                <a:cubicBezTo>
                  <a:pt x="51211" y="2571750"/>
                  <a:pt x="0" y="2520539"/>
                  <a:pt x="0" y="2457461"/>
                </a:cubicBezTo>
                <a:lnTo>
                  <a:pt x="0" y="114289"/>
                </a:lnTo>
                <a:cubicBezTo>
                  <a:pt x="0" y="51169"/>
                  <a:pt x="51169" y="0"/>
                  <a:pt x="114289" y="0"/>
                </a:cubicBezTo>
                <a:close/>
              </a:path>
            </a:pathLst>
          </a:custGeom>
          <a:solidFill>
            <a:srgbClr val="0F172A"/>
          </a:solidFill>
          <a:ln w="12700">
            <a:solidFill>
              <a:srgbClr val="3B82F6">
                <a:alpha val="30196"/>
              </a:srgbClr>
            </a:solidFill>
            <a:prstDash val="solid"/>
          </a:ln>
        </p:spPr>
      </p:sp>
      <p:sp>
        <p:nvSpPr>
          <p:cNvPr id="37" name="Shape 35"/>
          <p:cNvSpPr/>
          <p:nvPr/>
        </p:nvSpPr>
        <p:spPr>
          <a:xfrm>
            <a:off x="566738" y="4110038"/>
            <a:ext cx="171450" cy="171450"/>
          </a:xfrm>
          <a:custGeom>
            <a:avLst/>
            <a:gdLst/>
            <a:ahLst/>
            <a:cxnLst/>
            <a:rect l="l" t="t" r="r" b="b"/>
            <a:pathLst>
              <a:path w="171450" h="171450">
                <a:moveTo>
                  <a:pt x="3148" y="39715"/>
                </a:moveTo>
                <a:cubicBezTo>
                  <a:pt x="-1038" y="35529"/>
                  <a:pt x="-1038" y="28731"/>
                  <a:pt x="3148" y="24545"/>
                </a:cubicBezTo>
                <a:cubicBezTo>
                  <a:pt x="7334" y="20360"/>
                  <a:pt x="14131" y="20360"/>
                  <a:pt x="18317" y="24545"/>
                </a:cubicBezTo>
                <a:lnTo>
                  <a:pt x="71895" y="78124"/>
                </a:lnTo>
                <a:cubicBezTo>
                  <a:pt x="76081" y="82309"/>
                  <a:pt x="76081" y="89107"/>
                  <a:pt x="71895" y="93293"/>
                </a:cubicBezTo>
                <a:lnTo>
                  <a:pt x="18317" y="146871"/>
                </a:lnTo>
                <a:cubicBezTo>
                  <a:pt x="14131" y="151057"/>
                  <a:pt x="7334" y="151057"/>
                  <a:pt x="3148" y="146871"/>
                </a:cubicBezTo>
                <a:cubicBezTo>
                  <a:pt x="-1038" y="142685"/>
                  <a:pt x="-1038" y="135888"/>
                  <a:pt x="3148" y="131702"/>
                </a:cubicBezTo>
                <a:lnTo>
                  <a:pt x="49124" y="85725"/>
                </a:lnTo>
                <a:lnTo>
                  <a:pt x="3148" y="39715"/>
                </a:lnTo>
                <a:close/>
                <a:moveTo>
                  <a:pt x="75009" y="128588"/>
                </a:moveTo>
                <a:lnTo>
                  <a:pt x="160734" y="128588"/>
                </a:lnTo>
                <a:cubicBezTo>
                  <a:pt x="166661" y="128588"/>
                  <a:pt x="171450" y="133376"/>
                  <a:pt x="171450" y="139303"/>
                </a:cubicBezTo>
                <a:cubicBezTo>
                  <a:pt x="171450" y="145230"/>
                  <a:pt x="166661" y="150019"/>
                  <a:pt x="160734" y="150019"/>
                </a:cubicBezTo>
                <a:lnTo>
                  <a:pt x="75009" y="150019"/>
                </a:lnTo>
                <a:cubicBezTo>
                  <a:pt x="69082" y="150019"/>
                  <a:pt x="64294" y="145230"/>
                  <a:pt x="64294" y="139303"/>
                </a:cubicBezTo>
                <a:cubicBezTo>
                  <a:pt x="64294" y="133376"/>
                  <a:pt x="69082" y="128588"/>
                  <a:pt x="75009" y="128588"/>
                </a:cubicBezTo>
                <a:close/>
              </a:path>
            </a:pathLst>
          </a:custGeom>
          <a:solidFill>
            <a:srgbClr val="3B82F6"/>
          </a:solidFill>
          <a:ln/>
        </p:spPr>
      </p:sp>
      <p:sp>
        <p:nvSpPr>
          <p:cNvPr id="38" name="Text 36"/>
          <p:cNvSpPr/>
          <p:nvPr/>
        </p:nvSpPr>
        <p:spPr>
          <a:xfrm>
            <a:off x="762000" y="4062412"/>
            <a:ext cx="5181600" cy="266700"/>
          </a:xfrm>
          <a:prstGeom prst="rect">
            <a:avLst/>
          </a:prstGeom>
          <a:noFill/>
          <a:ln/>
        </p:spPr>
        <p:txBody>
          <a:bodyPr wrap="square" lIns="0" tIns="0" rIns="0" bIns="0" rtlCol="0" anchor="ctr"/>
          <a:lstStyle/>
          <a:p>
            <a:pPr>
              <a:lnSpc>
                <a:spcPct val="130000"/>
              </a:lnSpc>
            </a:pPr>
            <a:r>
              <a:rPr lang="en-US" sz="1350" b="1" dirty="0">
                <a:solidFill>
                  <a:srgbClr val="3B82F6"/>
                </a:solidFill>
                <a:latin typeface="MiSans" pitchFamily="34" charset="0"/>
                <a:ea typeface="MiSans" pitchFamily="34" charset="-122"/>
                <a:cs typeface="MiSans" pitchFamily="34" charset="-120"/>
              </a:rPr>
              <a:t>Câu lệnh khởi tạo</a:t>
            </a:r>
            <a:endParaRPr lang="en-US" sz="1600" dirty="0"/>
          </a:p>
        </p:txBody>
      </p:sp>
      <p:sp>
        <p:nvSpPr>
          <p:cNvPr id="39" name="Shape 37"/>
          <p:cNvSpPr/>
          <p:nvPr/>
        </p:nvSpPr>
        <p:spPr>
          <a:xfrm>
            <a:off x="542925" y="4443413"/>
            <a:ext cx="5314950" cy="790575"/>
          </a:xfrm>
          <a:custGeom>
            <a:avLst/>
            <a:gdLst/>
            <a:ahLst/>
            <a:cxnLst/>
            <a:rect l="l" t="t" r="r" b="b"/>
            <a:pathLst>
              <a:path w="5314950" h="790575">
                <a:moveTo>
                  <a:pt x="76204" y="0"/>
                </a:moveTo>
                <a:lnTo>
                  <a:pt x="5238746" y="0"/>
                </a:lnTo>
                <a:cubicBezTo>
                  <a:pt x="5280833" y="0"/>
                  <a:pt x="5314950" y="34117"/>
                  <a:pt x="5314950" y="76204"/>
                </a:cubicBezTo>
                <a:lnTo>
                  <a:pt x="5314950" y="714371"/>
                </a:lnTo>
                <a:cubicBezTo>
                  <a:pt x="5314950" y="756458"/>
                  <a:pt x="5280833" y="790575"/>
                  <a:pt x="5238746" y="790575"/>
                </a:cubicBezTo>
                <a:lnTo>
                  <a:pt x="76204" y="790575"/>
                </a:lnTo>
                <a:cubicBezTo>
                  <a:pt x="34117" y="790575"/>
                  <a:pt x="0" y="756458"/>
                  <a:pt x="0" y="714371"/>
                </a:cubicBezTo>
                <a:lnTo>
                  <a:pt x="0" y="76204"/>
                </a:lnTo>
                <a:cubicBezTo>
                  <a:pt x="0" y="34146"/>
                  <a:pt x="34146" y="0"/>
                  <a:pt x="76204" y="0"/>
                </a:cubicBezTo>
                <a:close/>
              </a:path>
            </a:pathLst>
          </a:custGeom>
          <a:solidFill>
            <a:srgbClr val="1E293B"/>
          </a:solidFill>
          <a:ln/>
        </p:spPr>
      </p:sp>
      <p:sp>
        <p:nvSpPr>
          <p:cNvPr id="40" name="Text 38"/>
          <p:cNvSpPr/>
          <p:nvPr/>
        </p:nvSpPr>
        <p:spPr>
          <a:xfrm>
            <a:off x="657225" y="4576763"/>
            <a:ext cx="1763911" cy="142875"/>
          </a:xfrm>
          <a:prstGeom prst="rect">
            <a:avLst/>
          </a:prstGeom>
          <a:noFill/>
          <a:ln/>
        </p:spPr>
        <p:txBody>
          <a:bodyPr wrap="square" lIns="0" tIns="0" rIns="0" bIns="0" rtlCol="0" anchor="ctr"/>
          <a:lstStyle/>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Chọn framework kiểm thử</a:t>
            </a:r>
            <a:endParaRPr lang="en-US" sz="1600" dirty="0"/>
          </a:p>
        </p:txBody>
      </p:sp>
      <p:sp>
        <p:nvSpPr>
          <p:cNvPr id="41" name="Text 39"/>
          <p:cNvSpPr/>
          <p:nvPr/>
        </p:nvSpPr>
        <p:spPr>
          <a:xfrm>
            <a:off x="657225" y="4762500"/>
            <a:ext cx="1559719"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@workspace /setupTests</a:t>
            </a:r>
            <a:endParaRPr lang="en-US" sz="1600" dirty="0"/>
          </a:p>
        </p:txBody>
      </p:sp>
      <p:sp>
        <p:nvSpPr>
          <p:cNvPr id="42" name="Text 40"/>
          <p:cNvSpPr/>
          <p:nvPr/>
        </p:nvSpPr>
        <p:spPr>
          <a:xfrm>
            <a:off x="657225" y="4948238"/>
            <a:ext cx="1151186" cy="142875"/>
          </a:xfrm>
          <a:prstGeom prst="rect">
            <a:avLst/>
          </a:prstGeom>
          <a:noFill/>
          <a:ln/>
        </p:spPr>
        <p:txBody>
          <a:bodyPr wrap="square" lIns="0" tIns="0" rIns="0" bIns="0" rtlCol="0" anchor="ctr"/>
          <a:lstStyle/>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Chọn: unittest</a:t>
            </a:r>
            <a:endParaRPr lang="en-US" sz="1600" dirty="0"/>
          </a:p>
        </p:txBody>
      </p:sp>
      <p:sp>
        <p:nvSpPr>
          <p:cNvPr id="43" name="Shape 41"/>
          <p:cNvSpPr/>
          <p:nvPr/>
        </p:nvSpPr>
        <p:spPr>
          <a:xfrm>
            <a:off x="542925" y="5343525"/>
            <a:ext cx="5314950" cy="971550"/>
          </a:xfrm>
          <a:custGeom>
            <a:avLst/>
            <a:gdLst/>
            <a:ahLst/>
            <a:cxnLst/>
            <a:rect l="l" t="t" r="r" b="b"/>
            <a:pathLst>
              <a:path w="5314950" h="971550">
                <a:moveTo>
                  <a:pt x="76199" y="0"/>
                </a:moveTo>
                <a:lnTo>
                  <a:pt x="5238751" y="0"/>
                </a:lnTo>
                <a:cubicBezTo>
                  <a:pt x="5280835" y="0"/>
                  <a:pt x="5314950" y="34115"/>
                  <a:pt x="5314950" y="76199"/>
                </a:cubicBezTo>
                <a:lnTo>
                  <a:pt x="5314950" y="895351"/>
                </a:lnTo>
                <a:cubicBezTo>
                  <a:pt x="5314950" y="937435"/>
                  <a:pt x="5280835" y="971550"/>
                  <a:pt x="5238751" y="971550"/>
                </a:cubicBezTo>
                <a:lnTo>
                  <a:pt x="76199" y="971550"/>
                </a:lnTo>
                <a:cubicBezTo>
                  <a:pt x="34115" y="971550"/>
                  <a:pt x="0" y="937435"/>
                  <a:pt x="0" y="895351"/>
                </a:cubicBezTo>
                <a:lnTo>
                  <a:pt x="0" y="76199"/>
                </a:lnTo>
                <a:cubicBezTo>
                  <a:pt x="0" y="34143"/>
                  <a:pt x="34143" y="0"/>
                  <a:pt x="76199" y="0"/>
                </a:cubicBezTo>
                <a:close/>
              </a:path>
            </a:pathLst>
          </a:custGeom>
          <a:solidFill>
            <a:srgbClr val="1E293B"/>
          </a:solidFill>
          <a:ln/>
        </p:spPr>
      </p:sp>
      <p:sp>
        <p:nvSpPr>
          <p:cNvPr id="44" name="Text 42"/>
          <p:cNvSpPr/>
          <p:nvPr/>
        </p:nvSpPr>
        <p:spPr>
          <a:xfrm>
            <a:off x="657225" y="5476875"/>
            <a:ext cx="1832074" cy="142875"/>
          </a:xfrm>
          <a:prstGeom prst="rect">
            <a:avLst/>
          </a:prstGeom>
          <a:noFill/>
          <a:ln/>
        </p:spPr>
        <p:txBody>
          <a:bodyPr wrap="square" lIns="0" tIns="0" rIns="0" bIns="0" rtlCol="0" anchor="ctr"/>
          <a:lstStyle/>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Sinh test cho hàm cụ thể</a:t>
            </a:r>
            <a:endParaRPr lang="en-US" sz="1600" dirty="0"/>
          </a:p>
        </p:txBody>
      </p:sp>
      <p:sp>
        <p:nvSpPr>
          <p:cNvPr id="45" name="Text 43"/>
          <p:cNvSpPr/>
          <p:nvPr/>
        </p:nvSpPr>
        <p:spPr>
          <a:xfrm>
            <a:off x="657225" y="5662613"/>
            <a:ext cx="1219349"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@workspace /tests</a:t>
            </a:r>
            <a:endParaRPr lang="en-US" sz="1600" dirty="0"/>
          </a:p>
        </p:txBody>
      </p:sp>
      <p:sp>
        <p:nvSpPr>
          <p:cNvPr id="46" name="Text 44"/>
          <p:cNvSpPr/>
          <p:nvPr/>
        </p:nvSpPr>
        <p:spPr>
          <a:xfrm>
            <a:off x="657225" y="5848350"/>
            <a:ext cx="1627882"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generate unit tests for</a:t>
            </a:r>
            <a:endParaRPr lang="en-US" sz="1600" dirty="0"/>
          </a:p>
        </p:txBody>
      </p:sp>
      <p:sp>
        <p:nvSpPr>
          <p:cNvPr id="47" name="Text 45"/>
          <p:cNvSpPr/>
          <p:nvPr/>
        </p:nvSpPr>
        <p:spPr>
          <a:xfrm>
            <a:off x="657225" y="6034088"/>
            <a:ext cx="155971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lowercase_remove_punct</a:t>
            </a:r>
            <a:endParaRPr lang="en-US" sz="1600" dirty="0"/>
          </a:p>
        </p:txBody>
      </p:sp>
      <p:sp>
        <p:nvSpPr>
          <p:cNvPr id="48" name="Shape 46"/>
          <p:cNvSpPr/>
          <p:nvPr/>
        </p:nvSpPr>
        <p:spPr>
          <a:xfrm>
            <a:off x="6176963" y="3905250"/>
            <a:ext cx="5629275" cy="2571750"/>
          </a:xfrm>
          <a:custGeom>
            <a:avLst/>
            <a:gdLst/>
            <a:ahLst/>
            <a:cxnLst/>
            <a:rect l="l" t="t" r="r" b="b"/>
            <a:pathLst>
              <a:path w="5629275" h="2571750">
                <a:moveTo>
                  <a:pt x="114289" y="0"/>
                </a:moveTo>
                <a:lnTo>
                  <a:pt x="5514986" y="0"/>
                </a:lnTo>
                <a:cubicBezTo>
                  <a:pt x="5578064" y="0"/>
                  <a:pt x="5629275" y="51211"/>
                  <a:pt x="5629275" y="114289"/>
                </a:cubicBezTo>
                <a:lnTo>
                  <a:pt x="5629275" y="2457461"/>
                </a:lnTo>
                <a:cubicBezTo>
                  <a:pt x="5629275" y="2520581"/>
                  <a:pt x="5578106" y="2571750"/>
                  <a:pt x="5514986" y="2571750"/>
                </a:cubicBezTo>
                <a:lnTo>
                  <a:pt x="114289" y="2571750"/>
                </a:lnTo>
                <a:cubicBezTo>
                  <a:pt x="51211" y="2571750"/>
                  <a:pt x="0" y="2520539"/>
                  <a:pt x="0" y="2457461"/>
                </a:cubicBezTo>
                <a:lnTo>
                  <a:pt x="0" y="114289"/>
                </a:lnTo>
                <a:cubicBezTo>
                  <a:pt x="0" y="51169"/>
                  <a:pt x="51169" y="0"/>
                  <a:pt x="114289" y="0"/>
                </a:cubicBezTo>
                <a:close/>
              </a:path>
            </a:pathLst>
          </a:custGeom>
          <a:solidFill>
            <a:srgbClr val="0F172A"/>
          </a:solidFill>
          <a:ln w="12700">
            <a:solidFill>
              <a:srgbClr val="10B981">
                <a:alpha val="30196"/>
              </a:srgbClr>
            </a:solidFill>
            <a:prstDash val="solid"/>
          </a:ln>
        </p:spPr>
      </p:sp>
      <p:sp>
        <p:nvSpPr>
          <p:cNvPr id="49" name="Shape 47"/>
          <p:cNvSpPr/>
          <p:nvPr/>
        </p:nvSpPr>
        <p:spPr>
          <a:xfrm>
            <a:off x="6357938" y="4110038"/>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7" y="71225"/>
                </a:moveTo>
                <a:lnTo>
                  <a:pt x="87198" y="114088"/>
                </a:lnTo>
                <a:cubicBezTo>
                  <a:pt x="85792" y="116332"/>
                  <a:pt x="83381" y="117738"/>
                  <a:pt x="80736" y="117872"/>
                </a:cubicBezTo>
                <a:cubicBezTo>
                  <a:pt x="78090" y="118006"/>
                  <a:pt x="75545" y="116800"/>
                  <a:pt x="73971" y="114657"/>
                </a:cubicBezTo>
                <a:lnTo>
                  <a:pt x="57898" y="93226"/>
                </a:lnTo>
                <a:cubicBezTo>
                  <a:pt x="55219" y="89676"/>
                  <a:pt x="55956" y="84653"/>
                  <a:pt x="59505" y="81975"/>
                </a:cubicBezTo>
                <a:cubicBezTo>
                  <a:pt x="63055" y="79296"/>
                  <a:pt x="68078" y="80032"/>
                  <a:pt x="70757" y="83582"/>
                </a:cubicBezTo>
                <a:lnTo>
                  <a:pt x="79798" y="95637"/>
                </a:lnTo>
                <a:lnTo>
                  <a:pt x="100359" y="62720"/>
                </a:lnTo>
                <a:cubicBezTo>
                  <a:pt x="102703" y="58969"/>
                  <a:pt x="107659" y="57797"/>
                  <a:pt x="111443" y="60175"/>
                </a:cubicBezTo>
                <a:cubicBezTo>
                  <a:pt x="115226" y="62552"/>
                  <a:pt x="116365" y="67475"/>
                  <a:pt x="113987" y="71259"/>
                </a:cubicBezTo>
                <a:close/>
              </a:path>
            </a:pathLst>
          </a:custGeom>
          <a:solidFill>
            <a:srgbClr val="10B981"/>
          </a:solidFill>
          <a:ln/>
        </p:spPr>
      </p:sp>
      <p:sp>
        <p:nvSpPr>
          <p:cNvPr id="50" name="Text 48"/>
          <p:cNvSpPr/>
          <p:nvPr/>
        </p:nvSpPr>
        <p:spPr>
          <a:xfrm>
            <a:off x="6553200" y="4062412"/>
            <a:ext cx="5181600" cy="266700"/>
          </a:xfrm>
          <a:prstGeom prst="rect">
            <a:avLst/>
          </a:prstGeom>
          <a:noFill/>
          <a:ln/>
        </p:spPr>
        <p:txBody>
          <a:bodyPr wrap="square" lIns="0" tIns="0" rIns="0" bIns="0" rtlCol="0" anchor="ctr"/>
          <a:lstStyle/>
          <a:p>
            <a:pPr>
              <a:lnSpc>
                <a:spcPct val="130000"/>
              </a:lnSpc>
            </a:pPr>
            <a:r>
              <a:rPr lang="en-US" sz="1350" b="1" dirty="0">
                <a:solidFill>
                  <a:srgbClr val="10B981"/>
                </a:solidFill>
                <a:latin typeface="MiSans" pitchFamily="34" charset="0"/>
                <a:ea typeface="MiSans" pitchFamily="34" charset="-122"/>
                <a:cs typeface="MiSans" pitchFamily="34" charset="-120"/>
              </a:rPr>
              <a:t>Kết quả đầu ra</a:t>
            </a:r>
            <a:endParaRPr lang="en-US" sz="1600" dirty="0"/>
          </a:p>
        </p:txBody>
      </p:sp>
      <p:sp>
        <p:nvSpPr>
          <p:cNvPr id="51" name="Shape 49"/>
          <p:cNvSpPr/>
          <p:nvPr/>
        </p:nvSpPr>
        <p:spPr>
          <a:xfrm>
            <a:off x="6362700" y="4481513"/>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52" name="Text 50"/>
          <p:cNvSpPr/>
          <p:nvPr/>
        </p:nvSpPr>
        <p:spPr>
          <a:xfrm>
            <a:off x="6600825" y="4443413"/>
            <a:ext cx="228600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File test_ngrams.py tự động tạo</a:t>
            </a:r>
            <a:endParaRPr lang="en-US" sz="1600" dirty="0"/>
          </a:p>
        </p:txBody>
      </p:sp>
      <p:sp>
        <p:nvSpPr>
          <p:cNvPr id="53" name="Shape 51"/>
          <p:cNvSpPr/>
          <p:nvPr/>
        </p:nvSpPr>
        <p:spPr>
          <a:xfrm>
            <a:off x="6362700" y="4786313"/>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54" name="Text 52"/>
          <p:cNvSpPr/>
          <p:nvPr/>
        </p:nvSpPr>
        <p:spPr>
          <a:xfrm>
            <a:off x="6600825" y="4748213"/>
            <a:ext cx="308610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Các kịch bản kiểm tra chữ hoa, chữ thường</a:t>
            </a:r>
            <a:endParaRPr lang="en-US" sz="1600" dirty="0"/>
          </a:p>
        </p:txBody>
      </p:sp>
      <p:sp>
        <p:nvSpPr>
          <p:cNvPr id="55" name="Shape 53"/>
          <p:cNvSpPr/>
          <p:nvPr/>
        </p:nvSpPr>
        <p:spPr>
          <a:xfrm>
            <a:off x="6362700" y="5091113"/>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56" name="Text 54"/>
          <p:cNvSpPr/>
          <p:nvPr/>
        </p:nvSpPr>
        <p:spPr>
          <a:xfrm>
            <a:off x="6600825" y="5053013"/>
            <a:ext cx="16573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Kiểm tra ký tự đặc biệt</a:t>
            </a:r>
            <a:endParaRPr lang="en-US" sz="1600" dirty="0"/>
          </a:p>
        </p:txBody>
      </p:sp>
      <p:sp>
        <p:nvSpPr>
          <p:cNvPr id="57" name="Shape 55"/>
          <p:cNvSpPr/>
          <p:nvPr/>
        </p:nvSpPr>
        <p:spPr>
          <a:xfrm>
            <a:off x="6362700" y="5395913"/>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10B981"/>
          </a:solidFill>
          <a:ln/>
        </p:spPr>
      </p:sp>
      <p:sp>
        <p:nvSpPr>
          <p:cNvPr id="58" name="Text 56"/>
          <p:cNvSpPr/>
          <p:nvPr/>
        </p:nvSpPr>
        <p:spPr>
          <a:xfrm>
            <a:off x="6600825" y="5357813"/>
            <a:ext cx="2028825"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Cấu trúc test chuẩn unittest</a:t>
            </a:r>
            <a:endParaRPr lang="en-US" sz="16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488156" y="561975"/>
            <a:ext cx="171450" cy="171450"/>
          </a:xfrm>
          <a:custGeom>
            <a:avLst/>
            <a:gdLst/>
            <a:ahLst/>
            <a:cxnLst/>
            <a:rect l="l" t="t" r="r" b="b"/>
            <a:pathLst>
              <a:path w="171450" h="171450">
                <a:moveTo>
                  <a:pt x="163413" y="64294"/>
                </a:moveTo>
                <a:lnTo>
                  <a:pt x="115193" y="64294"/>
                </a:lnTo>
                <a:cubicBezTo>
                  <a:pt x="111945" y="64294"/>
                  <a:pt x="108998" y="62352"/>
                  <a:pt x="107759" y="59338"/>
                </a:cubicBezTo>
                <a:cubicBezTo>
                  <a:pt x="106520" y="56324"/>
                  <a:pt x="107190" y="52875"/>
                  <a:pt x="109500" y="50564"/>
                </a:cubicBezTo>
                <a:lnTo>
                  <a:pt x="125138" y="34926"/>
                </a:lnTo>
                <a:cubicBezTo>
                  <a:pt x="99923" y="15303"/>
                  <a:pt x="63423" y="17078"/>
                  <a:pt x="40251" y="40251"/>
                </a:cubicBezTo>
                <a:cubicBezTo>
                  <a:pt x="15136" y="65365"/>
                  <a:pt x="15136" y="106051"/>
                  <a:pt x="40251" y="131166"/>
                </a:cubicBezTo>
                <a:cubicBezTo>
                  <a:pt x="65365" y="156281"/>
                  <a:pt x="106051" y="156281"/>
                  <a:pt x="131166" y="131166"/>
                </a:cubicBezTo>
                <a:cubicBezTo>
                  <a:pt x="133912" y="128420"/>
                  <a:pt x="136356" y="125507"/>
                  <a:pt x="138499" y="122426"/>
                </a:cubicBezTo>
                <a:cubicBezTo>
                  <a:pt x="141882" y="117570"/>
                  <a:pt x="148579" y="116398"/>
                  <a:pt x="153434" y="119781"/>
                </a:cubicBezTo>
                <a:cubicBezTo>
                  <a:pt x="158290" y="123163"/>
                  <a:pt x="159462" y="129860"/>
                  <a:pt x="156080" y="134715"/>
                </a:cubicBezTo>
                <a:cubicBezTo>
                  <a:pt x="153233" y="138801"/>
                  <a:pt x="149985" y="142685"/>
                  <a:pt x="146335" y="146335"/>
                </a:cubicBezTo>
                <a:cubicBezTo>
                  <a:pt x="112849" y="179822"/>
                  <a:pt x="58568" y="179822"/>
                  <a:pt x="25115" y="146335"/>
                </a:cubicBezTo>
                <a:cubicBezTo>
                  <a:pt x="-8338" y="112849"/>
                  <a:pt x="-8372" y="58601"/>
                  <a:pt x="25115" y="25115"/>
                </a:cubicBezTo>
                <a:cubicBezTo>
                  <a:pt x="56692" y="-6463"/>
                  <a:pt x="106721" y="-8238"/>
                  <a:pt x="140408" y="19690"/>
                </a:cubicBezTo>
                <a:lnTo>
                  <a:pt x="157721" y="2344"/>
                </a:lnTo>
                <a:cubicBezTo>
                  <a:pt x="160031" y="33"/>
                  <a:pt x="163480" y="-636"/>
                  <a:pt x="166494" y="603"/>
                </a:cubicBezTo>
                <a:cubicBezTo>
                  <a:pt x="169508" y="1842"/>
                  <a:pt x="171450" y="4789"/>
                  <a:pt x="171450" y="8037"/>
                </a:cubicBezTo>
                <a:lnTo>
                  <a:pt x="171450" y="56257"/>
                </a:lnTo>
                <a:cubicBezTo>
                  <a:pt x="171450" y="60711"/>
                  <a:pt x="167867" y="64294"/>
                  <a:pt x="163413" y="64294"/>
                </a:cubicBezTo>
                <a:close/>
              </a:path>
            </a:pathLst>
          </a:custGeom>
          <a:solidFill>
            <a:srgbClr val="FFFFFF"/>
          </a:solidFill>
          <a:ln/>
        </p:spPr>
      </p:sp>
      <p:sp>
        <p:nvSpPr>
          <p:cNvPr id="4" name="Text 2"/>
          <p:cNvSpPr/>
          <p:nvPr/>
        </p:nvSpPr>
        <p:spPr>
          <a:xfrm>
            <a:off x="876300" y="381000"/>
            <a:ext cx="8610600"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13 | MỨC LUẬN LÝ</a:t>
            </a:r>
            <a:endParaRPr lang="en-US" sz="1600" dirty="0"/>
          </a:p>
        </p:txBody>
      </p:sp>
      <p:sp>
        <p:nvSpPr>
          <p:cNvPr id="5" name="Text 3"/>
          <p:cNvSpPr/>
          <p:nvPr/>
        </p:nvSpPr>
        <p:spPr>
          <a:xfrm>
            <a:off x="876300" y="571500"/>
            <a:ext cx="86868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Luồng Phát triển theo hướng Kiểm thử với GenAI (TDD Workflow)</a:t>
            </a:r>
            <a:endParaRPr lang="en-US" sz="1600" dirty="0"/>
          </a:p>
        </p:txBody>
      </p:sp>
      <p:sp>
        <p:nvSpPr>
          <p:cNvPr id="6" name="Shape 4"/>
          <p:cNvSpPr/>
          <p:nvPr/>
        </p:nvSpPr>
        <p:spPr>
          <a:xfrm>
            <a:off x="385763" y="1147763"/>
            <a:ext cx="5610225" cy="4695825"/>
          </a:xfrm>
          <a:custGeom>
            <a:avLst/>
            <a:gdLst/>
            <a:ahLst/>
            <a:cxnLst/>
            <a:rect l="l" t="t" r="r" b="b"/>
            <a:pathLst>
              <a:path w="5610225" h="4695825">
                <a:moveTo>
                  <a:pt x="114296" y="0"/>
                </a:moveTo>
                <a:lnTo>
                  <a:pt x="5495929" y="0"/>
                </a:lnTo>
                <a:cubicBezTo>
                  <a:pt x="5559053" y="0"/>
                  <a:pt x="5610225" y="51172"/>
                  <a:pt x="5610225" y="114296"/>
                </a:cubicBezTo>
                <a:lnTo>
                  <a:pt x="5610225" y="4581529"/>
                </a:lnTo>
                <a:cubicBezTo>
                  <a:pt x="5610225" y="4644653"/>
                  <a:pt x="5559053" y="4695825"/>
                  <a:pt x="5495929" y="4695825"/>
                </a:cubicBezTo>
                <a:lnTo>
                  <a:pt x="114296" y="4695825"/>
                </a:lnTo>
                <a:cubicBezTo>
                  <a:pt x="51172" y="4695825"/>
                  <a:pt x="0" y="4644653"/>
                  <a:pt x="0" y="4581529"/>
                </a:cubicBezTo>
                <a:lnTo>
                  <a:pt x="0" y="114296"/>
                </a:lnTo>
                <a:cubicBezTo>
                  <a:pt x="0" y="51172"/>
                  <a:pt x="51172" y="0"/>
                  <a:pt x="114296"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EF4444"/>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EF4444"/>
                </a:solidFill>
                <a:latin typeface="MiSans" pitchFamily="34" charset="0"/>
                <a:ea typeface="MiSans" pitchFamily="34" charset="-122"/>
                <a:cs typeface="MiSans" pitchFamily="34" charset="-120"/>
              </a:rPr>
              <a:t>Bước 1: Test sinh ra lỗi (RED)</a:t>
            </a:r>
            <a:endParaRPr lang="en-US" sz="1600" dirty="0"/>
          </a:p>
        </p:txBody>
      </p:sp>
      <p:sp>
        <p:nvSpPr>
          <p:cNvPr id="9" name="Shape 7"/>
          <p:cNvSpPr/>
          <p:nvPr/>
        </p:nvSpPr>
        <p:spPr>
          <a:xfrm>
            <a:off x="581025" y="1762125"/>
            <a:ext cx="5219700" cy="1695450"/>
          </a:xfrm>
          <a:custGeom>
            <a:avLst/>
            <a:gdLst/>
            <a:ahLst/>
            <a:cxnLst/>
            <a:rect l="l" t="t" r="r" b="b"/>
            <a:pathLst>
              <a:path w="5219700" h="1695450">
                <a:moveTo>
                  <a:pt x="76194" y="0"/>
                </a:moveTo>
                <a:lnTo>
                  <a:pt x="5143506" y="0"/>
                </a:lnTo>
                <a:cubicBezTo>
                  <a:pt x="5185587" y="0"/>
                  <a:pt x="5219700" y="34113"/>
                  <a:pt x="5219700" y="76194"/>
                </a:cubicBezTo>
                <a:lnTo>
                  <a:pt x="5219700" y="1619256"/>
                </a:lnTo>
                <a:cubicBezTo>
                  <a:pt x="5219700" y="1661337"/>
                  <a:pt x="5185587" y="1695450"/>
                  <a:pt x="5143506" y="1695450"/>
                </a:cubicBezTo>
                <a:lnTo>
                  <a:pt x="76194" y="1695450"/>
                </a:lnTo>
                <a:cubicBezTo>
                  <a:pt x="34113" y="1695450"/>
                  <a:pt x="0" y="1661337"/>
                  <a:pt x="0" y="1619256"/>
                </a:cubicBezTo>
                <a:lnTo>
                  <a:pt x="0" y="76194"/>
                </a:lnTo>
                <a:cubicBezTo>
                  <a:pt x="0" y="34113"/>
                  <a:pt x="34113" y="0"/>
                  <a:pt x="76194" y="0"/>
                </a:cubicBezTo>
                <a:close/>
              </a:path>
            </a:pathLst>
          </a:custGeom>
          <a:solidFill>
            <a:srgbClr val="0F172A"/>
          </a:solidFill>
          <a:ln/>
        </p:spPr>
      </p:sp>
      <p:sp>
        <p:nvSpPr>
          <p:cNvPr id="10" name="Text 8"/>
          <p:cNvSpPr/>
          <p:nvPr/>
        </p:nvSpPr>
        <p:spPr>
          <a:xfrm>
            <a:off x="69532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Viết test cho hàm tính diện tích giao nhau:</a:t>
            </a:r>
            <a:endParaRPr lang="en-US" sz="1600" dirty="0"/>
          </a:p>
        </p:txBody>
      </p:sp>
      <p:sp>
        <p:nvSpPr>
          <p:cNvPr id="11" name="Shape 9"/>
          <p:cNvSpPr/>
          <p:nvPr/>
        </p:nvSpPr>
        <p:spPr>
          <a:xfrm>
            <a:off x="695325" y="2181225"/>
            <a:ext cx="4991100" cy="1162050"/>
          </a:xfrm>
          <a:custGeom>
            <a:avLst/>
            <a:gdLst/>
            <a:ahLst/>
            <a:cxnLst/>
            <a:rect l="l" t="t" r="r" b="b"/>
            <a:pathLst>
              <a:path w="4991100" h="1162050">
                <a:moveTo>
                  <a:pt x="76196" y="0"/>
                </a:moveTo>
                <a:lnTo>
                  <a:pt x="4914904" y="0"/>
                </a:lnTo>
                <a:cubicBezTo>
                  <a:pt x="4956986" y="0"/>
                  <a:pt x="4991100" y="34114"/>
                  <a:pt x="4991100" y="76196"/>
                </a:cubicBezTo>
                <a:lnTo>
                  <a:pt x="4991100" y="1085854"/>
                </a:lnTo>
                <a:cubicBezTo>
                  <a:pt x="4991100" y="1127936"/>
                  <a:pt x="4956986" y="1162050"/>
                  <a:pt x="4914904" y="1162050"/>
                </a:cubicBezTo>
                <a:lnTo>
                  <a:pt x="76196" y="1162050"/>
                </a:lnTo>
                <a:cubicBezTo>
                  <a:pt x="34114" y="1162050"/>
                  <a:pt x="0" y="1127936"/>
                  <a:pt x="0" y="1085854"/>
                </a:cubicBezTo>
                <a:lnTo>
                  <a:pt x="0" y="76196"/>
                </a:lnTo>
                <a:cubicBezTo>
                  <a:pt x="0" y="34142"/>
                  <a:pt x="34142" y="0"/>
                  <a:pt x="76196" y="0"/>
                </a:cubicBezTo>
                <a:close/>
              </a:path>
            </a:pathLst>
          </a:custGeom>
          <a:solidFill>
            <a:srgbClr val="1E293B"/>
          </a:solidFill>
          <a:ln/>
        </p:spPr>
      </p:sp>
      <p:sp>
        <p:nvSpPr>
          <p:cNvPr id="12" name="Text 10"/>
          <p:cNvSpPr/>
          <p:nvPr/>
        </p:nvSpPr>
        <p:spPr>
          <a:xfrm>
            <a:off x="695325" y="2181225"/>
            <a:ext cx="5053013" cy="116205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test_rect_intersection</a:t>
            </a:r>
            <a:pPr>
              <a:lnSpc>
                <a:spcPct val="130000"/>
              </a:lnSpc>
            </a:pPr>
            <a:r>
              <a:rPr lang="en-US" sz="975" dirty="0">
                <a:solidFill>
                  <a:srgbClr val="F1F5F9"/>
                </a:solidFill>
                <a:latin typeface="MiSans" pitchFamily="34" charset="0"/>
                <a:ea typeface="MiSans" pitchFamily="34" charset="-122"/>
                <a:cs typeface="MiSans" pitchFamily="34" charset="-120"/>
              </a:rPr>
              <a:t>():</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rect1 = Rectangle(0, 0, 10, 10)</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rect2 = Rectangle(5, 5, 15, 15)</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result = rect_intersection_area(rect1, rect2)</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assert result == 25</a:t>
            </a:r>
            <a:endParaRPr lang="en-US" sz="1600" dirty="0"/>
          </a:p>
        </p:txBody>
      </p:sp>
      <p:sp>
        <p:nvSpPr>
          <p:cNvPr id="13" name="Shape 11"/>
          <p:cNvSpPr/>
          <p:nvPr/>
        </p:nvSpPr>
        <p:spPr>
          <a:xfrm>
            <a:off x="585788" y="3571875"/>
            <a:ext cx="5210175" cy="1143000"/>
          </a:xfrm>
          <a:custGeom>
            <a:avLst/>
            <a:gdLst/>
            <a:ahLst/>
            <a:cxnLst/>
            <a:rect l="l" t="t" r="r" b="b"/>
            <a:pathLst>
              <a:path w="5210175" h="1143000">
                <a:moveTo>
                  <a:pt x="76204" y="0"/>
                </a:moveTo>
                <a:lnTo>
                  <a:pt x="5133971" y="0"/>
                </a:lnTo>
                <a:cubicBezTo>
                  <a:pt x="5176057" y="0"/>
                  <a:pt x="5210175" y="34118"/>
                  <a:pt x="5210175" y="76204"/>
                </a:cubicBezTo>
                <a:lnTo>
                  <a:pt x="5210175" y="1066796"/>
                </a:lnTo>
                <a:cubicBezTo>
                  <a:pt x="5210175" y="1108882"/>
                  <a:pt x="5176057" y="1143000"/>
                  <a:pt x="5133971" y="1143000"/>
                </a:cubicBezTo>
                <a:lnTo>
                  <a:pt x="76204" y="1143000"/>
                </a:lnTo>
                <a:cubicBezTo>
                  <a:pt x="34118" y="1143000"/>
                  <a:pt x="0" y="1108882"/>
                  <a:pt x="0" y="1066796"/>
                </a:cubicBezTo>
                <a:lnTo>
                  <a:pt x="0" y="76204"/>
                </a:lnTo>
                <a:cubicBezTo>
                  <a:pt x="0" y="34146"/>
                  <a:pt x="34146" y="0"/>
                  <a:pt x="76204" y="0"/>
                </a:cubicBezTo>
                <a:close/>
              </a:path>
            </a:pathLst>
          </a:custGeom>
          <a:solidFill>
            <a:srgbClr val="0F172A"/>
          </a:solidFill>
          <a:ln w="12700">
            <a:solidFill>
              <a:srgbClr val="EF4444">
                <a:alpha val="30196"/>
              </a:srgbClr>
            </a:solidFill>
            <a:prstDash val="solid"/>
          </a:ln>
        </p:spPr>
      </p:sp>
      <p:sp>
        <p:nvSpPr>
          <p:cNvPr id="14" name="Text 12"/>
          <p:cNvSpPr/>
          <p:nvPr/>
        </p:nvSpPr>
        <p:spPr>
          <a:xfrm>
            <a:off x="704850" y="3690937"/>
            <a:ext cx="5048250" cy="228600"/>
          </a:xfrm>
          <a:prstGeom prst="rect">
            <a:avLst/>
          </a:prstGeom>
          <a:noFill/>
          <a:ln/>
        </p:spPr>
        <p:txBody>
          <a:bodyPr wrap="square" lIns="0" tIns="0" rIns="0" bIns="0" rtlCol="0" anchor="ctr"/>
          <a:lstStyle/>
          <a:p>
            <a:pPr>
              <a:lnSpc>
                <a:spcPct val="130000"/>
              </a:lnSpc>
            </a:pPr>
            <a:r>
              <a:rPr lang="en-US" sz="1200" b="1" dirty="0">
                <a:solidFill>
                  <a:srgbClr val="EF4444"/>
                </a:solidFill>
                <a:latin typeface="MiSans" pitchFamily="34" charset="0"/>
                <a:ea typeface="MiSans" pitchFamily="34" charset="-122"/>
                <a:cs typeface="MiSans" pitchFamily="34" charset="-120"/>
              </a:rPr>
              <a:t>Tạo hàm rỗng khiến test fail:</a:t>
            </a:r>
            <a:endParaRPr lang="en-US" sz="1600" dirty="0"/>
          </a:p>
        </p:txBody>
      </p:sp>
      <p:sp>
        <p:nvSpPr>
          <p:cNvPr id="15" name="Shape 13"/>
          <p:cNvSpPr/>
          <p:nvPr/>
        </p:nvSpPr>
        <p:spPr>
          <a:xfrm>
            <a:off x="704850" y="3995738"/>
            <a:ext cx="4972050" cy="600075"/>
          </a:xfrm>
          <a:custGeom>
            <a:avLst/>
            <a:gdLst/>
            <a:ahLst/>
            <a:cxnLst/>
            <a:rect l="l" t="t" r="r" b="b"/>
            <a:pathLst>
              <a:path w="4972050" h="600075">
                <a:moveTo>
                  <a:pt x="76198" y="0"/>
                </a:moveTo>
                <a:lnTo>
                  <a:pt x="4895852" y="0"/>
                </a:lnTo>
                <a:cubicBezTo>
                  <a:pt x="4937935" y="0"/>
                  <a:pt x="4972050" y="34115"/>
                  <a:pt x="4972050" y="76198"/>
                </a:cubicBezTo>
                <a:lnTo>
                  <a:pt x="4972050" y="523877"/>
                </a:lnTo>
                <a:cubicBezTo>
                  <a:pt x="4972050" y="565960"/>
                  <a:pt x="4937935" y="600075"/>
                  <a:pt x="4895852" y="600075"/>
                </a:cubicBezTo>
                <a:lnTo>
                  <a:pt x="76198" y="600075"/>
                </a:lnTo>
                <a:cubicBezTo>
                  <a:pt x="34115" y="600075"/>
                  <a:pt x="0" y="565960"/>
                  <a:pt x="0" y="523877"/>
                </a:cubicBezTo>
                <a:lnTo>
                  <a:pt x="0" y="76198"/>
                </a:lnTo>
                <a:cubicBezTo>
                  <a:pt x="0" y="34115"/>
                  <a:pt x="34115" y="0"/>
                  <a:pt x="76198" y="0"/>
                </a:cubicBezTo>
                <a:close/>
              </a:path>
            </a:pathLst>
          </a:custGeom>
          <a:solidFill>
            <a:srgbClr val="1E293B"/>
          </a:solidFill>
          <a:ln/>
        </p:spPr>
      </p:sp>
      <p:sp>
        <p:nvSpPr>
          <p:cNvPr id="16" name="Text 14"/>
          <p:cNvSpPr/>
          <p:nvPr/>
        </p:nvSpPr>
        <p:spPr>
          <a:xfrm>
            <a:off x="704850" y="3995738"/>
            <a:ext cx="5033963" cy="600075"/>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rect_intersection_area</a:t>
            </a:r>
            <a:pPr>
              <a:lnSpc>
                <a:spcPct val="130000"/>
              </a:lnSpc>
            </a:pPr>
            <a:r>
              <a:rPr lang="en-US" sz="975" dirty="0">
                <a:solidFill>
                  <a:srgbClr val="F1F5F9"/>
                </a:solidFill>
                <a:latin typeface="MiSans" pitchFamily="34" charset="0"/>
                <a:ea typeface="MiSans" pitchFamily="34" charset="-122"/>
                <a:cs typeface="MiSans" pitchFamily="34" charset="-120"/>
              </a:rPr>
              <a:t>(r1, r2):</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EF4444"/>
                </a:solidFill>
                <a:latin typeface="MiSans" pitchFamily="34" charset="0"/>
                <a:ea typeface="MiSans" pitchFamily="34" charset="-122"/>
                <a:cs typeface="MiSans" pitchFamily="34" charset="-120"/>
              </a:rPr>
              <a:t>None</a:t>
            </a:r>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FAIL!</a:t>
            </a:r>
            <a:endParaRPr lang="en-US" sz="1600" dirty="0"/>
          </a:p>
        </p:txBody>
      </p:sp>
      <p:sp>
        <p:nvSpPr>
          <p:cNvPr id="17" name="Shape 15"/>
          <p:cNvSpPr/>
          <p:nvPr/>
        </p:nvSpPr>
        <p:spPr>
          <a:xfrm>
            <a:off x="385763" y="6005513"/>
            <a:ext cx="5610225" cy="542925"/>
          </a:xfrm>
          <a:custGeom>
            <a:avLst/>
            <a:gdLst/>
            <a:ahLst/>
            <a:cxnLst/>
            <a:rect l="l" t="t" r="r" b="b"/>
            <a:pathLst>
              <a:path w="5610225" h="542925">
                <a:moveTo>
                  <a:pt x="114302" y="0"/>
                </a:moveTo>
                <a:lnTo>
                  <a:pt x="5495923" y="0"/>
                </a:lnTo>
                <a:cubicBezTo>
                  <a:pt x="5559050" y="0"/>
                  <a:pt x="5610225" y="51175"/>
                  <a:pt x="5610225" y="114302"/>
                </a:cubicBezTo>
                <a:lnTo>
                  <a:pt x="5610225" y="428623"/>
                </a:lnTo>
                <a:cubicBezTo>
                  <a:pt x="5610225" y="491750"/>
                  <a:pt x="5559050" y="542925"/>
                  <a:pt x="5495923" y="542925"/>
                </a:cubicBezTo>
                <a:lnTo>
                  <a:pt x="114302" y="542925"/>
                </a:lnTo>
                <a:cubicBezTo>
                  <a:pt x="51175" y="542925"/>
                  <a:pt x="0" y="491750"/>
                  <a:pt x="0" y="428623"/>
                </a:cubicBezTo>
                <a:lnTo>
                  <a:pt x="0" y="114302"/>
                </a:lnTo>
                <a:cubicBezTo>
                  <a:pt x="0" y="51175"/>
                  <a:pt x="51175" y="0"/>
                  <a:pt x="114302" y="0"/>
                </a:cubicBezTo>
                <a:close/>
              </a:path>
            </a:pathLst>
          </a:custGeom>
          <a:solidFill>
            <a:srgbClr val="0F172A"/>
          </a:solidFill>
          <a:ln w="12700">
            <a:solidFill>
              <a:srgbClr val="EF4444">
                <a:alpha val="30196"/>
              </a:srgbClr>
            </a:solidFill>
            <a:prstDash val="solid"/>
          </a:ln>
        </p:spPr>
      </p:sp>
      <p:sp>
        <p:nvSpPr>
          <p:cNvPr id="18" name="Shape 16"/>
          <p:cNvSpPr/>
          <p:nvPr/>
        </p:nvSpPr>
        <p:spPr>
          <a:xfrm>
            <a:off x="561975" y="62103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EF4444"/>
          </a:solidFill>
          <a:ln/>
        </p:spPr>
      </p:sp>
      <p:sp>
        <p:nvSpPr>
          <p:cNvPr id="19" name="Text 17"/>
          <p:cNvSpPr/>
          <p:nvPr/>
        </p:nvSpPr>
        <p:spPr>
          <a:xfrm>
            <a:off x="790575" y="6162675"/>
            <a:ext cx="5124450" cy="228600"/>
          </a:xfrm>
          <a:prstGeom prst="rect">
            <a:avLst/>
          </a:prstGeom>
          <a:noFill/>
          <a:ln/>
        </p:spPr>
        <p:txBody>
          <a:bodyPr wrap="square" lIns="0" tIns="0" rIns="0" bIns="0" rtlCol="0" anchor="ctr"/>
          <a:lstStyle/>
          <a:p>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Test báo lỗi vì hàm trả về None thay vì 25</a:t>
            </a:r>
            <a:endParaRPr lang="en-US" sz="1600" dirty="0"/>
          </a:p>
        </p:txBody>
      </p:sp>
      <p:sp>
        <p:nvSpPr>
          <p:cNvPr id="20" name="Shape 18"/>
          <p:cNvSpPr/>
          <p:nvPr/>
        </p:nvSpPr>
        <p:spPr>
          <a:xfrm>
            <a:off x="6196013" y="1147763"/>
            <a:ext cx="5610225" cy="4695825"/>
          </a:xfrm>
          <a:custGeom>
            <a:avLst/>
            <a:gdLst/>
            <a:ahLst/>
            <a:cxnLst/>
            <a:rect l="l" t="t" r="r" b="b"/>
            <a:pathLst>
              <a:path w="5610225" h="4695825">
                <a:moveTo>
                  <a:pt x="114296" y="0"/>
                </a:moveTo>
                <a:lnTo>
                  <a:pt x="5495929" y="0"/>
                </a:lnTo>
                <a:cubicBezTo>
                  <a:pt x="5559053" y="0"/>
                  <a:pt x="5610225" y="51172"/>
                  <a:pt x="5610225" y="114296"/>
                </a:cubicBezTo>
                <a:lnTo>
                  <a:pt x="5610225" y="4581529"/>
                </a:lnTo>
                <a:cubicBezTo>
                  <a:pt x="5610225" y="4644653"/>
                  <a:pt x="5559053" y="4695825"/>
                  <a:pt x="5495929" y="4695825"/>
                </a:cubicBezTo>
                <a:lnTo>
                  <a:pt x="114296" y="4695825"/>
                </a:lnTo>
                <a:cubicBezTo>
                  <a:pt x="51172" y="4695825"/>
                  <a:pt x="0" y="4644653"/>
                  <a:pt x="0" y="4581529"/>
                </a:cubicBezTo>
                <a:lnTo>
                  <a:pt x="0" y="114296"/>
                </a:lnTo>
                <a:cubicBezTo>
                  <a:pt x="0" y="51172"/>
                  <a:pt x="51172" y="0"/>
                  <a:pt x="114296"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1" name="Shape 19"/>
          <p:cNvSpPr/>
          <p:nvPr/>
        </p:nvSpPr>
        <p:spPr>
          <a:xfrm>
            <a:off x="641508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10B981"/>
          </a:solidFill>
          <a:ln/>
        </p:spPr>
      </p:sp>
      <p:sp>
        <p:nvSpPr>
          <p:cNvPr id="22" name="Text 20"/>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Bước 2: AI đọc lỗi và viết code (GREEN)</a:t>
            </a:r>
            <a:endParaRPr lang="en-US" sz="1600" dirty="0"/>
          </a:p>
        </p:txBody>
      </p:sp>
      <p:sp>
        <p:nvSpPr>
          <p:cNvPr id="23" name="Shape 21"/>
          <p:cNvSpPr/>
          <p:nvPr/>
        </p:nvSpPr>
        <p:spPr>
          <a:xfrm>
            <a:off x="6391275" y="1762125"/>
            <a:ext cx="5219700" cy="1504950"/>
          </a:xfrm>
          <a:custGeom>
            <a:avLst/>
            <a:gdLst/>
            <a:ahLst/>
            <a:cxnLst/>
            <a:rect l="l" t="t" r="r" b="b"/>
            <a:pathLst>
              <a:path w="5219700" h="1504950">
                <a:moveTo>
                  <a:pt x="76196" y="0"/>
                </a:moveTo>
                <a:lnTo>
                  <a:pt x="5143504" y="0"/>
                </a:lnTo>
                <a:cubicBezTo>
                  <a:pt x="5185586" y="0"/>
                  <a:pt x="5219700" y="34114"/>
                  <a:pt x="5219700" y="76196"/>
                </a:cubicBezTo>
                <a:lnTo>
                  <a:pt x="5219700" y="1428754"/>
                </a:lnTo>
                <a:cubicBezTo>
                  <a:pt x="5219700" y="1470836"/>
                  <a:pt x="5185586" y="1504950"/>
                  <a:pt x="5143504" y="1504950"/>
                </a:cubicBezTo>
                <a:lnTo>
                  <a:pt x="76196" y="1504950"/>
                </a:lnTo>
                <a:cubicBezTo>
                  <a:pt x="34114" y="1504950"/>
                  <a:pt x="0" y="1470836"/>
                  <a:pt x="0" y="1428754"/>
                </a:cubicBezTo>
                <a:lnTo>
                  <a:pt x="0" y="76196"/>
                </a:lnTo>
                <a:cubicBezTo>
                  <a:pt x="0" y="34142"/>
                  <a:pt x="34142" y="0"/>
                  <a:pt x="76196" y="0"/>
                </a:cubicBezTo>
                <a:close/>
              </a:path>
            </a:pathLst>
          </a:custGeom>
          <a:solidFill>
            <a:srgbClr val="0F172A"/>
          </a:solidFill>
          <a:ln/>
        </p:spPr>
      </p:sp>
      <p:sp>
        <p:nvSpPr>
          <p:cNvPr id="24" name="Text 22"/>
          <p:cNvSpPr/>
          <p:nvPr/>
        </p:nvSpPr>
        <p:spPr>
          <a:xfrm>
            <a:off x="650557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Prompt sửa lỗi:</a:t>
            </a:r>
            <a:endParaRPr lang="en-US" sz="1600" dirty="0"/>
          </a:p>
        </p:txBody>
      </p:sp>
      <p:sp>
        <p:nvSpPr>
          <p:cNvPr id="25" name="Shape 23"/>
          <p:cNvSpPr/>
          <p:nvPr/>
        </p:nvSpPr>
        <p:spPr>
          <a:xfrm>
            <a:off x="6505575" y="2181225"/>
            <a:ext cx="4991100" cy="971550"/>
          </a:xfrm>
          <a:custGeom>
            <a:avLst/>
            <a:gdLst/>
            <a:ahLst/>
            <a:cxnLst/>
            <a:rect l="l" t="t" r="r" b="b"/>
            <a:pathLst>
              <a:path w="4991100" h="971550">
                <a:moveTo>
                  <a:pt x="76199" y="0"/>
                </a:moveTo>
                <a:lnTo>
                  <a:pt x="4914901" y="0"/>
                </a:lnTo>
                <a:cubicBezTo>
                  <a:pt x="4956985" y="0"/>
                  <a:pt x="4991100" y="34115"/>
                  <a:pt x="4991100" y="76199"/>
                </a:cubicBezTo>
                <a:lnTo>
                  <a:pt x="4991100" y="895351"/>
                </a:lnTo>
                <a:cubicBezTo>
                  <a:pt x="4991100" y="937435"/>
                  <a:pt x="4956985" y="971550"/>
                  <a:pt x="4914901" y="971550"/>
                </a:cubicBezTo>
                <a:lnTo>
                  <a:pt x="76199" y="971550"/>
                </a:lnTo>
                <a:cubicBezTo>
                  <a:pt x="34115" y="971550"/>
                  <a:pt x="0" y="937435"/>
                  <a:pt x="0" y="895351"/>
                </a:cubicBezTo>
                <a:lnTo>
                  <a:pt x="0" y="76199"/>
                </a:lnTo>
                <a:cubicBezTo>
                  <a:pt x="0" y="34143"/>
                  <a:pt x="34143" y="0"/>
                  <a:pt x="76199" y="0"/>
                </a:cubicBezTo>
                <a:close/>
              </a:path>
            </a:pathLst>
          </a:custGeom>
          <a:solidFill>
            <a:srgbClr val="1E293B"/>
          </a:solidFill>
          <a:ln/>
        </p:spPr>
      </p:sp>
      <p:sp>
        <p:nvSpPr>
          <p:cNvPr id="26" name="Text 24"/>
          <p:cNvSpPr/>
          <p:nvPr/>
        </p:nvSpPr>
        <p:spPr>
          <a:xfrm>
            <a:off x="6619875" y="2314575"/>
            <a:ext cx="1015157"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@terminal /fix</a:t>
            </a:r>
            <a:endParaRPr lang="en-US" sz="1600" dirty="0"/>
          </a:p>
        </p:txBody>
      </p:sp>
      <p:sp>
        <p:nvSpPr>
          <p:cNvPr id="27" name="Text 25"/>
          <p:cNvSpPr/>
          <p:nvPr/>
        </p:nvSpPr>
        <p:spPr>
          <a:xfrm>
            <a:off x="6619875" y="2500313"/>
            <a:ext cx="155971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rect_intersection_area</a:t>
            </a:r>
            <a:endParaRPr lang="en-US" sz="1600" dirty="0"/>
          </a:p>
        </p:txBody>
      </p:sp>
      <p:sp>
        <p:nvSpPr>
          <p:cNvPr id="28" name="Text 26"/>
          <p:cNvSpPr/>
          <p:nvPr/>
        </p:nvSpPr>
        <p:spPr>
          <a:xfrm>
            <a:off x="6619875" y="2686050"/>
            <a:ext cx="1491704"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according to the unit</a:t>
            </a:r>
            <a:endParaRPr lang="en-US" sz="1600" dirty="0"/>
          </a:p>
        </p:txBody>
      </p:sp>
      <p:sp>
        <p:nvSpPr>
          <p:cNvPr id="29" name="Text 27"/>
          <p:cNvSpPr/>
          <p:nvPr/>
        </p:nvSpPr>
        <p:spPr>
          <a:xfrm>
            <a:off x="6619875" y="2871788"/>
            <a:ext cx="87897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test failure</a:t>
            </a:r>
            <a:endParaRPr lang="en-US" sz="1600" dirty="0"/>
          </a:p>
        </p:txBody>
      </p:sp>
      <p:sp>
        <p:nvSpPr>
          <p:cNvPr id="30" name="Shape 28"/>
          <p:cNvSpPr/>
          <p:nvPr/>
        </p:nvSpPr>
        <p:spPr>
          <a:xfrm>
            <a:off x="6396038" y="3386138"/>
            <a:ext cx="5210175" cy="2257425"/>
          </a:xfrm>
          <a:custGeom>
            <a:avLst/>
            <a:gdLst/>
            <a:ahLst/>
            <a:cxnLst/>
            <a:rect l="l" t="t" r="r" b="b"/>
            <a:pathLst>
              <a:path w="5210175" h="2257425">
                <a:moveTo>
                  <a:pt x="76211" y="0"/>
                </a:moveTo>
                <a:lnTo>
                  <a:pt x="5133964" y="0"/>
                </a:lnTo>
                <a:cubicBezTo>
                  <a:pt x="5176054" y="0"/>
                  <a:pt x="5210175" y="34121"/>
                  <a:pt x="5210175" y="76211"/>
                </a:cubicBezTo>
                <a:lnTo>
                  <a:pt x="5210175" y="2181214"/>
                </a:lnTo>
                <a:cubicBezTo>
                  <a:pt x="5210175" y="2223304"/>
                  <a:pt x="5176054" y="2257425"/>
                  <a:pt x="5133964" y="2257425"/>
                </a:cubicBezTo>
                <a:lnTo>
                  <a:pt x="76211" y="2257425"/>
                </a:lnTo>
                <a:cubicBezTo>
                  <a:pt x="34121" y="2257425"/>
                  <a:pt x="0" y="2223304"/>
                  <a:pt x="0" y="2181214"/>
                </a:cubicBezTo>
                <a:lnTo>
                  <a:pt x="0" y="76211"/>
                </a:lnTo>
                <a:cubicBezTo>
                  <a:pt x="0" y="34149"/>
                  <a:pt x="34149" y="0"/>
                  <a:pt x="76211" y="0"/>
                </a:cubicBezTo>
                <a:close/>
              </a:path>
            </a:pathLst>
          </a:custGeom>
          <a:solidFill>
            <a:srgbClr val="0F172A"/>
          </a:solidFill>
          <a:ln w="12700">
            <a:solidFill>
              <a:srgbClr val="10B981">
                <a:alpha val="30196"/>
              </a:srgbClr>
            </a:solidFill>
            <a:prstDash val="solid"/>
          </a:ln>
        </p:spPr>
      </p:sp>
      <p:sp>
        <p:nvSpPr>
          <p:cNvPr id="31" name="Text 29"/>
          <p:cNvSpPr/>
          <p:nvPr/>
        </p:nvSpPr>
        <p:spPr>
          <a:xfrm>
            <a:off x="6515100" y="3505200"/>
            <a:ext cx="504825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GenAI tự động viết thuật toán:</a:t>
            </a:r>
            <a:endParaRPr lang="en-US" sz="1600" dirty="0"/>
          </a:p>
        </p:txBody>
      </p:sp>
      <p:sp>
        <p:nvSpPr>
          <p:cNvPr id="32" name="Shape 30"/>
          <p:cNvSpPr/>
          <p:nvPr/>
        </p:nvSpPr>
        <p:spPr>
          <a:xfrm>
            <a:off x="6515100" y="3810000"/>
            <a:ext cx="4972050" cy="1714500"/>
          </a:xfrm>
          <a:custGeom>
            <a:avLst/>
            <a:gdLst/>
            <a:ahLst/>
            <a:cxnLst/>
            <a:rect l="l" t="t" r="r" b="b"/>
            <a:pathLst>
              <a:path w="4972050" h="1714500">
                <a:moveTo>
                  <a:pt x="76192" y="0"/>
                </a:moveTo>
                <a:lnTo>
                  <a:pt x="4895858" y="0"/>
                </a:lnTo>
                <a:cubicBezTo>
                  <a:pt x="4937938" y="0"/>
                  <a:pt x="4972050" y="34112"/>
                  <a:pt x="4972050" y="76192"/>
                </a:cubicBezTo>
                <a:lnTo>
                  <a:pt x="4972050" y="1638308"/>
                </a:lnTo>
                <a:cubicBezTo>
                  <a:pt x="4972050" y="1680388"/>
                  <a:pt x="4937938" y="1714500"/>
                  <a:pt x="4895858" y="1714500"/>
                </a:cubicBezTo>
                <a:lnTo>
                  <a:pt x="76192" y="1714500"/>
                </a:lnTo>
                <a:cubicBezTo>
                  <a:pt x="34112" y="1714500"/>
                  <a:pt x="0" y="1680388"/>
                  <a:pt x="0" y="1638308"/>
                </a:cubicBezTo>
                <a:lnTo>
                  <a:pt x="0" y="76192"/>
                </a:lnTo>
                <a:cubicBezTo>
                  <a:pt x="0" y="34141"/>
                  <a:pt x="34141" y="0"/>
                  <a:pt x="76192" y="0"/>
                </a:cubicBezTo>
                <a:close/>
              </a:path>
            </a:pathLst>
          </a:custGeom>
          <a:solidFill>
            <a:srgbClr val="1E293B"/>
          </a:solidFill>
          <a:ln/>
        </p:spPr>
      </p:sp>
      <p:sp>
        <p:nvSpPr>
          <p:cNvPr id="33" name="Text 31"/>
          <p:cNvSpPr/>
          <p:nvPr/>
        </p:nvSpPr>
        <p:spPr>
          <a:xfrm>
            <a:off x="6515100" y="3810000"/>
            <a:ext cx="5033963" cy="171450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rect_intersection_area</a:t>
            </a:r>
            <a:pPr>
              <a:lnSpc>
                <a:spcPct val="130000"/>
              </a:lnSpc>
            </a:pPr>
            <a:r>
              <a:rPr lang="en-US" sz="975" dirty="0">
                <a:solidFill>
                  <a:srgbClr val="F1F5F9"/>
                </a:solidFill>
                <a:latin typeface="MiSans" pitchFamily="34" charset="0"/>
                <a:ea typeface="MiSans" pitchFamily="34" charset="-122"/>
                <a:cs typeface="MiSans" pitchFamily="34" charset="-120"/>
              </a:rPr>
              <a:t>(r1, r2):</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x1 = max(r1.x, r2.x)</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y1 = max(r1.y, r2.y)</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x2 = min(r1.x + r1.w, r2.x + r2.w)</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y2 = min(r1.y + r1.h, r2.y + r2.h)</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if</a:t>
            </a:r>
            <a:pPr>
              <a:lnSpc>
                <a:spcPct val="130000"/>
              </a:lnSpc>
            </a:pPr>
            <a:r>
              <a:rPr lang="en-US" sz="975" dirty="0">
                <a:solidFill>
                  <a:srgbClr val="F1F5F9"/>
                </a:solidFill>
                <a:latin typeface="MiSans" pitchFamily="34" charset="0"/>
                <a:ea typeface="MiSans" pitchFamily="34" charset="-122"/>
                <a:cs typeface="MiSans" pitchFamily="34" charset="-120"/>
              </a:rPr>
              <a:t> x1 &lt; x2 </a:t>
            </a:r>
            <a:pPr>
              <a:lnSpc>
                <a:spcPct val="130000"/>
              </a:lnSpc>
            </a:pPr>
            <a:r>
              <a:rPr lang="en-US" sz="975" dirty="0">
                <a:solidFill>
                  <a:srgbClr val="8B5CF6"/>
                </a:solidFill>
                <a:latin typeface="MiSans" pitchFamily="34" charset="0"/>
                <a:ea typeface="MiSans" pitchFamily="34" charset="-122"/>
                <a:cs typeface="MiSans" pitchFamily="34" charset="-120"/>
              </a:rPr>
              <a:t>and</a:t>
            </a:r>
            <a:pPr>
              <a:lnSpc>
                <a:spcPct val="130000"/>
              </a:lnSpc>
            </a:pPr>
            <a:r>
              <a:rPr lang="en-US" sz="975" dirty="0">
                <a:solidFill>
                  <a:srgbClr val="F1F5F9"/>
                </a:solidFill>
                <a:latin typeface="MiSans" pitchFamily="34" charset="0"/>
                <a:ea typeface="MiSans" pitchFamily="34" charset="-122"/>
                <a:cs typeface="MiSans" pitchFamily="34" charset="-120"/>
              </a:rPr>
              <a:t> y1 &lt; y2:</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(x2 - x1) * (y2 - y1)</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0</a:t>
            </a:r>
            <a:endParaRPr lang="en-US" sz="1600" dirty="0"/>
          </a:p>
        </p:txBody>
      </p:sp>
      <p:sp>
        <p:nvSpPr>
          <p:cNvPr id="34" name="Shape 32"/>
          <p:cNvSpPr/>
          <p:nvPr/>
        </p:nvSpPr>
        <p:spPr>
          <a:xfrm>
            <a:off x="6196013" y="6005513"/>
            <a:ext cx="5610225" cy="542925"/>
          </a:xfrm>
          <a:custGeom>
            <a:avLst/>
            <a:gdLst/>
            <a:ahLst/>
            <a:cxnLst/>
            <a:rect l="l" t="t" r="r" b="b"/>
            <a:pathLst>
              <a:path w="5610225" h="542925">
                <a:moveTo>
                  <a:pt x="114302" y="0"/>
                </a:moveTo>
                <a:lnTo>
                  <a:pt x="5495923" y="0"/>
                </a:lnTo>
                <a:cubicBezTo>
                  <a:pt x="5559050" y="0"/>
                  <a:pt x="5610225" y="51175"/>
                  <a:pt x="5610225" y="114302"/>
                </a:cubicBezTo>
                <a:lnTo>
                  <a:pt x="5610225" y="428623"/>
                </a:lnTo>
                <a:cubicBezTo>
                  <a:pt x="5610225" y="491750"/>
                  <a:pt x="5559050" y="542925"/>
                  <a:pt x="5495923" y="542925"/>
                </a:cubicBezTo>
                <a:lnTo>
                  <a:pt x="114302" y="542925"/>
                </a:lnTo>
                <a:cubicBezTo>
                  <a:pt x="51175" y="542925"/>
                  <a:pt x="0" y="491750"/>
                  <a:pt x="0" y="428623"/>
                </a:cubicBezTo>
                <a:lnTo>
                  <a:pt x="0" y="114302"/>
                </a:lnTo>
                <a:cubicBezTo>
                  <a:pt x="0" y="51175"/>
                  <a:pt x="51175" y="0"/>
                  <a:pt x="114302"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35" name="Shape 33"/>
          <p:cNvSpPr/>
          <p:nvPr/>
        </p:nvSpPr>
        <p:spPr>
          <a:xfrm>
            <a:off x="6372225" y="62103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36" name="Text 34"/>
          <p:cNvSpPr/>
          <p:nvPr/>
        </p:nvSpPr>
        <p:spPr>
          <a:xfrm>
            <a:off x="6600825" y="6162675"/>
            <a:ext cx="5124450" cy="2286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Test PASS!</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Tất cả các bài test vượt qua thành công</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98872" y="561975"/>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FFFFFF"/>
          </a:solidFill>
          <a:ln/>
        </p:spPr>
      </p:sp>
      <p:sp>
        <p:nvSpPr>
          <p:cNvPr id="4" name="Text 2"/>
          <p:cNvSpPr/>
          <p:nvPr/>
        </p:nvSpPr>
        <p:spPr>
          <a:xfrm>
            <a:off x="876300" y="381000"/>
            <a:ext cx="8134350"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13 | MỨC VẬT LÝ</a:t>
            </a:r>
            <a:endParaRPr lang="en-US" sz="1600" dirty="0"/>
          </a:p>
        </p:txBody>
      </p:sp>
      <p:sp>
        <p:nvSpPr>
          <p:cNvPr id="5" name="Text 3"/>
          <p:cNvSpPr/>
          <p:nvPr/>
        </p:nvSpPr>
        <p:spPr>
          <a:xfrm>
            <a:off x="876300" y="571500"/>
            <a:ext cx="82105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Lab 13.1 &amp; 13.2: Khởi tạo Framework và sinh Unit Test tự động</a:t>
            </a:r>
            <a:endParaRPr lang="en-US" sz="1600" dirty="0"/>
          </a:p>
        </p:txBody>
      </p:sp>
      <p:sp>
        <p:nvSpPr>
          <p:cNvPr id="6" name="Shape 4"/>
          <p:cNvSpPr/>
          <p:nvPr/>
        </p:nvSpPr>
        <p:spPr>
          <a:xfrm>
            <a:off x="385763" y="1147763"/>
            <a:ext cx="5610225" cy="3343275"/>
          </a:xfrm>
          <a:custGeom>
            <a:avLst/>
            <a:gdLst/>
            <a:ahLst/>
            <a:cxnLst/>
            <a:rect l="l" t="t" r="r" b="b"/>
            <a:pathLst>
              <a:path w="5610225" h="3343275">
                <a:moveTo>
                  <a:pt x="114307" y="0"/>
                </a:moveTo>
                <a:lnTo>
                  <a:pt x="5495918" y="0"/>
                </a:lnTo>
                <a:cubicBezTo>
                  <a:pt x="5559006" y="0"/>
                  <a:pt x="5610225" y="51219"/>
                  <a:pt x="5610225" y="114307"/>
                </a:cubicBezTo>
                <a:lnTo>
                  <a:pt x="5610225" y="3228968"/>
                </a:lnTo>
                <a:cubicBezTo>
                  <a:pt x="5610225" y="3292056"/>
                  <a:pt x="5559006" y="3343275"/>
                  <a:pt x="5495918" y="3343275"/>
                </a:cubicBezTo>
                <a:lnTo>
                  <a:pt x="114307" y="3343275"/>
                </a:lnTo>
                <a:cubicBezTo>
                  <a:pt x="51219" y="3343275"/>
                  <a:pt x="0" y="3292056"/>
                  <a:pt x="0" y="3228968"/>
                </a:cubicBezTo>
                <a:lnTo>
                  <a:pt x="0" y="114307"/>
                </a:lnTo>
                <a:cubicBezTo>
                  <a:pt x="0" y="51219"/>
                  <a:pt x="51219" y="0"/>
                  <a:pt x="114307"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1025" y="1381125"/>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Lab 13.1: Khởi tạo Framework</a:t>
            </a:r>
            <a:endParaRPr lang="en-US" sz="1600" dirty="0"/>
          </a:p>
        </p:txBody>
      </p:sp>
      <p:sp>
        <p:nvSpPr>
          <p:cNvPr id="9" name="Shape 7"/>
          <p:cNvSpPr/>
          <p:nvPr/>
        </p:nvSpPr>
        <p:spPr>
          <a:xfrm>
            <a:off x="581025" y="1762125"/>
            <a:ext cx="5219700" cy="952500"/>
          </a:xfrm>
          <a:custGeom>
            <a:avLst/>
            <a:gdLst/>
            <a:ahLst/>
            <a:cxnLst/>
            <a:rect l="l" t="t" r="r" b="b"/>
            <a:pathLst>
              <a:path w="5219700" h="952500">
                <a:moveTo>
                  <a:pt x="76200" y="0"/>
                </a:moveTo>
                <a:lnTo>
                  <a:pt x="5143500" y="0"/>
                </a:lnTo>
                <a:cubicBezTo>
                  <a:pt x="5185556" y="0"/>
                  <a:pt x="5219700" y="34144"/>
                  <a:pt x="5219700" y="76200"/>
                </a:cubicBezTo>
                <a:lnTo>
                  <a:pt x="5219700" y="876300"/>
                </a:lnTo>
                <a:cubicBezTo>
                  <a:pt x="5219700" y="918356"/>
                  <a:pt x="5185556" y="952500"/>
                  <a:pt x="5143500" y="952500"/>
                </a:cubicBezTo>
                <a:lnTo>
                  <a:pt x="76200" y="952500"/>
                </a:lnTo>
                <a:cubicBezTo>
                  <a:pt x="34144" y="952500"/>
                  <a:pt x="0" y="918356"/>
                  <a:pt x="0" y="876300"/>
                </a:cubicBezTo>
                <a:lnTo>
                  <a:pt x="0" y="76200"/>
                </a:lnTo>
                <a:cubicBezTo>
                  <a:pt x="0" y="34144"/>
                  <a:pt x="34144" y="0"/>
                  <a:pt x="76200" y="0"/>
                </a:cubicBezTo>
                <a:close/>
              </a:path>
            </a:pathLst>
          </a:custGeom>
          <a:solidFill>
            <a:srgbClr val="0F172A"/>
          </a:solidFill>
          <a:ln/>
        </p:spPr>
      </p:sp>
      <p:sp>
        <p:nvSpPr>
          <p:cNvPr id="10" name="Text 8"/>
          <p:cNvSpPr/>
          <p:nvPr/>
        </p:nvSpPr>
        <p:spPr>
          <a:xfrm>
            <a:off x="69532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Thao tác:</a:t>
            </a:r>
            <a:endParaRPr lang="en-US" sz="1600" dirty="0"/>
          </a:p>
        </p:txBody>
      </p:sp>
      <p:sp>
        <p:nvSpPr>
          <p:cNvPr id="11" name="Shape 9"/>
          <p:cNvSpPr/>
          <p:nvPr/>
        </p:nvSpPr>
        <p:spPr>
          <a:xfrm>
            <a:off x="695325" y="2181225"/>
            <a:ext cx="4991100" cy="419100"/>
          </a:xfrm>
          <a:custGeom>
            <a:avLst/>
            <a:gdLst/>
            <a:ahLst/>
            <a:cxnLst/>
            <a:rect l="l" t="t" r="r" b="b"/>
            <a:pathLst>
              <a:path w="4991100" h="419100">
                <a:moveTo>
                  <a:pt x="76201" y="0"/>
                </a:moveTo>
                <a:lnTo>
                  <a:pt x="4914899" y="0"/>
                </a:lnTo>
                <a:cubicBezTo>
                  <a:pt x="4956984" y="0"/>
                  <a:pt x="4991100" y="34116"/>
                  <a:pt x="4991100" y="76201"/>
                </a:cubicBezTo>
                <a:lnTo>
                  <a:pt x="4991100" y="342899"/>
                </a:lnTo>
                <a:cubicBezTo>
                  <a:pt x="4991100" y="384984"/>
                  <a:pt x="4956984" y="419100"/>
                  <a:pt x="4914899" y="419100"/>
                </a:cubicBezTo>
                <a:lnTo>
                  <a:pt x="76201" y="419100"/>
                </a:lnTo>
                <a:cubicBezTo>
                  <a:pt x="34116" y="419100"/>
                  <a:pt x="0" y="384984"/>
                  <a:pt x="0" y="342899"/>
                </a:cubicBezTo>
                <a:lnTo>
                  <a:pt x="0" y="76201"/>
                </a:lnTo>
                <a:cubicBezTo>
                  <a:pt x="0" y="34144"/>
                  <a:pt x="34144" y="0"/>
                  <a:pt x="76201" y="0"/>
                </a:cubicBezTo>
                <a:close/>
              </a:path>
            </a:pathLst>
          </a:custGeom>
          <a:solidFill>
            <a:srgbClr val="1E293B"/>
          </a:solidFill>
          <a:ln/>
        </p:spPr>
      </p:sp>
      <p:sp>
        <p:nvSpPr>
          <p:cNvPr id="12" name="Text 10"/>
          <p:cNvSpPr/>
          <p:nvPr/>
        </p:nvSpPr>
        <p:spPr>
          <a:xfrm>
            <a:off x="809625" y="2314575"/>
            <a:ext cx="1559719"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@workspace /setupTests</a:t>
            </a:r>
            <a:endParaRPr lang="en-US" sz="1600" dirty="0"/>
          </a:p>
        </p:txBody>
      </p:sp>
      <p:sp>
        <p:nvSpPr>
          <p:cNvPr id="13" name="Shape 11"/>
          <p:cNvSpPr/>
          <p:nvPr/>
        </p:nvSpPr>
        <p:spPr>
          <a:xfrm>
            <a:off x="581025" y="2824163"/>
            <a:ext cx="5219700" cy="914400"/>
          </a:xfrm>
          <a:custGeom>
            <a:avLst/>
            <a:gdLst/>
            <a:ahLst/>
            <a:cxnLst/>
            <a:rect l="l" t="t" r="r" b="b"/>
            <a:pathLst>
              <a:path w="5219700" h="914400">
                <a:moveTo>
                  <a:pt x="76197" y="0"/>
                </a:moveTo>
                <a:lnTo>
                  <a:pt x="5143503" y="0"/>
                </a:lnTo>
                <a:cubicBezTo>
                  <a:pt x="5185585" y="0"/>
                  <a:pt x="5219700" y="34115"/>
                  <a:pt x="5219700" y="76197"/>
                </a:cubicBezTo>
                <a:lnTo>
                  <a:pt x="5219700" y="838203"/>
                </a:lnTo>
                <a:cubicBezTo>
                  <a:pt x="5219700" y="880285"/>
                  <a:pt x="5185585" y="914400"/>
                  <a:pt x="5143503" y="914400"/>
                </a:cubicBezTo>
                <a:lnTo>
                  <a:pt x="76197" y="914400"/>
                </a:lnTo>
                <a:cubicBezTo>
                  <a:pt x="34115" y="914400"/>
                  <a:pt x="0" y="880285"/>
                  <a:pt x="0" y="838203"/>
                </a:cubicBezTo>
                <a:lnTo>
                  <a:pt x="0" y="76197"/>
                </a:lnTo>
                <a:cubicBezTo>
                  <a:pt x="0" y="34143"/>
                  <a:pt x="34143" y="0"/>
                  <a:pt x="76197" y="0"/>
                </a:cubicBezTo>
                <a:close/>
              </a:path>
            </a:pathLst>
          </a:custGeom>
          <a:solidFill>
            <a:srgbClr val="0F172A"/>
          </a:solidFill>
          <a:ln/>
        </p:spPr>
      </p:sp>
      <p:sp>
        <p:nvSpPr>
          <p:cNvPr id="14" name="Text 12"/>
          <p:cNvSpPr/>
          <p:nvPr/>
        </p:nvSpPr>
        <p:spPr>
          <a:xfrm>
            <a:off x="695325" y="2938463"/>
            <a:ext cx="506730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Chọn framework:</a:t>
            </a:r>
            <a:endParaRPr lang="en-US" sz="1600" dirty="0"/>
          </a:p>
        </p:txBody>
      </p:sp>
      <p:sp>
        <p:nvSpPr>
          <p:cNvPr id="15" name="Shape 13"/>
          <p:cNvSpPr/>
          <p:nvPr/>
        </p:nvSpPr>
        <p:spPr>
          <a:xfrm>
            <a:off x="704850" y="3252788"/>
            <a:ext cx="2438400" cy="361950"/>
          </a:xfrm>
          <a:custGeom>
            <a:avLst/>
            <a:gdLst/>
            <a:ahLst/>
            <a:cxnLst/>
            <a:rect l="l" t="t" r="r" b="b"/>
            <a:pathLst>
              <a:path w="2438400" h="361950">
                <a:moveTo>
                  <a:pt x="76201" y="0"/>
                </a:moveTo>
                <a:lnTo>
                  <a:pt x="2362199" y="0"/>
                </a:lnTo>
                <a:cubicBezTo>
                  <a:pt x="2404284" y="0"/>
                  <a:pt x="2438400" y="34116"/>
                  <a:pt x="2438400" y="76201"/>
                </a:cubicBezTo>
                <a:lnTo>
                  <a:pt x="2438400" y="285749"/>
                </a:lnTo>
                <a:cubicBezTo>
                  <a:pt x="2438400" y="327834"/>
                  <a:pt x="2404284" y="361950"/>
                  <a:pt x="2362199" y="361950"/>
                </a:cubicBezTo>
                <a:lnTo>
                  <a:pt x="76201" y="361950"/>
                </a:lnTo>
                <a:cubicBezTo>
                  <a:pt x="34116" y="361950"/>
                  <a:pt x="0" y="327834"/>
                  <a:pt x="0" y="285749"/>
                </a:cubicBezTo>
                <a:lnTo>
                  <a:pt x="0" y="76201"/>
                </a:lnTo>
                <a:cubicBezTo>
                  <a:pt x="0" y="34145"/>
                  <a:pt x="34145" y="0"/>
                  <a:pt x="76201" y="0"/>
                </a:cubicBezTo>
                <a:close/>
              </a:path>
            </a:pathLst>
          </a:custGeom>
          <a:solidFill>
            <a:srgbClr val="1E293B"/>
          </a:solidFill>
          <a:ln w="25400">
            <a:solidFill>
              <a:srgbClr val="10B981"/>
            </a:solidFill>
            <a:prstDash val="solid"/>
          </a:ln>
        </p:spPr>
      </p:sp>
      <p:sp>
        <p:nvSpPr>
          <p:cNvPr id="16" name="Text 14"/>
          <p:cNvSpPr/>
          <p:nvPr/>
        </p:nvSpPr>
        <p:spPr>
          <a:xfrm>
            <a:off x="757238" y="3338513"/>
            <a:ext cx="2333625" cy="190500"/>
          </a:xfrm>
          <a:prstGeom prst="rect">
            <a:avLst/>
          </a:prstGeom>
          <a:noFill/>
          <a:ln/>
        </p:spPr>
        <p:txBody>
          <a:bodyPr wrap="square" lIns="0" tIns="0" rIns="0" bIns="0" rtlCol="0" anchor="ctr"/>
          <a:lstStyle/>
          <a:p>
            <a:pPr algn="ctr">
              <a:lnSpc>
                <a:spcPct val="120000"/>
              </a:lnSpc>
            </a:pPr>
            <a:r>
              <a:rPr lang="en-US" sz="1050" b="1" dirty="0">
                <a:solidFill>
                  <a:srgbClr val="10B981"/>
                </a:solidFill>
                <a:latin typeface="MiSans" pitchFamily="34" charset="0"/>
                <a:ea typeface="MiSans" pitchFamily="34" charset="-122"/>
                <a:cs typeface="MiSans" pitchFamily="34" charset="-120"/>
              </a:rPr>
              <a:t>unittest ✓</a:t>
            </a:r>
            <a:endParaRPr lang="en-US" sz="1600" dirty="0"/>
          </a:p>
        </p:txBody>
      </p:sp>
      <p:sp>
        <p:nvSpPr>
          <p:cNvPr id="17" name="Shape 15"/>
          <p:cNvSpPr/>
          <p:nvPr/>
        </p:nvSpPr>
        <p:spPr>
          <a:xfrm>
            <a:off x="3233738" y="3248025"/>
            <a:ext cx="2447925" cy="371475"/>
          </a:xfrm>
          <a:custGeom>
            <a:avLst/>
            <a:gdLst/>
            <a:ahLst/>
            <a:cxnLst/>
            <a:rect l="l" t="t" r="r" b="b"/>
            <a:pathLst>
              <a:path w="2447925" h="371475">
                <a:moveTo>
                  <a:pt x="76201" y="0"/>
                </a:moveTo>
                <a:lnTo>
                  <a:pt x="2371724" y="0"/>
                </a:lnTo>
                <a:cubicBezTo>
                  <a:pt x="2413809" y="0"/>
                  <a:pt x="2447925" y="34116"/>
                  <a:pt x="2447925" y="76201"/>
                </a:cubicBezTo>
                <a:lnTo>
                  <a:pt x="2447925" y="295274"/>
                </a:lnTo>
                <a:cubicBezTo>
                  <a:pt x="2447925" y="337359"/>
                  <a:pt x="2413809" y="371475"/>
                  <a:pt x="2371724" y="371475"/>
                </a:cubicBezTo>
                <a:lnTo>
                  <a:pt x="76201" y="371475"/>
                </a:lnTo>
                <a:cubicBezTo>
                  <a:pt x="34116" y="371475"/>
                  <a:pt x="0" y="337359"/>
                  <a:pt x="0" y="295274"/>
                </a:cubicBezTo>
                <a:lnTo>
                  <a:pt x="0" y="76201"/>
                </a:lnTo>
                <a:cubicBezTo>
                  <a:pt x="0" y="34116"/>
                  <a:pt x="34116" y="0"/>
                  <a:pt x="76201" y="0"/>
                </a:cubicBezTo>
                <a:close/>
              </a:path>
            </a:pathLst>
          </a:custGeom>
          <a:solidFill>
            <a:srgbClr val="1E293B"/>
          </a:solidFill>
          <a:ln w="12700">
            <a:solidFill>
              <a:srgbClr val="F1F5F9">
                <a:alpha val="20000"/>
              </a:srgbClr>
            </a:solidFill>
            <a:prstDash val="solid"/>
          </a:ln>
        </p:spPr>
      </p:sp>
      <p:sp>
        <p:nvSpPr>
          <p:cNvPr id="18" name="Text 16"/>
          <p:cNvSpPr/>
          <p:nvPr/>
        </p:nvSpPr>
        <p:spPr>
          <a:xfrm>
            <a:off x="3281363" y="3328988"/>
            <a:ext cx="23526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pytest</a:t>
            </a:r>
            <a:endParaRPr lang="en-US" sz="1600" dirty="0"/>
          </a:p>
        </p:txBody>
      </p:sp>
      <p:sp>
        <p:nvSpPr>
          <p:cNvPr id="19" name="Shape 17"/>
          <p:cNvSpPr/>
          <p:nvPr/>
        </p:nvSpPr>
        <p:spPr>
          <a:xfrm>
            <a:off x="585788" y="3857625"/>
            <a:ext cx="5210175" cy="428625"/>
          </a:xfrm>
          <a:custGeom>
            <a:avLst/>
            <a:gdLst/>
            <a:ahLst/>
            <a:cxnLst/>
            <a:rect l="l" t="t" r="r" b="b"/>
            <a:pathLst>
              <a:path w="5210175" h="428625">
                <a:moveTo>
                  <a:pt x="76201" y="0"/>
                </a:moveTo>
                <a:lnTo>
                  <a:pt x="5133974" y="0"/>
                </a:lnTo>
                <a:cubicBezTo>
                  <a:pt x="5176059" y="0"/>
                  <a:pt x="5210175" y="34116"/>
                  <a:pt x="5210175" y="76201"/>
                </a:cubicBezTo>
                <a:lnTo>
                  <a:pt x="5210175" y="352424"/>
                </a:lnTo>
                <a:cubicBezTo>
                  <a:pt x="5210175" y="394509"/>
                  <a:pt x="5176059" y="428625"/>
                  <a:pt x="5133974" y="428625"/>
                </a:cubicBezTo>
                <a:lnTo>
                  <a:pt x="76201" y="428625"/>
                </a:lnTo>
                <a:cubicBezTo>
                  <a:pt x="34116" y="428625"/>
                  <a:pt x="0" y="394509"/>
                  <a:pt x="0" y="352424"/>
                </a:cubicBezTo>
                <a:lnTo>
                  <a:pt x="0" y="76201"/>
                </a:lnTo>
                <a:cubicBezTo>
                  <a:pt x="0" y="34145"/>
                  <a:pt x="34145" y="0"/>
                  <a:pt x="76201"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20" name="Shape 18"/>
          <p:cNvSpPr/>
          <p:nvPr/>
        </p:nvSpPr>
        <p:spPr>
          <a:xfrm>
            <a:off x="723900" y="4014788"/>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10B981"/>
          </a:solidFill>
          <a:ln/>
        </p:spPr>
      </p:sp>
      <p:sp>
        <p:nvSpPr>
          <p:cNvPr id="21" name="Text 19"/>
          <p:cNvSpPr/>
          <p:nvPr/>
        </p:nvSpPr>
        <p:spPr>
          <a:xfrm>
            <a:off x="933450" y="3976687"/>
            <a:ext cx="4810125" cy="190500"/>
          </a:xfrm>
          <a:prstGeom prst="rect">
            <a:avLst/>
          </a:prstGeom>
          <a:noFill/>
          <a:ln/>
        </p:spPr>
        <p:txBody>
          <a:bodyPr wrap="square" lIns="0" tIns="0" rIns="0" bIns="0" rtlCol="0" anchor="ctr"/>
          <a:lstStyle/>
          <a:p>
            <a:pPr>
              <a:lnSpc>
                <a:spcPct val="120000"/>
              </a:lnSpc>
            </a:pPr>
            <a:r>
              <a:rPr lang="en-US" sz="1050" dirty="0">
                <a:solidFill>
                  <a:srgbClr val="F1F5F9">
                    <a:alpha val="90000"/>
                  </a:srgbClr>
                </a:solidFill>
                <a:latin typeface="MiSans" pitchFamily="34" charset="0"/>
                <a:ea typeface="MiSans" pitchFamily="34" charset="-122"/>
                <a:cs typeface="MiSans" pitchFamily="34" charset="-120"/>
              </a:rPr>
              <a:t>Copilot tự động tạo cấu trúc thư mục test/</a:t>
            </a:r>
            <a:endParaRPr lang="en-US" sz="1600" dirty="0"/>
          </a:p>
        </p:txBody>
      </p:sp>
      <p:sp>
        <p:nvSpPr>
          <p:cNvPr id="22" name="Shape 20"/>
          <p:cNvSpPr/>
          <p:nvPr/>
        </p:nvSpPr>
        <p:spPr>
          <a:xfrm>
            <a:off x="385763" y="4648200"/>
            <a:ext cx="5610225" cy="1857375"/>
          </a:xfrm>
          <a:custGeom>
            <a:avLst/>
            <a:gdLst/>
            <a:ahLst/>
            <a:cxnLst/>
            <a:rect l="l" t="t" r="r" b="b"/>
            <a:pathLst>
              <a:path w="5610225" h="1857375">
                <a:moveTo>
                  <a:pt x="114303" y="0"/>
                </a:moveTo>
                <a:lnTo>
                  <a:pt x="5495922" y="0"/>
                </a:lnTo>
                <a:cubicBezTo>
                  <a:pt x="5559008" y="0"/>
                  <a:pt x="5610225" y="51217"/>
                  <a:pt x="5610225" y="114303"/>
                </a:cubicBezTo>
                <a:lnTo>
                  <a:pt x="5610225" y="1743072"/>
                </a:lnTo>
                <a:cubicBezTo>
                  <a:pt x="5610225" y="1806158"/>
                  <a:pt x="5559008" y="1857375"/>
                  <a:pt x="5495922" y="1857375"/>
                </a:cubicBezTo>
                <a:lnTo>
                  <a:pt x="114303" y="1857375"/>
                </a:lnTo>
                <a:cubicBezTo>
                  <a:pt x="51217" y="1857375"/>
                  <a:pt x="0" y="1806158"/>
                  <a:pt x="0" y="1743072"/>
                </a:cubicBezTo>
                <a:lnTo>
                  <a:pt x="0" y="114303"/>
                </a:lnTo>
                <a:cubicBezTo>
                  <a:pt x="0" y="51217"/>
                  <a:pt x="51217" y="0"/>
                  <a:pt x="114303" y="0"/>
                </a:cubicBezTo>
                <a:close/>
              </a:path>
            </a:pathLst>
          </a:custGeom>
          <a:solidFill>
            <a:srgbClr val="0F172A"/>
          </a:solidFill>
          <a:ln w="12700">
            <a:solidFill>
              <a:srgbClr val="8B5CF6">
                <a:alpha val="30196"/>
              </a:srgbClr>
            </a:solidFill>
            <a:prstDash val="solid"/>
          </a:ln>
        </p:spPr>
      </p:sp>
      <p:sp>
        <p:nvSpPr>
          <p:cNvPr id="23" name="Shape 21"/>
          <p:cNvSpPr/>
          <p:nvPr/>
        </p:nvSpPr>
        <p:spPr>
          <a:xfrm>
            <a:off x="556022" y="4852988"/>
            <a:ext cx="192881" cy="171450"/>
          </a:xfrm>
          <a:custGeom>
            <a:avLst/>
            <a:gdLst/>
            <a:ahLst/>
            <a:cxnLst/>
            <a:rect l="l" t="t" r="r" b="b"/>
            <a:pathLst>
              <a:path w="192881" h="171450">
                <a:moveTo>
                  <a:pt x="120819" y="402"/>
                </a:moveTo>
                <a:cubicBezTo>
                  <a:pt x="115126" y="-1239"/>
                  <a:pt x="109199" y="2076"/>
                  <a:pt x="107558" y="7769"/>
                </a:cubicBezTo>
                <a:lnTo>
                  <a:pt x="64696" y="157788"/>
                </a:lnTo>
                <a:cubicBezTo>
                  <a:pt x="63055" y="163480"/>
                  <a:pt x="66370" y="169407"/>
                  <a:pt x="72063" y="171048"/>
                </a:cubicBezTo>
                <a:cubicBezTo>
                  <a:pt x="77755" y="172689"/>
                  <a:pt x="83682" y="169374"/>
                  <a:pt x="85323" y="163681"/>
                </a:cubicBezTo>
                <a:lnTo>
                  <a:pt x="128186" y="13662"/>
                </a:lnTo>
                <a:cubicBezTo>
                  <a:pt x="129826" y="7970"/>
                  <a:pt x="126511" y="2043"/>
                  <a:pt x="120819" y="402"/>
                </a:cubicBezTo>
                <a:close/>
                <a:moveTo>
                  <a:pt x="142451" y="45977"/>
                </a:moveTo>
                <a:cubicBezTo>
                  <a:pt x="138265" y="50163"/>
                  <a:pt x="138265" y="56960"/>
                  <a:pt x="142451" y="61146"/>
                </a:cubicBezTo>
                <a:lnTo>
                  <a:pt x="167030" y="85725"/>
                </a:lnTo>
                <a:lnTo>
                  <a:pt x="142451" y="110304"/>
                </a:lnTo>
                <a:cubicBezTo>
                  <a:pt x="138265" y="114490"/>
                  <a:pt x="138265" y="121287"/>
                  <a:pt x="142451" y="125473"/>
                </a:cubicBezTo>
                <a:cubicBezTo>
                  <a:pt x="146637" y="129659"/>
                  <a:pt x="153434" y="129659"/>
                  <a:pt x="157620" y="125473"/>
                </a:cubicBezTo>
                <a:lnTo>
                  <a:pt x="189767" y="93326"/>
                </a:lnTo>
                <a:cubicBezTo>
                  <a:pt x="193953" y="89141"/>
                  <a:pt x="193953" y="82343"/>
                  <a:pt x="189767" y="78157"/>
                </a:cubicBezTo>
                <a:lnTo>
                  <a:pt x="157620" y="46010"/>
                </a:lnTo>
                <a:cubicBezTo>
                  <a:pt x="153434" y="41824"/>
                  <a:pt x="146637" y="41824"/>
                  <a:pt x="142451" y="46010"/>
                </a:cubicBezTo>
                <a:close/>
                <a:moveTo>
                  <a:pt x="50464" y="45977"/>
                </a:moveTo>
                <a:cubicBezTo>
                  <a:pt x="46278" y="41791"/>
                  <a:pt x="39480" y="41791"/>
                  <a:pt x="35295" y="45977"/>
                </a:cubicBezTo>
                <a:lnTo>
                  <a:pt x="3148" y="78124"/>
                </a:lnTo>
                <a:cubicBezTo>
                  <a:pt x="-1038" y="82309"/>
                  <a:pt x="-1038" y="89107"/>
                  <a:pt x="3148" y="93293"/>
                </a:cubicBezTo>
                <a:lnTo>
                  <a:pt x="35295" y="125440"/>
                </a:lnTo>
                <a:cubicBezTo>
                  <a:pt x="39480" y="129626"/>
                  <a:pt x="46278" y="129626"/>
                  <a:pt x="50464" y="125440"/>
                </a:cubicBezTo>
                <a:cubicBezTo>
                  <a:pt x="54650" y="121254"/>
                  <a:pt x="54650" y="114456"/>
                  <a:pt x="50464" y="110270"/>
                </a:cubicBezTo>
                <a:lnTo>
                  <a:pt x="25885" y="85725"/>
                </a:lnTo>
                <a:lnTo>
                  <a:pt x="50430" y="61146"/>
                </a:lnTo>
                <a:cubicBezTo>
                  <a:pt x="54616" y="56960"/>
                  <a:pt x="54616" y="50163"/>
                  <a:pt x="50430" y="45977"/>
                </a:cubicBezTo>
                <a:close/>
              </a:path>
            </a:pathLst>
          </a:custGeom>
          <a:solidFill>
            <a:srgbClr val="8B5CF6"/>
          </a:solidFill>
          <a:ln/>
        </p:spPr>
      </p:sp>
      <p:sp>
        <p:nvSpPr>
          <p:cNvPr id="24" name="Text 22"/>
          <p:cNvSpPr/>
          <p:nvPr/>
        </p:nvSpPr>
        <p:spPr>
          <a:xfrm>
            <a:off x="762000" y="4805363"/>
            <a:ext cx="5162550" cy="266700"/>
          </a:xfrm>
          <a:prstGeom prst="rect">
            <a:avLst/>
          </a:prstGeom>
          <a:noFill/>
          <a:ln/>
        </p:spPr>
        <p:txBody>
          <a:bodyPr wrap="square" lIns="0" tIns="0" rIns="0" bIns="0" rtlCol="0" anchor="ctr"/>
          <a:lstStyle/>
          <a:p>
            <a:pPr>
              <a:lnSpc>
                <a:spcPct val="130000"/>
              </a:lnSpc>
            </a:pPr>
            <a:r>
              <a:rPr lang="en-US" sz="1350" b="1" dirty="0">
                <a:solidFill>
                  <a:srgbClr val="8B5CF6"/>
                </a:solidFill>
                <a:latin typeface="MiSans" pitchFamily="34" charset="0"/>
                <a:ea typeface="MiSans" pitchFamily="34" charset="-122"/>
                <a:cs typeface="MiSans" pitchFamily="34" charset="-120"/>
              </a:rPr>
              <a:t>Code cần test</a:t>
            </a:r>
            <a:endParaRPr lang="en-US" sz="1600" dirty="0"/>
          </a:p>
        </p:txBody>
      </p:sp>
      <p:sp>
        <p:nvSpPr>
          <p:cNvPr id="25" name="Shape 23"/>
          <p:cNvSpPr/>
          <p:nvPr/>
        </p:nvSpPr>
        <p:spPr>
          <a:xfrm>
            <a:off x="542925" y="5186363"/>
            <a:ext cx="5295900" cy="1162050"/>
          </a:xfrm>
          <a:custGeom>
            <a:avLst/>
            <a:gdLst/>
            <a:ahLst/>
            <a:cxnLst/>
            <a:rect l="l" t="t" r="r" b="b"/>
            <a:pathLst>
              <a:path w="5295900" h="1162050">
                <a:moveTo>
                  <a:pt x="76196" y="0"/>
                </a:moveTo>
                <a:lnTo>
                  <a:pt x="5219704" y="0"/>
                </a:lnTo>
                <a:cubicBezTo>
                  <a:pt x="5261786" y="0"/>
                  <a:pt x="5295900" y="34114"/>
                  <a:pt x="5295900" y="76196"/>
                </a:cubicBezTo>
                <a:lnTo>
                  <a:pt x="5295900" y="1085854"/>
                </a:lnTo>
                <a:cubicBezTo>
                  <a:pt x="5295900" y="1127936"/>
                  <a:pt x="5261786" y="1162050"/>
                  <a:pt x="5219704" y="1162050"/>
                </a:cubicBezTo>
                <a:lnTo>
                  <a:pt x="76196" y="1162050"/>
                </a:lnTo>
                <a:cubicBezTo>
                  <a:pt x="34114" y="1162050"/>
                  <a:pt x="0" y="1127936"/>
                  <a:pt x="0" y="1085854"/>
                </a:cubicBezTo>
                <a:lnTo>
                  <a:pt x="0" y="76196"/>
                </a:lnTo>
                <a:cubicBezTo>
                  <a:pt x="0" y="34142"/>
                  <a:pt x="34142" y="0"/>
                  <a:pt x="76196" y="0"/>
                </a:cubicBezTo>
                <a:close/>
              </a:path>
            </a:pathLst>
          </a:custGeom>
          <a:solidFill>
            <a:srgbClr val="1E293B"/>
          </a:solidFill>
          <a:ln/>
        </p:spPr>
      </p:sp>
      <p:sp>
        <p:nvSpPr>
          <p:cNvPr id="26" name="Text 24"/>
          <p:cNvSpPr/>
          <p:nvPr/>
        </p:nvSpPr>
        <p:spPr>
          <a:xfrm>
            <a:off x="542925" y="5186363"/>
            <a:ext cx="5357813" cy="116205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lowercase_remove_punct_numbers</a:t>
            </a:r>
            <a:pPr>
              <a:lnSpc>
                <a:spcPct val="130000"/>
              </a:lnSpc>
            </a:pPr>
            <a:r>
              <a:rPr lang="en-US" sz="975" dirty="0">
                <a:solidFill>
                  <a:srgbClr val="F1F5F9"/>
                </a:solidFill>
                <a:latin typeface="MiSans" pitchFamily="34" charset="0"/>
                <a:ea typeface="MiSans" pitchFamily="34" charset="-122"/>
                <a:cs typeface="MiSans" pitchFamily="34" charset="-120"/>
              </a:rPr>
              <a:t>(text):</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text = text.lower()</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text = re.sub(r'[^\w\s]', '', text)</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text = re.sub(r'\d+', '', text)</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text</a:t>
            </a:r>
            <a:endParaRPr lang="en-US" sz="1600" dirty="0"/>
          </a:p>
        </p:txBody>
      </p:sp>
      <p:sp>
        <p:nvSpPr>
          <p:cNvPr id="27" name="Shape 25"/>
          <p:cNvSpPr/>
          <p:nvPr/>
        </p:nvSpPr>
        <p:spPr>
          <a:xfrm>
            <a:off x="6196013" y="1147763"/>
            <a:ext cx="5610225" cy="4695825"/>
          </a:xfrm>
          <a:custGeom>
            <a:avLst/>
            <a:gdLst/>
            <a:ahLst/>
            <a:cxnLst/>
            <a:rect l="l" t="t" r="r" b="b"/>
            <a:pathLst>
              <a:path w="5610225" h="4695825">
                <a:moveTo>
                  <a:pt x="114296" y="0"/>
                </a:moveTo>
                <a:lnTo>
                  <a:pt x="5495929" y="0"/>
                </a:lnTo>
                <a:cubicBezTo>
                  <a:pt x="5559053" y="0"/>
                  <a:pt x="5610225" y="51172"/>
                  <a:pt x="5610225" y="114296"/>
                </a:cubicBezTo>
                <a:lnTo>
                  <a:pt x="5610225" y="4581529"/>
                </a:lnTo>
                <a:cubicBezTo>
                  <a:pt x="5610225" y="4644653"/>
                  <a:pt x="5559053" y="4695825"/>
                  <a:pt x="5495929" y="4695825"/>
                </a:cubicBezTo>
                <a:lnTo>
                  <a:pt x="114296" y="4695825"/>
                </a:lnTo>
                <a:cubicBezTo>
                  <a:pt x="51172" y="4695825"/>
                  <a:pt x="0" y="4644653"/>
                  <a:pt x="0" y="4581529"/>
                </a:cubicBezTo>
                <a:lnTo>
                  <a:pt x="0" y="114296"/>
                </a:lnTo>
                <a:cubicBezTo>
                  <a:pt x="0" y="51172"/>
                  <a:pt x="51172" y="0"/>
                  <a:pt x="114296"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8" name="Shape 26"/>
          <p:cNvSpPr/>
          <p:nvPr/>
        </p:nvSpPr>
        <p:spPr>
          <a:xfrm>
            <a:off x="6415088" y="1381125"/>
            <a:ext cx="190500" cy="190500"/>
          </a:xfrm>
          <a:custGeom>
            <a:avLst/>
            <a:gdLst/>
            <a:ahLst/>
            <a:cxnLst/>
            <a:rect l="l" t="t" r="r" b="b"/>
            <a:pathLst>
              <a:path w="190500" h="190500">
                <a:moveTo>
                  <a:pt x="127471" y="3497"/>
                </a:moveTo>
                <a:cubicBezTo>
                  <a:pt x="122820" y="-1153"/>
                  <a:pt x="115267" y="-1153"/>
                  <a:pt x="110617" y="3497"/>
                </a:cubicBezTo>
                <a:cubicBezTo>
                  <a:pt x="105966" y="8148"/>
                  <a:pt x="105966" y="15701"/>
                  <a:pt x="110617" y="20352"/>
                </a:cubicBezTo>
                <a:lnTo>
                  <a:pt x="114114" y="23812"/>
                </a:lnTo>
                <a:lnTo>
                  <a:pt x="10455" y="127471"/>
                </a:lnTo>
                <a:cubicBezTo>
                  <a:pt x="3758" y="134169"/>
                  <a:pt x="0" y="143247"/>
                  <a:pt x="0" y="152735"/>
                </a:cubicBezTo>
                <a:lnTo>
                  <a:pt x="0" y="154781"/>
                </a:lnTo>
                <a:cubicBezTo>
                  <a:pt x="0" y="174501"/>
                  <a:pt x="15999" y="190500"/>
                  <a:pt x="35719" y="190500"/>
                </a:cubicBezTo>
                <a:lnTo>
                  <a:pt x="37765" y="190500"/>
                </a:lnTo>
                <a:cubicBezTo>
                  <a:pt x="47253" y="190500"/>
                  <a:pt x="56331" y="186742"/>
                  <a:pt x="63029" y="180045"/>
                </a:cubicBezTo>
                <a:lnTo>
                  <a:pt x="166688" y="76386"/>
                </a:lnTo>
                <a:lnTo>
                  <a:pt x="170185" y="79883"/>
                </a:lnTo>
                <a:cubicBezTo>
                  <a:pt x="174836" y="84534"/>
                  <a:pt x="182389" y="84534"/>
                  <a:pt x="187040" y="79883"/>
                </a:cubicBezTo>
                <a:cubicBezTo>
                  <a:pt x="191691" y="75233"/>
                  <a:pt x="191691" y="67680"/>
                  <a:pt x="187040" y="63029"/>
                </a:cubicBezTo>
                <a:lnTo>
                  <a:pt x="127508" y="3497"/>
                </a:lnTo>
                <a:close/>
                <a:moveTo>
                  <a:pt x="76386" y="95250"/>
                </a:moveTo>
                <a:lnTo>
                  <a:pt x="130969" y="40667"/>
                </a:lnTo>
                <a:lnTo>
                  <a:pt x="149833" y="59531"/>
                </a:lnTo>
                <a:lnTo>
                  <a:pt x="114114" y="95250"/>
                </a:lnTo>
                <a:lnTo>
                  <a:pt x="76349" y="95250"/>
                </a:lnTo>
                <a:close/>
              </a:path>
            </a:pathLst>
          </a:custGeom>
          <a:solidFill>
            <a:srgbClr val="10B981"/>
          </a:solidFill>
          <a:ln/>
        </p:spPr>
      </p:sp>
      <p:sp>
        <p:nvSpPr>
          <p:cNvPr id="29" name="Text 27"/>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Lab 13.2: Sinh Unit Test</a:t>
            </a:r>
            <a:endParaRPr lang="en-US" sz="1600" dirty="0"/>
          </a:p>
        </p:txBody>
      </p:sp>
      <p:sp>
        <p:nvSpPr>
          <p:cNvPr id="30" name="Shape 28"/>
          <p:cNvSpPr/>
          <p:nvPr/>
        </p:nvSpPr>
        <p:spPr>
          <a:xfrm>
            <a:off x="6391275" y="1762125"/>
            <a:ext cx="5219700" cy="1504950"/>
          </a:xfrm>
          <a:custGeom>
            <a:avLst/>
            <a:gdLst/>
            <a:ahLst/>
            <a:cxnLst/>
            <a:rect l="l" t="t" r="r" b="b"/>
            <a:pathLst>
              <a:path w="5219700" h="1504950">
                <a:moveTo>
                  <a:pt x="76196" y="0"/>
                </a:moveTo>
                <a:lnTo>
                  <a:pt x="5143504" y="0"/>
                </a:lnTo>
                <a:cubicBezTo>
                  <a:pt x="5185586" y="0"/>
                  <a:pt x="5219700" y="34114"/>
                  <a:pt x="5219700" y="76196"/>
                </a:cubicBezTo>
                <a:lnTo>
                  <a:pt x="5219700" y="1428754"/>
                </a:lnTo>
                <a:cubicBezTo>
                  <a:pt x="5219700" y="1470836"/>
                  <a:pt x="5185586" y="1504950"/>
                  <a:pt x="5143504" y="1504950"/>
                </a:cubicBezTo>
                <a:lnTo>
                  <a:pt x="76196" y="1504950"/>
                </a:lnTo>
                <a:cubicBezTo>
                  <a:pt x="34114" y="1504950"/>
                  <a:pt x="0" y="1470836"/>
                  <a:pt x="0" y="1428754"/>
                </a:cubicBezTo>
                <a:lnTo>
                  <a:pt x="0" y="76196"/>
                </a:lnTo>
                <a:cubicBezTo>
                  <a:pt x="0" y="34142"/>
                  <a:pt x="34142" y="0"/>
                  <a:pt x="76196" y="0"/>
                </a:cubicBezTo>
                <a:close/>
              </a:path>
            </a:pathLst>
          </a:custGeom>
          <a:solidFill>
            <a:srgbClr val="0F172A"/>
          </a:solidFill>
          <a:ln/>
        </p:spPr>
      </p:sp>
      <p:sp>
        <p:nvSpPr>
          <p:cNvPr id="31" name="Text 29"/>
          <p:cNvSpPr/>
          <p:nvPr/>
        </p:nvSpPr>
        <p:spPr>
          <a:xfrm>
            <a:off x="650557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Thao tác:</a:t>
            </a:r>
            <a:endParaRPr lang="en-US" sz="1600" dirty="0"/>
          </a:p>
        </p:txBody>
      </p:sp>
      <p:sp>
        <p:nvSpPr>
          <p:cNvPr id="32" name="Shape 30"/>
          <p:cNvSpPr/>
          <p:nvPr/>
        </p:nvSpPr>
        <p:spPr>
          <a:xfrm>
            <a:off x="6505575" y="2181225"/>
            <a:ext cx="4991100" cy="971550"/>
          </a:xfrm>
          <a:custGeom>
            <a:avLst/>
            <a:gdLst/>
            <a:ahLst/>
            <a:cxnLst/>
            <a:rect l="l" t="t" r="r" b="b"/>
            <a:pathLst>
              <a:path w="4991100" h="971550">
                <a:moveTo>
                  <a:pt x="76199" y="0"/>
                </a:moveTo>
                <a:lnTo>
                  <a:pt x="4914901" y="0"/>
                </a:lnTo>
                <a:cubicBezTo>
                  <a:pt x="4956985" y="0"/>
                  <a:pt x="4991100" y="34115"/>
                  <a:pt x="4991100" y="76199"/>
                </a:cubicBezTo>
                <a:lnTo>
                  <a:pt x="4991100" y="895351"/>
                </a:lnTo>
                <a:cubicBezTo>
                  <a:pt x="4991100" y="937435"/>
                  <a:pt x="4956985" y="971550"/>
                  <a:pt x="4914901" y="971550"/>
                </a:cubicBezTo>
                <a:lnTo>
                  <a:pt x="76199" y="971550"/>
                </a:lnTo>
                <a:cubicBezTo>
                  <a:pt x="34115" y="971550"/>
                  <a:pt x="0" y="937435"/>
                  <a:pt x="0" y="895351"/>
                </a:cubicBezTo>
                <a:lnTo>
                  <a:pt x="0" y="76199"/>
                </a:lnTo>
                <a:cubicBezTo>
                  <a:pt x="0" y="34143"/>
                  <a:pt x="34143" y="0"/>
                  <a:pt x="76199" y="0"/>
                </a:cubicBezTo>
                <a:close/>
              </a:path>
            </a:pathLst>
          </a:custGeom>
          <a:solidFill>
            <a:srgbClr val="1E293B"/>
          </a:solidFill>
          <a:ln/>
        </p:spPr>
      </p:sp>
      <p:sp>
        <p:nvSpPr>
          <p:cNvPr id="33" name="Text 31"/>
          <p:cNvSpPr/>
          <p:nvPr/>
        </p:nvSpPr>
        <p:spPr>
          <a:xfrm>
            <a:off x="6619875" y="2314575"/>
            <a:ext cx="1559719" cy="142875"/>
          </a:xfrm>
          <a:prstGeom prst="rect">
            <a:avLst/>
          </a:prstGeom>
          <a:noFill/>
          <a:ln/>
        </p:spPr>
        <p:txBody>
          <a:bodyPr wrap="square" lIns="0" tIns="0" rIns="0" bIns="0" rtlCol="0" anchor="ctr"/>
          <a:lstStyle/>
          <a:p>
            <a:pPr>
              <a:lnSpc>
                <a:spcPct val="130000"/>
              </a:lnSpc>
            </a:pPr>
            <a:r>
              <a:rPr lang="en-US" sz="975" dirty="0">
                <a:solidFill>
                  <a:srgbClr val="F1F5F9">
                    <a:alpha val="50000"/>
                  </a:srgbClr>
                </a:solidFill>
                <a:latin typeface="MiSans" pitchFamily="34" charset="0"/>
                <a:ea typeface="MiSans" pitchFamily="34" charset="-122"/>
                <a:cs typeface="MiSans" pitchFamily="34" charset="-120"/>
              </a:rPr>
              <a:t># Bôi đen hàm cần test</a:t>
            </a:r>
            <a:endParaRPr lang="en-US" sz="1600" dirty="0"/>
          </a:p>
        </p:txBody>
      </p:sp>
      <p:sp>
        <p:nvSpPr>
          <p:cNvPr id="34" name="Text 32"/>
          <p:cNvSpPr/>
          <p:nvPr/>
        </p:nvSpPr>
        <p:spPr>
          <a:xfrm>
            <a:off x="6619875" y="2500313"/>
            <a:ext cx="1219349"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@workspace /tests</a:t>
            </a:r>
            <a:endParaRPr lang="en-US" sz="1600" dirty="0"/>
          </a:p>
        </p:txBody>
      </p:sp>
      <p:sp>
        <p:nvSpPr>
          <p:cNvPr id="35" name="Text 33"/>
          <p:cNvSpPr/>
          <p:nvPr/>
        </p:nvSpPr>
        <p:spPr>
          <a:xfrm>
            <a:off x="6619875" y="2686050"/>
            <a:ext cx="1627882"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generate unit tests for</a:t>
            </a:r>
            <a:endParaRPr lang="en-US" sz="1600" dirty="0"/>
          </a:p>
        </p:txBody>
      </p:sp>
      <p:sp>
        <p:nvSpPr>
          <p:cNvPr id="36" name="Text 34"/>
          <p:cNvSpPr/>
          <p:nvPr/>
        </p:nvSpPr>
        <p:spPr>
          <a:xfrm>
            <a:off x="6619875" y="2871788"/>
            <a:ext cx="2104430"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lowercase_remove_punct_numbers</a:t>
            </a:r>
            <a:endParaRPr lang="en-US" sz="1600" dirty="0"/>
          </a:p>
        </p:txBody>
      </p:sp>
      <p:sp>
        <p:nvSpPr>
          <p:cNvPr id="37" name="Shape 35"/>
          <p:cNvSpPr/>
          <p:nvPr/>
        </p:nvSpPr>
        <p:spPr>
          <a:xfrm>
            <a:off x="6396038" y="3386138"/>
            <a:ext cx="5210175" cy="2257425"/>
          </a:xfrm>
          <a:custGeom>
            <a:avLst/>
            <a:gdLst/>
            <a:ahLst/>
            <a:cxnLst/>
            <a:rect l="l" t="t" r="r" b="b"/>
            <a:pathLst>
              <a:path w="5210175" h="2257425">
                <a:moveTo>
                  <a:pt x="76211" y="0"/>
                </a:moveTo>
                <a:lnTo>
                  <a:pt x="5133964" y="0"/>
                </a:lnTo>
                <a:cubicBezTo>
                  <a:pt x="5176054" y="0"/>
                  <a:pt x="5210175" y="34121"/>
                  <a:pt x="5210175" y="76211"/>
                </a:cubicBezTo>
                <a:lnTo>
                  <a:pt x="5210175" y="2181214"/>
                </a:lnTo>
                <a:cubicBezTo>
                  <a:pt x="5210175" y="2223304"/>
                  <a:pt x="5176054" y="2257425"/>
                  <a:pt x="5133964" y="2257425"/>
                </a:cubicBezTo>
                <a:lnTo>
                  <a:pt x="76211" y="2257425"/>
                </a:lnTo>
                <a:cubicBezTo>
                  <a:pt x="34121" y="2257425"/>
                  <a:pt x="0" y="2223304"/>
                  <a:pt x="0" y="2181214"/>
                </a:cubicBezTo>
                <a:lnTo>
                  <a:pt x="0" y="76211"/>
                </a:lnTo>
                <a:cubicBezTo>
                  <a:pt x="0" y="34149"/>
                  <a:pt x="34149" y="0"/>
                  <a:pt x="76211" y="0"/>
                </a:cubicBezTo>
                <a:close/>
              </a:path>
            </a:pathLst>
          </a:custGeom>
          <a:solidFill>
            <a:srgbClr val="0F172A"/>
          </a:solidFill>
          <a:ln w="12700">
            <a:solidFill>
              <a:srgbClr val="10B981">
                <a:alpha val="30196"/>
              </a:srgbClr>
            </a:solidFill>
            <a:prstDash val="solid"/>
          </a:ln>
        </p:spPr>
      </p:sp>
      <p:sp>
        <p:nvSpPr>
          <p:cNvPr id="38" name="Text 36"/>
          <p:cNvSpPr/>
          <p:nvPr/>
        </p:nvSpPr>
        <p:spPr>
          <a:xfrm>
            <a:off x="6515100" y="3505200"/>
            <a:ext cx="504825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Kết quả: test_ngrams.py</a:t>
            </a:r>
            <a:endParaRPr lang="en-US" sz="1600" dirty="0"/>
          </a:p>
        </p:txBody>
      </p:sp>
      <p:sp>
        <p:nvSpPr>
          <p:cNvPr id="39" name="Shape 37"/>
          <p:cNvSpPr/>
          <p:nvPr/>
        </p:nvSpPr>
        <p:spPr>
          <a:xfrm>
            <a:off x="6515100" y="3810000"/>
            <a:ext cx="4829175" cy="1714500"/>
          </a:xfrm>
          <a:custGeom>
            <a:avLst/>
            <a:gdLst/>
            <a:ahLst/>
            <a:cxnLst/>
            <a:rect l="l" t="t" r="r" b="b"/>
            <a:pathLst>
              <a:path w="4829175" h="1714500">
                <a:moveTo>
                  <a:pt x="76192" y="0"/>
                </a:moveTo>
                <a:lnTo>
                  <a:pt x="4752983" y="0"/>
                </a:lnTo>
                <a:cubicBezTo>
                  <a:pt x="4795063" y="0"/>
                  <a:pt x="4829175" y="34112"/>
                  <a:pt x="4829175" y="76192"/>
                </a:cubicBezTo>
                <a:lnTo>
                  <a:pt x="4829175" y="1638308"/>
                </a:lnTo>
                <a:cubicBezTo>
                  <a:pt x="4829175" y="1680388"/>
                  <a:pt x="4795063" y="1714500"/>
                  <a:pt x="4752983" y="1714500"/>
                </a:cubicBezTo>
                <a:lnTo>
                  <a:pt x="76192" y="1714500"/>
                </a:lnTo>
                <a:cubicBezTo>
                  <a:pt x="34112" y="1714500"/>
                  <a:pt x="0" y="1680388"/>
                  <a:pt x="0" y="1638308"/>
                </a:cubicBezTo>
                <a:lnTo>
                  <a:pt x="0" y="76192"/>
                </a:lnTo>
                <a:cubicBezTo>
                  <a:pt x="0" y="34141"/>
                  <a:pt x="34141" y="0"/>
                  <a:pt x="76192" y="0"/>
                </a:cubicBezTo>
                <a:close/>
              </a:path>
            </a:pathLst>
          </a:custGeom>
          <a:solidFill>
            <a:srgbClr val="1E293B"/>
          </a:solidFill>
          <a:ln/>
        </p:spPr>
      </p:sp>
      <p:sp>
        <p:nvSpPr>
          <p:cNvPr id="40" name="Text 38"/>
          <p:cNvSpPr/>
          <p:nvPr/>
        </p:nvSpPr>
        <p:spPr>
          <a:xfrm>
            <a:off x="6515100" y="3810000"/>
            <a:ext cx="4891088" cy="171450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import</a:t>
            </a:r>
            <a:pPr>
              <a:lnSpc>
                <a:spcPct val="130000"/>
              </a:lnSpc>
            </a:pPr>
            <a:r>
              <a:rPr lang="en-US" sz="975" dirty="0">
                <a:solidFill>
                  <a:srgbClr val="F1F5F9"/>
                </a:solidFill>
                <a:latin typeface="MiSans" pitchFamily="34" charset="0"/>
                <a:ea typeface="MiSans" pitchFamily="34" charset="-122"/>
                <a:cs typeface="MiSans" pitchFamily="34" charset="-120"/>
              </a:rPr>
              <a:t> unittest</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from</a:t>
            </a:r>
            <a:pPr>
              <a:lnSpc>
                <a:spcPct val="130000"/>
              </a:lnSpc>
            </a:pPr>
            <a:r>
              <a:rPr lang="en-US" sz="975" dirty="0">
                <a:solidFill>
                  <a:srgbClr val="F1F5F9"/>
                </a:solidFill>
                <a:latin typeface="MiSans" pitchFamily="34" charset="0"/>
                <a:ea typeface="MiSans" pitchFamily="34" charset="-122"/>
                <a:cs typeface="MiSans" pitchFamily="34" charset="-120"/>
              </a:rPr>
              <a:t> ngrams </a:t>
            </a:r>
            <a:pPr>
              <a:lnSpc>
                <a:spcPct val="130000"/>
              </a:lnSpc>
            </a:pPr>
            <a:r>
              <a:rPr lang="en-US" sz="975" dirty="0">
                <a:solidFill>
                  <a:srgbClr val="8B5CF6"/>
                </a:solidFill>
                <a:latin typeface="MiSans" pitchFamily="34" charset="0"/>
                <a:ea typeface="MiSans" pitchFamily="34" charset="-122"/>
                <a:cs typeface="MiSans" pitchFamily="34" charset="-120"/>
              </a:rPr>
              <a:t>import</a:t>
            </a:r>
            <a:pPr>
              <a:lnSpc>
                <a:spcPct val="130000"/>
              </a:lnSpc>
            </a:pPr>
            <a:r>
              <a:rPr lang="en-US" sz="975" dirty="0">
                <a:solidFill>
                  <a:srgbClr val="F1F5F9"/>
                </a:solidFill>
                <a:latin typeface="MiSans" pitchFamily="34" charset="0"/>
                <a:ea typeface="MiSans" pitchFamily="34" charset="-122"/>
                <a:cs typeface="MiSans" pitchFamily="34" charset="-120"/>
              </a:rPr>
              <a:t> lowercase_remove_punct_numbers</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class</a:t>
            </a:r>
            <a:pPr>
              <a:lnSpc>
                <a:spcPct val="130000"/>
              </a:lnSpc>
            </a:pPr>
            <a:r>
              <a:rPr lang="en-US" sz="975" dirty="0">
                <a:solidFill>
                  <a:srgbClr val="3B82F6"/>
                </a:solidFill>
                <a:latin typeface="MiSans" pitchFamily="34" charset="0"/>
                <a:ea typeface="MiSans" pitchFamily="34" charset="-122"/>
                <a:cs typeface="MiSans" pitchFamily="34" charset="-120"/>
              </a:rPr>
              <a:t>TestTextProcessing</a:t>
            </a:r>
            <a:pPr>
              <a:lnSpc>
                <a:spcPct val="130000"/>
              </a:lnSpc>
            </a:pPr>
            <a:r>
              <a:rPr lang="en-US" sz="975" dirty="0">
                <a:solidFill>
                  <a:srgbClr val="F1F5F9"/>
                </a:solidFill>
                <a:latin typeface="MiSans" pitchFamily="34" charset="0"/>
                <a:ea typeface="MiSans" pitchFamily="34" charset="-122"/>
                <a:cs typeface="MiSans" pitchFamily="34" charset="-120"/>
              </a:rPr>
              <a:t>(unittest.TestCase):</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def test_lowercase(self):</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self.assertEqual(</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lowercase_remove_punct_numbers("HELLO"),</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"hello"</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def test_remove_punct(self):</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self.assertEqual(</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lowercase_remove_punct_numbers("hello!"),</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"hello"</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def test_remove_numbers(self):</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self.assertEqual(</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lowercase_remove_punct_numbers("hello123"),</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"hello"</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a:t>
            </a:r>
            <a:endParaRPr lang="en-US" sz="1600" dirty="0"/>
          </a:p>
        </p:txBody>
      </p:sp>
      <p:sp>
        <p:nvSpPr>
          <p:cNvPr id="41" name="Shape 39"/>
          <p:cNvSpPr/>
          <p:nvPr/>
        </p:nvSpPr>
        <p:spPr>
          <a:xfrm>
            <a:off x="6196013" y="60055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42" name="Shape 40"/>
          <p:cNvSpPr/>
          <p:nvPr/>
        </p:nvSpPr>
        <p:spPr>
          <a:xfrm>
            <a:off x="6391275" y="62103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59E0B"/>
          </a:solidFill>
          <a:ln/>
        </p:spPr>
      </p:sp>
      <p:sp>
        <p:nvSpPr>
          <p:cNvPr id="43" name="Text 41"/>
          <p:cNvSpPr/>
          <p:nvPr/>
        </p:nvSpPr>
        <p:spPr>
          <a:xfrm>
            <a:off x="6600825" y="61626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Tiết kiệm thờigian: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Copilot phân tích và tự tạo file test với các kịch bản kiểm tra chữ hoa, chữ thường, ký tự đặc biệt.</a:t>
            </a:r>
            <a:endParaRPr lang="en-US" sz="16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43679" y="412414"/>
            <a:ext cx="343679" cy="343679"/>
          </a:xfrm>
          <a:custGeom>
            <a:avLst/>
            <a:gdLst/>
            <a:ahLst/>
            <a:cxnLst/>
            <a:rect l="l" t="t" r="r" b="b"/>
            <a:pathLst>
              <a:path w="343679" h="343679">
                <a:moveTo>
                  <a:pt x="68736" y="0"/>
                </a:moveTo>
                <a:lnTo>
                  <a:pt x="274943" y="0"/>
                </a:lnTo>
                <a:cubicBezTo>
                  <a:pt x="312879" y="0"/>
                  <a:pt x="343679" y="30799"/>
                  <a:pt x="343679" y="68736"/>
                </a:cubicBezTo>
                <a:lnTo>
                  <a:pt x="343679" y="274943"/>
                </a:lnTo>
                <a:cubicBezTo>
                  <a:pt x="343679" y="312879"/>
                  <a:pt x="312879" y="343679"/>
                  <a:pt x="274943" y="343679"/>
                </a:cubicBezTo>
                <a:lnTo>
                  <a:pt x="68736" y="343679"/>
                </a:lnTo>
                <a:cubicBezTo>
                  <a:pt x="30799" y="343679"/>
                  <a:pt x="0" y="312879"/>
                  <a:pt x="0" y="274943"/>
                </a:cubicBezTo>
                <a:lnTo>
                  <a:pt x="0" y="68736"/>
                </a:lnTo>
                <a:cubicBezTo>
                  <a:pt x="0" y="30799"/>
                  <a:pt x="30799" y="0"/>
                  <a:pt x="68736" y="0"/>
                </a:cubicBezTo>
                <a:close/>
              </a:path>
            </a:pathLst>
          </a:custGeom>
          <a:solidFill>
            <a:srgbClr val="8B5CF6"/>
          </a:solidFill>
          <a:ln/>
        </p:spPr>
      </p:sp>
      <p:sp>
        <p:nvSpPr>
          <p:cNvPr id="3" name="Shape 1"/>
          <p:cNvSpPr/>
          <p:nvPr/>
        </p:nvSpPr>
        <p:spPr>
          <a:xfrm>
            <a:off x="440338" y="506926"/>
            <a:ext cx="154655" cy="154655"/>
          </a:xfrm>
          <a:custGeom>
            <a:avLst/>
            <a:gdLst/>
            <a:ahLst/>
            <a:cxnLst/>
            <a:rect l="l" t="t" r="r" b="b"/>
            <a:pathLst>
              <a:path w="154655" h="154655">
                <a:moveTo>
                  <a:pt x="77328" y="154655"/>
                </a:moveTo>
                <a:cubicBezTo>
                  <a:pt x="120006" y="154655"/>
                  <a:pt x="154655" y="120006"/>
                  <a:pt x="154655" y="77328"/>
                </a:cubicBezTo>
                <a:cubicBezTo>
                  <a:pt x="154655" y="34649"/>
                  <a:pt x="120006" y="0"/>
                  <a:pt x="77328" y="0"/>
                </a:cubicBezTo>
                <a:cubicBezTo>
                  <a:pt x="34649" y="0"/>
                  <a:pt x="0" y="34649"/>
                  <a:pt x="0" y="77328"/>
                </a:cubicBezTo>
                <a:cubicBezTo>
                  <a:pt x="0" y="120006"/>
                  <a:pt x="34649" y="154655"/>
                  <a:pt x="77328" y="154655"/>
                </a:cubicBezTo>
                <a:close/>
                <a:moveTo>
                  <a:pt x="70078" y="103909"/>
                </a:moveTo>
                <a:lnTo>
                  <a:pt x="70078" y="84577"/>
                </a:lnTo>
                <a:lnTo>
                  <a:pt x="50746" y="84577"/>
                </a:lnTo>
                <a:cubicBezTo>
                  <a:pt x="46729" y="84577"/>
                  <a:pt x="43497" y="81345"/>
                  <a:pt x="43497" y="77328"/>
                </a:cubicBezTo>
                <a:cubicBezTo>
                  <a:pt x="43497" y="73310"/>
                  <a:pt x="46729" y="70078"/>
                  <a:pt x="50746" y="70078"/>
                </a:cubicBezTo>
                <a:lnTo>
                  <a:pt x="70078" y="70078"/>
                </a:lnTo>
                <a:lnTo>
                  <a:pt x="70078" y="50746"/>
                </a:lnTo>
                <a:cubicBezTo>
                  <a:pt x="70078" y="46729"/>
                  <a:pt x="73310" y="43497"/>
                  <a:pt x="77328" y="43497"/>
                </a:cubicBezTo>
                <a:cubicBezTo>
                  <a:pt x="81345" y="43497"/>
                  <a:pt x="84577" y="46729"/>
                  <a:pt x="84577" y="50746"/>
                </a:cubicBezTo>
                <a:lnTo>
                  <a:pt x="84577" y="70078"/>
                </a:lnTo>
                <a:lnTo>
                  <a:pt x="103909" y="70078"/>
                </a:lnTo>
                <a:cubicBezTo>
                  <a:pt x="107927" y="70078"/>
                  <a:pt x="111159" y="73310"/>
                  <a:pt x="111159" y="77328"/>
                </a:cubicBezTo>
                <a:cubicBezTo>
                  <a:pt x="111159" y="81345"/>
                  <a:pt x="107927" y="84577"/>
                  <a:pt x="103909" y="84577"/>
                </a:cubicBezTo>
                <a:lnTo>
                  <a:pt x="84577" y="84577"/>
                </a:lnTo>
                <a:lnTo>
                  <a:pt x="84577" y="103909"/>
                </a:lnTo>
                <a:cubicBezTo>
                  <a:pt x="84577" y="107927"/>
                  <a:pt x="81345" y="111159"/>
                  <a:pt x="77328" y="111159"/>
                </a:cubicBezTo>
                <a:cubicBezTo>
                  <a:pt x="73310" y="111159"/>
                  <a:pt x="70078" y="107927"/>
                  <a:pt x="70078" y="103909"/>
                </a:cubicBezTo>
                <a:close/>
              </a:path>
            </a:pathLst>
          </a:custGeom>
          <a:solidFill>
            <a:srgbClr val="FFFFFF"/>
          </a:solidFill>
          <a:ln/>
        </p:spPr>
      </p:sp>
      <p:sp>
        <p:nvSpPr>
          <p:cNvPr id="4" name="Text 2"/>
          <p:cNvSpPr/>
          <p:nvPr/>
        </p:nvSpPr>
        <p:spPr>
          <a:xfrm>
            <a:off x="790461" y="343679"/>
            <a:ext cx="7328947" cy="171839"/>
          </a:xfrm>
          <a:prstGeom prst="rect">
            <a:avLst/>
          </a:prstGeom>
          <a:noFill/>
          <a:ln/>
        </p:spPr>
        <p:txBody>
          <a:bodyPr wrap="square" lIns="0" tIns="0" rIns="0" bIns="0" rtlCol="0" anchor="ctr"/>
          <a:lstStyle/>
          <a:p>
            <a:pPr>
              <a:lnSpc>
                <a:spcPct val="120000"/>
              </a:lnSpc>
            </a:pPr>
            <a:r>
              <a:rPr lang="en-US" sz="947" b="1" spc="47" kern="0" dirty="0">
                <a:solidFill>
                  <a:srgbClr val="8B5CF6"/>
                </a:solidFill>
                <a:latin typeface="MiSans" pitchFamily="34" charset="0"/>
                <a:ea typeface="MiSans" pitchFamily="34" charset="-122"/>
                <a:cs typeface="MiSans" pitchFamily="34" charset="-120"/>
              </a:rPr>
              <a:t>CHƯƠNG 13 | MỨC VẬT LÝ</a:t>
            </a:r>
            <a:endParaRPr lang="en-US" sz="1600" dirty="0"/>
          </a:p>
        </p:txBody>
      </p:sp>
      <p:sp>
        <p:nvSpPr>
          <p:cNvPr id="5" name="Text 3"/>
          <p:cNvSpPr/>
          <p:nvPr/>
        </p:nvSpPr>
        <p:spPr>
          <a:xfrm>
            <a:off x="790461" y="515518"/>
            <a:ext cx="7397683" cy="309311"/>
          </a:xfrm>
          <a:prstGeom prst="rect">
            <a:avLst/>
          </a:prstGeom>
          <a:noFill/>
          <a:ln/>
        </p:spPr>
        <p:txBody>
          <a:bodyPr wrap="square" lIns="0" tIns="0" rIns="0" bIns="0" rtlCol="0" anchor="ctr"/>
          <a:lstStyle/>
          <a:p>
            <a:pPr>
              <a:lnSpc>
                <a:spcPct val="100000"/>
              </a:lnSpc>
            </a:pPr>
            <a:r>
              <a:rPr lang="en-US" sz="2030" b="1" dirty="0">
                <a:solidFill>
                  <a:srgbClr val="F1F5F9"/>
                </a:solidFill>
                <a:latin typeface="MiSans" pitchFamily="34" charset="0"/>
                <a:ea typeface="MiSans" pitchFamily="34" charset="-122"/>
                <a:cs typeface="MiSans" pitchFamily="34" charset="-120"/>
              </a:rPr>
              <a:t>Lab 13.3: Bổ sung các trường hợp kiểm thử biên (Edge Cases)</a:t>
            </a:r>
            <a:endParaRPr lang="en-US" sz="1600" dirty="0"/>
          </a:p>
        </p:txBody>
      </p:sp>
      <p:sp>
        <p:nvSpPr>
          <p:cNvPr id="6" name="Shape 4"/>
          <p:cNvSpPr/>
          <p:nvPr/>
        </p:nvSpPr>
        <p:spPr>
          <a:xfrm>
            <a:off x="347975" y="1035332"/>
            <a:ext cx="5653514" cy="4390495"/>
          </a:xfrm>
          <a:custGeom>
            <a:avLst/>
            <a:gdLst/>
            <a:ahLst/>
            <a:cxnLst/>
            <a:rect l="l" t="t" r="r" b="b"/>
            <a:pathLst>
              <a:path w="5653514" h="4390495">
                <a:moveTo>
                  <a:pt x="103089" y="0"/>
                </a:moveTo>
                <a:lnTo>
                  <a:pt x="5550425" y="0"/>
                </a:lnTo>
                <a:cubicBezTo>
                  <a:pt x="5607359" y="0"/>
                  <a:pt x="5653514" y="46154"/>
                  <a:pt x="5653514" y="103089"/>
                </a:cubicBezTo>
                <a:lnTo>
                  <a:pt x="5653514" y="4287406"/>
                </a:lnTo>
                <a:cubicBezTo>
                  <a:pt x="5653514" y="4344340"/>
                  <a:pt x="5607359" y="4390495"/>
                  <a:pt x="5550425" y="4390495"/>
                </a:cubicBezTo>
                <a:lnTo>
                  <a:pt x="103089" y="4390495"/>
                </a:lnTo>
                <a:cubicBezTo>
                  <a:pt x="46154" y="4390495"/>
                  <a:pt x="0" y="4344340"/>
                  <a:pt x="0" y="4287406"/>
                </a:cubicBezTo>
                <a:lnTo>
                  <a:pt x="0" y="103089"/>
                </a:lnTo>
                <a:cubicBezTo>
                  <a:pt x="0" y="46193"/>
                  <a:pt x="46193" y="0"/>
                  <a:pt x="103089"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7" name="Shape 5"/>
          <p:cNvSpPr/>
          <p:nvPr/>
        </p:nvSpPr>
        <p:spPr>
          <a:xfrm>
            <a:off x="545590" y="1245835"/>
            <a:ext cx="171839" cy="171839"/>
          </a:xfrm>
          <a:custGeom>
            <a:avLst/>
            <a:gdLst/>
            <a:ahLst/>
            <a:cxnLst/>
            <a:rect l="l" t="t" r="r" b="b"/>
            <a:pathLst>
              <a:path w="171839" h="171839">
                <a:moveTo>
                  <a:pt x="3155" y="39805"/>
                </a:moveTo>
                <a:cubicBezTo>
                  <a:pt x="-1040" y="35610"/>
                  <a:pt x="-1040" y="28797"/>
                  <a:pt x="3155" y="24601"/>
                </a:cubicBezTo>
                <a:cubicBezTo>
                  <a:pt x="7350" y="20406"/>
                  <a:pt x="14163" y="20406"/>
                  <a:pt x="18359" y="24601"/>
                </a:cubicBezTo>
                <a:lnTo>
                  <a:pt x="72058" y="78301"/>
                </a:lnTo>
                <a:cubicBezTo>
                  <a:pt x="76254" y="82496"/>
                  <a:pt x="76254" y="89309"/>
                  <a:pt x="72058" y="93505"/>
                </a:cubicBezTo>
                <a:lnTo>
                  <a:pt x="18359" y="147205"/>
                </a:lnTo>
                <a:cubicBezTo>
                  <a:pt x="14163" y="151400"/>
                  <a:pt x="7350" y="151400"/>
                  <a:pt x="3155" y="147205"/>
                </a:cubicBezTo>
                <a:cubicBezTo>
                  <a:pt x="-1040" y="143009"/>
                  <a:pt x="-1040" y="136196"/>
                  <a:pt x="3155" y="132001"/>
                </a:cubicBezTo>
                <a:lnTo>
                  <a:pt x="49236" y="85920"/>
                </a:lnTo>
                <a:lnTo>
                  <a:pt x="3155" y="39805"/>
                </a:lnTo>
                <a:close/>
                <a:moveTo>
                  <a:pt x="75180" y="128879"/>
                </a:moveTo>
                <a:lnTo>
                  <a:pt x="161099" y="128879"/>
                </a:lnTo>
                <a:cubicBezTo>
                  <a:pt x="167040" y="128879"/>
                  <a:pt x="171839" y="133679"/>
                  <a:pt x="171839" y="139619"/>
                </a:cubicBezTo>
                <a:cubicBezTo>
                  <a:pt x="171839" y="145560"/>
                  <a:pt x="167040" y="150359"/>
                  <a:pt x="161099" y="150359"/>
                </a:cubicBezTo>
                <a:lnTo>
                  <a:pt x="75180" y="150359"/>
                </a:lnTo>
                <a:cubicBezTo>
                  <a:pt x="69239" y="150359"/>
                  <a:pt x="64440" y="145560"/>
                  <a:pt x="64440" y="139619"/>
                </a:cubicBezTo>
                <a:cubicBezTo>
                  <a:pt x="64440" y="133679"/>
                  <a:pt x="69239" y="128879"/>
                  <a:pt x="75180" y="128879"/>
                </a:cubicBezTo>
                <a:close/>
              </a:path>
            </a:pathLst>
          </a:custGeom>
          <a:solidFill>
            <a:srgbClr val="8B5CF6"/>
          </a:solidFill>
          <a:ln/>
        </p:spPr>
      </p:sp>
      <p:sp>
        <p:nvSpPr>
          <p:cNvPr id="8" name="Text 6"/>
          <p:cNvSpPr/>
          <p:nvPr/>
        </p:nvSpPr>
        <p:spPr>
          <a:xfrm>
            <a:off x="738909" y="1211467"/>
            <a:ext cx="5172364" cy="240575"/>
          </a:xfrm>
          <a:prstGeom prst="rect">
            <a:avLst/>
          </a:prstGeom>
          <a:noFill/>
          <a:ln/>
        </p:spPr>
        <p:txBody>
          <a:bodyPr wrap="square" lIns="0" tIns="0" rIns="0" bIns="0" rtlCol="0" anchor="ctr"/>
          <a:lstStyle/>
          <a:p>
            <a:pPr>
              <a:lnSpc>
                <a:spcPct val="120000"/>
              </a:lnSpc>
            </a:pPr>
            <a:r>
              <a:rPr lang="en-US" sz="1353" b="1" dirty="0">
                <a:solidFill>
                  <a:srgbClr val="8B5CF6"/>
                </a:solidFill>
                <a:latin typeface="MiSans" pitchFamily="34" charset="0"/>
                <a:ea typeface="MiSans" pitchFamily="34" charset="-122"/>
                <a:cs typeface="MiSans" pitchFamily="34" charset="-120"/>
              </a:rPr>
              <a:t>Thao tác thực hiện</a:t>
            </a:r>
            <a:endParaRPr lang="en-US" sz="1600" dirty="0"/>
          </a:p>
        </p:txBody>
      </p:sp>
      <p:sp>
        <p:nvSpPr>
          <p:cNvPr id="9" name="Shape 7"/>
          <p:cNvSpPr/>
          <p:nvPr/>
        </p:nvSpPr>
        <p:spPr>
          <a:xfrm>
            <a:off x="524110" y="1589514"/>
            <a:ext cx="5301243" cy="652989"/>
          </a:xfrm>
          <a:custGeom>
            <a:avLst/>
            <a:gdLst/>
            <a:ahLst/>
            <a:cxnLst/>
            <a:rect l="l" t="t" r="r" b="b"/>
            <a:pathLst>
              <a:path w="5301243" h="652989">
                <a:moveTo>
                  <a:pt x="68734" y="0"/>
                </a:moveTo>
                <a:lnTo>
                  <a:pt x="5232509" y="0"/>
                </a:lnTo>
                <a:cubicBezTo>
                  <a:pt x="5270470" y="0"/>
                  <a:pt x="5301243" y="30773"/>
                  <a:pt x="5301243" y="68734"/>
                </a:cubicBezTo>
                <a:lnTo>
                  <a:pt x="5301243" y="584256"/>
                </a:lnTo>
                <a:cubicBezTo>
                  <a:pt x="5301243" y="622216"/>
                  <a:pt x="5270470" y="652989"/>
                  <a:pt x="5232509" y="652989"/>
                </a:cubicBezTo>
                <a:lnTo>
                  <a:pt x="68734" y="652989"/>
                </a:lnTo>
                <a:cubicBezTo>
                  <a:pt x="30773" y="652989"/>
                  <a:pt x="0" y="622216"/>
                  <a:pt x="0" y="584256"/>
                </a:cubicBezTo>
                <a:lnTo>
                  <a:pt x="0" y="68734"/>
                </a:lnTo>
                <a:cubicBezTo>
                  <a:pt x="0" y="30799"/>
                  <a:pt x="30799" y="0"/>
                  <a:pt x="68734" y="0"/>
                </a:cubicBezTo>
                <a:close/>
              </a:path>
            </a:pathLst>
          </a:custGeom>
          <a:solidFill>
            <a:srgbClr val="0F172A"/>
          </a:solidFill>
          <a:ln/>
        </p:spPr>
      </p:sp>
      <p:sp>
        <p:nvSpPr>
          <p:cNvPr id="10" name="Text 8"/>
          <p:cNvSpPr/>
          <p:nvPr/>
        </p:nvSpPr>
        <p:spPr>
          <a:xfrm>
            <a:off x="627214" y="1692617"/>
            <a:ext cx="5163772" cy="206207"/>
          </a:xfrm>
          <a:prstGeom prst="rect">
            <a:avLst/>
          </a:prstGeom>
          <a:noFill/>
          <a:ln/>
        </p:spPr>
        <p:txBody>
          <a:bodyPr wrap="square" lIns="0" tIns="0" rIns="0" bIns="0" rtlCol="0" anchor="ctr"/>
          <a:lstStyle/>
          <a:p>
            <a:pPr>
              <a:lnSpc>
                <a:spcPct val="130000"/>
              </a:lnSpc>
            </a:pPr>
            <a:r>
              <a:rPr lang="en-US" sz="1082" b="1" dirty="0">
                <a:solidFill>
                  <a:srgbClr val="F1F5F9"/>
                </a:solidFill>
                <a:latin typeface="MiSans" pitchFamily="34" charset="0"/>
                <a:ea typeface="MiSans" pitchFamily="34" charset="-122"/>
                <a:cs typeface="MiSans" pitchFamily="34" charset="-120"/>
              </a:rPr>
              <a:t>Mở file test hiện có</a:t>
            </a:r>
            <a:endParaRPr lang="en-US" sz="1600" dirty="0"/>
          </a:p>
        </p:txBody>
      </p:sp>
      <p:sp>
        <p:nvSpPr>
          <p:cNvPr id="11" name="Text 9"/>
          <p:cNvSpPr/>
          <p:nvPr/>
        </p:nvSpPr>
        <p:spPr>
          <a:xfrm>
            <a:off x="627214" y="1967560"/>
            <a:ext cx="5155180" cy="171839"/>
          </a:xfrm>
          <a:prstGeom prst="rect">
            <a:avLst/>
          </a:prstGeom>
          <a:noFill/>
          <a:ln/>
        </p:spPr>
        <p:txBody>
          <a:bodyPr wrap="square" lIns="0" tIns="0" rIns="0" bIns="0" rtlCol="0" anchor="ctr"/>
          <a:lstStyle/>
          <a:p>
            <a:pPr>
              <a:lnSpc>
                <a:spcPct val="120000"/>
              </a:lnSpc>
            </a:pPr>
            <a:r>
              <a:rPr lang="en-US" sz="947" dirty="0">
                <a:solidFill>
                  <a:srgbClr val="F1F5F9">
                    <a:alpha val="70000"/>
                  </a:srgbClr>
                </a:solidFill>
                <a:latin typeface="MiSans" pitchFamily="34" charset="0"/>
                <a:ea typeface="MiSans" pitchFamily="34" charset="-122"/>
                <a:cs typeface="MiSans" pitchFamily="34" charset="-120"/>
              </a:rPr>
              <a:t>test_ngrams.py</a:t>
            </a:r>
            <a:endParaRPr lang="en-US" sz="1600" dirty="0"/>
          </a:p>
        </p:txBody>
      </p:sp>
      <p:sp>
        <p:nvSpPr>
          <p:cNvPr id="12" name="Shape 10"/>
          <p:cNvSpPr/>
          <p:nvPr/>
        </p:nvSpPr>
        <p:spPr>
          <a:xfrm>
            <a:off x="524110" y="2345607"/>
            <a:ext cx="5301243" cy="481150"/>
          </a:xfrm>
          <a:custGeom>
            <a:avLst/>
            <a:gdLst/>
            <a:ahLst/>
            <a:cxnLst/>
            <a:rect l="l" t="t" r="r" b="b"/>
            <a:pathLst>
              <a:path w="5301243" h="481150">
                <a:moveTo>
                  <a:pt x="68737" y="0"/>
                </a:moveTo>
                <a:lnTo>
                  <a:pt x="5232506" y="0"/>
                </a:lnTo>
                <a:cubicBezTo>
                  <a:pt x="5270468" y="0"/>
                  <a:pt x="5301243" y="30775"/>
                  <a:pt x="5301243" y="68737"/>
                </a:cubicBezTo>
                <a:lnTo>
                  <a:pt x="5301243" y="412413"/>
                </a:lnTo>
                <a:cubicBezTo>
                  <a:pt x="5301243" y="450375"/>
                  <a:pt x="5270468" y="481150"/>
                  <a:pt x="5232506" y="481150"/>
                </a:cubicBezTo>
                <a:lnTo>
                  <a:pt x="68737" y="481150"/>
                </a:lnTo>
                <a:cubicBezTo>
                  <a:pt x="30775" y="481150"/>
                  <a:pt x="0" y="450375"/>
                  <a:pt x="0" y="412413"/>
                </a:cubicBezTo>
                <a:lnTo>
                  <a:pt x="0" y="68737"/>
                </a:lnTo>
                <a:cubicBezTo>
                  <a:pt x="0" y="30775"/>
                  <a:pt x="30775" y="0"/>
                  <a:pt x="68737" y="0"/>
                </a:cubicBezTo>
                <a:close/>
              </a:path>
            </a:pathLst>
          </a:custGeom>
          <a:solidFill>
            <a:srgbClr val="0F172A"/>
          </a:solidFill>
          <a:ln/>
        </p:spPr>
      </p:sp>
      <p:sp>
        <p:nvSpPr>
          <p:cNvPr id="13" name="Text 11"/>
          <p:cNvSpPr/>
          <p:nvPr/>
        </p:nvSpPr>
        <p:spPr>
          <a:xfrm>
            <a:off x="627214" y="2448710"/>
            <a:ext cx="5163772" cy="206207"/>
          </a:xfrm>
          <a:prstGeom prst="rect">
            <a:avLst/>
          </a:prstGeom>
          <a:noFill/>
          <a:ln/>
        </p:spPr>
        <p:txBody>
          <a:bodyPr wrap="square" lIns="0" tIns="0" rIns="0" bIns="0" rtlCol="0" anchor="ctr"/>
          <a:lstStyle/>
          <a:p>
            <a:pPr>
              <a:lnSpc>
                <a:spcPct val="130000"/>
              </a:lnSpc>
            </a:pPr>
            <a:r>
              <a:rPr lang="en-US" sz="1082" b="1" dirty="0">
                <a:solidFill>
                  <a:srgbClr val="F1F5F9"/>
                </a:solidFill>
                <a:latin typeface="MiSans" pitchFamily="34" charset="0"/>
                <a:ea typeface="MiSans" pitchFamily="34" charset="-122"/>
                <a:cs typeface="MiSans" pitchFamily="34" charset="-120"/>
              </a:rPr>
              <a:t>Mở Inline Chat (Ctrl+I)</a:t>
            </a:r>
            <a:endParaRPr lang="en-US" sz="1600" dirty="0"/>
          </a:p>
        </p:txBody>
      </p:sp>
      <p:sp>
        <p:nvSpPr>
          <p:cNvPr id="14" name="Shape 12"/>
          <p:cNvSpPr/>
          <p:nvPr/>
        </p:nvSpPr>
        <p:spPr>
          <a:xfrm>
            <a:off x="524110" y="2929860"/>
            <a:ext cx="5301243" cy="1022444"/>
          </a:xfrm>
          <a:custGeom>
            <a:avLst/>
            <a:gdLst/>
            <a:ahLst/>
            <a:cxnLst/>
            <a:rect l="l" t="t" r="r" b="b"/>
            <a:pathLst>
              <a:path w="5301243" h="1022444">
                <a:moveTo>
                  <a:pt x="68739" y="0"/>
                </a:moveTo>
                <a:lnTo>
                  <a:pt x="5232504" y="0"/>
                </a:lnTo>
                <a:cubicBezTo>
                  <a:pt x="5270468" y="0"/>
                  <a:pt x="5301243" y="30775"/>
                  <a:pt x="5301243" y="68739"/>
                </a:cubicBezTo>
                <a:lnTo>
                  <a:pt x="5301243" y="953705"/>
                </a:lnTo>
                <a:cubicBezTo>
                  <a:pt x="5301243" y="991669"/>
                  <a:pt x="5270468" y="1022444"/>
                  <a:pt x="5232504" y="1022444"/>
                </a:cubicBezTo>
                <a:lnTo>
                  <a:pt x="68739" y="1022444"/>
                </a:lnTo>
                <a:cubicBezTo>
                  <a:pt x="30775" y="1022444"/>
                  <a:pt x="0" y="991669"/>
                  <a:pt x="0" y="953705"/>
                </a:cubicBezTo>
                <a:lnTo>
                  <a:pt x="0" y="68739"/>
                </a:lnTo>
                <a:cubicBezTo>
                  <a:pt x="0" y="30801"/>
                  <a:pt x="30801" y="0"/>
                  <a:pt x="68739" y="0"/>
                </a:cubicBezTo>
                <a:close/>
              </a:path>
            </a:pathLst>
          </a:custGeom>
          <a:solidFill>
            <a:srgbClr val="0F172A"/>
          </a:solidFill>
          <a:ln/>
        </p:spPr>
      </p:sp>
      <p:sp>
        <p:nvSpPr>
          <p:cNvPr id="15" name="Text 13"/>
          <p:cNvSpPr/>
          <p:nvPr/>
        </p:nvSpPr>
        <p:spPr>
          <a:xfrm>
            <a:off x="627214" y="3032964"/>
            <a:ext cx="5163772" cy="206207"/>
          </a:xfrm>
          <a:prstGeom prst="rect">
            <a:avLst/>
          </a:prstGeom>
          <a:noFill/>
          <a:ln/>
        </p:spPr>
        <p:txBody>
          <a:bodyPr wrap="square" lIns="0" tIns="0" rIns="0" bIns="0" rtlCol="0" anchor="ctr"/>
          <a:lstStyle/>
          <a:p>
            <a:pPr>
              <a:lnSpc>
                <a:spcPct val="130000"/>
              </a:lnSpc>
            </a:pPr>
            <a:r>
              <a:rPr lang="en-US" sz="1082" b="1" dirty="0">
                <a:solidFill>
                  <a:srgbClr val="F1F5F9"/>
                </a:solidFill>
                <a:latin typeface="MiSans" pitchFamily="34" charset="0"/>
                <a:ea typeface="MiSans" pitchFamily="34" charset="-122"/>
                <a:cs typeface="MiSans" pitchFamily="34" charset="-120"/>
              </a:rPr>
              <a:t>Nhập prompt yêu cầu:</a:t>
            </a:r>
            <a:endParaRPr lang="en-US" sz="1600" dirty="0"/>
          </a:p>
        </p:txBody>
      </p:sp>
      <p:sp>
        <p:nvSpPr>
          <p:cNvPr id="16" name="Shape 14"/>
          <p:cNvSpPr/>
          <p:nvPr/>
        </p:nvSpPr>
        <p:spPr>
          <a:xfrm>
            <a:off x="627214" y="3307907"/>
            <a:ext cx="5095036" cy="541294"/>
          </a:xfrm>
          <a:custGeom>
            <a:avLst/>
            <a:gdLst/>
            <a:ahLst/>
            <a:cxnLst/>
            <a:rect l="l" t="t" r="r" b="b"/>
            <a:pathLst>
              <a:path w="5095036" h="541294">
                <a:moveTo>
                  <a:pt x="68733" y="0"/>
                </a:moveTo>
                <a:lnTo>
                  <a:pt x="5026302" y="0"/>
                </a:lnTo>
                <a:cubicBezTo>
                  <a:pt x="5064263" y="0"/>
                  <a:pt x="5095036" y="30773"/>
                  <a:pt x="5095036" y="68733"/>
                </a:cubicBezTo>
                <a:lnTo>
                  <a:pt x="5095036" y="472560"/>
                </a:lnTo>
                <a:cubicBezTo>
                  <a:pt x="5095036" y="510521"/>
                  <a:pt x="5064263" y="541294"/>
                  <a:pt x="5026302" y="541294"/>
                </a:cubicBezTo>
                <a:lnTo>
                  <a:pt x="68733" y="541294"/>
                </a:lnTo>
                <a:cubicBezTo>
                  <a:pt x="30798" y="541294"/>
                  <a:pt x="0" y="510495"/>
                  <a:pt x="0" y="472560"/>
                </a:cubicBezTo>
                <a:lnTo>
                  <a:pt x="0" y="68733"/>
                </a:lnTo>
                <a:cubicBezTo>
                  <a:pt x="0" y="30798"/>
                  <a:pt x="30798" y="0"/>
                  <a:pt x="68733" y="0"/>
                </a:cubicBezTo>
                <a:close/>
              </a:path>
            </a:pathLst>
          </a:custGeom>
          <a:solidFill>
            <a:srgbClr val="1E293B"/>
          </a:solidFill>
          <a:ln/>
        </p:spPr>
      </p:sp>
      <p:sp>
        <p:nvSpPr>
          <p:cNvPr id="17" name="Text 15"/>
          <p:cNvSpPr/>
          <p:nvPr/>
        </p:nvSpPr>
        <p:spPr>
          <a:xfrm>
            <a:off x="730317" y="3428195"/>
            <a:ext cx="1345582" cy="128879"/>
          </a:xfrm>
          <a:prstGeom prst="rect">
            <a:avLst/>
          </a:prstGeom>
          <a:noFill/>
          <a:ln/>
        </p:spPr>
        <p:txBody>
          <a:bodyPr wrap="square" lIns="0" tIns="0" rIns="0" bIns="0" rtlCol="0" anchor="ctr"/>
          <a:lstStyle/>
          <a:p>
            <a:pPr>
              <a:lnSpc>
                <a:spcPct val="130000"/>
              </a:lnSpc>
            </a:pPr>
            <a:r>
              <a:rPr lang="en-US" sz="879" dirty="0">
                <a:solidFill>
                  <a:srgbClr val="8B5CF6"/>
                </a:solidFill>
                <a:latin typeface="MiSans" pitchFamily="34" charset="0"/>
                <a:ea typeface="MiSans" pitchFamily="34" charset="-122"/>
                <a:cs typeface="MiSans" pitchFamily="34" charset="-120"/>
              </a:rPr>
              <a:t>/tests add a test for</a:t>
            </a:r>
            <a:endParaRPr lang="en-US" sz="1600" dirty="0"/>
          </a:p>
        </p:txBody>
      </p:sp>
      <p:sp>
        <p:nvSpPr>
          <p:cNvPr id="18" name="Text 16"/>
          <p:cNvSpPr/>
          <p:nvPr/>
        </p:nvSpPr>
        <p:spPr>
          <a:xfrm>
            <a:off x="730317" y="3595738"/>
            <a:ext cx="1468421" cy="128879"/>
          </a:xfrm>
          <a:prstGeom prst="rect">
            <a:avLst/>
          </a:prstGeom>
          <a:noFill/>
          <a:ln/>
        </p:spPr>
        <p:txBody>
          <a:bodyPr wrap="square" lIns="0" tIns="0" rIns="0" bIns="0" rtlCol="0" anchor="ctr"/>
          <a:lstStyle/>
          <a:p>
            <a:pPr>
              <a:lnSpc>
                <a:spcPct val="130000"/>
              </a:lnSpc>
            </a:pPr>
            <a:r>
              <a:rPr lang="en-US" sz="879" dirty="0">
                <a:solidFill>
                  <a:srgbClr val="10B981"/>
                </a:solidFill>
                <a:latin typeface="MiSans" pitchFamily="34" charset="0"/>
                <a:ea typeface="MiSans" pitchFamily="34" charset="-122"/>
                <a:cs typeface="MiSans" pitchFamily="34" charset="-120"/>
              </a:rPr>
              <a:t>a 10-digit phone number</a:t>
            </a:r>
            <a:endParaRPr lang="en-US" sz="1600" dirty="0"/>
          </a:p>
        </p:txBody>
      </p:sp>
      <p:sp>
        <p:nvSpPr>
          <p:cNvPr id="19" name="Shape 17"/>
          <p:cNvSpPr/>
          <p:nvPr/>
        </p:nvSpPr>
        <p:spPr>
          <a:xfrm>
            <a:off x="524110" y="4055408"/>
            <a:ext cx="5301243" cy="1194283"/>
          </a:xfrm>
          <a:custGeom>
            <a:avLst/>
            <a:gdLst/>
            <a:ahLst/>
            <a:cxnLst/>
            <a:rect l="l" t="t" r="r" b="b"/>
            <a:pathLst>
              <a:path w="5301243" h="1194283">
                <a:moveTo>
                  <a:pt x="68731" y="0"/>
                </a:moveTo>
                <a:lnTo>
                  <a:pt x="5232512" y="0"/>
                </a:lnTo>
                <a:cubicBezTo>
                  <a:pt x="5270471" y="0"/>
                  <a:pt x="5301243" y="30772"/>
                  <a:pt x="5301243" y="68731"/>
                </a:cubicBezTo>
                <a:lnTo>
                  <a:pt x="5301243" y="1125552"/>
                </a:lnTo>
                <a:cubicBezTo>
                  <a:pt x="5301243" y="1163511"/>
                  <a:pt x="5270471" y="1194283"/>
                  <a:pt x="5232512" y="1194283"/>
                </a:cubicBezTo>
                <a:lnTo>
                  <a:pt x="68731" y="1194283"/>
                </a:lnTo>
                <a:cubicBezTo>
                  <a:pt x="30772" y="1194283"/>
                  <a:pt x="0" y="1163511"/>
                  <a:pt x="0" y="1125552"/>
                </a:cubicBezTo>
                <a:lnTo>
                  <a:pt x="0" y="68731"/>
                </a:lnTo>
                <a:cubicBezTo>
                  <a:pt x="0" y="30797"/>
                  <a:pt x="30797" y="0"/>
                  <a:pt x="68731" y="0"/>
                </a:cubicBezTo>
                <a:close/>
              </a:path>
            </a:pathLst>
          </a:custGeom>
          <a:solidFill>
            <a:srgbClr val="0F172A"/>
          </a:solidFill>
          <a:ln/>
        </p:spPr>
      </p:sp>
      <p:sp>
        <p:nvSpPr>
          <p:cNvPr id="20" name="Text 18"/>
          <p:cNvSpPr/>
          <p:nvPr/>
        </p:nvSpPr>
        <p:spPr>
          <a:xfrm>
            <a:off x="627214" y="4158512"/>
            <a:ext cx="5163772" cy="206207"/>
          </a:xfrm>
          <a:prstGeom prst="rect">
            <a:avLst/>
          </a:prstGeom>
          <a:noFill/>
          <a:ln/>
        </p:spPr>
        <p:txBody>
          <a:bodyPr wrap="square" lIns="0" tIns="0" rIns="0" bIns="0" rtlCol="0" anchor="ctr"/>
          <a:lstStyle/>
          <a:p>
            <a:pPr>
              <a:lnSpc>
                <a:spcPct val="130000"/>
              </a:lnSpc>
            </a:pPr>
            <a:r>
              <a:rPr lang="en-US" sz="1082" b="1" dirty="0">
                <a:solidFill>
                  <a:srgbClr val="F1F5F9"/>
                </a:solidFill>
                <a:latin typeface="MiSans" pitchFamily="34" charset="0"/>
                <a:ea typeface="MiSans" pitchFamily="34" charset="-122"/>
                <a:cs typeface="MiSans" pitchFamily="34" charset="-120"/>
              </a:rPr>
              <a:t>Hoặc prompt khác:</a:t>
            </a:r>
            <a:endParaRPr lang="en-US" sz="1600" dirty="0"/>
          </a:p>
        </p:txBody>
      </p:sp>
      <p:sp>
        <p:nvSpPr>
          <p:cNvPr id="21" name="Shape 19"/>
          <p:cNvSpPr/>
          <p:nvPr/>
        </p:nvSpPr>
        <p:spPr>
          <a:xfrm>
            <a:off x="627214" y="4433455"/>
            <a:ext cx="5095036" cy="713133"/>
          </a:xfrm>
          <a:custGeom>
            <a:avLst/>
            <a:gdLst/>
            <a:ahLst/>
            <a:cxnLst/>
            <a:rect l="l" t="t" r="r" b="b"/>
            <a:pathLst>
              <a:path w="5095036" h="713133">
                <a:moveTo>
                  <a:pt x="68739" y="0"/>
                </a:moveTo>
                <a:lnTo>
                  <a:pt x="5026297" y="0"/>
                </a:lnTo>
                <a:cubicBezTo>
                  <a:pt x="5064260" y="0"/>
                  <a:pt x="5095036" y="30775"/>
                  <a:pt x="5095036" y="68739"/>
                </a:cubicBezTo>
                <a:lnTo>
                  <a:pt x="5095036" y="644394"/>
                </a:lnTo>
                <a:cubicBezTo>
                  <a:pt x="5095036" y="682358"/>
                  <a:pt x="5064260" y="713133"/>
                  <a:pt x="5026297" y="713133"/>
                </a:cubicBezTo>
                <a:lnTo>
                  <a:pt x="68739" y="713133"/>
                </a:lnTo>
                <a:cubicBezTo>
                  <a:pt x="30801" y="713133"/>
                  <a:pt x="0" y="682332"/>
                  <a:pt x="0" y="644394"/>
                </a:cubicBezTo>
                <a:lnTo>
                  <a:pt x="0" y="68739"/>
                </a:lnTo>
                <a:cubicBezTo>
                  <a:pt x="0" y="30801"/>
                  <a:pt x="30801" y="0"/>
                  <a:pt x="68739" y="0"/>
                </a:cubicBezTo>
                <a:close/>
              </a:path>
            </a:pathLst>
          </a:custGeom>
          <a:solidFill>
            <a:srgbClr val="1E293B"/>
          </a:solidFill>
          <a:ln/>
        </p:spPr>
      </p:sp>
      <p:sp>
        <p:nvSpPr>
          <p:cNvPr id="22" name="Text 20"/>
          <p:cNvSpPr/>
          <p:nvPr/>
        </p:nvSpPr>
        <p:spPr>
          <a:xfrm>
            <a:off x="730317" y="4553742"/>
            <a:ext cx="1591125" cy="128879"/>
          </a:xfrm>
          <a:prstGeom prst="rect">
            <a:avLst/>
          </a:prstGeom>
          <a:noFill/>
          <a:ln/>
        </p:spPr>
        <p:txBody>
          <a:bodyPr wrap="square" lIns="0" tIns="0" rIns="0" bIns="0" rtlCol="0" anchor="ctr"/>
          <a:lstStyle/>
          <a:p>
            <a:pPr>
              <a:lnSpc>
                <a:spcPct val="130000"/>
              </a:lnSpc>
            </a:pPr>
            <a:r>
              <a:rPr lang="en-US" sz="879" dirty="0">
                <a:solidFill>
                  <a:srgbClr val="8B5CF6"/>
                </a:solidFill>
                <a:latin typeface="MiSans" pitchFamily="34" charset="0"/>
                <a:ea typeface="MiSans" pitchFamily="34" charset="-122"/>
                <a:cs typeface="MiSans" pitchFamily="34" charset="-120"/>
              </a:rPr>
              <a:t>/tests add a new test for</a:t>
            </a:r>
            <a:endParaRPr lang="en-US" sz="1600" dirty="0"/>
          </a:p>
        </p:txBody>
      </p:sp>
      <p:sp>
        <p:nvSpPr>
          <p:cNvPr id="23" name="Text 21"/>
          <p:cNvSpPr/>
          <p:nvPr/>
        </p:nvSpPr>
        <p:spPr>
          <a:xfrm>
            <a:off x="730317" y="4721285"/>
            <a:ext cx="1406934" cy="128879"/>
          </a:xfrm>
          <a:prstGeom prst="rect">
            <a:avLst/>
          </a:prstGeom>
          <a:noFill/>
          <a:ln/>
        </p:spPr>
        <p:txBody>
          <a:bodyPr wrap="square" lIns="0" tIns="0" rIns="0" bIns="0" rtlCol="0" anchor="ctr"/>
          <a:lstStyle/>
          <a:p>
            <a:pPr>
              <a:lnSpc>
                <a:spcPct val="130000"/>
              </a:lnSpc>
            </a:pPr>
            <a:r>
              <a:rPr lang="en-US" sz="879" dirty="0">
                <a:solidFill>
                  <a:srgbClr val="10B981"/>
                </a:solidFill>
                <a:latin typeface="MiSans" pitchFamily="34" charset="0"/>
                <a:ea typeface="MiSans" pitchFamily="34" charset="-122"/>
                <a:cs typeface="MiSans" pitchFamily="34" charset="-120"/>
              </a:rPr>
              <a:t>a zip code of the form</a:t>
            </a:r>
            <a:endParaRPr lang="en-US" sz="1600" dirty="0"/>
          </a:p>
        </p:txBody>
      </p:sp>
      <p:sp>
        <p:nvSpPr>
          <p:cNvPr id="24" name="Text 22"/>
          <p:cNvSpPr/>
          <p:nvPr/>
        </p:nvSpPr>
        <p:spPr>
          <a:xfrm>
            <a:off x="730317" y="4888829"/>
            <a:ext cx="1591125" cy="128879"/>
          </a:xfrm>
          <a:prstGeom prst="rect">
            <a:avLst/>
          </a:prstGeom>
          <a:noFill/>
          <a:ln/>
        </p:spPr>
        <p:txBody>
          <a:bodyPr wrap="square" lIns="0" tIns="0" rIns="0" bIns="0" rtlCol="0" anchor="ctr"/>
          <a:lstStyle/>
          <a:p>
            <a:pPr>
              <a:lnSpc>
                <a:spcPct val="130000"/>
              </a:lnSpc>
            </a:pPr>
            <a:r>
              <a:rPr lang="en-US" sz="879" dirty="0">
                <a:solidFill>
                  <a:srgbClr val="10B981"/>
                </a:solidFill>
                <a:latin typeface="MiSans" pitchFamily="34" charset="0"/>
                <a:ea typeface="MiSans" pitchFamily="34" charset="-122"/>
                <a:cs typeface="MiSans" pitchFamily="34" charset="-120"/>
              </a:rPr>
              <a:t>of five digits - 4 digits</a:t>
            </a:r>
            <a:endParaRPr lang="en-US" sz="1600" dirty="0"/>
          </a:p>
        </p:txBody>
      </p:sp>
      <p:sp>
        <p:nvSpPr>
          <p:cNvPr id="25" name="Shape 23"/>
          <p:cNvSpPr/>
          <p:nvPr/>
        </p:nvSpPr>
        <p:spPr>
          <a:xfrm>
            <a:off x="347975" y="5567594"/>
            <a:ext cx="5653514" cy="1280203"/>
          </a:xfrm>
          <a:custGeom>
            <a:avLst/>
            <a:gdLst/>
            <a:ahLst/>
            <a:cxnLst/>
            <a:rect l="l" t="t" r="r" b="b"/>
            <a:pathLst>
              <a:path w="5653514" h="1280203">
                <a:moveTo>
                  <a:pt x="103108" y="0"/>
                </a:moveTo>
                <a:lnTo>
                  <a:pt x="5550406" y="0"/>
                </a:lnTo>
                <a:cubicBezTo>
                  <a:pt x="5607351" y="0"/>
                  <a:pt x="5653514" y="46163"/>
                  <a:pt x="5653514" y="103108"/>
                </a:cubicBezTo>
                <a:lnTo>
                  <a:pt x="5653514" y="1177095"/>
                </a:lnTo>
                <a:cubicBezTo>
                  <a:pt x="5653514" y="1234040"/>
                  <a:pt x="5607351" y="1280203"/>
                  <a:pt x="5550406" y="1280203"/>
                </a:cubicBezTo>
                <a:lnTo>
                  <a:pt x="103108" y="1280203"/>
                </a:lnTo>
                <a:cubicBezTo>
                  <a:pt x="46163" y="1280203"/>
                  <a:pt x="0" y="1234040"/>
                  <a:pt x="0" y="1177095"/>
                </a:cubicBezTo>
                <a:lnTo>
                  <a:pt x="0" y="103108"/>
                </a:lnTo>
                <a:cubicBezTo>
                  <a:pt x="0" y="46201"/>
                  <a:pt x="46201" y="0"/>
                  <a:pt x="103108" y="0"/>
                </a:cubicBezTo>
                <a:close/>
              </a:path>
            </a:pathLst>
          </a:custGeom>
          <a:solidFill>
            <a:srgbClr val="0F172A"/>
          </a:solidFill>
          <a:ln w="12700">
            <a:solidFill>
              <a:srgbClr val="F59E0B">
                <a:alpha val="30196"/>
              </a:srgbClr>
            </a:solidFill>
            <a:prstDash val="solid"/>
          </a:ln>
        </p:spPr>
      </p:sp>
      <p:sp>
        <p:nvSpPr>
          <p:cNvPr id="26" name="Shape 24"/>
          <p:cNvSpPr/>
          <p:nvPr/>
        </p:nvSpPr>
        <p:spPr>
          <a:xfrm>
            <a:off x="511222" y="5752321"/>
            <a:ext cx="154655" cy="154655"/>
          </a:xfrm>
          <a:custGeom>
            <a:avLst/>
            <a:gdLst/>
            <a:ahLst/>
            <a:cxnLst/>
            <a:rect l="l" t="t" r="r" b="b"/>
            <a:pathLst>
              <a:path w="154655" h="154655">
                <a:moveTo>
                  <a:pt x="77328" y="0"/>
                </a:moveTo>
                <a:cubicBezTo>
                  <a:pt x="81768" y="0"/>
                  <a:pt x="85846" y="2447"/>
                  <a:pt x="87960" y="6343"/>
                </a:cubicBezTo>
                <a:lnTo>
                  <a:pt x="153205" y="127168"/>
                </a:lnTo>
                <a:cubicBezTo>
                  <a:pt x="155229" y="130913"/>
                  <a:pt x="155139" y="135444"/>
                  <a:pt x="152964" y="139099"/>
                </a:cubicBezTo>
                <a:cubicBezTo>
                  <a:pt x="150789" y="142754"/>
                  <a:pt x="146832" y="144989"/>
                  <a:pt x="142573" y="144989"/>
                </a:cubicBezTo>
                <a:lnTo>
                  <a:pt x="12082" y="144989"/>
                </a:lnTo>
                <a:cubicBezTo>
                  <a:pt x="7823" y="144989"/>
                  <a:pt x="3897" y="142754"/>
                  <a:pt x="1692" y="139099"/>
                </a:cubicBezTo>
                <a:cubicBezTo>
                  <a:pt x="-514" y="135444"/>
                  <a:pt x="-574" y="130913"/>
                  <a:pt x="1450" y="127168"/>
                </a:cubicBezTo>
                <a:lnTo>
                  <a:pt x="66695" y="6343"/>
                </a:lnTo>
                <a:cubicBezTo>
                  <a:pt x="68810" y="2447"/>
                  <a:pt x="72887" y="0"/>
                  <a:pt x="77328" y="0"/>
                </a:cubicBezTo>
                <a:close/>
                <a:moveTo>
                  <a:pt x="77328" y="50746"/>
                </a:moveTo>
                <a:cubicBezTo>
                  <a:pt x="73310" y="50746"/>
                  <a:pt x="70078" y="53978"/>
                  <a:pt x="70078" y="57996"/>
                </a:cubicBezTo>
                <a:lnTo>
                  <a:pt x="70078" y="91827"/>
                </a:lnTo>
                <a:cubicBezTo>
                  <a:pt x="70078" y="95844"/>
                  <a:pt x="73310" y="99076"/>
                  <a:pt x="77328" y="99076"/>
                </a:cubicBezTo>
                <a:cubicBezTo>
                  <a:pt x="81345" y="99076"/>
                  <a:pt x="84577" y="95844"/>
                  <a:pt x="84577" y="91827"/>
                </a:cubicBezTo>
                <a:lnTo>
                  <a:pt x="84577" y="57996"/>
                </a:lnTo>
                <a:cubicBezTo>
                  <a:pt x="84577" y="53978"/>
                  <a:pt x="81345" y="50746"/>
                  <a:pt x="77328" y="50746"/>
                </a:cubicBezTo>
                <a:close/>
                <a:moveTo>
                  <a:pt x="85393" y="115992"/>
                </a:moveTo>
                <a:cubicBezTo>
                  <a:pt x="85576" y="112998"/>
                  <a:pt x="84083" y="110150"/>
                  <a:pt x="81517" y="108597"/>
                </a:cubicBezTo>
                <a:cubicBezTo>
                  <a:pt x="78951" y="107045"/>
                  <a:pt x="75735" y="107045"/>
                  <a:pt x="73169" y="108597"/>
                </a:cubicBezTo>
                <a:cubicBezTo>
                  <a:pt x="70602" y="110150"/>
                  <a:pt x="69109" y="112998"/>
                  <a:pt x="69293" y="115992"/>
                </a:cubicBezTo>
                <a:cubicBezTo>
                  <a:pt x="69109" y="118985"/>
                  <a:pt x="70602" y="121833"/>
                  <a:pt x="73169" y="123386"/>
                </a:cubicBezTo>
                <a:cubicBezTo>
                  <a:pt x="75735" y="124938"/>
                  <a:pt x="78951" y="124938"/>
                  <a:pt x="81517" y="123386"/>
                </a:cubicBezTo>
                <a:cubicBezTo>
                  <a:pt x="84083" y="121833"/>
                  <a:pt x="85576" y="118985"/>
                  <a:pt x="85393" y="115992"/>
                </a:cubicBezTo>
                <a:close/>
              </a:path>
            </a:pathLst>
          </a:custGeom>
          <a:solidFill>
            <a:srgbClr val="F59E0B"/>
          </a:solidFill>
          <a:ln/>
        </p:spPr>
      </p:sp>
      <p:sp>
        <p:nvSpPr>
          <p:cNvPr id="27" name="Text 25"/>
          <p:cNvSpPr/>
          <p:nvPr/>
        </p:nvSpPr>
        <p:spPr>
          <a:xfrm>
            <a:off x="687357" y="5709362"/>
            <a:ext cx="5249691" cy="240575"/>
          </a:xfrm>
          <a:prstGeom prst="rect">
            <a:avLst/>
          </a:prstGeom>
          <a:noFill/>
          <a:ln/>
        </p:spPr>
        <p:txBody>
          <a:bodyPr wrap="square" lIns="0" tIns="0" rIns="0" bIns="0" rtlCol="0" anchor="ctr"/>
          <a:lstStyle/>
          <a:p>
            <a:pPr>
              <a:lnSpc>
                <a:spcPct val="130000"/>
              </a:lnSpc>
            </a:pPr>
            <a:r>
              <a:rPr lang="en-US" sz="1218" b="1" dirty="0">
                <a:solidFill>
                  <a:srgbClr val="F59E0B"/>
                </a:solidFill>
                <a:latin typeface="MiSans" pitchFamily="34" charset="0"/>
                <a:ea typeface="MiSans" pitchFamily="34" charset="-122"/>
                <a:cs typeface="MiSans" pitchFamily="34" charset="-120"/>
              </a:rPr>
              <a:t>Tại sao cần edge cases?</a:t>
            </a:r>
            <a:endParaRPr lang="en-US" sz="1600" dirty="0"/>
          </a:p>
        </p:txBody>
      </p:sp>
      <p:sp>
        <p:nvSpPr>
          <p:cNvPr id="28" name="Shape 26"/>
          <p:cNvSpPr/>
          <p:nvPr/>
        </p:nvSpPr>
        <p:spPr>
          <a:xfrm>
            <a:off x="514444" y="6087408"/>
            <a:ext cx="105252" cy="120288"/>
          </a:xfrm>
          <a:custGeom>
            <a:avLst/>
            <a:gdLst/>
            <a:ahLst/>
            <a:cxnLst/>
            <a:rect l="l" t="t" r="r" b="b"/>
            <a:pathLst>
              <a:path w="105252" h="120288">
                <a:moveTo>
                  <a:pt x="102150" y="16469"/>
                </a:moveTo>
                <a:cubicBezTo>
                  <a:pt x="105510" y="18912"/>
                  <a:pt x="106262" y="23611"/>
                  <a:pt x="103818" y="26971"/>
                </a:cubicBezTo>
                <a:lnTo>
                  <a:pt x="43675" y="109668"/>
                </a:lnTo>
                <a:cubicBezTo>
                  <a:pt x="42383" y="111454"/>
                  <a:pt x="40386" y="112558"/>
                  <a:pt x="38177" y="112746"/>
                </a:cubicBezTo>
                <a:cubicBezTo>
                  <a:pt x="35969" y="112934"/>
                  <a:pt x="33831" y="112112"/>
                  <a:pt x="32280" y="110561"/>
                </a:cubicBezTo>
                <a:lnTo>
                  <a:pt x="2208" y="80489"/>
                </a:lnTo>
                <a:cubicBezTo>
                  <a:pt x="-728" y="77553"/>
                  <a:pt x="-728" y="72783"/>
                  <a:pt x="2208" y="69847"/>
                </a:cubicBezTo>
                <a:cubicBezTo>
                  <a:pt x="5145" y="66910"/>
                  <a:pt x="9914" y="66910"/>
                  <a:pt x="12851" y="69847"/>
                </a:cubicBezTo>
                <a:lnTo>
                  <a:pt x="36697" y="93693"/>
                </a:lnTo>
                <a:lnTo>
                  <a:pt x="91672" y="18114"/>
                </a:lnTo>
                <a:cubicBezTo>
                  <a:pt x="94116" y="14754"/>
                  <a:pt x="98814" y="14002"/>
                  <a:pt x="102174" y="16446"/>
                </a:cubicBezTo>
                <a:close/>
              </a:path>
            </a:pathLst>
          </a:custGeom>
          <a:solidFill>
            <a:srgbClr val="F59E0B"/>
          </a:solidFill>
          <a:ln/>
        </p:spPr>
      </p:sp>
      <p:sp>
        <p:nvSpPr>
          <p:cNvPr id="29" name="Text 27"/>
          <p:cNvSpPr/>
          <p:nvPr/>
        </p:nvSpPr>
        <p:spPr>
          <a:xfrm>
            <a:off x="708837" y="6053040"/>
            <a:ext cx="1589514" cy="171839"/>
          </a:xfrm>
          <a:prstGeom prst="rect">
            <a:avLst/>
          </a:prstGeom>
          <a:noFill/>
          <a:ln/>
        </p:spPr>
        <p:txBody>
          <a:bodyPr wrap="square" lIns="0" tIns="0" rIns="0" bIns="0" rtlCol="0" anchor="ctr"/>
          <a:lstStyle/>
          <a:p>
            <a:pPr>
              <a:lnSpc>
                <a:spcPct val="120000"/>
              </a:lnSpc>
            </a:pPr>
            <a:r>
              <a:rPr lang="en-US" sz="947" dirty="0">
                <a:solidFill>
                  <a:srgbClr val="F1F5F9">
                    <a:alpha val="80000"/>
                  </a:srgbClr>
                </a:solidFill>
                <a:latin typeface="MiSans" pitchFamily="34" charset="0"/>
                <a:ea typeface="MiSans" pitchFamily="34" charset="-122"/>
                <a:cs typeface="MiSans" pitchFamily="34" charset="-120"/>
              </a:rPr>
              <a:t>Phát hiện lỗi ở giới hạn biên</a:t>
            </a:r>
            <a:endParaRPr lang="en-US" sz="1600" dirty="0"/>
          </a:p>
        </p:txBody>
      </p:sp>
      <p:sp>
        <p:nvSpPr>
          <p:cNvPr id="30" name="Shape 28"/>
          <p:cNvSpPr/>
          <p:nvPr/>
        </p:nvSpPr>
        <p:spPr>
          <a:xfrm>
            <a:off x="514444" y="6327983"/>
            <a:ext cx="105252" cy="120288"/>
          </a:xfrm>
          <a:custGeom>
            <a:avLst/>
            <a:gdLst/>
            <a:ahLst/>
            <a:cxnLst/>
            <a:rect l="l" t="t" r="r" b="b"/>
            <a:pathLst>
              <a:path w="105252" h="120288">
                <a:moveTo>
                  <a:pt x="102150" y="16469"/>
                </a:moveTo>
                <a:cubicBezTo>
                  <a:pt x="105510" y="18912"/>
                  <a:pt x="106262" y="23611"/>
                  <a:pt x="103818" y="26971"/>
                </a:cubicBezTo>
                <a:lnTo>
                  <a:pt x="43675" y="109668"/>
                </a:lnTo>
                <a:cubicBezTo>
                  <a:pt x="42383" y="111454"/>
                  <a:pt x="40386" y="112558"/>
                  <a:pt x="38177" y="112746"/>
                </a:cubicBezTo>
                <a:cubicBezTo>
                  <a:pt x="35969" y="112934"/>
                  <a:pt x="33831" y="112112"/>
                  <a:pt x="32280" y="110561"/>
                </a:cubicBezTo>
                <a:lnTo>
                  <a:pt x="2208" y="80489"/>
                </a:lnTo>
                <a:cubicBezTo>
                  <a:pt x="-728" y="77553"/>
                  <a:pt x="-728" y="72783"/>
                  <a:pt x="2208" y="69847"/>
                </a:cubicBezTo>
                <a:cubicBezTo>
                  <a:pt x="5145" y="66910"/>
                  <a:pt x="9914" y="66910"/>
                  <a:pt x="12851" y="69847"/>
                </a:cubicBezTo>
                <a:lnTo>
                  <a:pt x="36697" y="93693"/>
                </a:lnTo>
                <a:lnTo>
                  <a:pt x="91672" y="18114"/>
                </a:lnTo>
                <a:cubicBezTo>
                  <a:pt x="94116" y="14754"/>
                  <a:pt x="98814" y="14002"/>
                  <a:pt x="102174" y="16446"/>
                </a:cubicBezTo>
                <a:close/>
              </a:path>
            </a:pathLst>
          </a:custGeom>
          <a:solidFill>
            <a:srgbClr val="F59E0B"/>
          </a:solidFill>
          <a:ln/>
        </p:spPr>
      </p:sp>
      <p:sp>
        <p:nvSpPr>
          <p:cNvPr id="31" name="Text 29"/>
          <p:cNvSpPr/>
          <p:nvPr/>
        </p:nvSpPr>
        <p:spPr>
          <a:xfrm>
            <a:off x="708837" y="6293615"/>
            <a:ext cx="1735577" cy="171839"/>
          </a:xfrm>
          <a:prstGeom prst="rect">
            <a:avLst/>
          </a:prstGeom>
          <a:noFill/>
          <a:ln/>
        </p:spPr>
        <p:txBody>
          <a:bodyPr wrap="square" lIns="0" tIns="0" rIns="0" bIns="0" rtlCol="0" anchor="ctr"/>
          <a:lstStyle/>
          <a:p>
            <a:pPr>
              <a:lnSpc>
                <a:spcPct val="120000"/>
              </a:lnSpc>
            </a:pPr>
            <a:r>
              <a:rPr lang="en-US" sz="947" dirty="0">
                <a:solidFill>
                  <a:srgbClr val="F1F5F9">
                    <a:alpha val="80000"/>
                  </a:srgbClr>
                </a:solidFill>
                <a:latin typeface="MiSans" pitchFamily="34" charset="0"/>
                <a:ea typeface="MiSans" pitchFamily="34" charset="-122"/>
                <a:cs typeface="MiSans" pitchFamily="34" charset="-120"/>
              </a:rPr>
              <a:t>Đảm bảo robustness của code</a:t>
            </a:r>
            <a:endParaRPr lang="en-US" sz="1600" dirty="0"/>
          </a:p>
        </p:txBody>
      </p:sp>
      <p:sp>
        <p:nvSpPr>
          <p:cNvPr id="32" name="Shape 30"/>
          <p:cNvSpPr/>
          <p:nvPr/>
        </p:nvSpPr>
        <p:spPr>
          <a:xfrm>
            <a:off x="514444" y="6568558"/>
            <a:ext cx="105252" cy="120288"/>
          </a:xfrm>
          <a:custGeom>
            <a:avLst/>
            <a:gdLst/>
            <a:ahLst/>
            <a:cxnLst/>
            <a:rect l="l" t="t" r="r" b="b"/>
            <a:pathLst>
              <a:path w="105252" h="120288">
                <a:moveTo>
                  <a:pt x="102150" y="16469"/>
                </a:moveTo>
                <a:cubicBezTo>
                  <a:pt x="105510" y="18912"/>
                  <a:pt x="106262" y="23611"/>
                  <a:pt x="103818" y="26971"/>
                </a:cubicBezTo>
                <a:lnTo>
                  <a:pt x="43675" y="109668"/>
                </a:lnTo>
                <a:cubicBezTo>
                  <a:pt x="42383" y="111454"/>
                  <a:pt x="40386" y="112558"/>
                  <a:pt x="38177" y="112746"/>
                </a:cubicBezTo>
                <a:cubicBezTo>
                  <a:pt x="35969" y="112934"/>
                  <a:pt x="33831" y="112112"/>
                  <a:pt x="32280" y="110561"/>
                </a:cubicBezTo>
                <a:lnTo>
                  <a:pt x="2208" y="80489"/>
                </a:lnTo>
                <a:cubicBezTo>
                  <a:pt x="-728" y="77553"/>
                  <a:pt x="-728" y="72783"/>
                  <a:pt x="2208" y="69847"/>
                </a:cubicBezTo>
                <a:cubicBezTo>
                  <a:pt x="5145" y="66910"/>
                  <a:pt x="9914" y="66910"/>
                  <a:pt x="12851" y="69847"/>
                </a:cubicBezTo>
                <a:lnTo>
                  <a:pt x="36697" y="93693"/>
                </a:lnTo>
                <a:lnTo>
                  <a:pt x="91672" y="18114"/>
                </a:lnTo>
                <a:cubicBezTo>
                  <a:pt x="94116" y="14754"/>
                  <a:pt x="98814" y="14002"/>
                  <a:pt x="102174" y="16446"/>
                </a:cubicBezTo>
                <a:close/>
              </a:path>
            </a:pathLst>
          </a:custGeom>
          <a:solidFill>
            <a:srgbClr val="F59E0B"/>
          </a:solidFill>
          <a:ln/>
        </p:spPr>
      </p:sp>
      <p:sp>
        <p:nvSpPr>
          <p:cNvPr id="33" name="Text 31"/>
          <p:cNvSpPr/>
          <p:nvPr/>
        </p:nvSpPr>
        <p:spPr>
          <a:xfrm>
            <a:off x="708837" y="6534190"/>
            <a:ext cx="1134140" cy="171839"/>
          </a:xfrm>
          <a:prstGeom prst="rect">
            <a:avLst/>
          </a:prstGeom>
          <a:noFill/>
          <a:ln/>
        </p:spPr>
        <p:txBody>
          <a:bodyPr wrap="square" lIns="0" tIns="0" rIns="0" bIns="0" rtlCol="0" anchor="ctr"/>
          <a:lstStyle/>
          <a:p>
            <a:pPr>
              <a:lnSpc>
                <a:spcPct val="120000"/>
              </a:lnSpc>
            </a:pPr>
            <a:r>
              <a:rPr lang="en-US" sz="947" dirty="0">
                <a:solidFill>
                  <a:srgbClr val="F1F5F9">
                    <a:alpha val="80000"/>
                  </a:srgbClr>
                </a:solidFill>
                <a:latin typeface="MiSans" pitchFamily="34" charset="0"/>
                <a:ea typeface="MiSans" pitchFamily="34" charset="-122"/>
                <a:cs typeface="MiSans" pitchFamily="34" charset="-120"/>
              </a:rPr>
              <a:t>Tăng coverage rate</a:t>
            </a:r>
            <a:endParaRPr lang="en-US" sz="1600" dirty="0"/>
          </a:p>
        </p:txBody>
      </p:sp>
      <p:sp>
        <p:nvSpPr>
          <p:cNvPr id="34" name="Shape 32"/>
          <p:cNvSpPr/>
          <p:nvPr/>
        </p:nvSpPr>
        <p:spPr>
          <a:xfrm>
            <a:off x="6184739" y="1035332"/>
            <a:ext cx="5653514" cy="4974748"/>
          </a:xfrm>
          <a:custGeom>
            <a:avLst/>
            <a:gdLst/>
            <a:ahLst/>
            <a:cxnLst/>
            <a:rect l="l" t="t" r="r" b="b"/>
            <a:pathLst>
              <a:path w="5653514" h="4974748">
                <a:moveTo>
                  <a:pt x="103127" y="0"/>
                </a:moveTo>
                <a:lnTo>
                  <a:pt x="5550387" y="0"/>
                </a:lnTo>
                <a:cubicBezTo>
                  <a:pt x="5607342" y="0"/>
                  <a:pt x="5653514" y="46171"/>
                  <a:pt x="5653514" y="103127"/>
                </a:cubicBezTo>
                <a:lnTo>
                  <a:pt x="5653514" y="4871622"/>
                </a:lnTo>
                <a:cubicBezTo>
                  <a:pt x="5653514" y="4928577"/>
                  <a:pt x="5607342" y="4974748"/>
                  <a:pt x="5550387" y="4974748"/>
                </a:cubicBezTo>
                <a:lnTo>
                  <a:pt x="103127" y="4974748"/>
                </a:lnTo>
                <a:cubicBezTo>
                  <a:pt x="46171" y="4974748"/>
                  <a:pt x="0" y="4928577"/>
                  <a:pt x="0" y="4871622"/>
                </a:cubicBezTo>
                <a:lnTo>
                  <a:pt x="0" y="103127"/>
                </a:lnTo>
                <a:cubicBezTo>
                  <a:pt x="0" y="46209"/>
                  <a:pt x="46209" y="0"/>
                  <a:pt x="103127"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5" name="Shape 33"/>
          <p:cNvSpPr/>
          <p:nvPr/>
        </p:nvSpPr>
        <p:spPr>
          <a:xfrm>
            <a:off x="6382354" y="1245835"/>
            <a:ext cx="171839" cy="171839"/>
          </a:xfrm>
          <a:custGeom>
            <a:avLst/>
            <a:gdLst/>
            <a:ahLst/>
            <a:cxnLst/>
            <a:rect l="l" t="t" r="r" b="b"/>
            <a:pathLst>
              <a:path w="171839" h="171839">
                <a:moveTo>
                  <a:pt x="85920" y="171839"/>
                </a:moveTo>
                <a:cubicBezTo>
                  <a:pt x="133340" y="171839"/>
                  <a:pt x="171839" y="133340"/>
                  <a:pt x="171839" y="85920"/>
                </a:cubicBezTo>
                <a:cubicBezTo>
                  <a:pt x="171839" y="38499"/>
                  <a:pt x="133340" y="0"/>
                  <a:pt x="85920" y="0"/>
                </a:cubicBezTo>
                <a:cubicBezTo>
                  <a:pt x="38499" y="0"/>
                  <a:pt x="0" y="38499"/>
                  <a:pt x="0" y="85920"/>
                </a:cubicBezTo>
                <a:cubicBezTo>
                  <a:pt x="0" y="133340"/>
                  <a:pt x="38499" y="171839"/>
                  <a:pt x="85920" y="171839"/>
                </a:cubicBezTo>
                <a:close/>
                <a:moveTo>
                  <a:pt x="114246" y="71387"/>
                </a:moveTo>
                <a:lnTo>
                  <a:pt x="87396" y="114347"/>
                </a:lnTo>
                <a:cubicBezTo>
                  <a:pt x="85987" y="116596"/>
                  <a:pt x="83570" y="118005"/>
                  <a:pt x="80919" y="118140"/>
                </a:cubicBezTo>
                <a:cubicBezTo>
                  <a:pt x="78267" y="118274"/>
                  <a:pt x="75717" y="117066"/>
                  <a:pt x="74139" y="114918"/>
                </a:cubicBezTo>
                <a:lnTo>
                  <a:pt x="58029" y="93438"/>
                </a:lnTo>
                <a:cubicBezTo>
                  <a:pt x="55344" y="89880"/>
                  <a:pt x="56083" y="84846"/>
                  <a:pt x="59640" y="82161"/>
                </a:cubicBezTo>
                <a:cubicBezTo>
                  <a:pt x="63198" y="79476"/>
                  <a:pt x="68232" y="80214"/>
                  <a:pt x="70917" y="83772"/>
                </a:cubicBezTo>
                <a:lnTo>
                  <a:pt x="79979" y="95854"/>
                </a:lnTo>
                <a:lnTo>
                  <a:pt x="100586" y="62862"/>
                </a:lnTo>
                <a:cubicBezTo>
                  <a:pt x="102936" y="59103"/>
                  <a:pt x="107903" y="57929"/>
                  <a:pt x="111696" y="60312"/>
                </a:cubicBezTo>
                <a:cubicBezTo>
                  <a:pt x="115488" y="62695"/>
                  <a:pt x="116629" y="67628"/>
                  <a:pt x="114246" y="71421"/>
                </a:cubicBezTo>
                <a:close/>
              </a:path>
            </a:pathLst>
          </a:custGeom>
          <a:solidFill>
            <a:srgbClr val="10B981"/>
          </a:solidFill>
          <a:ln/>
        </p:spPr>
      </p:sp>
      <p:sp>
        <p:nvSpPr>
          <p:cNvPr id="36" name="Text 34"/>
          <p:cNvSpPr/>
          <p:nvPr/>
        </p:nvSpPr>
        <p:spPr>
          <a:xfrm>
            <a:off x="6575673" y="1211467"/>
            <a:ext cx="5172364" cy="240575"/>
          </a:xfrm>
          <a:prstGeom prst="rect">
            <a:avLst/>
          </a:prstGeom>
          <a:noFill/>
          <a:ln/>
        </p:spPr>
        <p:txBody>
          <a:bodyPr wrap="square" lIns="0" tIns="0" rIns="0" bIns="0" rtlCol="0" anchor="ctr"/>
          <a:lstStyle/>
          <a:p>
            <a:pPr>
              <a:lnSpc>
                <a:spcPct val="120000"/>
              </a:lnSpc>
            </a:pPr>
            <a:r>
              <a:rPr lang="en-US" sz="1353" b="1" dirty="0">
                <a:solidFill>
                  <a:srgbClr val="10B981"/>
                </a:solidFill>
                <a:latin typeface="MiSans" pitchFamily="34" charset="0"/>
                <a:ea typeface="MiSans" pitchFamily="34" charset="-122"/>
                <a:cs typeface="MiSans" pitchFamily="34" charset="-120"/>
              </a:rPr>
              <a:t>Kết quả: Test case mới được thêm</a:t>
            </a:r>
            <a:endParaRPr lang="en-US" sz="1600" dirty="0"/>
          </a:p>
        </p:txBody>
      </p:sp>
      <p:sp>
        <p:nvSpPr>
          <p:cNvPr id="37" name="Shape 35"/>
          <p:cNvSpPr/>
          <p:nvPr/>
        </p:nvSpPr>
        <p:spPr>
          <a:xfrm>
            <a:off x="6365170" y="1593810"/>
            <a:ext cx="5292651" cy="3032964"/>
          </a:xfrm>
          <a:custGeom>
            <a:avLst/>
            <a:gdLst/>
            <a:ahLst/>
            <a:cxnLst/>
            <a:rect l="l" t="t" r="r" b="b"/>
            <a:pathLst>
              <a:path w="5292651" h="3032964">
                <a:moveTo>
                  <a:pt x="68727" y="0"/>
                </a:moveTo>
                <a:lnTo>
                  <a:pt x="5223924" y="0"/>
                </a:lnTo>
                <a:cubicBezTo>
                  <a:pt x="5261881" y="0"/>
                  <a:pt x="5292651" y="30770"/>
                  <a:pt x="5292651" y="68727"/>
                </a:cubicBezTo>
                <a:lnTo>
                  <a:pt x="5292651" y="2964237"/>
                </a:lnTo>
                <a:cubicBezTo>
                  <a:pt x="5292651" y="3002194"/>
                  <a:pt x="5261881" y="3032964"/>
                  <a:pt x="5223924" y="3032964"/>
                </a:cubicBezTo>
                <a:lnTo>
                  <a:pt x="68727" y="3032964"/>
                </a:lnTo>
                <a:cubicBezTo>
                  <a:pt x="30770" y="3032964"/>
                  <a:pt x="0" y="3002194"/>
                  <a:pt x="0" y="2964237"/>
                </a:cubicBezTo>
                <a:lnTo>
                  <a:pt x="0" y="68727"/>
                </a:lnTo>
                <a:cubicBezTo>
                  <a:pt x="0" y="30796"/>
                  <a:pt x="30796" y="0"/>
                  <a:pt x="68727" y="0"/>
                </a:cubicBezTo>
                <a:close/>
              </a:path>
            </a:pathLst>
          </a:custGeom>
          <a:solidFill>
            <a:srgbClr val="0F172A"/>
          </a:solidFill>
          <a:ln w="12700">
            <a:solidFill>
              <a:srgbClr val="10B981">
                <a:alpha val="30196"/>
              </a:srgbClr>
            </a:solidFill>
            <a:prstDash val="solid"/>
          </a:ln>
        </p:spPr>
      </p:sp>
      <p:sp>
        <p:nvSpPr>
          <p:cNvPr id="38" name="Shape 36"/>
          <p:cNvSpPr/>
          <p:nvPr/>
        </p:nvSpPr>
        <p:spPr>
          <a:xfrm>
            <a:off x="6506938" y="1735577"/>
            <a:ext cx="4880237" cy="2749429"/>
          </a:xfrm>
          <a:custGeom>
            <a:avLst/>
            <a:gdLst/>
            <a:ahLst/>
            <a:cxnLst/>
            <a:rect l="l" t="t" r="r" b="b"/>
            <a:pathLst>
              <a:path w="4880237" h="2749429">
                <a:moveTo>
                  <a:pt x="68736" y="0"/>
                </a:moveTo>
                <a:lnTo>
                  <a:pt x="4811501" y="0"/>
                </a:lnTo>
                <a:cubicBezTo>
                  <a:pt x="4849463" y="0"/>
                  <a:pt x="4880237" y="30774"/>
                  <a:pt x="4880237" y="68736"/>
                </a:cubicBezTo>
                <a:lnTo>
                  <a:pt x="4880237" y="2680693"/>
                </a:lnTo>
                <a:cubicBezTo>
                  <a:pt x="4880237" y="2718655"/>
                  <a:pt x="4849463" y="2749429"/>
                  <a:pt x="4811501" y="2749429"/>
                </a:cubicBezTo>
                <a:lnTo>
                  <a:pt x="68736" y="2749429"/>
                </a:lnTo>
                <a:cubicBezTo>
                  <a:pt x="30774" y="2749429"/>
                  <a:pt x="0" y="2718655"/>
                  <a:pt x="0" y="2680693"/>
                </a:cubicBezTo>
                <a:lnTo>
                  <a:pt x="0" y="68736"/>
                </a:lnTo>
                <a:cubicBezTo>
                  <a:pt x="0" y="30799"/>
                  <a:pt x="30799" y="0"/>
                  <a:pt x="68736" y="0"/>
                </a:cubicBezTo>
                <a:close/>
              </a:path>
            </a:pathLst>
          </a:custGeom>
          <a:solidFill>
            <a:srgbClr val="1E293B"/>
          </a:solidFill>
          <a:ln/>
        </p:spPr>
      </p:sp>
      <p:sp>
        <p:nvSpPr>
          <p:cNvPr id="39" name="Text 37"/>
          <p:cNvSpPr/>
          <p:nvPr/>
        </p:nvSpPr>
        <p:spPr>
          <a:xfrm>
            <a:off x="6610041" y="1855865"/>
            <a:ext cx="2266668"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 AI tự động viết thêm vào file test</a:t>
            </a:r>
            <a:endParaRPr lang="en-US" sz="1600" dirty="0"/>
          </a:p>
        </p:txBody>
      </p:sp>
      <p:sp>
        <p:nvSpPr>
          <p:cNvPr id="40" name="Text 38"/>
          <p:cNvSpPr/>
          <p:nvPr/>
        </p:nvSpPr>
        <p:spPr>
          <a:xfrm>
            <a:off x="6610041" y="2190951"/>
            <a:ext cx="2020992"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 Test cho 10-digit phone number</a:t>
            </a:r>
            <a:endParaRPr lang="en-US" sz="1600" dirty="0"/>
          </a:p>
        </p:txBody>
      </p:sp>
      <p:sp>
        <p:nvSpPr>
          <p:cNvPr id="41" name="Text 39"/>
          <p:cNvSpPr/>
          <p:nvPr/>
        </p:nvSpPr>
        <p:spPr>
          <a:xfrm>
            <a:off x="6610041" y="2358495"/>
            <a:ext cx="1775449"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def test_phone_number(self):</a:t>
            </a:r>
            <a:endParaRPr lang="en-US" sz="1600" dirty="0"/>
          </a:p>
        </p:txBody>
      </p:sp>
      <p:sp>
        <p:nvSpPr>
          <p:cNvPr id="42" name="Text 40"/>
          <p:cNvSpPr/>
          <p:nvPr/>
        </p:nvSpPr>
        <p:spPr>
          <a:xfrm>
            <a:off x="6610041" y="2526038"/>
            <a:ext cx="1345582"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self.assertEqual(</a:t>
            </a:r>
            <a:endParaRPr lang="en-US" sz="1600" dirty="0"/>
          </a:p>
        </p:txBody>
      </p:sp>
      <p:sp>
        <p:nvSpPr>
          <p:cNvPr id="43" name="Text 41"/>
          <p:cNvSpPr/>
          <p:nvPr/>
        </p:nvSpPr>
        <p:spPr>
          <a:xfrm>
            <a:off x="6610041" y="2693581"/>
            <a:ext cx="2450993"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lowercase_remove_punct_numbers(</a:t>
            </a:r>
            <a:endParaRPr lang="en-US" sz="1600" dirty="0"/>
          </a:p>
        </p:txBody>
      </p:sp>
      <p:sp>
        <p:nvSpPr>
          <p:cNvPr id="44" name="Text 42"/>
          <p:cNvSpPr/>
          <p:nvPr/>
        </p:nvSpPr>
        <p:spPr>
          <a:xfrm>
            <a:off x="6610041" y="2861125"/>
            <a:ext cx="1652611"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"123-456-7890"</a:t>
            </a:r>
            <a:endParaRPr lang="en-US" sz="1600" dirty="0"/>
          </a:p>
        </p:txBody>
      </p:sp>
      <p:sp>
        <p:nvSpPr>
          <p:cNvPr id="45" name="Text 43"/>
          <p:cNvSpPr/>
          <p:nvPr/>
        </p:nvSpPr>
        <p:spPr>
          <a:xfrm>
            <a:off x="6610041" y="3028668"/>
            <a:ext cx="670039"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46" name="Text 44"/>
          <p:cNvSpPr/>
          <p:nvPr/>
        </p:nvSpPr>
        <p:spPr>
          <a:xfrm>
            <a:off x="6610041" y="3196211"/>
            <a:ext cx="792877"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47" name="Text 45"/>
          <p:cNvSpPr/>
          <p:nvPr/>
        </p:nvSpPr>
        <p:spPr>
          <a:xfrm>
            <a:off x="6610041" y="3363755"/>
            <a:ext cx="363011"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48" name="Text 46"/>
          <p:cNvSpPr/>
          <p:nvPr/>
        </p:nvSpPr>
        <p:spPr>
          <a:xfrm>
            <a:off x="6610041" y="3698841"/>
            <a:ext cx="1652611"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 Test cho zip code format</a:t>
            </a:r>
            <a:endParaRPr lang="en-US" sz="1600" dirty="0"/>
          </a:p>
        </p:txBody>
      </p:sp>
      <p:sp>
        <p:nvSpPr>
          <p:cNvPr id="49" name="Text 47"/>
          <p:cNvSpPr/>
          <p:nvPr/>
        </p:nvSpPr>
        <p:spPr>
          <a:xfrm>
            <a:off x="6610041" y="3866385"/>
            <a:ext cx="1529773"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def test_zip_code(self):</a:t>
            </a:r>
            <a:endParaRPr lang="en-US" sz="1600" dirty="0"/>
          </a:p>
        </p:txBody>
      </p:sp>
      <p:sp>
        <p:nvSpPr>
          <p:cNvPr id="50" name="Text 48"/>
          <p:cNvSpPr/>
          <p:nvPr/>
        </p:nvSpPr>
        <p:spPr>
          <a:xfrm>
            <a:off x="6610041" y="4033928"/>
            <a:ext cx="1345582"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self.assertEqual(</a:t>
            </a:r>
            <a:endParaRPr lang="en-US" sz="1600" dirty="0"/>
          </a:p>
        </p:txBody>
      </p:sp>
      <p:sp>
        <p:nvSpPr>
          <p:cNvPr id="51" name="Text 49"/>
          <p:cNvSpPr/>
          <p:nvPr/>
        </p:nvSpPr>
        <p:spPr>
          <a:xfrm>
            <a:off x="6610041" y="4201471"/>
            <a:ext cx="2450993"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lowercase_remove_punct_numbers(</a:t>
            </a:r>
            <a:endParaRPr lang="en-US" sz="1600" dirty="0"/>
          </a:p>
        </p:txBody>
      </p:sp>
      <p:sp>
        <p:nvSpPr>
          <p:cNvPr id="52" name="Text 50"/>
          <p:cNvSpPr/>
          <p:nvPr/>
        </p:nvSpPr>
        <p:spPr>
          <a:xfrm>
            <a:off x="6610041" y="4369015"/>
            <a:ext cx="1529773"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"12345-6789"</a:t>
            </a:r>
            <a:endParaRPr lang="en-US" sz="1600" dirty="0"/>
          </a:p>
        </p:txBody>
      </p:sp>
      <p:sp>
        <p:nvSpPr>
          <p:cNvPr id="53" name="Text 51"/>
          <p:cNvSpPr/>
          <p:nvPr/>
        </p:nvSpPr>
        <p:spPr>
          <a:xfrm>
            <a:off x="6610041" y="4536558"/>
            <a:ext cx="670039"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54" name="Text 52"/>
          <p:cNvSpPr/>
          <p:nvPr/>
        </p:nvSpPr>
        <p:spPr>
          <a:xfrm>
            <a:off x="6610041" y="4704101"/>
            <a:ext cx="731391"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55" name="Text 53"/>
          <p:cNvSpPr/>
          <p:nvPr/>
        </p:nvSpPr>
        <p:spPr>
          <a:xfrm>
            <a:off x="6610041" y="4871645"/>
            <a:ext cx="363011"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56" name="Text 54"/>
          <p:cNvSpPr/>
          <p:nvPr/>
        </p:nvSpPr>
        <p:spPr>
          <a:xfrm>
            <a:off x="6610041" y="5206732"/>
            <a:ext cx="1345582"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 Test cho chuỗi rỗng</a:t>
            </a:r>
            <a:endParaRPr lang="en-US" sz="1600" dirty="0"/>
          </a:p>
        </p:txBody>
      </p:sp>
      <p:sp>
        <p:nvSpPr>
          <p:cNvPr id="57" name="Text 55"/>
          <p:cNvSpPr/>
          <p:nvPr/>
        </p:nvSpPr>
        <p:spPr>
          <a:xfrm>
            <a:off x="6610041" y="5374275"/>
            <a:ext cx="1775449"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def test_empty_string(self):</a:t>
            </a:r>
            <a:endParaRPr lang="en-US" sz="1600" dirty="0"/>
          </a:p>
        </p:txBody>
      </p:sp>
      <p:sp>
        <p:nvSpPr>
          <p:cNvPr id="58" name="Text 56"/>
          <p:cNvSpPr/>
          <p:nvPr/>
        </p:nvSpPr>
        <p:spPr>
          <a:xfrm>
            <a:off x="6610041" y="5541818"/>
            <a:ext cx="1345582"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self.assertEqual(</a:t>
            </a:r>
            <a:endParaRPr lang="en-US" sz="1600" dirty="0"/>
          </a:p>
        </p:txBody>
      </p:sp>
      <p:sp>
        <p:nvSpPr>
          <p:cNvPr id="59" name="Text 57"/>
          <p:cNvSpPr/>
          <p:nvPr/>
        </p:nvSpPr>
        <p:spPr>
          <a:xfrm>
            <a:off x="6610041" y="5709362"/>
            <a:ext cx="2696535"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lowercase_remove_punct_numbers(""),</a:t>
            </a:r>
            <a:endParaRPr lang="en-US" sz="1600" dirty="0"/>
          </a:p>
        </p:txBody>
      </p:sp>
      <p:sp>
        <p:nvSpPr>
          <p:cNvPr id="60" name="Text 58"/>
          <p:cNvSpPr/>
          <p:nvPr/>
        </p:nvSpPr>
        <p:spPr>
          <a:xfrm>
            <a:off x="6610041" y="5876905"/>
            <a:ext cx="670039"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61" name="Text 59"/>
          <p:cNvSpPr/>
          <p:nvPr/>
        </p:nvSpPr>
        <p:spPr>
          <a:xfrm>
            <a:off x="6610041" y="6044448"/>
            <a:ext cx="363011" cy="128879"/>
          </a:xfrm>
          <a:prstGeom prst="rect">
            <a:avLst/>
          </a:prstGeom>
          <a:noFill/>
          <a:ln/>
        </p:spPr>
        <p:txBody>
          <a:bodyPr wrap="square" lIns="0" tIns="0" rIns="0" bIns="0" rtlCol="0" anchor="ctr"/>
          <a:lstStyle/>
          <a:p>
            <a:pPr>
              <a:lnSpc>
                <a:spcPct val="130000"/>
              </a:lnSpc>
            </a:pPr>
            <a:r>
              <a:rPr lang="en-US" sz="879" dirty="0">
                <a:solidFill>
                  <a:srgbClr val="F1F5F9"/>
                </a:solidFill>
                <a:latin typeface="MiSans" pitchFamily="34" charset="0"/>
                <a:ea typeface="MiSans" pitchFamily="34" charset="-122"/>
                <a:cs typeface="MiSans" pitchFamily="34" charset="-120"/>
              </a:rPr>
              <a:t>)</a:t>
            </a:r>
            <a:endParaRPr lang="en-US" sz="1600" dirty="0"/>
          </a:p>
        </p:txBody>
      </p:sp>
      <p:sp>
        <p:nvSpPr>
          <p:cNvPr id="62" name="Shape 60"/>
          <p:cNvSpPr/>
          <p:nvPr/>
        </p:nvSpPr>
        <p:spPr>
          <a:xfrm>
            <a:off x="6184739" y="6151848"/>
            <a:ext cx="5653514" cy="695949"/>
          </a:xfrm>
          <a:custGeom>
            <a:avLst/>
            <a:gdLst/>
            <a:ahLst/>
            <a:cxnLst/>
            <a:rect l="l" t="t" r="r" b="b"/>
            <a:pathLst>
              <a:path w="5653514" h="695949">
                <a:moveTo>
                  <a:pt x="103105" y="0"/>
                </a:moveTo>
                <a:lnTo>
                  <a:pt x="5550409" y="0"/>
                </a:lnTo>
                <a:cubicBezTo>
                  <a:pt x="5607352" y="0"/>
                  <a:pt x="5653514" y="46162"/>
                  <a:pt x="5653514" y="103105"/>
                </a:cubicBezTo>
                <a:lnTo>
                  <a:pt x="5653514" y="592844"/>
                </a:lnTo>
                <a:cubicBezTo>
                  <a:pt x="5653514" y="649788"/>
                  <a:pt x="5607352" y="695949"/>
                  <a:pt x="5550409" y="695949"/>
                </a:cubicBezTo>
                <a:lnTo>
                  <a:pt x="103105" y="695949"/>
                </a:lnTo>
                <a:cubicBezTo>
                  <a:pt x="46162" y="695949"/>
                  <a:pt x="0" y="649788"/>
                  <a:pt x="0" y="592844"/>
                </a:cubicBezTo>
                <a:lnTo>
                  <a:pt x="0" y="103105"/>
                </a:lnTo>
                <a:cubicBezTo>
                  <a:pt x="0" y="46200"/>
                  <a:pt x="46200" y="0"/>
                  <a:pt x="103105" y="0"/>
                </a:cubicBezTo>
                <a:close/>
              </a:path>
            </a:pathLst>
          </a:custGeom>
          <a:gradFill rotWithShape="1" flip="none">
            <a:gsLst>
              <a:gs pos="0">
                <a:srgbClr val="8B5CF6">
                  <a:alpha val="10000"/>
                </a:srgbClr>
              </a:gs>
              <a:gs pos="100000">
                <a:srgbClr val="10B981">
                  <a:alpha val="10000"/>
                </a:srgbClr>
              </a:gs>
            </a:gsLst>
            <a:lin ang="0" scaled="1"/>
          </a:gradFill>
          <a:ln w="12700">
            <a:solidFill>
              <a:srgbClr val="8B5CF6">
                <a:alpha val="30196"/>
              </a:srgbClr>
            </a:solidFill>
            <a:prstDash val="solid"/>
          </a:ln>
        </p:spPr>
      </p:sp>
      <p:sp>
        <p:nvSpPr>
          <p:cNvPr id="63" name="Shape 61"/>
          <p:cNvSpPr/>
          <p:nvPr/>
        </p:nvSpPr>
        <p:spPr>
          <a:xfrm>
            <a:off x="6343690" y="6336575"/>
            <a:ext cx="137471" cy="137471"/>
          </a:xfrm>
          <a:custGeom>
            <a:avLst/>
            <a:gdLst/>
            <a:ahLst/>
            <a:cxnLst/>
            <a:rect l="l" t="t" r="r" b="b"/>
            <a:pathLst>
              <a:path w="137471" h="137471">
                <a:moveTo>
                  <a:pt x="106997" y="3276"/>
                </a:moveTo>
                <a:lnTo>
                  <a:pt x="83315" y="26957"/>
                </a:lnTo>
                <a:lnTo>
                  <a:pt x="110514" y="54156"/>
                </a:lnTo>
                <a:lnTo>
                  <a:pt x="134196" y="30475"/>
                </a:lnTo>
                <a:cubicBezTo>
                  <a:pt x="136290" y="28353"/>
                  <a:pt x="137471" y="25507"/>
                  <a:pt x="137471" y="22554"/>
                </a:cubicBezTo>
                <a:cubicBezTo>
                  <a:pt x="137471" y="19600"/>
                  <a:pt x="136290" y="16754"/>
                  <a:pt x="134196" y="14633"/>
                </a:cubicBezTo>
                <a:lnTo>
                  <a:pt x="122838" y="3276"/>
                </a:lnTo>
                <a:cubicBezTo>
                  <a:pt x="120717" y="1181"/>
                  <a:pt x="117871" y="0"/>
                  <a:pt x="114918" y="0"/>
                </a:cubicBezTo>
                <a:cubicBezTo>
                  <a:pt x="111964" y="0"/>
                  <a:pt x="109118" y="1181"/>
                  <a:pt x="106997" y="3276"/>
                </a:cubicBezTo>
                <a:close/>
                <a:moveTo>
                  <a:pt x="74213" y="36059"/>
                </a:moveTo>
                <a:lnTo>
                  <a:pt x="3276" y="106997"/>
                </a:lnTo>
                <a:cubicBezTo>
                  <a:pt x="1181" y="109118"/>
                  <a:pt x="0" y="111964"/>
                  <a:pt x="0" y="114918"/>
                </a:cubicBezTo>
                <a:cubicBezTo>
                  <a:pt x="0" y="117871"/>
                  <a:pt x="1181" y="120717"/>
                  <a:pt x="3276" y="122838"/>
                </a:cubicBezTo>
                <a:lnTo>
                  <a:pt x="14633" y="134196"/>
                </a:lnTo>
                <a:cubicBezTo>
                  <a:pt x="16754" y="136290"/>
                  <a:pt x="19600" y="137471"/>
                  <a:pt x="22554" y="137471"/>
                </a:cubicBezTo>
                <a:cubicBezTo>
                  <a:pt x="25507" y="137471"/>
                  <a:pt x="28353" y="136290"/>
                  <a:pt x="30475" y="134196"/>
                </a:cubicBezTo>
                <a:lnTo>
                  <a:pt x="101412" y="63258"/>
                </a:lnTo>
                <a:lnTo>
                  <a:pt x="74213" y="36059"/>
                </a:lnTo>
                <a:close/>
              </a:path>
            </a:pathLst>
          </a:custGeom>
          <a:solidFill>
            <a:srgbClr val="8B5CF6"/>
          </a:solidFill>
          <a:ln/>
        </p:spPr>
      </p:sp>
      <p:sp>
        <p:nvSpPr>
          <p:cNvPr id="64" name="Text 62"/>
          <p:cNvSpPr/>
          <p:nvPr/>
        </p:nvSpPr>
        <p:spPr>
          <a:xfrm>
            <a:off x="6544848" y="6293615"/>
            <a:ext cx="5220373" cy="412414"/>
          </a:xfrm>
          <a:prstGeom prst="rect">
            <a:avLst/>
          </a:prstGeom>
          <a:noFill/>
          <a:ln/>
        </p:spPr>
        <p:txBody>
          <a:bodyPr wrap="square" lIns="0" tIns="0" rIns="0" bIns="0" rtlCol="0" anchor="ctr"/>
          <a:lstStyle/>
          <a:p>
            <a:pPr>
              <a:lnSpc>
                <a:spcPct val="130000"/>
              </a:lnSpc>
            </a:pPr>
            <a:r>
              <a:rPr lang="en-US" sz="1082" b="1" dirty="0">
                <a:solidFill>
                  <a:srgbClr val="F1F5F9">
                    <a:alpha val="90000"/>
                  </a:srgbClr>
                </a:solidFill>
                <a:latin typeface="MiSans" pitchFamily="34" charset="0"/>
                <a:ea typeface="MiSans" pitchFamily="34" charset="-122"/>
                <a:cs typeface="MiSans" pitchFamily="34" charset="-120"/>
              </a:rPr>
              <a:t>Kết quả:</a:t>
            </a:r>
            <a:pPr>
              <a:lnSpc>
                <a:spcPct val="130000"/>
              </a:lnSpc>
            </a:pPr>
            <a:r>
              <a:rPr lang="en-US" sz="1082" dirty="0">
                <a:solidFill>
                  <a:srgbClr val="F1F5F9">
                    <a:alpha val="90000"/>
                  </a:srgbClr>
                </a:solidFill>
                <a:latin typeface="MiSans" pitchFamily="34" charset="0"/>
                <a:ea typeface="MiSans" pitchFamily="34" charset="-122"/>
                <a:cs typeface="MiSans" pitchFamily="34" charset="-120"/>
              </a:rPr>
              <a:t> AI tự động viết thêm hàm kiểm thử chèn trực tiếp vào tệp mã nguồn, mở rộng độ bao phủ kiểm thử.</a:t>
            </a:r>
            <a:endParaRPr lang="en-US" sz="16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17500" y="38100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10B981"/>
          </a:solidFill>
          <a:ln/>
        </p:spPr>
      </p:sp>
      <p:sp>
        <p:nvSpPr>
          <p:cNvPr id="3" name="Shape 1"/>
          <p:cNvSpPr/>
          <p:nvPr/>
        </p:nvSpPr>
        <p:spPr>
          <a:xfrm>
            <a:off x="415727" y="468313"/>
            <a:ext cx="125016" cy="142875"/>
          </a:xfrm>
          <a:custGeom>
            <a:avLst/>
            <a:gdLst/>
            <a:ahLst/>
            <a:cxnLst/>
            <a:rect l="l" t="t" r="r" b="b"/>
            <a:pathLst>
              <a:path w="125016" h="142875">
                <a:moveTo>
                  <a:pt x="125016" y="57429"/>
                </a:moveTo>
                <a:cubicBezTo>
                  <a:pt x="120886" y="60164"/>
                  <a:pt x="116142" y="62368"/>
                  <a:pt x="111203" y="64126"/>
                </a:cubicBezTo>
                <a:cubicBezTo>
                  <a:pt x="98087" y="68814"/>
                  <a:pt x="80869" y="71438"/>
                  <a:pt x="62508" y="71438"/>
                </a:cubicBezTo>
                <a:cubicBezTo>
                  <a:pt x="44146" y="71438"/>
                  <a:pt x="26901" y="68786"/>
                  <a:pt x="13813" y="64126"/>
                </a:cubicBezTo>
                <a:cubicBezTo>
                  <a:pt x="8902" y="62368"/>
                  <a:pt x="4130" y="60164"/>
                  <a:pt x="0" y="57429"/>
                </a:cubicBezTo>
                <a:lnTo>
                  <a:pt x="0" y="80367"/>
                </a:lnTo>
                <a:cubicBezTo>
                  <a:pt x="0" y="92701"/>
                  <a:pt x="27989" y="102691"/>
                  <a:pt x="62508" y="102691"/>
                </a:cubicBezTo>
                <a:cubicBezTo>
                  <a:pt x="97027" y="102691"/>
                  <a:pt x="125016" y="92701"/>
                  <a:pt x="125016" y="80367"/>
                </a:cubicBezTo>
                <a:lnTo>
                  <a:pt x="125016" y="57429"/>
                </a:lnTo>
                <a:close/>
                <a:moveTo>
                  <a:pt x="125016" y="35719"/>
                </a:moveTo>
                <a:lnTo>
                  <a:pt x="125016" y="22324"/>
                </a:lnTo>
                <a:cubicBezTo>
                  <a:pt x="125016" y="9990"/>
                  <a:pt x="97027" y="0"/>
                  <a:pt x="62508" y="0"/>
                </a:cubicBezTo>
                <a:cubicBezTo>
                  <a:pt x="27989" y="0"/>
                  <a:pt x="0" y="9990"/>
                  <a:pt x="0" y="22324"/>
                </a:cubicBezTo>
                <a:lnTo>
                  <a:pt x="0" y="35719"/>
                </a:lnTo>
                <a:cubicBezTo>
                  <a:pt x="0" y="48053"/>
                  <a:pt x="27989" y="58043"/>
                  <a:pt x="62508" y="58043"/>
                </a:cubicBezTo>
                <a:cubicBezTo>
                  <a:pt x="97027" y="58043"/>
                  <a:pt x="125016" y="48053"/>
                  <a:pt x="125016" y="35719"/>
                </a:cubicBezTo>
                <a:close/>
                <a:moveTo>
                  <a:pt x="111203" y="108775"/>
                </a:moveTo>
                <a:cubicBezTo>
                  <a:pt x="98115" y="113435"/>
                  <a:pt x="80897" y="116086"/>
                  <a:pt x="62508" y="116086"/>
                </a:cubicBezTo>
                <a:cubicBezTo>
                  <a:pt x="44118" y="116086"/>
                  <a:pt x="26901" y="113435"/>
                  <a:pt x="13813" y="108775"/>
                </a:cubicBezTo>
                <a:cubicBezTo>
                  <a:pt x="8902" y="107017"/>
                  <a:pt x="4130" y="104812"/>
                  <a:pt x="0" y="102077"/>
                </a:cubicBezTo>
                <a:lnTo>
                  <a:pt x="0" y="120551"/>
                </a:lnTo>
                <a:cubicBezTo>
                  <a:pt x="0" y="132885"/>
                  <a:pt x="27989" y="142875"/>
                  <a:pt x="62508" y="142875"/>
                </a:cubicBezTo>
                <a:cubicBezTo>
                  <a:pt x="97027" y="142875"/>
                  <a:pt x="125016" y="132885"/>
                  <a:pt x="125016" y="120551"/>
                </a:cubicBezTo>
                <a:lnTo>
                  <a:pt x="125016" y="102077"/>
                </a:lnTo>
                <a:cubicBezTo>
                  <a:pt x="120886" y="104812"/>
                  <a:pt x="116142" y="107017"/>
                  <a:pt x="111203" y="108775"/>
                </a:cubicBezTo>
                <a:close/>
              </a:path>
            </a:pathLst>
          </a:custGeom>
          <a:solidFill>
            <a:srgbClr val="FFFFFF"/>
          </a:solidFill>
          <a:ln/>
        </p:spPr>
      </p:sp>
      <p:sp>
        <p:nvSpPr>
          <p:cNvPr id="4" name="Text 2"/>
          <p:cNvSpPr/>
          <p:nvPr/>
        </p:nvSpPr>
        <p:spPr>
          <a:xfrm>
            <a:off x="730250" y="317500"/>
            <a:ext cx="4699000" cy="158750"/>
          </a:xfrm>
          <a:prstGeom prst="rect">
            <a:avLst/>
          </a:prstGeom>
          <a:noFill/>
          <a:ln/>
        </p:spPr>
        <p:txBody>
          <a:bodyPr wrap="square" lIns="0" tIns="0" rIns="0" bIns="0" rtlCol="0" anchor="ctr"/>
          <a:lstStyle/>
          <a:p>
            <a:pPr>
              <a:lnSpc>
                <a:spcPct val="120000"/>
              </a:lnSpc>
            </a:pPr>
            <a:r>
              <a:rPr lang="en-US" sz="875" b="1" spc="44" kern="0" dirty="0">
                <a:solidFill>
                  <a:srgbClr val="10B981"/>
                </a:solidFill>
                <a:latin typeface="MiSans" pitchFamily="34" charset="0"/>
                <a:ea typeface="MiSans" pitchFamily="34" charset="-122"/>
                <a:cs typeface="MiSans" pitchFamily="34" charset="-120"/>
              </a:rPr>
              <a:t>CHƯƠNG 13 | MỨC VẬT LÝ</a:t>
            </a:r>
            <a:endParaRPr lang="en-US" sz="1600" dirty="0"/>
          </a:p>
        </p:txBody>
      </p:sp>
      <p:sp>
        <p:nvSpPr>
          <p:cNvPr id="5" name="Text 3"/>
          <p:cNvSpPr/>
          <p:nvPr/>
        </p:nvSpPr>
        <p:spPr>
          <a:xfrm>
            <a:off x="730250" y="476250"/>
            <a:ext cx="4762500" cy="285750"/>
          </a:xfrm>
          <a:prstGeom prst="rect">
            <a:avLst/>
          </a:prstGeom>
          <a:noFill/>
          <a:ln/>
        </p:spPr>
        <p:txBody>
          <a:bodyPr wrap="square" lIns="0" tIns="0" rIns="0" bIns="0" rtlCol="0" anchor="ctr"/>
          <a:lstStyle/>
          <a:p>
            <a:pPr>
              <a:lnSpc>
                <a:spcPct val="100000"/>
              </a:lnSpc>
            </a:pPr>
            <a:r>
              <a:rPr lang="en-US" sz="1875" b="1" dirty="0">
                <a:solidFill>
                  <a:srgbClr val="F1F5F9"/>
                </a:solidFill>
                <a:latin typeface="MiSans" pitchFamily="34" charset="0"/>
                <a:ea typeface="MiSans" pitchFamily="34" charset="-122"/>
                <a:cs typeface="MiSans" pitchFamily="34" charset="-120"/>
              </a:rPr>
              <a:t>Lab 13.4 &amp; 13.5: Data-Driven Tests và TDD</a:t>
            </a:r>
            <a:endParaRPr lang="en-US" sz="1600" dirty="0"/>
          </a:p>
        </p:txBody>
      </p:sp>
      <p:sp>
        <p:nvSpPr>
          <p:cNvPr id="6" name="Shape 4"/>
          <p:cNvSpPr/>
          <p:nvPr/>
        </p:nvSpPr>
        <p:spPr>
          <a:xfrm>
            <a:off x="321469" y="956469"/>
            <a:ext cx="5691188" cy="4532313"/>
          </a:xfrm>
          <a:custGeom>
            <a:avLst/>
            <a:gdLst/>
            <a:ahLst/>
            <a:cxnLst/>
            <a:rect l="l" t="t" r="r" b="b"/>
            <a:pathLst>
              <a:path w="5691188" h="4532313">
                <a:moveTo>
                  <a:pt x="95269" y="0"/>
                </a:moveTo>
                <a:lnTo>
                  <a:pt x="5595918" y="0"/>
                </a:lnTo>
                <a:cubicBezTo>
                  <a:pt x="5648534" y="0"/>
                  <a:pt x="5691188" y="42653"/>
                  <a:pt x="5691188" y="95269"/>
                </a:cubicBezTo>
                <a:lnTo>
                  <a:pt x="5691188" y="4437043"/>
                </a:lnTo>
                <a:cubicBezTo>
                  <a:pt x="5691188" y="4489659"/>
                  <a:pt x="5648534" y="4532313"/>
                  <a:pt x="5595918" y="4532313"/>
                </a:cubicBezTo>
                <a:lnTo>
                  <a:pt x="95269" y="4532313"/>
                </a:lnTo>
                <a:cubicBezTo>
                  <a:pt x="42653" y="4532313"/>
                  <a:pt x="0" y="4489659"/>
                  <a:pt x="0" y="4437043"/>
                </a:cubicBezTo>
                <a:lnTo>
                  <a:pt x="0" y="95269"/>
                </a:lnTo>
                <a:cubicBezTo>
                  <a:pt x="0" y="42653"/>
                  <a:pt x="42653" y="0"/>
                  <a:pt x="95269"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13953" y="1150938"/>
            <a:ext cx="138906" cy="158750"/>
          </a:xfrm>
          <a:custGeom>
            <a:avLst/>
            <a:gdLst/>
            <a:ahLst/>
            <a:cxnLst/>
            <a:rect l="l" t="t" r="r" b="b"/>
            <a:pathLst>
              <a:path w="138906" h="158750">
                <a:moveTo>
                  <a:pt x="79375" y="49609"/>
                </a:moveTo>
                <a:lnTo>
                  <a:pt x="79375" y="79375"/>
                </a:lnTo>
                <a:lnTo>
                  <a:pt x="119062" y="79375"/>
                </a:lnTo>
                <a:lnTo>
                  <a:pt x="119062" y="49609"/>
                </a:lnTo>
                <a:lnTo>
                  <a:pt x="79375" y="49609"/>
                </a:lnTo>
                <a:close/>
                <a:moveTo>
                  <a:pt x="59531" y="49609"/>
                </a:moveTo>
                <a:lnTo>
                  <a:pt x="19844" y="49609"/>
                </a:lnTo>
                <a:lnTo>
                  <a:pt x="19844" y="79375"/>
                </a:lnTo>
                <a:lnTo>
                  <a:pt x="59531" y="79375"/>
                </a:lnTo>
                <a:lnTo>
                  <a:pt x="59531" y="49609"/>
                </a:lnTo>
                <a:close/>
                <a:moveTo>
                  <a:pt x="0" y="99219"/>
                </a:moveTo>
                <a:lnTo>
                  <a:pt x="0" y="29766"/>
                </a:lnTo>
                <a:cubicBezTo>
                  <a:pt x="0" y="18821"/>
                  <a:pt x="8899" y="9922"/>
                  <a:pt x="19844" y="9922"/>
                </a:cubicBezTo>
                <a:lnTo>
                  <a:pt x="119062" y="9922"/>
                </a:lnTo>
                <a:cubicBezTo>
                  <a:pt x="130008" y="9922"/>
                  <a:pt x="138906" y="18821"/>
                  <a:pt x="138906" y="29766"/>
                </a:cubicBezTo>
                <a:lnTo>
                  <a:pt x="138906" y="128984"/>
                </a:lnTo>
                <a:cubicBezTo>
                  <a:pt x="138906" y="139929"/>
                  <a:pt x="130008" y="148828"/>
                  <a:pt x="119062" y="148828"/>
                </a:cubicBezTo>
                <a:lnTo>
                  <a:pt x="19844" y="148828"/>
                </a:lnTo>
                <a:cubicBezTo>
                  <a:pt x="8899" y="148828"/>
                  <a:pt x="0" y="139929"/>
                  <a:pt x="0" y="128984"/>
                </a:cubicBezTo>
                <a:lnTo>
                  <a:pt x="0" y="99219"/>
                </a:lnTo>
                <a:close/>
                <a:moveTo>
                  <a:pt x="119062" y="99219"/>
                </a:moveTo>
                <a:lnTo>
                  <a:pt x="79375" y="99219"/>
                </a:lnTo>
                <a:lnTo>
                  <a:pt x="79375" y="128984"/>
                </a:lnTo>
                <a:lnTo>
                  <a:pt x="119062" y="128984"/>
                </a:lnTo>
                <a:lnTo>
                  <a:pt x="119062" y="99219"/>
                </a:lnTo>
                <a:close/>
                <a:moveTo>
                  <a:pt x="59531" y="128984"/>
                </a:moveTo>
                <a:lnTo>
                  <a:pt x="59531" y="99219"/>
                </a:lnTo>
                <a:lnTo>
                  <a:pt x="19844" y="99219"/>
                </a:lnTo>
                <a:lnTo>
                  <a:pt x="19844" y="128984"/>
                </a:lnTo>
                <a:lnTo>
                  <a:pt x="59531" y="128984"/>
                </a:lnTo>
                <a:close/>
              </a:path>
            </a:pathLst>
          </a:custGeom>
          <a:solidFill>
            <a:srgbClr val="3B82F6"/>
          </a:solidFill>
          <a:ln/>
        </p:spPr>
      </p:sp>
      <p:sp>
        <p:nvSpPr>
          <p:cNvPr id="8" name="Text 6"/>
          <p:cNvSpPr/>
          <p:nvPr/>
        </p:nvSpPr>
        <p:spPr>
          <a:xfrm>
            <a:off x="682625" y="1119188"/>
            <a:ext cx="5246688" cy="222250"/>
          </a:xfrm>
          <a:prstGeom prst="rect">
            <a:avLst/>
          </a:prstGeom>
          <a:noFill/>
          <a:ln/>
        </p:spPr>
        <p:txBody>
          <a:bodyPr wrap="square" lIns="0" tIns="0" rIns="0" bIns="0" rtlCol="0" anchor="ctr"/>
          <a:lstStyle/>
          <a:p>
            <a:pPr>
              <a:lnSpc>
                <a:spcPct val="120000"/>
              </a:lnSpc>
            </a:pPr>
            <a:r>
              <a:rPr lang="en-US" sz="1250" b="1" dirty="0">
                <a:solidFill>
                  <a:srgbClr val="3B82F6"/>
                </a:solidFill>
                <a:latin typeface="MiSans" pitchFamily="34" charset="0"/>
                <a:ea typeface="MiSans" pitchFamily="34" charset="-122"/>
                <a:cs typeface="MiSans" pitchFamily="34" charset="-120"/>
              </a:rPr>
              <a:t>Lab 13.4: Data-Driven Tests</a:t>
            </a:r>
            <a:endParaRPr lang="en-US" sz="1600" dirty="0"/>
          </a:p>
        </p:txBody>
      </p:sp>
      <p:sp>
        <p:nvSpPr>
          <p:cNvPr id="9" name="Shape 7"/>
          <p:cNvSpPr/>
          <p:nvPr/>
        </p:nvSpPr>
        <p:spPr>
          <a:xfrm>
            <a:off x="484187" y="1468438"/>
            <a:ext cx="5365750" cy="944563"/>
          </a:xfrm>
          <a:custGeom>
            <a:avLst/>
            <a:gdLst/>
            <a:ahLst/>
            <a:cxnLst/>
            <a:rect l="l" t="t" r="r" b="b"/>
            <a:pathLst>
              <a:path w="5365750" h="944563">
                <a:moveTo>
                  <a:pt x="63503" y="0"/>
                </a:moveTo>
                <a:lnTo>
                  <a:pt x="5302247" y="0"/>
                </a:lnTo>
                <a:cubicBezTo>
                  <a:pt x="5337319" y="0"/>
                  <a:pt x="5365750" y="28431"/>
                  <a:pt x="5365750" y="63503"/>
                </a:cubicBezTo>
                <a:lnTo>
                  <a:pt x="5365750" y="881060"/>
                </a:lnTo>
                <a:cubicBezTo>
                  <a:pt x="5365750" y="916131"/>
                  <a:pt x="5337319" y="944563"/>
                  <a:pt x="5302247" y="944562"/>
                </a:cubicBezTo>
                <a:lnTo>
                  <a:pt x="63503" y="944563"/>
                </a:lnTo>
                <a:cubicBezTo>
                  <a:pt x="28431" y="944562"/>
                  <a:pt x="0" y="916131"/>
                  <a:pt x="0" y="881060"/>
                </a:cubicBezTo>
                <a:lnTo>
                  <a:pt x="0" y="63503"/>
                </a:lnTo>
                <a:cubicBezTo>
                  <a:pt x="0" y="28455"/>
                  <a:pt x="28455" y="0"/>
                  <a:pt x="63503" y="0"/>
                </a:cubicBezTo>
                <a:close/>
              </a:path>
            </a:pathLst>
          </a:custGeom>
          <a:solidFill>
            <a:srgbClr val="0F172A"/>
          </a:solidFill>
          <a:ln/>
        </p:spPr>
      </p:sp>
      <p:sp>
        <p:nvSpPr>
          <p:cNvPr id="10" name="Text 8"/>
          <p:cNvSpPr/>
          <p:nvPr/>
        </p:nvSpPr>
        <p:spPr>
          <a:xfrm>
            <a:off x="579438" y="1563688"/>
            <a:ext cx="5238750" cy="190500"/>
          </a:xfrm>
          <a:prstGeom prst="rect">
            <a:avLst/>
          </a:prstGeom>
          <a:noFill/>
          <a:ln/>
        </p:spPr>
        <p:txBody>
          <a:bodyPr wrap="square" lIns="0" tIns="0" rIns="0" bIns="0" rtlCol="0" anchor="ctr"/>
          <a:lstStyle/>
          <a:p>
            <a:pPr>
              <a:lnSpc>
                <a:spcPct val="130000"/>
              </a:lnSpc>
            </a:pPr>
            <a:r>
              <a:rPr lang="en-US" sz="1000" b="1" dirty="0">
                <a:solidFill>
                  <a:srgbClr val="F1F5F9"/>
                </a:solidFill>
                <a:latin typeface="MiSans" pitchFamily="34" charset="0"/>
                <a:ea typeface="MiSans" pitchFamily="34" charset="-122"/>
                <a:cs typeface="MiSans" pitchFamily="34" charset="-120"/>
              </a:rPr>
              <a:t>Prompt:</a:t>
            </a:r>
            <a:endParaRPr lang="en-US" sz="1600" dirty="0"/>
          </a:p>
        </p:txBody>
      </p:sp>
      <p:sp>
        <p:nvSpPr>
          <p:cNvPr id="11" name="Shape 9"/>
          <p:cNvSpPr/>
          <p:nvPr/>
        </p:nvSpPr>
        <p:spPr>
          <a:xfrm>
            <a:off x="579438" y="1817688"/>
            <a:ext cx="5175250" cy="500063"/>
          </a:xfrm>
          <a:custGeom>
            <a:avLst/>
            <a:gdLst/>
            <a:ahLst/>
            <a:cxnLst/>
            <a:rect l="l" t="t" r="r" b="b"/>
            <a:pathLst>
              <a:path w="5175250" h="500063">
                <a:moveTo>
                  <a:pt x="63498" y="0"/>
                </a:moveTo>
                <a:lnTo>
                  <a:pt x="5111752" y="0"/>
                </a:lnTo>
                <a:cubicBezTo>
                  <a:pt x="5146821" y="0"/>
                  <a:pt x="5175250" y="28429"/>
                  <a:pt x="5175250" y="63498"/>
                </a:cubicBezTo>
                <a:lnTo>
                  <a:pt x="5175250" y="436565"/>
                </a:lnTo>
                <a:cubicBezTo>
                  <a:pt x="5175250" y="471634"/>
                  <a:pt x="5146821" y="500063"/>
                  <a:pt x="5111752" y="500063"/>
                </a:cubicBezTo>
                <a:lnTo>
                  <a:pt x="63498" y="500063"/>
                </a:lnTo>
                <a:cubicBezTo>
                  <a:pt x="28429" y="500063"/>
                  <a:pt x="0" y="471634"/>
                  <a:pt x="0" y="436565"/>
                </a:cubicBezTo>
                <a:lnTo>
                  <a:pt x="0" y="63498"/>
                </a:lnTo>
                <a:cubicBezTo>
                  <a:pt x="0" y="28452"/>
                  <a:pt x="28452" y="0"/>
                  <a:pt x="63498" y="0"/>
                </a:cubicBezTo>
                <a:close/>
              </a:path>
            </a:pathLst>
          </a:custGeom>
          <a:solidFill>
            <a:srgbClr val="1E293B"/>
          </a:solidFill>
          <a:ln/>
        </p:spPr>
      </p:sp>
      <p:sp>
        <p:nvSpPr>
          <p:cNvPr id="12" name="Text 10"/>
          <p:cNvSpPr/>
          <p:nvPr/>
        </p:nvSpPr>
        <p:spPr>
          <a:xfrm>
            <a:off x="674688" y="1928813"/>
            <a:ext cx="1753691" cy="119063"/>
          </a:xfrm>
          <a:prstGeom prst="rect">
            <a:avLst/>
          </a:prstGeom>
          <a:noFill/>
          <a:ln/>
        </p:spPr>
        <p:txBody>
          <a:bodyPr wrap="square" lIns="0" tIns="0" rIns="0" bIns="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Generate data driven tests for</a:t>
            </a:r>
            <a:endParaRPr lang="en-US" sz="1600" dirty="0"/>
          </a:p>
        </p:txBody>
      </p:sp>
      <p:sp>
        <p:nvSpPr>
          <p:cNvPr id="13" name="Text 11"/>
          <p:cNvSpPr/>
          <p:nvPr/>
        </p:nvSpPr>
        <p:spPr>
          <a:xfrm>
            <a:off x="674688" y="2083594"/>
            <a:ext cx="1753691" cy="119063"/>
          </a:xfrm>
          <a:prstGeom prst="rect">
            <a:avLst/>
          </a:prstGeom>
          <a:noFill/>
          <a:ln/>
        </p:spPr>
        <p:txBody>
          <a:bodyPr wrap="square" lIns="0" tIns="0" rIns="0" bIns="0" rtlCol="0" anchor="ctr"/>
          <a:lstStyle/>
          <a:p>
            <a:pPr>
              <a:lnSpc>
                <a:spcPct val="130000"/>
              </a:lnSpc>
            </a:pPr>
            <a:r>
              <a:rPr lang="en-US" sz="813" dirty="0">
                <a:solidFill>
                  <a:srgbClr val="10B981"/>
                </a:solidFill>
                <a:latin typeface="MiSans" pitchFamily="34" charset="0"/>
                <a:ea typeface="MiSans" pitchFamily="34" charset="-122"/>
                <a:cs typeface="MiSans" pitchFamily="34" charset="-120"/>
              </a:rPr>
              <a:t>lowercase_remove_punct_numbers</a:t>
            </a:r>
            <a:endParaRPr lang="en-US" sz="1600" dirty="0"/>
          </a:p>
        </p:txBody>
      </p:sp>
      <p:sp>
        <p:nvSpPr>
          <p:cNvPr id="14" name="Shape 12"/>
          <p:cNvSpPr/>
          <p:nvPr/>
        </p:nvSpPr>
        <p:spPr>
          <a:xfrm>
            <a:off x="488156" y="2512219"/>
            <a:ext cx="5357813" cy="2809875"/>
          </a:xfrm>
          <a:custGeom>
            <a:avLst/>
            <a:gdLst/>
            <a:ahLst/>
            <a:cxnLst/>
            <a:rect l="l" t="t" r="r" b="b"/>
            <a:pathLst>
              <a:path w="5357813" h="2809875">
                <a:moveTo>
                  <a:pt x="63503" y="0"/>
                </a:moveTo>
                <a:lnTo>
                  <a:pt x="5294309" y="0"/>
                </a:lnTo>
                <a:cubicBezTo>
                  <a:pt x="5329381" y="0"/>
                  <a:pt x="5357812" y="28431"/>
                  <a:pt x="5357812" y="63503"/>
                </a:cubicBezTo>
                <a:lnTo>
                  <a:pt x="5357813" y="2746372"/>
                </a:lnTo>
                <a:cubicBezTo>
                  <a:pt x="5357812" y="2781444"/>
                  <a:pt x="5329381" y="2809875"/>
                  <a:pt x="5294309" y="2809875"/>
                </a:cubicBezTo>
                <a:lnTo>
                  <a:pt x="63503" y="2809875"/>
                </a:lnTo>
                <a:cubicBezTo>
                  <a:pt x="28431" y="2809875"/>
                  <a:pt x="0" y="2781444"/>
                  <a:pt x="0" y="2746372"/>
                </a:cubicBezTo>
                <a:lnTo>
                  <a:pt x="0" y="63503"/>
                </a:lnTo>
                <a:cubicBezTo>
                  <a:pt x="0" y="28431"/>
                  <a:pt x="28431" y="0"/>
                  <a:pt x="63503" y="0"/>
                </a:cubicBezTo>
                <a:close/>
              </a:path>
            </a:pathLst>
          </a:custGeom>
          <a:solidFill>
            <a:srgbClr val="0F172A"/>
          </a:solidFill>
          <a:ln w="12700">
            <a:solidFill>
              <a:srgbClr val="3B82F6">
                <a:alpha val="30196"/>
              </a:srgbClr>
            </a:solidFill>
            <a:prstDash val="solid"/>
          </a:ln>
        </p:spPr>
      </p:sp>
      <p:sp>
        <p:nvSpPr>
          <p:cNvPr id="15" name="Text 13"/>
          <p:cNvSpPr/>
          <p:nvPr/>
        </p:nvSpPr>
        <p:spPr>
          <a:xfrm>
            <a:off x="587375" y="2611438"/>
            <a:ext cx="5222875" cy="190500"/>
          </a:xfrm>
          <a:prstGeom prst="rect">
            <a:avLst/>
          </a:prstGeom>
          <a:noFill/>
          <a:ln/>
        </p:spPr>
        <p:txBody>
          <a:bodyPr wrap="square" lIns="0" tIns="0" rIns="0" bIns="0" rtlCol="0" anchor="ctr"/>
          <a:lstStyle/>
          <a:p>
            <a:pPr>
              <a:lnSpc>
                <a:spcPct val="130000"/>
              </a:lnSpc>
            </a:pPr>
            <a:r>
              <a:rPr lang="en-US" sz="1000" b="1" dirty="0">
                <a:solidFill>
                  <a:srgbClr val="3B82F6"/>
                </a:solidFill>
                <a:latin typeface="MiSans" pitchFamily="34" charset="0"/>
                <a:ea typeface="MiSans" pitchFamily="34" charset="-122"/>
                <a:cs typeface="MiSans" pitchFamily="34" charset="-120"/>
              </a:rPr>
              <a:t>Kết quả:</a:t>
            </a:r>
            <a:endParaRPr lang="en-US" sz="1600" dirty="0"/>
          </a:p>
        </p:txBody>
      </p:sp>
      <p:sp>
        <p:nvSpPr>
          <p:cNvPr id="16" name="Shape 14"/>
          <p:cNvSpPr/>
          <p:nvPr/>
        </p:nvSpPr>
        <p:spPr>
          <a:xfrm>
            <a:off x="587375" y="2865438"/>
            <a:ext cx="5159375" cy="2357438"/>
          </a:xfrm>
          <a:custGeom>
            <a:avLst/>
            <a:gdLst/>
            <a:ahLst/>
            <a:cxnLst/>
            <a:rect l="l" t="t" r="r" b="b"/>
            <a:pathLst>
              <a:path w="5159375" h="2357438">
                <a:moveTo>
                  <a:pt x="63509" y="0"/>
                </a:moveTo>
                <a:lnTo>
                  <a:pt x="5095866" y="0"/>
                </a:lnTo>
                <a:cubicBezTo>
                  <a:pt x="5130941" y="0"/>
                  <a:pt x="5159375" y="28434"/>
                  <a:pt x="5159375" y="63509"/>
                </a:cubicBezTo>
                <a:lnTo>
                  <a:pt x="5159375" y="2293928"/>
                </a:lnTo>
                <a:cubicBezTo>
                  <a:pt x="5159375" y="2329003"/>
                  <a:pt x="5130941" y="2357438"/>
                  <a:pt x="5095866" y="2357438"/>
                </a:cubicBezTo>
                <a:lnTo>
                  <a:pt x="63509" y="2357438"/>
                </a:lnTo>
                <a:cubicBezTo>
                  <a:pt x="28434" y="2357438"/>
                  <a:pt x="0" y="2329003"/>
                  <a:pt x="0" y="2293928"/>
                </a:cubicBezTo>
                <a:lnTo>
                  <a:pt x="0" y="63509"/>
                </a:lnTo>
                <a:cubicBezTo>
                  <a:pt x="0" y="28434"/>
                  <a:pt x="28434" y="0"/>
                  <a:pt x="63509" y="0"/>
                </a:cubicBezTo>
                <a:close/>
              </a:path>
            </a:pathLst>
          </a:custGeom>
          <a:solidFill>
            <a:srgbClr val="1E293B"/>
          </a:solidFill>
          <a:ln/>
        </p:spPr>
      </p:sp>
      <p:sp>
        <p:nvSpPr>
          <p:cNvPr id="17" name="Text 15"/>
          <p:cNvSpPr/>
          <p:nvPr/>
        </p:nvSpPr>
        <p:spPr>
          <a:xfrm>
            <a:off x="682625" y="2976563"/>
            <a:ext cx="1016124"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 Mảng test cases</a:t>
            </a:r>
            <a:endParaRPr lang="en-US" sz="1600" dirty="0"/>
          </a:p>
        </p:txBody>
      </p:sp>
      <p:sp>
        <p:nvSpPr>
          <p:cNvPr id="18" name="Text 16"/>
          <p:cNvSpPr/>
          <p:nvPr/>
        </p:nvSpPr>
        <p:spPr>
          <a:xfrm>
            <a:off x="682625" y="3131344"/>
            <a:ext cx="845964"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test_cases = [</a:t>
            </a:r>
            <a:endParaRPr lang="en-US" sz="1600" dirty="0"/>
          </a:p>
        </p:txBody>
      </p:sp>
      <p:sp>
        <p:nvSpPr>
          <p:cNvPr id="19" name="Text 17"/>
          <p:cNvSpPr/>
          <p:nvPr/>
        </p:nvSpPr>
        <p:spPr>
          <a:xfrm>
            <a:off x="682625" y="3286125"/>
            <a:ext cx="1356568"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("HELLO", "hello"),</a:t>
            </a:r>
            <a:endParaRPr lang="en-US" sz="1600" dirty="0"/>
          </a:p>
        </p:txBody>
      </p:sp>
      <p:sp>
        <p:nvSpPr>
          <p:cNvPr id="20" name="Text 18"/>
          <p:cNvSpPr/>
          <p:nvPr/>
        </p:nvSpPr>
        <p:spPr>
          <a:xfrm>
            <a:off x="682625" y="3440906"/>
            <a:ext cx="1413247"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("Hello!", "hello"),</a:t>
            </a:r>
            <a:endParaRPr lang="en-US" sz="1600" dirty="0"/>
          </a:p>
        </p:txBody>
      </p:sp>
      <p:sp>
        <p:nvSpPr>
          <p:cNvPr id="21" name="Text 19"/>
          <p:cNvSpPr/>
          <p:nvPr/>
        </p:nvSpPr>
        <p:spPr>
          <a:xfrm>
            <a:off x="682625" y="3595688"/>
            <a:ext cx="1413247"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("Test123", "test"),</a:t>
            </a:r>
            <a:endParaRPr lang="en-US" sz="1600" dirty="0"/>
          </a:p>
        </p:txBody>
      </p:sp>
      <p:sp>
        <p:nvSpPr>
          <p:cNvPr id="22" name="Text 20"/>
          <p:cNvSpPr/>
          <p:nvPr/>
        </p:nvSpPr>
        <p:spPr>
          <a:xfrm>
            <a:off x="682625" y="3750469"/>
            <a:ext cx="1243087"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("A@B#C", "abc"),</a:t>
            </a:r>
            <a:endParaRPr lang="en-US" sz="1600" dirty="0"/>
          </a:p>
        </p:txBody>
      </p:sp>
      <p:sp>
        <p:nvSpPr>
          <p:cNvPr id="23" name="Text 21"/>
          <p:cNvSpPr/>
          <p:nvPr/>
        </p:nvSpPr>
        <p:spPr>
          <a:xfrm>
            <a:off x="682625" y="3905250"/>
            <a:ext cx="789161"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 ""),</a:t>
            </a:r>
            <a:endParaRPr lang="en-US" sz="1600" dirty="0"/>
          </a:p>
        </p:txBody>
      </p:sp>
      <p:sp>
        <p:nvSpPr>
          <p:cNvPr id="24" name="Text 22"/>
          <p:cNvSpPr/>
          <p:nvPr/>
        </p:nvSpPr>
        <p:spPr>
          <a:xfrm>
            <a:off x="682625" y="4060031"/>
            <a:ext cx="108396"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a:t>
            </a:r>
            <a:endParaRPr lang="en-US" sz="1600" dirty="0"/>
          </a:p>
        </p:txBody>
      </p:sp>
      <p:sp>
        <p:nvSpPr>
          <p:cNvPr id="25" name="Text 23"/>
          <p:cNvSpPr/>
          <p:nvPr/>
        </p:nvSpPr>
        <p:spPr>
          <a:xfrm>
            <a:off x="682625" y="4369594"/>
            <a:ext cx="1129605"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 Vòng lặp kiểm thử</a:t>
            </a:r>
            <a:endParaRPr lang="en-US" sz="1600" dirty="0"/>
          </a:p>
        </p:txBody>
      </p:sp>
      <p:sp>
        <p:nvSpPr>
          <p:cNvPr id="26" name="Text 24"/>
          <p:cNvSpPr/>
          <p:nvPr/>
        </p:nvSpPr>
        <p:spPr>
          <a:xfrm>
            <a:off x="682625" y="4524375"/>
            <a:ext cx="1469926"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def test_all_cases(self):</a:t>
            </a:r>
            <a:endParaRPr lang="en-US" sz="1600" dirty="0"/>
          </a:p>
        </p:txBody>
      </p:sp>
      <p:sp>
        <p:nvSpPr>
          <p:cNvPr id="27" name="Text 25"/>
          <p:cNvSpPr/>
          <p:nvPr/>
        </p:nvSpPr>
        <p:spPr>
          <a:xfrm>
            <a:off x="682625" y="4679156"/>
            <a:ext cx="2434456"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for input_val, expected in test_cases:</a:t>
            </a:r>
            <a:endParaRPr lang="en-US" sz="1600" dirty="0"/>
          </a:p>
        </p:txBody>
      </p:sp>
      <p:sp>
        <p:nvSpPr>
          <p:cNvPr id="28" name="Text 26"/>
          <p:cNvSpPr/>
          <p:nvPr/>
        </p:nvSpPr>
        <p:spPr>
          <a:xfrm>
            <a:off x="682625" y="4833938"/>
            <a:ext cx="3342184"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result = lowercase_remove_punct_numbers(input_val)</a:t>
            </a:r>
            <a:endParaRPr lang="en-US" sz="1600" dirty="0"/>
          </a:p>
        </p:txBody>
      </p:sp>
      <p:sp>
        <p:nvSpPr>
          <p:cNvPr id="29" name="Text 27"/>
          <p:cNvSpPr/>
          <p:nvPr/>
        </p:nvSpPr>
        <p:spPr>
          <a:xfrm>
            <a:off x="682625" y="4988719"/>
            <a:ext cx="2434456"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self.assertEqual(result, expected)</a:t>
            </a:r>
            <a:endParaRPr lang="en-US" sz="1600" dirty="0"/>
          </a:p>
        </p:txBody>
      </p:sp>
      <p:sp>
        <p:nvSpPr>
          <p:cNvPr id="30" name="Shape 28"/>
          <p:cNvSpPr/>
          <p:nvPr/>
        </p:nvSpPr>
        <p:spPr>
          <a:xfrm>
            <a:off x="321469" y="5623719"/>
            <a:ext cx="5691188" cy="452438"/>
          </a:xfrm>
          <a:custGeom>
            <a:avLst/>
            <a:gdLst/>
            <a:ahLst/>
            <a:cxnLst/>
            <a:rect l="l" t="t" r="r" b="b"/>
            <a:pathLst>
              <a:path w="5691188" h="452438">
                <a:moveTo>
                  <a:pt x="95252" y="0"/>
                </a:moveTo>
                <a:lnTo>
                  <a:pt x="5595936" y="0"/>
                </a:lnTo>
                <a:cubicBezTo>
                  <a:pt x="5648542" y="0"/>
                  <a:pt x="5691188" y="42646"/>
                  <a:pt x="5691188" y="95252"/>
                </a:cubicBezTo>
                <a:lnTo>
                  <a:pt x="5691188" y="357186"/>
                </a:lnTo>
                <a:cubicBezTo>
                  <a:pt x="5691187" y="409792"/>
                  <a:pt x="5648542" y="452438"/>
                  <a:pt x="5595936" y="452438"/>
                </a:cubicBezTo>
                <a:lnTo>
                  <a:pt x="95252" y="452438"/>
                </a:lnTo>
                <a:cubicBezTo>
                  <a:pt x="42681" y="452438"/>
                  <a:pt x="0" y="409757"/>
                  <a:pt x="0" y="357186"/>
                </a:cubicBezTo>
                <a:lnTo>
                  <a:pt x="0" y="95252"/>
                </a:lnTo>
                <a:cubicBezTo>
                  <a:pt x="0" y="42681"/>
                  <a:pt x="42681" y="0"/>
                  <a:pt x="95252" y="0"/>
                </a:cubicBezTo>
                <a:close/>
              </a:path>
            </a:pathLst>
          </a:custGeom>
          <a:solidFill>
            <a:srgbClr val="0F172A"/>
          </a:solidFill>
          <a:ln w="12700">
            <a:solidFill>
              <a:srgbClr val="3B82F6">
                <a:alpha val="30196"/>
              </a:srgbClr>
            </a:solidFill>
            <a:prstDash val="solid"/>
          </a:ln>
        </p:spPr>
      </p:sp>
      <p:sp>
        <p:nvSpPr>
          <p:cNvPr id="31" name="Shape 29"/>
          <p:cNvSpPr/>
          <p:nvPr/>
        </p:nvSpPr>
        <p:spPr>
          <a:xfrm>
            <a:off x="468313" y="5794375"/>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3B82F6"/>
          </a:solidFill>
          <a:ln/>
        </p:spPr>
      </p:sp>
      <p:sp>
        <p:nvSpPr>
          <p:cNvPr id="32" name="Text 30"/>
          <p:cNvSpPr/>
          <p:nvPr/>
        </p:nvSpPr>
        <p:spPr>
          <a:xfrm>
            <a:off x="650875" y="5754688"/>
            <a:ext cx="5294313" cy="190500"/>
          </a:xfrm>
          <a:prstGeom prst="rect">
            <a:avLst/>
          </a:prstGeom>
          <a:noFill/>
          <a:ln/>
        </p:spPr>
        <p:txBody>
          <a:bodyPr wrap="square" lIns="0" tIns="0" rIns="0" bIns="0" rtlCol="0" anchor="ctr"/>
          <a:lstStyle/>
          <a:p>
            <a:pPr>
              <a:lnSpc>
                <a:spcPct val="130000"/>
              </a:lnSpc>
            </a:pPr>
            <a:r>
              <a:rPr lang="en-US" sz="1000" b="1" dirty="0">
                <a:solidFill>
                  <a:srgbClr val="F1F5F9">
                    <a:alpha val="90000"/>
                  </a:srgbClr>
                </a:solidFill>
                <a:latin typeface="MiSans" pitchFamily="34" charset="0"/>
                <a:ea typeface="MiSans" pitchFamily="34" charset="-122"/>
                <a:cs typeface="MiSans" pitchFamily="34" charset="-120"/>
              </a:rPr>
              <a:t>Lợi ích:</a:t>
            </a:r>
            <a:pPr>
              <a:lnSpc>
                <a:spcPct val="130000"/>
              </a:lnSpc>
            </a:pPr>
            <a:r>
              <a:rPr lang="en-US" sz="1000" dirty="0">
                <a:solidFill>
                  <a:srgbClr val="F1F5F9">
                    <a:alpha val="90000"/>
                  </a:srgbClr>
                </a:solidFill>
                <a:latin typeface="MiSans" pitchFamily="34" charset="0"/>
                <a:ea typeface="MiSans" pitchFamily="34" charset="-122"/>
                <a:cs typeface="MiSans" pitchFamily="34" charset="-120"/>
              </a:rPr>
              <a:t> Một hàm duy nhất kiểm thử tất cả các trường hợp, dễ bảo trì và mở rộng.</a:t>
            </a:r>
            <a:endParaRPr lang="en-US" sz="1600" dirty="0"/>
          </a:p>
        </p:txBody>
      </p:sp>
      <p:sp>
        <p:nvSpPr>
          <p:cNvPr id="33" name="Shape 31"/>
          <p:cNvSpPr/>
          <p:nvPr/>
        </p:nvSpPr>
        <p:spPr>
          <a:xfrm>
            <a:off x="6179344" y="956469"/>
            <a:ext cx="5691188" cy="6643688"/>
          </a:xfrm>
          <a:custGeom>
            <a:avLst/>
            <a:gdLst/>
            <a:ahLst/>
            <a:cxnLst/>
            <a:rect l="l" t="t" r="r" b="b"/>
            <a:pathLst>
              <a:path w="5691188" h="6643688">
                <a:moveTo>
                  <a:pt x="95270" y="0"/>
                </a:moveTo>
                <a:lnTo>
                  <a:pt x="5595917" y="0"/>
                </a:lnTo>
                <a:cubicBezTo>
                  <a:pt x="5648533" y="0"/>
                  <a:pt x="5691188" y="42654"/>
                  <a:pt x="5691188" y="95270"/>
                </a:cubicBezTo>
                <a:lnTo>
                  <a:pt x="5691188" y="6548417"/>
                </a:lnTo>
                <a:cubicBezTo>
                  <a:pt x="5691188" y="6601033"/>
                  <a:pt x="5648533" y="6643688"/>
                  <a:pt x="5595917" y="6643688"/>
                </a:cubicBezTo>
                <a:lnTo>
                  <a:pt x="95270" y="6643688"/>
                </a:lnTo>
                <a:cubicBezTo>
                  <a:pt x="42654" y="6643688"/>
                  <a:pt x="0" y="6601033"/>
                  <a:pt x="0" y="6548417"/>
                </a:cubicBezTo>
                <a:lnTo>
                  <a:pt x="0" y="95270"/>
                </a:lnTo>
                <a:cubicBezTo>
                  <a:pt x="0" y="42689"/>
                  <a:pt x="42689" y="0"/>
                  <a:pt x="95270"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34" name="Shape 32"/>
          <p:cNvSpPr/>
          <p:nvPr/>
        </p:nvSpPr>
        <p:spPr>
          <a:xfrm>
            <a:off x="6361906" y="1150938"/>
            <a:ext cx="158750" cy="158750"/>
          </a:xfrm>
          <a:custGeom>
            <a:avLst/>
            <a:gdLst/>
            <a:ahLst/>
            <a:cxnLst/>
            <a:rect l="l" t="t" r="r" b="b"/>
            <a:pathLst>
              <a:path w="158750" h="158750">
                <a:moveTo>
                  <a:pt x="135403" y="23161"/>
                </a:moveTo>
                <a:lnTo>
                  <a:pt x="138906" y="26479"/>
                </a:lnTo>
                <a:lnTo>
                  <a:pt x="138906" y="9922"/>
                </a:lnTo>
                <a:cubicBezTo>
                  <a:pt x="138906" y="4434"/>
                  <a:pt x="143340" y="0"/>
                  <a:pt x="148828" y="0"/>
                </a:cubicBezTo>
                <a:cubicBezTo>
                  <a:pt x="154316" y="0"/>
                  <a:pt x="158750" y="4434"/>
                  <a:pt x="158750" y="9922"/>
                </a:cubicBezTo>
                <a:lnTo>
                  <a:pt x="158750" y="49609"/>
                </a:lnTo>
                <a:cubicBezTo>
                  <a:pt x="158750" y="55097"/>
                  <a:pt x="154316" y="59531"/>
                  <a:pt x="148828" y="59531"/>
                </a:cubicBezTo>
                <a:lnTo>
                  <a:pt x="109141" y="59531"/>
                </a:lnTo>
                <a:cubicBezTo>
                  <a:pt x="103653" y="59531"/>
                  <a:pt x="99219" y="55097"/>
                  <a:pt x="99219" y="49609"/>
                </a:cubicBezTo>
                <a:cubicBezTo>
                  <a:pt x="99219" y="44121"/>
                  <a:pt x="103653" y="39688"/>
                  <a:pt x="109141" y="39688"/>
                </a:cubicBezTo>
                <a:lnTo>
                  <a:pt x="123992" y="39688"/>
                </a:lnTo>
                <a:lnTo>
                  <a:pt x="121636" y="37455"/>
                </a:lnTo>
                <a:cubicBezTo>
                  <a:pt x="121574" y="37393"/>
                  <a:pt x="121512" y="37331"/>
                  <a:pt x="121450" y="37269"/>
                </a:cubicBezTo>
                <a:cubicBezTo>
                  <a:pt x="98196" y="14015"/>
                  <a:pt x="60523" y="14015"/>
                  <a:pt x="37269" y="37269"/>
                </a:cubicBezTo>
                <a:cubicBezTo>
                  <a:pt x="14015" y="60523"/>
                  <a:pt x="14015" y="98196"/>
                  <a:pt x="37269" y="121450"/>
                </a:cubicBezTo>
                <a:cubicBezTo>
                  <a:pt x="60523" y="144704"/>
                  <a:pt x="98196" y="144704"/>
                  <a:pt x="121450" y="121450"/>
                </a:cubicBezTo>
                <a:cubicBezTo>
                  <a:pt x="123992" y="118907"/>
                  <a:pt x="126256" y="116210"/>
                  <a:pt x="128240" y="113357"/>
                </a:cubicBezTo>
                <a:cubicBezTo>
                  <a:pt x="131372" y="108862"/>
                  <a:pt x="137573" y="107776"/>
                  <a:pt x="142069" y="110908"/>
                </a:cubicBezTo>
                <a:cubicBezTo>
                  <a:pt x="146565" y="114040"/>
                  <a:pt x="147650" y="120241"/>
                  <a:pt x="144518" y="124737"/>
                </a:cubicBezTo>
                <a:cubicBezTo>
                  <a:pt x="141883" y="128519"/>
                  <a:pt x="138875" y="132116"/>
                  <a:pt x="135496" y="135496"/>
                </a:cubicBezTo>
                <a:cubicBezTo>
                  <a:pt x="104490" y="166501"/>
                  <a:pt x="54229" y="166501"/>
                  <a:pt x="23254" y="135496"/>
                </a:cubicBezTo>
                <a:cubicBezTo>
                  <a:pt x="-7720" y="104490"/>
                  <a:pt x="-7751" y="54260"/>
                  <a:pt x="23254" y="23254"/>
                </a:cubicBezTo>
                <a:cubicBezTo>
                  <a:pt x="54229" y="-7720"/>
                  <a:pt x="104397" y="-7751"/>
                  <a:pt x="135403" y="23161"/>
                </a:cubicBezTo>
                <a:close/>
              </a:path>
            </a:pathLst>
          </a:custGeom>
          <a:solidFill>
            <a:srgbClr val="8B5CF6"/>
          </a:solidFill>
          <a:ln/>
        </p:spPr>
      </p:sp>
      <p:sp>
        <p:nvSpPr>
          <p:cNvPr id="35" name="Text 33"/>
          <p:cNvSpPr/>
          <p:nvPr/>
        </p:nvSpPr>
        <p:spPr>
          <a:xfrm>
            <a:off x="6540500" y="1119188"/>
            <a:ext cx="5246688" cy="222250"/>
          </a:xfrm>
          <a:prstGeom prst="rect">
            <a:avLst/>
          </a:prstGeom>
          <a:noFill/>
          <a:ln/>
        </p:spPr>
        <p:txBody>
          <a:bodyPr wrap="square" lIns="0" tIns="0" rIns="0" bIns="0" rtlCol="0" anchor="ctr"/>
          <a:lstStyle/>
          <a:p>
            <a:pPr>
              <a:lnSpc>
                <a:spcPct val="120000"/>
              </a:lnSpc>
            </a:pPr>
            <a:r>
              <a:rPr lang="en-US" sz="1250" b="1" dirty="0">
                <a:solidFill>
                  <a:srgbClr val="8B5CF6"/>
                </a:solidFill>
                <a:latin typeface="MiSans" pitchFamily="34" charset="0"/>
                <a:ea typeface="MiSans" pitchFamily="34" charset="-122"/>
                <a:cs typeface="MiSans" pitchFamily="34" charset="-120"/>
              </a:rPr>
              <a:t>Lab 13.5: Áp dụng TDD</a:t>
            </a:r>
            <a:endParaRPr lang="en-US" sz="1600" dirty="0"/>
          </a:p>
        </p:txBody>
      </p:sp>
      <p:sp>
        <p:nvSpPr>
          <p:cNvPr id="36" name="Shape 34"/>
          <p:cNvSpPr/>
          <p:nvPr/>
        </p:nvSpPr>
        <p:spPr>
          <a:xfrm>
            <a:off x="6346031" y="1472406"/>
            <a:ext cx="5357813" cy="1571625"/>
          </a:xfrm>
          <a:custGeom>
            <a:avLst/>
            <a:gdLst/>
            <a:ahLst/>
            <a:cxnLst/>
            <a:rect l="l" t="t" r="r" b="b"/>
            <a:pathLst>
              <a:path w="5357813" h="1571625">
                <a:moveTo>
                  <a:pt x="63494" y="0"/>
                </a:moveTo>
                <a:lnTo>
                  <a:pt x="5294319" y="0"/>
                </a:lnTo>
                <a:cubicBezTo>
                  <a:pt x="5329385" y="0"/>
                  <a:pt x="5357813" y="28427"/>
                  <a:pt x="5357813" y="63494"/>
                </a:cubicBezTo>
                <a:lnTo>
                  <a:pt x="5357813" y="1508131"/>
                </a:lnTo>
                <a:cubicBezTo>
                  <a:pt x="5357812" y="1543198"/>
                  <a:pt x="5329385" y="1571625"/>
                  <a:pt x="5294319" y="1571625"/>
                </a:cubicBezTo>
                <a:lnTo>
                  <a:pt x="63494" y="1571625"/>
                </a:lnTo>
                <a:cubicBezTo>
                  <a:pt x="28427" y="1571625"/>
                  <a:pt x="0" y="1543198"/>
                  <a:pt x="0" y="1508131"/>
                </a:cubicBezTo>
                <a:lnTo>
                  <a:pt x="0" y="63494"/>
                </a:lnTo>
                <a:cubicBezTo>
                  <a:pt x="0" y="28451"/>
                  <a:pt x="28451" y="0"/>
                  <a:pt x="63494" y="0"/>
                </a:cubicBezTo>
                <a:close/>
              </a:path>
            </a:pathLst>
          </a:custGeom>
          <a:solidFill>
            <a:srgbClr val="0F172A"/>
          </a:solidFill>
          <a:ln w="12700">
            <a:solidFill>
              <a:srgbClr val="EF4444">
                <a:alpha val="30196"/>
              </a:srgbClr>
            </a:solidFill>
            <a:prstDash val="solid"/>
          </a:ln>
        </p:spPr>
      </p:sp>
      <p:sp>
        <p:nvSpPr>
          <p:cNvPr id="37" name="Text 35"/>
          <p:cNvSpPr/>
          <p:nvPr/>
        </p:nvSpPr>
        <p:spPr>
          <a:xfrm>
            <a:off x="6445250" y="1571625"/>
            <a:ext cx="5222875" cy="190500"/>
          </a:xfrm>
          <a:prstGeom prst="rect">
            <a:avLst/>
          </a:prstGeom>
          <a:noFill/>
          <a:ln/>
        </p:spPr>
        <p:txBody>
          <a:bodyPr wrap="square" lIns="0" tIns="0" rIns="0" bIns="0" rtlCol="0" anchor="ctr"/>
          <a:lstStyle/>
          <a:p>
            <a:pPr>
              <a:lnSpc>
                <a:spcPct val="130000"/>
              </a:lnSpc>
            </a:pPr>
            <a:r>
              <a:rPr lang="en-US" sz="1000" b="1" dirty="0">
                <a:solidFill>
                  <a:srgbClr val="EF4444"/>
                </a:solidFill>
                <a:latin typeface="MiSans" pitchFamily="34" charset="0"/>
                <a:ea typeface="MiSans" pitchFamily="34" charset="-122"/>
                <a:cs typeface="MiSans" pitchFamily="34" charset="-120"/>
              </a:rPr>
              <a:t>Bước 1: Viết test (RED)</a:t>
            </a:r>
            <a:endParaRPr lang="en-US" sz="1600" dirty="0"/>
          </a:p>
        </p:txBody>
      </p:sp>
      <p:sp>
        <p:nvSpPr>
          <p:cNvPr id="38" name="Shape 36"/>
          <p:cNvSpPr/>
          <p:nvPr/>
        </p:nvSpPr>
        <p:spPr>
          <a:xfrm>
            <a:off x="6445250" y="1825625"/>
            <a:ext cx="5159375" cy="1119188"/>
          </a:xfrm>
          <a:custGeom>
            <a:avLst/>
            <a:gdLst/>
            <a:ahLst/>
            <a:cxnLst/>
            <a:rect l="l" t="t" r="r" b="b"/>
            <a:pathLst>
              <a:path w="5159375" h="1119188">
                <a:moveTo>
                  <a:pt x="63503" y="0"/>
                </a:moveTo>
                <a:lnTo>
                  <a:pt x="5095872" y="0"/>
                </a:lnTo>
                <a:cubicBezTo>
                  <a:pt x="5130944" y="0"/>
                  <a:pt x="5159375" y="28431"/>
                  <a:pt x="5159375" y="63503"/>
                </a:cubicBezTo>
                <a:lnTo>
                  <a:pt x="5159375" y="1055685"/>
                </a:lnTo>
                <a:cubicBezTo>
                  <a:pt x="5159375" y="1090756"/>
                  <a:pt x="5130944" y="1119187"/>
                  <a:pt x="5095872" y="1119188"/>
                </a:cubicBezTo>
                <a:lnTo>
                  <a:pt x="63503" y="1119188"/>
                </a:lnTo>
                <a:cubicBezTo>
                  <a:pt x="28431" y="1119188"/>
                  <a:pt x="0" y="1090756"/>
                  <a:pt x="0" y="1055685"/>
                </a:cubicBezTo>
                <a:lnTo>
                  <a:pt x="0" y="63503"/>
                </a:lnTo>
                <a:cubicBezTo>
                  <a:pt x="0" y="28431"/>
                  <a:pt x="28431" y="0"/>
                  <a:pt x="63503" y="0"/>
                </a:cubicBezTo>
                <a:close/>
              </a:path>
            </a:pathLst>
          </a:custGeom>
          <a:solidFill>
            <a:srgbClr val="1E293B"/>
          </a:solidFill>
          <a:ln/>
        </p:spPr>
      </p:sp>
      <p:sp>
        <p:nvSpPr>
          <p:cNvPr id="39" name="Text 37"/>
          <p:cNvSpPr/>
          <p:nvPr/>
        </p:nvSpPr>
        <p:spPr>
          <a:xfrm>
            <a:off x="6540500" y="1936750"/>
            <a:ext cx="2264296"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 Test cho hàm tính diện tích giao nhau</a:t>
            </a:r>
            <a:endParaRPr lang="en-US" sz="1600" dirty="0"/>
          </a:p>
        </p:txBody>
      </p:sp>
      <p:sp>
        <p:nvSpPr>
          <p:cNvPr id="40" name="Text 38"/>
          <p:cNvSpPr/>
          <p:nvPr/>
        </p:nvSpPr>
        <p:spPr>
          <a:xfrm>
            <a:off x="6540500" y="2091531"/>
            <a:ext cx="1980530"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def test_rect_intersection_area():</a:t>
            </a:r>
            <a:endParaRPr lang="en-US" sz="1600" dirty="0"/>
          </a:p>
        </p:txBody>
      </p:sp>
      <p:sp>
        <p:nvSpPr>
          <p:cNvPr id="41" name="Text 39"/>
          <p:cNvSpPr/>
          <p:nvPr/>
        </p:nvSpPr>
        <p:spPr>
          <a:xfrm>
            <a:off x="6540500" y="2246313"/>
            <a:ext cx="2037333"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rect1 = Rectangle(0, 0, 10, 10)</a:t>
            </a:r>
            <a:endParaRPr lang="en-US" sz="1600" dirty="0"/>
          </a:p>
        </p:txBody>
      </p:sp>
      <p:sp>
        <p:nvSpPr>
          <p:cNvPr id="42" name="Text 40"/>
          <p:cNvSpPr/>
          <p:nvPr/>
        </p:nvSpPr>
        <p:spPr>
          <a:xfrm>
            <a:off x="6540500" y="2401094"/>
            <a:ext cx="2037333"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rect2 = Rectangle(5, 5, 15, 15)</a:t>
            </a:r>
            <a:endParaRPr lang="en-US" sz="1600" dirty="0"/>
          </a:p>
        </p:txBody>
      </p:sp>
      <p:sp>
        <p:nvSpPr>
          <p:cNvPr id="43" name="Text 41"/>
          <p:cNvSpPr/>
          <p:nvPr/>
        </p:nvSpPr>
        <p:spPr>
          <a:xfrm>
            <a:off x="6540500" y="2555875"/>
            <a:ext cx="2831579"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result = rect_intersection_area(rect1, rect2)</a:t>
            </a:r>
            <a:endParaRPr lang="en-US" sz="1600" dirty="0"/>
          </a:p>
        </p:txBody>
      </p:sp>
      <p:sp>
        <p:nvSpPr>
          <p:cNvPr id="44" name="Text 42"/>
          <p:cNvSpPr/>
          <p:nvPr/>
        </p:nvSpPr>
        <p:spPr>
          <a:xfrm>
            <a:off x="6540500" y="2710656"/>
            <a:ext cx="1356568"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assert result == 25</a:t>
            </a:r>
            <a:endParaRPr lang="en-US" sz="1600" dirty="0"/>
          </a:p>
        </p:txBody>
      </p:sp>
      <p:sp>
        <p:nvSpPr>
          <p:cNvPr id="45" name="Shape 43"/>
          <p:cNvSpPr/>
          <p:nvPr/>
        </p:nvSpPr>
        <p:spPr>
          <a:xfrm>
            <a:off x="6346031" y="3147219"/>
            <a:ext cx="5357813" cy="952500"/>
          </a:xfrm>
          <a:custGeom>
            <a:avLst/>
            <a:gdLst/>
            <a:ahLst/>
            <a:cxnLst/>
            <a:rect l="l" t="t" r="r" b="b"/>
            <a:pathLst>
              <a:path w="5357813" h="952500">
                <a:moveTo>
                  <a:pt x="63503" y="0"/>
                </a:moveTo>
                <a:lnTo>
                  <a:pt x="5294309" y="0"/>
                </a:lnTo>
                <a:cubicBezTo>
                  <a:pt x="5329381" y="0"/>
                  <a:pt x="5357812" y="28431"/>
                  <a:pt x="5357812" y="63503"/>
                </a:cubicBezTo>
                <a:lnTo>
                  <a:pt x="5357813" y="888997"/>
                </a:lnTo>
                <a:cubicBezTo>
                  <a:pt x="5357812" y="924069"/>
                  <a:pt x="5329381" y="952500"/>
                  <a:pt x="5294309" y="952500"/>
                </a:cubicBezTo>
                <a:lnTo>
                  <a:pt x="63503" y="952500"/>
                </a:lnTo>
                <a:cubicBezTo>
                  <a:pt x="28431" y="952500"/>
                  <a:pt x="0" y="924069"/>
                  <a:pt x="0" y="888997"/>
                </a:cubicBezTo>
                <a:lnTo>
                  <a:pt x="0" y="63503"/>
                </a:lnTo>
                <a:cubicBezTo>
                  <a:pt x="0" y="28431"/>
                  <a:pt x="28431" y="0"/>
                  <a:pt x="63503" y="0"/>
                </a:cubicBezTo>
                <a:close/>
              </a:path>
            </a:pathLst>
          </a:custGeom>
          <a:solidFill>
            <a:srgbClr val="0F172A"/>
          </a:solidFill>
          <a:ln w="12700">
            <a:solidFill>
              <a:srgbClr val="EF4444">
                <a:alpha val="30196"/>
              </a:srgbClr>
            </a:solidFill>
            <a:prstDash val="solid"/>
          </a:ln>
        </p:spPr>
      </p:sp>
      <p:sp>
        <p:nvSpPr>
          <p:cNvPr id="46" name="Text 44"/>
          <p:cNvSpPr/>
          <p:nvPr/>
        </p:nvSpPr>
        <p:spPr>
          <a:xfrm>
            <a:off x="6445250" y="3246438"/>
            <a:ext cx="5222875" cy="190500"/>
          </a:xfrm>
          <a:prstGeom prst="rect">
            <a:avLst/>
          </a:prstGeom>
          <a:noFill/>
          <a:ln/>
        </p:spPr>
        <p:txBody>
          <a:bodyPr wrap="square" lIns="0" tIns="0" rIns="0" bIns="0" rtlCol="0" anchor="ctr"/>
          <a:lstStyle/>
          <a:p>
            <a:pPr>
              <a:lnSpc>
                <a:spcPct val="130000"/>
              </a:lnSpc>
            </a:pPr>
            <a:r>
              <a:rPr lang="en-US" sz="1000" b="1" dirty="0">
                <a:solidFill>
                  <a:srgbClr val="EF4444"/>
                </a:solidFill>
                <a:latin typeface="MiSans" pitchFamily="34" charset="0"/>
                <a:ea typeface="MiSans" pitchFamily="34" charset="-122"/>
                <a:cs typeface="MiSans" pitchFamily="34" charset="-120"/>
              </a:rPr>
              <a:t>Bước 2: Tạo hàm rỗng → FAIL</a:t>
            </a:r>
            <a:endParaRPr lang="en-US" sz="1600" dirty="0"/>
          </a:p>
        </p:txBody>
      </p:sp>
      <p:sp>
        <p:nvSpPr>
          <p:cNvPr id="47" name="Shape 45"/>
          <p:cNvSpPr/>
          <p:nvPr/>
        </p:nvSpPr>
        <p:spPr>
          <a:xfrm>
            <a:off x="6445250" y="3500438"/>
            <a:ext cx="5159375" cy="500063"/>
          </a:xfrm>
          <a:custGeom>
            <a:avLst/>
            <a:gdLst/>
            <a:ahLst/>
            <a:cxnLst/>
            <a:rect l="l" t="t" r="r" b="b"/>
            <a:pathLst>
              <a:path w="5159375" h="500063">
                <a:moveTo>
                  <a:pt x="63498" y="0"/>
                </a:moveTo>
                <a:lnTo>
                  <a:pt x="5095877" y="0"/>
                </a:lnTo>
                <a:cubicBezTo>
                  <a:pt x="5130946" y="0"/>
                  <a:pt x="5159375" y="28429"/>
                  <a:pt x="5159375" y="63498"/>
                </a:cubicBezTo>
                <a:lnTo>
                  <a:pt x="5159375" y="436565"/>
                </a:lnTo>
                <a:cubicBezTo>
                  <a:pt x="5159375" y="471634"/>
                  <a:pt x="5130946" y="500063"/>
                  <a:pt x="5095877" y="500063"/>
                </a:cubicBezTo>
                <a:lnTo>
                  <a:pt x="63498" y="500063"/>
                </a:lnTo>
                <a:cubicBezTo>
                  <a:pt x="28429" y="500063"/>
                  <a:pt x="0" y="471634"/>
                  <a:pt x="0" y="436565"/>
                </a:cubicBezTo>
                <a:lnTo>
                  <a:pt x="0" y="63498"/>
                </a:lnTo>
                <a:cubicBezTo>
                  <a:pt x="0" y="28452"/>
                  <a:pt x="28452" y="0"/>
                  <a:pt x="63498" y="0"/>
                </a:cubicBezTo>
                <a:close/>
              </a:path>
            </a:pathLst>
          </a:custGeom>
          <a:solidFill>
            <a:srgbClr val="1E293B"/>
          </a:solidFill>
          <a:ln/>
        </p:spPr>
      </p:sp>
      <p:sp>
        <p:nvSpPr>
          <p:cNvPr id="48" name="Text 46"/>
          <p:cNvSpPr/>
          <p:nvPr/>
        </p:nvSpPr>
        <p:spPr>
          <a:xfrm>
            <a:off x="6445250" y="3500438"/>
            <a:ext cx="5210969" cy="500063"/>
          </a:xfrm>
          <a:prstGeom prst="rect">
            <a:avLst/>
          </a:prstGeom>
          <a:noFill/>
          <a:ln/>
        </p:spPr>
        <p:txBody>
          <a:bodyPr wrap="square" lIns="95250" tIns="95250" rIns="95250" bIns="9525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def</a:t>
            </a:r>
            <a:pPr>
              <a:lnSpc>
                <a:spcPct val="130000"/>
              </a:lnSpc>
            </a:pPr>
            <a:r>
              <a:rPr lang="en-US" sz="813" dirty="0">
                <a:solidFill>
                  <a:srgbClr val="3B82F6"/>
                </a:solidFill>
                <a:latin typeface="MiSans" pitchFamily="34" charset="0"/>
                <a:ea typeface="MiSans" pitchFamily="34" charset="-122"/>
                <a:cs typeface="MiSans" pitchFamily="34" charset="-120"/>
              </a:rPr>
              <a:t>rect_intersection_area</a:t>
            </a:r>
            <a:pPr>
              <a:lnSpc>
                <a:spcPct val="130000"/>
              </a:lnSpc>
            </a:pPr>
            <a:r>
              <a:rPr lang="en-US" sz="813" dirty="0">
                <a:solidFill>
                  <a:srgbClr val="F1F5F9"/>
                </a:solidFill>
                <a:latin typeface="MiSans" pitchFamily="34" charset="0"/>
                <a:ea typeface="MiSans" pitchFamily="34" charset="-122"/>
                <a:cs typeface="MiSans" pitchFamily="34" charset="-120"/>
              </a:rPr>
              <a:t>(r1, r2):</a:t>
            </a:r>
            <a:endParaRPr lang="en-US" sz="1600" dirty="0"/>
          </a:p>
          <a:p>
            <a:pPr>
              <a:lnSpc>
                <a:spcPct val="130000"/>
              </a:lnSpc>
            </a:pPr>
            <a:r>
              <a:rPr lang="en-US" sz="813" dirty="0">
                <a:solidFill>
                  <a:srgbClr val="8B5CF6"/>
                </a:solidFill>
                <a:latin typeface="MiSans" pitchFamily="34" charset="0"/>
                <a:ea typeface="MiSans" pitchFamily="34" charset="-122"/>
                <a:cs typeface="MiSans" pitchFamily="34" charset="-120"/>
              </a:rPr>
              <a:t>return</a:t>
            </a:r>
            <a:pPr>
              <a:lnSpc>
                <a:spcPct val="130000"/>
              </a:lnSpc>
            </a:pPr>
            <a:r>
              <a:rPr lang="en-US" sz="813" dirty="0">
                <a:solidFill>
                  <a:srgbClr val="EF4444"/>
                </a:solidFill>
                <a:latin typeface="MiSans" pitchFamily="34" charset="0"/>
                <a:ea typeface="MiSans" pitchFamily="34" charset="-122"/>
                <a:cs typeface="MiSans" pitchFamily="34" charset="-120"/>
              </a:rPr>
              <a:t>None</a:t>
            </a:r>
            <a:endParaRPr lang="en-US" sz="1600" dirty="0"/>
          </a:p>
        </p:txBody>
      </p:sp>
      <p:sp>
        <p:nvSpPr>
          <p:cNvPr id="49" name="Shape 47"/>
          <p:cNvSpPr/>
          <p:nvPr/>
        </p:nvSpPr>
        <p:spPr>
          <a:xfrm>
            <a:off x="6342063" y="4198938"/>
            <a:ext cx="5365750" cy="1254125"/>
          </a:xfrm>
          <a:custGeom>
            <a:avLst/>
            <a:gdLst/>
            <a:ahLst/>
            <a:cxnLst/>
            <a:rect l="l" t="t" r="r" b="b"/>
            <a:pathLst>
              <a:path w="5365750" h="1254125">
                <a:moveTo>
                  <a:pt x="63496" y="0"/>
                </a:moveTo>
                <a:lnTo>
                  <a:pt x="5302254" y="0"/>
                </a:lnTo>
                <a:cubicBezTo>
                  <a:pt x="5337322" y="0"/>
                  <a:pt x="5365750" y="28428"/>
                  <a:pt x="5365750" y="63496"/>
                </a:cubicBezTo>
                <a:lnTo>
                  <a:pt x="5365750" y="1190629"/>
                </a:lnTo>
                <a:cubicBezTo>
                  <a:pt x="5365750" y="1225697"/>
                  <a:pt x="5337322" y="1254125"/>
                  <a:pt x="5302254" y="1254125"/>
                </a:cubicBezTo>
                <a:lnTo>
                  <a:pt x="63496" y="1254125"/>
                </a:lnTo>
                <a:cubicBezTo>
                  <a:pt x="28428" y="1254125"/>
                  <a:pt x="0" y="1225697"/>
                  <a:pt x="0" y="1190629"/>
                </a:cubicBezTo>
                <a:lnTo>
                  <a:pt x="0" y="63496"/>
                </a:lnTo>
                <a:cubicBezTo>
                  <a:pt x="0" y="28452"/>
                  <a:pt x="28452" y="0"/>
                  <a:pt x="63496" y="0"/>
                </a:cubicBezTo>
                <a:close/>
              </a:path>
            </a:pathLst>
          </a:custGeom>
          <a:solidFill>
            <a:srgbClr val="0F172A"/>
          </a:solidFill>
          <a:ln/>
        </p:spPr>
      </p:sp>
      <p:sp>
        <p:nvSpPr>
          <p:cNvPr id="50" name="Text 48"/>
          <p:cNvSpPr/>
          <p:nvPr/>
        </p:nvSpPr>
        <p:spPr>
          <a:xfrm>
            <a:off x="6437313" y="4294188"/>
            <a:ext cx="5238750" cy="190500"/>
          </a:xfrm>
          <a:prstGeom prst="rect">
            <a:avLst/>
          </a:prstGeom>
          <a:noFill/>
          <a:ln/>
        </p:spPr>
        <p:txBody>
          <a:bodyPr wrap="square" lIns="0" tIns="0" rIns="0" bIns="0" rtlCol="0" anchor="ctr"/>
          <a:lstStyle/>
          <a:p>
            <a:pPr>
              <a:lnSpc>
                <a:spcPct val="130000"/>
              </a:lnSpc>
            </a:pPr>
            <a:r>
              <a:rPr lang="en-US" sz="1000" b="1" dirty="0">
                <a:solidFill>
                  <a:srgbClr val="F1F5F9"/>
                </a:solidFill>
                <a:latin typeface="MiSans" pitchFamily="34" charset="0"/>
                <a:ea typeface="MiSans" pitchFamily="34" charset="-122"/>
                <a:cs typeface="MiSans" pitchFamily="34" charset="-120"/>
              </a:rPr>
              <a:t>Bước 3: Prompt sửa lỗi</a:t>
            </a:r>
            <a:endParaRPr lang="en-US" sz="1600" dirty="0"/>
          </a:p>
        </p:txBody>
      </p:sp>
      <p:sp>
        <p:nvSpPr>
          <p:cNvPr id="51" name="Shape 49"/>
          <p:cNvSpPr/>
          <p:nvPr/>
        </p:nvSpPr>
        <p:spPr>
          <a:xfrm>
            <a:off x="6437313" y="4548188"/>
            <a:ext cx="5175250" cy="809625"/>
          </a:xfrm>
          <a:custGeom>
            <a:avLst/>
            <a:gdLst/>
            <a:ahLst/>
            <a:cxnLst/>
            <a:rect l="l" t="t" r="r" b="b"/>
            <a:pathLst>
              <a:path w="5175250" h="809625">
                <a:moveTo>
                  <a:pt x="63499" y="0"/>
                </a:moveTo>
                <a:lnTo>
                  <a:pt x="5111751" y="0"/>
                </a:lnTo>
                <a:cubicBezTo>
                  <a:pt x="5146821" y="0"/>
                  <a:pt x="5175250" y="28429"/>
                  <a:pt x="5175250" y="63499"/>
                </a:cubicBezTo>
                <a:lnTo>
                  <a:pt x="5175250" y="746126"/>
                </a:lnTo>
                <a:cubicBezTo>
                  <a:pt x="5175250" y="781196"/>
                  <a:pt x="5146821" y="809625"/>
                  <a:pt x="5111751" y="809625"/>
                </a:cubicBezTo>
                <a:lnTo>
                  <a:pt x="63499" y="809625"/>
                </a:lnTo>
                <a:cubicBezTo>
                  <a:pt x="28429" y="809625"/>
                  <a:pt x="0" y="781196"/>
                  <a:pt x="0" y="746126"/>
                </a:cubicBezTo>
                <a:lnTo>
                  <a:pt x="0" y="63499"/>
                </a:lnTo>
                <a:cubicBezTo>
                  <a:pt x="0" y="28453"/>
                  <a:pt x="28453" y="0"/>
                  <a:pt x="63499" y="0"/>
                </a:cubicBezTo>
                <a:close/>
              </a:path>
            </a:pathLst>
          </a:custGeom>
          <a:solidFill>
            <a:srgbClr val="1E293B"/>
          </a:solidFill>
          <a:ln/>
        </p:spPr>
      </p:sp>
      <p:sp>
        <p:nvSpPr>
          <p:cNvPr id="52" name="Text 50"/>
          <p:cNvSpPr/>
          <p:nvPr/>
        </p:nvSpPr>
        <p:spPr>
          <a:xfrm>
            <a:off x="6532563" y="4659313"/>
            <a:ext cx="845964" cy="119063"/>
          </a:xfrm>
          <a:prstGeom prst="rect">
            <a:avLst/>
          </a:prstGeom>
          <a:noFill/>
          <a:ln/>
        </p:spPr>
        <p:txBody>
          <a:bodyPr wrap="square" lIns="0" tIns="0" rIns="0" bIns="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@terminal /fix</a:t>
            </a:r>
            <a:endParaRPr lang="en-US" sz="1600" dirty="0"/>
          </a:p>
        </p:txBody>
      </p:sp>
      <p:sp>
        <p:nvSpPr>
          <p:cNvPr id="53" name="Text 51"/>
          <p:cNvSpPr/>
          <p:nvPr/>
        </p:nvSpPr>
        <p:spPr>
          <a:xfrm>
            <a:off x="6532563" y="4814094"/>
            <a:ext cx="1299766" cy="119063"/>
          </a:xfrm>
          <a:prstGeom prst="rect">
            <a:avLst/>
          </a:prstGeom>
          <a:noFill/>
          <a:ln/>
        </p:spPr>
        <p:txBody>
          <a:bodyPr wrap="square" lIns="0" tIns="0" rIns="0" bIns="0" rtlCol="0" anchor="ctr"/>
          <a:lstStyle/>
          <a:p>
            <a:pPr>
              <a:lnSpc>
                <a:spcPct val="130000"/>
              </a:lnSpc>
            </a:pPr>
            <a:r>
              <a:rPr lang="en-US" sz="813" dirty="0">
                <a:solidFill>
                  <a:srgbClr val="10B981"/>
                </a:solidFill>
                <a:latin typeface="MiSans" pitchFamily="34" charset="0"/>
                <a:ea typeface="MiSans" pitchFamily="34" charset="-122"/>
                <a:cs typeface="MiSans" pitchFamily="34" charset="-120"/>
              </a:rPr>
              <a:t>rect_intersection_area</a:t>
            </a:r>
            <a:endParaRPr lang="en-US" sz="1600" dirty="0"/>
          </a:p>
        </p:txBody>
      </p:sp>
      <p:sp>
        <p:nvSpPr>
          <p:cNvPr id="54" name="Text 52"/>
          <p:cNvSpPr/>
          <p:nvPr/>
        </p:nvSpPr>
        <p:spPr>
          <a:xfrm>
            <a:off x="6532563" y="4968875"/>
            <a:ext cx="1243087" cy="119063"/>
          </a:xfrm>
          <a:prstGeom prst="rect">
            <a:avLst/>
          </a:prstGeom>
          <a:noFill/>
          <a:ln/>
        </p:spPr>
        <p:txBody>
          <a:bodyPr wrap="square" lIns="0" tIns="0" rIns="0" bIns="0" rtlCol="0" anchor="ctr"/>
          <a:lstStyle/>
          <a:p>
            <a:pPr>
              <a:lnSpc>
                <a:spcPct val="130000"/>
              </a:lnSpc>
            </a:pPr>
            <a:r>
              <a:rPr lang="en-US" sz="813" dirty="0">
                <a:solidFill>
                  <a:srgbClr val="10B981"/>
                </a:solidFill>
                <a:latin typeface="MiSans" pitchFamily="34" charset="0"/>
                <a:ea typeface="MiSans" pitchFamily="34" charset="-122"/>
                <a:cs typeface="MiSans" pitchFamily="34" charset="-120"/>
              </a:rPr>
              <a:t>according to the unit</a:t>
            </a:r>
            <a:endParaRPr lang="en-US" sz="1600" dirty="0"/>
          </a:p>
        </p:txBody>
      </p:sp>
      <p:sp>
        <p:nvSpPr>
          <p:cNvPr id="55" name="Text 53"/>
          <p:cNvSpPr/>
          <p:nvPr/>
        </p:nvSpPr>
        <p:spPr>
          <a:xfrm>
            <a:off x="6532563" y="5123656"/>
            <a:ext cx="732482" cy="119063"/>
          </a:xfrm>
          <a:prstGeom prst="rect">
            <a:avLst/>
          </a:prstGeom>
          <a:noFill/>
          <a:ln/>
        </p:spPr>
        <p:txBody>
          <a:bodyPr wrap="square" lIns="0" tIns="0" rIns="0" bIns="0" rtlCol="0" anchor="ctr"/>
          <a:lstStyle/>
          <a:p>
            <a:pPr>
              <a:lnSpc>
                <a:spcPct val="130000"/>
              </a:lnSpc>
            </a:pPr>
            <a:r>
              <a:rPr lang="en-US" sz="813" dirty="0">
                <a:solidFill>
                  <a:srgbClr val="10B981"/>
                </a:solidFill>
                <a:latin typeface="MiSans" pitchFamily="34" charset="0"/>
                <a:ea typeface="MiSans" pitchFamily="34" charset="-122"/>
                <a:cs typeface="MiSans" pitchFamily="34" charset="-120"/>
              </a:rPr>
              <a:t>test failure</a:t>
            </a:r>
            <a:endParaRPr lang="en-US" sz="1600" dirty="0"/>
          </a:p>
        </p:txBody>
      </p:sp>
      <p:sp>
        <p:nvSpPr>
          <p:cNvPr id="56" name="Shape 54"/>
          <p:cNvSpPr/>
          <p:nvPr/>
        </p:nvSpPr>
        <p:spPr>
          <a:xfrm>
            <a:off x="6346031" y="5552281"/>
            <a:ext cx="5357813" cy="1881187"/>
          </a:xfrm>
          <a:custGeom>
            <a:avLst/>
            <a:gdLst/>
            <a:ahLst/>
            <a:cxnLst/>
            <a:rect l="l" t="t" r="r" b="b"/>
            <a:pathLst>
              <a:path w="5357813" h="1881187">
                <a:moveTo>
                  <a:pt x="63509" y="0"/>
                </a:moveTo>
                <a:lnTo>
                  <a:pt x="5294304" y="0"/>
                </a:lnTo>
                <a:cubicBezTo>
                  <a:pt x="5329379" y="0"/>
                  <a:pt x="5357812" y="28434"/>
                  <a:pt x="5357812" y="63509"/>
                </a:cubicBezTo>
                <a:lnTo>
                  <a:pt x="5357813" y="1817679"/>
                </a:lnTo>
                <a:cubicBezTo>
                  <a:pt x="5357812" y="1852754"/>
                  <a:pt x="5329379" y="1881187"/>
                  <a:pt x="5294304" y="1881187"/>
                </a:cubicBezTo>
                <a:lnTo>
                  <a:pt x="63509" y="1881187"/>
                </a:lnTo>
                <a:cubicBezTo>
                  <a:pt x="28434" y="1881187"/>
                  <a:pt x="0" y="1852754"/>
                  <a:pt x="0" y="1817679"/>
                </a:cubicBezTo>
                <a:lnTo>
                  <a:pt x="0" y="63509"/>
                </a:lnTo>
                <a:cubicBezTo>
                  <a:pt x="0" y="28434"/>
                  <a:pt x="28434" y="0"/>
                  <a:pt x="63509" y="0"/>
                </a:cubicBezTo>
                <a:close/>
              </a:path>
            </a:pathLst>
          </a:custGeom>
          <a:solidFill>
            <a:srgbClr val="0F172A"/>
          </a:solidFill>
          <a:ln w="12700">
            <a:solidFill>
              <a:srgbClr val="10B981">
                <a:alpha val="30196"/>
              </a:srgbClr>
            </a:solidFill>
            <a:prstDash val="solid"/>
          </a:ln>
        </p:spPr>
      </p:sp>
      <p:sp>
        <p:nvSpPr>
          <p:cNvPr id="57" name="Text 55"/>
          <p:cNvSpPr/>
          <p:nvPr/>
        </p:nvSpPr>
        <p:spPr>
          <a:xfrm>
            <a:off x="6445250" y="5651500"/>
            <a:ext cx="5222875" cy="190500"/>
          </a:xfrm>
          <a:prstGeom prst="rect">
            <a:avLst/>
          </a:prstGeom>
          <a:noFill/>
          <a:ln/>
        </p:spPr>
        <p:txBody>
          <a:bodyPr wrap="square" lIns="0" tIns="0" rIns="0" bIns="0" rtlCol="0" anchor="ctr"/>
          <a:lstStyle/>
          <a:p>
            <a:pPr>
              <a:lnSpc>
                <a:spcPct val="130000"/>
              </a:lnSpc>
            </a:pPr>
            <a:r>
              <a:rPr lang="en-US" sz="1000" b="1" dirty="0">
                <a:solidFill>
                  <a:srgbClr val="10B981"/>
                </a:solidFill>
                <a:latin typeface="MiSans" pitchFamily="34" charset="0"/>
                <a:ea typeface="MiSans" pitchFamily="34" charset="-122"/>
                <a:cs typeface="MiSans" pitchFamily="34" charset="-120"/>
              </a:rPr>
              <a:t>Bước 4: AI viết code → PASS</a:t>
            </a:r>
            <a:endParaRPr lang="en-US" sz="1600" dirty="0"/>
          </a:p>
        </p:txBody>
      </p:sp>
      <p:sp>
        <p:nvSpPr>
          <p:cNvPr id="58" name="Shape 56"/>
          <p:cNvSpPr/>
          <p:nvPr/>
        </p:nvSpPr>
        <p:spPr>
          <a:xfrm>
            <a:off x="6445250" y="5905500"/>
            <a:ext cx="5159375" cy="1428750"/>
          </a:xfrm>
          <a:custGeom>
            <a:avLst/>
            <a:gdLst/>
            <a:ahLst/>
            <a:cxnLst/>
            <a:rect l="l" t="t" r="r" b="b"/>
            <a:pathLst>
              <a:path w="5159375" h="1428750">
                <a:moveTo>
                  <a:pt x="63494" y="0"/>
                </a:moveTo>
                <a:lnTo>
                  <a:pt x="5095881" y="0"/>
                </a:lnTo>
                <a:cubicBezTo>
                  <a:pt x="5130948" y="0"/>
                  <a:pt x="5159375" y="28427"/>
                  <a:pt x="5159375" y="63494"/>
                </a:cubicBezTo>
                <a:lnTo>
                  <a:pt x="5159375" y="1365256"/>
                </a:lnTo>
                <a:cubicBezTo>
                  <a:pt x="5159375" y="1400323"/>
                  <a:pt x="5130948" y="1428750"/>
                  <a:pt x="5095881" y="1428750"/>
                </a:cubicBezTo>
                <a:lnTo>
                  <a:pt x="63494" y="1428750"/>
                </a:lnTo>
                <a:cubicBezTo>
                  <a:pt x="28427" y="1428750"/>
                  <a:pt x="0" y="1400323"/>
                  <a:pt x="0" y="1365256"/>
                </a:cubicBezTo>
                <a:lnTo>
                  <a:pt x="0" y="63494"/>
                </a:lnTo>
                <a:cubicBezTo>
                  <a:pt x="0" y="28451"/>
                  <a:pt x="28451" y="0"/>
                  <a:pt x="63494" y="0"/>
                </a:cubicBezTo>
                <a:close/>
              </a:path>
            </a:pathLst>
          </a:custGeom>
          <a:solidFill>
            <a:srgbClr val="1E293B"/>
          </a:solidFill>
          <a:ln/>
        </p:spPr>
      </p:sp>
      <p:sp>
        <p:nvSpPr>
          <p:cNvPr id="59" name="Text 57"/>
          <p:cNvSpPr/>
          <p:nvPr/>
        </p:nvSpPr>
        <p:spPr>
          <a:xfrm>
            <a:off x="6445250" y="5905500"/>
            <a:ext cx="5210969" cy="1428750"/>
          </a:xfrm>
          <a:prstGeom prst="rect">
            <a:avLst/>
          </a:prstGeom>
          <a:noFill/>
          <a:ln/>
        </p:spPr>
        <p:txBody>
          <a:bodyPr wrap="square" lIns="95250" tIns="95250" rIns="95250" bIns="9525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def</a:t>
            </a:r>
            <a:pPr>
              <a:lnSpc>
                <a:spcPct val="130000"/>
              </a:lnSpc>
            </a:pPr>
            <a:r>
              <a:rPr lang="en-US" sz="813" dirty="0">
                <a:solidFill>
                  <a:srgbClr val="3B82F6"/>
                </a:solidFill>
                <a:latin typeface="MiSans" pitchFamily="34" charset="0"/>
                <a:ea typeface="MiSans" pitchFamily="34" charset="-122"/>
                <a:cs typeface="MiSans" pitchFamily="34" charset="-120"/>
              </a:rPr>
              <a:t>rect_intersection_area</a:t>
            </a:r>
            <a:pPr>
              <a:lnSpc>
                <a:spcPct val="130000"/>
              </a:lnSpc>
            </a:pPr>
            <a:r>
              <a:rPr lang="en-US" sz="813" dirty="0">
                <a:solidFill>
                  <a:srgbClr val="F1F5F9"/>
                </a:solidFill>
                <a:latin typeface="MiSans" pitchFamily="34" charset="0"/>
                <a:ea typeface="MiSans" pitchFamily="34" charset="-122"/>
                <a:cs typeface="MiSans" pitchFamily="34" charset="-120"/>
              </a:rPr>
              <a:t>(r1, r2):</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x1 = max(r1.x, r2.x)</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y1 = max(r1.y, r2.y)</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x2 = min(r1.x + r1.w, r2.x + r2.w)</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y2 = min(r1.y + r1.h, r2.y + r2.h)</a:t>
            </a:r>
            <a:endParaRPr lang="en-US" sz="1600" dirty="0"/>
          </a:p>
          <a:p>
            <a:pPr>
              <a:lnSpc>
                <a:spcPct val="130000"/>
              </a:lnSpc>
            </a:pPr>
            <a:r>
              <a:rPr lang="en-US" sz="813" dirty="0">
                <a:solidFill>
                  <a:srgbClr val="8B5CF6"/>
                </a:solidFill>
                <a:latin typeface="MiSans" pitchFamily="34" charset="0"/>
                <a:ea typeface="MiSans" pitchFamily="34" charset="-122"/>
                <a:cs typeface="MiSans" pitchFamily="34" charset="-120"/>
              </a:rPr>
              <a:t>if</a:t>
            </a:r>
            <a:pPr>
              <a:lnSpc>
                <a:spcPct val="130000"/>
              </a:lnSpc>
            </a:pPr>
            <a:r>
              <a:rPr lang="en-US" sz="813" dirty="0">
                <a:solidFill>
                  <a:srgbClr val="F1F5F9"/>
                </a:solidFill>
                <a:latin typeface="MiSans" pitchFamily="34" charset="0"/>
                <a:ea typeface="MiSans" pitchFamily="34" charset="-122"/>
                <a:cs typeface="MiSans" pitchFamily="34" charset="-120"/>
              </a:rPr>
              <a:t> x1 &lt; x2 </a:t>
            </a:r>
            <a:pPr>
              <a:lnSpc>
                <a:spcPct val="130000"/>
              </a:lnSpc>
            </a:pPr>
            <a:r>
              <a:rPr lang="en-US" sz="813" dirty="0">
                <a:solidFill>
                  <a:srgbClr val="8B5CF6"/>
                </a:solidFill>
                <a:latin typeface="MiSans" pitchFamily="34" charset="0"/>
                <a:ea typeface="MiSans" pitchFamily="34" charset="-122"/>
                <a:cs typeface="MiSans" pitchFamily="34" charset="-120"/>
              </a:rPr>
              <a:t>and</a:t>
            </a:r>
            <a:pPr>
              <a:lnSpc>
                <a:spcPct val="130000"/>
              </a:lnSpc>
            </a:pPr>
            <a:r>
              <a:rPr lang="en-US" sz="813" dirty="0">
                <a:solidFill>
                  <a:srgbClr val="F1F5F9"/>
                </a:solidFill>
                <a:latin typeface="MiSans" pitchFamily="34" charset="0"/>
                <a:ea typeface="MiSans" pitchFamily="34" charset="-122"/>
                <a:cs typeface="MiSans" pitchFamily="34" charset="-120"/>
              </a:rPr>
              <a:t> y1 &lt; y2:</a:t>
            </a:r>
            <a:endParaRPr lang="en-US" sz="1600" dirty="0"/>
          </a:p>
          <a:p>
            <a:pPr>
              <a:lnSpc>
                <a:spcPct val="130000"/>
              </a:lnSpc>
            </a:pPr>
            <a:r>
              <a:rPr lang="en-US" sz="813" dirty="0">
                <a:solidFill>
                  <a:srgbClr val="8B5CF6"/>
                </a:solidFill>
                <a:latin typeface="MiSans" pitchFamily="34" charset="0"/>
                <a:ea typeface="MiSans" pitchFamily="34" charset="-122"/>
                <a:cs typeface="MiSans" pitchFamily="34" charset="-120"/>
              </a:rPr>
              <a:t>return</a:t>
            </a:r>
            <a:pPr>
              <a:lnSpc>
                <a:spcPct val="130000"/>
              </a:lnSpc>
            </a:pPr>
            <a:r>
              <a:rPr lang="en-US" sz="813" dirty="0">
                <a:solidFill>
                  <a:srgbClr val="F1F5F9"/>
                </a:solidFill>
                <a:latin typeface="MiSans" pitchFamily="34" charset="0"/>
                <a:ea typeface="MiSans" pitchFamily="34" charset="-122"/>
                <a:cs typeface="MiSans" pitchFamily="34" charset="-120"/>
              </a:rPr>
              <a:t> (x2 - x1) * (y2 - y1)</a:t>
            </a:r>
            <a:endParaRPr lang="en-US" sz="1600" dirty="0"/>
          </a:p>
          <a:p>
            <a:pPr>
              <a:lnSpc>
                <a:spcPct val="130000"/>
              </a:lnSpc>
            </a:pPr>
            <a:r>
              <a:rPr lang="en-US" sz="813" dirty="0">
                <a:solidFill>
                  <a:srgbClr val="8B5CF6"/>
                </a:solidFill>
                <a:latin typeface="MiSans" pitchFamily="34" charset="0"/>
                <a:ea typeface="MiSans" pitchFamily="34" charset="-122"/>
                <a:cs typeface="MiSans" pitchFamily="34" charset="-120"/>
              </a:rPr>
              <a:t>return</a:t>
            </a:r>
            <a:pPr>
              <a:lnSpc>
                <a:spcPct val="130000"/>
              </a:lnSpc>
            </a:pPr>
            <a:r>
              <a:rPr lang="en-US" sz="813" dirty="0">
                <a:solidFill>
                  <a:srgbClr val="F1F5F9"/>
                </a:solidFill>
                <a:latin typeface="MiSans" pitchFamily="34" charset="0"/>
                <a:ea typeface="MiSans" pitchFamily="34" charset="-122"/>
                <a:cs typeface="MiSans" pitchFamily="34" charset="-120"/>
              </a:rPr>
              <a:t> 0</a:t>
            </a:r>
            <a:endParaRPr lang="en-US" sz="1600" dirty="0"/>
          </a:p>
        </p:txBody>
      </p:sp>
      <p:sp>
        <p:nvSpPr>
          <p:cNvPr id="60" name="Shape 58"/>
          <p:cNvSpPr/>
          <p:nvPr/>
        </p:nvSpPr>
        <p:spPr>
          <a:xfrm>
            <a:off x="6179344" y="7735094"/>
            <a:ext cx="5691188" cy="642938"/>
          </a:xfrm>
          <a:custGeom>
            <a:avLst/>
            <a:gdLst/>
            <a:ahLst/>
            <a:cxnLst/>
            <a:rect l="l" t="t" r="r" b="b"/>
            <a:pathLst>
              <a:path w="5691188" h="642938">
                <a:moveTo>
                  <a:pt x="95251" y="0"/>
                </a:moveTo>
                <a:lnTo>
                  <a:pt x="5595936" y="0"/>
                </a:lnTo>
                <a:cubicBezTo>
                  <a:pt x="5648542" y="0"/>
                  <a:pt x="5691188" y="42645"/>
                  <a:pt x="5691188" y="95251"/>
                </a:cubicBezTo>
                <a:lnTo>
                  <a:pt x="5691188" y="547686"/>
                </a:lnTo>
                <a:cubicBezTo>
                  <a:pt x="5691187" y="600292"/>
                  <a:pt x="5648542" y="642938"/>
                  <a:pt x="5595936" y="642938"/>
                </a:cubicBezTo>
                <a:lnTo>
                  <a:pt x="95251" y="642938"/>
                </a:lnTo>
                <a:cubicBezTo>
                  <a:pt x="42645" y="642938"/>
                  <a:pt x="0" y="600292"/>
                  <a:pt x="0" y="547686"/>
                </a:cubicBezTo>
                <a:lnTo>
                  <a:pt x="0" y="95251"/>
                </a:lnTo>
                <a:cubicBezTo>
                  <a:pt x="0" y="42681"/>
                  <a:pt x="42681" y="0"/>
                  <a:pt x="95251"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61" name="Shape 59"/>
          <p:cNvSpPr/>
          <p:nvPr/>
        </p:nvSpPr>
        <p:spPr>
          <a:xfrm>
            <a:off x="6326188" y="7905750"/>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10B981"/>
          </a:solidFill>
          <a:ln/>
        </p:spPr>
      </p:sp>
      <p:sp>
        <p:nvSpPr>
          <p:cNvPr id="62" name="Text 60"/>
          <p:cNvSpPr/>
          <p:nvPr/>
        </p:nvSpPr>
        <p:spPr>
          <a:xfrm>
            <a:off x="6508750" y="7866063"/>
            <a:ext cx="5294313" cy="381000"/>
          </a:xfrm>
          <a:prstGeom prst="rect">
            <a:avLst/>
          </a:prstGeom>
          <a:noFill/>
          <a:ln/>
        </p:spPr>
        <p:txBody>
          <a:bodyPr wrap="square" lIns="0" tIns="0" rIns="0" bIns="0" rtlCol="0" anchor="ctr"/>
          <a:lstStyle/>
          <a:p>
            <a:pPr>
              <a:lnSpc>
                <a:spcPct val="130000"/>
              </a:lnSpc>
            </a:pPr>
            <a:r>
              <a:rPr lang="en-US" sz="1000" b="1" dirty="0">
                <a:solidFill>
                  <a:srgbClr val="F1F5F9">
                    <a:alpha val="90000"/>
                  </a:srgbClr>
                </a:solidFill>
                <a:latin typeface="MiSans" pitchFamily="34" charset="0"/>
                <a:ea typeface="MiSans" pitchFamily="34" charset="-122"/>
                <a:cs typeface="MiSans" pitchFamily="34" charset="-120"/>
              </a:rPr>
              <a:t>Kết quả:</a:t>
            </a:r>
            <a:pPr>
              <a:lnSpc>
                <a:spcPct val="130000"/>
              </a:lnSpc>
            </a:pPr>
            <a:r>
              <a:rPr lang="en-US" sz="1000" dirty="0">
                <a:solidFill>
                  <a:srgbClr val="F1F5F9">
                    <a:alpha val="90000"/>
                  </a:srgbClr>
                </a:solidFill>
                <a:latin typeface="MiSans" pitchFamily="34" charset="0"/>
                <a:ea typeface="MiSans" pitchFamily="34" charset="-122"/>
                <a:cs typeface="MiSans" pitchFamily="34" charset="-120"/>
              </a:rPr>
              <a:t> GenAI đọc lỗi từ terminal, phân tích nguyên nhân và tự động viết thuật toán chính xác để tất cả test PASS.</a:t>
            </a:r>
            <a:endParaRPr lang="en-US" sz="16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59E0B"/>
          </a:solidFill>
          <a:ln/>
        </p:spPr>
      </p:sp>
      <p:sp>
        <p:nvSpPr>
          <p:cNvPr id="3" name="Shape 1"/>
          <p:cNvSpPr/>
          <p:nvPr/>
        </p:nvSpPr>
        <p:spPr>
          <a:xfrm>
            <a:off x="498872" y="561975"/>
            <a:ext cx="150019" cy="171450"/>
          </a:xfrm>
          <a:custGeom>
            <a:avLst/>
            <a:gdLst/>
            <a:ahLst/>
            <a:cxnLst/>
            <a:rect l="l" t="t" r="r" b="b"/>
            <a:pathLst>
              <a:path w="150019" h="171450">
                <a:moveTo>
                  <a:pt x="85725" y="53578"/>
                </a:moveTo>
                <a:lnTo>
                  <a:pt x="85725" y="85725"/>
                </a:lnTo>
                <a:lnTo>
                  <a:pt x="128588" y="85725"/>
                </a:lnTo>
                <a:lnTo>
                  <a:pt x="128588" y="53578"/>
                </a:lnTo>
                <a:lnTo>
                  <a:pt x="85725" y="53578"/>
                </a:lnTo>
                <a:close/>
                <a:moveTo>
                  <a:pt x="64294" y="53578"/>
                </a:moveTo>
                <a:lnTo>
                  <a:pt x="21431" y="53578"/>
                </a:lnTo>
                <a:lnTo>
                  <a:pt x="21431" y="85725"/>
                </a:lnTo>
                <a:lnTo>
                  <a:pt x="64294" y="85725"/>
                </a:lnTo>
                <a:lnTo>
                  <a:pt x="64294" y="53578"/>
                </a:lnTo>
                <a:close/>
                <a:moveTo>
                  <a:pt x="0" y="107156"/>
                </a:moveTo>
                <a:lnTo>
                  <a:pt x="0" y="32147"/>
                </a:lnTo>
                <a:cubicBezTo>
                  <a:pt x="0" y="20326"/>
                  <a:pt x="9611" y="10716"/>
                  <a:pt x="21431" y="10716"/>
                </a:cubicBezTo>
                <a:lnTo>
                  <a:pt x="128588" y="10716"/>
                </a:lnTo>
                <a:cubicBezTo>
                  <a:pt x="140408" y="10716"/>
                  <a:pt x="150019" y="20326"/>
                  <a:pt x="150019" y="32147"/>
                </a:cubicBezTo>
                <a:lnTo>
                  <a:pt x="150019" y="139303"/>
                </a:lnTo>
                <a:cubicBezTo>
                  <a:pt x="150019" y="151124"/>
                  <a:pt x="140408" y="160734"/>
                  <a:pt x="128588" y="160734"/>
                </a:cubicBezTo>
                <a:lnTo>
                  <a:pt x="21431" y="160734"/>
                </a:lnTo>
                <a:cubicBezTo>
                  <a:pt x="9611" y="160734"/>
                  <a:pt x="0" y="151124"/>
                  <a:pt x="0" y="139303"/>
                </a:cubicBezTo>
                <a:lnTo>
                  <a:pt x="0" y="107156"/>
                </a:lnTo>
                <a:close/>
                <a:moveTo>
                  <a:pt x="128588" y="107156"/>
                </a:moveTo>
                <a:lnTo>
                  <a:pt x="85725" y="107156"/>
                </a:lnTo>
                <a:lnTo>
                  <a:pt x="85725" y="139303"/>
                </a:lnTo>
                <a:lnTo>
                  <a:pt x="128588" y="139303"/>
                </a:lnTo>
                <a:lnTo>
                  <a:pt x="128588" y="107156"/>
                </a:lnTo>
                <a:close/>
                <a:moveTo>
                  <a:pt x="64294" y="139303"/>
                </a:moveTo>
                <a:lnTo>
                  <a:pt x="64294" y="107156"/>
                </a:lnTo>
                <a:lnTo>
                  <a:pt x="21431" y="107156"/>
                </a:lnTo>
                <a:lnTo>
                  <a:pt x="21431" y="139303"/>
                </a:lnTo>
                <a:lnTo>
                  <a:pt x="64294" y="139303"/>
                </a:lnTo>
                <a:close/>
              </a:path>
            </a:pathLst>
          </a:custGeom>
          <a:solidFill>
            <a:srgbClr val="FFFFFF"/>
          </a:solidFill>
          <a:ln/>
        </p:spPr>
      </p:sp>
      <p:sp>
        <p:nvSpPr>
          <p:cNvPr id="4" name="Text 2"/>
          <p:cNvSpPr/>
          <p:nvPr/>
        </p:nvSpPr>
        <p:spPr>
          <a:xfrm>
            <a:off x="876300" y="381000"/>
            <a:ext cx="5172075" cy="190500"/>
          </a:xfrm>
          <a:prstGeom prst="rect">
            <a:avLst/>
          </a:prstGeom>
          <a:noFill/>
          <a:ln/>
        </p:spPr>
        <p:txBody>
          <a:bodyPr wrap="square" lIns="0" tIns="0" rIns="0" bIns="0" rtlCol="0" anchor="ctr"/>
          <a:lstStyle/>
          <a:p>
            <a:pPr>
              <a:lnSpc>
                <a:spcPct val="120000"/>
              </a:lnSpc>
            </a:pPr>
            <a:r>
              <a:rPr lang="en-US" sz="1050" b="1" spc="53" kern="0" dirty="0">
                <a:solidFill>
                  <a:srgbClr val="F59E0B"/>
                </a:solidFill>
                <a:latin typeface="MiSans" pitchFamily="34" charset="0"/>
                <a:ea typeface="MiSans" pitchFamily="34" charset="-122"/>
                <a:cs typeface="MiSans" pitchFamily="34" charset="-120"/>
              </a:rPr>
              <a:t>CHƯƠNG 13 | MỨC VẬT LÝ</a:t>
            </a:r>
            <a:endParaRPr lang="en-US" sz="1600" dirty="0"/>
          </a:p>
        </p:txBody>
      </p:sp>
      <p:sp>
        <p:nvSpPr>
          <p:cNvPr id="5" name="Text 3"/>
          <p:cNvSpPr/>
          <p:nvPr/>
        </p:nvSpPr>
        <p:spPr>
          <a:xfrm>
            <a:off x="876300" y="571500"/>
            <a:ext cx="52482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Lab 13.6: Sinh dữ liệu mẫu (Mock Data)</a:t>
            </a:r>
            <a:endParaRPr lang="en-US" sz="1600" dirty="0"/>
          </a:p>
        </p:txBody>
      </p:sp>
      <p:sp>
        <p:nvSpPr>
          <p:cNvPr id="6" name="Shape 4"/>
          <p:cNvSpPr/>
          <p:nvPr/>
        </p:nvSpPr>
        <p:spPr>
          <a:xfrm>
            <a:off x="385763" y="1147763"/>
            <a:ext cx="5610225" cy="3057525"/>
          </a:xfrm>
          <a:custGeom>
            <a:avLst/>
            <a:gdLst/>
            <a:ahLst/>
            <a:cxnLst/>
            <a:rect l="l" t="t" r="r" b="b"/>
            <a:pathLst>
              <a:path w="5610225" h="3057525">
                <a:moveTo>
                  <a:pt x="114290" y="0"/>
                </a:moveTo>
                <a:lnTo>
                  <a:pt x="5495935" y="0"/>
                </a:lnTo>
                <a:cubicBezTo>
                  <a:pt x="5559055" y="0"/>
                  <a:pt x="5610225" y="51170"/>
                  <a:pt x="5610225" y="114290"/>
                </a:cubicBezTo>
                <a:lnTo>
                  <a:pt x="5610225" y="2943235"/>
                </a:lnTo>
                <a:cubicBezTo>
                  <a:pt x="5610225" y="3006355"/>
                  <a:pt x="5559055" y="3057525"/>
                  <a:pt x="5495935" y="3057525"/>
                </a:cubicBezTo>
                <a:lnTo>
                  <a:pt x="114290" y="3057525"/>
                </a:lnTo>
                <a:cubicBezTo>
                  <a:pt x="51170" y="3057525"/>
                  <a:pt x="0" y="3006355"/>
                  <a:pt x="0" y="2943235"/>
                </a:cubicBezTo>
                <a:lnTo>
                  <a:pt x="0" y="114290"/>
                </a:lnTo>
                <a:cubicBezTo>
                  <a:pt x="0" y="51212"/>
                  <a:pt x="51212" y="0"/>
                  <a:pt x="114290"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3497" y="44128"/>
                </a:moveTo>
                <a:cubicBezTo>
                  <a:pt x="-1153" y="39477"/>
                  <a:pt x="-1153" y="31924"/>
                  <a:pt x="3497" y="27273"/>
                </a:cubicBezTo>
                <a:cubicBezTo>
                  <a:pt x="8148" y="22622"/>
                  <a:pt x="15701" y="22622"/>
                  <a:pt x="20352" y="27273"/>
                </a:cubicBezTo>
                <a:lnTo>
                  <a:pt x="79883" y="86804"/>
                </a:lnTo>
                <a:cubicBezTo>
                  <a:pt x="84534" y="91455"/>
                  <a:pt x="84534" y="99008"/>
                  <a:pt x="79883" y="103659"/>
                </a:cubicBezTo>
                <a:lnTo>
                  <a:pt x="20352" y="163190"/>
                </a:lnTo>
                <a:cubicBezTo>
                  <a:pt x="15701" y="167841"/>
                  <a:pt x="8148" y="167841"/>
                  <a:pt x="3497" y="163190"/>
                </a:cubicBezTo>
                <a:cubicBezTo>
                  <a:pt x="-1153" y="158539"/>
                  <a:pt x="-1153" y="150986"/>
                  <a:pt x="3497" y="146335"/>
                </a:cubicBezTo>
                <a:lnTo>
                  <a:pt x="54583" y="95250"/>
                </a:lnTo>
                <a:lnTo>
                  <a:pt x="3497" y="44128"/>
                </a:lnTo>
                <a:close/>
                <a:moveTo>
                  <a:pt x="83344" y="142875"/>
                </a:moveTo>
                <a:lnTo>
                  <a:pt x="178594" y="142875"/>
                </a:lnTo>
                <a:cubicBezTo>
                  <a:pt x="185179" y="142875"/>
                  <a:pt x="190500" y="148196"/>
                  <a:pt x="190500" y="154781"/>
                </a:cubicBezTo>
                <a:cubicBezTo>
                  <a:pt x="190500" y="161367"/>
                  <a:pt x="185179" y="166688"/>
                  <a:pt x="178594" y="166688"/>
                </a:cubicBezTo>
                <a:lnTo>
                  <a:pt x="83344" y="166688"/>
                </a:lnTo>
                <a:cubicBezTo>
                  <a:pt x="76758" y="166688"/>
                  <a:pt x="71438" y="161367"/>
                  <a:pt x="71438" y="154781"/>
                </a:cubicBezTo>
                <a:cubicBezTo>
                  <a:pt x="71438" y="148196"/>
                  <a:pt x="76758" y="142875"/>
                  <a:pt x="83344" y="142875"/>
                </a:cubicBezTo>
                <a:close/>
              </a:path>
            </a:pathLst>
          </a:custGeom>
          <a:solidFill>
            <a:srgbClr val="F59E0B"/>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F59E0B"/>
                </a:solidFill>
                <a:latin typeface="MiSans" pitchFamily="34" charset="0"/>
                <a:ea typeface="MiSans" pitchFamily="34" charset="-122"/>
                <a:cs typeface="MiSans" pitchFamily="34" charset="-120"/>
              </a:rPr>
              <a:t>Thao tác thực hiện</a:t>
            </a:r>
            <a:endParaRPr lang="en-US" sz="1600" dirty="0"/>
          </a:p>
        </p:txBody>
      </p:sp>
      <p:sp>
        <p:nvSpPr>
          <p:cNvPr id="9" name="Shape 7"/>
          <p:cNvSpPr/>
          <p:nvPr/>
        </p:nvSpPr>
        <p:spPr>
          <a:xfrm>
            <a:off x="581025" y="1762125"/>
            <a:ext cx="5219700" cy="2247900"/>
          </a:xfrm>
          <a:custGeom>
            <a:avLst/>
            <a:gdLst/>
            <a:ahLst/>
            <a:cxnLst/>
            <a:rect l="l" t="t" r="r" b="b"/>
            <a:pathLst>
              <a:path w="5219700" h="2247900">
                <a:moveTo>
                  <a:pt x="76204" y="0"/>
                </a:moveTo>
                <a:lnTo>
                  <a:pt x="5143496" y="0"/>
                </a:lnTo>
                <a:cubicBezTo>
                  <a:pt x="5185582" y="0"/>
                  <a:pt x="5219700" y="34118"/>
                  <a:pt x="5219700" y="76204"/>
                </a:cubicBezTo>
                <a:lnTo>
                  <a:pt x="5219700" y="2171696"/>
                </a:lnTo>
                <a:cubicBezTo>
                  <a:pt x="5219700" y="2213782"/>
                  <a:pt x="5185582" y="2247900"/>
                  <a:pt x="5143496" y="2247900"/>
                </a:cubicBezTo>
                <a:lnTo>
                  <a:pt x="76204" y="2247900"/>
                </a:lnTo>
                <a:cubicBezTo>
                  <a:pt x="34118" y="2247900"/>
                  <a:pt x="0" y="2213782"/>
                  <a:pt x="0" y="2171696"/>
                </a:cubicBezTo>
                <a:lnTo>
                  <a:pt x="0" y="76204"/>
                </a:lnTo>
                <a:cubicBezTo>
                  <a:pt x="0" y="34146"/>
                  <a:pt x="34146" y="0"/>
                  <a:pt x="76204" y="0"/>
                </a:cubicBezTo>
                <a:close/>
              </a:path>
            </a:pathLst>
          </a:custGeom>
          <a:solidFill>
            <a:srgbClr val="0F172A"/>
          </a:solidFill>
          <a:ln/>
        </p:spPr>
      </p:sp>
      <p:sp>
        <p:nvSpPr>
          <p:cNvPr id="10" name="Text 8"/>
          <p:cNvSpPr/>
          <p:nvPr/>
        </p:nvSpPr>
        <p:spPr>
          <a:xfrm>
            <a:off x="69532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Prompt yêu cầu tạo bảng:</a:t>
            </a:r>
            <a:endParaRPr lang="en-US" sz="1600" dirty="0"/>
          </a:p>
        </p:txBody>
      </p:sp>
      <p:sp>
        <p:nvSpPr>
          <p:cNvPr id="11" name="Shape 9"/>
          <p:cNvSpPr/>
          <p:nvPr/>
        </p:nvSpPr>
        <p:spPr>
          <a:xfrm>
            <a:off x="695325" y="2181225"/>
            <a:ext cx="4991100" cy="1714500"/>
          </a:xfrm>
          <a:custGeom>
            <a:avLst/>
            <a:gdLst/>
            <a:ahLst/>
            <a:cxnLst/>
            <a:rect l="l" t="t" r="r" b="b"/>
            <a:pathLst>
              <a:path w="4991100" h="1714500">
                <a:moveTo>
                  <a:pt x="76192" y="0"/>
                </a:moveTo>
                <a:lnTo>
                  <a:pt x="4914908" y="0"/>
                </a:lnTo>
                <a:cubicBezTo>
                  <a:pt x="4956988" y="0"/>
                  <a:pt x="4991100" y="34112"/>
                  <a:pt x="4991100" y="76192"/>
                </a:cubicBezTo>
                <a:lnTo>
                  <a:pt x="4991100" y="1638308"/>
                </a:lnTo>
                <a:cubicBezTo>
                  <a:pt x="4991100" y="1680388"/>
                  <a:pt x="4956988" y="1714500"/>
                  <a:pt x="4914908" y="1714500"/>
                </a:cubicBezTo>
                <a:lnTo>
                  <a:pt x="76192" y="1714500"/>
                </a:lnTo>
                <a:cubicBezTo>
                  <a:pt x="34112" y="1714500"/>
                  <a:pt x="0" y="1680388"/>
                  <a:pt x="0" y="1638308"/>
                </a:cubicBezTo>
                <a:lnTo>
                  <a:pt x="0" y="76192"/>
                </a:lnTo>
                <a:cubicBezTo>
                  <a:pt x="0" y="34141"/>
                  <a:pt x="34141" y="0"/>
                  <a:pt x="76192" y="0"/>
                </a:cubicBezTo>
                <a:close/>
              </a:path>
            </a:pathLst>
          </a:custGeom>
          <a:solidFill>
            <a:srgbClr val="1E293B"/>
          </a:solidFill>
          <a:ln/>
        </p:spPr>
      </p:sp>
      <p:sp>
        <p:nvSpPr>
          <p:cNvPr id="12" name="Text 10"/>
          <p:cNvSpPr/>
          <p:nvPr/>
        </p:nvSpPr>
        <p:spPr>
          <a:xfrm>
            <a:off x="809625" y="2314575"/>
            <a:ext cx="1900089"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create a table with 10 rows</a:t>
            </a:r>
            <a:endParaRPr lang="en-US" sz="1600" dirty="0"/>
          </a:p>
        </p:txBody>
      </p:sp>
      <p:sp>
        <p:nvSpPr>
          <p:cNvPr id="13" name="Text 11"/>
          <p:cNvSpPr/>
          <p:nvPr/>
        </p:nvSpPr>
        <p:spPr>
          <a:xfrm>
            <a:off x="809625" y="2500313"/>
            <a:ext cx="1832074" cy="142875"/>
          </a:xfrm>
          <a:prstGeom prst="rect">
            <a:avLst/>
          </a:prstGeom>
          <a:noFill/>
          <a:ln/>
        </p:spPr>
        <p:txBody>
          <a:bodyPr wrap="square" lIns="0" tIns="0" rIns="0" bIns="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and the following columns:</a:t>
            </a:r>
            <a:endParaRPr lang="en-US" sz="1600" dirty="0"/>
          </a:p>
        </p:txBody>
      </p:sp>
      <p:sp>
        <p:nvSpPr>
          <p:cNvPr id="14" name="Text 12"/>
          <p:cNvSpPr/>
          <p:nvPr/>
        </p:nvSpPr>
        <p:spPr>
          <a:xfrm>
            <a:off x="809625" y="2686050"/>
            <a:ext cx="224045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- 5 digit integer id called "ID"</a:t>
            </a:r>
            <a:endParaRPr lang="en-US" sz="1600" dirty="0"/>
          </a:p>
        </p:txBody>
      </p:sp>
      <p:sp>
        <p:nvSpPr>
          <p:cNvPr id="15" name="Text 13"/>
          <p:cNvSpPr/>
          <p:nvPr/>
        </p:nvSpPr>
        <p:spPr>
          <a:xfrm>
            <a:off x="809625" y="2871788"/>
            <a:ext cx="87897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 first name</a:t>
            </a:r>
            <a:endParaRPr lang="en-US" sz="1600" dirty="0"/>
          </a:p>
        </p:txBody>
      </p:sp>
      <p:sp>
        <p:nvSpPr>
          <p:cNvPr id="16" name="Text 14"/>
          <p:cNvSpPr/>
          <p:nvPr/>
        </p:nvSpPr>
        <p:spPr>
          <a:xfrm>
            <a:off x="809625" y="3057525"/>
            <a:ext cx="810816"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 last name</a:t>
            </a:r>
            <a:endParaRPr lang="en-US" sz="1600" dirty="0"/>
          </a:p>
        </p:txBody>
      </p:sp>
      <p:sp>
        <p:nvSpPr>
          <p:cNvPr id="17" name="Text 15"/>
          <p:cNvSpPr/>
          <p:nvPr/>
        </p:nvSpPr>
        <p:spPr>
          <a:xfrm>
            <a:off x="809625" y="3243263"/>
            <a:ext cx="674638"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 address</a:t>
            </a:r>
            <a:endParaRPr lang="en-US" sz="1600" dirty="0"/>
          </a:p>
        </p:txBody>
      </p:sp>
      <p:sp>
        <p:nvSpPr>
          <p:cNvPr id="18" name="Text 16"/>
          <p:cNvSpPr/>
          <p:nvPr/>
        </p:nvSpPr>
        <p:spPr>
          <a:xfrm>
            <a:off x="809625" y="3429000"/>
            <a:ext cx="538609"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 email</a:t>
            </a:r>
            <a:endParaRPr lang="en-US" sz="1600" dirty="0"/>
          </a:p>
        </p:txBody>
      </p:sp>
      <p:sp>
        <p:nvSpPr>
          <p:cNvPr id="19" name="Text 17"/>
          <p:cNvSpPr/>
          <p:nvPr/>
        </p:nvSpPr>
        <p:spPr>
          <a:xfrm>
            <a:off x="809625" y="3614738"/>
            <a:ext cx="1015157" cy="142875"/>
          </a:xfrm>
          <a:prstGeom prst="rect">
            <a:avLst/>
          </a:prstGeom>
          <a:noFill/>
          <a:ln/>
        </p:spPr>
        <p:txBody>
          <a:bodyPr wrap="square" lIns="0" tIns="0" rIns="0" bIns="0" rtlCol="0" anchor="ctr"/>
          <a:lstStyle/>
          <a:p>
            <a:pPr>
              <a:lnSpc>
                <a:spcPct val="130000"/>
              </a:lnSpc>
            </a:pPr>
            <a:r>
              <a:rPr lang="en-US" sz="975" dirty="0">
                <a:solidFill>
                  <a:srgbClr val="10B981"/>
                </a:solidFill>
                <a:latin typeface="MiSans" pitchFamily="34" charset="0"/>
                <a:ea typeface="MiSans" pitchFamily="34" charset="-122"/>
                <a:cs typeface="MiSans" pitchFamily="34" charset="-120"/>
              </a:rPr>
              <a:t>- phone number</a:t>
            </a:r>
            <a:endParaRPr lang="en-US" sz="1600" dirty="0"/>
          </a:p>
        </p:txBody>
      </p:sp>
      <p:sp>
        <p:nvSpPr>
          <p:cNvPr id="20" name="Shape 18"/>
          <p:cNvSpPr/>
          <p:nvPr/>
        </p:nvSpPr>
        <p:spPr>
          <a:xfrm>
            <a:off x="385763" y="4367213"/>
            <a:ext cx="5610225" cy="1685925"/>
          </a:xfrm>
          <a:custGeom>
            <a:avLst/>
            <a:gdLst/>
            <a:ahLst/>
            <a:cxnLst/>
            <a:rect l="l" t="t" r="r" b="b"/>
            <a:pathLst>
              <a:path w="5610225" h="1685925">
                <a:moveTo>
                  <a:pt x="114306" y="0"/>
                </a:moveTo>
                <a:lnTo>
                  <a:pt x="5495919" y="0"/>
                </a:lnTo>
                <a:cubicBezTo>
                  <a:pt x="5559049" y="0"/>
                  <a:pt x="5610225" y="51176"/>
                  <a:pt x="5610225" y="114306"/>
                </a:cubicBezTo>
                <a:lnTo>
                  <a:pt x="5610225" y="1571619"/>
                </a:lnTo>
                <a:cubicBezTo>
                  <a:pt x="5610225" y="1634749"/>
                  <a:pt x="5559049" y="1685925"/>
                  <a:pt x="5495919" y="1685925"/>
                </a:cubicBezTo>
                <a:lnTo>
                  <a:pt x="114306" y="1685925"/>
                </a:lnTo>
                <a:cubicBezTo>
                  <a:pt x="51176" y="1685925"/>
                  <a:pt x="0" y="1634749"/>
                  <a:pt x="0" y="1571619"/>
                </a:cubicBezTo>
                <a:lnTo>
                  <a:pt x="0" y="114306"/>
                </a:lnTo>
                <a:cubicBezTo>
                  <a:pt x="0" y="51176"/>
                  <a:pt x="51176" y="0"/>
                  <a:pt x="114306" y="0"/>
                </a:cubicBezTo>
                <a:close/>
              </a:path>
            </a:pathLst>
          </a:custGeom>
          <a:solidFill>
            <a:srgbClr val="0F172A"/>
          </a:solidFill>
          <a:ln w="12700">
            <a:solidFill>
              <a:srgbClr val="3B82F6">
                <a:alpha val="30196"/>
              </a:srgbClr>
            </a:solidFill>
            <a:prstDash val="solid"/>
          </a:ln>
        </p:spPr>
      </p:sp>
      <p:sp>
        <p:nvSpPr>
          <p:cNvPr id="21" name="Shape 19"/>
          <p:cNvSpPr/>
          <p:nvPr/>
        </p:nvSpPr>
        <p:spPr>
          <a:xfrm>
            <a:off x="588169" y="4572000"/>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3B82F6"/>
          </a:solidFill>
          <a:ln/>
        </p:spPr>
      </p:sp>
      <p:sp>
        <p:nvSpPr>
          <p:cNvPr id="22" name="Text 20"/>
          <p:cNvSpPr/>
          <p:nvPr/>
        </p:nvSpPr>
        <p:spPr>
          <a:xfrm>
            <a:off x="762000" y="4524375"/>
            <a:ext cx="5162550" cy="266700"/>
          </a:xfrm>
          <a:prstGeom prst="rect">
            <a:avLst/>
          </a:prstGeom>
          <a:noFill/>
          <a:ln/>
        </p:spPr>
        <p:txBody>
          <a:bodyPr wrap="square" lIns="0" tIns="0" rIns="0" bIns="0" rtlCol="0" anchor="ctr"/>
          <a:lstStyle/>
          <a:p>
            <a:pPr>
              <a:lnSpc>
                <a:spcPct val="130000"/>
              </a:lnSpc>
            </a:pPr>
            <a:r>
              <a:rPr lang="en-US" sz="1350" b="1" dirty="0">
                <a:solidFill>
                  <a:srgbClr val="3B82F6"/>
                </a:solidFill>
                <a:latin typeface="MiSans" pitchFamily="34" charset="0"/>
                <a:ea typeface="MiSans" pitchFamily="34" charset="-122"/>
                <a:cs typeface="MiSans" pitchFamily="34" charset="-120"/>
              </a:rPr>
              <a:t>Ứng dụng mock data</a:t>
            </a:r>
            <a:endParaRPr lang="en-US" sz="1600" dirty="0"/>
          </a:p>
        </p:txBody>
      </p:sp>
      <p:sp>
        <p:nvSpPr>
          <p:cNvPr id="23" name="Shape 21"/>
          <p:cNvSpPr/>
          <p:nvPr/>
        </p:nvSpPr>
        <p:spPr>
          <a:xfrm>
            <a:off x="570309" y="49434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4" name="Text 22"/>
          <p:cNvSpPr/>
          <p:nvPr/>
        </p:nvSpPr>
        <p:spPr>
          <a:xfrm>
            <a:off x="785813" y="4905375"/>
            <a:ext cx="17621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Kiểm thử với dữ liệu thực tế</a:t>
            </a:r>
            <a:endParaRPr lang="en-US" sz="1600" dirty="0"/>
          </a:p>
        </p:txBody>
      </p:sp>
      <p:sp>
        <p:nvSpPr>
          <p:cNvPr id="25" name="Shape 23"/>
          <p:cNvSpPr/>
          <p:nvPr/>
        </p:nvSpPr>
        <p:spPr>
          <a:xfrm>
            <a:off x="570309" y="52101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6" name="Text 24"/>
          <p:cNvSpPr/>
          <p:nvPr/>
        </p:nvSpPr>
        <p:spPr>
          <a:xfrm>
            <a:off x="785813" y="5172075"/>
            <a:ext cx="20764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Demo sản phẩm cho khách hàng</a:t>
            </a:r>
            <a:endParaRPr lang="en-US" sz="1600" dirty="0"/>
          </a:p>
        </p:txBody>
      </p:sp>
      <p:sp>
        <p:nvSpPr>
          <p:cNvPr id="27" name="Shape 25"/>
          <p:cNvSpPr/>
          <p:nvPr/>
        </p:nvSpPr>
        <p:spPr>
          <a:xfrm>
            <a:off x="570309" y="54768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8" name="Text 26"/>
          <p:cNvSpPr/>
          <p:nvPr/>
        </p:nvSpPr>
        <p:spPr>
          <a:xfrm>
            <a:off x="785813" y="5438775"/>
            <a:ext cx="20574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Phát triển UI/UX trước khi có API</a:t>
            </a:r>
            <a:endParaRPr lang="en-US" sz="1600" dirty="0"/>
          </a:p>
        </p:txBody>
      </p:sp>
      <p:sp>
        <p:nvSpPr>
          <p:cNvPr id="29" name="Shape 27"/>
          <p:cNvSpPr/>
          <p:nvPr/>
        </p:nvSpPr>
        <p:spPr>
          <a:xfrm>
            <a:off x="570309" y="57435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30" name="Text 28"/>
          <p:cNvSpPr/>
          <p:nvPr/>
        </p:nvSpPr>
        <p:spPr>
          <a:xfrm>
            <a:off x="785813" y="5705475"/>
            <a:ext cx="19145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Load testing với nhiều records</a:t>
            </a:r>
            <a:endParaRPr lang="en-US" sz="1600" dirty="0"/>
          </a:p>
        </p:txBody>
      </p:sp>
      <p:sp>
        <p:nvSpPr>
          <p:cNvPr id="31" name="Shape 29"/>
          <p:cNvSpPr/>
          <p:nvPr/>
        </p:nvSpPr>
        <p:spPr>
          <a:xfrm>
            <a:off x="6196013" y="1147763"/>
            <a:ext cx="5610225" cy="4429125"/>
          </a:xfrm>
          <a:custGeom>
            <a:avLst/>
            <a:gdLst/>
            <a:ahLst/>
            <a:cxnLst/>
            <a:rect l="l" t="t" r="r" b="b"/>
            <a:pathLst>
              <a:path w="5610225" h="4429125">
                <a:moveTo>
                  <a:pt x="114316" y="0"/>
                </a:moveTo>
                <a:lnTo>
                  <a:pt x="5495909" y="0"/>
                </a:lnTo>
                <a:cubicBezTo>
                  <a:pt x="5559044" y="0"/>
                  <a:pt x="5610225" y="51181"/>
                  <a:pt x="5610225" y="114316"/>
                </a:cubicBezTo>
                <a:lnTo>
                  <a:pt x="5610225" y="4314809"/>
                </a:lnTo>
                <a:cubicBezTo>
                  <a:pt x="5610225" y="4377944"/>
                  <a:pt x="5559044" y="4429125"/>
                  <a:pt x="5495909" y="4429125"/>
                </a:cubicBezTo>
                <a:lnTo>
                  <a:pt x="114316" y="4429125"/>
                </a:lnTo>
                <a:cubicBezTo>
                  <a:pt x="51181" y="4429125"/>
                  <a:pt x="0" y="4377944"/>
                  <a:pt x="0" y="4314809"/>
                </a:cubicBezTo>
                <a:lnTo>
                  <a:pt x="0" y="114316"/>
                </a:lnTo>
                <a:cubicBezTo>
                  <a:pt x="0" y="51223"/>
                  <a:pt x="51223" y="0"/>
                  <a:pt x="114316"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2" name="Shape 30"/>
          <p:cNvSpPr/>
          <p:nvPr/>
        </p:nvSpPr>
        <p:spPr>
          <a:xfrm>
            <a:off x="641508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10B981"/>
          </a:solidFill>
          <a:ln/>
        </p:spPr>
      </p:sp>
      <p:sp>
        <p:nvSpPr>
          <p:cNvPr id="33" name="Text 31"/>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Kết quả: Bảng dữ liệu mẫu</a:t>
            </a:r>
            <a:endParaRPr lang="en-US" sz="1600" dirty="0"/>
          </a:p>
        </p:txBody>
      </p:sp>
      <p:sp>
        <p:nvSpPr>
          <p:cNvPr id="34" name="Shape 32"/>
          <p:cNvSpPr/>
          <p:nvPr/>
        </p:nvSpPr>
        <p:spPr>
          <a:xfrm>
            <a:off x="6396038" y="1766888"/>
            <a:ext cx="5067300" cy="3609975"/>
          </a:xfrm>
          <a:custGeom>
            <a:avLst/>
            <a:gdLst/>
            <a:ahLst/>
            <a:cxnLst/>
            <a:rect l="l" t="t" r="r" b="b"/>
            <a:pathLst>
              <a:path w="5067300" h="3609975">
                <a:moveTo>
                  <a:pt x="76207" y="0"/>
                </a:moveTo>
                <a:lnTo>
                  <a:pt x="4991093" y="0"/>
                </a:lnTo>
                <a:cubicBezTo>
                  <a:pt x="5033181" y="0"/>
                  <a:pt x="5067300" y="34119"/>
                  <a:pt x="5067300" y="76207"/>
                </a:cubicBezTo>
                <a:lnTo>
                  <a:pt x="5067300" y="3533768"/>
                </a:lnTo>
                <a:cubicBezTo>
                  <a:pt x="5067300" y="3575856"/>
                  <a:pt x="5033181" y="3609975"/>
                  <a:pt x="4991093" y="3609975"/>
                </a:cubicBezTo>
                <a:lnTo>
                  <a:pt x="76207" y="3609975"/>
                </a:lnTo>
                <a:cubicBezTo>
                  <a:pt x="34119" y="3609975"/>
                  <a:pt x="0" y="3575856"/>
                  <a:pt x="0" y="3533768"/>
                </a:cubicBezTo>
                <a:lnTo>
                  <a:pt x="0" y="76207"/>
                </a:lnTo>
                <a:cubicBezTo>
                  <a:pt x="0" y="34119"/>
                  <a:pt x="34119" y="0"/>
                  <a:pt x="76207" y="0"/>
                </a:cubicBezTo>
                <a:close/>
              </a:path>
            </a:pathLst>
          </a:custGeom>
          <a:solidFill>
            <a:srgbClr val="0F172A"/>
          </a:solidFill>
          <a:ln w="12700">
            <a:solidFill>
              <a:srgbClr val="10B981">
                <a:alpha val="30196"/>
              </a:srgbClr>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53200" y="1924050"/>
          <a:ext cx="4752975" cy="3876675"/>
        </p:xfrm>
        <a:graphic>
          <a:graphicData uri="http://schemas.openxmlformats.org/drawingml/2006/table">
            <a:tbl>
              <a:tblPr/>
              <a:tblGrid>
                <a:gridCol w="579863"/>
                <a:gridCol w="1074172"/>
                <a:gridCol w="979113"/>
                <a:gridCol w="2119827"/>
              </a:tblGrid>
              <a:tr h="352425">
                <a:tc>
                  <a:txBody>
                    <a:bodyPr/>
                    <a:lstStyle/>
                    <a:p>
                      <a:pPr algn="l"/>
                      <a:r>
                        <a:rPr lang="en-US" sz="1000" b="1" u="none" dirty="0">
                          <a:solidFill>
                            <a:srgbClr val="10B981"/>
                          </a:solidFill>
                          <a:latin typeface="微软雅黑" pitchFamily="34" charset="0"/>
                          <a:ea typeface="微软雅黑" pitchFamily="34" charset="-122"/>
                          <a:cs typeface="微软雅黑" pitchFamily="34" charset="-120"/>
                        </a:rPr>
                        <a:t>ID</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10B981"/>
                          </a:solidFill>
                          <a:latin typeface="微软雅黑" pitchFamily="34" charset="0"/>
                          <a:ea typeface="微软雅黑" pitchFamily="34" charset="-122"/>
                          <a:cs typeface="微软雅黑" pitchFamily="34" charset="-120"/>
                        </a:rPr>
                        <a:t>First Name</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10B981"/>
                          </a:solidFill>
                          <a:latin typeface="微软雅黑" pitchFamily="34" charset="0"/>
                          <a:ea typeface="微软雅黑" pitchFamily="34" charset="-122"/>
                          <a:cs typeface="微软雅黑" pitchFamily="34" charset="-120"/>
                        </a:rPr>
                        <a:t>Last Name</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10B981"/>
                          </a:solidFill>
                          <a:latin typeface="微软雅黑" pitchFamily="34" charset="0"/>
                          <a:ea typeface="微软雅黑" pitchFamily="34" charset="-122"/>
                          <a:cs typeface="微软雅黑" pitchFamily="34" charset="-120"/>
                        </a:rPr>
                        <a:t>Email</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10001</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John</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Smith</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john.smith@email.com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10002</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Sarah</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Johnson</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sarah.j@email.com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10003</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Michael</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Williams</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m.williams@email.com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10004</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Emily</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Brown</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emily.b@email.com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10005</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David</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Jones</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david.jones@email.com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10006</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Jessica</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Garcia</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jessica.g@email.com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10007</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Christopher</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Miller</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chris.m@email.com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10008</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Amanda</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Davis</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amanda.d@email.com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10009</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Matthew</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Rodriguez</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matt.r@email.com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352425">
                <a:tc>
                  <a:txBody>
                    <a:bodyPr/>
                    <a:lstStyle/>
                    <a:p>
                      <a:r>
                        <a:rPr lang="en-US" sz="1000" u="none" dirty="0">
                          <a:solidFill>
                            <a:srgbClr val="F1F5F9"/>
                          </a:solidFill>
                          <a:latin typeface="微软雅黑" pitchFamily="34" charset="0"/>
                          <a:ea typeface="微软雅黑" pitchFamily="34" charset="-122"/>
                          <a:cs typeface="微软雅黑" pitchFamily="34" charset="-120"/>
                        </a:rPr>
                        <a:t>10010</a:t>
                      </a:r>
                      <a:endParaRPr lang="en-US" sz="1000" dirty="0">
                        <a:latin typeface="微软雅黑" charset="0"/>
                        <a:ea typeface="微软雅黑" charset="0"/>
                        <a:cs typeface="微软雅黑" charset="0"/>
                      </a:endParaRPr>
                    </a:p>
                  </a:txBody>
                  <a:tcPr marL="0" marR="0" marT="76200" marB="762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Jennifer</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Martinez</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r>
                        <a:rPr lang="en-US" sz="1000" u="none" dirty="0">
                          <a:solidFill>
                            <a:srgbClr val="F1F5F9"/>
                          </a:solidFill>
                          <a:latin typeface="微软雅黑" pitchFamily="34" charset="0"/>
                          <a:ea typeface="微软雅黑" pitchFamily="34" charset="-122"/>
                          <a:cs typeface="微软雅黑" pitchFamily="34" charset="-120"/>
                        </a:rPr>
                        <a:t>jen.m@email.com</a:t>
                      </a:r>
                      <a:endParaRPr lang="en-US" sz="1000" dirty="0">
                        <a:latin typeface="微软雅黑" charset="0"/>
                        <a:ea typeface="微软雅黑" charset="0"/>
                        <a:cs typeface="微软雅黑" charset="0"/>
                      </a:endParaRPr>
                    </a:p>
                  </a:txBody>
                  <a:tcPr marL="0" marR="0" marT="0" marB="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bl>
          </a:graphicData>
        </a:graphic>
      </p:graphicFrame>
      <p:sp>
        <p:nvSpPr>
          <p:cNvPr id="36" name="Shape 33"/>
          <p:cNvSpPr/>
          <p:nvPr/>
        </p:nvSpPr>
        <p:spPr>
          <a:xfrm>
            <a:off x="6196013" y="57388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F59E0B">
                  <a:alpha val="10000"/>
                </a:srgbClr>
              </a:gs>
              <a:gs pos="100000">
                <a:srgbClr val="10B981">
                  <a:alpha val="10000"/>
                </a:srgbClr>
              </a:gs>
            </a:gsLst>
            <a:lin ang="0" scaled="1"/>
          </a:gradFill>
          <a:ln w="12700">
            <a:solidFill>
              <a:srgbClr val="F59E0B">
                <a:alpha val="30196"/>
              </a:srgbClr>
            </a:solidFill>
            <a:prstDash val="solid"/>
          </a:ln>
        </p:spPr>
      </p:sp>
      <p:sp>
        <p:nvSpPr>
          <p:cNvPr id="37" name="Shape 34"/>
          <p:cNvSpPr/>
          <p:nvPr/>
        </p:nvSpPr>
        <p:spPr>
          <a:xfrm>
            <a:off x="6362700" y="594360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F59E0B"/>
          </a:solidFill>
          <a:ln/>
        </p:spPr>
      </p:sp>
      <p:sp>
        <p:nvSpPr>
          <p:cNvPr id="38" name="Text 35"/>
          <p:cNvSpPr/>
          <p:nvPr/>
        </p:nvSpPr>
        <p:spPr>
          <a:xfrm>
            <a:off x="6600825" y="58959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Đặc điểm:</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Dữ liệu có cấu trúc hoàn chỉnh, thực tế, có thể sử dụng ngay cho quá trình kiểm thử phần mềm.</a:t>
            </a:r>
            <a:endParaRPr lang="en-US" sz="16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98872" y="561975"/>
            <a:ext cx="150019" cy="171450"/>
          </a:xfrm>
          <a:custGeom>
            <a:avLst/>
            <a:gdLst/>
            <a:ahLst/>
            <a:cxnLst/>
            <a:rect l="l" t="t" r="r" b="b"/>
            <a:pathLst>
              <a:path w="150019" h="171450">
                <a:moveTo>
                  <a:pt x="10716" y="0"/>
                </a:moveTo>
                <a:cubicBezTo>
                  <a:pt x="16643" y="0"/>
                  <a:pt x="21431" y="4789"/>
                  <a:pt x="21431" y="10716"/>
                </a:cubicBezTo>
                <a:lnTo>
                  <a:pt x="21431" y="16073"/>
                </a:lnTo>
                <a:lnTo>
                  <a:pt x="44537" y="10314"/>
                </a:lnTo>
                <a:cubicBezTo>
                  <a:pt x="57295" y="7133"/>
                  <a:pt x="70757" y="8606"/>
                  <a:pt x="82544" y="14500"/>
                </a:cubicBezTo>
                <a:cubicBezTo>
                  <a:pt x="98048" y="22268"/>
                  <a:pt x="116298" y="22268"/>
                  <a:pt x="131802" y="14500"/>
                </a:cubicBezTo>
                <a:lnTo>
                  <a:pt x="135017" y="12892"/>
                </a:lnTo>
                <a:cubicBezTo>
                  <a:pt x="141915" y="9410"/>
                  <a:pt x="150019" y="14433"/>
                  <a:pt x="150019" y="22134"/>
                </a:cubicBezTo>
                <a:lnTo>
                  <a:pt x="150019" y="115796"/>
                </a:lnTo>
                <a:cubicBezTo>
                  <a:pt x="150019" y="120249"/>
                  <a:pt x="147239" y="124268"/>
                  <a:pt x="143054" y="125842"/>
                </a:cubicBezTo>
                <a:lnTo>
                  <a:pt x="131434" y="130195"/>
                </a:lnTo>
                <a:cubicBezTo>
                  <a:pt x="115963" y="135988"/>
                  <a:pt x="98751" y="135084"/>
                  <a:pt x="83984" y="127717"/>
                </a:cubicBezTo>
                <a:cubicBezTo>
                  <a:pt x="71292" y="121354"/>
                  <a:pt x="56726" y="119781"/>
                  <a:pt x="42963" y="123230"/>
                </a:cubicBezTo>
                <a:lnTo>
                  <a:pt x="21431" y="128588"/>
                </a:lnTo>
                <a:lnTo>
                  <a:pt x="21431" y="160734"/>
                </a:lnTo>
                <a:cubicBezTo>
                  <a:pt x="21431" y="166661"/>
                  <a:pt x="16643" y="171450"/>
                  <a:pt x="10716" y="171450"/>
                </a:cubicBezTo>
                <a:cubicBezTo>
                  <a:pt x="4789" y="171450"/>
                  <a:pt x="0" y="166661"/>
                  <a:pt x="0" y="160734"/>
                </a:cubicBezTo>
                <a:lnTo>
                  <a:pt x="0" y="10716"/>
                </a:lnTo>
                <a:cubicBezTo>
                  <a:pt x="0" y="4789"/>
                  <a:pt x="4789" y="0"/>
                  <a:pt x="10716" y="0"/>
                </a:cubicBezTo>
                <a:close/>
                <a:moveTo>
                  <a:pt x="21431" y="62653"/>
                </a:moveTo>
                <a:lnTo>
                  <a:pt x="42863" y="57998"/>
                </a:lnTo>
                <a:lnTo>
                  <a:pt x="42863" y="79932"/>
                </a:lnTo>
                <a:lnTo>
                  <a:pt x="21431" y="84586"/>
                </a:lnTo>
                <a:lnTo>
                  <a:pt x="21431" y="106520"/>
                </a:lnTo>
                <a:lnTo>
                  <a:pt x="37773" y="102435"/>
                </a:lnTo>
                <a:cubicBezTo>
                  <a:pt x="39480" y="101999"/>
                  <a:pt x="41155" y="101631"/>
                  <a:pt x="42863" y="101330"/>
                </a:cubicBezTo>
                <a:lnTo>
                  <a:pt x="42863" y="79932"/>
                </a:lnTo>
                <a:lnTo>
                  <a:pt x="55889" y="77119"/>
                </a:lnTo>
                <a:cubicBezTo>
                  <a:pt x="58668" y="76516"/>
                  <a:pt x="61481" y="76282"/>
                  <a:pt x="64294" y="76416"/>
                </a:cubicBezTo>
                <a:lnTo>
                  <a:pt x="64294" y="54985"/>
                </a:lnTo>
                <a:cubicBezTo>
                  <a:pt x="68848" y="55118"/>
                  <a:pt x="73402" y="55855"/>
                  <a:pt x="77822" y="57128"/>
                </a:cubicBezTo>
                <a:lnTo>
                  <a:pt x="85725" y="59438"/>
                </a:lnTo>
                <a:lnTo>
                  <a:pt x="85725" y="81774"/>
                </a:lnTo>
                <a:lnTo>
                  <a:pt x="71761" y="77655"/>
                </a:lnTo>
                <a:cubicBezTo>
                  <a:pt x="69317" y="76952"/>
                  <a:pt x="66805" y="76516"/>
                  <a:pt x="64294" y="76382"/>
                </a:cubicBezTo>
                <a:lnTo>
                  <a:pt x="64294" y="100292"/>
                </a:lnTo>
                <a:cubicBezTo>
                  <a:pt x="71594" y="100928"/>
                  <a:pt x="78793" y="102535"/>
                  <a:pt x="85725" y="105114"/>
                </a:cubicBezTo>
                <a:lnTo>
                  <a:pt x="85725" y="81740"/>
                </a:lnTo>
                <a:lnTo>
                  <a:pt x="93326" y="83984"/>
                </a:lnTo>
                <a:cubicBezTo>
                  <a:pt x="97847" y="85323"/>
                  <a:pt x="102468" y="86127"/>
                  <a:pt x="107156" y="86462"/>
                </a:cubicBezTo>
                <a:lnTo>
                  <a:pt x="107156" y="64963"/>
                </a:lnTo>
                <a:cubicBezTo>
                  <a:pt x="104544" y="64696"/>
                  <a:pt x="101932" y="64193"/>
                  <a:pt x="99387" y="63457"/>
                </a:cubicBezTo>
                <a:lnTo>
                  <a:pt x="85725" y="59438"/>
                </a:lnTo>
                <a:lnTo>
                  <a:pt x="85725" y="38677"/>
                </a:lnTo>
                <a:cubicBezTo>
                  <a:pt x="81372" y="37404"/>
                  <a:pt x="77086" y="35730"/>
                  <a:pt x="72933" y="33654"/>
                </a:cubicBezTo>
                <a:cubicBezTo>
                  <a:pt x="70187" y="32281"/>
                  <a:pt x="67274" y="31310"/>
                  <a:pt x="64294" y="30707"/>
                </a:cubicBezTo>
                <a:lnTo>
                  <a:pt x="64294" y="54951"/>
                </a:lnTo>
                <a:cubicBezTo>
                  <a:pt x="59941" y="54817"/>
                  <a:pt x="55587" y="55219"/>
                  <a:pt x="51335" y="56157"/>
                </a:cubicBezTo>
                <a:lnTo>
                  <a:pt x="42863" y="57998"/>
                </a:lnTo>
                <a:lnTo>
                  <a:pt x="42863" y="32817"/>
                </a:lnTo>
                <a:lnTo>
                  <a:pt x="21431" y="38174"/>
                </a:lnTo>
                <a:lnTo>
                  <a:pt x="21431" y="62653"/>
                </a:lnTo>
                <a:close/>
                <a:moveTo>
                  <a:pt x="107156" y="112414"/>
                </a:moveTo>
                <a:cubicBezTo>
                  <a:pt x="112782" y="112916"/>
                  <a:pt x="118508" y="112179"/>
                  <a:pt x="123899" y="110137"/>
                </a:cubicBezTo>
                <a:lnTo>
                  <a:pt x="128588" y="108395"/>
                </a:lnTo>
                <a:lnTo>
                  <a:pt x="128588" y="84386"/>
                </a:lnTo>
                <a:lnTo>
                  <a:pt x="125942" y="84988"/>
                </a:lnTo>
                <a:cubicBezTo>
                  <a:pt x="119781" y="86428"/>
                  <a:pt x="113452" y="86897"/>
                  <a:pt x="107156" y="86495"/>
                </a:cubicBezTo>
                <a:lnTo>
                  <a:pt x="107156" y="112414"/>
                </a:lnTo>
                <a:close/>
                <a:moveTo>
                  <a:pt x="128588" y="62385"/>
                </a:moveTo>
                <a:lnTo>
                  <a:pt x="128588" y="38677"/>
                </a:lnTo>
                <a:cubicBezTo>
                  <a:pt x="121589" y="40719"/>
                  <a:pt x="114389" y="41724"/>
                  <a:pt x="107156" y="41724"/>
                </a:cubicBezTo>
                <a:lnTo>
                  <a:pt x="107156" y="64963"/>
                </a:lnTo>
                <a:cubicBezTo>
                  <a:pt x="111811" y="65432"/>
                  <a:pt x="116532" y="65131"/>
                  <a:pt x="121120" y="64093"/>
                </a:cubicBezTo>
                <a:lnTo>
                  <a:pt x="128588" y="62352"/>
                </a:lnTo>
                <a:close/>
              </a:path>
            </a:pathLst>
          </a:custGeom>
          <a:solidFill>
            <a:srgbClr val="FFFFFF"/>
          </a:solidFill>
          <a:ln/>
        </p:spPr>
      </p:sp>
      <p:sp>
        <p:nvSpPr>
          <p:cNvPr id="4" name="Text 2"/>
          <p:cNvSpPr/>
          <p:nvPr/>
        </p:nvSpPr>
        <p:spPr>
          <a:xfrm>
            <a:off x="876300" y="381000"/>
            <a:ext cx="5248275"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13 | KẾT LUẬN</a:t>
            </a:r>
            <a:endParaRPr lang="en-US" sz="1600" dirty="0"/>
          </a:p>
        </p:txBody>
      </p:sp>
      <p:sp>
        <p:nvSpPr>
          <p:cNvPr id="5" name="Text 3"/>
          <p:cNvSpPr/>
          <p:nvPr/>
        </p:nvSpPr>
        <p:spPr>
          <a:xfrm>
            <a:off x="876300" y="571500"/>
            <a:ext cx="53244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Kết luận: GenAI như một trợ lý kiểm thử</a:t>
            </a:r>
            <a:endParaRPr lang="en-US" sz="1600" dirty="0"/>
          </a:p>
        </p:txBody>
      </p:sp>
      <p:sp>
        <p:nvSpPr>
          <p:cNvPr id="6" name="Shape 4"/>
          <p:cNvSpPr/>
          <p:nvPr/>
        </p:nvSpPr>
        <p:spPr>
          <a:xfrm>
            <a:off x="385763" y="1147763"/>
            <a:ext cx="2733675" cy="1609725"/>
          </a:xfrm>
          <a:custGeom>
            <a:avLst/>
            <a:gdLst/>
            <a:ahLst/>
            <a:cxnLst/>
            <a:rect l="l" t="t" r="r" b="b"/>
            <a:pathLst>
              <a:path w="2733675" h="1609725">
                <a:moveTo>
                  <a:pt x="114307" y="0"/>
                </a:moveTo>
                <a:lnTo>
                  <a:pt x="2619368" y="0"/>
                </a:lnTo>
                <a:cubicBezTo>
                  <a:pt x="2682456" y="0"/>
                  <a:pt x="2733675" y="51219"/>
                  <a:pt x="2733675" y="114307"/>
                </a:cubicBezTo>
                <a:lnTo>
                  <a:pt x="2733675" y="1495418"/>
                </a:lnTo>
                <a:cubicBezTo>
                  <a:pt x="2733675" y="1558506"/>
                  <a:pt x="2682456" y="1609725"/>
                  <a:pt x="2619368" y="1609725"/>
                </a:cubicBezTo>
                <a:lnTo>
                  <a:pt x="114307" y="1609725"/>
                </a:lnTo>
                <a:cubicBezTo>
                  <a:pt x="51219" y="1609725"/>
                  <a:pt x="0" y="1558506"/>
                  <a:pt x="0" y="1495418"/>
                </a:cubicBezTo>
                <a:lnTo>
                  <a:pt x="0" y="114307"/>
                </a:lnTo>
                <a:cubicBezTo>
                  <a:pt x="0" y="51219"/>
                  <a:pt x="51219" y="0"/>
                  <a:pt x="114307"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42925" y="13049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8" name="Shape 6"/>
          <p:cNvSpPr/>
          <p:nvPr/>
        </p:nvSpPr>
        <p:spPr>
          <a:xfrm>
            <a:off x="676275" y="1438275"/>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0" y="44648"/>
                </a:moveTo>
                <a:lnTo>
                  <a:pt x="86320" y="95250"/>
                </a:lnTo>
                <a:cubicBezTo>
                  <a:pt x="86320" y="98227"/>
                  <a:pt x="87809" y="101017"/>
                  <a:pt x="90301" y="102691"/>
                </a:cubicBezTo>
                <a:lnTo>
                  <a:pt x="126020" y="126504"/>
                </a:lnTo>
                <a:cubicBezTo>
                  <a:pt x="130113" y="129257"/>
                  <a:pt x="135657" y="128141"/>
                  <a:pt x="138410" y="124011"/>
                </a:cubicBezTo>
                <a:cubicBezTo>
                  <a:pt x="141163" y="119881"/>
                  <a:pt x="140047" y="114374"/>
                  <a:pt x="135917" y="111621"/>
                </a:cubicBezTo>
                <a:lnTo>
                  <a:pt x="104180" y="90488"/>
                </a:lnTo>
                <a:lnTo>
                  <a:pt x="104180" y="44648"/>
                </a:lnTo>
                <a:cubicBezTo>
                  <a:pt x="104180" y="39700"/>
                  <a:pt x="100199" y="35719"/>
                  <a:pt x="95250" y="35719"/>
                </a:cubicBezTo>
                <a:cubicBezTo>
                  <a:pt x="90301" y="35719"/>
                  <a:pt x="86320" y="39700"/>
                  <a:pt x="86320" y="44648"/>
                </a:cubicBezTo>
                <a:close/>
              </a:path>
            </a:pathLst>
          </a:custGeom>
          <a:solidFill>
            <a:srgbClr val="FFFFFF"/>
          </a:solidFill>
          <a:ln/>
        </p:spPr>
      </p:sp>
      <p:sp>
        <p:nvSpPr>
          <p:cNvPr id="9" name="Text 7"/>
          <p:cNvSpPr/>
          <p:nvPr/>
        </p:nvSpPr>
        <p:spPr>
          <a:xfrm>
            <a:off x="542925" y="1876425"/>
            <a:ext cx="25050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Giải quyết rào cản thờigian</a:t>
            </a:r>
            <a:endParaRPr lang="en-US" sz="1600" dirty="0"/>
          </a:p>
        </p:txBody>
      </p:sp>
      <p:sp>
        <p:nvSpPr>
          <p:cNvPr id="10" name="Text 8"/>
          <p:cNvSpPr/>
          <p:nvPr/>
        </p:nvSpPr>
        <p:spPr>
          <a:xfrm>
            <a:off x="542925" y="2219325"/>
            <a:ext cx="24860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Tự động hóa việc viết Unit Test, tiết kiệm 60-70% thờigian</a:t>
            </a:r>
            <a:endParaRPr lang="en-US" sz="1600" dirty="0"/>
          </a:p>
        </p:txBody>
      </p:sp>
      <p:sp>
        <p:nvSpPr>
          <p:cNvPr id="11" name="Shape 9"/>
          <p:cNvSpPr/>
          <p:nvPr/>
        </p:nvSpPr>
        <p:spPr>
          <a:xfrm>
            <a:off x="3281363" y="1147763"/>
            <a:ext cx="2733675" cy="1609725"/>
          </a:xfrm>
          <a:custGeom>
            <a:avLst/>
            <a:gdLst/>
            <a:ahLst/>
            <a:cxnLst/>
            <a:rect l="l" t="t" r="r" b="b"/>
            <a:pathLst>
              <a:path w="2733675" h="1609725">
                <a:moveTo>
                  <a:pt x="114307" y="0"/>
                </a:moveTo>
                <a:lnTo>
                  <a:pt x="2619368" y="0"/>
                </a:lnTo>
                <a:cubicBezTo>
                  <a:pt x="2682456" y="0"/>
                  <a:pt x="2733675" y="51219"/>
                  <a:pt x="2733675" y="114307"/>
                </a:cubicBezTo>
                <a:lnTo>
                  <a:pt x="2733675" y="1495418"/>
                </a:lnTo>
                <a:cubicBezTo>
                  <a:pt x="2733675" y="1558506"/>
                  <a:pt x="2682456" y="1609725"/>
                  <a:pt x="2619368" y="1609725"/>
                </a:cubicBezTo>
                <a:lnTo>
                  <a:pt x="114307" y="1609725"/>
                </a:lnTo>
                <a:cubicBezTo>
                  <a:pt x="51219" y="1609725"/>
                  <a:pt x="0" y="1558506"/>
                  <a:pt x="0" y="1495418"/>
                </a:cubicBezTo>
                <a:lnTo>
                  <a:pt x="0" y="114307"/>
                </a:lnTo>
                <a:cubicBezTo>
                  <a:pt x="0" y="51219"/>
                  <a:pt x="51219" y="0"/>
                  <a:pt x="114307"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12" name="Shape 10"/>
          <p:cNvSpPr/>
          <p:nvPr/>
        </p:nvSpPr>
        <p:spPr>
          <a:xfrm>
            <a:off x="3438525" y="13049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13" name="Shape 11"/>
          <p:cNvSpPr/>
          <p:nvPr/>
        </p:nvSpPr>
        <p:spPr>
          <a:xfrm>
            <a:off x="3583781" y="1438275"/>
            <a:ext cx="166688" cy="190500"/>
          </a:xfrm>
          <a:custGeom>
            <a:avLst/>
            <a:gdLst/>
            <a:ahLst/>
            <a:cxnLst/>
            <a:rect l="l" t="t" r="r" b="b"/>
            <a:pathLst>
              <a:path w="166688" h="190500">
                <a:moveTo>
                  <a:pt x="62508" y="11906"/>
                </a:moveTo>
                <a:lnTo>
                  <a:pt x="8930" y="11906"/>
                </a:lnTo>
                <a:cubicBezTo>
                  <a:pt x="3981" y="11906"/>
                  <a:pt x="0" y="15887"/>
                  <a:pt x="0" y="20836"/>
                </a:cubicBezTo>
                <a:lnTo>
                  <a:pt x="0" y="74414"/>
                </a:lnTo>
                <a:cubicBezTo>
                  <a:pt x="0" y="78023"/>
                  <a:pt x="2158" y="81297"/>
                  <a:pt x="5507" y="82674"/>
                </a:cubicBezTo>
                <a:cubicBezTo>
                  <a:pt x="8855" y="84051"/>
                  <a:pt x="12688" y="83269"/>
                  <a:pt x="15255" y="80739"/>
                </a:cubicBezTo>
                <a:lnTo>
                  <a:pt x="30138" y="65856"/>
                </a:lnTo>
                <a:lnTo>
                  <a:pt x="59531" y="95250"/>
                </a:lnTo>
                <a:lnTo>
                  <a:pt x="30138" y="124644"/>
                </a:lnTo>
                <a:lnTo>
                  <a:pt x="15255" y="109761"/>
                </a:lnTo>
                <a:cubicBezTo>
                  <a:pt x="12688" y="107193"/>
                  <a:pt x="8855" y="106449"/>
                  <a:pt x="5507" y="107826"/>
                </a:cubicBezTo>
                <a:cubicBezTo>
                  <a:pt x="2158" y="109203"/>
                  <a:pt x="0" y="112477"/>
                  <a:pt x="0" y="116086"/>
                </a:cubicBezTo>
                <a:lnTo>
                  <a:pt x="0" y="169664"/>
                </a:lnTo>
                <a:cubicBezTo>
                  <a:pt x="0" y="174613"/>
                  <a:pt x="3981" y="178594"/>
                  <a:pt x="8930" y="178594"/>
                </a:cubicBezTo>
                <a:lnTo>
                  <a:pt x="62508" y="178594"/>
                </a:lnTo>
                <a:cubicBezTo>
                  <a:pt x="66117" y="178594"/>
                  <a:pt x="69391" y="176436"/>
                  <a:pt x="70768" y="173087"/>
                </a:cubicBezTo>
                <a:cubicBezTo>
                  <a:pt x="72144" y="169738"/>
                  <a:pt x="71400" y="165906"/>
                  <a:pt x="68833" y="163339"/>
                </a:cubicBezTo>
                <a:lnTo>
                  <a:pt x="53950" y="148456"/>
                </a:lnTo>
                <a:lnTo>
                  <a:pt x="83344" y="119063"/>
                </a:lnTo>
                <a:lnTo>
                  <a:pt x="112737" y="148456"/>
                </a:lnTo>
                <a:lnTo>
                  <a:pt x="97854" y="163339"/>
                </a:lnTo>
                <a:cubicBezTo>
                  <a:pt x="95287" y="165906"/>
                  <a:pt x="94543" y="169738"/>
                  <a:pt x="95920" y="173087"/>
                </a:cubicBezTo>
                <a:cubicBezTo>
                  <a:pt x="97296" y="176436"/>
                  <a:pt x="100571" y="178594"/>
                  <a:pt x="104180" y="178594"/>
                </a:cubicBezTo>
                <a:lnTo>
                  <a:pt x="157758" y="178594"/>
                </a:lnTo>
                <a:cubicBezTo>
                  <a:pt x="162706" y="178594"/>
                  <a:pt x="166688" y="174613"/>
                  <a:pt x="166688" y="169664"/>
                </a:cubicBezTo>
                <a:lnTo>
                  <a:pt x="166688" y="116086"/>
                </a:lnTo>
                <a:cubicBezTo>
                  <a:pt x="166688" y="112477"/>
                  <a:pt x="164529" y="109203"/>
                  <a:pt x="161181" y="107826"/>
                </a:cubicBezTo>
                <a:cubicBezTo>
                  <a:pt x="157832" y="106449"/>
                  <a:pt x="154000" y="107193"/>
                  <a:pt x="151433" y="109761"/>
                </a:cubicBezTo>
                <a:lnTo>
                  <a:pt x="136550" y="124644"/>
                </a:lnTo>
                <a:lnTo>
                  <a:pt x="107156" y="95250"/>
                </a:lnTo>
                <a:lnTo>
                  <a:pt x="136550" y="65856"/>
                </a:lnTo>
                <a:lnTo>
                  <a:pt x="151433" y="80739"/>
                </a:lnTo>
                <a:cubicBezTo>
                  <a:pt x="154000" y="83307"/>
                  <a:pt x="157832" y="84051"/>
                  <a:pt x="161181" y="82674"/>
                </a:cubicBezTo>
                <a:cubicBezTo>
                  <a:pt x="164529" y="81297"/>
                  <a:pt x="166688" y="78023"/>
                  <a:pt x="166688" y="74414"/>
                </a:cubicBezTo>
                <a:lnTo>
                  <a:pt x="166688" y="20836"/>
                </a:lnTo>
                <a:cubicBezTo>
                  <a:pt x="166688" y="15887"/>
                  <a:pt x="162706" y="11906"/>
                  <a:pt x="157758" y="11906"/>
                </a:cubicBezTo>
                <a:lnTo>
                  <a:pt x="104180" y="11906"/>
                </a:lnTo>
                <a:cubicBezTo>
                  <a:pt x="100571" y="11906"/>
                  <a:pt x="97296" y="14064"/>
                  <a:pt x="95920" y="17413"/>
                </a:cubicBezTo>
                <a:cubicBezTo>
                  <a:pt x="94543" y="20762"/>
                  <a:pt x="95324" y="24594"/>
                  <a:pt x="97854" y="27161"/>
                </a:cubicBezTo>
                <a:lnTo>
                  <a:pt x="112737" y="42044"/>
                </a:lnTo>
                <a:lnTo>
                  <a:pt x="83344" y="71438"/>
                </a:lnTo>
                <a:lnTo>
                  <a:pt x="53950" y="42044"/>
                </a:lnTo>
                <a:lnTo>
                  <a:pt x="68833" y="27161"/>
                </a:lnTo>
                <a:cubicBezTo>
                  <a:pt x="71400" y="24594"/>
                  <a:pt x="72144" y="20762"/>
                  <a:pt x="70768" y="17413"/>
                </a:cubicBezTo>
                <a:cubicBezTo>
                  <a:pt x="69391" y="14064"/>
                  <a:pt x="66117" y="11906"/>
                  <a:pt x="62508" y="11906"/>
                </a:cubicBezTo>
                <a:close/>
              </a:path>
            </a:pathLst>
          </a:custGeom>
          <a:solidFill>
            <a:srgbClr val="FFFFFF"/>
          </a:solidFill>
          <a:ln/>
        </p:spPr>
      </p:sp>
      <p:sp>
        <p:nvSpPr>
          <p:cNvPr id="14" name="Text 12"/>
          <p:cNvSpPr/>
          <p:nvPr/>
        </p:nvSpPr>
        <p:spPr>
          <a:xfrm>
            <a:off x="3438525" y="1876425"/>
            <a:ext cx="25050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Mở rộng độ bao phủ</a:t>
            </a:r>
            <a:endParaRPr lang="en-US" sz="1600" dirty="0"/>
          </a:p>
        </p:txBody>
      </p:sp>
      <p:sp>
        <p:nvSpPr>
          <p:cNvPr id="15" name="Text 13"/>
          <p:cNvSpPr/>
          <p:nvPr/>
        </p:nvSpPr>
        <p:spPr>
          <a:xfrm>
            <a:off x="3438525" y="2219325"/>
            <a:ext cx="24860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Tự động thêm edge cases, tăng coverage rate</a:t>
            </a:r>
            <a:endParaRPr lang="en-US" sz="1600" dirty="0"/>
          </a:p>
        </p:txBody>
      </p:sp>
      <p:sp>
        <p:nvSpPr>
          <p:cNvPr id="16" name="Shape 14"/>
          <p:cNvSpPr/>
          <p:nvPr/>
        </p:nvSpPr>
        <p:spPr>
          <a:xfrm>
            <a:off x="6176963" y="1147763"/>
            <a:ext cx="2733675" cy="1609725"/>
          </a:xfrm>
          <a:custGeom>
            <a:avLst/>
            <a:gdLst/>
            <a:ahLst/>
            <a:cxnLst/>
            <a:rect l="l" t="t" r="r" b="b"/>
            <a:pathLst>
              <a:path w="2733675" h="1609725">
                <a:moveTo>
                  <a:pt x="114307" y="0"/>
                </a:moveTo>
                <a:lnTo>
                  <a:pt x="2619368" y="0"/>
                </a:lnTo>
                <a:cubicBezTo>
                  <a:pt x="2682456" y="0"/>
                  <a:pt x="2733675" y="51219"/>
                  <a:pt x="2733675" y="114307"/>
                </a:cubicBezTo>
                <a:lnTo>
                  <a:pt x="2733675" y="1495418"/>
                </a:lnTo>
                <a:cubicBezTo>
                  <a:pt x="2733675" y="1558506"/>
                  <a:pt x="2682456" y="1609725"/>
                  <a:pt x="2619368" y="1609725"/>
                </a:cubicBezTo>
                <a:lnTo>
                  <a:pt x="114307" y="1609725"/>
                </a:lnTo>
                <a:cubicBezTo>
                  <a:pt x="51219" y="1609725"/>
                  <a:pt x="0" y="1558506"/>
                  <a:pt x="0" y="1495418"/>
                </a:cubicBezTo>
                <a:lnTo>
                  <a:pt x="0" y="114307"/>
                </a:lnTo>
                <a:cubicBezTo>
                  <a:pt x="0" y="51219"/>
                  <a:pt x="51219" y="0"/>
                  <a:pt x="114307"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17" name="Shape 15"/>
          <p:cNvSpPr/>
          <p:nvPr/>
        </p:nvSpPr>
        <p:spPr>
          <a:xfrm>
            <a:off x="6334125" y="13049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18" name="Shape 16"/>
          <p:cNvSpPr/>
          <p:nvPr/>
        </p:nvSpPr>
        <p:spPr>
          <a:xfrm>
            <a:off x="6467475" y="1438275"/>
            <a:ext cx="190500" cy="190500"/>
          </a:xfrm>
          <a:custGeom>
            <a:avLst/>
            <a:gdLst/>
            <a:ahLst/>
            <a:cxnLst/>
            <a:rect l="l" t="t" r="r" b="b"/>
            <a:pathLst>
              <a:path w="190500" h="190500">
                <a:moveTo>
                  <a:pt x="162483" y="27794"/>
                </a:moveTo>
                <a:lnTo>
                  <a:pt x="166688" y="31775"/>
                </a:lnTo>
                <a:lnTo>
                  <a:pt x="166688" y="11906"/>
                </a:lnTo>
                <a:cubicBezTo>
                  <a:pt x="166688" y="5321"/>
                  <a:pt x="172008" y="0"/>
                  <a:pt x="178594" y="0"/>
                </a:cubicBezTo>
                <a:cubicBezTo>
                  <a:pt x="185179" y="0"/>
                  <a:pt x="190500" y="5321"/>
                  <a:pt x="190500" y="11906"/>
                </a:cubicBezTo>
                <a:lnTo>
                  <a:pt x="190500" y="59531"/>
                </a:lnTo>
                <a:cubicBezTo>
                  <a:pt x="190500" y="66117"/>
                  <a:pt x="185179" y="71438"/>
                  <a:pt x="178594" y="71438"/>
                </a:cubicBezTo>
                <a:lnTo>
                  <a:pt x="130969" y="71438"/>
                </a:lnTo>
                <a:cubicBezTo>
                  <a:pt x="124383" y="71438"/>
                  <a:pt x="119063" y="66117"/>
                  <a:pt x="119063" y="59531"/>
                </a:cubicBezTo>
                <a:cubicBezTo>
                  <a:pt x="119063" y="52946"/>
                  <a:pt x="124383" y="47625"/>
                  <a:pt x="130969" y="47625"/>
                </a:cubicBezTo>
                <a:lnTo>
                  <a:pt x="148791" y="47625"/>
                </a:lnTo>
                <a:lnTo>
                  <a:pt x="145963" y="44946"/>
                </a:lnTo>
                <a:cubicBezTo>
                  <a:pt x="145889" y="44872"/>
                  <a:pt x="145814" y="44797"/>
                  <a:pt x="145740" y="44723"/>
                </a:cubicBezTo>
                <a:cubicBezTo>
                  <a:pt x="117835" y="16818"/>
                  <a:pt x="72628" y="16818"/>
                  <a:pt x="44723" y="44723"/>
                </a:cubicBezTo>
                <a:cubicBezTo>
                  <a:pt x="16818" y="72628"/>
                  <a:pt x="16818" y="117835"/>
                  <a:pt x="44723" y="145740"/>
                </a:cubicBezTo>
                <a:cubicBezTo>
                  <a:pt x="72628" y="173645"/>
                  <a:pt x="117835" y="173645"/>
                  <a:pt x="145740" y="145740"/>
                </a:cubicBezTo>
                <a:cubicBezTo>
                  <a:pt x="148791" y="142689"/>
                  <a:pt x="151507" y="139452"/>
                  <a:pt x="153888" y="136029"/>
                </a:cubicBezTo>
                <a:cubicBezTo>
                  <a:pt x="157646" y="130634"/>
                  <a:pt x="165088" y="129332"/>
                  <a:pt x="170483" y="133090"/>
                </a:cubicBezTo>
                <a:cubicBezTo>
                  <a:pt x="175878" y="136847"/>
                  <a:pt x="177180" y="144289"/>
                  <a:pt x="173422" y="149684"/>
                </a:cubicBezTo>
                <a:cubicBezTo>
                  <a:pt x="170259" y="154223"/>
                  <a:pt x="166650" y="158539"/>
                  <a:pt x="162595" y="162595"/>
                </a:cubicBezTo>
                <a:cubicBezTo>
                  <a:pt x="125388" y="199802"/>
                  <a:pt x="65075" y="199802"/>
                  <a:pt x="27905" y="162595"/>
                </a:cubicBezTo>
                <a:cubicBezTo>
                  <a:pt x="-9265" y="125388"/>
                  <a:pt x="-9302" y="65112"/>
                  <a:pt x="27905" y="27905"/>
                </a:cubicBezTo>
                <a:cubicBezTo>
                  <a:pt x="65075" y="-9265"/>
                  <a:pt x="125276" y="-9302"/>
                  <a:pt x="162483" y="27794"/>
                </a:cubicBezTo>
                <a:close/>
              </a:path>
            </a:pathLst>
          </a:custGeom>
          <a:solidFill>
            <a:srgbClr val="FFFFFF"/>
          </a:solidFill>
          <a:ln/>
        </p:spPr>
      </p:sp>
      <p:sp>
        <p:nvSpPr>
          <p:cNvPr id="19" name="Text 17"/>
          <p:cNvSpPr/>
          <p:nvPr/>
        </p:nvSpPr>
        <p:spPr>
          <a:xfrm>
            <a:off x="6334125" y="1876425"/>
            <a:ext cx="25050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Biến TDD thành hiện thực</a:t>
            </a:r>
            <a:endParaRPr lang="en-US" sz="1600" dirty="0"/>
          </a:p>
        </p:txBody>
      </p:sp>
      <p:sp>
        <p:nvSpPr>
          <p:cNvPr id="20" name="Text 18"/>
          <p:cNvSpPr/>
          <p:nvPr/>
        </p:nvSpPr>
        <p:spPr>
          <a:xfrm>
            <a:off x="6334125" y="2219325"/>
            <a:ext cx="24860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Tự động đọc lỗi và sửa code theo test</a:t>
            </a:r>
            <a:endParaRPr lang="en-US" sz="1600" dirty="0"/>
          </a:p>
        </p:txBody>
      </p:sp>
      <p:sp>
        <p:nvSpPr>
          <p:cNvPr id="21" name="Shape 19"/>
          <p:cNvSpPr/>
          <p:nvPr/>
        </p:nvSpPr>
        <p:spPr>
          <a:xfrm>
            <a:off x="9072563" y="1147763"/>
            <a:ext cx="2733675" cy="1609725"/>
          </a:xfrm>
          <a:custGeom>
            <a:avLst/>
            <a:gdLst/>
            <a:ahLst/>
            <a:cxnLst/>
            <a:rect l="l" t="t" r="r" b="b"/>
            <a:pathLst>
              <a:path w="2733675" h="1609725">
                <a:moveTo>
                  <a:pt x="114307" y="0"/>
                </a:moveTo>
                <a:lnTo>
                  <a:pt x="2619368" y="0"/>
                </a:lnTo>
                <a:cubicBezTo>
                  <a:pt x="2682456" y="0"/>
                  <a:pt x="2733675" y="51219"/>
                  <a:pt x="2733675" y="114307"/>
                </a:cubicBezTo>
                <a:lnTo>
                  <a:pt x="2733675" y="1495418"/>
                </a:lnTo>
                <a:cubicBezTo>
                  <a:pt x="2733675" y="1558506"/>
                  <a:pt x="2682456" y="1609725"/>
                  <a:pt x="2619368" y="1609725"/>
                </a:cubicBezTo>
                <a:lnTo>
                  <a:pt x="114307" y="1609725"/>
                </a:lnTo>
                <a:cubicBezTo>
                  <a:pt x="51219" y="1609725"/>
                  <a:pt x="0" y="1558506"/>
                  <a:pt x="0" y="1495418"/>
                </a:cubicBezTo>
                <a:lnTo>
                  <a:pt x="0" y="114307"/>
                </a:lnTo>
                <a:cubicBezTo>
                  <a:pt x="0" y="51219"/>
                  <a:pt x="51219" y="0"/>
                  <a:pt x="114307"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22" name="Shape 20"/>
          <p:cNvSpPr/>
          <p:nvPr/>
        </p:nvSpPr>
        <p:spPr>
          <a:xfrm>
            <a:off x="9229725" y="13049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F59E0B"/>
          </a:solidFill>
          <a:ln/>
        </p:spPr>
      </p:sp>
      <p:sp>
        <p:nvSpPr>
          <p:cNvPr id="23" name="Shape 21"/>
          <p:cNvSpPr/>
          <p:nvPr/>
        </p:nvSpPr>
        <p:spPr>
          <a:xfrm>
            <a:off x="9374981" y="1438275"/>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a:ln/>
        </p:spPr>
      </p:sp>
      <p:sp>
        <p:nvSpPr>
          <p:cNvPr id="24" name="Text 22"/>
          <p:cNvSpPr/>
          <p:nvPr/>
        </p:nvSpPr>
        <p:spPr>
          <a:xfrm>
            <a:off x="9229725" y="1876425"/>
            <a:ext cx="25050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Sinh mock data nhanh chóng</a:t>
            </a:r>
            <a:endParaRPr lang="en-US" sz="1600" dirty="0"/>
          </a:p>
        </p:txBody>
      </p:sp>
      <p:sp>
        <p:nvSpPr>
          <p:cNvPr id="25" name="Text 23"/>
          <p:cNvSpPr/>
          <p:nvPr/>
        </p:nvSpPr>
        <p:spPr>
          <a:xfrm>
            <a:off x="9229725" y="2219325"/>
            <a:ext cx="24860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Tạo dữ liệu test chân thực, đa dạng</a:t>
            </a:r>
            <a:endParaRPr lang="en-US" sz="1600" dirty="0"/>
          </a:p>
        </p:txBody>
      </p:sp>
      <p:sp>
        <p:nvSpPr>
          <p:cNvPr id="26" name="Shape 24"/>
          <p:cNvSpPr/>
          <p:nvPr/>
        </p:nvSpPr>
        <p:spPr>
          <a:xfrm>
            <a:off x="385763" y="2919413"/>
            <a:ext cx="11420475" cy="2295525"/>
          </a:xfrm>
          <a:custGeom>
            <a:avLst/>
            <a:gdLst/>
            <a:ahLst/>
            <a:cxnLst/>
            <a:rect l="l" t="t" r="r" b="b"/>
            <a:pathLst>
              <a:path w="11420475" h="2295525">
                <a:moveTo>
                  <a:pt x="114294" y="0"/>
                </a:moveTo>
                <a:lnTo>
                  <a:pt x="11306181" y="0"/>
                </a:lnTo>
                <a:cubicBezTo>
                  <a:pt x="11369304" y="0"/>
                  <a:pt x="11420475" y="51171"/>
                  <a:pt x="11420475" y="114294"/>
                </a:cubicBezTo>
                <a:lnTo>
                  <a:pt x="11420475" y="2181231"/>
                </a:lnTo>
                <a:cubicBezTo>
                  <a:pt x="11420475" y="2244354"/>
                  <a:pt x="11369304" y="2295525"/>
                  <a:pt x="11306181" y="2295525"/>
                </a:cubicBezTo>
                <a:lnTo>
                  <a:pt x="114294" y="2295525"/>
                </a:lnTo>
                <a:cubicBezTo>
                  <a:pt x="51171" y="2295525"/>
                  <a:pt x="0" y="2244354"/>
                  <a:pt x="0" y="2181231"/>
                </a:cubicBezTo>
                <a:lnTo>
                  <a:pt x="0" y="114294"/>
                </a:lnTo>
                <a:cubicBezTo>
                  <a:pt x="0" y="51214"/>
                  <a:pt x="51214" y="0"/>
                  <a:pt x="114294"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27" name="Shape 25"/>
          <p:cNvSpPr/>
          <p:nvPr/>
        </p:nvSpPr>
        <p:spPr>
          <a:xfrm>
            <a:off x="604838" y="3152775"/>
            <a:ext cx="190500" cy="190500"/>
          </a:xfrm>
          <a:custGeom>
            <a:avLst/>
            <a:gdLst/>
            <a:ahLst/>
            <a:cxnLst/>
            <a:rect l="l" t="t" r="r" b="b"/>
            <a:pathLst>
              <a:path w="190500" h="190500">
                <a:moveTo>
                  <a:pt x="49783" y="13506"/>
                </a:moveTo>
                <a:cubicBezTo>
                  <a:pt x="53839" y="16334"/>
                  <a:pt x="54806" y="21915"/>
                  <a:pt x="51978" y="25933"/>
                </a:cubicBezTo>
                <a:lnTo>
                  <a:pt x="31142" y="55699"/>
                </a:lnTo>
                <a:cubicBezTo>
                  <a:pt x="29617" y="57857"/>
                  <a:pt x="27236" y="59234"/>
                  <a:pt x="24594" y="59457"/>
                </a:cubicBezTo>
                <a:cubicBezTo>
                  <a:pt x="21952" y="59680"/>
                  <a:pt x="19348" y="58787"/>
                  <a:pt x="17487" y="56927"/>
                </a:cubicBezTo>
                <a:lnTo>
                  <a:pt x="2604" y="42044"/>
                </a:lnTo>
                <a:cubicBezTo>
                  <a:pt x="-856" y="38546"/>
                  <a:pt x="-856" y="32891"/>
                  <a:pt x="2604" y="29394"/>
                </a:cubicBezTo>
                <a:cubicBezTo>
                  <a:pt x="6065" y="25896"/>
                  <a:pt x="11757" y="25933"/>
                  <a:pt x="15255" y="29394"/>
                </a:cubicBezTo>
                <a:lnTo>
                  <a:pt x="22622" y="36761"/>
                </a:lnTo>
                <a:lnTo>
                  <a:pt x="37356" y="15701"/>
                </a:lnTo>
                <a:cubicBezTo>
                  <a:pt x="40184" y="11646"/>
                  <a:pt x="45765" y="10678"/>
                  <a:pt x="49783" y="13506"/>
                </a:cubicBezTo>
                <a:close/>
                <a:moveTo>
                  <a:pt x="49783" y="73037"/>
                </a:moveTo>
                <a:cubicBezTo>
                  <a:pt x="53839" y="75865"/>
                  <a:pt x="54806" y="81446"/>
                  <a:pt x="51978" y="85465"/>
                </a:cubicBezTo>
                <a:lnTo>
                  <a:pt x="31142" y="115230"/>
                </a:lnTo>
                <a:cubicBezTo>
                  <a:pt x="29617" y="117388"/>
                  <a:pt x="27236" y="118765"/>
                  <a:pt x="24594" y="118988"/>
                </a:cubicBezTo>
                <a:cubicBezTo>
                  <a:pt x="21952" y="119211"/>
                  <a:pt x="19348" y="118318"/>
                  <a:pt x="17487" y="116458"/>
                </a:cubicBezTo>
                <a:lnTo>
                  <a:pt x="2604" y="101575"/>
                </a:lnTo>
                <a:cubicBezTo>
                  <a:pt x="-893" y="98078"/>
                  <a:pt x="-893" y="92422"/>
                  <a:pt x="2604" y="88962"/>
                </a:cubicBezTo>
                <a:cubicBezTo>
                  <a:pt x="6102" y="85502"/>
                  <a:pt x="11757" y="85465"/>
                  <a:pt x="15218" y="88962"/>
                </a:cubicBezTo>
                <a:lnTo>
                  <a:pt x="22585" y="96329"/>
                </a:lnTo>
                <a:lnTo>
                  <a:pt x="37319" y="75270"/>
                </a:lnTo>
                <a:cubicBezTo>
                  <a:pt x="40146" y="71214"/>
                  <a:pt x="45727" y="70247"/>
                  <a:pt x="49746" y="73075"/>
                </a:cubicBezTo>
                <a:close/>
                <a:moveTo>
                  <a:pt x="83344" y="35719"/>
                </a:moveTo>
                <a:cubicBezTo>
                  <a:pt x="83344" y="29133"/>
                  <a:pt x="88664" y="23812"/>
                  <a:pt x="95250" y="23812"/>
                </a:cubicBezTo>
                <a:lnTo>
                  <a:pt x="178594" y="23812"/>
                </a:lnTo>
                <a:cubicBezTo>
                  <a:pt x="185179" y="23812"/>
                  <a:pt x="190500" y="29133"/>
                  <a:pt x="190500" y="35719"/>
                </a:cubicBezTo>
                <a:cubicBezTo>
                  <a:pt x="190500" y="42304"/>
                  <a:pt x="185179" y="47625"/>
                  <a:pt x="178594" y="47625"/>
                </a:cubicBezTo>
                <a:lnTo>
                  <a:pt x="95250" y="47625"/>
                </a:lnTo>
                <a:cubicBezTo>
                  <a:pt x="88664" y="47625"/>
                  <a:pt x="83344" y="42304"/>
                  <a:pt x="83344" y="35719"/>
                </a:cubicBezTo>
                <a:close/>
                <a:moveTo>
                  <a:pt x="83344" y="95250"/>
                </a:moveTo>
                <a:cubicBezTo>
                  <a:pt x="83344" y="88664"/>
                  <a:pt x="88664" y="83344"/>
                  <a:pt x="95250" y="83344"/>
                </a:cubicBezTo>
                <a:lnTo>
                  <a:pt x="178594" y="83344"/>
                </a:lnTo>
                <a:cubicBezTo>
                  <a:pt x="185179" y="83344"/>
                  <a:pt x="190500" y="88664"/>
                  <a:pt x="190500" y="95250"/>
                </a:cubicBezTo>
                <a:cubicBezTo>
                  <a:pt x="190500" y="101836"/>
                  <a:pt x="185179" y="107156"/>
                  <a:pt x="178594" y="107156"/>
                </a:cubicBezTo>
                <a:lnTo>
                  <a:pt x="95250" y="107156"/>
                </a:lnTo>
                <a:cubicBezTo>
                  <a:pt x="88664" y="107156"/>
                  <a:pt x="83344" y="101836"/>
                  <a:pt x="83344" y="95250"/>
                </a:cubicBezTo>
                <a:close/>
                <a:moveTo>
                  <a:pt x="59531" y="154781"/>
                </a:moveTo>
                <a:cubicBezTo>
                  <a:pt x="59531" y="148196"/>
                  <a:pt x="64852" y="142875"/>
                  <a:pt x="71438" y="142875"/>
                </a:cubicBezTo>
                <a:lnTo>
                  <a:pt x="178594" y="142875"/>
                </a:lnTo>
                <a:cubicBezTo>
                  <a:pt x="185179" y="142875"/>
                  <a:pt x="190500" y="148196"/>
                  <a:pt x="190500" y="154781"/>
                </a:cubicBezTo>
                <a:cubicBezTo>
                  <a:pt x="190500" y="161367"/>
                  <a:pt x="185179" y="166688"/>
                  <a:pt x="178594" y="166688"/>
                </a:cubicBezTo>
                <a:lnTo>
                  <a:pt x="71438" y="166688"/>
                </a:lnTo>
                <a:cubicBezTo>
                  <a:pt x="64852" y="166688"/>
                  <a:pt x="59531" y="161367"/>
                  <a:pt x="59531" y="154781"/>
                </a:cubicBezTo>
                <a:close/>
                <a:moveTo>
                  <a:pt x="23812" y="139898"/>
                </a:moveTo>
                <a:cubicBezTo>
                  <a:pt x="32027" y="139898"/>
                  <a:pt x="38695" y="146567"/>
                  <a:pt x="38695" y="154781"/>
                </a:cubicBezTo>
                <a:cubicBezTo>
                  <a:pt x="38695" y="162995"/>
                  <a:pt x="32027" y="169664"/>
                  <a:pt x="23812" y="169664"/>
                </a:cubicBezTo>
                <a:cubicBezTo>
                  <a:pt x="15598" y="169664"/>
                  <a:pt x="8930" y="162995"/>
                  <a:pt x="8930" y="154781"/>
                </a:cubicBezTo>
                <a:cubicBezTo>
                  <a:pt x="8930" y="146567"/>
                  <a:pt x="15598" y="139898"/>
                  <a:pt x="23812" y="139898"/>
                </a:cubicBezTo>
                <a:close/>
              </a:path>
            </a:pathLst>
          </a:custGeom>
          <a:solidFill>
            <a:srgbClr val="3B82F6"/>
          </a:solidFill>
          <a:ln/>
        </p:spPr>
      </p:sp>
      <p:sp>
        <p:nvSpPr>
          <p:cNvPr id="28" name="Text 26"/>
          <p:cNvSpPr/>
          <p:nvPr/>
        </p:nvSpPr>
        <p:spPr>
          <a:xfrm>
            <a:off x="819150" y="3114675"/>
            <a:ext cx="1088707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Tóm tắt các tính năng chính</a:t>
            </a:r>
            <a:endParaRPr lang="en-US" sz="1600" dirty="0"/>
          </a:p>
        </p:txBody>
      </p:sp>
      <p:sp>
        <p:nvSpPr>
          <p:cNvPr id="29" name="Shape 27"/>
          <p:cNvSpPr/>
          <p:nvPr/>
        </p:nvSpPr>
        <p:spPr>
          <a:xfrm>
            <a:off x="581025" y="35337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B82F6">
              <a:alpha val="20000"/>
            </a:srgbClr>
          </a:solidFill>
          <a:ln/>
        </p:spPr>
      </p:sp>
      <p:sp>
        <p:nvSpPr>
          <p:cNvPr id="30" name="Shape 28"/>
          <p:cNvSpPr/>
          <p:nvPr/>
        </p:nvSpPr>
        <p:spPr>
          <a:xfrm>
            <a:off x="677466" y="36195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31" name="Text 29"/>
          <p:cNvSpPr/>
          <p:nvPr/>
        </p:nvSpPr>
        <p:spPr>
          <a:xfrm>
            <a:off x="1000125" y="3533775"/>
            <a:ext cx="24288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/setupTests - Khởi tạo framework</a:t>
            </a:r>
            <a:endParaRPr lang="en-US" sz="1600" dirty="0"/>
          </a:p>
        </p:txBody>
      </p:sp>
      <p:sp>
        <p:nvSpPr>
          <p:cNvPr id="32" name="Text 30"/>
          <p:cNvSpPr/>
          <p:nvPr/>
        </p:nvSpPr>
        <p:spPr>
          <a:xfrm>
            <a:off x="1000125" y="3762375"/>
            <a:ext cx="24193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Tự động cấu hình unittest/pytest</a:t>
            </a:r>
            <a:endParaRPr lang="en-US" sz="1600" dirty="0"/>
          </a:p>
        </p:txBody>
      </p:sp>
      <p:sp>
        <p:nvSpPr>
          <p:cNvPr id="33" name="Shape 31"/>
          <p:cNvSpPr/>
          <p:nvPr/>
        </p:nvSpPr>
        <p:spPr>
          <a:xfrm>
            <a:off x="581025" y="40671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alpha val="20000"/>
            </a:srgbClr>
          </a:solidFill>
          <a:ln/>
        </p:spPr>
      </p:sp>
      <p:sp>
        <p:nvSpPr>
          <p:cNvPr id="34" name="Shape 32"/>
          <p:cNvSpPr/>
          <p:nvPr/>
        </p:nvSpPr>
        <p:spPr>
          <a:xfrm>
            <a:off x="677466" y="41529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8B5CF6"/>
          </a:solidFill>
          <a:ln/>
        </p:spPr>
      </p:sp>
      <p:sp>
        <p:nvSpPr>
          <p:cNvPr id="35" name="Text 33"/>
          <p:cNvSpPr/>
          <p:nvPr/>
        </p:nvSpPr>
        <p:spPr>
          <a:xfrm>
            <a:off x="1000125" y="4067175"/>
            <a:ext cx="21431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/tests - Sinh unit test tự động</a:t>
            </a:r>
            <a:endParaRPr lang="en-US" sz="1600" dirty="0"/>
          </a:p>
        </p:txBody>
      </p:sp>
      <p:sp>
        <p:nvSpPr>
          <p:cNvPr id="36" name="Text 34"/>
          <p:cNvSpPr/>
          <p:nvPr/>
        </p:nvSpPr>
        <p:spPr>
          <a:xfrm>
            <a:off x="1000125" y="4295775"/>
            <a:ext cx="21336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Tạo test cases cơ bản cho hàm</a:t>
            </a:r>
            <a:endParaRPr lang="en-US" sz="1600" dirty="0"/>
          </a:p>
        </p:txBody>
      </p:sp>
      <p:sp>
        <p:nvSpPr>
          <p:cNvPr id="37" name="Shape 35"/>
          <p:cNvSpPr/>
          <p:nvPr/>
        </p:nvSpPr>
        <p:spPr>
          <a:xfrm>
            <a:off x="581025" y="46005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10B981">
              <a:alpha val="20000"/>
            </a:srgbClr>
          </a:solidFill>
          <a:ln/>
        </p:spPr>
      </p:sp>
      <p:sp>
        <p:nvSpPr>
          <p:cNvPr id="38" name="Shape 36"/>
          <p:cNvSpPr/>
          <p:nvPr/>
        </p:nvSpPr>
        <p:spPr>
          <a:xfrm>
            <a:off x="677466" y="46863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9" name="Text 37"/>
          <p:cNvSpPr/>
          <p:nvPr/>
        </p:nvSpPr>
        <p:spPr>
          <a:xfrm>
            <a:off x="1000125" y="4600575"/>
            <a:ext cx="26765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/tests add - Thêm edge cases</a:t>
            </a:r>
            <a:endParaRPr lang="en-US" sz="1600" dirty="0"/>
          </a:p>
        </p:txBody>
      </p:sp>
      <p:sp>
        <p:nvSpPr>
          <p:cNvPr id="40" name="Text 38"/>
          <p:cNvSpPr/>
          <p:nvPr/>
        </p:nvSpPr>
        <p:spPr>
          <a:xfrm>
            <a:off x="1000125" y="4829175"/>
            <a:ext cx="26670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Mở rộng coverage với các trường hợp biên</a:t>
            </a:r>
            <a:endParaRPr lang="en-US" sz="1600" dirty="0"/>
          </a:p>
        </p:txBody>
      </p:sp>
      <p:sp>
        <p:nvSpPr>
          <p:cNvPr id="41" name="Shape 39"/>
          <p:cNvSpPr/>
          <p:nvPr/>
        </p:nvSpPr>
        <p:spPr>
          <a:xfrm>
            <a:off x="6172200" y="35337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59E0B">
              <a:alpha val="20000"/>
            </a:srgbClr>
          </a:solidFill>
          <a:ln/>
        </p:spPr>
      </p:sp>
      <p:sp>
        <p:nvSpPr>
          <p:cNvPr id="42" name="Shape 40"/>
          <p:cNvSpPr/>
          <p:nvPr/>
        </p:nvSpPr>
        <p:spPr>
          <a:xfrm>
            <a:off x="6268641" y="36195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F59E0B"/>
          </a:solidFill>
          <a:ln/>
        </p:spPr>
      </p:sp>
      <p:sp>
        <p:nvSpPr>
          <p:cNvPr id="43" name="Text 41"/>
          <p:cNvSpPr/>
          <p:nvPr/>
        </p:nvSpPr>
        <p:spPr>
          <a:xfrm>
            <a:off x="6591300" y="3533775"/>
            <a:ext cx="23336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Data-driven tests</a:t>
            </a:r>
            <a:endParaRPr lang="en-US" sz="1600" dirty="0"/>
          </a:p>
        </p:txBody>
      </p:sp>
      <p:sp>
        <p:nvSpPr>
          <p:cNvPr id="44" name="Text 42"/>
          <p:cNvSpPr/>
          <p:nvPr/>
        </p:nvSpPr>
        <p:spPr>
          <a:xfrm>
            <a:off x="6591300" y="3762375"/>
            <a:ext cx="23241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Kiểm thử nhiều cases trong một hàm</a:t>
            </a:r>
            <a:endParaRPr lang="en-US" sz="1600" dirty="0"/>
          </a:p>
        </p:txBody>
      </p:sp>
      <p:sp>
        <p:nvSpPr>
          <p:cNvPr id="45" name="Shape 43"/>
          <p:cNvSpPr/>
          <p:nvPr/>
        </p:nvSpPr>
        <p:spPr>
          <a:xfrm>
            <a:off x="6172200" y="40671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3B82F6">
              <a:alpha val="20000"/>
            </a:srgbClr>
          </a:solidFill>
          <a:ln/>
        </p:spPr>
      </p:sp>
      <p:sp>
        <p:nvSpPr>
          <p:cNvPr id="46" name="Shape 44"/>
          <p:cNvSpPr/>
          <p:nvPr/>
        </p:nvSpPr>
        <p:spPr>
          <a:xfrm>
            <a:off x="6268641" y="41529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47" name="Text 45"/>
          <p:cNvSpPr/>
          <p:nvPr/>
        </p:nvSpPr>
        <p:spPr>
          <a:xfrm>
            <a:off x="6591300" y="4067175"/>
            <a:ext cx="22764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@terminal /fix - Tự động sửa lỗi</a:t>
            </a:r>
            <a:endParaRPr lang="en-US" sz="1600" dirty="0"/>
          </a:p>
        </p:txBody>
      </p:sp>
      <p:sp>
        <p:nvSpPr>
          <p:cNvPr id="48" name="Text 46"/>
          <p:cNvSpPr/>
          <p:nvPr/>
        </p:nvSpPr>
        <p:spPr>
          <a:xfrm>
            <a:off x="6591300" y="4295775"/>
            <a:ext cx="22669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Đọc lỗi test và viết code để PASS</a:t>
            </a:r>
            <a:endParaRPr lang="en-US" sz="1600" dirty="0"/>
          </a:p>
        </p:txBody>
      </p:sp>
      <p:sp>
        <p:nvSpPr>
          <p:cNvPr id="49" name="Shape 47"/>
          <p:cNvSpPr/>
          <p:nvPr/>
        </p:nvSpPr>
        <p:spPr>
          <a:xfrm>
            <a:off x="6172200" y="460057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5CF6">
              <a:alpha val="20000"/>
            </a:srgbClr>
          </a:solidFill>
          <a:ln/>
        </p:spPr>
      </p:sp>
      <p:sp>
        <p:nvSpPr>
          <p:cNvPr id="50" name="Shape 48"/>
          <p:cNvSpPr/>
          <p:nvPr/>
        </p:nvSpPr>
        <p:spPr>
          <a:xfrm>
            <a:off x="6268641" y="468630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8B5CF6"/>
          </a:solidFill>
          <a:ln/>
        </p:spPr>
      </p:sp>
      <p:sp>
        <p:nvSpPr>
          <p:cNvPr id="51" name="Text 49"/>
          <p:cNvSpPr/>
          <p:nvPr/>
        </p:nvSpPr>
        <p:spPr>
          <a:xfrm>
            <a:off x="6591300" y="4600575"/>
            <a:ext cx="22383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create table - Sinh mock data</a:t>
            </a:r>
            <a:endParaRPr lang="en-US" sz="1600" dirty="0"/>
          </a:p>
        </p:txBody>
      </p:sp>
      <p:sp>
        <p:nvSpPr>
          <p:cNvPr id="52" name="Text 50"/>
          <p:cNvSpPr/>
          <p:nvPr/>
        </p:nvSpPr>
        <p:spPr>
          <a:xfrm>
            <a:off x="6591300" y="4829175"/>
            <a:ext cx="22288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Tạo dữ liệu test phong phú, thực tế</a:t>
            </a:r>
            <a:endParaRPr lang="en-US" sz="1600" dirty="0"/>
          </a:p>
        </p:txBody>
      </p:sp>
      <p:sp>
        <p:nvSpPr>
          <p:cNvPr id="53" name="Shape 51"/>
          <p:cNvSpPr/>
          <p:nvPr/>
        </p:nvSpPr>
        <p:spPr>
          <a:xfrm>
            <a:off x="385763" y="5376863"/>
            <a:ext cx="11420475" cy="1114425"/>
          </a:xfrm>
          <a:custGeom>
            <a:avLst/>
            <a:gdLst/>
            <a:ahLst/>
            <a:cxnLst/>
            <a:rect l="l" t="t" r="r" b="b"/>
            <a:pathLst>
              <a:path w="11420475" h="1114425">
                <a:moveTo>
                  <a:pt x="114295" y="0"/>
                </a:moveTo>
                <a:lnTo>
                  <a:pt x="11306180" y="0"/>
                </a:lnTo>
                <a:cubicBezTo>
                  <a:pt x="11369261" y="0"/>
                  <a:pt x="11420475" y="51214"/>
                  <a:pt x="11420475" y="114295"/>
                </a:cubicBezTo>
                <a:lnTo>
                  <a:pt x="11420475" y="1000130"/>
                </a:lnTo>
                <a:cubicBezTo>
                  <a:pt x="11420475" y="1063211"/>
                  <a:pt x="11369261" y="1114425"/>
                  <a:pt x="11306180" y="1114425"/>
                </a:cubicBezTo>
                <a:lnTo>
                  <a:pt x="114295" y="1114425"/>
                </a:lnTo>
                <a:cubicBezTo>
                  <a:pt x="51214" y="1114425"/>
                  <a:pt x="0" y="1063211"/>
                  <a:pt x="0" y="1000130"/>
                </a:cubicBezTo>
                <a:lnTo>
                  <a:pt x="0" y="114295"/>
                </a:lnTo>
                <a:cubicBezTo>
                  <a:pt x="0" y="51214"/>
                  <a:pt x="51214" y="0"/>
                  <a:pt x="114295" y="0"/>
                </a:cubicBezTo>
                <a:close/>
              </a:path>
            </a:pathLst>
          </a:custGeom>
          <a:solidFill>
            <a:srgbClr val="0F172A"/>
          </a:solidFill>
          <a:ln w="12700">
            <a:solidFill>
              <a:srgbClr val="10B981">
                <a:alpha val="30196"/>
              </a:srgbClr>
            </a:solidFill>
            <a:prstDash val="solid"/>
          </a:ln>
        </p:spPr>
      </p:sp>
      <p:sp>
        <p:nvSpPr>
          <p:cNvPr id="54" name="Shape 52"/>
          <p:cNvSpPr/>
          <p:nvPr/>
        </p:nvSpPr>
        <p:spPr>
          <a:xfrm>
            <a:off x="606772" y="5591175"/>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10B981"/>
          </a:solidFill>
          <a:ln/>
        </p:spPr>
      </p:sp>
      <p:sp>
        <p:nvSpPr>
          <p:cNvPr id="55" name="Text 53"/>
          <p:cNvSpPr/>
          <p:nvPr/>
        </p:nvSpPr>
        <p:spPr>
          <a:xfrm>
            <a:off x="776288" y="5534025"/>
            <a:ext cx="10915650" cy="8001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Thông điệp cốt lõi:</a:t>
            </a:r>
            <a:pPr algn="ctr">
              <a:lnSpc>
                <a:spcPct val="130000"/>
              </a:lnSpc>
            </a:pPr>
            <a:r>
              <a:rPr lang="en-US" sz="1350" dirty="0">
                <a:solidFill>
                  <a:srgbClr val="F1F5F9">
                    <a:alpha val="90000"/>
                  </a:srgbClr>
                </a:solidFill>
                <a:latin typeface="MiSans" pitchFamily="34" charset="0"/>
                <a:ea typeface="MiSans" pitchFamily="34" charset="-122"/>
                <a:cs typeface="MiSans" pitchFamily="34" charset="-120"/>
              </a:rPr>
              <a:t> GenAI không chỉ là công cụ hỗ trợ viết mã mà còn là một "trợ lý kiểm thử" đắc lực. Việc tích hợp GenAI giúp giải quyết triệt để rào cản thờigian khi viết Unit Test, mở rộng độ bao phủ kiểm thử, và đặc biệt là biến phương pháp TDD trở nên khả thi, nhanh chóng, giúp nâng cao chất lượng sản phẩm phần mềm đầu ra.</a:t>
            </a:r>
            <a:endParaRPr lang="en-US" sz="16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pic>
        <p:nvPicPr>
          <p:cNvPr id="2" name="Image 0" descr="https://kimi-web-img.moonshot.cn/img/thumbs.dreamstime.com/24e2acbd3ccddb67b82d10656e2e10963b6196b4.jpg">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10B981">
                  <a:alpha val="20000"/>
                </a:srgbClr>
              </a:gs>
            </a:gsLst>
            <a:lin ang="2700000" scaled="1"/>
          </a:gradFill>
          <a:ln/>
        </p:spPr>
      </p:sp>
      <p:sp>
        <p:nvSpPr>
          <p:cNvPr id="4" name="Shape 1"/>
          <p:cNvSpPr/>
          <p:nvPr/>
        </p:nvSpPr>
        <p:spPr>
          <a:xfrm>
            <a:off x="385763" y="1519238"/>
            <a:ext cx="1238250" cy="390525"/>
          </a:xfrm>
          <a:custGeom>
            <a:avLst/>
            <a:gdLst/>
            <a:ahLst/>
            <a:cxnLst/>
            <a:rect l="l" t="t" r="r" b="b"/>
            <a:pathLst>
              <a:path w="1238250" h="390525">
                <a:moveTo>
                  <a:pt x="76199" y="0"/>
                </a:moveTo>
                <a:lnTo>
                  <a:pt x="1162051" y="0"/>
                </a:lnTo>
                <a:cubicBezTo>
                  <a:pt x="1204134" y="0"/>
                  <a:pt x="1238250" y="34116"/>
                  <a:pt x="1238250" y="76199"/>
                </a:cubicBezTo>
                <a:lnTo>
                  <a:pt x="1238250" y="314326"/>
                </a:lnTo>
                <a:cubicBezTo>
                  <a:pt x="1238250" y="356409"/>
                  <a:pt x="1204134" y="390525"/>
                  <a:pt x="1162051" y="390525"/>
                </a:cubicBezTo>
                <a:lnTo>
                  <a:pt x="76199" y="390525"/>
                </a:lnTo>
                <a:cubicBezTo>
                  <a:pt x="34144" y="390525"/>
                  <a:pt x="0" y="356381"/>
                  <a:pt x="0" y="314326"/>
                </a:cubicBezTo>
                <a:lnTo>
                  <a:pt x="0" y="76199"/>
                </a:lnTo>
                <a:cubicBezTo>
                  <a:pt x="0" y="34144"/>
                  <a:pt x="34144" y="0"/>
                  <a:pt x="76199" y="0"/>
                </a:cubicBezTo>
                <a:close/>
              </a:path>
            </a:pathLst>
          </a:custGeom>
          <a:solidFill>
            <a:srgbClr val="10B981">
              <a:alpha val="20000"/>
            </a:srgbClr>
          </a:solidFill>
          <a:ln w="12700">
            <a:solidFill>
              <a:srgbClr val="10B981">
                <a:alpha val="50196"/>
              </a:srgbClr>
            </a:solidFill>
            <a:prstDash val="solid"/>
          </a:ln>
        </p:spPr>
      </p:sp>
      <p:sp>
        <p:nvSpPr>
          <p:cNvPr id="5" name="Text 2"/>
          <p:cNvSpPr/>
          <p:nvPr/>
        </p:nvSpPr>
        <p:spPr>
          <a:xfrm>
            <a:off x="542925" y="1609725"/>
            <a:ext cx="1004590" cy="209550"/>
          </a:xfrm>
          <a:prstGeom prst="rect">
            <a:avLst/>
          </a:prstGeom>
          <a:noFill/>
          <a:ln/>
        </p:spPr>
        <p:txBody>
          <a:bodyPr wrap="square" lIns="0" tIns="0" rIns="0" bIns="0" rtlCol="0" anchor="ctr"/>
          <a:lstStyle/>
          <a:p>
            <a:pPr>
              <a:lnSpc>
                <a:spcPct val="130000"/>
              </a:lnSpc>
            </a:pPr>
            <a:r>
              <a:rPr lang="en-US" sz="1200" b="1" spc="60" kern="0" dirty="0">
                <a:solidFill>
                  <a:srgbClr val="10B981"/>
                </a:solidFill>
                <a:latin typeface="MiSans" pitchFamily="34" charset="0"/>
                <a:ea typeface="MiSans" pitchFamily="34" charset="-122"/>
                <a:cs typeface="MiSans" pitchFamily="34" charset="-120"/>
              </a:rPr>
              <a:t>CHƯƠNG 14</a:t>
            </a:r>
            <a:endParaRPr lang="en-US" sz="1600" dirty="0"/>
          </a:p>
        </p:txBody>
      </p:sp>
      <p:sp>
        <p:nvSpPr>
          <p:cNvPr id="6" name="Text 3"/>
          <p:cNvSpPr/>
          <p:nvPr/>
        </p:nvSpPr>
        <p:spPr>
          <a:xfrm>
            <a:off x="381000" y="2066925"/>
            <a:ext cx="11715750" cy="1428750"/>
          </a:xfrm>
          <a:prstGeom prst="rect">
            <a:avLst/>
          </a:prstGeom>
          <a:noFill/>
          <a:ln/>
        </p:spPr>
        <p:txBody>
          <a:bodyPr wrap="square" lIns="0" tIns="0" rIns="0" bIns="0" rtlCol="0" anchor="ctr"/>
          <a:lstStyle/>
          <a:p>
            <a:pPr>
              <a:lnSpc>
                <a:spcPct val="100000"/>
              </a:lnSpc>
            </a:pPr>
            <a:r>
              <a:rPr lang="en-US" sz="4500" b="1" dirty="0">
                <a:solidFill>
                  <a:srgbClr val="F1F5F9"/>
                </a:solidFill>
                <a:latin typeface="MiSans" pitchFamily="34" charset="0"/>
                <a:ea typeface="MiSans" pitchFamily="34" charset="-122"/>
                <a:cs typeface="MiSans" pitchFamily="34" charset="-120"/>
              </a:rPr>
              <a:t>GenAI cho Quản lý</a:t>
            </a:r>
            <a:endParaRPr lang="en-US" sz="1600" dirty="0"/>
          </a:p>
          <a:p>
            <a:pPr>
              <a:lnSpc>
                <a:spcPct val="100000"/>
              </a:lnSpc>
            </a:pPr>
            <a:r>
              <a:rPr lang="en-US" sz="4500" b="1" dirty="0">
                <a:solidFill>
                  <a:srgbClr val="F1F5F9"/>
                </a:solidFill>
                <a:latin typeface="MiSans" pitchFamily="34" charset="0"/>
                <a:ea typeface="MiSans" pitchFamily="34" charset="-122"/>
                <a:cs typeface="MiSans" pitchFamily="34" charset="-120"/>
              </a:rPr>
              <a:t>Thờigian chạy và Bộ nhớ</a:t>
            </a:r>
            <a:endParaRPr lang="en-US" sz="1600" dirty="0"/>
          </a:p>
        </p:txBody>
      </p:sp>
      <p:sp>
        <p:nvSpPr>
          <p:cNvPr id="7" name="Text 4"/>
          <p:cNvSpPr/>
          <p:nvPr/>
        </p:nvSpPr>
        <p:spPr>
          <a:xfrm>
            <a:off x="381000" y="3648075"/>
            <a:ext cx="11544300" cy="304800"/>
          </a:xfrm>
          <a:prstGeom prst="rect">
            <a:avLst/>
          </a:prstGeom>
          <a:noFill/>
          <a:ln/>
        </p:spPr>
        <p:txBody>
          <a:bodyPr wrap="square" lIns="0" tIns="0" rIns="0" bIns="0" rtlCol="0" anchor="ctr"/>
          <a:lstStyle/>
          <a:p>
            <a:pPr>
              <a:lnSpc>
                <a:spcPct val="110000"/>
              </a:lnSpc>
            </a:pPr>
            <a:r>
              <a:rPr lang="en-US" sz="1800" dirty="0">
                <a:solidFill>
                  <a:srgbClr val="F1F5F9">
                    <a:alpha val="70000"/>
                  </a:srgbClr>
                </a:solidFill>
                <a:latin typeface="MiSans" pitchFamily="34" charset="0"/>
                <a:ea typeface="MiSans" pitchFamily="34" charset="-122"/>
                <a:cs typeface="MiSans" pitchFamily="34" charset="-120"/>
              </a:rPr>
              <a:t>Runtime and Memory Management</a:t>
            </a:r>
            <a:endParaRPr lang="en-US" sz="1600" dirty="0"/>
          </a:p>
        </p:txBody>
      </p:sp>
      <p:sp>
        <p:nvSpPr>
          <p:cNvPr id="8" name="Shape 5"/>
          <p:cNvSpPr/>
          <p:nvPr/>
        </p:nvSpPr>
        <p:spPr>
          <a:xfrm>
            <a:off x="385763" y="4491038"/>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3B82F6">
              <a:alpha val="10196"/>
            </a:srgbClr>
          </a:solidFill>
          <a:ln w="12700">
            <a:solidFill>
              <a:srgbClr val="3B82F6">
                <a:alpha val="30196"/>
              </a:srgbClr>
            </a:solidFill>
            <a:prstDash val="solid"/>
          </a:ln>
        </p:spPr>
      </p:sp>
      <p:sp>
        <p:nvSpPr>
          <p:cNvPr id="9" name="Shape 6"/>
          <p:cNvSpPr/>
          <p:nvPr/>
        </p:nvSpPr>
        <p:spPr>
          <a:xfrm>
            <a:off x="571500" y="4648200"/>
            <a:ext cx="228600" cy="228600"/>
          </a:xfrm>
          <a:custGeom>
            <a:avLst/>
            <a:gdLst/>
            <a:ahLst/>
            <a:cxnLst/>
            <a:rect l="l" t="t" r="r" b="b"/>
            <a:pathLst>
              <a:path w="228600" h="228600">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28588" y="42863"/>
                </a:moveTo>
                <a:cubicBezTo>
                  <a:pt x="128588" y="34977"/>
                  <a:pt x="122185" y="28575"/>
                  <a:pt x="114300" y="28575"/>
                </a:cubicBezTo>
                <a:cubicBezTo>
                  <a:pt x="106415" y="28575"/>
                  <a:pt x="100013" y="34977"/>
                  <a:pt x="100013" y="42863"/>
                </a:cubicBezTo>
                <a:cubicBezTo>
                  <a:pt x="100013" y="50748"/>
                  <a:pt x="106415" y="57150"/>
                  <a:pt x="114300" y="57150"/>
                </a:cubicBezTo>
                <a:cubicBezTo>
                  <a:pt x="122185" y="57150"/>
                  <a:pt x="128588" y="50748"/>
                  <a:pt x="128588" y="42863"/>
                </a:cubicBezTo>
                <a:close/>
                <a:moveTo>
                  <a:pt x="114300" y="185738"/>
                </a:moveTo>
                <a:cubicBezTo>
                  <a:pt x="130061" y="185738"/>
                  <a:pt x="142875" y="172923"/>
                  <a:pt x="142875" y="157163"/>
                </a:cubicBezTo>
                <a:cubicBezTo>
                  <a:pt x="142875" y="149929"/>
                  <a:pt x="140196" y="143277"/>
                  <a:pt x="135731" y="138276"/>
                </a:cubicBezTo>
                <a:lnTo>
                  <a:pt x="166762" y="76260"/>
                </a:lnTo>
                <a:cubicBezTo>
                  <a:pt x="169396" y="70946"/>
                  <a:pt x="167253" y="64517"/>
                  <a:pt x="161985" y="61883"/>
                </a:cubicBezTo>
                <a:cubicBezTo>
                  <a:pt x="156716" y="59248"/>
                  <a:pt x="150242" y="61392"/>
                  <a:pt x="147608" y="66660"/>
                </a:cubicBezTo>
                <a:lnTo>
                  <a:pt x="116577" y="128677"/>
                </a:lnTo>
                <a:cubicBezTo>
                  <a:pt x="115818" y="128632"/>
                  <a:pt x="115059" y="128588"/>
                  <a:pt x="114300" y="128588"/>
                </a:cubicBezTo>
                <a:cubicBezTo>
                  <a:pt x="98539" y="128588"/>
                  <a:pt x="85725" y="141402"/>
                  <a:pt x="85725" y="157163"/>
                </a:cubicBezTo>
                <a:cubicBezTo>
                  <a:pt x="85725" y="172923"/>
                  <a:pt x="98539" y="185738"/>
                  <a:pt x="114300" y="185738"/>
                </a:cubicBezTo>
                <a:close/>
                <a:moveTo>
                  <a:pt x="78581" y="64294"/>
                </a:moveTo>
                <a:cubicBezTo>
                  <a:pt x="78581" y="56408"/>
                  <a:pt x="72179" y="50006"/>
                  <a:pt x="64294" y="50006"/>
                </a:cubicBezTo>
                <a:cubicBezTo>
                  <a:pt x="56408" y="50006"/>
                  <a:pt x="50006" y="56408"/>
                  <a:pt x="50006" y="64294"/>
                </a:cubicBezTo>
                <a:cubicBezTo>
                  <a:pt x="50006" y="72179"/>
                  <a:pt x="56408" y="78581"/>
                  <a:pt x="64294" y="78581"/>
                </a:cubicBezTo>
                <a:cubicBezTo>
                  <a:pt x="72179" y="78581"/>
                  <a:pt x="78581" y="72179"/>
                  <a:pt x="78581" y="64294"/>
                </a:cubicBezTo>
                <a:close/>
                <a:moveTo>
                  <a:pt x="42863" y="128588"/>
                </a:moveTo>
                <a:cubicBezTo>
                  <a:pt x="50748" y="128588"/>
                  <a:pt x="57150" y="122185"/>
                  <a:pt x="57150" y="114300"/>
                </a:cubicBezTo>
                <a:cubicBezTo>
                  <a:pt x="57150" y="106415"/>
                  <a:pt x="50748" y="100013"/>
                  <a:pt x="42863" y="100013"/>
                </a:cubicBezTo>
                <a:cubicBezTo>
                  <a:pt x="34977" y="100013"/>
                  <a:pt x="28575" y="106415"/>
                  <a:pt x="28575" y="114300"/>
                </a:cubicBezTo>
                <a:cubicBezTo>
                  <a:pt x="28575" y="122185"/>
                  <a:pt x="34977" y="128588"/>
                  <a:pt x="42863" y="128588"/>
                </a:cubicBezTo>
                <a:close/>
                <a:moveTo>
                  <a:pt x="200025" y="114300"/>
                </a:moveTo>
                <a:cubicBezTo>
                  <a:pt x="200025" y="106415"/>
                  <a:pt x="193623" y="100013"/>
                  <a:pt x="185738" y="100013"/>
                </a:cubicBezTo>
                <a:cubicBezTo>
                  <a:pt x="177852" y="100013"/>
                  <a:pt x="171450" y="106415"/>
                  <a:pt x="171450" y="114300"/>
                </a:cubicBezTo>
                <a:cubicBezTo>
                  <a:pt x="171450" y="122185"/>
                  <a:pt x="177852" y="128588"/>
                  <a:pt x="185738" y="128588"/>
                </a:cubicBezTo>
                <a:cubicBezTo>
                  <a:pt x="193623" y="128588"/>
                  <a:pt x="200025" y="122185"/>
                  <a:pt x="200025" y="114300"/>
                </a:cubicBezTo>
                <a:close/>
              </a:path>
            </a:pathLst>
          </a:custGeom>
          <a:solidFill>
            <a:srgbClr val="3B82F6"/>
          </a:solidFill>
          <a:ln/>
        </p:spPr>
      </p:sp>
      <p:sp>
        <p:nvSpPr>
          <p:cNvPr id="10" name="Text 7"/>
          <p:cNvSpPr/>
          <p:nvPr/>
        </p:nvSpPr>
        <p:spPr>
          <a:xfrm>
            <a:off x="542925" y="4953000"/>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Big-O Analysis</a:t>
            </a:r>
            <a:endParaRPr lang="en-US" sz="1600" dirty="0"/>
          </a:p>
        </p:txBody>
      </p:sp>
      <p:sp>
        <p:nvSpPr>
          <p:cNvPr id="11" name="Shape 8"/>
          <p:cNvSpPr/>
          <p:nvPr/>
        </p:nvSpPr>
        <p:spPr>
          <a:xfrm>
            <a:off x="2862263" y="4491038"/>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8B5CF6">
              <a:alpha val="10196"/>
            </a:srgbClr>
          </a:solidFill>
          <a:ln w="12700">
            <a:solidFill>
              <a:srgbClr val="8B5CF6">
                <a:alpha val="30196"/>
              </a:srgbClr>
            </a:solidFill>
            <a:prstDash val="solid"/>
          </a:ln>
        </p:spPr>
      </p:sp>
      <p:sp>
        <p:nvSpPr>
          <p:cNvPr id="12" name="Shape 9"/>
          <p:cNvSpPr/>
          <p:nvPr/>
        </p:nvSpPr>
        <p:spPr>
          <a:xfrm>
            <a:off x="3048000" y="4648200"/>
            <a:ext cx="228600" cy="228600"/>
          </a:xfrm>
          <a:custGeom>
            <a:avLst/>
            <a:gdLst/>
            <a:ahLst/>
            <a:cxnLst/>
            <a:rect l="l" t="t" r="r" b="b"/>
            <a:pathLst>
              <a:path w="228600" h="228600">
                <a:moveTo>
                  <a:pt x="28575" y="28575"/>
                </a:moveTo>
                <a:cubicBezTo>
                  <a:pt x="12814" y="28575"/>
                  <a:pt x="0" y="41389"/>
                  <a:pt x="0" y="57150"/>
                </a:cubicBezTo>
                <a:lnTo>
                  <a:pt x="0" y="60454"/>
                </a:lnTo>
                <a:cubicBezTo>
                  <a:pt x="0" y="63490"/>
                  <a:pt x="1965" y="66080"/>
                  <a:pt x="4509" y="67732"/>
                </a:cubicBezTo>
                <a:cubicBezTo>
                  <a:pt x="10403" y="71571"/>
                  <a:pt x="14288" y="78179"/>
                  <a:pt x="14288" y="85725"/>
                </a:cubicBezTo>
                <a:cubicBezTo>
                  <a:pt x="14288" y="93271"/>
                  <a:pt x="10403" y="99879"/>
                  <a:pt x="4509" y="103718"/>
                </a:cubicBezTo>
                <a:cubicBezTo>
                  <a:pt x="1965" y="105370"/>
                  <a:pt x="0" y="107960"/>
                  <a:pt x="0" y="110996"/>
                </a:cubicBezTo>
                <a:lnTo>
                  <a:pt x="0" y="135731"/>
                </a:lnTo>
                <a:lnTo>
                  <a:pt x="228600" y="135731"/>
                </a:lnTo>
                <a:lnTo>
                  <a:pt x="228600" y="110996"/>
                </a:lnTo>
                <a:cubicBezTo>
                  <a:pt x="228600" y="107960"/>
                  <a:pt x="226635" y="105370"/>
                  <a:pt x="224091" y="103718"/>
                </a:cubicBezTo>
                <a:cubicBezTo>
                  <a:pt x="218197" y="99879"/>
                  <a:pt x="214313" y="93271"/>
                  <a:pt x="214313" y="85725"/>
                </a:cubicBezTo>
                <a:cubicBezTo>
                  <a:pt x="214313" y="78179"/>
                  <a:pt x="218197" y="71571"/>
                  <a:pt x="224091" y="67732"/>
                </a:cubicBezTo>
                <a:cubicBezTo>
                  <a:pt x="226635" y="66080"/>
                  <a:pt x="228600" y="63490"/>
                  <a:pt x="228600" y="60454"/>
                </a:cubicBezTo>
                <a:lnTo>
                  <a:pt x="228600" y="57150"/>
                </a:lnTo>
                <a:cubicBezTo>
                  <a:pt x="228600" y="41389"/>
                  <a:pt x="215786" y="28575"/>
                  <a:pt x="200025" y="28575"/>
                </a:cubicBezTo>
                <a:lnTo>
                  <a:pt x="28575" y="28575"/>
                </a:lnTo>
                <a:close/>
                <a:moveTo>
                  <a:pt x="228600" y="185738"/>
                </a:moveTo>
                <a:lnTo>
                  <a:pt x="228600" y="157163"/>
                </a:lnTo>
                <a:lnTo>
                  <a:pt x="0" y="157163"/>
                </a:lnTo>
                <a:lnTo>
                  <a:pt x="0" y="185738"/>
                </a:lnTo>
                <a:cubicBezTo>
                  <a:pt x="0" y="193640"/>
                  <a:pt x="6385" y="200025"/>
                  <a:pt x="14288" y="200025"/>
                </a:cubicBezTo>
                <a:lnTo>
                  <a:pt x="42863" y="200025"/>
                </a:lnTo>
                <a:lnTo>
                  <a:pt x="42863" y="189309"/>
                </a:lnTo>
                <a:cubicBezTo>
                  <a:pt x="42863" y="183371"/>
                  <a:pt x="47640" y="178594"/>
                  <a:pt x="53578" y="178594"/>
                </a:cubicBezTo>
                <a:cubicBezTo>
                  <a:pt x="59516" y="178594"/>
                  <a:pt x="64294" y="183371"/>
                  <a:pt x="64294" y="189309"/>
                </a:cubicBezTo>
                <a:lnTo>
                  <a:pt x="64294" y="200025"/>
                </a:lnTo>
                <a:lnTo>
                  <a:pt x="103584" y="200025"/>
                </a:lnTo>
                <a:lnTo>
                  <a:pt x="103584" y="189309"/>
                </a:lnTo>
                <a:cubicBezTo>
                  <a:pt x="103584" y="183371"/>
                  <a:pt x="108362" y="178594"/>
                  <a:pt x="114300" y="178594"/>
                </a:cubicBezTo>
                <a:cubicBezTo>
                  <a:pt x="120238" y="178594"/>
                  <a:pt x="125016" y="183371"/>
                  <a:pt x="125016" y="189309"/>
                </a:cubicBezTo>
                <a:lnTo>
                  <a:pt x="125016" y="200025"/>
                </a:lnTo>
                <a:lnTo>
                  <a:pt x="164306" y="200025"/>
                </a:lnTo>
                <a:lnTo>
                  <a:pt x="164306" y="189309"/>
                </a:lnTo>
                <a:cubicBezTo>
                  <a:pt x="164306" y="183371"/>
                  <a:pt x="169084" y="178594"/>
                  <a:pt x="175022" y="178594"/>
                </a:cubicBezTo>
                <a:cubicBezTo>
                  <a:pt x="180960" y="178594"/>
                  <a:pt x="185738" y="183371"/>
                  <a:pt x="185738" y="189309"/>
                </a:cubicBezTo>
                <a:lnTo>
                  <a:pt x="185738" y="200025"/>
                </a:lnTo>
                <a:lnTo>
                  <a:pt x="214313" y="200025"/>
                </a:lnTo>
                <a:cubicBezTo>
                  <a:pt x="222215" y="200025"/>
                  <a:pt x="228600" y="193640"/>
                  <a:pt x="228600" y="185738"/>
                </a:cubicBezTo>
                <a:close/>
                <a:moveTo>
                  <a:pt x="71438" y="71438"/>
                </a:moveTo>
                <a:lnTo>
                  <a:pt x="71438" y="100013"/>
                </a:lnTo>
                <a:cubicBezTo>
                  <a:pt x="71438" y="107915"/>
                  <a:pt x="65053" y="114300"/>
                  <a:pt x="57150" y="114300"/>
                </a:cubicBezTo>
                <a:cubicBezTo>
                  <a:pt x="49247" y="114300"/>
                  <a:pt x="42863" y="107915"/>
                  <a:pt x="42863" y="100013"/>
                </a:cubicBezTo>
                <a:lnTo>
                  <a:pt x="42863" y="71438"/>
                </a:lnTo>
                <a:cubicBezTo>
                  <a:pt x="42863" y="63535"/>
                  <a:pt x="49247" y="57150"/>
                  <a:pt x="57150" y="57150"/>
                </a:cubicBezTo>
                <a:cubicBezTo>
                  <a:pt x="65053" y="57150"/>
                  <a:pt x="71438" y="63535"/>
                  <a:pt x="71438" y="71438"/>
                </a:cubicBezTo>
                <a:close/>
                <a:moveTo>
                  <a:pt x="128588" y="71438"/>
                </a:moveTo>
                <a:lnTo>
                  <a:pt x="128588" y="100013"/>
                </a:lnTo>
                <a:cubicBezTo>
                  <a:pt x="128588" y="107915"/>
                  <a:pt x="122203" y="114300"/>
                  <a:pt x="114300" y="114300"/>
                </a:cubicBezTo>
                <a:cubicBezTo>
                  <a:pt x="106397" y="114300"/>
                  <a:pt x="100013" y="107915"/>
                  <a:pt x="100013" y="100013"/>
                </a:cubicBezTo>
                <a:lnTo>
                  <a:pt x="100013" y="71438"/>
                </a:lnTo>
                <a:cubicBezTo>
                  <a:pt x="100013" y="63535"/>
                  <a:pt x="106397" y="57150"/>
                  <a:pt x="114300" y="57150"/>
                </a:cubicBezTo>
                <a:cubicBezTo>
                  <a:pt x="122203" y="57150"/>
                  <a:pt x="128588" y="63535"/>
                  <a:pt x="128588" y="71438"/>
                </a:cubicBezTo>
                <a:close/>
                <a:moveTo>
                  <a:pt x="185738" y="71438"/>
                </a:moveTo>
                <a:lnTo>
                  <a:pt x="185738" y="100013"/>
                </a:lnTo>
                <a:cubicBezTo>
                  <a:pt x="185738" y="107915"/>
                  <a:pt x="179353" y="114300"/>
                  <a:pt x="171450" y="114300"/>
                </a:cubicBezTo>
                <a:cubicBezTo>
                  <a:pt x="163547" y="114300"/>
                  <a:pt x="157163" y="107915"/>
                  <a:pt x="157163" y="100013"/>
                </a:cubicBezTo>
                <a:lnTo>
                  <a:pt x="157163" y="71438"/>
                </a:lnTo>
                <a:cubicBezTo>
                  <a:pt x="157163" y="63535"/>
                  <a:pt x="163547" y="57150"/>
                  <a:pt x="171450" y="57150"/>
                </a:cubicBezTo>
                <a:cubicBezTo>
                  <a:pt x="179353" y="57150"/>
                  <a:pt x="185738" y="63535"/>
                  <a:pt x="185738" y="71438"/>
                </a:cubicBezTo>
                <a:close/>
              </a:path>
            </a:pathLst>
          </a:custGeom>
          <a:solidFill>
            <a:srgbClr val="8B5CF6"/>
          </a:solidFill>
          <a:ln/>
        </p:spPr>
      </p:sp>
      <p:sp>
        <p:nvSpPr>
          <p:cNvPr id="13" name="Text 10"/>
          <p:cNvSpPr/>
          <p:nvPr/>
        </p:nvSpPr>
        <p:spPr>
          <a:xfrm>
            <a:off x="3019425" y="4953000"/>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Memory Profiling</a:t>
            </a:r>
            <a:endParaRPr lang="en-US" sz="1600" dirty="0"/>
          </a:p>
        </p:txBody>
      </p:sp>
      <p:sp>
        <p:nvSpPr>
          <p:cNvPr id="14" name="Shape 11"/>
          <p:cNvSpPr/>
          <p:nvPr/>
        </p:nvSpPr>
        <p:spPr>
          <a:xfrm>
            <a:off x="5338763" y="4491038"/>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10B981">
              <a:alpha val="10196"/>
            </a:srgbClr>
          </a:solidFill>
          <a:ln w="12700">
            <a:solidFill>
              <a:srgbClr val="10B981">
                <a:alpha val="30196"/>
              </a:srgbClr>
            </a:solidFill>
            <a:prstDash val="solid"/>
          </a:ln>
        </p:spPr>
      </p:sp>
      <p:sp>
        <p:nvSpPr>
          <p:cNvPr id="15" name="Shape 12"/>
          <p:cNvSpPr/>
          <p:nvPr/>
        </p:nvSpPr>
        <p:spPr>
          <a:xfrm>
            <a:off x="5524500" y="4648200"/>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10B981"/>
          </a:solidFill>
          <a:ln/>
        </p:spPr>
      </p:sp>
      <p:sp>
        <p:nvSpPr>
          <p:cNvPr id="16" name="Text 13"/>
          <p:cNvSpPr/>
          <p:nvPr/>
        </p:nvSpPr>
        <p:spPr>
          <a:xfrm>
            <a:off x="5495925" y="4953000"/>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Chained Prompts</a:t>
            </a:r>
            <a:endParaRPr lang="en-US" sz="1600" dirty="0"/>
          </a:p>
        </p:txBody>
      </p:sp>
      <p:sp>
        <p:nvSpPr>
          <p:cNvPr id="17" name="Shape 14"/>
          <p:cNvSpPr/>
          <p:nvPr/>
        </p:nvSpPr>
        <p:spPr>
          <a:xfrm>
            <a:off x="7815263" y="4491038"/>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F59E0B">
              <a:alpha val="10196"/>
            </a:srgbClr>
          </a:solidFill>
          <a:ln w="12700">
            <a:solidFill>
              <a:srgbClr val="F59E0B">
                <a:alpha val="30196"/>
              </a:srgbClr>
            </a:solidFill>
            <a:prstDash val="solid"/>
          </a:ln>
        </p:spPr>
      </p:sp>
      <p:sp>
        <p:nvSpPr>
          <p:cNvPr id="18" name="Shape 15"/>
          <p:cNvSpPr/>
          <p:nvPr/>
        </p:nvSpPr>
        <p:spPr>
          <a:xfrm>
            <a:off x="7972425" y="4648200"/>
            <a:ext cx="285750" cy="228600"/>
          </a:xfrm>
          <a:custGeom>
            <a:avLst/>
            <a:gdLst/>
            <a:ahLst/>
            <a:cxnLst/>
            <a:rect l="l" t="t" r="r" b="b"/>
            <a:pathLst>
              <a:path w="285750" h="228600">
                <a:moveTo>
                  <a:pt x="171450" y="14288"/>
                </a:moveTo>
                <a:lnTo>
                  <a:pt x="228600" y="14288"/>
                </a:lnTo>
                <a:cubicBezTo>
                  <a:pt x="236503" y="14288"/>
                  <a:pt x="242888" y="20672"/>
                  <a:pt x="242888" y="28575"/>
                </a:cubicBezTo>
                <a:cubicBezTo>
                  <a:pt x="242888" y="36478"/>
                  <a:pt x="236503" y="42863"/>
                  <a:pt x="228600" y="42863"/>
                </a:cubicBezTo>
                <a:lnTo>
                  <a:pt x="177879" y="42863"/>
                </a:lnTo>
                <a:cubicBezTo>
                  <a:pt x="175558" y="54382"/>
                  <a:pt x="167655" y="63892"/>
                  <a:pt x="157163" y="68446"/>
                </a:cubicBezTo>
                <a:lnTo>
                  <a:pt x="157163" y="200025"/>
                </a:lnTo>
                <a:lnTo>
                  <a:pt x="228600" y="200025"/>
                </a:lnTo>
                <a:cubicBezTo>
                  <a:pt x="236503" y="200025"/>
                  <a:pt x="242888" y="206410"/>
                  <a:pt x="242888" y="214313"/>
                </a:cubicBezTo>
                <a:cubicBezTo>
                  <a:pt x="242888" y="222215"/>
                  <a:pt x="236503" y="228600"/>
                  <a:pt x="228600" y="228600"/>
                </a:cubicBezTo>
                <a:lnTo>
                  <a:pt x="57150" y="228600"/>
                </a:lnTo>
                <a:cubicBezTo>
                  <a:pt x="49247" y="228600"/>
                  <a:pt x="42863" y="222215"/>
                  <a:pt x="42863" y="214313"/>
                </a:cubicBezTo>
                <a:cubicBezTo>
                  <a:pt x="42863" y="206410"/>
                  <a:pt x="49247" y="200025"/>
                  <a:pt x="57150" y="200025"/>
                </a:cubicBezTo>
                <a:lnTo>
                  <a:pt x="128588" y="200025"/>
                </a:lnTo>
                <a:lnTo>
                  <a:pt x="128588" y="68446"/>
                </a:lnTo>
                <a:cubicBezTo>
                  <a:pt x="118095" y="63847"/>
                  <a:pt x="110192" y="54337"/>
                  <a:pt x="107871" y="42863"/>
                </a:cubicBezTo>
                <a:lnTo>
                  <a:pt x="57150" y="42863"/>
                </a:lnTo>
                <a:cubicBezTo>
                  <a:pt x="49247" y="42863"/>
                  <a:pt x="42863" y="36478"/>
                  <a:pt x="42863" y="28575"/>
                </a:cubicBezTo>
                <a:cubicBezTo>
                  <a:pt x="42863" y="20672"/>
                  <a:pt x="49247" y="14288"/>
                  <a:pt x="57150" y="14288"/>
                </a:cubicBezTo>
                <a:lnTo>
                  <a:pt x="114300" y="14288"/>
                </a:lnTo>
                <a:cubicBezTo>
                  <a:pt x="120819" y="5626"/>
                  <a:pt x="131177" y="0"/>
                  <a:pt x="142875" y="0"/>
                </a:cubicBezTo>
                <a:cubicBezTo>
                  <a:pt x="154573" y="0"/>
                  <a:pt x="164931" y="5626"/>
                  <a:pt x="171450" y="14288"/>
                </a:cubicBezTo>
                <a:close/>
                <a:moveTo>
                  <a:pt x="196275" y="142875"/>
                </a:moveTo>
                <a:lnTo>
                  <a:pt x="260925" y="142875"/>
                </a:lnTo>
                <a:lnTo>
                  <a:pt x="228600" y="87422"/>
                </a:lnTo>
                <a:lnTo>
                  <a:pt x="196275" y="142875"/>
                </a:lnTo>
                <a:close/>
                <a:moveTo>
                  <a:pt x="228600" y="185738"/>
                </a:moveTo>
                <a:cubicBezTo>
                  <a:pt x="200516" y="185738"/>
                  <a:pt x="177165" y="170557"/>
                  <a:pt x="172343" y="150510"/>
                </a:cubicBezTo>
                <a:cubicBezTo>
                  <a:pt x="171182" y="145599"/>
                  <a:pt x="172789" y="140553"/>
                  <a:pt x="175334" y="136178"/>
                </a:cubicBezTo>
                <a:lnTo>
                  <a:pt x="217840" y="63311"/>
                </a:lnTo>
                <a:cubicBezTo>
                  <a:pt x="220072" y="59472"/>
                  <a:pt x="224180" y="57150"/>
                  <a:pt x="228600" y="57150"/>
                </a:cubicBezTo>
                <a:cubicBezTo>
                  <a:pt x="233020" y="57150"/>
                  <a:pt x="237128" y="59516"/>
                  <a:pt x="239360" y="63311"/>
                </a:cubicBezTo>
                <a:lnTo>
                  <a:pt x="281866" y="136178"/>
                </a:lnTo>
                <a:cubicBezTo>
                  <a:pt x="284411" y="140553"/>
                  <a:pt x="286018" y="145599"/>
                  <a:pt x="284857" y="150510"/>
                </a:cubicBezTo>
                <a:cubicBezTo>
                  <a:pt x="280035" y="170512"/>
                  <a:pt x="256684" y="185738"/>
                  <a:pt x="228600" y="185738"/>
                </a:cubicBezTo>
                <a:close/>
                <a:moveTo>
                  <a:pt x="56614" y="87422"/>
                </a:moveTo>
                <a:lnTo>
                  <a:pt x="24289" y="142875"/>
                </a:lnTo>
                <a:lnTo>
                  <a:pt x="88984" y="142875"/>
                </a:lnTo>
                <a:lnTo>
                  <a:pt x="56614" y="87422"/>
                </a:lnTo>
                <a:close/>
                <a:moveTo>
                  <a:pt x="402" y="150510"/>
                </a:moveTo>
                <a:cubicBezTo>
                  <a:pt x="-759" y="145599"/>
                  <a:pt x="848" y="140553"/>
                  <a:pt x="3393" y="136178"/>
                </a:cubicBezTo>
                <a:lnTo>
                  <a:pt x="45899" y="63311"/>
                </a:lnTo>
                <a:cubicBezTo>
                  <a:pt x="48131" y="59472"/>
                  <a:pt x="52239" y="57150"/>
                  <a:pt x="56659" y="57150"/>
                </a:cubicBezTo>
                <a:cubicBezTo>
                  <a:pt x="61079" y="57150"/>
                  <a:pt x="65187" y="59516"/>
                  <a:pt x="67419" y="63311"/>
                </a:cubicBezTo>
                <a:lnTo>
                  <a:pt x="109924" y="136178"/>
                </a:lnTo>
                <a:cubicBezTo>
                  <a:pt x="112469" y="140553"/>
                  <a:pt x="114077" y="145599"/>
                  <a:pt x="112916" y="150510"/>
                </a:cubicBezTo>
                <a:cubicBezTo>
                  <a:pt x="108094" y="170512"/>
                  <a:pt x="84743" y="185738"/>
                  <a:pt x="56659" y="185738"/>
                </a:cubicBezTo>
                <a:cubicBezTo>
                  <a:pt x="28575" y="185738"/>
                  <a:pt x="5224" y="170557"/>
                  <a:pt x="402" y="150510"/>
                </a:cubicBezTo>
                <a:close/>
              </a:path>
            </a:pathLst>
          </a:custGeom>
          <a:solidFill>
            <a:srgbClr val="F59E0B"/>
          </a:solidFill>
          <a:ln/>
        </p:spPr>
      </p:sp>
      <p:sp>
        <p:nvSpPr>
          <p:cNvPr id="19" name="Text 16"/>
          <p:cNvSpPr/>
          <p:nvPr/>
        </p:nvSpPr>
        <p:spPr>
          <a:xfrm>
            <a:off x="7972425" y="4953000"/>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Time-Memory Tradeoff</a:t>
            </a:r>
            <a:endParaRPr lang="en-US" sz="16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150019" y="85725"/>
                </a:moveTo>
                <a:cubicBezTo>
                  <a:pt x="150019" y="50240"/>
                  <a:pt x="121210" y="21431"/>
                  <a:pt x="85725" y="21431"/>
                </a:cubicBezTo>
                <a:cubicBezTo>
                  <a:pt x="50240" y="21431"/>
                  <a:pt x="21431" y="50240"/>
                  <a:pt x="21431" y="85725"/>
                </a:cubicBezTo>
                <a:cubicBezTo>
                  <a:pt x="21431" y="121210"/>
                  <a:pt x="50240" y="150019"/>
                  <a:pt x="85725" y="150019"/>
                </a:cubicBezTo>
                <a:cubicBezTo>
                  <a:pt x="121210" y="150019"/>
                  <a:pt x="150019" y="121210"/>
                  <a:pt x="150019" y="85725"/>
                </a:cubicBezTo>
                <a:close/>
                <a:moveTo>
                  <a:pt x="0" y="85725"/>
                </a:moveTo>
                <a:cubicBezTo>
                  <a:pt x="0" y="38412"/>
                  <a:pt x="38412" y="0"/>
                  <a:pt x="85725" y="0"/>
                </a:cubicBezTo>
                <a:cubicBezTo>
                  <a:pt x="133038" y="0"/>
                  <a:pt x="171450" y="38412"/>
                  <a:pt x="171450" y="85725"/>
                </a:cubicBezTo>
                <a:cubicBezTo>
                  <a:pt x="171450" y="133038"/>
                  <a:pt x="133038" y="171450"/>
                  <a:pt x="85725" y="171450"/>
                </a:cubicBezTo>
                <a:cubicBezTo>
                  <a:pt x="38412" y="171450"/>
                  <a:pt x="0" y="133038"/>
                  <a:pt x="0" y="85725"/>
                </a:cubicBezTo>
                <a:close/>
                <a:moveTo>
                  <a:pt x="85725" y="112514"/>
                </a:moveTo>
                <a:cubicBezTo>
                  <a:pt x="100510" y="112514"/>
                  <a:pt x="112514" y="100510"/>
                  <a:pt x="112514" y="85725"/>
                </a:cubicBezTo>
                <a:cubicBezTo>
                  <a:pt x="112514" y="70940"/>
                  <a:pt x="100510" y="58936"/>
                  <a:pt x="85725" y="58936"/>
                </a:cubicBezTo>
                <a:cubicBezTo>
                  <a:pt x="70940" y="58936"/>
                  <a:pt x="58936" y="70940"/>
                  <a:pt x="58936" y="85725"/>
                </a:cubicBezTo>
                <a:cubicBezTo>
                  <a:pt x="58936" y="100510"/>
                  <a:pt x="70940" y="112514"/>
                  <a:pt x="85725" y="112514"/>
                </a:cubicBezTo>
                <a:close/>
                <a:moveTo>
                  <a:pt x="85725" y="37505"/>
                </a:moveTo>
                <a:cubicBezTo>
                  <a:pt x="112339" y="37505"/>
                  <a:pt x="133945" y="59111"/>
                  <a:pt x="133945" y="85725"/>
                </a:cubicBezTo>
                <a:cubicBezTo>
                  <a:pt x="133945" y="112339"/>
                  <a:pt x="112339" y="133945"/>
                  <a:pt x="85725" y="133945"/>
                </a:cubicBezTo>
                <a:cubicBezTo>
                  <a:pt x="59111" y="133945"/>
                  <a:pt x="37505" y="112339"/>
                  <a:pt x="37505" y="85725"/>
                </a:cubicBezTo>
                <a:cubicBezTo>
                  <a:pt x="37505" y="59111"/>
                  <a:pt x="59111" y="37505"/>
                  <a:pt x="85725" y="37505"/>
                </a:cubicBezTo>
                <a:close/>
                <a:moveTo>
                  <a:pt x="75009" y="85725"/>
                </a:moveTo>
                <a:cubicBezTo>
                  <a:pt x="75009" y="79811"/>
                  <a:pt x="79811" y="75009"/>
                  <a:pt x="85725" y="75009"/>
                </a:cubicBezTo>
                <a:cubicBezTo>
                  <a:pt x="91639" y="75009"/>
                  <a:pt x="96441" y="79811"/>
                  <a:pt x="96441" y="85725"/>
                </a:cubicBezTo>
                <a:cubicBezTo>
                  <a:pt x="96441" y="91639"/>
                  <a:pt x="91639" y="96441"/>
                  <a:pt x="85725" y="96441"/>
                </a:cubicBezTo>
                <a:cubicBezTo>
                  <a:pt x="79811" y="96441"/>
                  <a:pt x="75009" y="91639"/>
                  <a:pt x="75009" y="85725"/>
                </a:cubicBezTo>
                <a:close/>
              </a:path>
            </a:pathLst>
          </a:custGeom>
          <a:solidFill>
            <a:srgbClr val="FFFFFF"/>
          </a:solidFill>
          <a:ln/>
        </p:spPr>
      </p:sp>
      <p:sp>
        <p:nvSpPr>
          <p:cNvPr id="4" name="Text 2"/>
          <p:cNvSpPr/>
          <p:nvPr/>
        </p:nvSpPr>
        <p:spPr>
          <a:xfrm>
            <a:off x="876300" y="381000"/>
            <a:ext cx="4000500"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14 | GIỚI THIỆU</a:t>
            </a:r>
            <a:endParaRPr lang="en-US" sz="1600" dirty="0"/>
          </a:p>
        </p:txBody>
      </p:sp>
      <p:sp>
        <p:nvSpPr>
          <p:cNvPr id="5" name="Text 3"/>
          <p:cNvSpPr/>
          <p:nvPr/>
        </p:nvSpPr>
        <p:spPr>
          <a:xfrm>
            <a:off x="876300" y="571500"/>
            <a:ext cx="40767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Mục tiêu và bối cảnh lý thuyết</a:t>
            </a:r>
            <a:endParaRPr lang="en-US" sz="1600" dirty="0"/>
          </a:p>
        </p:txBody>
      </p:sp>
      <p:sp>
        <p:nvSpPr>
          <p:cNvPr id="6" name="Shape 4"/>
          <p:cNvSpPr/>
          <p:nvPr/>
        </p:nvSpPr>
        <p:spPr>
          <a:xfrm>
            <a:off x="385763" y="1147763"/>
            <a:ext cx="5610225" cy="2828925"/>
          </a:xfrm>
          <a:custGeom>
            <a:avLst/>
            <a:gdLst/>
            <a:ahLst/>
            <a:cxnLst/>
            <a:rect l="l" t="t" r="r" b="b"/>
            <a:pathLst>
              <a:path w="5610225" h="2828925">
                <a:moveTo>
                  <a:pt x="114289" y="0"/>
                </a:moveTo>
                <a:lnTo>
                  <a:pt x="5495936" y="0"/>
                </a:lnTo>
                <a:cubicBezTo>
                  <a:pt x="5559014" y="0"/>
                  <a:pt x="5610225" y="51211"/>
                  <a:pt x="5610225" y="114289"/>
                </a:cubicBezTo>
                <a:lnTo>
                  <a:pt x="5610225" y="2714636"/>
                </a:lnTo>
                <a:cubicBezTo>
                  <a:pt x="5610225" y="2777756"/>
                  <a:pt x="5559056" y="2828925"/>
                  <a:pt x="5495936" y="2828925"/>
                </a:cubicBezTo>
                <a:lnTo>
                  <a:pt x="114289" y="2828925"/>
                </a:lnTo>
                <a:cubicBezTo>
                  <a:pt x="51211" y="2828925"/>
                  <a:pt x="0" y="2777714"/>
                  <a:pt x="0" y="2714636"/>
                </a:cubicBezTo>
                <a:lnTo>
                  <a:pt x="0" y="114289"/>
                </a:lnTo>
                <a:cubicBezTo>
                  <a:pt x="0" y="51169"/>
                  <a:pt x="51169" y="0"/>
                  <a:pt x="114289"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Mục tiêu chính</a:t>
            </a:r>
            <a:endParaRPr lang="en-US" sz="1600" dirty="0"/>
          </a:p>
        </p:txBody>
      </p:sp>
      <p:sp>
        <p:nvSpPr>
          <p:cNvPr id="9" name="Shape 7"/>
          <p:cNvSpPr/>
          <p:nvPr/>
        </p:nvSpPr>
        <p:spPr>
          <a:xfrm>
            <a:off x="581025" y="17621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alpha val="20000"/>
            </a:srgbClr>
          </a:solidFill>
          <a:ln/>
        </p:spPr>
      </p:sp>
      <p:sp>
        <p:nvSpPr>
          <p:cNvPr id="10" name="Shape 8"/>
          <p:cNvSpPr/>
          <p:nvPr/>
        </p:nvSpPr>
        <p:spPr>
          <a:xfrm>
            <a:off x="695325" y="1876425"/>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76200" y="123825"/>
                </a:moveTo>
                <a:cubicBezTo>
                  <a:pt x="86707" y="123825"/>
                  <a:pt x="95250" y="115282"/>
                  <a:pt x="95250" y="104775"/>
                </a:cubicBezTo>
                <a:cubicBezTo>
                  <a:pt x="95250" y="99953"/>
                  <a:pt x="93464" y="95518"/>
                  <a:pt x="90488" y="92184"/>
                </a:cubicBezTo>
                <a:lnTo>
                  <a:pt x="111175" y="50840"/>
                </a:lnTo>
                <a:cubicBezTo>
                  <a:pt x="112931" y="47298"/>
                  <a:pt x="111502" y="43011"/>
                  <a:pt x="107990" y="41255"/>
                </a:cubicBezTo>
                <a:cubicBezTo>
                  <a:pt x="104477" y="39499"/>
                  <a:pt x="100161" y="40928"/>
                  <a:pt x="98405" y="44440"/>
                </a:cubicBezTo>
                <a:lnTo>
                  <a:pt x="77718" y="85785"/>
                </a:lnTo>
                <a:cubicBezTo>
                  <a:pt x="77212" y="85755"/>
                  <a:pt x="76706" y="85725"/>
                  <a:pt x="76200" y="85725"/>
                </a:cubicBezTo>
                <a:cubicBezTo>
                  <a:pt x="65693" y="85725"/>
                  <a:pt x="57150" y="94268"/>
                  <a:pt x="57150" y="104775"/>
                </a:cubicBezTo>
                <a:cubicBezTo>
                  <a:pt x="57150" y="115282"/>
                  <a:pt x="65693" y="123825"/>
                  <a:pt x="76200" y="123825"/>
                </a:cubicBezTo>
                <a:close/>
                <a:moveTo>
                  <a:pt x="52388" y="42863"/>
                </a:moveTo>
                <a:cubicBezTo>
                  <a:pt x="52388" y="37606"/>
                  <a:pt x="48119" y="33338"/>
                  <a:pt x="42863" y="33338"/>
                </a:cubicBezTo>
                <a:cubicBezTo>
                  <a:pt x="37606" y="33338"/>
                  <a:pt x="33338" y="37606"/>
                  <a:pt x="33338" y="42863"/>
                </a:cubicBezTo>
                <a:cubicBezTo>
                  <a:pt x="33338" y="48119"/>
                  <a:pt x="37606" y="52388"/>
                  <a:pt x="42863" y="52388"/>
                </a:cubicBezTo>
                <a:cubicBezTo>
                  <a:pt x="48119" y="52388"/>
                  <a:pt x="52388" y="48119"/>
                  <a:pt x="52388" y="42863"/>
                </a:cubicBezTo>
                <a:close/>
                <a:moveTo>
                  <a:pt x="28575" y="85725"/>
                </a:moveTo>
                <a:cubicBezTo>
                  <a:pt x="33832" y="85725"/>
                  <a:pt x="38100" y="81457"/>
                  <a:pt x="38100" y="76200"/>
                </a:cubicBezTo>
                <a:cubicBezTo>
                  <a:pt x="38100" y="70943"/>
                  <a:pt x="33832" y="66675"/>
                  <a:pt x="28575" y="66675"/>
                </a:cubicBezTo>
                <a:cubicBezTo>
                  <a:pt x="23318" y="66675"/>
                  <a:pt x="19050" y="70943"/>
                  <a:pt x="19050" y="76200"/>
                </a:cubicBezTo>
                <a:cubicBezTo>
                  <a:pt x="19050" y="81457"/>
                  <a:pt x="23318" y="85725"/>
                  <a:pt x="28575" y="85725"/>
                </a:cubicBezTo>
                <a:close/>
                <a:moveTo>
                  <a:pt x="133350" y="76200"/>
                </a:moveTo>
                <a:cubicBezTo>
                  <a:pt x="133350" y="70943"/>
                  <a:pt x="129082" y="66675"/>
                  <a:pt x="123825" y="66675"/>
                </a:cubicBezTo>
                <a:cubicBezTo>
                  <a:pt x="118568" y="66675"/>
                  <a:pt x="114300" y="70943"/>
                  <a:pt x="114300" y="76200"/>
                </a:cubicBezTo>
                <a:cubicBezTo>
                  <a:pt x="114300" y="81457"/>
                  <a:pt x="118568" y="85725"/>
                  <a:pt x="123825" y="85725"/>
                </a:cubicBezTo>
                <a:cubicBezTo>
                  <a:pt x="129082" y="85725"/>
                  <a:pt x="133350" y="81457"/>
                  <a:pt x="133350" y="76200"/>
                </a:cubicBezTo>
                <a:close/>
              </a:path>
            </a:pathLst>
          </a:custGeom>
          <a:solidFill>
            <a:srgbClr val="3B82F6"/>
          </a:solidFill>
          <a:ln/>
        </p:spPr>
      </p:sp>
      <p:sp>
        <p:nvSpPr>
          <p:cNvPr id="11" name="Text 9"/>
          <p:cNvSpPr/>
          <p:nvPr/>
        </p:nvSpPr>
        <p:spPr>
          <a:xfrm>
            <a:off x="1076325" y="1762125"/>
            <a:ext cx="241935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Phân tích hiệu suất thờigian chạy</a:t>
            </a:r>
            <a:endParaRPr lang="en-US" sz="1600" dirty="0"/>
          </a:p>
        </p:txBody>
      </p:sp>
      <p:sp>
        <p:nvSpPr>
          <p:cNvPr id="12" name="Text 10"/>
          <p:cNvSpPr/>
          <p:nvPr/>
        </p:nvSpPr>
        <p:spPr>
          <a:xfrm>
            <a:off x="1076325" y="1990725"/>
            <a:ext cx="24098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Đo lường và đánh giá thờigian thực thi</a:t>
            </a:r>
            <a:endParaRPr lang="en-US" sz="1600" dirty="0"/>
          </a:p>
        </p:txBody>
      </p:sp>
      <p:sp>
        <p:nvSpPr>
          <p:cNvPr id="13" name="Shape 11"/>
          <p:cNvSpPr/>
          <p:nvPr/>
        </p:nvSpPr>
        <p:spPr>
          <a:xfrm>
            <a:off x="581025" y="22955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alpha val="20000"/>
            </a:srgbClr>
          </a:solidFill>
          <a:ln/>
        </p:spPr>
      </p:sp>
      <p:sp>
        <p:nvSpPr>
          <p:cNvPr id="14" name="Shape 12"/>
          <p:cNvSpPr/>
          <p:nvPr/>
        </p:nvSpPr>
        <p:spPr>
          <a:xfrm>
            <a:off x="695325" y="2409825"/>
            <a:ext cx="152400" cy="152400"/>
          </a:xfrm>
          <a:custGeom>
            <a:avLst/>
            <a:gdLst/>
            <a:ahLst/>
            <a:cxnLst/>
            <a:rect l="l" t="t" r="r" b="b"/>
            <a:pathLst>
              <a:path w="152400" h="152400">
                <a:moveTo>
                  <a:pt x="19050" y="19050"/>
                </a:moveTo>
                <a:cubicBezTo>
                  <a:pt x="8543" y="19050"/>
                  <a:pt x="0" y="27593"/>
                  <a:pt x="0" y="38100"/>
                </a:cubicBezTo>
                <a:lnTo>
                  <a:pt x="0" y="40303"/>
                </a:lnTo>
                <a:cubicBezTo>
                  <a:pt x="0" y="42327"/>
                  <a:pt x="1310" y="44053"/>
                  <a:pt x="3006" y="45154"/>
                </a:cubicBezTo>
                <a:cubicBezTo>
                  <a:pt x="6935" y="47714"/>
                  <a:pt x="9525" y="52120"/>
                  <a:pt x="9525" y="57150"/>
                </a:cubicBezTo>
                <a:cubicBezTo>
                  <a:pt x="9525" y="62180"/>
                  <a:pt x="6935" y="66586"/>
                  <a:pt x="3006" y="69146"/>
                </a:cubicBezTo>
                <a:cubicBezTo>
                  <a:pt x="1310" y="70247"/>
                  <a:pt x="0" y="71973"/>
                  <a:pt x="0" y="73997"/>
                </a:cubicBezTo>
                <a:lnTo>
                  <a:pt x="0" y="90488"/>
                </a:lnTo>
                <a:lnTo>
                  <a:pt x="152400" y="90488"/>
                </a:lnTo>
                <a:lnTo>
                  <a:pt x="152400" y="73997"/>
                </a:lnTo>
                <a:cubicBezTo>
                  <a:pt x="152400" y="71973"/>
                  <a:pt x="151090" y="70247"/>
                  <a:pt x="149394" y="69146"/>
                </a:cubicBezTo>
                <a:cubicBezTo>
                  <a:pt x="145465" y="66586"/>
                  <a:pt x="142875" y="62180"/>
                  <a:pt x="142875" y="57150"/>
                </a:cubicBezTo>
                <a:cubicBezTo>
                  <a:pt x="142875" y="52120"/>
                  <a:pt x="145465" y="47714"/>
                  <a:pt x="149394" y="45154"/>
                </a:cubicBezTo>
                <a:cubicBezTo>
                  <a:pt x="151090" y="44053"/>
                  <a:pt x="152400" y="42327"/>
                  <a:pt x="152400" y="40303"/>
                </a:cubicBezTo>
                <a:lnTo>
                  <a:pt x="152400" y="38100"/>
                </a:lnTo>
                <a:cubicBezTo>
                  <a:pt x="152400" y="27593"/>
                  <a:pt x="143857" y="19050"/>
                  <a:pt x="133350" y="19050"/>
                </a:cubicBezTo>
                <a:lnTo>
                  <a:pt x="19050" y="19050"/>
                </a:lnTo>
                <a:close/>
                <a:moveTo>
                  <a:pt x="152400" y="123825"/>
                </a:moveTo>
                <a:lnTo>
                  <a:pt x="152400" y="104775"/>
                </a:lnTo>
                <a:lnTo>
                  <a:pt x="0" y="104775"/>
                </a:lnTo>
                <a:lnTo>
                  <a:pt x="0" y="123825"/>
                </a:lnTo>
                <a:cubicBezTo>
                  <a:pt x="0" y="129094"/>
                  <a:pt x="4256" y="133350"/>
                  <a:pt x="9525" y="133350"/>
                </a:cubicBezTo>
                <a:lnTo>
                  <a:pt x="28575" y="133350"/>
                </a:lnTo>
                <a:lnTo>
                  <a:pt x="28575" y="126206"/>
                </a:lnTo>
                <a:cubicBezTo>
                  <a:pt x="28575" y="122247"/>
                  <a:pt x="31760" y="119062"/>
                  <a:pt x="35719" y="119062"/>
                </a:cubicBezTo>
                <a:cubicBezTo>
                  <a:pt x="39678" y="119062"/>
                  <a:pt x="42863" y="122247"/>
                  <a:pt x="42863" y="126206"/>
                </a:cubicBezTo>
                <a:lnTo>
                  <a:pt x="42863" y="133350"/>
                </a:lnTo>
                <a:lnTo>
                  <a:pt x="69056" y="133350"/>
                </a:lnTo>
                <a:lnTo>
                  <a:pt x="69056" y="126206"/>
                </a:lnTo>
                <a:cubicBezTo>
                  <a:pt x="69056" y="122247"/>
                  <a:pt x="72241" y="119062"/>
                  <a:pt x="76200" y="119062"/>
                </a:cubicBezTo>
                <a:cubicBezTo>
                  <a:pt x="80159" y="119062"/>
                  <a:pt x="83344" y="122247"/>
                  <a:pt x="83344" y="126206"/>
                </a:cubicBezTo>
                <a:lnTo>
                  <a:pt x="83344" y="133350"/>
                </a:lnTo>
                <a:lnTo>
                  <a:pt x="109537" y="133350"/>
                </a:lnTo>
                <a:lnTo>
                  <a:pt x="109537" y="126206"/>
                </a:lnTo>
                <a:cubicBezTo>
                  <a:pt x="109537" y="122247"/>
                  <a:pt x="112722" y="119062"/>
                  <a:pt x="116681" y="119062"/>
                </a:cubicBezTo>
                <a:cubicBezTo>
                  <a:pt x="120640" y="119062"/>
                  <a:pt x="123825" y="122247"/>
                  <a:pt x="123825" y="126206"/>
                </a:cubicBezTo>
                <a:lnTo>
                  <a:pt x="123825" y="133350"/>
                </a:lnTo>
                <a:lnTo>
                  <a:pt x="142875" y="133350"/>
                </a:lnTo>
                <a:cubicBezTo>
                  <a:pt x="148144" y="133350"/>
                  <a:pt x="152400" y="129094"/>
                  <a:pt x="152400" y="123825"/>
                </a:cubicBezTo>
                <a:close/>
                <a:moveTo>
                  <a:pt x="47625" y="47625"/>
                </a:moveTo>
                <a:lnTo>
                  <a:pt x="47625" y="66675"/>
                </a:lnTo>
                <a:cubicBezTo>
                  <a:pt x="47625" y="71944"/>
                  <a:pt x="43369" y="76200"/>
                  <a:pt x="38100" y="76200"/>
                </a:cubicBezTo>
                <a:cubicBezTo>
                  <a:pt x="32831" y="76200"/>
                  <a:pt x="28575" y="71944"/>
                  <a:pt x="28575" y="66675"/>
                </a:cubicBezTo>
                <a:lnTo>
                  <a:pt x="28575" y="47625"/>
                </a:lnTo>
                <a:cubicBezTo>
                  <a:pt x="28575" y="42356"/>
                  <a:pt x="32831" y="38100"/>
                  <a:pt x="38100" y="38100"/>
                </a:cubicBezTo>
                <a:cubicBezTo>
                  <a:pt x="43369" y="38100"/>
                  <a:pt x="47625" y="42356"/>
                  <a:pt x="47625" y="47625"/>
                </a:cubicBezTo>
                <a:close/>
                <a:moveTo>
                  <a:pt x="85725" y="47625"/>
                </a:moveTo>
                <a:lnTo>
                  <a:pt x="85725" y="66675"/>
                </a:lnTo>
                <a:cubicBezTo>
                  <a:pt x="85725" y="71944"/>
                  <a:pt x="81469" y="76200"/>
                  <a:pt x="76200" y="76200"/>
                </a:cubicBezTo>
                <a:cubicBezTo>
                  <a:pt x="70931" y="76200"/>
                  <a:pt x="66675" y="71944"/>
                  <a:pt x="66675" y="66675"/>
                </a:cubicBezTo>
                <a:lnTo>
                  <a:pt x="66675" y="47625"/>
                </a:lnTo>
                <a:cubicBezTo>
                  <a:pt x="66675" y="42356"/>
                  <a:pt x="70931" y="38100"/>
                  <a:pt x="76200" y="38100"/>
                </a:cubicBezTo>
                <a:cubicBezTo>
                  <a:pt x="81469" y="38100"/>
                  <a:pt x="85725" y="42356"/>
                  <a:pt x="85725" y="47625"/>
                </a:cubicBezTo>
                <a:close/>
                <a:moveTo>
                  <a:pt x="123825" y="47625"/>
                </a:moveTo>
                <a:lnTo>
                  <a:pt x="123825" y="66675"/>
                </a:lnTo>
                <a:cubicBezTo>
                  <a:pt x="123825" y="71944"/>
                  <a:pt x="119569" y="76200"/>
                  <a:pt x="114300" y="76200"/>
                </a:cubicBezTo>
                <a:cubicBezTo>
                  <a:pt x="109031" y="76200"/>
                  <a:pt x="104775" y="71944"/>
                  <a:pt x="104775" y="66675"/>
                </a:cubicBezTo>
                <a:lnTo>
                  <a:pt x="104775" y="47625"/>
                </a:lnTo>
                <a:cubicBezTo>
                  <a:pt x="104775" y="42356"/>
                  <a:pt x="109031" y="38100"/>
                  <a:pt x="114300" y="38100"/>
                </a:cubicBezTo>
                <a:cubicBezTo>
                  <a:pt x="119569" y="38100"/>
                  <a:pt x="123825" y="42356"/>
                  <a:pt x="123825" y="47625"/>
                </a:cubicBezTo>
                <a:close/>
              </a:path>
            </a:pathLst>
          </a:custGeom>
          <a:solidFill>
            <a:srgbClr val="8B5CF6"/>
          </a:solidFill>
          <a:ln/>
        </p:spPr>
      </p:sp>
      <p:sp>
        <p:nvSpPr>
          <p:cNvPr id="15" name="Text 13"/>
          <p:cNvSpPr/>
          <p:nvPr/>
        </p:nvSpPr>
        <p:spPr>
          <a:xfrm>
            <a:off x="1076325" y="2295525"/>
            <a:ext cx="26670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Đánh giá mức tiêu thụ bộ nhớ</a:t>
            </a:r>
            <a:endParaRPr lang="en-US" sz="1600" dirty="0"/>
          </a:p>
        </p:txBody>
      </p:sp>
      <p:sp>
        <p:nvSpPr>
          <p:cNvPr id="16" name="Text 14"/>
          <p:cNvSpPr/>
          <p:nvPr/>
        </p:nvSpPr>
        <p:spPr>
          <a:xfrm>
            <a:off x="1076325" y="2524125"/>
            <a:ext cx="265747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Theo dõi RAM usage theo từng dòng code</a:t>
            </a:r>
            <a:endParaRPr lang="en-US" sz="1600" dirty="0"/>
          </a:p>
        </p:txBody>
      </p:sp>
      <p:sp>
        <p:nvSpPr>
          <p:cNvPr id="17" name="Shape 15"/>
          <p:cNvSpPr/>
          <p:nvPr/>
        </p:nvSpPr>
        <p:spPr>
          <a:xfrm>
            <a:off x="581025" y="28289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alpha val="20000"/>
            </a:srgbClr>
          </a:solidFill>
          <a:ln/>
        </p:spPr>
      </p:sp>
      <p:sp>
        <p:nvSpPr>
          <p:cNvPr id="18" name="Shape 16"/>
          <p:cNvSpPr/>
          <p:nvPr/>
        </p:nvSpPr>
        <p:spPr>
          <a:xfrm>
            <a:off x="704850" y="2943225"/>
            <a:ext cx="133350" cy="152400"/>
          </a:xfrm>
          <a:custGeom>
            <a:avLst/>
            <a:gdLst/>
            <a:ahLst/>
            <a:cxnLst/>
            <a:rect l="l" t="t" r="r" b="b"/>
            <a:pathLst>
              <a:path w="133350" h="152400">
                <a:moveTo>
                  <a:pt x="50006" y="9525"/>
                </a:moveTo>
                <a:lnTo>
                  <a:pt x="7144" y="9525"/>
                </a:lnTo>
                <a:cubicBezTo>
                  <a:pt x="3185" y="9525"/>
                  <a:pt x="0" y="12710"/>
                  <a:pt x="0" y="16669"/>
                </a:cubicBezTo>
                <a:lnTo>
                  <a:pt x="0" y="59531"/>
                </a:lnTo>
                <a:cubicBezTo>
                  <a:pt x="0" y="62419"/>
                  <a:pt x="1726" y="65038"/>
                  <a:pt x="4405" y="66139"/>
                </a:cubicBezTo>
                <a:cubicBezTo>
                  <a:pt x="7084" y="67241"/>
                  <a:pt x="10150" y="66615"/>
                  <a:pt x="12204" y="64591"/>
                </a:cubicBezTo>
                <a:lnTo>
                  <a:pt x="24110" y="52685"/>
                </a:lnTo>
                <a:lnTo>
                  <a:pt x="47625" y="76200"/>
                </a:lnTo>
                <a:lnTo>
                  <a:pt x="24110" y="99715"/>
                </a:lnTo>
                <a:lnTo>
                  <a:pt x="12204" y="87809"/>
                </a:lnTo>
                <a:cubicBezTo>
                  <a:pt x="10150" y="85755"/>
                  <a:pt x="7084" y="85159"/>
                  <a:pt x="4405" y="86261"/>
                </a:cubicBezTo>
                <a:cubicBezTo>
                  <a:pt x="1726" y="87362"/>
                  <a:pt x="0" y="89981"/>
                  <a:pt x="0" y="92869"/>
                </a:cubicBezTo>
                <a:lnTo>
                  <a:pt x="0" y="135731"/>
                </a:lnTo>
                <a:cubicBezTo>
                  <a:pt x="0" y="139690"/>
                  <a:pt x="3185" y="142875"/>
                  <a:pt x="7144" y="142875"/>
                </a:cubicBezTo>
                <a:lnTo>
                  <a:pt x="50006" y="142875"/>
                </a:lnTo>
                <a:cubicBezTo>
                  <a:pt x="52894" y="142875"/>
                  <a:pt x="55513" y="141149"/>
                  <a:pt x="56614" y="138470"/>
                </a:cubicBezTo>
                <a:cubicBezTo>
                  <a:pt x="57716" y="135791"/>
                  <a:pt x="57120" y="132725"/>
                  <a:pt x="55066" y="130671"/>
                </a:cubicBezTo>
                <a:lnTo>
                  <a:pt x="43160" y="118765"/>
                </a:lnTo>
                <a:lnTo>
                  <a:pt x="66675" y="95250"/>
                </a:lnTo>
                <a:lnTo>
                  <a:pt x="90190" y="118765"/>
                </a:lnTo>
                <a:lnTo>
                  <a:pt x="78284" y="130671"/>
                </a:lnTo>
                <a:cubicBezTo>
                  <a:pt x="76230" y="132725"/>
                  <a:pt x="75634" y="135791"/>
                  <a:pt x="76736" y="138470"/>
                </a:cubicBezTo>
                <a:cubicBezTo>
                  <a:pt x="77837" y="141149"/>
                  <a:pt x="80456" y="142875"/>
                  <a:pt x="83344" y="142875"/>
                </a:cubicBezTo>
                <a:lnTo>
                  <a:pt x="126206" y="142875"/>
                </a:lnTo>
                <a:cubicBezTo>
                  <a:pt x="130165" y="142875"/>
                  <a:pt x="133350" y="139690"/>
                  <a:pt x="133350" y="135731"/>
                </a:cubicBezTo>
                <a:lnTo>
                  <a:pt x="133350" y="92869"/>
                </a:lnTo>
                <a:cubicBezTo>
                  <a:pt x="133350" y="89981"/>
                  <a:pt x="131624" y="87362"/>
                  <a:pt x="128945" y="86261"/>
                </a:cubicBezTo>
                <a:cubicBezTo>
                  <a:pt x="126266" y="85159"/>
                  <a:pt x="123200" y="85755"/>
                  <a:pt x="121146" y="87809"/>
                </a:cubicBezTo>
                <a:lnTo>
                  <a:pt x="109240" y="99715"/>
                </a:lnTo>
                <a:lnTo>
                  <a:pt x="85725" y="76200"/>
                </a:lnTo>
                <a:lnTo>
                  <a:pt x="109240" y="52685"/>
                </a:lnTo>
                <a:lnTo>
                  <a:pt x="121146" y="64591"/>
                </a:lnTo>
                <a:cubicBezTo>
                  <a:pt x="123200" y="66645"/>
                  <a:pt x="126266" y="67241"/>
                  <a:pt x="128945" y="66139"/>
                </a:cubicBezTo>
                <a:cubicBezTo>
                  <a:pt x="131624" y="65038"/>
                  <a:pt x="133350" y="62419"/>
                  <a:pt x="133350" y="59531"/>
                </a:cubicBezTo>
                <a:lnTo>
                  <a:pt x="133350" y="16669"/>
                </a:lnTo>
                <a:cubicBezTo>
                  <a:pt x="133350" y="12710"/>
                  <a:pt x="130165" y="9525"/>
                  <a:pt x="126206" y="9525"/>
                </a:cubicBezTo>
                <a:lnTo>
                  <a:pt x="83344" y="9525"/>
                </a:lnTo>
                <a:cubicBezTo>
                  <a:pt x="80456" y="9525"/>
                  <a:pt x="77837" y="11251"/>
                  <a:pt x="76736" y="13930"/>
                </a:cubicBezTo>
                <a:cubicBezTo>
                  <a:pt x="75634" y="16609"/>
                  <a:pt x="76260" y="19675"/>
                  <a:pt x="78284" y="21729"/>
                </a:cubicBezTo>
                <a:lnTo>
                  <a:pt x="90190" y="33635"/>
                </a:lnTo>
                <a:lnTo>
                  <a:pt x="66675" y="57150"/>
                </a:lnTo>
                <a:lnTo>
                  <a:pt x="43160" y="33635"/>
                </a:lnTo>
                <a:lnTo>
                  <a:pt x="55066" y="21729"/>
                </a:lnTo>
                <a:cubicBezTo>
                  <a:pt x="57120" y="19675"/>
                  <a:pt x="57716" y="16609"/>
                  <a:pt x="56614" y="13930"/>
                </a:cubicBezTo>
                <a:cubicBezTo>
                  <a:pt x="55513" y="11251"/>
                  <a:pt x="52894" y="9525"/>
                  <a:pt x="50006" y="9525"/>
                </a:cubicBezTo>
                <a:close/>
              </a:path>
            </a:pathLst>
          </a:custGeom>
          <a:solidFill>
            <a:srgbClr val="10B981"/>
          </a:solidFill>
          <a:ln/>
        </p:spPr>
      </p:sp>
      <p:sp>
        <p:nvSpPr>
          <p:cNvPr id="19" name="Text 17"/>
          <p:cNvSpPr/>
          <p:nvPr/>
        </p:nvSpPr>
        <p:spPr>
          <a:xfrm>
            <a:off x="1076325" y="2828925"/>
            <a:ext cx="25622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Xác định dung lượng đầu vào tối đa</a:t>
            </a:r>
            <a:endParaRPr lang="en-US" sz="1600" dirty="0"/>
          </a:p>
        </p:txBody>
      </p:sp>
      <p:sp>
        <p:nvSpPr>
          <p:cNvPr id="20" name="Text 18"/>
          <p:cNvSpPr/>
          <p:nvPr/>
        </p:nvSpPr>
        <p:spPr>
          <a:xfrm>
            <a:off x="1076325" y="3057525"/>
            <a:ext cx="25527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Giới hạn dữ liệu trong ngưỡng cho phép</a:t>
            </a:r>
            <a:endParaRPr lang="en-US" sz="1600" dirty="0"/>
          </a:p>
        </p:txBody>
      </p:sp>
      <p:sp>
        <p:nvSpPr>
          <p:cNvPr id="21" name="Shape 19"/>
          <p:cNvSpPr/>
          <p:nvPr/>
        </p:nvSpPr>
        <p:spPr>
          <a:xfrm>
            <a:off x="581025" y="33623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59E0B">
              <a:alpha val="20000"/>
            </a:srgbClr>
          </a:solidFill>
          <a:ln/>
        </p:spPr>
      </p:sp>
      <p:sp>
        <p:nvSpPr>
          <p:cNvPr id="22" name="Shape 20"/>
          <p:cNvSpPr/>
          <p:nvPr/>
        </p:nvSpPr>
        <p:spPr>
          <a:xfrm>
            <a:off x="695325" y="3476625"/>
            <a:ext cx="152400" cy="152400"/>
          </a:xfrm>
          <a:custGeom>
            <a:avLst/>
            <a:gdLst/>
            <a:ahLst/>
            <a:cxn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F59E0B"/>
          </a:solidFill>
          <a:ln/>
        </p:spPr>
      </p:sp>
      <p:sp>
        <p:nvSpPr>
          <p:cNvPr id="23" name="Text 21"/>
          <p:cNvSpPr/>
          <p:nvPr/>
        </p:nvSpPr>
        <p:spPr>
          <a:xfrm>
            <a:off x="1076325" y="3362325"/>
            <a:ext cx="25241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Tối ưu hóa code</a:t>
            </a:r>
            <a:endParaRPr lang="en-US" sz="1600" dirty="0"/>
          </a:p>
        </p:txBody>
      </p:sp>
      <p:sp>
        <p:nvSpPr>
          <p:cNvPr id="24" name="Text 22"/>
          <p:cNvSpPr/>
          <p:nvPr/>
        </p:nvSpPr>
        <p:spPr>
          <a:xfrm>
            <a:off x="1076325" y="3590925"/>
            <a:ext cx="251460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Cải thiện hiệu suất với Chained Prompts</a:t>
            </a:r>
            <a:endParaRPr lang="en-US" sz="1600" dirty="0"/>
          </a:p>
        </p:txBody>
      </p:sp>
      <p:sp>
        <p:nvSpPr>
          <p:cNvPr id="25" name="Shape 23"/>
          <p:cNvSpPr/>
          <p:nvPr/>
        </p:nvSpPr>
        <p:spPr>
          <a:xfrm>
            <a:off x="385763" y="4138613"/>
            <a:ext cx="5610225" cy="1419225"/>
          </a:xfrm>
          <a:custGeom>
            <a:avLst/>
            <a:gdLst/>
            <a:ahLst/>
            <a:cxnLst/>
            <a:rect l="l" t="t" r="r" b="b"/>
            <a:pathLst>
              <a:path w="5610225" h="1419225">
                <a:moveTo>
                  <a:pt x="114304" y="0"/>
                </a:moveTo>
                <a:lnTo>
                  <a:pt x="5495921" y="0"/>
                </a:lnTo>
                <a:cubicBezTo>
                  <a:pt x="5559049" y="0"/>
                  <a:pt x="5610225" y="51176"/>
                  <a:pt x="5610225" y="114304"/>
                </a:cubicBezTo>
                <a:lnTo>
                  <a:pt x="5610225" y="1304921"/>
                </a:lnTo>
                <a:cubicBezTo>
                  <a:pt x="5610225" y="1368049"/>
                  <a:pt x="5559049" y="1419225"/>
                  <a:pt x="5495921" y="1419225"/>
                </a:cubicBezTo>
                <a:lnTo>
                  <a:pt x="114304" y="1419225"/>
                </a:lnTo>
                <a:cubicBezTo>
                  <a:pt x="51176" y="1419225"/>
                  <a:pt x="0" y="1368049"/>
                  <a:pt x="0" y="1304921"/>
                </a:cubicBezTo>
                <a:lnTo>
                  <a:pt x="0" y="114304"/>
                </a:lnTo>
                <a:cubicBezTo>
                  <a:pt x="0" y="51218"/>
                  <a:pt x="51218" y="0"/>
                  <a:pt x="114304" y="0"/>
                </a:cubicBezTo>
                <a:close/>
              </a:path>
            </a:pathLst>
          </a:custGeom>
          <a:solidFill>
            <a:srgbClr val="0F172A"/>
          </a:solidFill>
          <a:ln w="12700">
            <a:solidFill>
              <a:srgbClr val="10B981">
                <a:alpha val="30196"/>
              </a:srgbClr>
            </a:solidFill>
            <a:prstDash val="solid"/>
          </a:ln>
        </p:spPr>
      </p:sp>
      <p:sp>
        <p:nvSpPr>
          <p:cNvPr id="26" name="Shape 24"/>
          <p:cNvSpPr/>
          <p:nvPr/>
        </p:nvSpPr>
        <p:spPr>
          <a:xfrm>
            <a:off x="566738" y="4343400"/>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10B981"/>
          </a:solidFill>
          <a:ln/>
        </p:spPr>
      </p:sp>
      <p:sp>
        <p:nvSpPr>
          <p:cNvPr id="27" name="Text 25"/>
          <p:cNvSpPr/>
          <p:nvPr/>
        </p:nvSpPr>
        <p:spPr>
          <a:xfrm>
            <a:off x="762000" y="4295775"/>
            <a:ext cx="5162550" cy="266700"/>
          </a:xfrm>
          <a:prstGeom prst="rect">
            <a:avLst/>
          </a:prstGeom>
          <a:noFill/>
          <a:ln/>
        </p:spPr>
        <p:txBody>
          <a:bodyPr wrap="square" lIns="0" tIns="0" rIns="0" bIns="0" rtlCol="0" anchor="ctr"/>
          <a:lstStyle/>
          <a:p>
            <a:pPr>
              <a:lnSpc>
                <a:spcPct val="130000"/>
              </a:lnSpc>
            </a:pPr>
            <a:r>
              <a:rPr lang="en-US" sz="1350" b="1" dirty="0">
                <a:solidFill>
                  <a:srgbClr val="10B981"/>
                </a:solidFill>
                <a:latin typeface="MiSans" pitchFamily="34" charset="0"/>
                <a:ea typeface="MiSans" pitchFamily="34" charset="-122"/>
                <a:cs typeface="MiSans" pitchFamily="34" charset="-120"/>
              </a:rPr>
              <a:t>Tầm quan trọng</a:t>
            </a:r>
            <a:endParaRPr lang="en-US" sz="1600" dirty="0"/>
          </a:p>
        </p:txBody>
      </p:sp>
      <p:sp>
        <p:nvSpPr>
          <p:cNvPr id="28" name="Shape 26"/>
          <p:cNvSpPr/>
          <p:nvPr/>
        </p:nvSpPr>
        <p:spPr>
          <a:xfrm>
            <a:off x="570309" y="47148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29" name="Text 27"/>
          <p:cNvSpPr/>
          <p:nvPr/>
        </p:nvSpPr>
        <p:spPr>
          <a:xfrm>
            <a:off x="785813" y="4676775"/>
            <a:ext cx="26479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YouTube, TikTok xử lý &gt;1 tỷ lượt xem/ngày</a:t>
            </a:r>
            <a:endParaRPr lang="en-US" sz="1600" dirty="0"/>
          </a:p>
        </p:txBody>
      </p:sp>
      <p:sp>
        <p:nvSpPr>
          <p:cNvPr id="30" name="Shape 28"/>
          <p:cNvSpPr/>
          <p:nvPr/>
        </p:nvSpPr>
        <p:spPr>
          <a:xfrm>
            <a:off x="570309" y="49815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1" name="Text 29"/>
          <p:cNvSpPr/>
          <p:nvPr/>
        </p:nvSpPr>
        <p:spPr>
          <a:xfrm>
            <a:off x="785813" y="4943475"/>
            <a:ext cx="26384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1% cải thiện hiệu suất → tiết kiệm triệu đô</a:t>
            </a:r>
            <a:endParaRPr lang="en-US" sz="1600" dirty="0"/>
          </a:p>
        </p:txBody>
      </p:sp>
      <p:sp>
        <p:nvSpPr>
          <p:cNvPr id="32" name="Shape 30"/>
          <p:cNvSpPr/>
          <p:nvPr/>
        </p:nvSpPr>
        <p:spPr>
          <a:xfrm>
            <a:off x="570309" y="52482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3" name="Text 31"/>
          <p:cNvSpPr/>
          <p:nvPr/>
        </p:nvSpPr>
        <p:spPr>
          <a:xfrm>
            <a:off x="785813" y="5210175"/>
            <a:ext cx="26670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GPT-3 cần 700GB RAM + hàng nghìn GPU</a:t>
            </a:r>
            <a:endParaRPr lang="en-US" sz="1600" dirty="0"/>
          </a:p>
        </p:txBody>
      </p:sp>
      <p:sp>
        <p:nvSpPr>
          <p:cNvPr id="34" name="Shape 32"/>
          <p:cNvSpPr/>
          <p:nvPr/>
        </p:nvSpPr>
        <p:spPr>
          <a:xfrm>
            <a:off x="6196013" y="1147763"/>
            <a:ext cx="5610225" cy="4391025"/>
          </a:xfrm>
          <a:custGeom>
            <a:avLst/>
            <a:gdLst/>
            <a:ahLst/>
            <a:cxnLst/>
            <a:rect l="l" t="t" r="r" b="b"/>
            <a:pathLst>
              <a:path w="5610225" h="4391025">
                <a:moveTo>
                  <a:pt x="114298" y="0"/>
                </a:moveTo>
                <a:lnTo>
                  <a:pt x="5495927" y="0"/>
                </a:lnTo>
                <a:cubicBezTo>
                  <a:pt x="5559052" y="0"/>
                  <a:pt x="5610225" y="51173"/>
                  <a:pt x="5610225" y="114298"/>
                </a:cubicBezTo>
                <a:lnTo>
                  <a:pt x="5610225" y="4276727"/>
                </a:lnTo>
                <a:cubicBezTo>
                  <a:pt x="5610225" y="4339852"/>
                  <a:pt x="5559052" y="4391025"/>
                  <a:pt x="5495927" y="4391025"/>
                </a:cubicBezTo>
                <a:lnTo>
                  <a:pt x="114298" y="4391025"/>
                </a:lnTo>
                <a:cubicBezTo>
                  <a:pt x="51173" y="4391025"/>
                  <a:pt x="0" y="4339852"/>
                  <a:pt x="0" y="4276727"/>
                </a:cubicBezTo>
                <a:lnTo>
                  <a:pt x="0" y="114298"/>
                </a:lnTo>
                <a:cubicBezTo>
                  <a:pt x="0" y="51215"/>
                  <a:pt x="51215" y="0"/>
                  <a:pt x="11429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35" name="Shape 33"/>
          <p:cNvSpPr/>
          <p:nvPr/>
        </p:nvSpPr>
        <p:spPr>
          <a:xfrm>
            <a:off x="6415088" y="1381125"/>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8B5CF6"/>
          </a:solidFill>
          <a:ln/>
        </p:spPr>
      </p:sp>
      <p:sp>
        <p:nvSpPr>
          <p:cNvPr id="36" name="Text 34"/>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MiSans" pitchFamily="34" charset="0"/>
                <a:ea typeface="MiSans" pitchFamily="34" charset="-122"/>
                <a:cs typeface="MiSans" pitchFamily="34" charset="-120"/>
              </a:rPr>
              <a:t>Bối cảnh lý thuyết</a:t>
            </a:r>
            <a:endParaRPr lang="en-US" sz="1600" dirty="0"/>
          </a:p>
        </p:txBody>
      </p:sp>
      <p:sp>
        <p:nvSpPr>
          <p:cNvPr id="37" name="Shape 35"/>
          <p:cNvSpPr/>
          <p:nvPr/>
        </p:nvSpPr>
        <p:spPr>
          <a:xfrm>
            <a:off x="6391275" y="1762125"/>
            <a:ext cx="5219700" cy="1047750"/>
          </a:xfrm>
          <a:custGeom>
            <a:avLst/>
            <a:gdLst/>
            <a:ahLst/>
            <a:cxnLst/>
            <a:rect l="l" t="t" r="r" b="b"/>
            <a:pathLst>
              <a:path w="5219700" h="1047750">
                <a:moveTo>
                  <a:pt x="76203" y="0"/>
                </a:moveTo>
                <a:lnTo>
                  <a:pt x="5143497" y="0"/>
                </a:lnTo>
                <a:cubicBezTo>
                  <a:pt x="5185555" y="0"/>
                  <a:pt x="5219700" y="34145"/>
                  <a:pt x="5219700" y="76203"/>
                </a:cubicBezTo>
                <a:lnTo>
                  <a:pt x="5219700" y="971547"/>
                </a:lnTo>
                <a:cubicBezTo>
                  <a:pt x="5219700" y="1013605"/>
                  <a:pt x="5185555" y="1047750"/>
                  <a:pt x="5143497" y="1047750"/>
                </a:cubicBezTo>
                <a:lnTo>
                  <a:pt x="76203" y="1047750"/>
                </a:lnTo>
                <a:cubicBezTo>
                  <a:pt x="34145" y="1047750"/>
                  <a:pt x="0" y="1013605"/>
                  <a:pt x="0" y="971547"/>
                </a:cubicBezTo>
                <a:lnTo>
                  <a:pt x="0" y="76203"/>
                </a:lnTo>
                <a:cubicBezTo>
                  <a:pt x="0" y="34145"/>
                  <a:pt x="34145" y="0"/>
                  <a:pt x="76203" y="0"/>
                </a:cubicBezTo>
                <a:close/>
              </a:path>
            </a:pathLst>
          </a:custGeom>
          <a:solidFill>
            <a:srgbClr val="0F172A"/>
          </a:solidFill>
          <a:ln/>
        </p:spPr>
      </p:sp>
      <p:sp>
        <p:nvSpPr>
          <p:cNvPr id="38" name="Text 36"/>
          <p:cNvSpPr/>
          <p:nvPr/>
        </p:nvSpPr>
        <p:spPr>
          <a:xfrm>
            <a:off x="6543675" y="1914525"/>
            <a:ext cx="49911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Thờđại Big Data và AI</a:t>
            </a:r>
            <a:endParaRPr lang="en-US" sz="1600" dirty="0"/>
          </a:p>
        </p:txBody>
      </p:sp>
      <p:sp>
        <p:nvSpPr>
          <p:cNvPr id="39" name="Text 37"/>
          <p:cNvSpPr/>
          <p:nvPr/>
        </p:nvSpPr>
        <p:spPr>
          <a:xfrm>
            <a:off x="6543675" y="2219325"/>
            <a:ext cx="4981575" cy="438150"/>
          </a:xfrm>
          <a:prstGeom prst="rect">
            <a:avLst/>
          </a:prstGeom>
          <a:noFill/>
          <a:ln/>
        </p:spPr>
        <p:txBody>
          <a:bodyPr wrap="square" lIns="0" tIns="0" rIns="0" bIns="0" rtlCol="0" anchor="ctr"/>
          <a:lstStyle/>
          <a:p>
            <a:pPr>
              <a:lnSpc>
                <a:spcPct val="140000"/>
              </a:lnSpc>
            </a:pPr>
            <a:r>
              <a:rPr lang="en-US" sz="1050" dirty="0">
                <a:solidFill>
                  <a:srgbClr val="F1F5F9">
                    <a:alpha val="80000"/>
                  </a:srgbClr>
                </a:solidFill>
                <a:latin typeface="MiSans" pitchFamily="34" charset="0"/>
                <a:ea typeface="MiSans" pitchFamily="34" charset="-122"/>
                <a:cs typeface="MiSans" pitchFamily="34" charset="-120"/>
              </a:rPr>
              <a:t>Trong thờđại Big Data và AI, việc tối ưu hóa chương trình Python là </a:t>
            </a:r>
            <a:pPr>
              <a:lnSpc>
                <a:spcPct val="140000"/>
              </a:lnSpc>
            </a:pPr>
            <a:r>
              <a:rPr lang="en-US" sz="1050" b="1" dirty="0">
                <a:solidFill>
                  <a:srgbClr val="8B5CF6"/>
                </a:solidFill>
                <a:latin typeface="MiSans" pitchFamily="34" charset="0"/>
                <a:ea typeface="MiSans" pitchFamily="34" charset="-122"/>
                <a:cs typeface="MiSans" pitchFamily="34" charset="-120"/>
              </a:rPr>
              <a:t>rất quan trọng</a:t>
            </a:r>
            <a:pPr>
              <a:lnSpc>
                <a:spcPct val="140000"/>
              </a:lnSpc>
            </a:pPr>
            <a:r>
              <a:rPr lang="en-US" sz="1050" dirty="0">
                <a:solidFill>
                  <a:srgbClr val="F1F5F9">
                    <a:alpha val="80000"/>
                  </a:srgbClr>
                </a:solidFill>
                <a:latin typeface="MiSans" pitchFamily="34" charset="0"/>
                <a:ea typeface="MiSans" pitchFamily="34" charset="-122"/>
                <a:cs typeface="MiSans" pitchFamily="34" charset="-120"/>
              </a:rPr>
              <a:t> để đảm bảo khả năng mở rộng và tiết kiệm chi phí.</a:t>
            </a:r>
            <a:endParaRPr lang="en-US" sz="1600" dirty="0"/>
          </a:p>
        </p:txBody>
      </p:sp>
      <p:sp>
        <p:nvSpPr>
          <p:cNvPr id="40" name="Shape 38"/>
          <p:cNvSpPr/>
          <p:nvPr/>
        </p:nvSpPr>
        <p:spPr>
          <a:xfrm>
            <a:off x="6391275" y="2957513"/>
            <a:ext cx="5219700" cy="1485900"/>
          </a:xfrm>
          <a:custGeom>
            <a:avLst/>
            <a:gdLst/>
            <a:ahLst/>
            <a:cxnLst/>
            <a:rect l="l" t="t" r="r" b="b"/>
            <a:pathLst>
              <a:path w="5219700" h="1485900">
                <a:moveTo>
                  <a:pt x="76197" y="0"/>
                </a:moveTo>
                <a:lnTo>
                  <a:pt x="5143503" y="0"/>
                </a:lnTo>
                <a:cubicBezTo>
                  <a:pt x="5185585" y="0"/>
                  <a:pt x="5219700" y="34115"/>
                  <a:pt x="5219700" y="76197"/>
                </a:cubicBezTo>
                <a:lnTo>
                  <a:pt x="5219700" y="1409703"/>
                </a:lnTo>
                <a:cubicBezTo>
                  <a:pt x="5219700" y="1451785"/>
                  <a:pt x="5185585" y="1485900"/>
                  <a:pt x="5143503" y="1485900"/>
                </a:cubicBezTo>
                <a:lnTo>
                  <a:pt x="76197" y="1485900"/>
                </a:lnTo>
                <a:cubicBezTo>
                  <a:pt x="34115" y="1485900"/>
                  <a:pt x="0" y="1451785"/>
                  <a:pt x="0" y="1409703"/>
                </a:cubicBezTo>
                <a:lnTo>
                  <a:pt x="0" y="76197"/>
                </a:lnTo>
                <a:cubicBezTo>
                  <a:pt x="0" y="34143"/>
                  <a:pt x="34143" y="0"/>
                  <a:pt x="76197" y="0"/>
                </a:cubicBezTo>
                <a:close/>
              </a:path>
            </a:pathLst>
          </a:custGeom>
          <a:solidFill>
            <a:srgbClr val="0F172A"/>
          </a:solidFill>
          <a:ln/>
        </p:spPr>
      </p:sp>
      <p:sp>
        <p:nvSpPr>
          <p:cNvPr id="41" name="Text 39"/>
          <p:cNvSpPr/>
          <p:nvPr/>
        </p:nvSpPr>
        <p:spPr>
          <a:xfrm>
            <a:off x="6543675" y="3109913"/>
            <a:ext cx="49911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Ví dụ thực tế:</a:t>
            </a:r>
            <a:endParaRPr lang="en-US" sz="1600" dirty="0"/>
          </a:p>
        </p:txBody>
      </p:sp>
      <p:sp>
        <p:nvSpPr>
          <p:cNvPr id="42" name="Shape 40"/>
          <p:cNvSpPr/>
          <p:nvPr/>
        </p:nvSpPr>
        <p:spPr>
          <a:xfrm>
            <a:off x="6543675" y="345281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EF4444">
              <a:alpha val="20000"/>
            </a:srgbClr>
          </a:solidFill>
          <a:ln/>
        </p:spPr>
      </p:sp>
      <p:sp>
        <p:nvSpPr>
          <p:cNvPr id="43" name="Shape 41"/>
          <p:cNvSpPr/>
          <p:nvPr/>
        </p:nvSpPr>
        <p:spPr>
          <a:xfrm>
            <a:off x="6648450" y="3567113"/>
            <a:ext cx="171450" cy="152400"/>
          </a:xfrm>
          <a:custGeom>
            <a:avLst/>
            <a:gdLst/>
            <a:ahLst/>
            <a:cxnLst/>
            <a:rect l="l" t="t" r="r" b="b"/>
            <a:pathLst>
              <a:path w="171450" h="152400">
                <a:moveTo>
                  <a:pt x="163622" y="36939"/>
                </a:moveTo>
                <a:cubicBezTo>
                  <a:pt x="161776" y="29885"/>
                  <a:pt x="156240" y="24348"/>
                  <a:pt x="149245" y="22473"/>
                </a:cubicBezTo>
                <a:cubicBezTo>
                  <a:pt x="136594" y="19050"/>
                  <a:pt x="85755" y="19050"/>
                  <a:pt x="85755" y="19050"/>
                </a:cubicBezTo>
                <a:cubicBezTo>
                  <a:pt x="85755" y="19050"/>
                  <a:pt x="34915" y="19050"/>
                  <a:pt x="22235" y="22473"/>
                </a:cubicBezTo>
                <a:cubicBezTo>
                  <a:pt x="15240" y="24348"/>
                  <a:pt x="9733" y="29885"/>
                  <a:pt x="7858" y="36939"/>
                </a:cubicBezTo>
                <a:cubicBezTo>
                  <a:pt x="4465" y="49709"/>
                  <a:pt x="4465" y="76319"/>
                  <a:pt x="4465" y="76319"/>
                </a:cubicBezTo>
                <a:cubicBezTo>
                  <a:pt x="4465" y="76319"/>
                  <a:pt x="4465" y="102930"/>
                  <a:pt x="7858" y="115699"/>
                </a:cubicBezTo>
                <a:cubicBezTo>
                  <a:pt x="9733" y="122724"/>
                  <a:pt x="15240" y="128052"/>
                  <a:pt x="22235" y="129927"/>
                </a:cubicBezTo>
                <a:cubicBezTo>
                  <a:pt x="34915" y="133350"/>
                  <a:pt x="85755" y="133350"/>
                  <a:pt x="85755" y="133350"/>
                </a:cubicBezTo>
                <a:cubicBezTo>
                  <a:pt x="85755" y="133350"/>
                  <a:pt x="136594" y="133350"/>
                  <a:pt x="149275" y="129927"/>
                </a:cubicBezTo>
                <a:cubicBezTo>
                  <a:pt x="156270" y="128052"/>
                  <a:pt x="161776" y="122724"/>
                  <a:pt x="163651" y="115699"/>
                </a:cubicBezTo>
                <a:cubicBezTo>
                  <a:pt x="167045" y="102930"/>
                  <a:pt x="167045" y="76319"/>
                  <a:pt x="167045" y="76319"/>
                </a:cubicBezTo>
                <a:cubicBezTo>
                  <a:pt x="167045" y="76319"/>
                  <a:pt x="167045" y="49709"/>
                  <a:pt x="163651" y="36939"/>
                </a:cubicBezTo>
                <a:close/>
                <a:moveTo>
                  <a:pt x="69116" y="100489"/>
                </a:moveTo>
                <a:lnTo>
                  <a:pt x="69116" y="52149"/>
                </a:lnTo>
                <a:lnTo>
                  <a:pt x="111591" y="76319"/>
                </a:lnTo>
                <a:lnTo>
                  <a:pt x="69116" y="100489"/>
                </a:lnTo>
                <a:close/>
              </a:path>
            </a:pathLst>
          </a:custGeom>
          <a:solidFill>
            <a:srgbClr val="EF4444"/>
          </a:solidFill>
          <a:ln/>
        </p:spPr>
      </p:sp>
      <p:sp>
        <p:nvSpPr>
          <p:cNvPr id="44" name="Text 42"/>
          <p:cNvSpPr/>
          <p:nvPr/>
        </p:nvSpPr>
        <p:spPr>
          <a:xfrm>
            <a:off x="7038975" y="3471863"/>
            <a:ext cx="933450"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YouTube</a:t>
            </a:r>
            <a:endParaRPr lang="en-US" sz="1600" dirty="0"/>
          </a:p>
        </p:txBody>
      </p:sp>
      <p:sp>
        <p:nvSpPr>
          <p:cNvPr id="45" name="Text 43"/>
          <p:cNvSpPr/>
          <p:nvPr/>
        </p:nvSpPr>
        <p:spPr>
          <a:xfrm>
            <a:off x="7038975" y="3662362"/>
            <a:ext cx="923925"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1 tỷ+ views/ngày</a:t>
            </a:r>
            <a:endParaRPr lang="en-US" sz="1600" dirty="0"/>
          </a:p>
        </p:txBody>
      </p:sp>
      <p:sp>
        <p:nvSpPr>
          <p:cNvPr id="46" name="Shape 44"/>
          <p:cNvSpPr/>
          <p:nvPr/>
        </p:nvSpPr>
        <p:spPr>
          <a:xfrm>
            <a:off x="6543675" y="391001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alpha val="20000"/>
            </a:srgbClr>
          </a:solidFill>
          <a:ln/>
        </p:spPr>
      </p:sp>
      <p:sp>
        <p:nvSpPr>
          <p:cNvPr id="47" name="Shape 45"/>
          <p:cNvSpPr/>
          <p:nvPr/>
        </p:nvSpPr>
        <p:spPr>
          <a:xfrm>
            <a:off x="6657975" y="4024313"/>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8B5CF6"/>
          </a:solidFill>
          <a:ln/>
        </p:spPr>
      </p:sp>
      <p:sp>
        <p:nvSpPr>
          <p:cNvPr id="48" name="Text 46"/>
          <p:cNvSpPr/>
          <p:nvPr/>
        </p:nvSpPr>
        <p:spPr>
          <a:xfrm>
            <a:off x="7038975" y="3929063"/>
            <a:ext cx="1428750"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GPT-3 Training</a:t>
            </a:r>
            <a:endParaRPr lang="en-US" sz="1600" dirty="0"/>
          </a:p>
        </p:txBody>
      </p:sp>
      <p:sp>
        <p:nvSpPr>
          <p:cNvPr id="49" name="Text 47"/>
          <p:cNvSpPr/>
          <p:nvPr/>
        </p:nvSpPr>
        <p:spPr>
          <a:xfrm>
            <a:off x="7038975" y="4119562"/>
            <a:ext cx="1419225"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700GB RAM + 1000s GPU</a:t>
            </a:r>
            <a:endParaRPr lang="en-US" sz="1600" dirty="0"/>
          </a:p>
        </p:txBody>
      </p:sp>
      <p:sp>
        <p:nvSpPr>
          <p:cNvPr id="50" name="Shape 48"/>
          <p:cNvSpPr/>
          <p:nvPr/>
        </p:nvSpPr>
        <p:spPr>
          <a:xfrm>
            <a:off x="6196013" y="57007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51" name="Shape 49"/>
          <p:cNvSpPr/>
          <p:nvPr/>
        </p:nvSpPr>
        <p:spPr>
          <a:xfrm>
            <a:off x="6391275" y="59055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59E0B"/>
          </a:solidFill>
          <a:ln/>
        </p:spPr>
      </p:sp>
      <p:sp>
        <p:nvSpPr>
          <p:cNvPr id="52" name="Text 50"/>
          <p:cNvSpPr/>
          <p:nvPr/>
        </p:nvSpPr>
        <p:spPr>
          <a:xfrm>
            <a:off x="6600825" y="58578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Thậm chí 1% cải thiện hiệu suất</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có thể tiết kiệm hàng triệu đô la cho các hệ thống quy mô lớn.</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FFFFFF"/>
          </a:solidFill>
          <a:ln/>
        </p:spPr>
      </p:sp>
      <p:sp>
        <p:nvSpPr>
          <p:cNvPr id="4" name="Text 2"/>
          <p:cNvSpPr/>
          <p:nvPr/>
        </p:nvSpPr>
        <p:spPr>
          <a:xfrm>
            <a:off x="876300" y="381000"/>
            <a:ext cx="595312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14 | KHÁI NIỆM CĂN BẢN</a:t>
            </a:r>
            <a:endParaRPr lang="en-US" sz="1600" dirty="0"/>
          </a:p>
        </p:txBody>
      </p:sp>
      <p:sp>
        <p:nvSpPr>
          <p:cNvPr id="5" name="Text 3"/>
          <p:cNvSpPr/>
          <p:nvPr/>
        </p:nvSpPr>
        <p:spPr>
          <a:xfrm>
            <a:off x="876300" y="571500"/>
            <a:ext cx="60293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Các khái niệm căn bản: Độ phức tạp thờigian</a:t>
            </a:r>
            <a:endParaRPr lang="en-US" sz="1600" dirty="0"/>
          </a:p>
        </p:txBody>
      </p:sp>
      <p:sp>
        <p:nvSpPr>
          <p:cNvPr id="6" name="Shape 4"/>
          <p:cNvSpPr/>
          <p:nvPr/>
        </p:nvSpPr>
        <p:spPr>
          <a:xfrm>
            <a:off x="385763" y="1147763"/>
            <a:ext cx="11420475" cy="847725"/>
          </a:xfrm>
          <a:custGeom>
            <a:avLst/>
            <a:gdLst/>
            <a:ahLst/>
            <a:cxnLst/>
            <a:rect l="l" t="t" r="r" b="b"/>
            <a:pathLst>
              <a:path w="11420475" h="847725">
                <a:moveTo>
                  <a:pt x="114299" y="0"/>
                </a:moveTo>
                <a:lnTo>
                  <a:pt x="11306176" y="0"/>
                </a:lnTo>
                <a:cubicBezTo>
                  <a:pt x="11369302" y="0"/>
                  <a:pt x="11420475" y="51173"/>
                  <a:pt x="11420475" y="114299"/>
                </a:cubicBezTo>
                <a:lnTo>
                  <a:pt x="11420475" y="733426"/>
                </a:lnTo>
                <a:cubicBezTo>
                  <a:pt x="11420475" y="796552"/>
                  <a:pt x="11369302" y="847725"/>
                  <a:pt x="11306176" y="847725"/>
                </a:cubicBezTo>
                <a:lnTo>
                  <a:pt x="114299" y="847725"/>
                </a:lnTo>
                <a:cubicBezTo>
                  <a:pt x="51216" y="847725"/>
                  <a:pt x="0" y="796509"/>
                  <a:pt x="0" y="733426"/>
                </a:cubicBezTo>
                <a:lnTo>
                  <a:pt x="0" y="114299"/>
                </a:lnTo>
                <a:cubicBezTo>
                  <a:pt x="0" y="51216"/>
                  <a:pt x="51216" y="0"/>
                  <a:pt x="114299" y="0"/>
                </a:cubicBezTo>
                <a:close/>
              </a:path>
            </a:pathLst>
          </a:custGeom>
          <a:gradFill rotWithShape="1" flip="none">
            <a:gsLst>
              <a:gs pos="0">
                <a:srgbClr val="3B82F6">
                  <a:alpha val="10000"/>
                </a:srgbClr>
              </a:gs>
              <a:gs pos="100000">
                <a:srgbClr val="3B82F6">
                  <a:alpha val="5000"/>
                </a:srgbClr>
              </a:gs>
            </a:gsLst>
            <a:lin ang="0" scaled="1"/>
          </a:gradFill>
          <a:ln w="12700">
            <a:solidFill>
              <a:srgbClr val="3B82F6">
                <a:alpha val="30196"/>
              </a:srgbClr>
            </a:solidFill>
            <a:prstDash val="solid"/>
          </a:ln>
        </p:spPr>
      </p:sp>
      <p:sp>
        <p:nvSpPr>
          <p:cNvPr id="7" name="Text 5"/>
          <p:cNvSpPr/>
          <p:nvPr/>
        </p:nvSpPr>
        <p:spPr>
          <a:xfrm>
            <a:off x="542925" y="1304925"/>
            <a:ext cx="11182350"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Định nghĩa:</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Thờigian cần thiết để chương trình thực thi trên một cấu hình phần cứng nhất định.</a:t>
            </a:r>
            <a:endParaRPr lang="en-US" sz="1600" dirty="0"/>
          </a:p>
        </p:txBody>
      </p:sp>
      <p:sp>
        <p:nvSpPr>
          <p:cNvPr id="8" name="Text 6"/>
          <p:cNvSpPr/>
          <p:nvPr/>
        </p:nvSpPr>
        <p:spPr>
          <a:xfrm>
            <a:off x="542925" y="1609725"/>
            <a:ext cx="11182350"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Big-O Notation: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Ký hiệu O(...) mô tả cách thờigian chạy thay đổi theo kích thước dữ liệu đầu vào (n)</a:t>
            </a:r>
            <a:endParaRPr lang="en-US" sz="1600" dirty="0"/>
          </a:p>
        </p:txBody>
      </p:sp>
      <p:sp>
        <p:nvSpPr>
          <p:cNvPr id="9" name="Shape 7"/>
          <p:cNvSpPr/>
          <p:nvPr/>
        </p:nvSpPr>
        <p:spPr>
          <a:xfrm>
            <a:off x="385763" y="2157413"/>
            <a:ext cx="2181225" cy="3609975"/>
          </a:xfrm>
          <a:custGeom>
            <a:avLst/>
            <a:gdLst/>
            <a:ahLst/>
            <a:cxnLst/>
            <a:rect l="l" t="t" r="r" b="b"/>
            <a:pathLst>
              <a:path w="2181225" h="3609975">
                <a:moveTo>
                  <a:pt x="114296" y="0"/>
                </a:moveTo>
                <a:lnTo>
                  <a:pt x="2066929" y="0"/>
                </a:lnTo>
                <a:cubicBezTo>
                  <a:pt x="2130053" y="0"/>
                  <a:pt x="2181225" y="51172"/>
                  <a:pt x="2181225" y="114296"/>
                </a:cubicBezTo>
                <a:lnTo>
                  <a:pt x="2181225" y="3495679"/>
                </a:lnTo>
                <a:cubicBezTo>
                  <a:pt x="2181225" y="3558803"/>
                  <a:pt x="2130053" y="3609975"/>
                  <a:pt x="2066929" y="3609975"/>
                </a:cubicBezTo>
                <a:lnTo>
                  <a:pt x="114296" y="3609975"/>
                </a:lnTo>
                <a:cubicBezTo>
                  <a:pt x="51172" y="3609975"/>
                  <a:pt x="0" y="3558803"/>
                  <a:pt x="0" y="3495679"/>
                </a:cubicBezTo>
                <a:lnTo>
                  <a:pt x="0" y="114296"/>
                </a:lnTo>
                <a:cubicBezTo>
                  <a:pt x="0" y="51214"/>
                  <a:pt x="51214" y="0"/>
                  <a:pt x="114296" y="0"/>
                </a:cubicBezTo>
                <a:close/>
              </a:path>
            </a:pathLst>
          </a:custGeom>
          <a:solidFill>
            <a:srgbClr val="0F172A"/>
          </a:solidFill>
          <a:ln w="12700">
            <a:solidFill>
              <a:srgbClr val="10B981">
                <a:alpha val="30196"/>
              </a:srgbClr>
            </a:solidFill>
            <a:prstDash val="solid"/>
          </a:ln>
        </p:spPr>
      </p:sp>
      <p:sp>
        <p:nvSpPr>
          <p:cNvPr id="10" name="Shape 8"/>
          <p:cNvSpPr/>
          <p:nvPr/>
        </p:nvSpPr>
        <p:spPr>
          <a:xfrm>
            <a:off x="1122611" y="2314575"/>
            <a:ext cx="714375" cy="457200"/>
          </a:xfrm>
          <a:custGeom>
            <a:avLst/>
            <a:gdLst/>
            <a:ahLst/>
            <a:cxnLst/>
            <a:rect l="l" t="t" r="r" b="b"/>
            <a:pathLst>
              <a:path w="714375" h="457200">
                <a:moveTo>
                  <a:pt x="76202" y="0"/>
                </a:moveTo>
                <a:lnTo>
                  <a:pt x="638173" y="0"/>
                </a:lnTo>
                <a:cubicBezTo>
                  <a:pt x="680258" y="0"/>
                  <a:pt x="714375" y="34117"/>
                  <a:pt x="714375" y="76202"/>
                </a:cubicBezTo>
                <a:lnTo>
                  <a:pt x="714375" y="380998"/>
                </a:lnTo>
                <a:cubicBezTo>
                  <a:pt x="714375" y="423083"/>
                  <a:pt x="680258" y="457200"/>
                  <a:pt x="638173" y="457200"/>
                </a:cubicBezTo>
                <a:lnTo>
                  <a:pt x="76202" y="457200"/>
                </a:lnTo>
                <a:cubicBezTo>
                  <a:pt x="34145" y="457200"/>
                  <a:pt x="0" y="423055"/>
                  <a:pt x="0" y="380998"/>
                </a:cubicBezTo>
                <a:lnTo>
                  <a:pt x="0" y="76202"/>
                </a:lnTo>
                <a:cubicBezTo>
                  <a:pt x="0" y="34145"/>
                  <a:pt x="34145" y="0"/>
                  <a:pt x="76202" y="0"/>
                </a:cubicBezTo>
                <a:close/>
              </a:path>
            </a:pathLst>
          </a:custGeom>
          <a:solidFill>
            <a:srgbClr val="10B981">
              <a:alpha val="20000"/>
            </a:srgbClr>
          </a:solidFill>
          <a:ln/>
        </p:spPr>
      </p:sp>
      <p:sp>
        <p:nvSpPr>
          <p:cNvPr id="11" name="Text 9"/>
          <p:cNvSpPr/>
          <p:nvPr/>
        </p:nvSpPr>
        <p:spPr>
          <a:xfrm>
            <a:off x="1217861" y="2390775"/>
            <a:ext cx="523875" cy="304800"/>
          </a:xfrm>
          <a:prstGeom prst="rect">
            <a:avLst/>
          </a:prstGeom>
          <a:noFill/>
          <a:ln/>
        </p:spPr>
        <p:txBody>
          <a:bodyPr wrap="square" lIns="0" tIns="0" rIns="0" bIns="0" rtlCol="0" anchor="ctr"/>
          <a:lstStyle/>
          <a:p>
            <a:pPr algn="ctr">
              <a:lnSpc>
                <a:spcPct val="110000"/>
              </a:lnSpc>
            </a:pPr>
            <a:r>
              <a:rPr lang="en-US" sz="1800" b="1" dirty="0">
                <a:solidFill>
                  <a:srgbClr val="10B981"/>
                </a:solidFill>
                <a:latin typeface="MiSans" pitchFamily="34" charset="0"/>
                <a:ea typeface="MiSans" pitchFamily="34" charset="-122"/>
                <a:cs typeface="MiSans" pitchFamily="34" charset="-120"/>
              </a:rPr>
              <a:t>O(1)</a:t>
            </a:r>
            <a:endParaRPr lang="en-US" sz="1600" dirty="0"/>
          </a:p>
        </p:txBody>
      </p:sp>
      <p:sp>
        <p:nvSpPr>
          <p:cNvPr id="12" name="Text 10"/>
          <p:cNvSpPr/>
          <p:nvPr/>
        </p:nvSpPr>
        <p:spPr>
          <a:xfrm>
            <a:off x="504825" y="2847975"/>
            <a:ext cx="194310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Hằng số</a:t>
            </a:r>
            <a:endParaRPr lang="en-US" sz="1600" dirty="0"/>
          </a:p>
        </p:txBody>
      </p:sp>
      <p:sp>
        <p:nvSpPr>
          <p:cNvPr id="13" name="Text 11"/>
          <p:cNvSpPr/>
          <p:nvPr/>
        </p:nvSpPr>
        <p:spPr>
          <a:xfrm>
            <a:off x="509587" y="3190875"/>
            <a:ext cx="1933575" cy="1876425"/>
          </a:xfrm>
          <a:prstGeom prst="rect">
            <a:avLst/>
          </a:prstGeom>
          <a:noFill/>
          <a:ln/>
        </p:spPr>
        <p:txBody>
          <a:bodyPr wrap="square" lIns="0" tIns="0" rIns="0" bIns="0" rtlCol="0" anchor="ctr"/>
          <a:lstStyle/>
          <a:p>
            <a:pPr algn="ctr">
              <a:lnSpc>
                <a:spcPct val="120000"/>
              </a:lnSpc>
            </a:pPr>
            <a:r>
              <a:rPr lang="en-US" sz="1050" dirty="0">
                <a:solidFill>
                  <a:srgbClr val="F1F5F9">
                    <a:alpha val="70000"/>
                  </a:srgbClr>
                </a:solidFill>
                <a:latin typeface="MiSans" pitchFamily="34" charset="0"/>
                <a:ea typeface="MiSans" pitchFamily="34" charset="-122"/>
                <a:cs typeface="MiSans" pitchFamily="34" charset="-120"/>
              </a:rPr>
              <a:t>Thờigian không đổi dù n tăng</a:t>
            </a:r>
            <a:endParaRPr lang="en-US" sz="1600" dirty="0"/>
          </a:p>
        </p:txBody>
      </p:sp>
      <p:sp>
        <p:nvSpPr>
          <p:cNvPr id="14" name="Shape 12"/>
          <p:cNvSpPr/>
          <p:nvPr/>
        </p:nvSpPr>
        <p:spPr>
          <a:xfrm>
            <a:off x="542925" y="5186363"/>
            <a:ext cx="1866900" cy="9525"/>
          </a:xfrm>
          <a:custGeom>
            <a:avLst/>
            <a:gdLst/>
            <a:ahLst/>
            <a:cxnLst/>
            <a:rect l="l" t="t" r="r" b="b"/>
            <a:pathLst>
              <a:path w="1866900" h="9525">
                <a:moveTo>
                  <a:pt x="0" y="0"/>
                </a:moveTo>
                <a:lnTo>
                  <a:pt x="1866900" y="0"/>
                </a:lnTo>
                <a:lnTo>
                  <a:pt x="1866900" y="9525"/>
                </a:lnTo>
                <a:lnTo>
                  <a:pt x="0" y="9525"/>
                </a:lnTo>
                <a:lnTo>
                  <a:pt x="0" y="0"/>
                </a:lnTo>
                <a:close/>
              </a:path>
            </a:pathLst>
          </a:custGeom>
          <a:solidFill>
            <a:srgbClr val="F1F5F9">
              <a:alpha val="10196"/>
            </a:srgbClr>
          </a:solidFill>
          <a:ln/>
        </p:spPr>
      </p:sp>
      <p:sp>
        <p:nvSpPr>
          <p:cNvPr id="15" name="Text 13"/>
          <p:cNvSpPr/>
          <p:nvPr/>
        </p:nvSpPr>
        <p:spPr>
          <a:xfrm>
            <a:off x="514350" y="5305425"/>
            <a:ext cx="1924050" cy="3048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Ví dụ: Truy cập phần tử mảng theo chỉ số</a:t>
            </a:r>
            <a:endParaRPr lang="en-US" sz="1600" dirty="0"/>
          </a:p>
        </p:txBody>
      </p:sp>
      <p:sp>
        <p:nvSpPr>
          <p:cNvPr id="16" name="Shape 14"/>
          <p:cNvSpPr/>
          <p:nvPr/>
        </p:nvSpPr>
        <p:spPr>
          <a:xfrm>
            <a:off x="2694533" y="2157413"/>
            <a:ext cx="2181225" cy="3609975"/>
          </a:xfrm>
          <a:custGeom>
            <a:avLst/>
            <a:gdLst/>
            <a:ahLst/>
            <a:cxnLst/>
            <a:rect l="l" t="t" r="r" b="b"/>
            <a:pathLst>
              <a:path w="2181225" h="3609975">
                <a:moveTo>
                  <a:pt x="114296" y="0"/>
                </a:moveTo>
                <a:lnTo>
                  <a:pt x="2066929" y="0"/>
                </a:lnTo>
                <a:cubicBezTo>
                  <a:pt x="2130053" y="0"/>
                  <a:pt x="2181225" y="51172"/>
                  <a:pt x="2181225" y="114296"/>
                </a:cubicBezTo>
                <a:lnTo>
                  <a:pt x="2181225" y="3495679"/>
                </a:lnTo>
                <a:cubicBezTo>
                  <a:pt x="2181225" y="3558803"/>
                  <a:pt x="2130053" y="3609975"/>
                  <a:pt x="2066929" y="3609975"/>
                </a:cubicBezTo>
                <a:lnTo>
                  <a:pt x="114296" y="3609975"/>
                </a:lnTo>
                <a:cubicBezTo>
                  <a:pt x="51172" y="3609975"/>
                  <a:pt x="0" y="3558803"/>
                  <a:pt x="0" y="3495679"/>
                </a:cubicBezTo>
                <a:lnTo>
                  <a:pt x="0" y="114296"/>
                </a:lnTo>
                <a:cubicBezTo>
                  <a:pt x="0" y="51214"/>
                  <a:pt x="51214" y="0"/>
                  <a:pt x="114296" y="0"/>
                </a:cubicBezTo>
                <a:close/>
              </a:path>
            </a:pathLst>
          </a:custGeom>
          <a:solidFill>
            <a:srgbClr val="0F172A"/>
          </a:solidFill>
          <a:ln w="12700">
            <a:solidFill>
              <a:srgbClr val="3B82F6">
                <a:alpha val="30196"/>
              </a:srgbClr>
            </a:solidFill>
            <a:prstDash val="solid"/>
          </a:ln>
        </p:spPr>
      </p:sp>
      <p:sp>
        <p:nvSpPr>
          <p:cNvPr id="17" name="Shape 15"/>
          <p:cNvSpPr/>
          <p:nvPr/>
        </p:nvSpPr>
        <p:spPr>
          <a:xfrm>
            <a:off x="3215729" y="2314575"/>
            <a:ext cx="1143000" cy="457200"/>
          </a:xfrm>
          <a:custGeom>
            <a:avLst/>
            <a:gdLst/>
            <a:ahLst/>
            <a:cxnLst/>
            <a:rect l="l" t="t" r="r" b="b"/>
            <a:pathLst>
              <a:path w="1143000" h="457200">
                <a:moveTo>
                  <a:pt x="76202" y="0"/>
                </a:moveTo>
                <a:lnTo>
                  <a:pt x="1066798" y="0"/>
                </a:lnTo>
                <a:cubicBezTo>
                  <a:pt x="1108883" y="0"/>
                  <a:pt x="1143000" y="34117"/>
                  <a:pt x="1143000" y="76202"/>
                </a:cubicBezTo>
                <a:lnTo>
                  <a:pt x="1143000" y="380998"/>
                </a:lnTo>
                <a:cubicBezTo>
                  <a:pt x="1143000" y="423083"/>
                  <a:pt x="1108883" y="457200"/>
                  <a:pt x="1066798" y="457200"/>
                </a:cubicBezTo>
                <a:lnTo>
                  <a:pt x="76202" y="457200"/>
                </a:lnTo>
                <a:cubicBezTo>
                  <a:pt x="34145" y="457200"/>
                  <a:pt x="0" y="423055"/>
                  <a:pt x="0" y="380998"/>
                </a:cubicBezTo>
                <a:lnTo>
                  <a:pt x="0" y="76202"/>
                </a:lnTo>
                <a:cubicBezTo>
                  <a:pt x="0" y="34145"/>
                  <a:pt x="34145" y="0"/>
                  <a:pt x="76202" y="0"/>
                </a:cubicBezTo>
                <a:close/>
              </a:path>
            </a:pathLst>
          </a:custGeom>
          <a:solidFill>
            <a:srgbClr val="3B82F6">
              <a:alpha val="20000"/>
            </a:srgbClr>
          </a:solidFill>
          <a:ln/>
        </p:spPr>
      </p:sp>
      <p:sp>
        <p:nvSpPr>
          <p:cNvPr id="18" name="Text 16"/>
          <p:cNvSpPr/>
          <p:nvPr/>
        </p:nvSpPr>
        <p:spPr>
          <a:xfrm>
            <a:off x="3310979" y="2390775"/>
            <a:ext cx="952500" cy="304800"/>
          </a:xfrm>
          <a:prstGeom prst="rect">
            <a:avLst/>
          </a:prstGeom>
          <a:noFill/>
          <a:ln/>
        </p:spPr>
        <p:txBody>
          <a:bodyPr wrap="square" lIns="0" tIns="0" rIns="0" bIns="0" rtlCol="0" anchor="ctr"/>
          <a:lstStyle/>
          <a:p>
            <a:pPr algn="ctr">
              <a:lnSpc>
                <a:spcPct val="110000"/>
              </a:lnSpc>
            </a:pPr>
            <a:r>
              <a:rPr lang="en-US" sz="1800" b="1" dirty="0">
                <a:solidFill>
                  <a:srgbClr val="3B82F6"/>
                </a:solidFill>
                <a:latin typeface="MiSans" pitchFamily="34" charset="0"/>
                <a:ea typeface="MiSans" pitchFamily="34" charset="-122"/>
                <a:cs typeface="MiSans" pitchFamily="34" charset="-120"/>
              </a:rPr>
              <a:t>O(log n)</a:t>
            </a:r>
            <a:endParaRPr lang="en-US" sz="1600" dirty="0"/>
          </a:p>
        </p:txBody>
      </p:sp>
      <p:sp>
        <p:nvSpPr>
          <p:cNvPr id="19" name="Text 17"/>
          <p:cNvSpPr/>
          <p:nvPr/>
        </p:nvSpPr>
        <p:spPr>
          <a:xfrm>
            <a:off x="2813596" y="2847975"/>
            <a:ext cx="194310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Logarit</a:t>
            </a:r>
            <a:endParaRPr lang="en-US" sz="1600" dirty="0"/>
          </a:p>
        </p:txBody>
      </p:sp>
      <p:sp>
        <p:nvSpPr>
          <p:cNvPr id="20" name="Text 18"/>
          <p:cNvSpPr/>
          <p:nvPr/>
        </p:nvSpPr>
        <p:spPr>
          <a:xfrm>
            <a:off x="2818358" y="3190875"/>
            <a:ext cx="1933575" cy="2028825"/>
          </a:xfrm>
          <a:prstGeom prst="rect">
            <a:avLst/>
          </a:prstGeom>
          <a:noFill/>
          <a:ln/>
        </p:spPr>
        <p:txBody>
          <a:bodyPr wrap="square" lIns="0" tIns="0" rIns="0" bIns="0" rtlCol="0" anchor="ctr"/>
          <a:lstStyle/>
          <a:p>
            <a:pPr algn="ctr">
              <a:lnSpc>
                <a:spcPct val="120000"/>
              </a:lnSpc>
            </a:pPr>
            <a:r>
              <a:rPr lang="en-US" sz="1050" dirty="0">
                <a:solidFill>
                  <a:srgbClr val="F1F5F9">
                    <a:alpha val="70000"/>
                  </a:srgbClr>
                </a:solidFill>
                <a:latin typeface="MiSans" pitchFamily="34" charset="0"/>
                <a:ea typeface="MiSans" pitchFamily="34" charset="-122"/>
                <a:cs typeface="MiSans" pitchFamily="34" charset="-120"/>
              </a:rPr>
              <a:t>Tăng rất chậm khi n tăng</a:t>
            </a:r>
            <a:endParaRPr lang="en-US" sz="1600" dirty="0"/>
          </a:p>
        </p:txBody>
      </p:sp>
      <p:sp>
        <p:nvSpPr>
          <p:cNvPr id="21" name="Shape 19"/>
          <p:cNvSpPr/>
          <p:nvPr/>
        </p:nvSpPr>
        <p:spPr>
          <a:xfrm>
            <a:off x="2851696" y="5338763"/>
            <a:ext cx="1866900" cy="9525"/>
          </a:xfrm>
          <a:custGeom>
            <a:avLst/>
            <a:gdLst/>
            <a:ahLst/>
            <a:cxnLst/>
            <a:rect l="l" t="t" r="r" b="b"/>
            <a:pathLst>
              <a:path w="1866900" h="9525">
                <a:moveTo>
                  <a:pt x="0" y="0"/>
                </a:moveTo>
                <a:lnTo>
                  <a:pt x="1866900" y="0"/>
                </a:lnTo>
                <a:lnTo>
                  <a:pt x="1866900" y="9525"/>
                </a:lnTo>
                <a:lnTo>
                  <a:pt x="0" y="9525"/>
                </a:lnTo>
                <a:lnTo>
                  <a:pt x="0" y="0"/>
                </a:lnTo>
                <a:close/>
              </a:path>
            </a:pathLst>
          </a:custGeom>
          <a:solidFill>
            <a:srgbClr val="F1F5F9">
              <a:alpha val="10196"/>
            </a:srgbClr>
          </a:solidFill>
          <a:ln/>
        </p:spPr>
      </p:sp>
      <p:sp>
        <p:nvSpPr>
          <p:cNvPr id="22" name="Text 20"/>
          <p:cNvSpPr/>
          <p:nvPr/>
        </p:nvSpPr>
        <p:spPr>
          <a:xfrm>
            <a:off x="2823121" y="5457825"/>
            <a:ext cx="192405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Ví dụ: Tìm kiếm nhị phân</a:t>
            </a:r>
            <a:endParaRPr lang="en-US" sz="1600" dirty="0"/>
          </a:p>
        </p:txBody>
      </p:sp>
      <p:sp>
        <p:nvSpPr>
          <p:cNvPr id="23" name="Shape 21"/>
          <p:cNvSpPr/>
          <p:nvPr/>
        </p:nvSpPr>
        <p:spPr>
          <a:xfrm>
            <a:off x="5003453" y="2157413"/>
            <a:ext cx="2181225" cy="3609975"/>
          </a:xfrm>
          <a:custGeom>
            <a:avLst/>
            <a:gdLst/>
            <a:ahLst/>
            <a:cxnLst/>
            <a:rect l="l" t="t" r="r" b="b"/>
            <a:pathLst>
              <a:path w="2181225" h="3609975">
                <a:moveTo>
                  <a:pt x="114296" y="0"/>
                </a:moveTo>
                <a:lnTo>
                  <a:pt x="2066929" y="0"/>
                </a:lnTo>
                <a:cubicBezTo>
                  <a:pt x="2130053" y="0"/>
                  <a:pt x="2181225" y="51172"/>
                  <a:pt x="2181225" y="114296"/>
                </a:cubicBezTo>
                <a:lnTo>
                  <a:pt x="2181225" y="3495679"/>
                </a:lnTo>
                <a:cubicBezTo>
                  <a:pt x="2181225" y="3558803"/>
                  <a:pt x="2130053" y="3609975"/>
                  <a:pt x="2066929" y="3609975"/>
                </a:cubicBezTo>
                <a:lnTo>
                  <a:pt x="114296" y="3609975"/>
                </a:lnTo>
                <a:cubicBezTo>
                  <a:pt x="51172" y="3609975"/>
                  <a:pt x="0" y="3558803"/>
                  <a:pt x="0" y="3495679"/>
                </a:cubicBezTo>
                <a:lnTo>
                  <a:pt x="0" y="114296"/>
                </a:lnTo>
                <a:cubicBezTo>
                  <a:pt x="0" y="51214"/>
                  <a:pt x="51214" y="0"/>
                  <a:pt x="114296" y="0"/>
                </a:cubicBezTo>
                <a:close/>
              </a:path>
            </a:pathLst>
          </a:custGeom>
          <a:solidFill>
            <a:srgbClr val="0F172A"/>
          </a:solidFill>
          <a:ln w="12700">
            <a:solidFill>
              <a:srgbClr val="8B5CF6">
                <a:alpha val="30196"/>
              </a:srgbClr>
            </a:solidFill>
            <a:prstDash val="solid"/>
          </a:ln>
        </p:spPr>
      </p:sp>
      <p:sp>
        <p:nvSpPr>
          <p:cNvPr id="24" name="Shape 22"/>
          <p:cNvSpPr/>
          <p:nvPr/>
        </p:nvSpPr>
        <p:spPr>
          <a:xfrm>
            <a:off x="5719316" y="2314575"/>
            <a:ext cx="752475" cy="457200"/>
          </a:xfrm>
          <a:custGeom>
            <a:avLst/>
            <a:gdLst/>
            <a:ahLst/>
            <a:cxnLst/>
            <a:rect l="l" t="t" r="r" b="b"/>
            <a:pathLst>
              <a:path w="752475" h="457200">
                <a:moveTo>
                  <a:pt x="76202" y="0"/>
                </a:moveTo>
                <a:lnTo>
                  <a:pt x="676273" y="0"/>
                </a:lnTo>
                <a:cubicBezTo>
                  <a:pt x="718358" y="0"/>
                  <a:pt x="752475" y="34117"/>
                  <a:pt x="752475" y="76202"/>
                </a:cubicBezTo>
                <a:lnTo>
                  <a:pt x="752475" y="380998"/>
                </a:lnTo>
                <a:cubicBezTo>
                  <a:pt x="752475" y="423083"/>
                  <a:pt x="718358" y="457200"/>
                  <a:pt x="676273" y="457200"/>
                </a:cubicBezTo>
                <a:lnTo>
                  <a:pt x="76202" y="457200"/>
                </a:lnTo>
                <a:cubicBezTo>
                  <a:pt x="34145" y="457200"/>
                  <a:pt x="0" y="423055"/>
                  <a:pt x="0" y="380998"/>
                </a:cubicBezTo>
                <a:lnTo>
                  <a:pt x="0" y="76202"/>
                </a:lnTo>
                <a:cubicBezTo>
                  <a:pt x="0" y="34145"/>
                  <a:pt x="34145" y="0"/>
                  <a:pt x="76202" y="0"/>
                </a:cubicBezTo>
                <a:close/>
              </a:path>
            </a:pathLst>
          </a:custGeom>
          <a:solidFill>
            <a:srgbClr val="8B5CF6">
              <a:alpha val="20000"/>
            </a:srgbClr>
          </a:solidFill>
          <a:ln/>
        </p:spPr>
      </p:sp>
      <p:sp>
        <p:nvSpPr>
          <p:cNvPr id="25" name="Text 23"/>
          <p:cNvSpPr/>
          <p:nvPr/>
        </p:nvSpPr>
        <p:spPr>
          <a:xfrm>
            <a:off x="5814566" y="2390775"/>
            <a:ext cx="561975" cy="304800"/>
          </a:xfrm>
          <a:prstGeom prst="rect">
            <a:avLst/>
          </a:prstGeom>
          <a:noFill/>
          <a:ln/>
        </p:spPr>
        <p:txBody>
          <a:bodyPr wrap="square" lIns="0" tIns="0" rIns="0" bIns="0" rtlCol="0" anchor="ctr"/>
          <a:lstStyle/>
          <a:p>
            <a:pPr algn="ctr">
              <a:lnSpc>
                <a:spcPct val="110000"/>
              </a:lnSpc>
            </a:pPr>
            <a:r>
              <a:rPr lang="en-US" sz="1800" b="1" dirty="0">
                <a:solidFill>
                  <a:srgbClr val="8B5CF6"/>
                </a:solidFill>
                <a:latin typeface="MiSans" pitchFamily="34" charset="0"/>
                <a:ea typeface="MiSans" pitchFamily="34" charset="-122"/>
                <a:cs typeface="MiSans" pitchFamily="34" charset="-120"/>
              </a:rPr>
              <a:t>O(n)</a:t>
            </a:r>
            <a:endParaRPr lang="en-US" sz="1600" dirty="0"/>
          </a:p>
        </p:txBody>
      </p:sp>
      <p:sp>
        <p:nvSpPr>
          <p:cNvPr id="26" name="Text 24"/>
          <p:cNvSpPr/>
          <p:nvPr/>
        </p:nvSpPr>
        <p:spPr>
          <a:xfrm>
            <a:off x="5122515" y="2847975"/>
            <a:ext cx="194310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Tuyến tính</a:t>
            </a:r>
            <a:endParaRPr lang="en-US" sz="1600" dirty="0"/>
          </a:p>
        </p:txBody>
      </p:sp>
      <p:sp>
        <p:nvSpPr>
          <p:cNvPr id="27" name="Text 25"/>
          <p:cNvSpPr/>
          <p:nvPr/>
        </p:nvSpPr>
        <p:spPr>
          <a:xfrm>
            <a:off x="5127278" y="3190875"/>
            <a:ext cx="1933575" cy="1876425"/>
          </a:xfrm>
          <a:prstGeom prst="rect">
            <a:avLst/>
          </a:prstGeom>
          <a:noFill/>
          <a:ln/>
        </p:spPr>
        <p:txBody>
          <a:bodyPr wrap="square" lIns="0" tIns="0" rIns="0" bIns="0" rtlCol="0" anchor="ctr"/>
          <a:lstStyle/>
          <a:p>
            <a:pPr algn="ctr">
              <a:lnSpc>
                <a:spcPct val="120000"/>
              </a:lnSpc>
            </a:pPr>
            <a:r>
              <a:rPr lang="en-US" sz="1050" dirty="0">
                <a:solidFill>
                  <a:srgbClr val="F1F5F9">
                    <a:alpha val="70000"/>
                  </a:srgbClr>
                </a:solidFill>
                <a:latin typeface="MiSans" pitchFamily="34" charset="0"/>
                <a:ea typeface="MiSans" pitchFamily="34" charset="-122"/>
                <a:cs typeface="MiSans" pitchFamily="34" charset="-120"/>
              </a:rPr>
              <a:t>Tăng tuyến tính theo n</a:t>
            </a:r>
            <a:endParaRPr lang="en-US" sz="1600" dirty="0"/>
          </a:p>
        </p:txBody>
      </p:sp>
      <p:sp>
        <p:nvSpPr>
          <p:cNvPr id="28" name="Shape 26"/>
          <p:cNvSpPr/>
          <p:nvPr/>
        </p:nvSpPr>
        <p:spPr>
          <a:xfrm>
            <a:off x="5160615" y="5186363"/>
            <a:ext cx="1866900" cy="9525"/>
          </a:xfrm>
          <a:custGeom>
            <a:avLst/>
            <a:gdLst/>
            <a:ahLst/>
            <a:cxnLst/>
            <a:rect l="l" t="t" r="r" b="b"/>
            <a:pathLst>
              <a:path w="1866900" h="9525">
                <a:moveTo>
                  <a:pt x="0" y="0"/>
                </a:moveTo>
                <a:lnTo>
                  <a:pt x="1866900" y="0"/>
                </a:lnTo>
                <a:lnTo>
                  <a:pt x="1866900" y="9525"/>
                </a:lnTo>
                <a:lnTo>
                  <a:pt x="0" y="9525"/>
                </a:lnTo>
                <a:lnTo>
                  <a:pt x="0" y="0"/>
                </a:lnTo>
                <a:close/>
              </a:path>
            </a:pathLst>
          </a:custGeom>
          <a:solidFill>
            <a:srgbClr val="F1F5F9">
              <a:alpha val="10196"/>
            </a:srgbClr>
          </a:solidFill>
          <a:ln/>
        </p:spPr>
      </p:sp>
      <p:sp>
        <p:nvSpPr>
          <p:cNvPr id="29" name="Text 27"/>
          <p:cNvSpPr/>
          <p:nvPr/>
        </p:nvSpPr>
        <p:spPr>
          <a:xfrm>
            <a:off x="5132040" y="5305425"/>
            <a:ext cx="1924050" cy="3048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Ví dụ: Tìm giá trị nhỏ nhất trong mảng</a:t>
            </a:r>
            <a:endParaRPr lang="en-US" sz="1600" dirty="0"/>
          </a:p>
        </p:txBody>
      </p:sp>
      <p:sp>
        <p:nvSpPr>
          <p:cNvPr id="30" name="Shape 28"/>
          <p:cNvSpPr/>
          <p:nvPr/>
        </p:nvSpPr>
        <p:spPr>
          <a:xfrm>
            <a:off x="7312223" y="2157413"/>
            <a:ext cx="2181225" cy="3609975"/>
          </a:xfrm>
          <a:custGeom>
            <a:avLst/>
            <a:gdLst/>
            <a:ahLst/>
            <a:cxnLst/>
            <a:rect l="l" t="t" r="r" b="b"/>
            <a:pathLst>
              <a:path w="2181225" h="3609975">
                <a:moveTo>
                  <a:pt x="114296" y="0"/>
                </a:moveTo>
                <a:lnTo>
                  <a:pt x="2066929" y="0"/>
                </a:lnTo>
                <a:cubicBezTo>
                  <a:pt x="2130053" y="0"/>
                  <a:pt x="2181225" y="51172"/>
                  <a:pt x="2181225" y="114296"/>
                </a:cubicBezTo>
                <a:lnTo>
                  <a:pt x="2181225" y="3495679"/>
                </a:lnTo>
                <a:cubicBezTo>
                  <a:pt x="2181225" y="3558803"/>
                  <a:pt x="2130053" y="3609975"/>
                  <a:pt x="2066929" y="3609975"/>
                </a:cubicBezTo>
                <a:lnTo>
                  <a:pt x="114296" y="3609975"/>
                </a:lnTo>
                <a:cubicBezTo>
                  <a:pt x="51172" y="3609975"/>
                  <a:pt x="0" y="3558803"/>
                  <a:pt x="0" y="3495679"/>
                </a:cubicBezTo>
                <a:lnTo>
                  <a:pt x="0" y="114296"/>
                </a:lnTo>
                <a:cubicBezTo>
                  <a:pt x="0" y="51214"/>
                  <a:pt x="51214" y="0"/>
                  <a:pt x="114296" y="0"/>
                </a:cubicBezTo>
                <a:close/>
              </a:path>
            </a:pathLst>
          </a:custGeom>
          <a:solidFill>
            <a:srgbClr val="0F172A"/>
          </a:solidFill>
          <a:ln w="12700">
            <a:solidFill>
              <a:srgbClr val="F59E0B">
                <a:alpha val="30196"/>
              </a:srgbClr>
            </a:solidFill>
            <a:prstDash val="solid"/>
          </a:ln>
        </p:spPr>
      </p:sp>
      <p:sp>
        <p:nvSpPr>
          <p:cNvPr id="31" name="Shape 29"/>
          <p:cNvSpPr/>
          <p:nvPr/>
        </p:nvSpPr>
        <p:spPr>
          <a:xfrm>
            <a:off x="7988201" y="2314575"/>
            <a:ext cx="828675" cy="457200"/>
          </a:xfrm>
          <a:custGeom>
            <a:avLst/>
            <a:gdLst/>
            <a:ahLst/>
            <a:cxnLst/>
            <a:rect l="l" t="t" r="r" b="b"/>
            <a:pathLst>
              <a:path w="828675" h="457200">
                <a:moveTo>
                  <a:pt x="76202" y="0"/>
                </a:moveTo>
                <a:lnTo>
                  <a:pt x="752473" y="0"/>
                </a:lnTo>
                <a:cubicBezTo>
                  <a:pt x="794558" y="0"/>
                  <a:pt x="828675" y="34117"/>
                  <a:pt x="828675" y="76202"/>
                </a:cubicBezTo>
                <a:lnTo>
                  <a:pt x="828675" y="380998"/>
                </a:lnTo>
                <a:cubicBezTo>
                  <a:pt x="828675" y="423083"/>
                  <a:pt x="794558" y="457200"/>
                  <a:pt x="752473" y="457200"/>
                </a:cubicBezTo>
                <a:lnTo>
                  <a:pt x="76202" y="457200"/>
                </a:lnTo>
                <a:cubicBezTo>
                  <a:pt x="34145" y="457200"/>
                  <a:pt x="0" y="423055"/>
                  <a:pt x="0" y="380998"/>
                </a:cubicBezTo>
                <a:lnTo>
                  <a:pt x="0" y="76202"/>
                </a:lnTo>
                <a:cubicBezTo>
                  <a:pt x="0" y="34145"/>
                  <a:pt x="34145" y="0"/>
                  <a:pt x="76202" y="0"/>
                </a:cubicBezTo>
                <a:close/>
              </a:path>
            </a:pathLst>
          </a:custGeom>
          <a:solidFill>
            <a:srgbClr val="F59E0B">
              <a:alpha val="20000"/>
            </a:srgbClr>
          </a:solidFill>
          <a:ln/>
        </p:spPr>
      </p:sp>
      <p:sp>
        <p:nvSpPr>
          <p:cNvPr id="32" name="Text 30"/>
          <p:cNvSpPr/>
          <p:nvPr/>
        </p:nvSpPr>
        <p:spPr>
          <a:xfrm>
            <a:off x="8083451" y="2390775"/>
            <a:ext cx="638175" cy="304800"/>
          </a:xfrm>
          <a:prstGeom prst="rect">
            <a:avLst/>
          </a:prstGeom>
          <a:noFill/>
          <a:ln/>
        </p:spPr>
        <p:txBody>
          <a:bodyPr wrap="square" lIns="0" tIns="0" rIns="0" bIns="0" rtlCol="0" anchor="ctr"/>
          <a:lstStyle/>
          <a:p>
            <a:pPr algn="ctr">
              <a:lnSpc>
                <a:spcPct val="110000"/>
              </a:lnSpc>
            </a:pPr>
            <a:r>
              <a:rPr lang="en-US" sz="1800" b="1" dirty="0">
                <a:solidFill>
                  <a:srgbClr val="F59E0B"/>
                </a:solidFill>
                <a:latin typeface="MiSans" pitchFamily="34" charset="0"/>
                <a:ea typeface="MiSans" pitchFamily="34" charset="-122"/>
                <a:cs typeface="MiSans" pitchFamily="34" charset="-120"/>
              </a:rPr>
              <a:t>O(n²)</a:t>
            </a:r>
            <a:endParaRPr lang="en-US" sz="1600" dirty="0"/>
          </a:p>
        </p:txBody>
      </p:sp>
      <p:sp>
        <p:nvSpPr>
          <p:cNvPr id="33" name="Text 31"/>
          <p:cNvSpPr/>
          <p:nvPr/>
        </p:nvSpPr>
        <p:spPr>
          <a:xfrm>
            <a:off x="7431286" y="2847975"/>
            <a:ext cx="194310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Bình phương</a:t>
            </a:r>
            <a:endParaRPr lang="en-US" sz="1600" dirty="0"/>
          </a:p>
        </p:txBody>
      </p:sp>
      <p:sp>
        <p:nvSpPr>
          <p:cNvPr id="34" name="Text 32"/>
          <p:cNvSpPr/>
          <p:nvPr/>
        </p:nvSpPr>
        <p:spPr>
          <a:xfrm>
            <a:off x="7436048" y="3190875"/>
            <a:ext cx="1933575" cy="2028825"/>
          </a:xfrm>
          <a:prstGeom prst="rect">
            <a:avLst/>
          </a:prstGeom>
          <a:noFill/>
          <a:ln/>
        </p:spPr>
        <p:txBody>
          <a:bodyPr wrap="square" lIns="0" tIns="0" rIns="0" bIns="0" rtlCol="0" anchor="ctr"/>
          <a:lstStyle/>
          <a:p>
            <a:pPr algn="ctr">
              <a:lnSpc>
                <a:spcPct val="120000"/>
              </a:lnSpc>
            </a:pPr>
            <a:r>
              <a:rPr lang="en-US" sz="1050" dirty="0">
                <a:solidFill>
                  <a:srgbClr val="F1F5F9">
                    <a:alpha val="70000"/>
                  </a:srgbClr>
                </a:solidFill>
                <a:latin typeface="MiSans" pitchFamily="34" charset="0"/>
                <a:ea typeface="MiSans" pitchFamily="34" charset="-122"/>
                <a:cs typeface="MiSans" pitchFamily="34" charset="-120"/>
              </a:rPr>
              <a:t>Tăng nhanh theo bình phương n</a:t>
            </a:r>
            <a:endParaRPr lang="en-US" sz="1600" dirty="0"/>
          </a:p>
        </p:txBody>
      </p:sp>
      <p:sp>
        <p:nvSpPr>
          <p:cNvPr id="35" name="Shape 33"/>
          <p:cNvSpPr/>
          <p:nvPr/>
        </p:nvSpPr>
        <p:spPr>
          <a:xfrm>
            <a:off x="7469386" y="5338763"/>
            <a:ext cx="1866900" cy="9525"/>
          </a:xfrm>
          <a:custGeom>
            <a:avLst/>
            <a:gdLst/>
            <a:ahLst/>
            <a:cxnLst/>
            <a:rect l="l" t="t" r="r" b="b"/>
            <a:pathLst>
              <a:path w="1866900" h="9525">
                <a:moveTo>
                  <a:pt x="0" y="0"/>
                </a:moveTo>
                <a:lnTo>
                  <a:pt x="1866900" y="0"/>
                </a:lnTo>
                <a:lnTo>
                  <a:pt x="1866900" y="9525"/>
                </a:lnTo>
                <a:lnTo>
                  <a:pt x="0" y="9525"/>
                </a:lnTo>
                <a:lnTo>
                  <a:pt x="0" y="0"/>
                </a:lnTo>
                <a:close/>
              </a:path>
            </a:pathLst>
          </a:custGeom>
          <a:solidFill>
            <a:srgbClr val="F1F5F9">
              <a:alpha val="10196"/>
            </a:srgbClr>
          </a:solidFill>
          <a:ln/>
        </p:spPr>
      </p:sp>
      <p:sp>
        <p:nvSpPr>
          <p:cNvPr id="36" name="Text 34"/>
          <p:cNvSpPr/>
          <p:nvPr/>
        </p:nvSpPr>
        <p:spPr>
          <a:xfrm>
            <a:off x="7440811" y="5457825"/>
            <a:ext cx="192405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Ví dụ: In tất cả các cặp phần tử</a:t>
            </a:r>
            <a:endParaRPr lang="en-US" sz="1600" dirty="0"/>
          </a:p>
        </p:txBody>
      </p:sp>
      <p:sp>
        <p:nvSpPr>
          <p:cNvPr id="37" name="Shape 35"/>
          <p:cNvSpPr/>
          <p:nvPr/>
        </p:nvSpPr>
        <p:spPr>
          <a:xfrm>
            <a:off x="9621143" y="2157413"/>
            <a:ext cx="2181225" cy="3609975"/>
          </a:xfrm>
          <a:custGeom>
            <a:avLst/>
            <a:gdLst/>
            <a:ahLst/>
            <a:cxnLst/>
            <a:rect l="l" t="t" r="r" b="b"/>
            <a:pathLst>
              <a:path w="2181225" h="3609975">
                <a:moveTo>
                  <a:pt x="114296" y="0"/>
                </a:moveTo>
                <a:lnTo>
                  <a:pt x="2066929" y="0"/>
                </a:lnTo>
                <a:cubicBezTo>
                  <a:pt x="2130053" y="0"/>
                  <a:pt x="2181225" y="51172"/>
                  <a:pt x="2181225" y="114296"/>
                </a:cubicBezTo>
                <a:lnTo>
                  <a:pt x="2181225" y="3495679"/>
                </a:lnTo>
                <a:cubicBezTo>
                  <a:pt x="2181225" y="3558803"/>
                  <a:pt x="2130053" y="3609975"/>
                  <a:pt x="2066929" y="3609975"/>
                </a:cubicBezTo>
                <a:lnTo>
                  <a:pt x="114296" y="3609975"/>
                </a:lnTo>
                <a:cubicBezTo>
                  <a:pt x="51172" y="3609975"/>
                  <a:pt x="0" y="3558803"/>
                  <a:pt x="0" y="3495679"/>
                </a:cubicBezTo>
                <a:lnTo>
                  <a:pt x="0" y="114296"/>
                </a:lnTo>
                <a:cubicBezTo>
                  <a:pt x="0" y="51214"/>
                  <a:pt x="51214" y="0"/>
                  <a:pt x="114296" y="0"/>
                </a:cubicBezTo>
                <a:close/>
              </a:path>
            </a:pathLst>
          </a:custGeom>
          <a:solidFill>
            <a:srgbClr val="0F172A"/>
          </a:solidFill>
          <a:ln w="12700">
            <a:solidFill>
              <a:srgbClr val="EF4444">
                <a:alpha val="30196"/>
              </a:srgbClr>
            </a:solidFill>
            <a:prstDash val="solid"/>
          </a:ln>
        </p:spPr>
      </p:sp>
      <p:sp>
        <p:nvSpPr>
          <p:cNvPr id="38" name="Shape 36"/>
          <p:cNvSpPr/>
          <p:nvPr/>
        </p:nvSpPr>
        <p:spPr>
          <a:xfrm>
            <a:off x="10302925" y="2314575"/>
            <a:ext cx="819150" cy="457200"/>
          </a:xfrm>
          <a:custGeom>
            <a:avLst/>
            <a:gdLst/>
            <a:ahLst/>
            <a:cxnLst/>
            <a:rect l="l" t="t" r="r" b="b"/>
            <a:pathLst>
              <a:path w="819150" h="457200">
                <a:moveTo>
                  <a:pt x="76202" y="0"/>
                </a:moveTo>
                <a:lnTo>
                  <a:pt x="742948" y="0"/>
                </a:lnTo>
                <a:cubicBezTo>
                  <a:pt x="785033" y="0"/>
                  <a:pt x="819150" y="34117"/>
                  <a:pt x="819150" y="76202"/>
                </a:cubicBezTo>
                <a:lnTo>
                  <a:pt x="819150" y="380998"/>
                </a:lnTo>
                <a:cubicBezTo>
                  <a:pt x="819150" y="423083"/>
                  <a:pt x="785033" y="457200"/>
                  <a:pt x="742948" y="457200"/>
                </a:cubicBezTo>
                <a:lnTo>
                  <a:pt x="76202" y="457200"/>
                </a:lnTo>
                <a:cubicBezTo>
                  <a:pt x="34145" y="457200"/>
                  <a:pt x="0" y="423055"/>
                  <a:pt x="0" y="380998"/>
                </a:cubicBezTo>
                <a:lnTo>
                  <a:pt x="0" y="76202"/>
                </a:lnTo>
                <a:cubicBezTo>
                  <a:pt x="0" y="34145"/>
                  <a:pt x="34145" y="0"/>
                  <a:pt x="76202" y="0"/>
                </a:cubicBezTo>
                <a:close/>
              </a:path>
            </a:pathLst>
          </a:custGeom>
          <a:solidFill>
            <a:srgbClr val="EF4444">
              <a:alpha val="20000"/>
            </a:srgbClr>
          </a:solidFill>
          <a:ln/>
        </p:spPr>
      </p:sp>
      <p:sp>
        <p:nvSpPr>
          <p:cNvPr id="39" name="Text 37"/>
          <p:cNvSpPr/>
          <p:nvPr/>
        </p:nvSpPr>
        <p:spPr>
          <a:xfrm>
            <a:off x="10398175" y="2390775"/>
            <a:ext cx="628650" cy="304800"/>
          </a:xfrm>
          <a:prstGeom prst="rect">
            <a:avLst/>
          </a:prstGeom>
          <a:noFill/>
          <a:ln/>
        </p:spPr>
        <p:txBody>
          <a:bodyPr wrap="square" lIns="0" tIns="0" rIns="0" bIns="0" rtlCol="0" anchor="ctr"/>
          <a:lstStyle/>
          <a:p>
            <a:pPr algn="ctr">
              <a:lnSpc>
                <a:spcPct val="110000"/>
              </a:lnSpc>
            </a:pPr>
            <a:r>
              <a:rPr lang="en-US" sz="1800" b="1" dirty="0">
                <a:solidFill>
                  <a:srgbClr val="EF4444"/>
                </a:solidFill>
                <a:latin typeface="MiSans" pitchFamily="34" charset="0"/>
                <a:ea typeface="MiSans" pitchFamily="34" charset="-122"/>
                <a:cs typeface="MiSans" pitchFamily="34" charset="-120"/>
              </a:rPr>
              <a:t>O(2ⁿ)</a:t>
            </a:r>
            <a:endParaRPr lang="en-US" sz="1600" dirty="0"/>
          </a:p>
        </p:txBody>
      </p:sp>
      <p:sp>
        <p:nvSpPr>
          <p:cNvPr id="40" name="Text 38"/>
          <p:cNvSpPr/>
          <p:nvPr/>
        </p:nvSpPr>
        <p:spPr>
          <a:xfrm>
            <a:off x="9740205" y="2847975"/>
            <a:ext cx="1943100" cy="228600"/>
          </a:xfrm>
          <a:prstGeom prst="rect">
            <a:avLst/>
          </a:prstGeom>
          <a:noFill/>
          <a:ln/>
        </p:spPr>
        <p:txBody>
          <a:bodyPr wrap="square" lIns="0" tIns="0" rIns="0" bIns="0" rtlCol="0" anchor="ctr"/>
          <a:lstStyle/>
          <a:p>
            <a:pPr algn="ctr">
              <a:lnSpc>
                <a:spcPct val="130000"/>
              </a:lnSpc>
            </a:pPr>
            <a:r>
              <a:rPr lang="en-US" sz="1200" b="1" dirty="0">
                <a:solidFill>
                  <a:srgbClr val="F1F5F9"/>
                </a:solidFill>
                <a:latin typeface="MiSans" pitchFamily="34" charset="0"/>
                <a:ea typeface="MiSans" pitchFamily="34" charset="-122"/>
                <a:cs typeface="MiSans" pitchFamily="34" charset="-120"/>
              </a:rPr>
              <a:t>Hàm mũ</a:t>
            </a:r>
            <a:endParaRPr lang="en-US" sz="1600" dirty="0"/>
          </a:p>
        </p:txBody>
      </p:sp>
      <p:sp>
        <p:nvSpPr>
          <p:cNvPr id="41" name="Text 39"/>
          <p:cNvSpPr/>
          <p:nvPr/>
        </p:nvSpPr>
        <p:spPr>
          <a:xfrm>
            <a:off x="9744968" y="3190875"/>
            <a:ext cx="1933575" cy="2028825"/>
          </a:xfrm>
          <a:prstGeom prst="rect">
            <a:avLst/>
          </a:prstGeom>
          <a:noFill/>
          <a:ln/>
        </p:spPr>
        <p:txBody>
          <a:bodyPr wrap="square" lIns="0" tIns="0" rIns="0" bIns="0" rtlCol="0" anchor="ctr"/>
          <a:lstStyle/>
          <a:p>
            <a:pPr algn="ctr">
              <a:lnSpc>
                <a:spcPct val="120000"/>
              </a:lnSpc>
            </a:pPr>
            <a:r>
              <a:rPr lang="en-US" sz="1050" dirty="0">
                <a:solidFill>
                  <a:srgbClr val="F1F5F9">
                    <a:alpha val="70000"/>
                  </a:srgbClr>
                </a:solidFill>
                <a:latin typeface="MiSans" pitchFamily="34" charset="0"/>
                <a:ea typeface="MiSans" pitchFamily="34" charset="-122"/>
                <a:cs typeface="MiSans" pitchFamily="34" charset="-120"/>
              </a:rPr>
              <a:t>Tăng cực kỳ nhanh, không khả thi với n lớn</a:t>
            </a:r>
            <a:endParaRPr lang="en-US" sz="1600" dirty="0"/>
          </a:p>
        </p:txBody>
      </p:sp>
      <p:sp>
        <p:nvSpPr>
          <p:cNvPr id="42" name="Shape 40"/>
          <p:cNvSpPr/>
          <p:nvPr/>
        </p:nvSpPr>
        <p:spPr>
          <a:xfrm>
            <a:off x="9778305" y="5338763"/>
            <a:ext cx="1866900" cy="9525"/>
          </a:xfrm>
          <a:custGeom>
            <a:avLst/>
            <a:gdLst/>
            <a:ahLst/>
            <a:cxnLst/>
            <a:rect l="l" t="t" r="r" b="b"/>
            <a:pathLst>
              <a:path w="1866900" h="9525">
                <a:moveTo>
                  <a:pt x="0" y="0"/>
                </a:moveTo>
                <a:lnTo>
                  <a:pt x="1866900" y="0"/>
                </a:lnTo>
                <a:lnTo>
                  <a:pt x="1866900" y="9525"/>
                </a:lnTo>
                <a:lnTo>
                  <a:pt x="0" y="9525"/>
                </a:lnTo>
                <a:lnTo>
                  <a:pt x="0" y="0"/>
                </a:lnTo>
                <a:close/>
              </a:path>
            </a:pathLst>
          </a:custGeom>
          <a:solidFill>
            <a:srgbClr val="F1F5F9">
              <a:alpha val="10196"/>
            </a:srgbClr>
          </a:solidFill>
          <a:ln/>
        </p:spPr>
      </p:sp>
      <p:sp>
        <p:nvSpPr>
          <p:cNvPr id="43" name="Text 41"/>
          <p:cNvSpPr/>
          <p:nvPr/>
        </p:nvSpPr>
        <p:spPr>
          <a:xfrm>
            <a:off x="9749730" y="5457825"/>
            <a:ext cx="192405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Ví dụ: Fibonacci đệ quy</a:t>
            </a:r>
            <a:endParaRPr lang="en-US" sz="1600" dirty="0"/>
          </a:p>
        </p:txBody>
      </p:sp>
      <p:sp>
        <p:nvSpPr>
          <p:cNvPr id="44" name="Shape 42"/>
          <p:cNvSpPr/>
          <p:nvPr/>
        </p:nvSpPr>
        <p:spPr>
          <a:xfrm>
            <a:off x="385763" y="5929313"/>
            <a:ext cx="11420475" cy="542925"/>
          </a:xfrm>
          <a:custGeom>
            <a:avLst/>
            <a:gdLst/>
            <a:ahLst/>
            <a:cxnLst/>
            <a:rect l="l" t="t" r="r" b="b"/>
            <a:pathLst>
              <a:path w="11420475" h="542925">
                <a:moveTo>
                  <a:pt x="114302" y="0"/>
                </a:moveTo>
                <a:lnTo>
                  <a:pt x="11306173" y="0"/>
                </a:lnTo>
                <a:cubicBezTo>
                  <a:pt x="11369300" y="0"/>
                  <a:pt x="11420475" y="51175"/>
                  <a:pt x="11420475" y="114302"/>
                </a:cubicBezTo>
                <a:lnTo>
                  <a:pt x="11420475" y="428623"/>
                </a:lnTo>
                <a:cubicBezTo>
                  <a:pt x="11420475" y="491750"/>
                  <a:pt x="11369300" y="542925"/>
                  <a:pt x="11306173" y="542925"/>
                </a:cubicBezTo>
                <a:lnTo>
                  <a:pt x="114302" y="542925"/>
                </a:lnTo>
                <a:cubicBezTo>
                  <a:pt x="51175" y="542925"/>
                  <a:pt x="0" y="491750"/>
                  <a:pt x="0" y="428623"/>
                </a:cubicBezTo>
                <a:lnTo>
                  <a:pt x="0" y="114302"/>
                </a:lnTo>
                <a:cubicBezTo>
                  <a:pt x="0" y="51175"/>
                  <a:pt x="51175" y="0"/>
                  <a:pt x="114302" y="0"/>
                </a:cubicBezTo>
                <a:close/>
              </a:path>
            </a:pathLst>
          </a:custGeom>
          <a:solidFill>
            <a:srgbClr val="0F172A"/>
          </a:solidFill>
          <a:ln w="12700">
            <a:solidFill>
              <a:srgbClr val="EF4444">
                <a:alpha val="30196"/>
              </a:srgbClr>
            </a:solidFill>
            <a:prstDash val="solid"/>
          </a:ln>
        </p:spPr>
      </p:sp>
      <p:sp>
        <p:nvSpPr>
          <p:cNvPr id="45" name="Shape 43"/>
          <p:cNvSpPr/>
          <p:nvPr/>
        </p:nvSpPr>
        <p:spPr>
          <a:xfrm>
            <a:off x="561975" y="6134100"/>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EF4444"/>
          </a:solidFill>
          <a:ln/>
        </p:spPr>
      </p:sp>
      <p:sp>
        <p:nvSpPr>
          <p:cNvPr id="46" name="Text 44"/>
          <p:cNvSpPr/>
          <p:nvPr/>
        </p:nvSpPr>
        <p:spPr>
          <a:xfrm>
            <a:off x="790575" y="6086475"/>
            <a:ext cx="10934700" cy="228600"/>
          </a:xfrm>
          <a:prstGeom prst="rect">
            <a:avLst/>
          </a:prstGeom>
          <a:noFill/>
          <a:ln/>
        </p:spPr>
        <p:txBody>
          <a:bodyPr wrap="square" lIns="0" tIns="0" rIns="0" bIns="0" rtlCol="0" anchor="ctr"/>
          <a:lstStyle/>
          <a:p>
            <a:pPr>
              <a:lnSpc>
                <a:spcPct val="130000"/>
              </a:lnSpc>
            </a:pPr>
            <a:r>
              <a:rPr lang="en-US" sz="1200" b="1" dirty="0">
                <a:solidFill>
                  <a:srgbClr val="EF4444"/>
                </a:solidFill>
                <a:latin typeface="MiSans" pitchFamily="34" charset="0"/>
                <a:ea typeface="MiSans" pitchFamily="34" charset="-122"/>
                <a:cs typeface="MiSans" pitchFamily="34" charset="-120"/>
              </a:rPr>
              <a:t>Cảnh báo:</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fibonacci(100) với O(2ⁿ) mất khoảng </a:t>
            </a:r>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475,000 năm</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để chạy!</a:t>
            </a:r>
            <a:endParaRPr lang="en-US" sz="16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488156" y="561975"/>
            <a:ext cx="171450" cy="171450"/>
          </a:xfrm>
          <a:custGeom>
            <a:avLst/>
            <a:gdLst/>
            <a:ahLst/>
            <a:cxnLst/>
            <a:rect l="l" t="t" r="r" b="b"/>
            <a:pathLst>
              <a:path w="171450" h="171450">
                <a:moveTo>
                  <a:pt x="21431" y="21431"/>
                </a:moveTo>
                <a:cubicBezTo>
                  <a:pt x="9611" y="21431"/>
                  <a:pt x="0" y="31042"/>
                  <a:pt x="0" y="42863"/>
                </a:cubicBezTo>
                <a:lnTo>
                  <a:pt x="0" y="45340"/>
                </a:lnTo>
                <a:cubicBezTo>
                  <a:pt x="0" y="47618"/>
                  <a:pt x="1473" y="49560"/>
                  <a:pt x="3382" y="50799"/>
                </a:cubicBezTo>
                <a:cubicBezTo>
                  <a:pt x="7802" y="53679"/>
                  <a:pt x="10716" y="58635"/>
                  <a:pt x="10716" y="64294"/>
                </a:cubicBezTo>
                <a:cubicBezTo>
                  <a:pt x="10716" y="69953"/>
                  <a:pt x="7802" y="74909"/>
                  <a:pt x="3382" y="77789"/>
                </a:cubicBezTo>
                <a:cubicBezTo>
                  <a:pt x="1473" y="79028"/>
                  <a:pt x="0" y="80970"/>
                  <a:pt x="0" y="83247"/>
                </a:cubicBezTo>
                <a:lnTo>
                  <a:pt x="0" y="101798"/>
                </a:lnTo>
                <a:lnTo>
                  <a:pt x="171450" y="101798"/>
                </a:lnTo>
                <a:lnTo>
                  <a:pt x="171450" y="83247"/>
                </a:lnTo>
                <a:cubicBezTo>
                  <a:pt x="171450" y="80970"/>
                  <a:pt x="169977" y="79028"/>
                  <a:pt x="168068" y="77789"/>
                </a:cubicBezTo>
                <a:cubicBezTo>
                  <a:pt x="163648" y="74909"/>
                  <a:pt x="160734" y="69953"/>
                  <a:pt x="160734" y="64294"/>
                </a:cubicBezTo>
                <a:cubicBezTo>
                  <a:pt x="160734" y="58635"/>
                  <a:pt x="163648" y="53679"/>
                  <a:pt x="168068" y="50799"/>
                </a:cubicBezTo>
                <a:cubicBezTo>
                  <a:pt x="169977" y="49560"/>
                  <a:pt x="171450" y="47618"/>
                  <a:pt x="171450" y="45340"/>
                </a:cubicBezTo>
                <a:lnTo>
                  <a:pt x="171450" y="42862"/>
                </a:lnTo>
                <a:cubicBezTo>
                  <a:pt x="171450" y="31042"/>
                  <a:pt x="161839" y="21431"/>
                  <a:pt x="150019" y="21431"/>
                </a:cubicBezTo>
                <a:lnTo>
                  <a:pt x="21431" y="21431"/>
                </a:lnTo>
                <a:close/>
                <a:moveTo>
                  <a:pt x="171450" y="139303"/>
                </a:moveTo>
                <a:lnTo>
                  <a:pt x="171450" y="117872"/>
                </a:lnTo>
                <a:lnTo>
                  <a:pt x="0" y="117872"/>
                </a:lnTo>
                <a:lnTo>
                  <a:pt x="0" y="139303"/>
                </a:lnTo>
                <a:cubicBezTo>
                  <a:pt x="0" y="145230"/>
                  <a:pt x="4789" y="150019"/>
                  <a:pt x="10716" y="150019"/>
                </a:cubicBezTo>
                <a:lnTo>
                  <a:pt x="32147" y="150019"/>
                </a:lnTo>
                <a:lnTo>
                  <a:pt x="32147" y="141982"/>
                </a:lnTo>
                <a:cubicBezTo>
                  <a:pt x="32147" y="137528"/>
                  <a:pt x="35730" y="133945"/>
                  <a:pt x="40184" y="133945"/>
                </a:cubicBezTo>
                <a:cubicBezTo>
                  <a:pt x="44637" y="133945"/>
                  <a:pt x="48220" y="137528"/>
                  <a:pt x="48220" y="141982"/>
                </a:cubicBezTo>
                <a:lnTo>
                  <a:pt x="48220" y="150019"/>
                </a:lnTo>
                <a:lnTo>
                  <a:pt x="77688" y="150019"/>
                </a:lnTo>
                <a:lnTo>
                  <a:pt x="77688" y="141982"/>
                </a:lnTo>
                <a:cubicBezTo>
                  <a:pt x="77688" y="137528"/>
                  <a:pt x="81271" y="133945"/>
                  <a:pt x="85725" y="133945"/>
                </a:cubicBezTo>
                <a:cubicBezTo>
                  <a:pt x="90179" y="133945"/>
                  <a:pt x="93762" y="137528"/>
                  <a:pt x="93762" y="141982"/>
                </a:cubicBezTo>
                <a:lnTo>
                  <a:pt x="93762" y="150019"/>
                </a:lnTo>
                <a:lnTo>
                  <a:pt x="123230" y="150019"/>
                </a:lnTo>
                <a:lnTo>
                  <a:pt x="123230" y="141982"/>
                </a:lnTo>
                <a:cubicBezTo>
                  <a:pt x="123230" y="137528"/>
                  <a:pt x="126813" y="133945"/>
                  <a:pt x="131266" y="133945"/>
                </a:cubicBezTo>
                <a:cubicBezTo>
                  <a:pt x="135720" y="133945"/>
                  <a:pt x="139303" y="137528"/>
                  <a:pt x="139303" y="141982"/>
                </a:cubicBezTo>
                <a:lnTo>
                  <a:pt x="139303" y="150019"/>
                </a:lnTo>
                <a:lnTo>
                  <a:pt x="160734" y="150019"/>
                </a:lnTo>
                <a:cubicBezTo>
                  <a:pt x="166661" y="150019"/>
                  <a:pt x="171450" y="145230"/>
                  <a:pt x="171450" y="139303"/>
                </a:cubicBezTo>
                <a:close/>
                <a:moveTo>
                  <a:pt x="53578" y="53578"/>
                </a:moveTo>
                <a:lnTo>
                  <a:pt x="53578" y="75009"/>
                </a:lnTo>
                <a:cubicBezTo>
                  <a:pt x="53578" y="80936"/>
                  <a:pt x="48790" y="85725"/>
                  <a:pt x="42863" y="85725"/>
                </a:cubicBezTo>
                <a:cubicBezTo>
                  <a:pt x="36935" y="85725"/>
                  <a:pt x="32147" y="80936"/>
                  <a:pt x="32147" y="75009"/>
                </a:cubicBezTo>
                <a:lnTo>
                  <a:pt x="32147" y="53578"/>
                </a:lnTo>
                <a:cubicBezTo>
                  <a:pt x="32147" y="47651"/>
                  <a:pt x="36935" y="42863"/>
                  <a:pt x="42863" y="42863"/>
                </a:cubicBezTo>
                <a:cubicBezTo>
                  <a:pt x="48790" y="42863"/>
                  <a:pt x="53578" y="47651"/>
                  <a:pt x="53578" y="53578"/>
                </a:cubicBezTo>
                <a:close/>
                <a:moveTo>
                  <a:pt x="96441" y="53578"/>
                </a:moveTo>
                <a:lnTo>
                  <a:pt x="96441" y="75009"/>
                </a:lnTo>
                <a:cubicBezTo>
                  <a:pt x="96441" y="80936"/>
                  <a:pt x="91652" y="85725"/>
                  <a:pt x="85725" y="85725"/>
                </a:cubicBezTo>
                <a:cubicBezTo>
                  <a:pt x="79798" y="85725"/>
                  <a:pt x="75009" y="80936"/>
                  <a:pt x="75009" y="75009"/>
                </a:cubicBezTo>
                <a:lnTo>
                  <a:pt x="75009" y="53578"/>
                </a:lnTo>
                <a:cubicBezTo>
                  <a:pt x="75009" y="47651"/>
                  <a:pt x="79798" y="42863"/>
                  <a:pt x="85725" y="42863"/>
                </a:cubicBezTo>
                <a:cubicBezTo>
                  <a:pt x="91652" y="42863"/>
                  <a:pt x="96441" y="47651"/>
                  <a:pt x="96441" y="53578"/>
                </a:cubicBezTo>
                <a:close/>
                <a:moveTo>
                  <a:pt x="139303" y="53578"/>
                </a:moveTo>
                <a:lnTo>
                  <a:pt x="139303" y="75009"/>
                </a:lnTo>
                <a:cubicBezTo>
                  <a:pt x="139303" y="80936"/>
                  <a:pt x="134515" y="85725"/>
                  <a:pt x="128588" y="85725"/>
                </a:cubicBezTo>
                <a:cubicBezTo>
                  <a:pt x="122660" y="85725"/>
                  <a:pt x="117872" y="80936"/>
                  <a:pt x="117872" y="75009"/>
                </a:cubicBezTo>
                <a:lnTo>
                  <a:pt x="117872" y="53578"/>
                </a:lnTo>
                <a:cubicBezTo>
                  <a:pt x="117872" y="47651"/>
                  <a:pt x="122660" y="42863"/>
                  <a:pt x="128588" y="42863"/>
                </a:cubicBezTo>
                <a:cubicBezTo>
                  <a:pt x="134515" y="42863"/>
                  <a:pt x="139303" y="47651"/>
                  <a:pt x="139303" y="53578"/>
                </a:cubicBezTo>
                <a:close/>
              </a:path>
            </a:pathLst>
          </a:custGeom>
          <a:solidFill>
            <a:srgbClr val="FFFFFF"/>
          </a:solidFill>
          <a:ln/>
        </p:spPr>
      </p:sp>
      <p:sp>
        <p:nvSpPr>
          <p:cNvPr id="4" name="Text 2"/>
          <p:cNvSpPr/>
          <p:nvPr/>
        </p:nvSpPr>
        <p:spPr>
          <a:xfrm>
            <a:off x="876300" y="381000"/>
            <a:ext cx="6838950"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14 | KHÁI NIỆM CĂN BẢN</a:t>
            </a:r>
            <a:endParaRPr lang="en-US" sz="1600" dirty="0"/>
          </a:p>
        </p:txBody>
      </p:sp>
      <p:sp>
        <p:nvSpPr>
          <p:cNvPr id="5" name="Text 3"/>
          <p:cNvSpPr/>
          <p:nvPr/>
        </p:nvSpPr>
        <p:spPr>
          <a:xfrm>
            <a:off x="876300" y="571500"/>
            <a:ext cx="69151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Độ phức tạp không gian và cân bằng Time-Memory</a:t>
            </a:r>
            <a:endParaRPr lang="en-US" sz="1600" dirty="0"/>
          </a:p>
        </p:txBody>
      </p:sp>
      <p:sp>
        <p:nvSpPr>
          <p:cNvPr id="6" name="Shape 4"/>
          <p:cNvSpPr/>
          <p:nvPr/>
        </p:nvSpPr>
        <p:spPr>
          <a:xfrm>
            <a:off x="385763" y="1147763"/>
            <a:ext cx="5610225" cy="2905125"/>
          </a:xfrm>
          <a:custGeom>
            <a:avLst/>
            <a:gdLst/>
            <a:ahLst/>
            <a:cxnLst/>
            <a:rect l="l" t="t" r="r" b="b"/>
            <a:pathLst>
              <a:path w="5610225" h="2905125">
                <a:moveTo>
                  <a:pt x="114288" y="0"/>
                </a:moveTo>
                <a:lnTo>
                  <a:pt x="5495937" y="0"/>
                </a:lnTo>
                <a:cubicBezTo>
                  <a:pt x="5559057" y="0"/>
                  <a:pt x="5610225" y="51168"/>
                  <a:pt x="5610225" y="114288"/>
                </a:cubicBezTo>
                <a:lnTo>
                  <a:pt x="5610225" y="2790837"/>
                </a:lnTo>
                <a:cubicBezTo>
                  <a:pt x="5610225" y="2853957"/>
                  <a:pt x="5559057" y="2905125"/>
                  <a:pt x="5495937" y="2905125"/>
                </a:cubicBezTo>
                <a:lnTo>
                  <a:pt x="114288" y="2905125"/>
                </a:lnTo>
                <a:cubicBezTo>
                  <a:pt x="51168" y="2905125"/>
                  <a:pt x="0" y="2853957"/>
                  <a:pt x="0" y="2790837"/>
                </a:cubicBezTo>
                <a:lnTo>
                  <a:pt x="0" y="114288"/>
                </a:lnTo>
                <a:cubicBezTo>
                  <a:pt x="0" y="51168"/>
                  <a:pt x="51168" y="0"/>
                  <a:pt x="11428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23812" y="23812"/>
                </a:moveTo>
                <a:cubicBezTo>
                  <a:pt x="10678" y="23812"/>
                  <a:pt x="0" y="34491"/>
                  <a:pt x="0" y="47625"/>
                </a:cubicBezTo>
                <a:lnTo>
                  <a:pt x="0" y="50378"/>
                </a:lnTo>
                <a:cubicBezTo>
                  <a:pt x="0" y="52908"/>
                  <a:pt x="1637" y="55066"/>
                  <a:pt x="3758" y="56443"/>
                </a:cubicBezTo>
                <a:cubicBezTo>
                  <a:pt x="8669" y="59643"/>
                  <a:pt x="11906" y="65150"/>
                  <a:pt x="11906" y="71438"/>
                </a:cubicBezTo>
                <a:cubicBezTo>
                  <a:pt x="11906" y="77725"/>
                  <a:pt x="8669" y="83232"/>
                  <a:pt x="3758" y="86432"/>
                </a:cubicBezTo>
                <a:cubicBezTo>
                  <a:pt x="1637" y="87809"/>
                  <a:pt x="0" y="89967"/>
                  <a:pt x="0" y="92497"/>
                </a:cubicBezTo>
                <a:lnTo>
                  <a:pt x="0" y="113109"/>
                </a:lnTo>
                <a:lnTo>
                  <a:pt x="190500" y="113109"/>
                </a:lnTo>
                <a:lnTo>
                  <a:pt x="190500" y="92497"/>
                </a:lnTo>
                <a:cubicBezTo>
                  <a:pt x="190500" y="89967"/>
                  <a:pt x="188863" y="87809"/>
                  <a:pt x="186742" y="86432"/>
                </a:cubicBezTo>
                <a:cubicBezTo>
                  <a:pt x="181831" y="83232"/>
                  <a:pt x="178594" y="77725"/>
                  <a:pt x="178594" y="71438"/>
                </a:cubicBezTo>
                <a:cubicBezTo>
                  <a:pt x="178594" y="65150"/>
                  <a:pt x="181831" y="59643"/>
                  <a:pt x="186742" y="56443"/>
                </a:cubicBezTo>
                <a:cubicBezTo>
                  <a:pt x="188863" y="55066"/>
                  <a:pt x="190500" y="52908"/>
                  <a:pt x="190500" y="50378"/>
                </a:cubicBezTo>
                <a:lnTo>
                  <a:pt x="190500" y="47625"/>
                </a:lnTo>
                <a:cubicBezTo>
                  <a:pt x="190500" y="34491"/>
                  <a:pt x="179822" y="23812"/>
                  <a:pt x="166688" y="23812"/>
                </a:cubicBezTo>
                <a:lnTo>
                  <a:pt x="23812" y="23812"/>
                </a:lnTo>
                <a:close/>
                <a:moveTo>
                  <a:pt x="190500" y="154781"/>
                </a:moveTo>
                <a:lnTo>
                  <a:pt x="190500" y="130969"/>
                </a:lnTo>
                <a:lnTo>
                  <a:pt x="0" y="130969"/>
                </a:lnTo>
                <a:lnTo>
                  <a:pt x="0" y="154781"/>
                </a:lnTo>
                <a:cubicBezTo>
                  <a:pt x="0" y="161367"/>
                  <a:pt x="5321" y="166688"/>
                  <a:pt x="11906" y="166688"/>
                </a:cubicBezTo>
                <a:lnTo>
                  <a:pt x="35719" y="166688"/>
                </a:lnTo>
                <a:lnTo>
                  <a:pt x="35719" y="157758"/>
                </a:lnTo>
                <a:cubicBezTo>
                  <a:pt x="35719" y="152809"/>
                  <a:pt x="39700" y="148828"/>
                  <a:pt x="44648" y="148828"/>
                </a:cubicBezTo>
                <a:cubicBezTo>
                  <a:pt x="49597" y="148828"/>
                  <a:pt x="53578" y="152809"/>
                  <a:pt x="53578" y="157758"/>
                </a:cubicBezTo>
                <a:lnTo>
                  <a:pt x="53578" y="166688"/>
                </a:lnTo>
                <a:lnTo>
                  <a:pt x="86320" y="166688"/>
                </a:lnTo>
                <a:lnTo>
                  <a:pt x="86320" y="157758"/>
                </a:lnTo>
                <a:cubicBezTo>
                  <a:pt x="86320" y="152809"/>
                  <a:pt x="90301" y="148828"/>
                  <a:pt x="95250" y="148828"/>
                </a:cubicBezTo>
                <a:cubicBezTo>
                  <a:pt x="100199" y="148828"/>
                  <a:pt x="104180" y="152809"/>
                  <a:pt x="104180" y="157758"/>
                </a:cubicBezTo>
                <a:lnTo>
                  <a:pt x="104180" y="166688"/>
                </a:lnTo>
                <a:lnTo>
                  <a:pt x="136922" y="166688"/>
                </a:lnTo>
                <a:lnTo>
                  <a:pt x="136922" y="157758"/>
                </a:lnTo>
                <a:cubicBezTo>
                  <a:pt x="136922" y="152809"/>
                  <a:pt x="140903" y="148828"/>
                  <a:pt x="145852" y="148828"/>
                </a:cubicBezTo>
                <a:cubicBezTo>
                  <a:pt x="150800" y="148828"/>
                  <a:pt x="154781" y="152809"/>
                  <a:pt x="154781" y="157758"/>
                </a:cubicBezTo>
                <a:lnTo>
                  <a:pt x="154781" y="166688"/>
                </a:lnTo>
                <a:lnTo>
                  <a:pt x="178594" y="166688"/>
                </a:lnTo>
                <a:cubicBezTo>
                  <a:pt x="185179" y="166688"/>
                  <a:pt x="190500" y="161367"/>
                  <a:pt x="190500" y="154781"/>
                </a:cubicBezTo>
                <a:close/>
                <a:moveTo>
                  <a:pt x="59531" y="59531"/>
                </a:moveTo>
                <a:lnTo>
                  <a:pt x="59531" y="83344"/>
                </a:lnTo>
                <a:cubicBezTo>
                  <a:pt x="59531" y="89929"/>
                  <a:pt x="54211" y="95250"/>
                  <a:pt x="47625" y="95250"/>
                </a:cubicBezTo>
                <a:cubicBezTo>
                  <a:pt x="41039" y="95250"/>
                  <a:pt x="35719" y="89929"/>
                  <a:pt x="35719" y="83344"/>
                </a:cubicBezTo>
                <a:lnTo>
                  <a:pt x="35719" y="59531"/>
                </a:lnTo>
                <a:cubicBezTo>
                  <a:pt x="35719" y="52946"/>
                  <a:pt x="41039" y="47625"/>
                  <a:pt x="47625" y="47625"/>
                </a:cubicBezTo>
                <a:cubicBezTo>
                  <a:pt x="54211" y="47625"/>
                  <a:pt x="59531" y="52946"/>
                  <a:pt x="59531" y="59531"/>
                </a:cubicBezTo>
                <a:close/>
                <a:moveTo>
                  <a:pt x="107156" y="59531"/>
                </a:moveTo>
                <a:lnTo>
                  <a:pt x="107156" y="83344"/>
                </a:lnTo>
                <a:cubicBezTo>
                  <a:pt x="107156" y="89929"/>
                  <a:pt x="101836" y="95250"/>
                  <a:pt x="95250" y="95250"/>
                </a:cubicBezTo>
                <a:cubicBezTo>
                  <a:pt x="88664" y="95250"/>
                  <a:pt x="83344" y="89929"/>
                  <a:pt x="83344" y="83344"/>
                </a:cubicBezTo>
                <a:lnTo>
                  <a:pt x="83344" y="59531"/>
                </a:lnTo>
                <a:cubicBezTo>
                  <a:pt x="83344" y="52946"/>
                  <a:pt x="88664" y="47625"/>
                  <a:pt x="95250" y="47625"/>
                </a:cubicBezTo>
                <a:cubicBezTo>
                  <a:pt x="101836" y="47625"/>
                  <a:pt x="107156" y="52946"/>
                  <a:pt x="107156" y="59531"/>
                </a:cubicBezTo>
                <a:close/>
                <a:moveTo>
                  <a:pt x="154781" y="59531"/>
                </a:moveTo>
                <a:lnTo>
                  <a:pt x="154781" y="83344"/>
                </a:lnTo>
                <a:cubicBezTo>
                  <a:pt x="154781" y="89929"/>
                  <a:pt x="149461" y="95250"/>
                  <a:pt x="142875" y="95250"/>
                </a:cubicBezTo>
                <a:cubicBezTo>
                  <a:pt x="136289" y="95250"/>
                  <a:pt x="130969" y="89929"/>
                  <a:pt x="130969" y="83344"/>
                </a:cubicBezTo>
                <a:lnTo>
                  <a:pt x="130969" y="59531"/>
                </a:lnTo>
                <a:cubicBezTo>
                  <a:pt x="130969" y="52946"/>
                  <a:pt x="136289" y="47625"/>
                  <a:pt x="142875" y="47625"/>
                </a:cubicBezTo>
                <a:cubicBezTo>
                  <a:pt x="149461" y="47625"/>
                  <a:pt x="154781" y="52946"/>
                  <a:pt x="154781" y="59531"/>
                </a:cubicBezTo>
                <a:close/>
              </a:path>
            </a:pathLst>
          </a:custGeom>
          <a:solidFill>
            <a:srgbClr val="8B5C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MiSans" pitchFamily="34" charset="0"/>
                <a:ea typeface="MiSans" pitchFamily="34" charset="-122"/>
                <a:cs typeface="MiSans" pitchFamily="34" charset="-120"/>
              </a:rPr>
              <a:t>Độ phức tạp không gian</a:t>
            </a:r>
            <a:endParaRPr lang="en-US" sz="1600" dirty="0"/>
          </a:p>
        </p:txBody>
      </p:sp>
      <p:sp>
        <p:nvSpPr>
          <p:cNvPr id="9" name="Shape 7"/>
          <p:cNvSpPr/>
          <p:nvPr/>
        </p:nvSpPr>
        <p:spPr>
          <a:xfrm>
            <a:off x="581025" y="17621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0" name="Text 8"/>
          <p:cNvSpPr/>
          <p:nvPr/>
        </p:nvSpPr>
        <p:spPr>
          <a:xfrm>
            <a:off x="69532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Định nghĩa:</a:t>
            </a:r>
            <a:endParaRPr lang="en-US" sz="1600" dirty="0"/>
          </a:p>
        </p:txBody>
      </p:sp>
      <p:sp>
        <p:nvSpPr>
          <p:cNvPr id="11" name="Text 9"/>
          <p:cNvSpPr/>
          <p:nvPr/>
        </p:nvSpPr>
        <p:spPr>
          <a:xfrm>
            <a:off x="695325" y="21812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Lượng RAM tiêu thụ bởi chương trình trong quá trình thực thi.</a:t>
            </a:r>
            <a:endParaRPr lang="en-US" sz="1600" dirty="0"/>
          </a:p>
        </p:txBody>
      </p:sp>
      <p:sp>
        <p:nvSpPr>
          <p:cNvPr id="12" name="Shape 10"/>
          <p:cNvSpPr/>
          <p:nvPr/>
        </p:nvSpPr>
        <p:spPr>
          <a:xfrm>
            <a:off x="581025" y="2600325"/>
            <a:ext cx="5219700" cy="1257300"/>
          </a:xfrm>
          <a:custGeom>
            <a:avLst/>
            <a:gdLst/>
            <a:ahLst/>
            <a:cxnLst/>
            <a:rect l="l" t="t" r="r" b="b"/>
            <a:pathLst>
              <a:path w="5219700" h="1257300">
                <a:moveTo>
                  <a:pt x="76205" y="0"/>
                </a:moveTo>
                <a:lnTo>
                  <a:pt x="5143495" y="0"/>
                </a:lnTo>
                <a:cubicBezTo>
                  <a:pt x="5185582" y="0"/>
                  <a:pt x="5219700" y="34118"/>
                  <a:pt x="5219700" y="76205"/>
                </a:cubicBezTo>
                <a:lnTo>
                  <a:pt x="5219700" y="1181095"/>
                </a:lnTo>
                <a:cubicBezTo>
                  <a:pt x="5219700" y="1223182"/>
                  <a:pt x="5185582" y="1257300"/>
                  <a:pt x="5143495" y="1257300"/>
                </a:cubicBezTo>
                <a:lnTo>
                  <a:pt x="76205" y="1257300"/>
                </a:lnTo>
                <a:cubicBezTo>
                  <a:pt x="34118" y="1257300"/>
                  <a:pt x="0" y="1223182"/>
                  <a:pt x="0" y="1181095"/>
                </a:cubicBezTo>
                <a:lnTo>
                  <a:pt x="0" y="76205"/>
                </a:lnTo>
                <a:cubicBezTo>
                  <a:pt x="0" y="34146"/>
                  <a:pt x="34146" y="0"/>
                  <a:pt x="76205" y="0"/>
                </a:cubicBezTo>
                <a:close/>
              </a:path>
            </a:pathLst>
          </a:custGeom>
          <a:solidFill>
            <a:srgbClr val="0F172A"/>
          </a:solidFill>
          <a:ln/>
        </p:spPr>
      </p:sp>
      <p:sp>
        <p:nvSpPr>
          <p:cNvPr id="13" name="Text 11"/>
          <p:cNvSpPr/>
          <p:nvPr/>
        </p:nvSpPr>
        <p:spPr>
          <a:xfrm>
            <a:off x="695325" y="27146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Ví dụ thực tế:</a:t>
            </a:r>
            <a:endParaRPr lang="en-US" sz="1600" dirty="0"/>
          </a:p>
        </p:txBody>
      </p:sp>
      <p:sp>
        <p:nvSpPr>
          <p:cNvPr id="14" name="Shape 12"/>
          <p:cNvSpPr/>
          <p:nvPr/>
        </p:nvSpPr>
        <p:spPr>
          <a:xfrm>
            <a:off x="695325" y="3038475"/>
            <a:ext cx="190500" cy="152400"/>
          </a:xfrm>
          <a:custGeom>
            <a:avLst/>
            <a:gdLst/>
            <a:ahLst/>
            <a:cxnLst/>
            <a:rect l="l" t="t" r="r" b="b"/>
            <a:pathLst>
              <a:path w="190500" h="152400">
                <a:moveTo>
                  <a:pt x="38100" y="9525"/>
                </a:moveTo>
                <a:cubicBezTo>
                  <a:pt x="27593" y="9525"/>
                  <a:pt x="19050" y="18068"/>
                  <a:pt x="19050" y="28575"/>
                </a:cubicBezTo>
                <a:lnTo>
                  <a:pt x="19050" y="100013"/>
                </a:lnTo>
                <a:lnTo>
                  <a:pt x="38100" y="100013"/>
                </a:lnTo>
                <a:lnTo>
                  <a:pt x="38100" y="28575"/>
                </a:lnTo>
                <a:lnTo>
                  <a:pt x="152400" y="28575"/>
                </a:lnTo>
                <a:lnTo>
                  <a:pt x="152400" y="100013"/>
                </a:lnTo>
                <a:lnTo>
                  <a:pt x="171450" y="100013"/>
                </a:lnTo>
                <a:lnTo>
                  <a:pt x="171450" y="28575"/>
                </a:lnTo>
                <a:cubicBezTo>
                  <a:pt x="171450" y="18068"/>
                  <a:pt x="162907" y="9525"/>
                  <a:pt x="152400" y="9525"/>
                </a:cubicBezTo>
                <a:lnTo>
                  <a:pt x="38100" y="9525"/>
                </a:lnTo>
                <a:close/>
                <a:moveTo>
                  <a:pt x="5715" y="114300"/>
                </a:moveTo>
                <a:cubicBezTo>
                  <a:pt x="2560" y="114300"/>
                  <a:pt x="0" y="116860"/>
                  <a:pt x="0" y="120015"/>
                </a:cubicBezTo>
                <a:cubicBezTo>
                  <a:pt x="0" y="132636"/>
                  <a:pt x="10239" y="142875"/>
                  <a:pt x="22860" y="142875"/>
                </a:cubicBezTo>
                <a:lnTo>
                  <a:pt x="167640" y="142875"/>
                </a:lnTo>
                <a:cubicBezTo>
                  <a:pt x="180261" y="142875"/>
                  <a:pt x="190500" y="132636"/>
                  <a:pt x="190500" y="120015"/>
                </a:cubicBezTo>
                <a:cubicBezTo>
                  <a:pt x="190500" y="116860"/>
                  <a:pt x="187940" y="114300"/>
                  <a:pt x="184785" y="114300"/>
                </a:cubicBezTo>
                <a:lnTo>
                  <a:pt x="5715" y="114300"/>
                </a:lnTo>
                <a:close/>
              </a:path>
            </a:pathLst>
          </a:custGeom>
          <a:solidFill>
            <a:srgbClr val="3B82F6"/>
          </a:solidFill>
          <a:ln/>
        </p:spPr>
      </p:sp>
      <p:sp>
        <p:nvSpPr>
          <p:cNvPr id="15" name="Text 13"/>
          <p:cNvSpPr/>
          <p:nvPr/>
        </p:nvSpPr>
        <p:spPr>
          <a:xfrm>
            <a:off x="1000125" y="3019425"/>
            <a:ext cx="15621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MacBook Pro 16GB RAM</a:t>
            </a:r>
            <a:endParaRPr lang="en-US" sz="1600" dirty="0"/>
          </a:p>
        </p:txBody>
      </p:sp>
      <p:sp>
        <p:nvSpPr>
          <p:cNvPr id="16" name="Shape 14"/>
          <p:cNvSpPr/>
          <p:nvPr/>
        </p:nvSpPr>
        <p:spPr>
          <a:xfrm>
            <a:off x="723900" y="3305175"/>
            <a:ext cx="133350" cy="152400"/>
          </a:xfrm>
          <a:custGeom>
            <a:avLst/>
            <a:gdLst/>
            <a:ahLst/>
            <a:cxnLst/>
            <a:rect l="l" t="t" r="r" b="b"/>
            <a:pathLst>
              <a:path w="133350" h="152400">
                <a:moveTo>
                  <a:pt x="133350" y="61258"/>
                </a:moveTo>
                <a:cubicBezTo>
                  <a:pt x="128945" y="64175"/>
                  <a:pt x="123885" y="66526"/>
                  <a:pt x="118616" y="68401"/>
                </a:cubicBezTo>
                <a:cubicBezTo>
                  <a:pt x="104626" y="73402"/>
                  <a:pt x="86261" y="76200"/>
                  <a:pt x="66675" y="76200"/>
                </a:cubicBezTo>
                <a:cubicBezTo>
                  <a:pt x="47089" y="76200"/>
                  <a:pt x="28694" y="73372"/>
                  <a:pt x="14734" y="68401"/>
                </a:cubicBezTo>
                <a:cubicBezTo>
                  <a:pt x="9495" y="66526"/>
                  <a:pt x="4405" y="64175"/>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6"/>
                  <a:pt x="103495" y="0"/>
                  <a:pt x="66675" y="0"/>
                </a:cubicBezTo>
                <a:cubicBezTo>
                  <a:pt x="29855" y="0"/>
                  <a:pt x="0" y="10656"/>
                  <a:pt x="0" y="23813"/>
                </a:cubicBezTo>
                <a:lnTo>
                  <a:pt x="0" y="38100"/>
                </a:lnTo>
                <a:cubicBezTo>
                  <a:pt x="0" y="51256"/>
                  <a:pt x="29855" y="61912"/>
                  <a:pt x="66675" y="61912"/>
                </a:cubicBezTo>
                <a:cubicBezTo>
                  <a:pt x="103495" y="61912"/>
                  <a:pt x="133350" y="51256"/>
                  <a:pt x="133350" y="38100"/>
                </a:cubicBezTo>
                <a:close/>
                <a:moveTo>
                  <a:pt x="118616" y="116026"/>
                </a:moveTo>
                <a:cubicBezTo>
                  <a:pt x="104656" y="120997"/>
                  <a:pt x="86291" y="123825"/>
                  <a:pt x="66675" y="123825"/>
                </a:cubicBezTo>
                <a:cubicBezTo>
                  <a:pt x="47059" y="123825"/>
                  <a:pt x="28694" y="120997"/>
                  <a:pt x="14734" y="116026"/>
                </a:cubicBezTo>
                <a:cubicBezTo>
                  <a:pt x="9495" y="114151"/>
                  <a:pt x="4405" y="111800"/>
                  <a:pt x="0" y="108883"/>
                </a:cubicBezTo>
                <a:lnTo>
                  <a:pt x="0" y="128588"/>
                </a:lnTo>
                <a:cubicBezTo>
                  <a:pt x="0" y="141744"/>
                  <a:pt x="29855" y="152400"/>
                  <a:pt x="66675" y="152400"/>
                </a:cubicBezTo>
                <a:cubicBezTo>
                  <a:pt x="103495" y="152400"/>
                  <a:pt x="133350" y="141744"/>
                  <a:pt x="133350" y="128588"/>
                </a:cubicBezTo>
                <a:lnTo>
                  <a:pt x="133350" y="108883"/>
                </a:lnTo>
                <a:cubicBezTo>
                  <a:pt x="128945" y="111800"/>
                  <a:pt x="123885" y="114151"/>
                  <a:pt x="118616" y="116026"/>
                </a:cubicBezTo>
                <a:close/>
              </a:path>
            </a:pathLst>
          </a:custGeom>
          <a:solidFill>
            <a:srgbClr val="10B981"/>
          </a:solidFill>
          <a:ln/>
        </p:spPr>
      </p:sp>
      <p:sp>
        <p:nvSpPr>
          <p:cNvPr id="17" name="Text 15"/>
          <p:cNvSpPr/>
          <p:nvPr/>
        </p:nvSpPr>
        <p:spPr>
          <a:xfrm>
            <a:off x="1000125" y="3286125"/>
            <a:ext cx="18954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Có thể lưu ~2 tỷ giá trị float64</a:t>
            </a:r>
            <a:endParaRPr lang="en-US" sz="1600" dirty="0"/>
          </a:p>
        </p:txBody>
      </p:sp>
      <p:sp>
        <p:nvSpPr>
          <p:cNvPr id="18" name="Shape 16"/>
          <p:cNvSpPr/>
          <p:nvPr/>
        </p:nvSpPr>
        <p:spPr>
          <a:xfrm>
            <a:off x="733425" y="3571875"/>
            <a:ext cx="114300" cy="152400"/>
          </a:xfrm>
          <a:custGeom>
            <a:avLst/>
            <a:gdLst/>
            <a:ahLst/>
            <a:cxn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28575" y="19050"/>
                </a:moveTo>
                <a:lnTo>
                  <a:pt x="85725" y="19050"/>
                </a:lnTo>
                <a:cubicBezTo>
                  <a:pt x="90994" y="19050"/>
                  <a:pt x="95250" y="23306"/>
                  <a:pt x="95250" y="28575"/>
                </a:cubicBezTo>
                <a:lnTo>
                  <a:pt x="95250" y="38100"/>
                </a:lnTo>
                <a:cubicBezTo>
                  <a:pt x="95250" y="43369"/>
                  <a:pt x="90994" y="47625"/>
                  <a:pt x="85725" y="47625"/>
                </a:cubicBezTo>
                <a:lnTo>
                  <a:pt x="28575" y="47625"/>
                </a:lnTo>
                <a:cubicBezTo>
                  <a:pt x="23306" y="47625"/>
                  <a:pt x="19050" y="43369"/>
                  <a:pt x="19050" y="38100"/>
                </a:cubicBezTo>
                <a:lnTo>
                  <a:pt x="19050" y="28575"/>
                </a:lnTo>
                <a:cubicBezTo>
                  <a:pt x="19050" y="23306"/>
                  <a:pt x="23306" y="19050"/>
                  <a:pt x="28575" y="19050"/>
                </a:cubicBezTo>
                <a:close/>
                <a:moveTo>
                  <a:pt x="33338" y="69056"/>
                </a:moveTo>
                <a:cubicBezTo>
                  <a:pt x="33338" y="72999"/>
                  <a:pt x="30136" y="76200"/>
                  <a:pt x="26194" y="76200"/>
                </a:cubicBezTo>
                <a:cubicBezTo>
                  <a:pt x="22251" y="76200"/>
                  <a:pt x="19050" y="72999"/>
                  <a:pt x="19050" y="69056"/>
                </a:cubicBezTo>
                <a:cubicBezTo>
                  <a:pt x="19050" y="65114"/>
                  <a:pt x="22251" y="61912"/>
                  <a:pt x="26194" y="61912"/>
                </a:cubicBezTo>
                <a:cubicBezTo>
                  <a:pt x="30136" y="61912"/>
                  <a:pt x="33338" y="65114"/>
                  <a:pt x="33338" y="69056"/>
                </a:cubicBezTo>
                <a:close/>
                <a:moveTo>
                  <a:pt x="57150" y="76200"/>
                </a:moveTo>
                <a:cubicBezTo>
                  <a:pt x="53207" y="76200"/>
                  <a:pt x="50006" y="72999"/>
                  <a:pt x="50006" y="69056"/>
                </a:cubicBezTo>
                <a:cubicBezTo>
                  <a:pt x="50006" y="65114"/>
                  <a:pt x="53207" y="61912"/>
                  <a:pt x="57150" y="61912"/>
                </a:cubicBezTo>
                <a:cubicBezTo>
                  <a:pt x="61093" y="61912"/>
                  <a:pt x="64294" y="65114"/>
                  <a:pt x="64294" y="69056"/>
                </a:cubicBezTo>
                <a:cubicBezTo>
                  <a:pt x="64294" y="72999"/>
                  <a:pt x="61093" y="76200"/>
                  <a:pt x="57150" y="76200"/>
                </a:cubicBezTo>
                <a:close/>
                <a:moveTo>
                  <a:pt x="95250" y="69056"/>
                </a:moveTo>
                <a:cubicBezTo>
                  <a:pt x="95250" y="72999"/>
                  <a:pt x="92049" y="76200"/>
                  <a:pt x="88106" y="76200"/>
                </a:cubicBezTo>
                <a:cubicBezTo>
                  <a:pt x="84164" y="76200"/>
                  <a:pt x="80962" y="72999"/>
                  <a:pt x="80962" y="69056"/>
                </a:cubicBezTo>
                <a:cubicBezTo>
                  <a:pt x="80962" y="65114"/>
                  <a:pt x="84164" y="61912"/>
                  <a:pt x="88106" y="61912"/>
                </a:cubicBezTo>
                <a:cubicBezTo>
                  <a:pt x="92049" y="61912"/>
                  <a:pt x="95250" y="65114"/>
                  <a:pt x="95250" y="69056"/>
                </a:cubicBezTo>
                <a:close/>
                <a:moveTo>
                  <a:pt x="26194" y="104775"/>
                </a:moveTo>
                <a:cubicBezTo>
                  <a:pt x="22251" y="104775"/>
                  <a:pt x="19050" y="101574"/>
                  <a:pt x="19050" y="97631"/>
                </a:cubicBezTo>
                <a:cubicBezTo>
                  <a:pt x="19050" y="93689"/>
                  <a:pt x="22251" y="90488"/>
                  <a:pt x="26194" y="90488"/>
                </a:cubicBezTo>
                <a:cubicBezTo>
                  <a:pt x="30136" y="90488"/>
                  <a:pt x="33338" y="93689"/>
                  <a:pt x="33338" y="97631"/>
                </a:cubicBezTo>
                <a:cubicBezTo>
                  <a:pt x="33338" y="101574"/>
                  <a:pt x="30136" y="104775"/>
                  <a:pt x="26194" y="104775"/>
                </a:cubicBezTo>
                <a:close/>
                <a:moveTo>
                  <a:pt x="64294" y="97631"/>
                </a:moveTo>
                <a:cubicBezTo>
                  <a:pt x="64294" y="101574"/>
                  <a:pt x="61093" y="104775"/>
                  <a:pt x="57150" y="104775"/>
                </a:cubicBezTo>
                <a:cubicBezTo>
                  <a:pt x="53207" y="104775"/>
                  <a:pt x="50006" y="101574"/>
                  <a:pt x="50006" y="97631"/>
                </a:cubicBezTo>
                <a:cubicBezTo>
                  <a:pt x="50006" y="93689"/>
                  <a:pt x="53207" y="90488"/>
                  <a:pt x="57150" y="90488"/>
                </a:cubicBezTo>
                <a:cubicBezTo>
                  <a:pt x="61093" y="90488"/>
                  <a:pt x="64294" y="93689"/>
                  <a:pt x="64294" y="97631"/>
                </a:cubicBezTo>
                <a:close/>
                <a:moveTo>
                  <a:pt x="88106" y="104775"/>
                </a:moveTo>
                <a:cubicBezTo>
                  <a:pt x="84164" y="104775"/>
                  <a:pt x="80962" y="101574"/>
                  <a:pt x="80962" y="97631"/>
                </a:cubicBezTo>
                <a:cubicBezTo>
                  <a:pt x="80962" y="93689"/>
                  <a:pt x="84164" y="90488"/>
                  <a:pt x="88106" y="90488"/>
                </a:cubicBezTo>
                <a:cubicBezTo>
                  <a:pt x="92049" y="90488"/>
                  <a:pt x="95250" y="93689"/>
                  <a:pt x="95250" y="97631"/>
                </a:cubicBezTo>
                <a:cubicBezTo>
                  <a:pt x="95250" y="101574"/>
                  <a:pt x="92049" y="104775"/>
                  <a:pt x="88106" y="104775"/>
                </a:cubicBezTo>
                <a:close/>
                <a:moveTo>
                  <a:pt x="19050" y="126206"/>
                </a:moveTo>
                <a:cubicBezTo>
                  <a:pt x="19050" y="122247"/>
                  <a:pt x="22235" y="119062"/>
                  <a:pt x="26194" y="119062"/>
                </a:cubicBezTo>
                <a:lnTo>
                  <a:pt x="59531" y="119062"/>
                </a:lnTo>
                <a:cubicBezTo>
                  <a:pt x="63490" y="119062"/>
                  <a:pt x="66675" y="122247"/>
                  <a:pt x="66675" y="126206"/>
                </a:cubicBezTo>
                <a:cubicBezTo>
                  <a:pt x="66675" y="130165"/>
                  <a:pt x="63490" y="133350"/>
                  <a:pt x="59531" y="133350"/>
                </a:cubicBezTo>
                <a:lnTo>
                  <a:pt x="26194" y="133350"/>
                </a:lnTo>
                <a:cubicBezTo>
                  <a:pt x="22235" y="133350"/>
                  <a:pt x="19050" y="130165"/>
                  <a:pt x="19050" y="126206"/>
                </a:cubicBezTo>
                <a:close/>
                <a:moveTo>
                  <a:pt x="88106" y="119062"/>
                </a:moveTo>
                <a:cubicBezTo>
                  <a:pt x="92065" y="119062"/>
                  <a:pt x="95250" y="122247"/>
                  <a:pt x="95250" y="126206"/>
                </a:cubicBezTo>
                <a:cubicBezTo>
                  <a:pt x="95250" y="130165"/>
                  <a:pt x="92065" y="133350"/>
                  <a:pt x="88106" y="133350"/>
                </a:cubicBezTo>
                <a:cubicBezTo>
                  <a:pt x="84147" y="133350"/>
                  <a:pt x="80962" y="130165"/>
                  <a:pt x="80962" y="126206"/>
                </a:cubicBezTo>
                <a:cubicBezTo>
                  <a:pt x="80962" y="122247"/>
                  <a:pt x="84147" y="119062"/>
                  <a:pt x="88106" y="119062"/>
                </a:cubicBezTo>
                <a:close/>
              </a:path>
            </a:pathLst>
          </a:custGeom>
          <a:solidFill>
            <a:srgbClr val="8B5CF6"/>
          </a:solidFill>
          <a:ln/>
        </p:spPr>
      </p:sp>
      <p:sp>
        <p:nvSpPr>
          <p:cNvPr id="19" name="Text 17"/>
          <p:cNvSpPr/>
          <p:nvPr/>
        </p:nvSpPr>
        <p:spPr>
          <a:xfrm>
            <a:off x="1000125" y="3552825"/>
            <a:ext cx="16002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Mỗi float64 chiếm 8 byte</a:t>
            </a:r>
            <a:endParaRPr lang="en-US" sz="1600" dirty="0"/>
          </a:p>
        </p:txBody>
      </p:sp>
      <p:sp>
        <p:nvSpPr>
          <p:cNvPr id="20" name="Shape 18"/>
          <p:cNvSpPr/>
          <p:nvPr/>
        </p:nvSpPr>
        <p:spPr>
          <a:xfrm>
            <a:off x="385763" y="4214813"/>
            <a:ext cx="5610225" cy="2409825"/>
          </a:xfrm>
          <a:custGeom>
            <a:avLst/>
            <a:gdLst/>
            <a:ahLst/>
            <a:cxnLst/>
            <a:rect l="l" t="t" r="r" b="b"/>
            <a:pathLst>
              <a:path w="5610225" h="2409825">
                <a:moveTo>
                  <a:pt x="114298" y="0"/>
                </a:moveTo>
                <a:lnTo>
                  <a:pt x="5495927" y="0"/>
                </a:lnTo>
                <a:cubicBezTo>
                  <a:pt x="5559010" y="0"/>
                  <a:pt x="5610225" y="51215"/>
                  <a:pt x="5610225" y="114298"/>
                </a:cubicBezTo>
                <a:lnTo>
                  <a:pt x="5610225" y="2295527"/>
                </a:lnTo>
                <a:cubicBezTo>
                  <a:pt x="5610225" y="2358610"/>
                  <a:pt x="5559010" y="2409825"/>
                  <a:pt x="5495927" y="2409825"/>
                </a:cubicBezTo>
                <a:lnTo>
                  <a:pt x="114298" y="2409825"/>
                </a:lnTo>
                <a:cubicBezTo>
                  <a:pt x="51215" y="2409825"/>
                  <a:pt x="0" y="2358610"/>
                  <a:pt x="0" y="2295527"/>
                </a:cubicBezTo>
                <a:lnTo>
                  <a:pt x="0" y="114298"/>
                </a:lnTo>
                <a:cubicBezTo>
                  <a:pt x="0" y="51215"/>
                  <a:pt x="51215" y="0"/>
                  <a:pt x="114298" y="0"/>
                </a:cubicBezTo>
                <a:close/>
              </a:path>
            </a:pathLst>
          </a:custGeom>
          <a:solidFill>
            <a:srgbClr val="0F172A"/>
          </a:solidFill>
          <a:ln w="12700">
            <a:solidFill>
              <a:srgbClr val="3B82F6">
                <a:alpha val="30196"/>
              </a:srgbClr>
            </a:solidFill>
            <a:prstDash val="solid"/>
          </a:ln>
        </p:spPr>
      </p:sp>
      <p:sp>
        <p:nvSpPr>
          <p:cNvPr id="21" name="Text 19"/>
          <p:cNvSpPr/>
          <p:nvPr/>
        </p:nvSpPr>
        <p:spPr>
          <a:xfrm>
            <a:off x="542925" y="4371975"/>
            <a:ext cx="5381625" cy="266700"/>
          </a:xfrm>
          <a:prstGeom prst="rect">
            <a:avLst/>
          </a:prstGeom>
          <a:noFill/>
          <a:ln/>
        </p:spPr>
        <p:txBody>
          <a:bodyPr wrap="square" lIns="0" tIns="0" rIns="0" bIns="0" rtlCol="0" anchor="ctr"/>
          <a:lstStyle/>
          <a:p>
            <a:pPr>
              <a:lnSpc>
                <a:spcPct val="130000"/>
              </a:lnSpc>
            </a:pPr>
            <a:r>
              <a:rPr lang="en-US" sz="1350" b="1" dirty="0">
                <a:solidFill>
                  <a:srgbClr val="3B82F6"/>
                </a:solidFill>
                <a:latin typeface="MiSans" pitchFamily="34" charset="0"/>
                <a:ea typeface="MiSans" pitchFamily="34" charset="-122"/>
                <a:cs typeface="MiSans" pitchFamily="34" charset="-120"/>
              </a:rPr>
              <a:t>Tính toán bộ nhớ</a:t>
            </a:r>
            <a:endParaRPr lang="en-US" sz="1600" dirty="0"/>
          </a:p>
        </p:txBody>
      </p:sp>
      <p:sp>
        <p:nvSpPr>
          <p:cNvPr id="22" name="Shape 20"/>
          <p:cNvSpPr/>
          <p:nvPr/>
        </p:nvSpPr>
        <p:spPr>
          <a:xfrm>
            <a:off x="542925" y="4752975"/>
            <a:ext cx="5295900" cy="1714500"/>
          </a:xfrm>
          <a:custGeom>
            <a:avLst/>
            <a:gdLst/>
            <a:ahLst/>
            <a:cxnLst/>
            <a:rect l="l" t="t" r="r" b="b"/>
            <a:pathLst>
              <a:path w="5295900" h="1714500">
                <a:moveTo>
                  <a:pt x="76192" y="0"/>
                </a:moveTo>
                <a:lnTo>
                  <a:pt x="5219708" y="0"/>
                </a:lnTo>
                <a:cubicBezTo>
                  <a:pt x="5261788" y="0"/>
                  <a:pt x="5295900" y="34112"/>
                  <a:pt x="5295900" y="76192"/>
                </a:cubicBezTo>
                <a:lnTo>
                  <a:pt x="5295900" y="1638308"/>
                </a:lnTo>
                <a:cubicBezTo>
                  <a:pt x="5295900" y="1680388"/>
                  <a:pt x="5261788" y="1714500"/>
                  <a:pt x="5219708" y="1714500"/>
                </a:cubicBezTo>
                <a:lnTo>
                  <a:pt x="76192" y="1714500"/>
                </a:lnTo>
                <a:cubicBezTo>
                  <a:pt x="34112" y="1714500"/>
                  <a:pt x="0" y="1680388"/>
                  <a:pt x="0" y="1638308"/>
                </a:cubicBezTo>
                <a:lnTo>
                  <a:pt x="0" y="76192"/>
                </a:lnTo>
                <a:cubicBezTo>
                  <a:pt x="0" y="34141"/>
                  <a:pt x="34141" y="0"/>
                  <a:pt x="76192" y="0"/>
                </a:cubicBezTo>
                <a:close/>
              </a:path>
            </a:pathLst>
          </a:custGeom>
          <a:solidFill>
            <a:srgbClr val="1E293B"/>
          </a:solidFill>
          <a:ln/>
        </p:spPr>
      </p:sp>
      <p:sp>
        <p:nvSpPr>
          <p:cNvPr id="23" name="Text 21"/>
          <p:cNvSpPr/>
          <p:nvPr/>
        </p:nvSpPr>
        <p:spPr>
          <a:xfrm>
            <a:off x="542925" y="4752975"/>
            <a:ext cx="5357813" cy="1714500"/>
          </a:xfrm>
          <a:prstGeom prst="rect">
            <a:avLst/>
          </a:prstGeom>
          <a:noFill/>
          <a:ln/>
        </p:spPr>
        <p:txBody>
          <a:bodyPr wrap="square" lIns="114300" tIns="114300" rIns="114300" bIns="114300" rtlCol="0" anchor="ctr"/>
          <a:lstStyle/>
          <a:p>
            <a:pPr>
              <a:lnSpc>
                <a:spcPct val="130000"/>
              </a:lnSpc>
            </a:pPr>
            <a:r>
              <a:rPr lang="en-US" sz="975" dirty="0">
                <a:solidFill>
                  <a:srgbClr val="F1F5F9"/>
                </a:solidFill>
                <a:latin typeface="MiSans" pitchFamily="34" charset="0"/>
                <a:ea typeface="MiSans" pitchFamily="34" charset="-122"/>
                <a:cs typeface="MiSans" pitchFamily="34" charset="-120"/>
              </a:rPr>
              <a:t># Ma trận 10,000 × 10,000</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rows = 10,000</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cols = 10,000</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bytes_per_value = 8</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total_memory</a:t>
            </a:r>
            <a:pPr>
              <a:lnSpc>
                <a:spcPct val="130000"/>
              </a:lnSpc>
            </a:pPr>
            <a:r>
              <a:rPr lang="en-US" sz="975" dirty="0">
                <a:solidFill>
                  <a:srgbClr val="F1F5F9"/>
                </a:solidFill>
                <a:latin typeface="MiSans" pitchFamily="34" charset="0"/>
                <a:ea typeface="MiSans" pitchFamily="34" charset="-122"/>
                <a:cs typeface="MiSans" pitchFamily="34" charset="-120"/>
              </a:rPr>
              <a:t> = 10,000 × 10,000 × 8</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 800,000,000 bytes</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 </a:t>
            </a:r>
            <a:pPr>
              <a:lnSpc>
                <a:spcPct val="130000"/>
              </a:lnSpc>
            </a:pPr>
            <a:r>
              <a:rPr lang="en-US" sz="975" b="1" dirty="0">
                <a:solidFill>
                  <a:srgbClr val="EF4444"/>
                </a:solidFill>
                <a:latin typeface="MiSans" pitchFamily="34" charset="0"/>
                <a:ea typeface="MiSans" pitchFamily="34" charset="-122"/>
                <a:cs typeface="MiSans" pitchFamily="34" charset="-120"/>
              </a:rPr>
              <a:t>~800 MB</a:t>
            </a:r>
            <a:endParaRPr lang="en-US" sz="1600" dirty="0"/>
          </a:p>
        </p:txBody>
      </p:sp>
      <p:sp>
        <p:nvSpPr>
          <p:cNvPr id="24" name="Shape 22"/>
          <p:cNvSpPr/>
          <p:nvPr/>
        </p:nvSpPr>
        <p:spPr>
          <a:xfrm>
            <a:off x="6196013" y="1147763"/>
            <a:ext cx="5610225" cy="4543425"/>
          </a:xfrm>
          <a:custGeom>
            <a:avLst/>
            <a:gdLst/>
            <a:ahLst/>
            <a:cxnLst/>
            <a:rect l="l" t="t" r="r" b="b"/>
            <a:pathLst>
              <a:path w="5610225" h="4543425">
                <a:moveTo>
                  <a:pt x="114313" y="0"/>
                </a:moveTo>
                <a:lnTo>
                  <a:pt x="5495912" y="0"/>
                </a:lnTo>
                <a:cubicBezTo>
                  <a:pt x="5559046" y="0"/>
                  <a:pt x="5610225" y="51179"/>
                  <a:pt x="5610225" y="114313"/>
                </a:cubicBezTo>
                <a:lnTo>
                  <a:pt x="5610225" y="4429112"/>
                </a:lnTo>
                <a:cubicBezTo>
                  <a:pt x="5610225" y="4492246"/>
                  <a:pt x="5559046" y="4543425"/>
                  <a:pt x="5495912" y="4543425"/>
                </a:cubicBezTo>
                <a:lnTo>
                  <a:pt x="114313" y="4543425"/>
                </a:lnTo>
                <a:cubicBezTo>
                  <a:pt x="51179" y="4543425"/>
                  <a:pt x="0" y="4492246"/>
                  <a:pt x="0" y="4429112"/>
                </a:cubicBezTo>
                <a:lnTo>
                  <a:pt x="0" y="114313"/>
                </a:lnTo>
                <a:cubicBezTo>
                  <a:pt x="0" y="51179"/>
                  <a:pt x="51179" y="0"/>
                  <a:pt x="114313"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25" name="Shape 23"/>
          <p:cNvSpPr/>
          <p:nvPr/>
        </p:nvSpPr>
        <p:spPr>
          <a:xfrm>
            <a:off x="6391275" y="1381125"/>
            <a:ext cx="238125" cy="190500"/>
          </a:xfrm>
          <a:custGeom>
            <a:avLst/>
            <a:gdLst/>
            <a:ahLst/>
            <a:cxnLst/>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F59E0B"/>
          </a:solidFill>
          <a:ln/>
        </p:spPr>
      </p:sp>
      <p:sp>
        <p:nvSpPr>
          <p:cNvPr id="26" name="Text 24"/>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F59E0B"/>
                </a:solidFill>
                <a:latin typeface="MiSans" pitchFamily="34" charset="0"/>
                <a:ea typeface="MiSans" pitchFamily="34" charset="-122"/>
                <a:cs typeface="MiSans" pitchFamily="34" charset="-120"/>
              </a:rPr>
              <a:t>Sự cân bằng Time-Memory</a:t>
            </a:r>
            <a:endParaRPr lang="en-US" sz="1600" dirty="0"/>
          </a:p>
        </p:txBody>
      </p:sp>
      <p:sp>
        <p:nvSpPr>
          <p:cNvPr id="27" name="Shape 25"/>
          <p:cNvSpPr/>
          <p:nvPr/>
        </p:nvSpPr>
        <p:spPr>
          <a:xfrm>
            <a:off x="6410325" y="1762125"/>
            <a:ext cx="5200650" cy="1143000"/>
          </a:xfrm>
          <a:custGeom>
            <a:avLst/>
            <a:gdLst/>
            <a:ahLst/>
            <a:cxnLst/>
            <a:rect l="l" t="t" r="r" b="b"/>
            <a:pathLst>
              <a:path w="5200650" h="1143000">
                <a:moveTo>
                  <a:pt x="38100" y="0"/>
                </a:moveTo>
                <a:lnTo>
                  <a:pt x="5124446" y="0"/>
                </a:lnTo>
                <a:cubicBezTo>
                  <a:pt x="5166532" y="0"/>
                  <a:pt x="5200650" y="34118"/>
                  <a:pt x="5200650" y="76204"/>
                </a:cubicBezTo>
                <a:lnTo>
                  <a:pt x="5200650" y="1066796"/>
                </a:lnTo>
                <a:cubicBezTo>
                  <a:pt x="5200650" y="1108882"/>
                  <a:pt x="5166532" y="1143000"/>
                  <a:pt x="5124446" y="1143000"/>
                </a:cubicBezTo>
                <a:lnTo>
                  <a:pt x="38100" y="1143000"/>
                </a:lnTo>
                <a:cubicBezTo>
                  <a:pt x="17072" y="1143000"/>
                  <a:pt x="0" y="1125928"/>
                  <a:pt x="0" y="1104900"/>
                </a:cubicBezTo>
                <a:lnTo>
                  <a:pt x="0" y="38100"/>
                </a:lnTo>
                <a:cubicBezTo>
                  <a:pt x="0" y="17072"/>
                  <a:pt x="17072" y="0"/>
                  <a:pt x="38100" y="0"/>
                </a:cubicBezTo>
                <a:close/>
              </a:path>
            </a:pathLst>
          </a:custGeom>
          <a:solidFill>
            <a:srgbClr val="0F172A"/>
          </a:solidFill>
          <a:ln/>
        </p:spPr>
      </p:sp>
      <p:sp>
        <p:nvSpPr>
          <p:cNvPr id="28" name="Shape 26"/>
          <p:cNvSpPr/>
          <p:nvPr/>
        </p:nvSpPr>
        <p:spPr>
          <a:xfrm>
            <a:off x="6410325" y="1762125"/>
            <a:ext cx="38100" cy="1143000"/>
          </a:xfrm>
          <a:custGeom>
            <a:avLst/>
            <a:gdLst/>
            <a:ahLst/>
            <a:cxnLst/>
            <a:rect l="l" t="t" r="r" b="b"/>
            <a:pathLst>
              <a:path w="38100" h="11430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10B981"/>
          </a:solidFill>
          <a:ln/>
        </p:spPr>
      </p:sp>
      <p:sp>
        <p:nvSpPr>
          <p:cNvPr id="29" name="Shape 27"/>
          <p:cNvSpPr/>
          <p:nvPr/>
        </p:nvSpPr>
        <p:spPr>
          <a:xfrm>
            <a:off x="6617494" y="1952625"/>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10B981"/>
          </a:solidFill>
          <a:ln/>
        </p:spPr>
      </p:sp>
      <p:sp>
        <p:nvSpPr>
          <p:cNvPr id="30" name="Text 28"/>
          <p:cNvSpPr/>
          <p:nvPr/>
        </p:nvSpPr>
        <p:spPr>
          <a:xfrm>
            <a:off x="6934200" y="1914525"/>
            <a:ext cx="7334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Caching</a:t>
            </a:r>
            <a:endParaRPr lang="en-US" sz="1600" dirty="0"/>
          </a:p>
        </p:txBody>
      </p:sp>
      <p:sp>
        <p:nvSpPr>
          <p:cNvPr id="31" name="Text 29"/>
          <p:cNvSpPr/>
          <p:nvPr/>
        </p:nvSpPr>
        <p:spPr>
          <a:xfrm>
            <a:off x="6581775" y="2257425"/>
            <a:ext cx="49434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Lưu trữ kết quả tính toán để tái sử dụng</a:t>
            </a:r>
            <a:endParaRPr lang="en-US" sz="1600" dirty="0"/>
          </a:p>
        </p:txBody>
      </p:sp>
      <p:sp>
        <p:nvSpPr>
          <p:cNvPr id="32" name="Shape 30"/>
          <p:cNvSpPr/>
          <p:nvPr/>
        </p:nvSpPr>
        <p:spPr>
          <a:xfrm>
            <a:off x="6581775" y="2524125"/>
            <a:ext cx="885825" cy="228600"/>
          </a:xfrm>
          <a:custGeom>
            <a:avLst/>
            <a:gdLst/>
            <a:ahLst/>
            <a:cxnLst/>
            <a:rect l="l" t="t" r="r" b="b"/>
            <a:pathLst>
              <a:path w="885825" h="228600">
                <a:moveTo>
                  <a:pt x="38101" y="0"/>
                </a:moveTo>
                <a:lnTo>
                  <a:pt x="847724" y="0"/>
                </a:lnTo>
                <a:cubicBezTo>
                  <a:pt x="868767" y="0"/>
                  <a:pt x="885825" y="17058"/>
                  <a:pt x="885825" y="38101"/>
                </a:cubicBezTo>
                <a:lnTo>
                  <a:pt x="885825" y="190499"/>
                </a:lnTo>
                <a:cubicBezTo>
                  <a:pt x="885825" y="211542"/>
                  <a:pt x="868767" y="228600"/>
                  <a:pt x="847724" y="228600"/>
                </a:cubicBezTo>
                <a:lnTo>
                  <a:pt x="38101" y="228600"/>
                </a:lnTo>
                <a:cubicBezTo>
                  <a:pt x="17072" y="228600"/>
                  <a:pt x="0" y="211528"/>
                  <a:pt x="0" y="190499"/>
                </a:cubicBezTo>
                <a:lnTo>
                  <a:pt x="0" y="38101"/>
                </a:lnTo>
                <a:cubicBezTo>
                  <a:pt x="0" y="17072"/>
                  <a:pt x="17072" y="0"/>
                  <a:pt x="38101" y="0"/>
                </a:cubicBezTo>
                <a:close/>
              </a:path>
            </a:pathLst>
          </a:custGeom>
          <a:solidFill>
            <a:srgbClr val="10B981">
              <a:alpha val="20000"/>
            </a:srgbClr>
          </a:solidFill>
          <a:ln/>
        </p:spPr>
      </p:sp>
      <p:sp>
        <p:nvSpPr>
          <p:cNvPr id="33" name="Text 31"/>
          <p:cNvSpPr/>
          <p:nvPr/>
        </p:nvSpPr>
        <p:spPr>
          <a:xfrm>
            <a:off x="6581775" y="2524125"/>
            <a:ext cx="942975" cy="228600"/>
          </a:xfrm>
          <a:prstGeom prst="rect">
            <a:avLst/>
          </a:prstGeom>
          <a:noFill/>
          <a:ln/>
        </p:spPr>
        <p:txBody>
          <a:bodyPr wrap="square" lIns="76200" tIns="38100" rIns="76200" bIns="38100" rtlCol="0" anchor="ctr"/>
          <a:lstStyle/>
          <a:p>
            <a:pPr>
              <a:lnSpc>
                <a:spcPct val="110000"/>
              </a:lnSpc>
            </a:pPr>
            <a:r>
              <a:rPr lang="en-US" sz="900" dirty="0">
                <a:solidFill>
                  <a:srgbClr val="10B981"/>
                </a:solidFill>
                <a:latin typeface="MiSans" pitchFamily="34" charset="0"/>
                <a:ea typeface="MiSans" pitchFamily="34" charset="-122"/>
                <a:cs typeface="MiSans" pitchFamily="34" charset="-120"/>
              </a:rPr>
              <a:t>+ Tăng tốc độ</a:t>
            </a:r>
            <a:endParaRPr lang="en-US" sz="1600" dirty="0"/>
          </a:p>
        </p:txBody>
      </p:sp>
      <p:sp>
        <p:nvSpPr>
          <p:cNvPr id="34" name="Shape 32"/>
          <p:cNvSpPr/>
          <p:nvPr/>
        </p:nvSpPr>
        <p:spPr>
          <a:xfrm>
            <a:off x="7543056" y="2524125"/>
            <a:ext cx="781050" cy="228600"/>
          </a:xfrm>
          <a:custGeom>
            <a:avLst/>
            <a:gdLst/>
            <a:ahLst/>
            <a:cxnLst/>
            <a:rect l="l" t="t" r="r" b="b"/>
            <a:pathLst>
              <a:path w="781050" h="228600">
                <a:moveTo>
                  <a:pt x="38101" y="0"/>
                </a:moveTo>
                <a:lnTo>
                  <a:pt x="742949" y="0"/>
                </a:lnTo>
                <a:cubicBezTo>
                  <a:pt x="763992" y="0"/>
                  <a:pt x="781050" y="17058"/>
                  <a:pt x="781050" y="38101"/>
                </a:cubicBezTo>
                <a:lnTo>
                  <a:pt x="781050" y="190499"/>
                </a:lnTo>
                <a:cubicBezTo>
                  <a:pt x="781050" y="211542"/>
                  <a:pt x="763992" y="228600"/>
                  <a:pt x="742949" y="228600"/>
                </a:cubicBezTo>
                <a:lnTo>
                  <a:pt x="38101" y="228600"/>
                </a:lnTo>
                <a:cubicBezTo>
                  <a:pt x="17072" y="228600"/>
                  <a:pt x="0" y="211528"/>
                  <a:pt x="0" y="190499"/>
                </a:cubicBezTo>
                <a:lnTo>
                  <a:pt x="0" y="38101"/>
                </a:lnTo>
                <a:cubicBezTo>
                  <a:pt x="0" y="17072"/>
                  <a:pt x="17072" y="0"/>
                  <a:pt x="38101" y="0"/>
                </a:cubicBezTo>
                <a:close/>
              </a:path>
            </a:pathLst>
          </a:custGeom>
          <a:solidFill>
            <a:srgbClr val="EF4444">
              <a:alpha val="20000"/>
            </a:srgbClr>
          </a:solidFill>
          <a:ln/>
        </p:spPr>
      </p:sp>
      <p:sp>
        <p:nvSpPr>
          <p:cNvPr id="35" name="Text 33"/>
          <p:cNvSpPr/>
          <p:nvPr/>
        </p:nvSpPr>
        <p:spPr>
          <a:xfrm>
            <a:off x="7543056" y="2524125"/>
            <a:ext cx="838200" cy="228600"/>
          </a:xfrm>
          <a:prstGeom prst="rect">
            <a:avLst/>
          </a:prstGeom>
          <a:noFill/>
          <a:ln/>
        </p:spPr>
        <p:txBody>
          <a:bodyPr wrap="square" lIns="76200" tIns="38100" rIns="76200" bIns="38100" rtlCol="0" anchor="ctr"/>
          <a:lstStyle/>
          <a:p>
            <a:pPr>
              <a:lnSpc>
                <a:spcPct val="110000"/>
              </a:lnSpc>
            </a:pPr>
            <a:r>
              <a:rPr lang="en-US" sz="900" dirty="0">
                <a:solidFill>
                  <a:srgbClr val="EF4444"/>
                </a:solidFill>
                <a:latin typeface="MiSans" pitchFamily="34" charset="0"/>
                <a:ea typeface="MiSans" pitchFamily="34" charset="-122"/>
                <a:cs typeface="MiSans" pitchFamily="34" charset="-120"/>
              </a:rPr>
              <a:t>- Tăng RAM</a:t>
            </a:r>
            <a:endParaRPr lang="en-US" sz="1600" dirty="0"/>
          </a:p>
        </p:txBody>
      </p:sp>
      <p:sp>
        <p:nvSpPr>
          <p:cNvPr id="36" name="Shape 34"/>
          <p:cNvSpPr/>
          <p:nvPr/>
        </p:nvSpPr>
        <p:spPr>
          <a:xfrm>
            <a:off x="6410325" y="3057525"/>
            <a:ext cx="5200650" cy="1143000"/>
          </a:xfrm>
          <a:custGeom>
            <a:avLst/>
            <a:gdLst/>
            <a:ahLst/>
            <a:cxnLst/>
            <a:rect l="l" t="t" r="r" b="b"/>
            <a:pathLst>
              <a:path w="5200650" h="1143000">
                <a:moveTo>
                  <a:pt x="38100" y="0"/>
                </a:moveTo>
                <a:lnTo>
                  <a:pt x="5124446" y="0"/>
                </a:lnTo>
                <a:cubicBezTo>
                  <a:pt x="5166532" y="0"/>
                  <a:pt x="5200650" y="34118"/>
                  <a:pt x="5200650" y="76204"/>
                </a:cubicBezTo>
                <a:lnTo>
                  <a:pt x="5200650" y="1066796"/>
                </a:lnTo>
                <a:cubicBezTo>
                  <a:pt x="5200650" y="1108882"/>
                  <a:pt x="5166532" y="1143000"/>
                  <a:pt x="5124446" y="1143000"/>
                </a:cubicBezTo>
                <a:lnTo>
                  <a:pt x="38100" y="1143000"/>
                </a:lnTo>
                <a:cubicBezTo>
                  <a:pt x="17072" y="1143000"/>
                  <a:pt x="0" y="1125928"/>
                  <a:pt x="0" y="1104900"/>
                </a:cubicBezTo>
                <a:lnTo>
                  <a:pt x="0" y="38100"/>
                </a:lnTo>
                <a:cubicBezTo>
                  <a:pt x="0" y="17072"/>
                  <a:pt x="17072" y="0"/>
                  <a:pt x="38100" y="0"/>
                </a:cubicBezTo>
                <a:close/>
              </a:path>
            </a:pathLst>
          </a:custGeom>
          <a:solidFill>
            <a:srgbClr val="0F172A"/>
          </a:solidFill>
          <a:ln/>
        </p:spPr>
      </p:sp>
      <p:sp>
        <p:nvSpPr>
          <p:cNvPr id="37" name="Shape 35"/>
          <p:cNvSpPr/>
          <p:nvPr/>
        </p:nvSpPr>
        <p:spPr>
          <a:xfrm>
            <a:off x="6410325" y="3057525"/>
            <a:ext cx="38100" cy="1143000"/>
          </a:xfrm>
          <a:custGeom>
            <a:avLst/>
            <a:gdLst/>
            <a:ahLst/>
            <a:cxnLst/>
            <a:rect l="l" t="t" r="r" b="b"/>
            <a:pathLst>
              <a:path w="38100" h="1143000">
                <a:moveTo>
                  <a:pt x="38100" y="0"/>
                </a:moveTo>
                <a:lnTo>
                  <a:pt x="38100" y="0"/>
                </a:lnTo>
                <a:lnTo>
                  <a:pt x="38100" y="1143000"/>
                </a:lnTo>
                <a:lnTo>
                  <a:pt x="38100" y="1143000"/>
                </a:lnTo>
                <a:cubicBezTo>
                  <a:pt x="17072" y="1143000"/>
                  <a:pt x="0" y="1125928"/>
                  <a:pt x="0" y="1104900"/>
                </a:cubicBezTo>
                <a:lnTo>
                  <a:pt x="0" y="38100"/>
                </a:lnTo>
                <a:cubicBezTo>
                  <a:pt x="0" y="17072"/>
                  <a:pt x="17072" y="0"/>
                  <a:pt x="38100" y="0"/>
                </a:cubicBezTo>
                <a:close/>
              </a:path>
            </a:pathLst>
          </a:custGeom>
          <a:solidFill>
            <a:srgbClr val="3B82F6"/>
          </a:solidFill>
          <a:ln/>
        </p:spPr>
      </p:sp>
      <p:sp>
        <p:nvSpPr>
          <p:cNvPr id="38" name="Shape 36"/>
          <p:cNvSpPr/>
          <p:nvPr/>
        </p:nvSpPr>
        <p:spPr>
          <a:xfrm>
            <a:off x="6605588" y="3248025"/>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3B82F6"/>
          </a:solidFill>
          <a:ln/>
        </p:spPr>
      </p:sp>
      <p:sp>
        <p:nvSpPr>
          <p:cNvPr id="39" name="Text 37"/>
          <p:cNvSpPr/>
          <p:nvPr/>
        </p:nvSpPr>
        <p:spPr>
          <a:xfrm>
            <a:off x="6934200" y="3209925"/>
            <a:ext cx="14478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Batch Processing</a:t>
            </a:r>
            <a:endParaRPr lang="en-US" sz="1600" dirty="0"/>
          </a:p>
        </p:txBody>
      </p:sp>
      <p:sp>
        <p:nvSpPr>
          <p:cNvPr id="40" name="Text 38"/>
          <p:cNvSpPr/>
          <p:nvPr/>
        </p:nvSpPr>
        <p:spPr>
          <a:xfrm>
            <a:off x="6581775" y="3552825"/>
            <a:ext cx="49434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Đọc và xử lý một phần dữ liệu từ đĩa</a:t>
            </a:r>
            <a:endParaRPr lang="en-US" sz="1600" dirty="0"/>
          </a:p>
        </p:txBody>
      </p:sp>
      <p:sp>
        <p:nvSpPr>
          <p:cNvPr id="41" name="Shape 39"/>
          <p:cNvSpPr/>
          <p:nvPr/>
        </p:nvSpPr>
        <p:spPr>
          <a:xfrm>
            <a:off x="6581775" y="3819525"/>
            <a:ext cx="809625" cy="228600"/>
          </a:xfrm>
          <a:custGeom>
            <a:avLst/>
            <a:gdLst/>
            <a:ahLst/>
            <a:cxnLst/>
            <a:rect l="l" t="t" r="r" b="b"/>
            <a:pathLst>
              <a:path w="809625" h="228600">
                <a:moveTo>
                  <a:pt x="38101" y="0"/>
                </a:moveTo>
                <a:lnTo>
                  <a:pt x="771524" y="0"/>
                </a:lnTo>
                <a:cubicBezTo>
                  <a:pt x="792567" y="0"/>
                  <a:pt x="809625" y="17058"/>
                  <a:pt x="809625" y="38101"/>
                </a:cubicBezTo>
                <a:lnTo>
                  <a:pt x="809625" y="190499"/>
                </a:lnTo>
                <a:cubicBezTo>
                  <a:pt x="809625" y="211542"/>
                  <a:pt x="792567" y="228600"/>
                  <a:pt x="771524" y="228600"/>
                </a:cubicBezTo>
                <a:lnTo>
                  <a:pt x="38101" y="228600"/>
                </a:lnTo>
                <a:cubicBezTo>
                  <a:pt x="17072" y="228600"/>
                  <a:pt x="0" y="211528"/>
                  <a:pt x="0" y="190499"/>
                </a:cubicBezTo>
                <a:lnTo>
                  <a:pt x="0" y="38101"/>
                </a:lnTo>
                <a:cubicBezTo>
                  <a:pt x="0" y="17072"/>
                  <a:pt x="17072" y="0"/>
                  <a:pt x="38101" y="0"/>
                </a:cubicBezTo>
                <a:close/>
              </a:path>
            </a:pathLst>
          </a:custGeom>
          <a:solidFill>
            <a:srgbClr val="10B981">
              <a:alpha val="20000"/>
            </a:srgbClr>
          </a:solidFill>
          <a:ln/>
        </p:spPr>
      </p:sp>
      <p:sp>
        <p:nvSpPr>
          <p:cNvPr id="42" name="Text 40"/>
          <p:cNvSpPr/>
          <p:nvPr/>
        </p:nvSpPr>
        <p:spPr>
          <a:xfrm>
            <a:off x="6581775" y="3819525"/>
            <a:ext cx="866775" cy="228600"/>
          </a:xfrm>
          <a:prstGeom prst="rect">
            <a:avLst/>
          </a:prstGeom>
          <a:noFill/>
          <a:ln/>
        </p:spPr>
        <p:txBody>
          <a:bodyPr wrap="square" lIns="76200" tIns="38100" rIns="76200" bIns="38100" rtlCol="0" anchor="ctr"/>
          <a:lstStyle/>
          <a:p>
            <a:pPr>
              <a:lnSpc>
                <a:spcPct val="110000"/>
              </a:lnSpc>
            </a:pPr>
            <a:r>
              <a:rPr lang="en-US" sz="900" dirty="0">
                <a:solidFill>
                  <a:srgbClr val="10B981"/>
                </a:solidFill>
                <a:latin typeface="MiSans" pitchFamily="34" charset="0"/>
                <a:ea typeface="MiSans" pitchFamily="34" charset="-122"/>
                <a:cs typeface="MiSans" pitchFamily="34" charset="-120"/>
              </a:rPr>
              <a:t>+ Giảm RAM</a:t>
            </a:r>
            <a:endParaRPr lang="en-US" sz="1600" dirty="0"/>
          </a:p>
        </p:txBody>
      </p:sp>
      <p:sp>
        <p:nvSpPr>
          <p:cNvPr id="43" name="Shape 41"/>
          <p:cNvSpPr/>
          <p:nvPr/>
        </p:nvSpPr>
        <p:spPr>
          <a:xfrm>
            <a:off x="7465665" y="3819525"/>
            <a:ext cx="952500" cy="228600"/>
          </a:xfrm>
          <a:custGeom>
            <a:avLst/>
            <a:gdLst/>
            <a:ahLst/>
            <a:cxnLst/>
            <a:rect l="l" t="t" r="r" b="b"/>
            <a:pathLst>
              <a:path w="952500" h="228600">
                <a:moveTo>
                  <a:pt x="38101" y="0"/>
                </a:moveTo>
                <a:lnTo>
                  <a:pt x="914399" y="0"/>
                </a:lnTo>
                <a:cubicBezTo>
                  <a:pt x="935442" y="0"/>
                  <a:pt x="952500" y="17058"/>
                  <a:pt x="952500" y="38101"/>
                </a:cubicBezTo>
                <a:lnTo>
                  <a:pt x="952500" y="190499"/>
                </a:lnTo>
                <a:cubicBezTo>
                  <a:pt x="952500" y="211542"/>
                  <a:pt x="935442" y="228600"/>
                  <a:pt x="914399" y="228600"/>
                </a:cubicBezTo>
                <a:lnTo>
                  <a:pt x="38101" y="228600"/>
                </a:lnTo>
                <a:cubicBezTo>
                  <a:pt x="17072" y="228600"/>
                  <a:pt x="0" y="211528"/>
                  <a:pt x="0" y="190499"/>
                </a:cubicBezTo>
                <a:lnTo>
                  <a:pt x="0" y="38101"/>
                </a:lnTo>
                <a:cubicBezTo>
                  <a:pt x="0" y="17072"/>
                  <a:pt x="17072" y="0"/>
                  <a:pt x="38101" y="0"/>
                </a:cubicBezTo>
                <a:close/>
              </a:path>
            </a:pathLst>
          </a:custGeom>
          <a:solidFill>
            <a:srgbClr val="EF4444">
              <a:alpha val="20000"/>
            </a:srgbClr>
          </a:solidFill>
          <a:ln/>
        </p:spPr>
      </p:sp>
      <p:sp>
        <p:nvSpPr>
          <p:cNvPr id="44" name="Text 42"/>
          <p:cNvSpPr/>
          <p:nvPr/>
        </p:nvSpPr>
        <p:spPr>
          <a:xfrm>
            <a:off x="7465665" y="3819525"/>
            <a:ext cx="1009650" cy="228600"/>
          </a:xfrm>
          <a:prstGeom prst="rect">
            <a:avLst/>
          </a:prstGeom>
          <a:noFill/>
          <a:ln/>
        </p:spPr>
        <p:txBody>
          <a:bodyPr wrap="square" lIns="76200" tIns="38100" rIns="76200" bIns="38100" rtlCol="0" anchor="ctr"/>
          <a:lstStyle/>
          <a:p>
            <a:pPr>
              <a:lnSpc>
                <a:spcPct val="110000"/>
              </a:lnSpc>
            </a:pPr>
            <a:r>
              <a:rPr lang="en-US" sz="900" dirty="0">
                <a:solidFill>
                  <a:srgbClr val="EF4444"/>
                </a:solidFill>
                <a:latin typeface="MiSans" pitchFamily="34" charset="0"/>
                <a:ea typeface="MiSans" pitchFamily="34" charset="-122"/>
                <a:cs typeface="MiSans" pitchFamily="34" charset="-120"/>
              </a:rPr>
              <a:t>- Tăng thờigian</a:t>
            </a:r>
            <a:endParaRPr lang="en-US" sz="1600" dirty="0"/>
          </a:p>
        </p:txBody>
      </p:sp>
      <p:sp>
        <p:nvSpPr>
          <p:cNvPr id="45" name="Shape 43"/>
          <p:cNvSpPr/>
          <p:nvPr/>
        </p:nvSpPr>
        <p:spPr>
          <a:xfrm>
            <a:off x="6196013" y="58531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8B5CF6">
                  <a:alpha val="10000"/>
                </a:srgbClr>
              </a:gs>
              <a:gs pos="100000">
                <a:srgbClr val="10B981">
                  <a:alpha val="10000"/>
                </a:srgbClr>
              </a:gs>
            </a:gsLst>
            <a:lin ang="0" scaled="1"/>
          </a:gradFill>
          <a:ln w="12700">
            <a:solidFill>
              <a:srgbClr val="8B5CF6">
                <a:alpha val="30196"/>
              </a:srgbClr>
            </a:solidFill>
            <a:prstDash val="solid"/>
          </a:ln>
        </p:spPr>
      </p:sp>
      <p:sp>
        <p:nvSpPr>
          <p:cNvPr id="46" name="Shape 44"/>
          <p:cNvSpPr/>
          <p:nvPr/>
        </p:nvSpPr>
        <p:spPr>
          <a:xfrm>
            <a:off x="6391275" y="60579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59E0B"/>
          </a:solidFill>
          <a:ln/>
        </p:spPr>
      </p:sp>
      <p:sp>
        <p:nvSpPr>
          <p:cNvPr id="47" name="Text 45"/>
          <p:cNvSpPr/>
          <p:nvPr/>
        </p:nvSpPr>
        <p:spPr>
          <a:xfrm>
            <a:off x="6600825" y="60102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Tradeoff quan trọng:</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Khi thiết kế chương trình, cần cân nhắc giữa tốc độ thực thi và tiêu thụ bộ nhớ tùy theo yêu cầu cụ thể.</a:t>
            </a:r>
            <a:endParaRPr lang="en-US" sz="16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98872" y="561975"/>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FFFFFF"/>
          </a:solidFill>
          <a:ln/>
        </p:spPr>
      </p:sp>
      <p:sp>
        <p:nvSpPr>
          <p:cNvPr id="4" name="Text 2"/>
          <p:cNvSpPr/>
          <p:nvPr/>
        </p:nvSpPr>
        <p:spPr>
          <a:xfrm>
            <a:off x="876300" y="381000"/>
            <a:ext cx="6000750"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14 | LAB 1</a:t>
            </a:r>
            <a:endParaRPr lang="en-US" sz="1600" dirty="0"/>
          </a:p>
        </p:txBody>
      </p:sp>
      <p:sp>
        <p:nvSpPr>
          <p:cNvPr id="5" name="Text 3"/>
          <p:cNvSpPr/>
          <p:nvPr/>
        </p:nvSpPr>
        <p:spPr>
          <a:xfrm>
            <a:off x="876300" y="571500"/>
            <a:ext cx="60769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LAB 1: Phân tích thờigian chạy hàm Fibonacci</a:t>
            </a:r>
            <a:endParaRPr lang="en-US" sz="1600" dirty="0"/>
          </a:p>
        </p:txBody>
      </p:sp>
      <p:sp>
        <p:nvSpPr>
          <p:cNvPr id="6" name="Shape 4"/>
          <p:cNvSpPr/>
          <p:nvPr/>
        </p:nvSpPr>
        <p:spPr>
          <a:xfrm>
            <a:off x="385763" y="1147763"/>
            <a:ext cx="3695700" cy="2990850"/>
          </a:xfrm>
          <a:custGeom>
            <a:avLst/>
            <a:gdLst/>
            <a:ahLst/>
            <a:cxnLst/>
            <a:rect l="l" t="t" r="r" b="b"/>
            <a:pathLst>
              <a:path w="3695700" h="2990850">
                <a:moveTo>
                  <a:pt x="114310" y="0"/>
                </a:moveTo>
                <a:lnTo>
                  <a:pt x="3581390" y="0"/>
                </a:lnTo>
                <a:cubicBezTo>
                  <a:pt x="3644522" y="0"/>
                  <a:pt x="3695700" y="51178"/>
                  <a:pt x="3695700" y="114310"/>
                </a:cubicBezTo>
                <a:lnTo>
                  <a:pt x="3695700" y="2876540"/>
                </a:lnTo>
                <a:cubicBezTo>
                  <a:pt x="3695700" y="2939672"/>
                  <a:pt x="3644522" y="2990850"/>
                  <a:pt x="3581390" y="2990850"/>
                </a:cubicBezTo>
                <a:lnTo>
                  <a:pt x="114310" y="2990850"/>
                </a:lnTo>
                <a:cubicBezTo>
                  <a:pt x="51178" y="2990850"/>
                  <a:pt x="0" y="2939672"/>
                  <a:pt x="0" y="2876540"/>
                </a:cubicBezTo>
                <a:lnTo>
                  <a:pt x="0" y="114310"/>
                </a:lnTo>
                <a:cubicBezTo>
                  <a:pt x="0" y="51221"/>
                  <a:pt x="51221" y="0"/>
                  <a:pt x="114310"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542925" y="13239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EF4444"/>
          </a:solidFill>
          <a:ln/>
        </p:spPr>
      </p:sp>
      <p:sp>
        <p:nvSpPr>
          <p:cNvPr id="8" name="Shape 6"/>
          <p:cNvSpPr/>
          <p:nvPr/>
        </p:nvSpPr>
        <p:spPr>
          <a:xfrm>
            <a:off x="676275" y="1457325"/>
            <a:ext cx="190500" cy="190500"/>
          </a:xfrm>
          <a:custGeom>
            <a:avLst/>
            <a:gdLst/>
            <a:ahLst/>
            <a:cxnLst/>
            <a:rect l="l" t="t" r="r" b="b"/>
            <a:pathLst>
              <a:path w="190500" h="190500">
                <a:moveTo>
                  <a:pt x="162483" y="27794"/>
                </a:moveTo>
                <a:lnTo>
                  <a:pt x="166688" y="31775"/>
                </a:lnTo>
                <a:lnTo>
                  <a:pt x="166688" y="11906"/>
                </a:lnTo>
                <a:cubicBezTo>
                  <a:pt x="166688" y="5321"/>
                  <a:pt x="172008" y="0"/>
                  <a:pt x="178594" y="0"/>
                </a:cubicBezTo>
                <a:cubicBezTo>
                  <a:pt x="185179" y="0"/>
                  <a:pt x="190500" y="5321"/>
                  <a:pt x="190500" y="11906"/>
                </a:cubicBezTo>
                <a:lnTo>
                  <a:pt x="190500" y="59531"/>
                </a:lnTo>
                <a:cubicBezTo>
                  <a:pt x="190500" y="66117"/>
                  <a:pt x="185179" y="71438"/>
                  <a:pt x="178594" y="71438"/>
                </a:cubicBezTo>
                <a:lnTo>
                  <a:pt x="130969" y="71438"/>
                </a:lnTo>
                <a:cubicBezTo>
                  <a:pt x="124383" y="71438"/>
                  <a:pt x="119063" y="66117"/>
                  <a:pt x="119063" y="59531"/>
                </a:cubicBezTo>
                <a:cubicBezTo>
                  <a:pt x="119063" y="52946"/>
                  <a:pt x="124383" y="47625"/>
                  <a:pt x="130969" y="47625"/>
                </a:cubicBezTo>
                <a:lnTo>
                  <a:pt x="148791" y="47625"/>
                </a:lnTo>
                <a:lnTo>
                  <a:pt x="145963" y="44946"/>
                </a:lnTo>
                <a:cubicBezTo>
                  <a:pt x="145889" y="44872"/>
                  <a:pt x="145814" y="44797"/>
                  <a:pt x="145740" y="44723"/>
                </a:cubicBezTo>
                <a:cubicBezTo>
                  <a:pt x="117835" y="16818"/>
                  <a:pt x="72628" y="16818"/>
                  <a:pt x="44723" y="44723"/>
                </a:cubicBezTo>
                <a:cubicBezTo>
                  <a:pt x="16818" y="72628"/>
                  <a:pt x="16818" y="117835"/>
                  <a:pt x="44723" y="145740"/>
                </a:cubicBezTo>
                <a:cubicBezTo>
                  <a:pt x="72628" y="173645"/>
                  <a:pt x="117835" y="173645"/>
                  <a:pt x="145740" y="145740"/>
                </a:cubicBezTo>
                <a:cubicBezTo>
                  <a:pt x="148791" y="142689"/>
                  <a:pt x="151507" y="139452"/>
                  <a:pt x="153888" y="136029"/>
                </a:cubicBezTo>
                <a:cubicBezTo>
                  <a:pt x="157646" y="130634"/>
                  <a:pt x="165088" y="129332"/>
                  <a:pt x="170483" y="133090"/>
                </a:cubicBezTo>
                <a:cubicBezTo>
                  <a:pt x="175878" y="136847"/>
                  <a:pt x="177180" y="144289"/>
                  <a:pt x="173422" y="149684"/>
                </a:cubicBezTo>
                <a:cubicBezTo>
                  <a:pt x="170259" y="154223"/>
                  <a:pt x="166650" y="158539"/>
                  <a:pt x="162595" y="162595"/>
                </a:cubicBezTo>
                <a:cubicBezTo>
                  <a:pt x="125388" y="199802"/>
                  <a:pt x="65075" y="199802"/>
                  <a:pt x="27905" y="162595"/>
                </a:cubicBezTo>
                <a:cubicBezTo>
                  <a:pt x="-9265" y="125388"/>
                  <a:pt x="-9302" y="65112"/>
                  <a:pt x="27905" y="27905"/>
                </a:cubicBezTo>
                <a:cubicBezTo>
                  <a:pt x="65075" y="-9265"/>
                  <a:pt x="125276" y="-9302"/>
                  <a:pt x="162483" y="27794"/>
                </a:cubicBezTo>
                <a:close/>
              </a:path>
            </a:pathLst>
          </a:custGeom>
          <a:solidFill>
            <a:srgbClr val="FFFFFF"/>
          </a:solidFill>
          <a:ln/>
        </p:spPr>
      </p:sp>
      <p:sp>
        <p:nvSpPr>
          <p:cNvPr id="9" name="Text 7"/>
          <p:cNvSpPr/>
          <p:nvPr/>
        </p:nvSpPr>
        <p:spPr>
          <a:xfrm>
            <a:off x="1114425" y="1304925"/>
            <a:ext cx="981075" cy="190500"/>
          </a:xfrm>
          <a:prstGeom prst="rect">
            <a:avLst/>
          </a:prstGeom>
          <a:noFill/>
          <a:ln/>
        </p:spPr>
        <p:txBody>
          <a:bodyPr wrap="square" lIns="0" tIns="0" rIns="0" bIns="0" rtlCol="0" anchor="ctr"/>
          <a:lstStyle/>
          <a:p>
            <a:pPr>
              <a:lnSpc>
                <a:spcPct val="120000"/>
              </a:lnSpc>
            </a:pPr>
            <a:r>
              <a:rPr lang="en-US" sz="1050" b="1" dirty="0">
                <a:solidFill>
                  <a:srgbClr val="EF4444"/>
                </a:solidFill>
                <a:latin typeface="MiSans" pitchFamily="34" charset="0"/>
                <a:ea typeface="MiSans" pitchFamily="34" charset="-122"/>
                <a:cs typeface="MiSans" pitchFamily="34" charset="-120"/>
              </a:rPr>
              <a:t>Cách 1: Đệ quy</a:t>
            </a:r>
            <a:endParaRPr lang="en-US" sz="1600" dirty="0"/>
          </a:p>
        </p:txBody>
      </p:sp>
      <p:sp>
        <p:nvSpPr>
          <p:cNvPr id="10" name="Text 8"/>
          <p:cNvSpPr/>
          <p:nvPr/>
        </p:nvSpPr>
        <p:spPr>
          <a:xfrm>
            <a:off x="1114425" y="1495425"/>
            <a:ext cx="1028700" cy="304800"/>
          </a:xfrm>
          <a:prstGeom prst="rect">
            <a:avLst/>
          </a:prstGeom>
          <a:noFill/>
          <a:ln/>
        </p:spPr>
        <p:txBody>
          <a:bodyPr wrap="square" lIns="0" tIns="0" rIns="0" bIns="0" rtlCol="0" anchor="ctr"/>
          <a:lstStyle/>
          <a:p>
            <a:pPr>
              <a:lnSpc>
                <a:spcPct val="110000"/>
              </a:lnSpc>
            </a:pPr>
            <a:r>
              <a:rPr lang="en-US" sz="1800" b="1" dirty="0">
                <a:solidFill>
                  <a:srgbClr val="EF4444"/>
                </a:solidFill>
                <a:latin typeface="MiSans" pitchFamily="34" charset="0"/>
                <a:ea typeface="MiSans" pitchFamily="34" charset="-122"/>
                <a:cs typeface="MiSans" pitchFamily="34" charset="-120"/>
              </a:rPr>
              <a:t>O(2ⁿ)</a:t>
            </a:r>
            <a:endParaRPr lang="en-US" sz="1600" dirty="0"/>
          </a:p>
        </p:txBody>
      </p:sp>
      <p:sp>
        <p:nvSpPr>
          <p:cNvPr id="11" name="Shape 9"/>
          <p:cNvSpPr/>
          <p:nvPr/>
        </p:nvSpPr>
        <p:spPr>
          <a:xfrm>
            <a:off x="542925" y="1914525"/>
            <a:ext cx="3381375" cy="1162050"/>
          </a:xfrm>
          <a:custGeom>
            <a:avLst/>
            <a:gdLst/>
            <a:ahLst/>
            <a:cxnLst/>
            <a:rect l="l" t="t" r="r" b="b"/>
            <a:pathLst>
              <a:path w="3381375" h="1162050">
                <a:moveTo>
                  <a:pt x="76196" y="0"/>
                </a:moveTo>
                <a:lnTo>
                  <a:pt x="3305179" y="0"/>
                </a:lnTo>
                <a:cubicBezTo>
                  <a:pt x="3347261" y="0"/>
                  <a:pt x="3381375" y="34114"/>
                  <a:pt x="3381375" y="76196"/>
                </a:cubicBezTo>
                <a:lnTo>
                  <a:pt x="3381375" y="1085854"/>
                </a:lnTo>
                <a:cubicBezTo>
                  <a:pt x="3381375" y="1127936"/>
                  <a:pt x="3347261" y="1162050"/>
                  <a:pt x="3305179" y="1162050"/>
                </a:cubicBezTo>
                <a:lnTo>
                  <a:pt x="76196" y="1162050"/>
                </a:lnTo>
                <a:cubicBezTo>
                  <a:pt x="34114" y="1162050"/>
                  <a:pt x="0" y="1127936"/>
                  <a:pt x="0" y="1085854"/>
                </a:cubicBezTo>
                <a:lnTo>
                  <a:pt x="0" y="76196"/>
                </a:lnTo>
                <a:cubicBezTo>
                  <a:pt x="0" y="34142"/>
                  <a:pt x="34142" y="0"/>
                  <a:pt x="76196" y="0"/>
                </a:cubicBezTo>
                <a:close/>
              </a:path>
            </a:pathLst>
          </a:custGeom>
          <a:solidFill>
            <a:srgbClr val="1E293B"/>
          </a:solidFill>
          <a:ln/>
        </p:spPr>
      </p:sp>
      <p:sp>
        <p:nvSpPr>
          <p:cNvPr id="12" name="Text 10"/>
          <p:cNvSpPr/>
          <p:nvPr/>
        </p:nvSpPr>
        <p:spPr>
          <a:xfrm>
            <a:off x="542925" y="1914525"/>
            <a:ext cx="3443288" cy="1162050"/>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fibonacci_recursive</a:t>
            </a:r>
            <a:pPr>
              <a:lnSpc>
                <a:spcPct val="130000"/>
              </a:lnSpc>
            </a:pPr>
            <a:r>
              <a:rPr lang="en-US" sz="975" dirty="0">
                <a:solidFill>
                  <a:srgbClr val="F1F5F9"/>
                </a:solidFill>
                <a:latin typeface="MiSans" pitchFamily="34" charset="0"/>
                <a:ea typeface="MiSans" pitchFamily="34" charset="-122"/>
                <a:cs typeface="MiSans" pitchFamily="34" charset="-120"/>
              </a:rPr>
              <a:t>(n):</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if</a:t>
            </a:r>
            <a:pPr>
              <a:lnSpc>
                <a:spcPct val="130000"/>
              </a:lnSpc>
            </a:pPr>
            <a:r>
              <a:rPr lang="en-US" sz="975" dirty="0">
                <a:solidFill>
                  <a:srgbClr val="F1F5F9"/>
                </a:solidFill>
                <a:latin typeface="MiSans" pitchFamily="34" charset="0"/>
                <a:ea typeface="MiSans" pitchFamily="34" charset="-122"/>
                <a:cs typeface="MiSans" pitchFamily="34" charset="-120"/>
              </a:rPr>
              <a:t> n &lt;= 1:</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n</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fibonacci_recursive(n-1) +</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fibonacci_recursive(n-2)</a:t>
            </a:r>
            <a:endParaRPr lang="en-US" sz="1600" dirty="0"/>
          </a:p>
        </p:txBody>
      </p:sp>
      <p:sp>
        <p:nvSpPr>
          <p:cNvPr id="13" name="Shape 11"/>
          <p:cNvSpPr/>
          <p:nvPr/>
        </p:nvSpPr>
        <p:spPr>
          <a:xfrm>
            <a:off x="542925" y="3186113"/>
            <a:ext cx="3381375" cy="419100"/>
          </a:xfrm>
          <a:custGeom>
            <a:avLst/>
            <a:gdLst/>
            <a:ahLst/>
            <a:cxnLst/>
            <a:rect l="l" t="t" r="r" b="b"/>
            <a:pathLst>
              <a:path w="3381375" h="419100">
                <a:moveTo>
                  <a:pt x="76201" y="0"/>
                </a:moveTo>
                <a:lnTo>
                  <a:pt x="3305174" y="0"/>
                </a:lnTo>
                <a:cubicBezTo>
                  <a:pt x="3347259" y="0"/>
                  <a:pt x="3381375" y="34116"/>
                  <a:pt x="3381375" y="76201"/>
                </a:cubicBezTo>
                <a:lnTo>
                  <a:pt x="3381375" y="342899"/>
                </a:lnTo>
                <a:cubicBezTo>
                  <a:pt x="3381375" y="384984"/>
                  <a:pt x="3347259" y="419100"/>
                  <a:pt x="33051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14" name="Shape 12"/>
          <p:cNvSpPr/>
          <p:nvPr/>
        </p:nvSpPr>
        <p:spPr>
          <a:xfrm>
            <a:off x="676275" y="3338513"/>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EF4444"/>
          </a:solidFill>
          <a:ln/>
        </p:spPr>
      </p:sp>
      <p:sp>
        <p:nvSpPr>
          <p:cNvPr id="15" name="Text 13"/>
          <p:cNvSpPr/>
          <p:nvPr/>
        </p:nvSpPr>
        <p:spPr>
          <a:xfrm>
            <a:off x="885825" y="3300413"/>
            <a:ext cx="29908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fibonacci(100) mất </a:t>
            </a:r>
            <a:pPr>
              <a:lnSpc>
                <a:spcPct val="120000"/>
              </a:lnSpc>
            </a:pPr>
            <a:r>
              <a:rPr lang="en-US" sz="1050" b="1" dirty="0">
                <a:solidFill>
                  <a:srgbClr val="EF4444"/>
                </a:solidFill>
                <a:latin typeface="MiSans" pitchFamily="34" charset="0"/>
                <a:ea typeface="MiSans" pitchFamily="34" charset="-122"/>
                <a:cs typeface="MiSans" pitchFamily="34" charset="-120"/>
              </a:rPr>
              <a:t>~475,000 năm</a:t>
            </a:r>
            <a:endParaRPr lang="en-US" sz="1600" dirty="0"/>
          </a:p>
        </p:txBody>
      </p:sp>
      <p:sp>
        <p:nvSpPr>
          <p:cNvPr id="16" name="Shape 14"/>
          <p:cNvSpPr/>
          <p:nvPr/>
        </p:nvSpPr>
        <p:spPr>
          <a:xfrm>
            <a:off x="4246513" y="1147763"/>
            <a:ext cx="3695700" cy="2990850"/>
          </a:xfrm>
          <a:custGeom>
            <a:avLst/>
            <a:gdLst/>
            <a:ahLst/>
            <a:cxnLst/>
            <a:rect l="l" t="t" r="r" b="b"/>
            <a:pathLst>
              <a:path w="3695700" h="2990850">
                <a:moveTo>
                  <a:pt x="114310" y="0"/>
                </a:moveTo>
                <a:lnTo>
                  <a:pt x="3581390" y="0"/>
                </a:lnTo>
                <a:cubicBezTo>
                  <a:pt x="3644522" y="0"/>
                  <a:pt x="3695700" y="51178"/>
                  <a:pt x="3695700" y="114310"/>
                </a:cubicBezTo>
                <a:lnTo>
                  <a:pt x="3695700" y="2876540"/>
                </a:lnTo>
                <a:cubicBezTo>
                  <a:pt x="3695700" y="2939672"/>
                  <a:pt x="3644522" y="2990850"/>
                  <a:pt x="3581390" y="2990850"/>
                </a:cubicBezTo>
                <a:lnTo>
                  <a:pt x="114310" y="2990850"/>
                </a:lnTo>
                <a:cubicBezTo>
                  <a:pt x="51178" y="2990850"/>
                  <a:pt x="0" y="2939672"/>
                  <a:pt x="0" y="2876540"/>
                </a:cubicBezTo>
                <a:lnTo>
                  <a:pt x="0" y="114310"/>
                </a:lnTo>
                <a:cubicBezTo>
                  <a:pt x="0" y="51221"/>
                  <a:pt x="51221" y="0"/>
                  <a:pt x="114310"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17" name="Shape 15"/>
          <p:cNvSpPr/>
          <p:nvPr/>
        </p:nvSpPr>
        <p:spPr>
          <a:xfrm>
            <a:off x="4403675" y="13239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18" name="Shape 16"/>
          <p:cNvSpPr/>
          <p:nvPr/>
        </p:nvSpPr>
        <p:spPr>
          <a:xfrm>
            <a:off x="4537025" y="1457325"/>
            <a:ext cx="190500" cy="190500"/>
          </a:xfrm>
          <a:custGeom>
            <a:avLst/>
            <a:gdLst/>
            <a:ahLst/>
            <a:cxnLst/>
            <a:rect l="l" t="t" r="r" b="b"/>
            <a:pathLst>
              <a:path w="190500" h="190500">
                <a:moveTo>
                  <a:pt x="24519" y="85018"/>
                </a:moveTo>
                <a:cubicBezTo>
                  <a:pt x="29468" y="50416"/>
                  <a:pt x="59271" y="23812"/>
                  <a:pt x="95250" y="23812"/>
                </a:cubicBezTo>
                <a:cubicBezTo>
                  <a:pt x="114970" y="23812"/>
                  <a:pt x="132829" y="31812"/>
                  <a:pt x="145777" y="44723"/>
                </a:cubicBezTo>
                <a:cubicBezTo>
                  <a:pt x="145852" y="44797"/>
                  <a:pt x="145926" y="44872"/>
                  <a:pt x="146000" y="44946"/>
                </a:cubicBezTo>
                <a:lnTo>
                  <a:pt x="148828" y="47625"/>
                </a:lnTo>
                <a:lnTo>
                  <a:pt x="131006" y="47625"/>
                </a:lnTo>
                <a:cubicBezTo>
                  <a:pt x="124420" y="47625"/>
                  <a:pt x="119100" y="52946"/>
                  <a:pt x="119100" y="59531"/>
                </a:cubicBezTo>
                <a:cubicBezTo>
                  <a:pt x="119100" y="66117"/>
                  <a:pt x="124420" y="71438"/>
                  <a:pt x="131006" y="71438"/>
                </a:cubicBezTo>
                <a:lnTo>
                  <a:pt x="178631" y="71438"/>
                </a:lnTo>
                <a:cubicBezTo>
                  <a:pt x="185217" y="71438"/>
                  <a:pt x="190537" y="66117"/>
                  <a:pt x="190537" y="59531"/>
                </a:cubicBezTo>
                <a:lnTo>
                  <a:pt x="190537" y="11906"/>
                </a:lnTo>
                <a:cubicBezTo>
                  <a:pt x="190537" y="5321"/>
                  <a:pt x="185217" y="0"/>
                  <a:pt x="178631" y="0"/>
                </a:cubicBezTo>
                <a:cubicBezTo>
                  <a:pt x="172045" y="0"/>
                  <a:pt x="166725" y="5321"/>
                  <a:pt x="166725" y="11906"/>
                </a:cubicBezTo>
                <a:lnTo>
                  <a:pt x="166725" y="31775"/>
                </a:lnTo>
                <a:lnTo>
                  <a:pt x="162520" y="27794"/>
                </a:lnTo>
                <a:cubicBezTo>
                  <a:pt x="145293" y="10641"/>
                  <a:pt x="121481" y="0"/>
                  <a:pt x="95250" y="0"/>
                </a:cubicBezTo>
                <a:cubicBezTo>
                  <a:pt x="47253" y="0"/>
                  <a:pt x="7553" y="35496"/>
                  <a:pt x="967" y="81669"/>
                </a:cubicBezTo>
                <a:cubicBezTo>
                  <a:pt x="37" y="88181"/>
                  <a:pt x="4539" y="94208"/>
                  <a:pt x="11050" y="95138"/>
                </a:cubicBezTo>
                <a:cubicBezTo>
                  <a:pt x="17562" y="96069"/>
                  <a:pt x="23589" y="91529"/>
                  <a:pt x="24519" y="85055"/>
                </a:cubicBezTo>
                <a:close/>
                <a:moveTo>
                  <a:pt x="189533" y="108831"/>
                </a:moveTo>
                <a:cubicBezTo>
                  <a:pt x="190463" y="102319"/>
                  <a:pt x="185924" y="96292"/>
                  <a:pt x="179450" y="95362"/>
                </a:cubicBezTo>
                <a:cubicBezTo>
                  <a:pt x="172975" y="94431"/>
                  <a:pt x="166911" y="98971"/>
                  <a:pt x="165981" y="105445"/>
                </a:cubicBezTo>
                <a:cubicBezTo>
                  <a:pt x="161032" y="140047"/>
                  <a:pt x="131229" y="166650"/>
                  <a:pt x="95250" y="166650"/>
                </a:cubicBezTo>
                <a:cubicBezTo>
                  <a:pt x="75530" y="166650"/>
                  <a:pt x="57671" y="158651"/>
                  <a:pt x="44723" y="145740"/>
                </a:cubicBezTo>
                <a:cubicBezTo>
                  <a:pt x="44648" y="145666"/>
                  <a:pt x="44574" y="145591"/>
                  <a:pt x="44500" y="145517"/>
                </a:cubicBezTo>
                <a:lnTo>
                  <a:pt x="41672" y="142838"/>
                </a:lnTo>
                <a:lnTo>
                  <a:pt x="59494" y="142838"/>
                </a:lnTo>
                <a:cubicBezTo>
                  <a:pt x="66080" y="142838"/>
                  <a:pt x="71400" y="137517"/>
                  <a:pt x="71400" y="130932"/>
                </a:cubicBezTo>
                <a:cubicBezTo>
                  <a:pt x="71400" y="124346"/>
                  <a:pt x="66080" y="119025"/>
                  <a:pt x="59494" y="119025"/>
                </a:cubicBezTo>
                <a:lnTo>
                  <a:pt x="11906" y="119063"/>
                </a:lnTo>
                <a:cubicBezTo>
                  <a:pt x="8744" y="119063"/>
                  <a:pt x="5693" y="120328"/>
                  <a:pt x="3460" y="122597"/>
                </a:cubicBezTo>
                <a:cubicBezTo>
                  <a:pt x="1228" y="124867"/>
                  <a:pt x="-37" y="127881"/>
                  <a:pt x="0" y="131080"/>
                </a:cubicBezTo>
                <a:lnTo>
                  <a:pt x="372" y="178333"/>
                </a:lnTo>
                <a:cubicBezTo>
                  <a:pt x="409" y="184919"/>
                  <a:pt x="5804" y="190202"/>
                  <a:pt x="12390" y="190128"/>
                </a:cubicBezTo>
                <a:cubicBezTo>
                  <a:pt x="18976" y="190054"/>
                  <a:pt x="24259" y="184696"/>
                  <a:pt x="24185" y="178110"/>
                </a:cubicBezTo>
                <a:lnTo>
                  <a:pt x="24036" y="158948"/>
                </a:lnTo>
                <a:lnTo>
                  <a:pt x="28017" y="162706"/>
                </a:lnTo>
                <a:cubicBezTo>
                  <a:pt x="45244" y="179859"/>
                  <a:pt x="69019" y="190500"/>
                  <a:pt x="95250" y="190500"/>
                </a:cubicBezTo>
                <a:cubicBezTo>
                  <a:pt x="143247" y="190500"/>
                  <a:pt x="182947" y="155004"/>
                  <a:pt x="189533" y="108831"/>
                </a:cubicBezTo>
                <a:close/>
              </a:path>
            </a:pathLst>
          </a:custGeom>
          <a:solidFill>
            <a:srgbClr val="FFFFFF"/>
          </a:solidFill>
          <a:ln/>
        </p:spPr>
      </p:sp>
      <p:sp>
        <p:nvSpPr>
          <p:cNvPr id="19" name="Text 17"/>
          <p:cNvSpPr/>
          <p:nvPr/>
        </p:nvSpPr>
        <p:spPr>
          <a:xfrm>
            <a:off x="4975175" y="1304925"/>
            <a:ext cx="790575" cy="190500"/>
          </a:xfrm>
          <a:prstGeom prst="rect">
            <a:avLst/>
          </a:prstGeom>
          <a:noFill/>
          <a:ln/>
        </p:spPr>
        <p:txBody>
          <a:bodyPr wrap="square" lIns="0" tIns="0" rIns="0" bIns="0" rtlCol="0" anchor="ctr"/>
          <a:lstStyle/>
          <a:p>
            <a:pPr>
              <a:lnSpc>
                <a:spcPct val="120000"/>
              </a:lnSpc>
            </a:pPr>
            <a:r>
              <a:rPr lang="en-US" sz="1050" b="1" dirty="0">
                <a:solidFill>
                  <a:srgbClr val="3B82F6"/>
                </a:solidFill>
                <a:latin typeface="MiSans" pitchFamily="34" charset="0"/>
                <a:ea typeface="MiSans" pitchFamily="34" charset="-122"/>
                <a:cs typeface="MiSans" pitchFamily="34" charset="-120"/>
              </a:rPr>
              <a:t>Cách 2: Lặp</a:t>
            </a:r>
            <a:endParaRPr lang="en-US" sz="1600" dirty="0"/>
          </a:p>
        </p:txBody>
      </p:sp>
      <p:sp>
        <p:nvSpPr>
          <p:cNvPr id="20" name="Text 18"/>
          <p:cNvSpPr/>
          <p:nvPr/>
        </p:nvSpPr>
        <p:spPr>
          <a:xfrm>
            <a:off x="4975175" y="1495425"/>
            <a:ext cx="838200" cy="304800"/>
          </a:xfrm>
          <a:prstGeom prst="rect">
            <a:avLst/>
          </a:prstGeom>
          <a:noFill/>
          <a:ln/>
        </p:spPr>
        <p:txBody>
          <a:bodyPr wrap="square" lIns="0" tIns="0" rIns="0" bIns="0" rtlCol="0" anchor="ctr"/>
          <a:lstStyle/>
          <a:p>
            <a:pPr>
              <a:lnSpc>
                <a:spcPct val="110000"/>
              </a:lnSpc>
            </a:pPr>
            <a:r>
              <a:rPr lang="en-US" sz="1800" b="1" dirty="0">
                <a:solidFill>
                  <a:srgbClr val="3B82F6"/>
                </a:solidFill>
                <a:latin typeface="MiSans" pitchFamily="34" charset="0"/>
                <a:ea typeface="MiSans" pitchFamily="34" charset="-122"/>
                <a:cs typeface="MiSans" pitchFamily="34" charset="-120"/>
              </a:rPr>
              <a:t>O(n)</a:t>
            </a:r>
            <a:endParaRPr lang="en-US" sz="1600" dirty="0"/>
          </a:p>
        </p:txBody>
      </p:sp>
      <p:sp>
        <p:nvSpPr>
          <p:cNvPr id="21" name="Shape 19"/>
          <p:cNvSpPr/>
          <p:nvPr/>
        </p:nvSpPr>
        <p:spPr>
          <a:xfrm>
            <a:off x="4403675" y="1914525"/>
            <a:ext cx="3381375" cy="1533525"/>
          </a:xfrm>
          <a:custGeom>
            <a:avLst/>
            <a:gdLst/>
            <a:ahLst/>
            <a:cxnLst/>
            <a:rect l="l" t="t" r="r" b="b"/>
            <a:pathLst>
              <a:path w="3381375" h="1533525">
                <a:moveTo>
                  <a:pt x="76201" y="0"/>
                </a:moveTo>
                <a:lnTo>
                  <a:pt x="3305174" y="0"/>
                </a:lnTo>
                <a:cubicBezTo>
                  <a:pt x="3347231" y="0"/>
                  <a:pt x="3381375" y="34144"/>
                  <a:pt x="3381375" y="76201"/>
                </a:cubicBezTo>
                <a:lnTo>
                  <a:pt x="3381375" y="1457324"/>
                </a:lnTo>
                <a:cubicBezTo>
                  <a:pt x="3381375" y="1499381"/>
                  <a:pt x="3347231" y="1533525"/>
                  <a:pt x="3305174" y="1533525"/>
                </a:cubicBezTo>
                <a:lnTo>
                  <a:pt x="76201" y="1533525"/>
                </a:lnTo>
                <a:cubicBezTo>
                  <a:pt x="34144" y="1533525"/>
                  <a:pt x="0" y="1499381"/>
                  <a:pt x="0" y="1457324"/>
                </a:cubicBezTo>
                <a:lnTo>
                  <a:pt x="0" y="76201"/>
                </a:lnTo>
                <a:cubicBezTo>
                  <a:pt x="0" y="34144"/>
                  <a:pt x="34144" y="0"/>
                  <a:pt x="76201" y="0"/>
                </a:cubicBezTo>
                <a:close/>
              </a:path>
            </a:pathLst>
          </a:custGeom>
          <a:solidFill>
            <a:srgbClr val="1E293B"/>
          </a:solidFill>
          <a:ln/>
        </p:spPr>
      </p:sp>
      <p:sp>
        <p:nvSpPr>
          <p:cNvPr id="22" name="Text 20"/>
          <p:cNvSpPr/>
          <p:nvPr/>
        </p:nvSpPr>
        <p:spPr>
          <a:xfrm>
            <a:off x="4403675" y="1914525"/>
            <a:ext cx="3443288" cy="1533525"/>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fibonacci_iterative</a:t>
            </a:r>
            <a:pPr>
              <a:lnSpc>
                <a:spcPct val="130000"/>
              </a:lnSpc>
            </a:pPr>
            <a:r>
              <a:rPr lang="en-US" sz="975" dirty="0">
                <a:solidFill>
                  <a:srgbClr val="F1F5F9"/>
                </a:solidFill>
                <a:latin typeface="MiSans" pitchFamily="34" charset="0"/>
                <a:ea typeface="MiSans" pitchFamily="34" charset="-122"/>
                <a:cs typeface="MiSans" pitchFamily="34" charset="-120"/>
              </a:rPr>
              <a:t>(n):</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if</a:t>
            </a:r>
            <a:pPr>
              <a:lnSpc>
                <a:spcPct val="130000"/>
              </a:lnSpc>
            </a:pPr>
            <a:r>
              <a:rPr lang="en-US" sz="975" dirty="0">
                <a:solidFill>
                  <a:srgbClr val="F1F5F9"/>
                </a:solidFill>
                <a:latin typeface="MiSans" pitchFamily="34" charset="0"/>
                <a:ea typeface="MiSans" pitchFamily="34" charset="-122"/>
                <a:cs typeface="MiSans" pitchFamily="34" charset="-120"/>
              </a:rPr>
              <a:t> n &lt;= 1:</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n</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prev, curr = 0, 1</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for</a:t>
            </a:r>
            <a:pPr>
              <a:lnSpc>
                <a:spcPct val="130000"/>
              </a:lnSpc>
            </a:pPr>
            <a:r>
              <a:rPr lang="en-US" sz="975" dirty="0">
                <a:solidFill>
                  <a:srgbClr val="F1F5F9"/>
                </a:solidFill>
                <a:latin typeface="MiSans" pitchFamily="34" charset="0"/>
                <a:ea typeface="MiSans" pitchFamily="34" charset="-122"/>
                <a:cs typeface="MiSans" pitchFamily="34" charset="-120"/>
              </a:rPr>
              <a:t> _ </a:t>
            </a:r>
            <a:pPr>
              <a:lnSpc>
                <a:spcPct val="130000"/>
              </a:lnSpc>
            </a:pPr>
            <a:r>
              <a:rPr lang="en-US" sz="975" dirty="0">
                <a:solidFill>
                  <a:srgbClr val="8B5CF6"/>
                </a:solidFill>
                <a:latin typeface="MiSans" pitchFamily="34" charset="0"/>
                <a:ea typeface="MiSans" pitchFamily="34" charset="-122"/>
                <a:cs typeface="MiSans" pitchFamily="34" charset="-120"/>
              </a:rPr>
              <a:t>in</a:t>
            </a:r>
            <a:pPr>
              <a:lnSpc>
                <a:spcPct val="130000"/>
              </a:lnSpc>
            </a:pPr>
            <a:r>
              <a:rPr lang="en-US" sz="975" dirty="0">
                <a:solidFill>
                  <a:srgbClr val="F1F5F9"/>
                </a:solidFill>
                <a:latin typeface="MiSans" pitchFamily="34" charset="0"/>
                <a:ea typeface="MiSans" pitchFamily="34" charset="-122"/>
                <a:cs typeface="MiSans" pitchFamily="34" charset="-120"/>
              </a:rPr>
              <a:t> range(2, n+1):</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prev, curr = curr, prev+curr</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curr</a:t>
            </a:r>
            <a:endParaRPr lang="en-US" sz="1600" dirty="0"/>
          </a:p>
        </p:txBody>
      </p:sp>
      <p:sp>
        <p:nvSpPr>
          <p:cNvPr id="23" name="Shape 21"/>
          <p:cNvSpPr/>
          <p:nvPr/>
        </p:nvSpPr>
        <p:spPr>
          <a:xfrm>
            <a:off x="4403675" y="3557588"/>
            <a:ext cx="3381375" cy="419100"/>
          </a:xfrm>
          <a:custGeom>
            <a:avLst/>
            <a:gdLst/>
            <a:ahLst/>
            <a:cxnLst/>
            <a:rect l="l" t="t" r="r" b="b"/>
            <a:pathLst>
              <a:path w="3381375" h="419100">
                <a:moveTo>
                  <a:pt x="76201" y="0"/>
                </a:moveTo>
                <a:lnTo>
                  <a:pt x="3305174" y="0"/>
                </a:lnTo>
                <a:cubicBezTo>
                  <a:pt x="3347259" y="0"/>
                  <a:pt x="3381375" y="34116"/>
                  <a:pt x="3381375" y="76201"/>
                </a:cubicBezTo>
                <a:lnTo>
                  <a:pt x="3381375" y="342899"/>
                </a:lnTo>
                <a:cubicBezTo>
                  <a:pt x="3381375" y="384984"/>
                  <a:pt x="3347259" y="419100"/>
                  <a:pt x="33051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24" name="Shape 22"/>
          <p:cNvSpPr/>
          <p:nvPr/>
        </p:nvSpPr>
        <p:spPr>
          <a:xfrm>
            <a:off x="4545360" y="370998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5" name="Text 23"/>
          <p:cNvSpPr/>
          <p:nvPr/>
        </p:nvSpPr>
        <p:spPr>
          <a:xfrm>
            <a:off x="4746575" y="3671888"/>
            <a:ext cx="29908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Tốt hơn rất nhiều so với đệ quy</a:t>
            </a:r>
            <a:endParaRPr lang="en-US" sz="1600" dirty="0"/>
          </a:p>
        </p:txBody>
      </p:sp>
      <p:sp>
        <p:nvSpPr>
          <p:cNvPr id="26" name="Shape 24"/>
          <p:cNvSpPr/>
          <p:nvPr/>
        </p:nvSpPr>
        <p:spPr>
          <a:xfrm>
            <a:off x="8107263" y="1147763"/>
            <a:ext cx="3695700" cy="2990850"/>
          </a:xfrm>
          <a:custGeom>
            <a:avLst/>
            <a:gdLst/>
            <a:ahLst/>
            <a:cxnLst/>
            <a:rect l="l" t="t" r="r" b="b"/>
            <a:pathLst>
              <a:path w="3695700" h="2990850">
                <a:moveTo>
                  <a:pt x="114310" y="0"/>
                </a:moveTo>
                <a:lnTo>
                  <a:pt x="3581390" y="0"/>
                </a:lnTo>
                <a:cubicBezTo>
                  <a:pt x="3644522" y="0"/>
                  <a:pt x="3695700" y="51178"/>
                  <a:pt x="3695700" y="114310"/>
                </a:cubicBezTo>
                <a:lnTo>
                  <a:pt x="3695700" y="2876540"/>
                </a:lnTo>
                <a:cubicBezTo>
                  <a:pt x="3695700" y="2939672"/>
                  <a:pt x="3644522" y="2990850"/>
                  <a:pt x="3581390" y="2990850"/>
                </a:cubicBezTo>
                <a:lnTo>
                  <a:pt x="114310" y="2990850"/>
                </a:lnTo>
                <a:cubicBezTo>
                  <a:pt x="51178" y="2990850"/>
                  <a:pt x="0" y="2939672"/>
                  <a:pt x="0" y="2876540"/>
                </a:cubicBezTo>
                <a:lnTo>
                  <a:pt x="0" y="114310"/>
                </a:lnTo>
                <a:cubicBezTo>
                  <a:pt x="0" y="51221"/>
                  <a:pt x="51221" y="0"/>
                  <a:pt x="114310"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7" name="Shape 25"/>
          <p:cNvSpPr/>
          <p:nvPr/>
        </p:nvSpPr>
        <p:spPr>
          <a:xfrm>
            <a:off x="8264426" y="13239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28" name="Shape 26"/>
          <p:cNvSpPr/>
          <p:nvPr/>
        </p:nvSpPr>
        <p:spPr>
          <a:xfrm>
            <a:off x="8397776" y="1457325"/>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FFFFFF"/>
          </a:solidFill>
          <a:ln/>
        </p:spPr>
      </p:sp>
      <p:sp>
        <p:nvSpPr>
          <p:cNvPr id="29" name="Text 27"/>
          <p:cNvSpPr/>
          <p:nvPr/>
        </p:nvSpPr>
        <p:spPr>
          <a:xfrm>
            <a:off x="8835926" y="1304925"/>
            <a:ext cx="1438275"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Cách 3: Fast-Doubling</a:t>
            </a:r>
            <a:endParaRPr lang="en-US" sz="1600" dirty="0"/>
          </a:p>
        </p:txBody>
      </p:sp>
      <p:sp>
        <p:nvSpPr>
          <p:cNvPr id="30" name="Text 28"/>
          <p:cNvSpPr/>
          <p:nvPr/>
        </p:nvSpPr>
        <p:spPr>
          <a:xfrm>
            <a:off x="8835926" y="1495425"/>
            <a:ext cx="1485900" cy="304800"/>
          </a:xfrm>
          <a:prstGeom prst="rect">
            <a:avLst/>
          </a:prstGeom>
          <a:noFill/>
          <a:ln/>
        </p:spPr>
        <p:txBody>
          <a:bodyPr wrap="square" lIns="0" tIns="0" rIns="0" bIns="0" rtlCol="0" anchor="ctr"/>
          <a:lstStyle/>
          <a:p>
            <a:pPr>
              <a:lnSpc>
                <a:spcPct val="110000"/>
              </a:lnSpc>
            </a:pPr>
            <a:r>
              <a:rPr lang="en-US" sz="1800" b="1" dirty="0">
                <a:solidFill>
                  <a:srgbClr val="10B981"/>
                </a:solidFill>
                <a:latin typeface="MiSans" pitchFamily="34" charset="0"/>
                <a:ea typeface="MiSans" pitchFamily="34" charset="-122"/>
                <a:cs typeface="MiSans" pitchFamily="34" charset="-120"/>
              </a:rPr>
              <a:t>O(log n)</a:t>
            </a:r>
            <a:endParaRPr lang="en-US" sz="1600" dirty="0"/>
          </a:p>
        </p:txBody>
      </p:sp>
      <p:sp>
        <p:nvSpPr>
          <p:cNvPr id="31" name="Shape 29"/>
          <p:cNvSpPr/>
          <p:nvPr/>
        </p:nvSpPr>
        <p:spPr>
          <a:xfrm>
            <a:off x="8264426" y="1914525"/>
            <a:ext cx="3381375" cy="1533525"/>
          </a:xfrm>
          <a:custGeom>
            <a:avLst/>
            <a:gdLst/>
            <a:ahLst/>
            <a:cxnLst/>
            <a:rect l="l" t="t" r="r" b="b"/>
            <a:pathLst>
              <a:path w="3381375" h="1533525">
                <a:moveTo>
                  <a:pt x="76201" y="0"/>
                </a:moveTo>
                <a:lnTo>
                  <a:pt x="3305174" y="0"/>
                </a:lnTo>
                <a:cubicBezTo>
                  <a:pt x="3347231" y="0"/>
                  <a:pt x="3381375" y="34144"/>
                  <a:pt x="3381375" y="76201"/>
                </a:cubicBezTo>
                <a:lnTo>
                  <a:pt x="3381375" y="1457324"/>
                </a:lnTo>
                <a:cubicBezTo>
                  <a:pt x="3381375" y="1499381"/>
                  <a:pt x="3347231" y="1533525"/>
                  <a:pt x="3305174" y="1533525"/>
                </a:cubicBezTo>
                <a:lnTo>
                  <a:pt x="76201" y="1533525"/>
                </a:lnTo>
                <a:cubicBezTo>
                  <a:pt x="34144" y="1533525"/>
                  <a:pt x="0" y="1499381"/>
                  <a:pt x="0" y="1457324"/>
                </a:cubicBezTo>
                <a:lnTo>
                  <a:pt x="0" y="76201"/>
                </a:lnTo>
                <a:cubicBezTo>
                  <a:pt x="0" y="34144"/>
                  <a:pt x="34144" y="0"/>
                  <a:pt x="76201" y="0"/>
                </a:cubicBezTo>
                <a:close/>
              </a:path>
            </a:pathLst>
          </a:custGeom>
          <a:solidFill>
            <a:srgbClr val="1E293B"/>
          </a:solidFill>
          <a:ln/>
        </p:spPr>
      </p:sp>
      <p:sp>
        <p:nvSpPr>
          <p:cNvPr id="32" name="Text 30"/>
          <p:cNvSpPr/>
          <p:nvPr/>
        </p:nvSpPr>
        <p:spPr>
          <a:xfrm>
            <a:off x="8264426" y="1914525"/>
            <a:ext cx="3443288" cy="1533525"/>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fib_pair</a:t>
            </a:r>
            <a:pPr>
              <a:lnSpc>
                <a:spcPct val="130000"/>
              </a:lnSpc>
            </a:pPr>
            <a:r>
              <a:rPr lang="en-US" sz="975" dirty="0">
                <a:solidFill>
                  <a:srgbClr val="F1F5F9"/>
                </a:solidFill>
                <a:latin typeface="MiSans" pitchFamily="34" charset="0"/>
                <a:ea typeface="MiSans" pitchFamily="34" charset="-122"/>
                <a:cs typeface="MiSans" pitchFamily="34" charset="-120"/>
              </a:rPr>
              <a:t>(n):</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if</a:t>
            </a:r>
            <a:pPr>
              <a:lnSpc>
                <a:spcPct val="130000"/>
              </a:lnSpc>
            </a:pPr>
            <a:r>
              <a:rPr lang="en-US" sz="975" dirty="0">
                <a:solidFill>
                  <a:srgbClr val="F1F5F9"/>
                </a:solidFill>
                <a:latin typeface="MiSans" pitchFamily="34" charset="0"/>
                <a:ea typeface="MiSans" pitchFamily="34" charset="-122"/>
                <a:cs typeface="MiSans" pitchFamily="34" charset="-120"/>
              </a:rPr>
              <a:t> n == 0:</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0, 1</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a, b = fib_pair(n // 2)</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c = a * ((2*b) - a)</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d = a*a + b*b</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(d, c+d) </a:t>
            </a:r>
            <a:pPr>
              <a:lnSpc>
                <a:spcPct val="130000"/>
              </a:lnSpc>
            </a:pPr>
            <a:r>
              <a:rPr lang="en-US" sz="975" dirty="0">
                <a:solidFill>
                  <a:srgbClr val="8B5CF6"/>
                </a:solidFill>
                <a:latin typeface="MiSans" pitchFamily="34" charset="0"/>
                <a:ea typeface="MiSans" pitchFamily="34" charset="-122"/>
                <a:cs typeface="MiSans" pitchFamily="34" charset="-120"/>
              </a:rPr>
              <a:t>if</a:t>
            </a:r>
            <a:pPr>
              <a:lnSpc>
                <a:spcPct val="130000"/>
              </a:lnSpc>
            </a:pPr>
            <a:r>
              <a:rPr lang="en-US" sz="975" dirty="0">
                <a:solidFill>
                  <a:srgbClr val="F1F5F9"/>
                </a:solidFill>
                <a:latin typeface="MiSans" pitchFamily="34" charset="0"/>
                <a:ea typeface="MiSans" pitchFamily="34" charset="-122"/>
                <a:cs typeface="MiSans" pitchFamily="34" charset="-120"/>
              </a:rPr>
              <a:t> n &amp; 1 </a:t>
            </a:r>
            <a:pPr>
              <a:lnSpc>
                <a:spcPct val="130000"/>
              </a:lnSpc>
            </a:pPr>
            <a:r>
              <a:rPr lang="en-US" sz="975" dirty="0">
                <a:solidFill>
                  <a:srgbClr val="8B5CF6"/>
                </a:solidFill>
                <a:latin typeface="MiSans" pitchFamily="34" charset="0"/>
                <a:ea typeface="MiSans" pitchFamily="34" charset="-122"/>
                <a:cs typeface="MiSans" pitchFamily="34" charset="-120"/>
              </a:rPr>
              <a:t>else</a:t>
            </a:r>
            <a:pPr>
              <a:lnSpc>
                <a:spcPct val="130000"/>
              </a:lnSpc>
            </a:pPr>
            <a:r>
              <a:rPr lang="en-US" sz="975" dirty="0">
                <a:solidFill>
                  <a:srgbClr val="F1F5F9"/>
                </a:solidFill>
                <a:latin typeface="MiSans" pitchFamily="34" charset="0"/>
                <a:ea typeface="MiSans" pitchFamily="34" charset="-122"/>
                <a:cs typeface="MiSans" pitchFamily="34" charset="-120"/>
              </a:rPr>
              <a:t> (c, d)</a:t>
            </a:r>
            <a:endParaRPr lang="en-US" sz="1600" dirty="0"/>
          </a:p>
        </p:txBody>
      </p:sp>
      <p:sp>
        <p:nvSpPr>
          <p:cNvPr id="33" name="Shape 31"/>
          <p:cNvSpPr/>
          <p:nvPr/>
        </p:nvSpPr>
        <p:spPr>
          <a:xfrm>
            <a:off x="8264426" y="3557588"/>
            <a:ext cx="3381375" cy="419100"/>
          </a:xfrm>
          <a:custGeom>
            <a:avLst/>
            <a:gdLst/>
            <a:ahLst/>
            <a:cxnLst/>
            <a:rect l="l" t="t" r="r" b="b"/>
            <a:pathLst>
              <a:path w="3381375" h="419100">
                <a:moveTo>
                  <a:pt x="76201" y="0"/>
                </a:moveTo>
                <a:lnTo>
                  <a:pt x="3305174" y="0"/>
                </a:lnTo>
                <a:cubicBezTo>
                  <a:pt x="3347259" y="0"/>
                  <a:pt x="3381375" y="34116"/>
                  <a:pt x="3381375" y="76201"/>
                </a:cubicBezTo>
                <a:lnTo>
                  <a:pt x="3381375" y="342899"/>
                </a:lnTo>
                <a:cubicBezTo>
                  <a:pt x="3381375" y="384984"/>
                  <a:pt x="3347259" y="419100"/>
                  <a:pt x="33051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34" name="Shape 32"/>
          <p:cNvSpPr/>
          <p:nvPr/>
        </p:nvSpPr>
        <p:spPr>
          <a:xfrm>
            <a:off x="8389441" y="3709988"/>
            <a:ext cx="150019" cy="133350"/>
          </a:xfrm>
          <a:custGeom>
            <a:avLst/>
            <a:gdLst/>
            <a:ahLst/>
            <a:cxnLst/>
            <a:rect l="l" t="t" r="r" b="b"/>
            <a:pathLst>
              <a:path w="150019" h="133350">
                <a:moveTo>
                  <a:pt x="80609" y="-4922"/>
                </a:moveTo>
                <a:cubicBezTo>
                  <a:pt x="79541" y="-7006"/>
                  <a:pt x="77379" y="-8334"/>
                  <a:pt x="75035" y="-8334"/>
                </a:cubicBezTo>
                <a:cubicBezTo>
                  <a:pt x="72691" y="-8334"/>
                  <a:pt x="70530" y="-7006"/>
                  <a:pt x="69462" y="-4922"/>
                </a:cubicBezTo>
                <a:lnTo>
                  <a:pt x="50293" y="32634"/>
                </a:lnTo>
                <a:lnTo>
                  <a:pt x="8647" y="39250"/>
                </a:lnTo>
                <a:cubicBezTo>
                  <a:pt x="6329" y="39614"/>
                  <a:pt x="4402" y="41255"/>
                  <a:pt x="3672" y="43495"/>
                </a:cubicBezTo>
                <a:cubicBezTo>
                  <a:pt x="2943" y="45735"/>
                  <a:pt x="3542" y="48183"/>
                  <a:pt x="5183" y="49850"/>
                </a:cubicBezTo>
                <a:lnTo>
                  <a:pt x="34978" y="79671"/>
                </a:lnTo>
                <a:lnTo>
                  <a:pt x="28415" y="121317"/>
                </a:lnTo>
                <a:cubicBezTo>
                  <a:pt x="28050" y="123635"/>
                  <a:pt x="29014" y="125979"/>
                  <a:pt x="30915" y="127360"/>
                </a:cubicBezTo>
                <a:cubicBezTo>
                  <a:pt x="32817" y="128740"/>
                  <a:pt x="35317" y="128948"/>
                  <a:pt x="37427" y="127881"/>
                </a:cubicBezTo>
                <a:lnTo>
                  <a:pt x="75035" y="108764"/>
                </a:lnTo>
                <a:lnTo>
                  <a:pt x="112618" y="127881"/>
                </a:lnTo>
                <a:cubicBezTo>
                  <a:pt x="114702" y="128948"/>
                  <a:pt x="117228" y="128740"/>
                  <a:pt x="119129" y="127360"/>
                </a:cubicBezTo>
                <a:cubicBezTo>
                  <a:pt x="121031" y="125979"/>
                  <a:pt x="121994" y="123661"/>
                  <a:pt x="121630" y="121317"/>
                </a:cubicBezTo>
                <a:lnTo>
                  <a:pt x="115040" y="79671"/>
                </a:lnTo>
                <a:lnTo>
                  <a:pt x="144836" y="49850"/>
                </a:lnTo>
                <a:cubicBezTo>
                  <a:pt x="146503" y="48183"/>
                  <a:pt x="147076" y="45735"/>
                  <a:pt x="146346" y="43495"/>
                </a:cubicBezTo>
                <a:cubicBezTo>
                  <a:pt x="145617" y="41255"/>
                  <a:pt x="143716" y="39614"/>
                  <a:pt x="141372" y="39250"/>
                </a:cubicBezTo>
                <a:lnTo>
                  <a:pt x="99752" y="32634"/>
                </a:lnTo>
                <a:lnTo>
                  <a:pt x="80609" y="-4922"/>
                </a:lnTo>
                <a:close/>
              </a:path>
            </a:pathLst>
          </a:custGeom>
          <a:solidFill>
            <a:srgbClr val="10B981"/>
          </a:solidFill>
          <a:ln/>
        </p:spPr>
      </p:sp>
      <p:sp>
        <p:nvSpPr>
          <p:cNvPr id="35" name="Text 33"/>
          <p:cNvSpPr/>
          <p:nvPr/>
        </p:nvSpPr>
        <p:spPr>
          <a:xfrm>
            <a:off x="8607326" y="3671888"/>
            <a:ext cx="29908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Hiệu quả nhất!</a:t>
            </a:r>
            <a:endParaRPr lang="en-US" sz="1600" dirty="0"/>
          </a:p>
        </p:txBody>
      </p:sp>
      <p:sp>
        <p:nvSpPr>
          <p:cNvPr id="36" name="Shape 34"/>
          <p:cNvSpPr/>
          <p:nvPr/>
        </p:nvSpPr>
        <p:spPr>
          <a:xfrm>
            <a:off x="385763" y="4295775"/>
            <a:ext cx="11420475" cy="1457325"/>
          </a:xfrm>
          <a:custGeom>
            <a:avLst/>
            <a:gdLst/>
            <a:ahLst/>
            <a:cxnLst/>
            <a:rect l="l" t="t" r="r" b="b"/>
            <a:pathLst>
              <a:path w="11420475" h="1457325">
                <a:moveTo>
                  <a:pt x="114298" y="0"/>
                </a:moveTo>
                <a:lnTo>
                  <a:pt x="11306177" y="0"/>
                </a:lnTo>
                <a:cubicBezTo>
                  <a:pt x="11369260" y="0"/>
                  <a:pt x="11420475" y="51215"/>
                  <a:pt x="11420475" y="114298"/>
                </a:cubicBezTo>
                <a:lnTo>
                  <a:pt x="11420475" y="1343027"/>
                </a:lnTo>
                <a:cubicBezTo>
                  <a:pt x="11420475" y="1406110"/>
                  <a:pt x="11369260" y="1457325"/>
                  <a:pt x="11306177" y="1457325"/>
                </a:cubicBezTo>
                <a:lnTo>
                  <a:pt x="114298" y="1457325"/>
                </a:lnTo>
                <a:cubicBezTo>
                  <a:pt x="51215" y="1457325"/>
                  <a:pt x="0" y="1406110"/>
                  <a:pt x="0" y="1343027"/>
                </a:cubicBezTo>
                <a:lnTo>
                  <a:pt x="0" y="114298"/>
                </a:lnTo>
                <a:cubicBezTo>
                  <a:pt x="0" y="51215"/>
                  <a:pt x="51215" y="0"/>
                  <a:pt x="114298"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37" name="Shape 35"/>
          <p:cNvSpPr/>
          <p:nvPr/>
        </p:nvSpPr>
        <p:spPr>
          <a:xfrm>
            <a:off x="566738" y="4500563"/>
            <a:ext cx="171450" cy="171450"/>
          </a:xfrm>
          <a:custGeom>
            <a:avLst/>
            <a:gdLst/>
            <a:ahLst/>
            <a:cxnLst/>
            <a:rect l="l" t="t" r="r" b="b"/>
            <a:pathLst>
              <a:path w="171450" h="171450">
                <a:moveTo>
                  <a:pt x="10716" y="10716"/>
                </a:moveTo>
                <a:cubicBezTo>
                  <a:pt x="16643" y="10716"/>
                  <a:pt x="21431" y="15504"/>
                  <a:pt x="21431" y="21431"/>
                </a:cubicBezTo>
                <a:lnTo>
                  <a:pt x="21431" y="133945"/>
                </a:lnTo>
                <a:cubicBezTo>
                  <a:pt x="21431" y="136892"/>
                  <a:pt x="23842" y="139303"/>
                  <a:pt x="26789" y="139303"/>
                </a:cubicBezTo>
                <a:lnTo>
                  <a:pt x="160734" y="139303"/>
                </a:lnTo>
                <a:cubicBezTo>
                  <a:pt x="166661" y="139303"/>
                  <a:pt x="171450" y="144092"/>
                  <a:pt x="171450" y="150019"/>
                </a:cubicBezTo>
                <a:cubicBezTo>
                  <a:pt x="171450" y="155946"/>
                  <a:pt x="166661" y="160734"/>
                  <a:pt x="160734" y="160734"/>
                </a:cubicBezTo>
                <a:lnTo>
                  <a:pt x="26789" y="160734"/>
                </a:lnTo>
                <a:cubicBezTo>
                  <a:pt x="11988" y="160734"/>
                  <a:pt x="0" y="148746"/>
                  <a:pt x="0" y="133945"/>
                </a:cubicBezTo>
                <a:lnTo>
                  <a:pt x="0" y="21431"/>
                </a:lnTo>
                <a:cubicBezTo>
                  <a:pt x="0" y="15504"/>
                  <a:pt x="4789" y="10716"/>
                  <a:pt x="10716" y="10716"/>
                </a:cubicBezTo>
                <a:close/>
                <a:moveTo>
                  <a:pt x="42863" y="32147"/>
                </a:moveTo>
                <a:cubicBezTo>
                  <a:pt x="42863" y="26220"/>
                  <a:pt x="47651" y="21431"/>
                  <a:pt x="53578" y="21431"/>
                </a:cubicBezTo>
                <a:lnTo>
                  <a:pt x="117872" y="21431"/>
                </a:lnTo>
                <a:cubicBezTo>
                  <a:pt x="123799" y="21431"/>
                  <a:pt x="128588" y="26220"/>
                  <a:pt x="128588" y="32147"/>
                </a:cubicBezTo>
                <a:cubicBezTo>
                  <a:pt x="128588" y="38074"/>
                  <a:pt x="123799" y="42863"/>
                  <a:pt x="117872" y="42863"/>
                </a:cubicBezTo>
                <a:lnTo>
                  <a:pt x="53578" y="42863"/>
                </a:lnTo>
                <a:cubicBezTo>
                  <a:pt x="47651" y="42863"/>
                  <a:pt x="42863" y="38074"/>
                  <a:pt x="42863" y="32147"/>
                </a:cubicBezTo>
                <a:close/>
                <a:moveTo>
                  <a:pt x="53578" y="58936"/>
                </a:moveTo>
                <a:lnTo>
                  <a:pt x="96441" y="58936"/>
                </a:lnTo>
                <a:cubicBezTo>
                  <a:pt x="102368" y="58936"/>
                  <a:pt x="107156" y="63724"/>
                  <a:pt x="107156" y="69652"/>
                </a:cubicBezTo>
                <a:cubicBezTo>
                  <a:pt x="107156" y="75579"/>
                  <a:pt x="102368" y="80367"/>
                  <a:pt x="96441" y="80367"/>
                </a:cubicBezTo>
                <a:lnTo>
                  <a:pt x="53578" y="80367"/>
                </a:lnTo>
                <a:cubicBezTo>
                  <a:pt x="47651" y="80367"/>
                  <a:pt x="42863" y="75579"/>
                  <a:pt x="42863" y="69652"/>
                </a:cubicBezTo>
                <a:cubicBezTo>
                  <a:pt x="42863" y="63724"/>
                  <a:pt x="47651" y="58936"/>
                  <a:pt x="53578" y="58936"/>
                </a:cubicBezTo>
                <a:close/>
                <a:moveTo>
                  <a:pt x="53578" y="96441"/>
                </a:moveTo>
                <a:lnTo>
                  <a:pt x="139303" y="96441"/>
                </a:lnTo>
                <a:cubicBezTo>
                  <a:pt x="145230" y="96441"/>
                  <a:pt x="150019" y="101229"/>
                  <a:pt x="150019" y="107156"/>
                </a:cubicBezTo>
                <a:cubicBezTo>
                  <a:pt x="150019" y="113083"/>
                  <a:pt x="145230" y="117872"/>
                  <a:pt x="139303" y="117872"/>
                </a:cubicBezTo>
                <a:lnTo>
                  <a:pt x="53578" y="117872"/>
                </a:lnTo>
                <a:cubicBezTo>
                  <a:pt x="47651" y="117872"/>
                  <a:pt x="42863" y="113083"/>
                  <a:pt x="42863" y="107156"/>
                </a:cubicBezTo>
                <a:cubicBezTo>
                  <a:pt x="42863" y="101229"/>
                  <a:pt x="47651" y="96441"/>
                  <a:pt x="53578" y="96441"/>
                </a:cubicBezTo>
                <a:close/>
              </a:path>
            </a:pathLst>
          </a:custGeom>
          <a:solidFill>
            <a:srgbClr val="3B82F6"/>
          </a:solidFill>
          <a:ln/>
        </p:spPr>
      </p:sp>
      <p:sp>
        <p:nvSpPr>
          <p:cNvPr id="38" name="Text 36"/>
          <p:cNvSpPr/>
          <p:nvPr/>
        </p:nvSpPr>
        <p:spPr>
          <a:xfrm>
            <a:off x="762000" y="4452938"/>
            <a:ext cx="109728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Kết quả thực nghiệm với profile_runtime.py</a:t>
            </a:r>
            <a:endParaRPr lang="en-US" sz="1600" dirty="0"/>
          </a:p>
        </p:txBody>
      </p:sp>
      <p:sp>
        <p:nvSpPr>
          <p:cNvPr id="39" name="Shape 37"/>
          <p:cNvSpPr/>
          <p:nvPr/>
        </p:nvSpPr>
        <p:spPr>
          <a:xfrm>
            <a:off x="542925" y="4833938"/>
            <a:ext cx="1752600" cy="762000"/>
          </a:xfrm>
          <a:custGeom>
            <a:avLst/>
            <a:gdLst/>
            <a:ahLst/>
            <a:cxnLst/>
            <a:rect l="l" t="t" r="r" b="b"/>
            <a:pathLst>
              <a:path w="1752600" h="762000">
                <a:moveTo>
                  <a:pt x="76200" y="0"/>
                </a:moveTo>
                <a:lnTo>
                  <a:pt x="1676400" y="0"/>
                </a:lnTo>
                <a:cubicBezTo>
                  <a:pt x="1718456" y="0"/>
                  <a:pt x="1752600" y="34144"/>
                  <a:pt x="1752600" y="76200"/>
                </a:cubicBezTo>
                <a:lnTo>
                  <a:pt x="1752600" y="685800"/>
                </a:lnTo>
                <a:cubicBezTo>
                  <a:pt x="1752600" y="727856"/>
                  <a:pt x="1718456" y="762000"/>
                  <a:pt x="1676400" y="762000"/>
                </a:cubicBezTo>
                <a:lnTo>
                  <a:pt x="76200" y="762000"/>
                </a:lnTo>
                <a:cubicBezTo>
                  <a:pt x="34144" y="762000"/>
                  <a:pt x="0" y="727856"/>
                  <a:pt x="0" y="685800"/>
                </a:cubicBezTo>
                <a:lnTo>
                  <a:pt x="0" y="76200"/>
                </a:lnTo>
                <a:cubicBezTo>
                  <a:pt x="0" y="34144"/>
                  <a:pt x="34144" y="0"/>
                  <a:pt x="76200" y="0"/>
                </a:cubicBezTo>
                <a:close/>
              </a:path>
            </a:pathLst>
          </a:custGeom>
          <a:solidFill>
            <a:srgbClr val="0F172A"/>
          </a:solidFill>
          <a:ln/>
        </p:spPr>
      </p:sp>
      <p:sp>
        <p:nvSpPr>
          <p:cNvPr id="40" name="Text 38"/>
          <p:cNvSpPr/>
          <p:nvPr/>
        </p:nvSpPr>
        <p:spPr>
          <a:xfrm>
            <a:off x="623888" y="4948238"/>
            <a:ext cx="15906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fib(10)</a:t>
            </a:r>
            <a:endParaRPr lang="en-US" sz="1600" dirty="0"/>
          </a:p>
        </p:txBody>
      </p:sp>
      <p:sp>
        <p:nvSpPr>
          <p:cNvPr id="41" name="Text 39"/>
          <p:cNvSpPr/>
          <p:nvPr/>
        </p:nvSpPr>
        <p:spPr>
          <a:xfrm>
            <a:off x="614363" y="5176838"/>
            <a:ext cx="1609725" cy="2667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8.5μs</a:t>
            </a:r>
            <a:endParaRPr lang="en-US" sz="1600" dirty="0"/>
          </a:p>
        </p:txBody>
      </p:sp>
      <p:sp>
        <p:nvSpPr>
          <p:cNvPr id="42" name="Shape 40"/>
          <p:cNvSpPr/>
          <p:nvPr/>
        </p:nvSpPr>
        <p:spPr>
          <a:xfrm>
            <a:off x="2412950" y="4833938"/>
            <a:ext cx="1752600" cy="762000"/>
          </a:xfrm>
          <a:custGeom>
            <a:avLst/>
            <a:gdLst/>
            <a:ahLst/>
            <a:cxnLst/>
            <a:rect l="l" t="t" r="r" b="b"/>
            <a:pathLst>
              <a:path w="1752600" h="762000">
                <a:moveTo>
                  <a:pt x="76200" y="0"/>
                </a:moveTo>
                <a:lnTo>
                  <a:pt x="1676400" y="0"/>
                </a:lnTo>
                <a:cubicBezTo>
                  <a:pt x="1718456" y="0"/>
                  <a:pt x="1752600" y="34144"/>
                  <a:pt x="1752600" y="76200"/>
                </a:cubicBezTo>
                <a:lnTo>
                  <a:pt x="1752600" y="685800"/>
                </a:lnTo>
                <a:cubicBezTo>
                  <a:pt x="1752600" y="727856"/>
                  <a:pt x="1718456" y="762000"/>
                  <a:pt x="1676400" y="762000"/>
                </a:cubicBezTo>
                <a:lnTo>
                  <a:pt x="76200" y="762000"/>
                </a:lnTo>
                <a:cubicBezTo>
                  <a:pt x="34144" y="762000"/>
                  <a:pt x="0" y="727856"/>
                  <a:pt x="0" y="685800"/>
                </a:cubicBezTo>
                <a:lnTo>
                  <a:pt x="0" y="76200"/>
                </a:lnTo>
                <a:cubicBezTo>
                  <a:pt x="0" y="34144"/>
                  <a:pt x="34144" y="0"/>
                  <a:pt x="76200" y="0"/>
                </a:cubicBezTo>
                <a:close/>
              </a:path>
            </a:pathLst>
          </a:custGeom>
          <a:solidFill>
            <a:srgbClr val="0F172A"/>
          </a:solidFill>
          <a:ln/>
        </p:spPr>
      </p:sp>
      <p:sp>
        <p:nvSpPr>
          <p:cNvPr id="43" name="Text 41"/>
          <p:cNvSpPr/>
          <p:nvPr/>
        </p:nvSpPr>
        <p:spPr>
          <a:xfrm>
            <a:off x="2493913" y="4948238"/>
            <a:ext cx="15906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fib(20)</a:t>
            </a:r>
            <a:endParaRPr lang="en-US" sz="1600" dirty="0"/>
          </a:p>
        </p:txBody>
      </p:sp>
      <p:sp>
        <p:nvSpPr>
          <p:cNvPr id="44" name="Text 42"/>
          <p:cNvSpPr/>
          <p:nvPr/>
        </p:nvSpPr>
        <p:spPr>
          <a:xfrm>
            <a:off x="2484388" y="5176838"/>
            <a:ext cx="1609725" cy="2667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0.79ms</a:t>
            </a:r>
            <a:endParaRPr lang="en-US" sz="1600" dirty="0"/>
          </a:p>
        </p:txBody>
      </p:sp>
      <p:sp>
        <p:nvSpPr>
          <p:cNvPr id="45" name="Shape 43"/>
          <p:cNvSpPr/>
          <p:nvPr/>
        </p:nvSpPr>
        <p:spPr>
          <a:xfrm>
            <a:off x="4282976" y="4833938"/>
            <a:ext cx="1752600" cy="762000"/>
          </a:xfrm>
          <a:custGeom>
            <a:avLst/>
            <a:gdLst/>
            <a:ahLst/>
            <a:cxnLst/>
            <a:rect l="l" t="t" r="r" b="b"/>
            <a:pathLst>
              <a:path w="1752600" h="762000">
                <a:moveTo>
                  <a:pt x="76200" y="0"/>
                </a:moveTo>
                <a:lnTo>
                  <a:pt x="1676400" y="0"/>
                </a:lnTo>
                <a:cubicBezTo>
                  <a:pt x="1718456" y="0"/>
                  <a:pt x="1752600" y="34144"/>
                  <a:pt x="1752600" y="76200"/>
                </a:cubicBezTo>
                <a:lnTo>
                  <a:pt x="1752600" y="685800"/>
                </a:lnTo>
                <a:cubicBezTo>
                  <a:pt x="1752600" y="727856"/>
                  <a:pt x="1718456" y="762000"/>
                  <a:pt x="1676400" y="762000"/>
                </a:cubicBezTo>
                <a:lnTo>
                  <a:pt x="76200" y="762000"/>
                </a:lnTo>
                <a:cubicBezTo>
                  <a:pt x="34144" y="762000"/>
                  <a:pt x="0" y="727856"/>
                  <a:pt x="0" y="685800"/>
                </a:cubicBezTo>
                <a:lnTo>
                  <a:pt x="0" y="76200"/>
                </a:lnTo>
                <a:cubicBezTo>
                  <a:pt x="0" y="34144"/>
                  <a:pt x="34144" y="0"/>
                  <a:pt x="76200" y="0"/>
                </a:cubicBezTo>
                <a:close/>
              </a:path>
            </a:pathLst>
          </a:custGeom>
          <a:solidFill>
            <a:srgbClr val="0F172A"/>
          </a:solidFill>
          <a:ln/>
        </p:spPr>
      </p:sp>
      <p:sp>
        <p:nvSpPr>
          <p:cNvPr id="46" name="Text 44"/>
          <p:cNvSpPr/>
          <p:nvPr/>
        </p:nvSpPr>
        <p:spPr>
          <a:xfrm>
            <a:off x="4363938" y="4948238"/>
            <a:ext cx="15906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fib(30)</a:t>
            </a:r>
            <a:endParaRPr lang="en-US" sz="1600" dirty="0"/>
          </a:p>
        </p:txBody>
      </p:sp>
      <p:sp>
        <p:nvSpPr>
          <p:cNvPr id="47" name="Text 45"/>
          <p:cNvSpPr/>
          <p:nvPr/>
        </p:nvSpPr>
        <p:spPr>
          <a:xfrm>
            <a:off x="4354413" y="5176838"/>
            <a:ext cx="1609725" cy="266700"/>
          </a:xfrm>
          <a:prstGeom prst="rect">
            <a:avLst/>
          </a:prstGeom>
          <a:noFill/>
          <a:ln/>
        </p:spPr>
        <p:txBody>
          <a:bodyPr wrap="square" lIns="0" tIns="0" rIns="0" bIns="0" rtlCol="0" anchor="ctr"/>
          <a:lstStyle/>
          <a:p>
            <a:pPr algn="ctr">
              <a:lnSpc>
                <a:spcPct val="130000"/>
              </a:lnSpc>
            </a:pPr>
            <a:r>
              <a:rPr lang="en-US" sz="1350" b="1" dirty="0">
                <a:solidFill>
                  <a:srgbClr val="F59E0B"/>
                </a:solidFill>
                <a:latin typeface="MiSans" pitchFamily="34" charset="0"/>
                <a:ea typeface="MiSans" pitchFamily="34" charset="-122"/>
                <a:cs typeface="MiSans" pitchFamily="34" charset="-120"/>
              </a:rPr>
              <a:t>97.7ms</a:t>
            </a:r>
            <a:endParaRPr lang="en-US" sz="1600" dirty="0"/>
          </a:p>
        </p:txBody>
      </p:sp>
      <p:sp>
        <p:nvSpPr>
          <p:cNvPr id="48" name="Shape 46"/>
          <p:cNvSpPr/>
          <p:nvPr/>
        </p:nvSpPr>
        <p:spPr>
          <a:xfrm>
            <a:off x="6153001" y="4833938"/>
            <a:ext cx="1752600" cy="762000"/>
          </a:xfrm>
          <a:custGeom>
            <a:avLst/>
            <a:gdLst/>
            <a:ahLst/>
            <a:cxnLst/>
            <a:rect l="l" t="t" r="r" b="b"/>
            <a:pathLst>
              <a:path w="1752600" h="762000">
                <a:moveTo>
                  <a:pt x="76200" y="0"/>
                </a:moveTo>
                <a:lnTo>
                  <a:pt x="1676400" y="0"/>
                </a:lnTo>
                <a:cubicBezTo>
                  <a:pt x="1718456" y="0"/>
                  <a:pt x="1752600" y="34144"/>
                  <a:pt x="1752600" y="76200"/>
                </a:cubicBezTo>
                <a:lnTo>
                  <a:pt x="1752600" y="685800"/>
                </a:lnTo>
                <a:cubicBezTo>
                  <a:pt x="1752600" y="727856"/>
                  <a:pt x="1718456" y="762000"/>
                  <a:pt x="1676400" y="762000"/>
                </a:cubicBezTo>
                <a:lnTo>
                  <a:pt x="76200" y="762000"/>
                </a:lnTo>
                <a:cubicBezTo>
                  <a:pt x="34144" y="762000"/>
                  <a:pt x="0" y="727856"/>
                  <a:pt x="0" y="685800"/>
                </a:cubicBezTo>
                <a:lnTo>
                  <a:pt x="0" y="76200"/>
                </a:lnTo>
                <a:cubicBezTo>
                  <a:pt x="0" y="34144"/>
                  <a:pt x="34144" y="0"/>
                  <a:pt x="76200" y="0"/>
                </a:cubicBezTo>
                <a:close/>
              </a:path>
            </a:pathLst>
          </a:custGeom>
          <a:solidFill>
            <a:srgbClr val="0F172A"/>
          </a:solidFill>
          <a:ln/>
        </p:spPr>
      </p:sp>
      <p:sp>
        <p:nvSpPr>
          <p:cNvPr id="49" name="Text 47"/>
          <p:cNvSpPr/>
          <p:nvPr/>
        </p:nvSpPr>
        <p:spPr>
          <a:xfrm>
            <a:off x="6233964" y="4948238"/>
            <a:ext cx="15906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fib(35)</a:t>
            </a:r>
            <a:endParaRPr lang="en-US" sz="1600" dirty="0"/>
          </a:p>
        </p:txBody>
      </p:sp>
      <p:sp>
        <p:nvSpPr>
          <p:cNvPr id="50" name="Text 48"/>
          <p:cNvSpPr/>
          <p:nvPr/>
        </p:nvSpPr>
        <p:spPr>
          <a:xfrm>
            <a:off x="6224439" y="5176838"/>
            <a:ext cx="1609725" cy="266700"/>
          </a:xfrm>
          <a:prstGeom prst="rect">
            <a:avLst/>
          </a:prstGeom>
          <a:noFill/>
          <a:ln/>
        </p:spPr>
        <p:txBody>
          <a:bodyPr wrap="square" lIns="0" tIns="0" rIns="0" bIns="0" rtlCol="0" anchor="ctr"/>
          <a:lstStyle/>
          <a:p>
            <a:pPr algn="ctr">
              <a:lnSpc>
                <a:spcPct val="130000"/>
              </a:lnSpc>
            </a:pPr>
            <a:r>
              <a:rPr lang="en-US" sz="1350" b="1" dirty="0">
                <a:solidFill>
                  <a:srgbClr val="F59E0B"/>
                </a:solidFill>
                <a:latin typeface="MiSans" pitchFamily="34" charset="0"/>
                <a:ea typeface="MiSans" pitchFamily="34" charset="-122"/>
                <a:cs typeface="MiSans" pitchFamily="34" charset="-120"/>
              </a:rPr>
              <a:t>1.02s</a:t>
            </a:r>
            <a:endParaRPr lang="en-US" sz="1600" dirty="0"/>
          </a:p>
        </p:txBody>
      </p:sp>
      <p:sp>
        <p:nvSpPr>
          <p:cNvPr id="51" name="Shape 49"/>
          <p:cNvSpPr/>
          <p:nvPr/>
        </p:nvSpPr>
        <p:spPr>
          <a:xfrm>
            <a:off x="8023175" y="4833938"/>
            <a:ext cx="1752600" cy="762000"/>
          </a:xfrm>
          <a:custGeom>
            <a:avLst/>
            <a:gdLst/>
            <a:ahLst/>
            <a:cxnLst/>
            <a:rect l="l" t="t" r="r" b="b"/>
            <a:pathLst>
              <a:path w="1752600" h="762000">
                <a:moveTo>
                  <a:pt x="76200" y="0"/>
                </a:moveTo>
                <a:lnTo>
                  <a:pt x="1676400" y="0"/>
                </a:lnTo>
                <a:cubicBezTo>
                  <a:pt x="1718456" y="0"/>
                  <a:pt x="1752600" y="34144"/>
                  <a:pt x="1752600" y="76200"/>
                </a:cubicBezTo>
                <a:lnTo>
                  <a:pt x="1752600" y="685800"/>
                </a:lnTo>
                <a:cubicBezTo>
                  <a:pt x="1752600" y="727856"/>
                  <a:pt x="1718456" y="762000"/>
                  <a:pt x="1676400" y="762000"/>
                </a:cubicBezTo>
                <a:lnTo>
                  <a:pt x="76200" y="762000"/>
                </a:lnTo>
                <a:cubicBezTo>
                  <a:pt x="34144" y="762000"/>
                  <a:pt x="0" y="727856"/>
                  <a:pt x="0" y="685800"/>
                </a:cubicBezTo>
                <a:lnTo>
                  <a:pt x="0" y="76200"/>
                </a:lnTo>
                <a:cubicBezTo>
                  <a:pt x="0" y="34144"/>
                  <a:pt x="34144" y="0"/>
                  <a:pt x="76200" y="0"/>
                </a:cubicBezTo>
                <a:close/>
              </a:path>
            </a:pathLst>
          </a:custGeom>
          <a:solidFill>
            <a:srgbClr val="0F172A"/>
          </a:solidFill>
          <a:ln/>
        </p:spPr>
      </p:sp>
      <p:sp>
        <p:nvSpPr>
          <p:cNvPr id="52" name="Text 50"/>
          <p:cNvSpPr/>
          <p:nvPr/>
        </p:nvSpPr>
        <p:spPr>
          <a:xfrm>
            <a:off x="8104138" y="4948238"/>
            <a:ext cx="15906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fib(40)</a:t>
            </a:r>
            <a:endParaRPr lang="en-US" sz="1600" dirty="0"/>
          </a:p>
        </p:txBody>
      </p:sp>
      <p:sp>
        <p:nvSpPr>
          <p:cNvPr id="53" name="Text 51"/>
          <p:cNvSpPr/>
          <p:nvPr/>
        </p:nvSpPr>
        <p:spPr>
          <a:xfrm>
            <a:off x="8094613" y="5176838"/>
            <a:ext cx="1609725" cy="266700"/>
          </a:xfrm>
          <a:prstGeom prst="rect">
            <a:avLst/>
          </a:prstGeom>
          <a:noFill/>
          <a:ln/>
        </p:spPr>
        <p:txBody>
          <a:bodyPr wrap="square" lIns="0" tIns="0" rIns="0" bIns="0" rtlCol="0" anchor="ctr"/>
          <a:lstStyle/>
          <a:p>
            <a:pPr algn="ctr">
              <a:lnSpc>
                <a:spcPct val="130000"/>
              </a:lnSpc>
            </a:pPr>
            <a:r>
              <a:rPr lang="en-US" sz="1350" b="1" dirty="0">
                <a:solidFill>
                  <a:srgbClr val="EF4444"/>
                </a:solidFill>
                <a:latin typeface="MiSans" pitchFamily="34" charset="0"/>
                <a:ea typeface="MiSans" pitchFamily="34" charset="-122"/>
                <a:cs typeface="MiSans" pitchFamily="34" charset="-120"/>
              </a:rPr>
              <a:t>11.3s</a:t>
            </a:r>
            <a:endParaRPr lang="en-US" sz="1600" dirty="0"/>
          </a:p>
        </p:txBody>
      </p:sp>
      <p:sp>
        <p:nvSpPr>
          <p:cNvPr id="54" name="Shape 52"/>
          <p:cNvSpPr/>
          <p:nvPr/>
        </p:nvSpPr>
        <p:spPr>
          <a:xfrm>
            <a:off x="9902726" y="4843463"/>
            <a:ext cx="1733550" cy="742950"/>
          </a:xfrm>
          <a:custGeom>
            <a:avLst/>
            <a:gdLst/>
            <a:ahLst/>
            <a:cxnLst/>
            <a:rect l="l" t="t" r="r" b="b"/>
            <a:pathLst>
              <a:path w="1733550" h="742950">
                <a:moveTo>
                  <a:pt x="76197" y="0"/>
                </a:moveTo>
                <a:lnTo>
                  <a:pt x="1657353" y="0"/>
                </a:lnTo>
                <a:cubicBezTo>
                  <a:pt x="1699435" y="0"/>
                  <a:pt x="1733550" y="34115"/>
                  <a:pt x="1733550" y="76197"/>
                </a:cubicBezTo>
                <a:lnTo>
                  <a:pt x="1733550" y="666753"/>
                </a:lnTo>
                <a:cubicBezTo>
                  <a:pt x="1733550" y="708835"/>
                  <a:pt x="1699435" y="742950"/>
                  <a:pt x="1657353" y="742950"/>
                </a:cubicBezTo>
                <a:lnTo>
                  <a:pt x="76197" y="742950"/>
                </a:lnTo>
                <a:cubicBezTo>
                  <a:pt x="34115" y="742950"/>
                  <a:pt x="0" y="708835"/>
                  <a:pt x="0" y="666753"/>
                </a:cubicBezTo>
                <a:lnTo>
                  <a:pt x="0" y="76197"/>
                </a:lnTo>
                <a:cubicBezTo>
                  <a:pt x="0" y="34143"/>
                  <a:pt x="34143" y="0"/>
                  <a:pt x="76197" y="0"/>
                </a:cubicBezTo>
                <a:close/>
              </a:path>
            </a:pathLst>
          </a:custGeom>
          <a:solidFill>
            <a:srgbClr val="0F172A"/>
          </a:solidFill>
          <a:ln w="25400">
            <a:solidFill>
              <a:srgbClr val="EF4444"/>
            </a:solidFill>
            <a:prstDash val="solid"/>
          </a:ln>
        </p:spPr>
      </p:sp>
      <p:sp>
        <p:nvSpPr>
          <p:cNvPr id="55" name="Text 53"/>
          <p:cNvSpPr/>
          <p:nvPr/>
        </p:nvSpPr>
        <p:spPr>
          <a:xfrm>
            <a:off x="9993213" y="4967288"/>
            <a:ext cx="1552575" cy="190500"/>
          </a:xfrm>
          <a:prstGeom prst="rect">
            <a:avLst/>
          </a:prstGeom>
          <a:noFill/>
          <a:ln/>
        </p:spPr>
        <p:txBody>
          <a:bodyPr wrap="square" lIns="0" tIns="0" rIns="0" bIns="0" rtlCol="0" anchor="ctr"/>
          <a:lstStyle/>
          <a:p>
            <a:pPr algn="ctr">
              <a:lnSpc>
                <a:spcPct val="120000"/>
              </a:lnSpc>
            </a:pPr>
            <a:r>
              <a:rPr lang="en-US" sz="1050" dirty="0">
                <a:solidFill>
                  <a:srgbClr val="F1F5F9">
                    <a:alpha val="60000"/>
                  </a:srgbClr>
                </a:solidFill>
                <a:latin typeface="MiSans" pitchFamily="34" charset="0"/>
                <a:ea typeface="MiSans" pitchFamily="34" charset="-122"/>
                <a:cs typeface="MiSans" pitchFamily="34" charset="-120"/>
              </a:rPr>
              <a:t>fib(100)</a:t>
            </a:r>
            <a:endParaRPr lang="en-US" sz="1600" dirty="0"/>
          </a:p>
        </p:txBody>
      </p:sp>
      <p:sp>
        <p:nvSpPr>
          <p:cNvPr id="56" name="Text 54"/>
          <p:cNvSpPr/>
          <p:nvPr/>
        </p:nvSpPr>
        <p:spPr>
          <a:xfrm>
            <a:off x="9983688" y="5195888"/>
            <a:ext cx="1571625" cy="266700"/>
          </a:xfrm>
          <a:prstGeom prst="rect">
            <a:avLst/>
          </a:prstGeom>
          <a:noFill/>
          <a:ln/>
        </p:spPr>
        <p:txBody>
          <a:bodyPr wrap="square" lIns="0" tIns="0" rIns="0" bIns="0" rtlCol="0" anchor="ctr"/>
          <a:lstStyle/>
          <a:p>
            <a:pPr algn="ctr">
              <a:lnSpc>
                <a:spcPct val="130000"/>
              </a:lnSpc>
            </a:pPr>
            <a:r>
              <a:rPr lang="en-US" sz="1350" b="1" dirty="0">
                <a:solidFill>
                  <a:srgbClr val="EF4444"/>
                </a:solidFill>
                <a:latin typeface="MiSans" pitchFamily="34" charset="0"/>
                <a:ea typeface="MiSans" pitchFamily="34" charset="-122"/>
                <a:cs typeface="MiSans" pitchFamily="34" charset="-120"/>
              </a:rPr>
              <a:t>475,000 năm</a:t>
            </a:r>
            <a:endParaRPr lang="en-US" sz="1600" dirty="0"/>
          </a:p>
        </p:txBody>
      </p:sp>
      <p:sp>
        <p:nvSpPr>
          <p:cNvPr id="57" name="Shape 55"/>
          <p:cNvSpPr/>
          <p:nvPr/>
        </p:nvSpPr>
        <p:spPr>
          <a:xfrm>
            <a:off x="385763" y="5915025"/>
            <a:ext cx="11420475" cy="542925"/>
          </a:xfrm>
          <a:custGeom>
            <a:avLst/>
            <a:gdLst/>
            <a:ahLst/>
            <a:cxnLst/>
            <a:rect l="l" t="t" r="r" b="b"/>
            <a:pathLst>
              <a:path w="11420475" h="542925">
                <a:moveTo>
                  <a:pt x="114302" y="0"/>
                </a:moveTo>
                <a:lnTo>
                  <a:pt x="11306173" y="0"/>
                </a:lnTo>
                <a:cubicBezTo>
                  <a:pt x="11369300" y="0"/>
                  <a:pt x="11420475" y="51175"/>
                  <a:pt x="11420475" y="114302"/>
                </a:cubicBezTo>
                <a:lnTo>
                  <a:pt x="11420475" y="428623"/>
                </a:lnTo>
                <a:cubicBezTo>
                  <a:pt x="11420475" y="491750"/>
                  <a:pt x="11369300" y="542925"/>
                  <a:pt x="11306173" y="542925"/>
                </a:cubicBezTo>
                <a:lnTo>
                  <a:pt x="114302" y="542925"/>
                </a:lnTo>
                <a:cubicBezTo>
                  <a:pt x="51175" y="542925"/>
                  <a:pt x="0" y="491750"/>
                  <a:pt x="0" y="428623"/>
                </a:cubicBezTo>
                <a:lnTo>
                  <a:pt x="0" y="114302"/>
                </a:lnTo>
                <a:cubicBezTo>
                  <a:pt x="0" y="51175"/>
                  <a:pt x="51175" y="0"/>
                  <a:pt x="114302" y="0"/>
                </a:cubicBezTo>
                <a:close/>
              </a:path>
            </a:pathLst>
          </a:custGeom>
          <a:solidFill>
            <a:srgbClr val="0F172A"/>
          </a:solidFill>
          <a:ln w="12700">
            <a:solidFill>
              <a:srgbClr val="EF4444">
                <a:alpha val="30196"/>
              </a:srgbClr>
            </a:solidFill>
            <a:prstDash val="solid"/>
          </a:ln>
        </p:spPr>
      </p:sp>
      <p:sp>
        <p:nvSpPr>
          <p:cNvPr id="58" name="Shape 56"/>
          <p:cNvSpPr/>
          <p:nvPr/>
        </p:nvSpPr>
        <p:spPr>
          <a:xfrm>
            <a:off x="561975" y="611981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0481"/>
                </a:moveTo>
                <a:cubicBezTo>
                  <a:pt x="80159" y="40481"/>
                  <a:pt x="83344" y="43666"/>
                  <a:pt x="83344" y="47625"/>
                </a:cubicBezTo>
                <a:lnTo>
                  <a:pt x="83344" y="80962"/>
                </a:lnTo>
                <a:cubicBezTo>
                  <a:pt x="83344" y="84921"/>
                  <a:pt x="80159" y="88106"/>
                  <a:pt x="76200" y="88106"/>
                </a:cubicBezTo>
                <a:cubicBezTo>
                  <a:pt x="72241" y="88106"/>
                  <a:pt x="69056" y="84921"/>
                  <a:pt x="69056" y="80962"/>
                </a:cubicBezTo>
                <a:lnTo>
                  <a:pt x="69056" y="47625"/>
                </a:lnTo>
                <a:cubicBezTo>
                  <a:pt x="69056" y="43666"/>
                  <a:pt x="72241" y="40481"/>
                  <a:pt x="76200" y="40481"/>
                </a:cubicBezTo>
                <a:close/>
                <a:moveTo>
                  <a:pt x="68253" y="104775"/>
                </a:moveTo>
                <a:cubicBezTo>
                  <a:pt x="68072" y="101825"/>
                  <a:pt x="69543" y="99018"/>
                  <a:pt x="72072" y="97489"/>
                </a:cubicBezTo>
                <a:cubicBezTo>
                  <a:pt x="74601" y="95959"/>
                  <a:pt x="77770" y="95959"/>
                  <a:pt x="80298" y="97489"/>
                </a:cubicBezTo>
                <a:cubicBezTo>
                  <a:pt x="82827" y="99018"/>
                  <a:pt x="84298" y="101825"/>
                  <a:pt x="84118" y="104775"/>
                </a:cubicBezTo>
                <a:cubicBezTo>
                  <a:pt x="84298" y="107725"/>
                  <a:pt x="82827" y="110532"/>
                  <a:pt x="80298" y="112061"/>
                </a:cubicBezTo>
                <a:cubicBezTo>
                  <a:pt x="77770" y="113591"/>
                  <a:pt x="74601" y="113591"/>
                  <a:pt x="72072" y="112061"/>
                </a:cubicBezTo>
                <a:cubicBezTo>
                  <a:pt x="69543" y="110532"/>
                  <a:pt x="68072" y="107725"/>
                  <a:pt x="68253" y="104775"/>
                </a:cubicBezTo>
                <a:close/>
              </a:path>
            </a:pathLst>
          </a:custGeom>
          <a:solidFill>
            <a:srgbClr val="EF4444"/>
          </a:solidFill>
          <a:ln/>
        </p:spPr>
      </p:sp>
      <p:sp>
        <p:nvSpPr>
          <p:cNvPr id="59" name="Text 57"/>
          <p:cNvSpPr/>
          <p:nvPr/>
        </p:nvSpPr>
        <p:spPr>
          <a:xfrm>
            <a:off x="790575" y="6072188"/>
            <a:ext cx="10934700" cy="2286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Nhận xét:</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Rất nhanh lúc đầu nhưng khi tới fibonacci(40) thì bắt đầu chậm hẳn đi - đặc trưng của độ phức tạp hàm mũ O(2ⁿ).</a:t>
            </a:r>
            <a:endParaRPr lang="en-US" sz="16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53135" y="423762"/>
            <a:ext cx="353135" cy="353135"/>
          </a:xfrm>
          <a:custGeom>
            <a:avLst/>
            <a:gdLst/>
            <a:ahLst/>
            <a:cxnLst/>
            <a:rect l="l" t="t" r="r" b="b"/>
            <a:pathLst>
              <a:path w="353135" h="353135">
                <a:moveTo>
                  <a:pt x="70627" y="0"/>
                </a:moveTo>
                <a:lnTo>
                  <a:pt x="282508" y="0"/>
                </a:lnTo>
                <a:cubicBezTo>
                  <a:pt x="321488" y="0"/>
                  <a:pt x="353135" y="31647"/>
                  <a:pt x="353135" y="70627"/>
                </a:cubicBezTo>
                <a:lnTo>
                  <a:pt x="353135" y="282508"/>
                </a:lnTo>
                <a:cubicBezTo>
                  <a:pt x="353135" y="321488"/>
                  <a:pt x="321488" y="353135"/>
                  <a:pt x="282508" y="353135"/>
                </a:cubicBezTo>
                <a:lnTo>
                  <a:pt x="70627" y="353135"/>
                </a:lnTo>
                <a:cubicBezTo>
                  <a:pt x="31647" y="353135"/>
                  <a:pt x="0" y="321488"/>
                  <a:pt x="0" y="282508"/>
                </a:cubicBezTo>
                <a:lnTo>
                  <a:pt x="0" y="70627"/>
                </a:lnTo>
                <a:cubicBezTo>
                  <a:pt x="0" y="31621"/>
                  <a:pt x="31621" y="0"/>
                  <a:pt x="70627" y="0"/>
                </a:cubicBezTo>
                <a:close/>
              </a:path>
            </a:pathLst>
          </a:custGeom>
          <a:solidFill>
            <a:srgbClr val="8B5CF6"/>
          </a:solidFill>
          <a:ln/>
        </p:spPr>
      </p:sp>
      <p:sp>
        <p:nvSpPr>
          <p:cNvPr id="3" name="Shape 1"/>
          <p:cNvSpPr/>
          <p:nvPr/>
        </p:nvSpPr>
        <p:spPr>
          <a:xfrm>
            <a:off x="462387" y="520875"/>
            <a:ext cx="139047" cy="158911"/>
          </a:xfrm>
          <a:custGeom>
            <a:avLst/>
            <a:gdLst/>
            <a:ahLst/>
            <a:cxnLst/>
            <a:rect l="l" t="t" r="r" b="b"/>
            <a:pathLst>
              <a:path w="139047" h="158911">
                <a:moveTo>
                  <a:pt x="89387" y="0"/>
                </a:moveTo>
                <a:lnTo>
                  <a:pt x="39728" y="0"/>
                </a:lnTo>
                <a:cubicBezTo>
                  <a:pt x="34234" y="0"/>
                  <a:pt x="29796" y="4438"/>
                  <a:pt x="29796" y="9932"/>
                </a:cubicBezTo>
                <a:cubicBezTo>
                  <a:pt x="29796" y="15426"/>
                  <a:pt x="34234" y="19864"/>
                  <a:pt x="39728" y="19864"/>
                </a:cubicBezTo>
                <a:lnTo>
                  <a:pt x="39728" y="66885"/>
                </a:lnTo>
                <a:lnTo>
                  <a:pt x="2328" y="132312"/>
                </a:lnTo>
                <a:cubicBezTo>
                  <a:pt x="807" y="135012"/>
                  <a:pt x="0" y="138023"/>
                  <a:pt x="0" y="141127"/>
                </a:cubicBezTo>
                <a:cubicBezTo>
                  <a:pt x="0" y="150965"/>
                  <a:pt x="7946" y="158911"/>
                  <a:pt x="17784" y="158911"/>
                </a:cubicBezTo>
                <a:lnTo>
                  <a:pt x="121263" y="158911"/>
                </a:lnTo>
                <a:cubicBezTo>
                  <a:pt x="131070" y="158911"/>
                  <a:pt x="139047" y="150965"/>
                  <a:pt x="139047" y="141127"/>
                </a:cubicBezTo>
                <a:cubicBezTo>
                  <a:pt x="139047" y="138023"/>
                  <a:pt x="138240" y="134981"/>
                  <a:pt x="136719" y="132312"/>
                </a:cubicBezTo>
                <a:lnTo>
                  <a:pt x="99319" y="66885"/>
                </a:lnTo>
                <a:lnTo>
                  <a:pt x="99319" y="19864"/>
                </a:lnTo>
                <a:cubicBezTo>
                  <a:pt x="104813" y="19864"/>
                  <a:pt x="109251" y="15426"/>
                  <a:pt x="109251" y="9932"/>
                </a:cubicBezTo>
                <a:cubicBezTo>
                  <a:pt x="109251" y="4438"/>
                  <a:pt x="104813" y="0"/>
                  <a:pt x="99319" y="0"/>
                </a:cubicBezTo>
                <a:lnTo>
                  <a:pt x="89387" y="0"/>
                </a:lnTo>
                <a:close/>
                <a:moveTo>
                  <a:pt x="59592" y="66885"/>
                </a:moveTo>
                <a:lnTo>
                  <a:pt x="59592" y="19864"/>
                </a:lnTo>
                <a:lnTo>
                  <a:pt x="79455" y="19864"/>
                </a:lnTo>
                <a:lnTo>
                  <a:pt x="79455" y="66885"/>
                </a:lnTo>
                <a:cubicBezTo>
                  <a:pt x="79455" y="70331"/>
                  <a:pt x="80356" y="73745"/>
                  <a:pt x="82063" y="76755"/>
                </a:cubicBezTo>
                <a:lnTo>
                  <a:pt x="94974" y="99319"/>
                </a:lnTo>
                <a:lnTo>
                  <a:pt x="44073" y="99319"/>
                </a:lnTo>
                <a:lnTo>
                  <a:pt x="56984" y="76755"/>
                </a:lnTo>
                <a:cubicBezTo>
                  <a:pt x="58692" y="73745"/>
                  <a:pt x="59592" y="70362"/>
                  <a:pt x="59592" y="66885"/>
                </a:cubicBezTo>
                <a:close/>
              </a:path>
            </a:pathLst>
          </a:custGeom>
          <a:solidFill>
            <a:srgbClr val="FFFFFF"/>
          </a:solidFill>
          <a:ln/>
        </p:spPr>
      </p:sp>
      <p:sp>
        <p:nvSpPr>
          <p:cNvPr id="4" name="Text 2"/>
          <p:cNvSpPr/>
          <p:nvPr/>
        </p:nvSpPr>
        <p:spPr>
          <a:xfrm>
            <a:off x="812211" y="353135"/>
            <a:ext cx="3990430" cy="176568"/>
          </a:xfrm>
          <a:prstGeom prst="rect">
            <a:avLst/>
          </a:prstGeom>
          <a:noFill/>
          <a:ln/>
        </p:spPr>
        <p:txBody>
          <a:bodyPr wrap="square" lIns="0" tIns="0" rIns="0" bIns="0" rtlCol="0" anchor="ctr"/>
          <a:lstStyle/>
          <a:p>
            <a:pPr>
              <a:lnSpc>
                <a:spcPct val="120000"/>
              </a:lnSpc>
            </a:pPr>
            <a:r>
              <a:rPr lang="en-US" sz="973" b="1" spc="49" kern="0" dirty="0">
                <a:solidFill>
                  <a:srgbClr val="8B5CF6"/>
                </a:solidFill>
                <a:latin typeface="MiSans" pitchFamily="34" charset="0"/>
                <a:ea typeface="MiSans" pitchFamily="34" charset="-122"/>
                <a:cs typeface="MiSans" pitchFamily="34" charset="-120"/>
              </a:rPr>
              <a:t>CHƯƠNG 14 | LAB 2</a:t>
            </a:r>
            <a:endParaRPr lang="en-US" sz="1600" dirty="0"/>
          </a:p>
        </p:txBody>
      </p:sp>
      <p:sp>
        <p:nvSpPr>
          <p:cNvPr id="5" name="Text 3"/>
          <p:cNvSpPr/>
          <p:nvPr/>
        </p:nvSpPr>
        <p:spPr>
          <a:xfrm>
            <a:off x="812211" y="529703"/>
            <a:ext cx="4061057" cy="317822"/>
          </a:xfrm>
          <a:prstGeom prst="rect">
            <a:avLst/>
          </a:prstGeom>
          <a:noFill/>
          <a:ln/>
        </p:spPr>
        <p:txBody>
          <a:bodyPr wrap="square" lIns="0" tIns="0" rIns="0" bIns="0" rtlCol="0" anchor="ctr"/>
          <a:lstStyle/>
          <a:p>
            <a:pPr>
              <a:lnSpc>
                <a:spcPct val="100000"/>
              </a:lnSpc>
            </a:pPr>
            <a:r>
              <a:rPr lang="en-US" sz="2085" b="1" dirty="0">
                <a:solidFill>
                  <a:srgbClr val="F1F5F9"/>
                </a:solidFill>
                <a:latin typeface="MiSans" pitchFamily="34" charset="0"/>
                <a:ea typeface="MiSans" pitchFamily="34" charset="-122"/>
                <a:cs typeface="MiSans" pitchFamily="34" charset="-120"/>
              </a:rPr>
              <a:t>LAB 2: Phân tích tiêu thụ bộ nhớ</a:t>
            </a:r>
            <a:endParaRPr lang="en-US" sz="1600" dirty="0"/>
          </a:p>
        </p:txBody>
      </p:sp>
      <p:sp>
        <p:nvSpPr>
          <p:cNvPr id="6" name="Shape 4"/>
          <p:cNvSpPr/>
          <p:nvPr/>
        </p:nvSpPr>
        <p:spPr>
          <a:xfrm>
            <a:off x="357550" y="1063820"/>
            <a:ext cx="5650167" cy="2542575"/>
          </a:xfrm>
          <a:custGeom>
            <a:avLst/>
            <a:gdLst/>
            <a:ahLst/>
            <a:cxnLst/>
            <a:rect l="l" t="t" r="r" b="b"/>
            <a:pathLst>
              <a:path w="5650167" h="2542575">
                <a:moveTo>
                  <a:pt x="105949" y="0"/>
                </a:moveTo>
                <a:lnTo>
                  <a:pt x="5544217" y="0"/>
                </a:lnTo>
                <a:cubicBezTo>
                  <a:pt x="5602732" y="0"/>
                  <a:pt x="5650167" y="47435"/>
                  <a:pt x="5650167" y="105949"/>
                </a:cubicBezTo>
                <a:lnTo>
                  <a:pt x="5650167" y="2436626"/>
                </a:lnTo>
                <a:cubicBezTo>
                  <a:pt x="5650167" y="2495140"/>
                  <a:pt x="5602732" y="2542575"/>
                  <a:pt x="5544217" y="2542575"/>
                </a:cubicBezTo>
                <a:lnTo>
                  <a:pt x="105949" y="2542575"/>
                </a:lnTo>
                <a:cubicBezTo>
                  <a:pt x="47435" y="2542575"/>
                  <a:pt x="0" y="2495140"/>
                  <a:pt x="0" y="2436626"/>
                </a:cubicBezTo>
                <a:lnTo>
                  <a:pt x="0" y="105949"/>
                </a:lnTo>
                <a:cubicBezTo>
                  <a:pt x="0" y="47435"/>
                  <a:pt x="47435" y="0"/>
                  <a:pt x="105949"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7" name="Shape 5"/>
          <p:cNvSpPr/>
          <p:nvPr/>
        </p:nvSpPr>
        <p:spPr>
          <a:xfrm>
            <a:off x="560602" y="1280116"/>
            <a:ext cx="176568" cy="176568"/>
          </a:xfrm>
          <a:custGeom>
            <a:avLst/>
            <a:gdLst/>
            <a:ahLst/>
            <a:cxnLst/>
            <a:rect l="l" t="t" r="r" b="b"/>
            <a:pathLst>
              <a:path w="176568" h="176568">
                <a:moveTo>
                  <a:pt x="22071" y="22071"/>
                </a:moveTo>
                <a:cubicBezTo>
                  <a:pt x="9897" y="22071"/>
                  <a:pt x="0" y="31968"/>
                  <a:pt x="0" y="44142"/>
                </a:cubicBezTo>
                <a:lnTo>
                  <a:pt x="0" y="46694"/>
                </a:lnTo>
                <a:cubicBezTo>
                  <a:pt x="0" y="49039"/>
                  <a:pt x="1517" y="51039"/>
                  <a:pt x="3483" y="52315"/>
                </a:cubicBezTo>
                <a:cubicBezTo>
                  <a:pt x="8035" y="55281"/>
                  <a:pt x="11035" y="60385"/>
                  <a:pt x="11035" y="66213"/>
                </a:cubicBezTo>
                <a:cubicBezTo>
                  <a:pt x="11035" y="72041"/>
                  <a:pt x="8035" y="77145"/>
                  <a:pt x="3483" y="80111"/>
                </a:cubicBezTo>
                <a:cubicBezTo>
                  <a:pt x="1517" y="81387"/>
                  <a:pt x="0" y="83387"/>
                  <a:pt x="0" y="85732"/>
                </a:cubicBezTo>
                <a:lnTo>
                  <a:pt x="0" y="104837"/>
                </a:lnTo>
                <a:lnTo>
                  <a:pt x="176568" y="104837"/>
                </a:lnTo>
                <a:lnTo>
                  <a:pt x="176568" y="85732"/>
                </a:lnTo>
                <a:cubicBezTo>
                  <a:pt x="176568" y="83387"/>
                  <a:pt x="175050" y="81387"/>
                  <a:pt x="173085" y="80111"/>
                </a:cubicBezTo>
                <a:cubicBezTo>
                  <a:pt x="168532" y="77145"/>
                  <a:pt x="165532" y="72041"/>
                  <a:pt x="165532" y="66213"/>
                </a:cubicBezTo>
                <a:cubicBezTo>
                  <a:pt x="165532" y="60385"/>
                  <a:pt x="168532" y="55281"/>
                  <a:pt x="173085" y="52315"/>
                </a:cubicBezTo>
                <a:cubicBezTo>
                  <a:pt x="175050" y="51039"/>
                  <a:pt x="176568" y="49039"/>
                  <a:pt x="176568" y="46694"/>
                </a:cubicBezTo>
                <a:lnTo>
                  <a:pt x="176568" y="44142"/>
                </a:lnTo>
                <a:cubicBezTo>
                  <a:pt x="176568" y="31968"/>
                  <a:pt x="166670" y="22071"/>
                  <a:pt x="154497" y="22071"/>
                </a:cubicBezTo>
                <a:lnTo>
                  <a:pt x="22071" y="22071"/>
                </a:lnTo>
                <a:close/>
                <a:moveTo>
                  <a:pt x="176568" y="143461"/>
                </a:moveTo>
                <a:lnTo>
                  <a:pt x="176568" y="121390"/>
                </a:lnTo>
                <a:lnTo>
                  <a:pt x="0" y="121390"/>
                </a:lnTo>
                <a:lnTo>
                  <a:pt x="0" y="143461"/>
                </a:lnTo>
                <a:cubicBezTo>
                  <a:pt x="0" y="149565"/>
                  <a:pt x="4931" y="154497"/>
                  <a:pt x="11035" y="154497"/>
                </a:cubicBezTo>
                <a:lnTo>
                  <a:pt x="33106" y="154497"/>
                </a:lnTo>
                <a:lnTo>
                  <a:pt x="33106" y="146220"/>
                </a:lnTo>
                <a:cubicBezTo>
                  <a:pt x="33106" y="141634"/>
                  <a:pt x="36796" y="137944"/>
                  <a:pt x="41383" y="137944"/>
                </a:cubicBezTo>
                <a:cubicBezTo>
                  <a:pt x="45970" y="137944"/>
                  <a:pt x="49660" y="141634"/>
                  <a:pt x="49660" y="146220"/>
                </a:cubicBezTo>
                <a:lnTo>
                  <a:pt x="49660" y="154497"/>
                </a:lnTo>
                <a:lnTo>
                  <a:pt x="80007" y="154497"/>
                </a:lnTo>
                <a:lnTo>
                  <a:pt x="80007" y="146220"/>
                </a:lnTo>
                <a:cubicBezTo>
                  <a:pt x="80007" y="141634"/>
                  <a:pt x="83697" y="137944"/>
                  <a:pt x="88284" y="137944"/>
                </a:cubicBezTo>
                <a:cubicBezTo>
                  <a:pt x="92870" y="137944"/>
                  <a:pt x="96560" y="141634"/>
                  <a:pt x="96560" y="146220"/>
                </a:cubicBezTo>
                <a:lnTo>
                  <a:pt x="96560" y="154497"/>
                </a:lnTo>
                <a:lnTo>
                  <a:pt x="126908" y="154497"/>
                </a:lnTo>
                <a:lnTo>
                  <a:pt x="126908" y="146220"/>
                </a:lnTo>
                <a:cubicBezTo>
                  <a:pt x="126908" y="141634"/>
                  <a:pt x="130598" y="137944"/>
                  <a:pt x="135185" y="137944"/>
                </a:cubicBezTo>
                <a:cubicBezTo>
                  <a:pt x="139771" y="137944"/>
                  <a:pt x="143461" y="141634"/>
                  <a:pt x="143461" y="146220"/>
                </a:cubicBezTo>
                <a:lnTo>
                  <a:pt x="143461" y="154497"/>
                </a:lnTo>
                <a:lnTo>
                  <a:pt x="165532" y="154497"/>
                </a:lnTo>
                <a:cubicBezTo>
                  <a:pt x="171636" y="154497"/>
                  <a:pt x="176568" y="149565"/>
                  <a:pt x="176568" y="143461"/>
                </a:cubicBezTo>
                <a:close/>
                <a:moveTo>
                  <a:pt x="55177" y="55177"/>
                </a:moveTo>
                <a:lnTo>
                  <a:pt x="55177" y="77248"/>
                </a:lnTo>
                <a:cubicBezTo>
                  <a:pt x="55177" y="83352"/>
                  <a:pt x="50246" y="88284"/>
                  <a:pt x="44142" y="88284"/>
                </a:cubicBezTo>
                <a:cubicBezTo>
                  <a:pt x="38038" y="88284"/>
                  <a:pt x="33106" y="83352"/>
                  <a:pt x="33106" y="77248"/>
                </a:cubicBezTo>
                <a:lnTo>
                  <a:pt x="33106" y="55177"/>
                </a:lnTo>
                <a:cubicBezTo>
                  <a:pt x="33106" y="49073"/>
                  <a:pt x="38038" y="44142"/>
                  <a:pt x="44142" y="44142"/>
                </a:cubicBezTo>
                <a:cubicBezTo>
                  <a:pt x="50246" y="44142"/>
                  <a:pt x="55177" y="49073"/>
                  <a:pt x="55177" y="55177"/>
                </a:cubicBezTo>
                <a:close/>
                <a:moveTo>
                  <a:pt x="99319" y="55177"/>
                </a:moveTo>
                <a:lnTo>
                  <a:pt x="99319" y="77248"/>
                </a:lnTo>
                <a:cubicBezTo>
                  <a:pt x="99319" y="83352"/>
                  <a:pt x="94388" y="88284"/>
                  <a:pt x="88284" y="88284"/>
                </a:cubicBezTo>
                <a:cubicBezTo>
                  <a:pt x="82180" y="88284"/>
                  <a:pt x="77248" y="83352"/>
                  <a:pt x="77248" y="77248"/>
                </a:cubicBezTo>
                <a:lnTo>
                  <a:pt x="77248" y="55177"/>
                </a:lnTo>
                <a:cubicBezTo>
                  <a:pt x="77248" y="49073"/>
                  <a:pt x="82180" y="44142"/>
                  <a:pt x="88284" y="44142"/>
                </a:cubicBezTo>
                <a:cubicBezTo>
                  <a:pt x="94388" y="44142"/>
                  <a:pt x="99319" y="49073"/>
                  <a:pt x="99319" y="55177"/>
                </a:cubicBezTo>
                <a:close/>
                <a:moveTo>
                  <a:pt x="143461" y="55177"/>
                </a:moveTo>
                <a:lnTo>
                  <a:pt x="143461" y="77248"/>
                </a:lnTo>
                <a:cubicBezTo>
                  <a:pt x="143461" y="83352"/>
                  <a:pt x="138530" y="88284"/>
                  <a:pt x="132426" y="88284"/>
                </a:cubicBezTo>
                <a:cubicBezTo>
                  <a:pt x="126322" y="88284"/>
                  <a:pt x="121390" y="83352"/>
                  <a:pt x="121390" y="77248"/>
                </a:cubicBezTo>
                <a:lnTo>
                  <a:pt x="121390" y="55177"/>
                </a:lnTo>
                <a:cubicBezTo>
                  <a:pt x="121390" y="49073"/>
                  <a:pt x="126322" y="44142"/>
                  <a:pt x="132426" y="44142"/>
                </a:cubicBezTo>
                <a:cubicBezTo>
                  <a:pt x="138530" y="44142"/>
                  <a:pt x="143461" y="49073"/>
                  <a:pt x="143461" y="55177"/>
                </a:cubicBezTo>
                <a:close/>
              </a:path>
            </a:pathLst>
          </a:custGeom>
          <a:solidFill>
            <a:srgbClr val="8B5CF6"/>
          </a:solidFill>
          <a:ln/>
        </p:spPr>
      </p:sp>
      <p:sp>
        <p:nvSpPr>
          <p:cNvPr id="8" name="Text 6"/>
          <p:cNvSpPr/>
          <p:nvPr/>
        </p:nvSpPr>
        <p:spPr>
          <a:xfrm>
            <a:off x="759241" y="1244802"/>
            <a:ext cx="5155777" cy="247195"/>
          </a:xfrm>
          <a:prstGeom prst="rect">
            <a:avLst/>
          </a:prstGeom>
          <a:noFill/>
          <a:ln/>
        </p:spPr>
        <p:txBody>
          <a:bodyPr wrap="square" lIns="0" tIns="0" rIns="0" bIns="0" rtlCol="0" anchor="ctr"/>
          <a:lstStyle/>
          <a:p>
            <a:pPr>
              <a:lnSpc>
                <a:spcPct val="120000"/>
              </a:lnSpc>
            </a:pPr>
            <a:r>
              <a:rPr lang="en-US" sz="1390" b="1" dirty="0">
                <a:solidFill>
                  <a:srgbClr val="8B5CF6"/>
                </a:solidFill>
                <a:latin typeface="MiSans" pitchFamily="34" charset="0"/>
                <a:ea typeface="MiSans" pitchFamily="34" charset="-122"/>
                <a:cs typeface="MiSans" pitchFamily="34" charset="-120"/>
              </a:rPr>
              <a:t>Khái niệm</a:t>
            </a:r>
            <a:endParaRPr lang="en-US" sz="1600" dirty="0"/>
          </a:p>
        </p:txBody>
      </p:sp>
      <p:sp>
        <p:nvSpPr>
          <p:cNvPr id="9" name="Shape 7"/>
          <p:cNvSpPr/>
          <p:nvPr/>
        </p:nvSpPr>
        <p:spPr>
          <a:xfrm>
            <a:off x="538531" y="1633251"/>
            <a:ext cx="5288203" cy="635644"/>
          </a:xfrm>
          <a:custGeom>
            <a:avLst/>
            <a:gdLst/>
            <a:ahLst/>
            <a:cxnLst/>
            <a:rect l="l" t="t" r="r" b="b"/>
            <a:pathLst>
              <a:path w="5288203" h="635644">
                <a:moveTo>
                  <a:pt x="70626" y="0"/>
                </a:moveTo>
                <a:lnTo>
                  <a:pt x="5217576" y="0"/>
                </a:lnTo>
                <a:cubicBezTo>
                  <a:pt x="5256582" y="0"/>
                  <a:pt x="5288203" y="31621"/>
                  <a:pt x="5288203" y="70626"/>
                </a:cubicBezTo>
                <a:lnTo>
                  <a:pt x="5288203" y="565017"/>
                </a:lnTo>
                <a:cubicBezTo>
                  <a:pt x="5288203" y="604023"/>
                  <a:pt x="5256582" y="635644"/>
                  <a:pt x="5217576" y="635644"/>
                </a:cubicBezTo>
                <a:lnTo>
                  <a:pt x="70626" y="635644"/>
                </a:lnTo>
                <a:cubicBezTo>
                  <a:pt x="31621" y="635644"/>
                  <a:pt x="0" y="604023"/>
                  <a:pt x="0" y="565017"/>
                </a:cubicBezTo>
                <a:lnTo>
                  <a:pt x="0" y="70626"/>
                </a:lnTo>
                <a:cubicBezTo>
                  <a:pt x="0" y="31647"/>
                  <a:pt x="31647" y="0"/>
                  <a:pt x="70626" y="0"/>
                </a:cubicBezTo>
                <a:close/>
              </a:path>
            </a:pathLst>
          </a:custGeom>
          <a:solidFill>
            <a:srgbClr val="0F172A"/>
          </a:solidFill>
          <a:ln/>
        </p:spPr>
      </p:sp>
      <p:sp>
        <p:nvSpPr>
          <p:cNvPr id="10" name="Text 8"/>
          <p:cNvSpPr/>
          <p:nvPr/>
        </p:nvSpPr>
        <p:spPr>
          <a:xfrm>
            <a:off x="644472" y="1739192"/>
            <a:ext cx="5146949" cy="423762"/>
          </a:xfrm>
          <a:prstGeom prst="rect">
            <a:avLst/>
          </a:prstGeom>
          <a:noFill/>
          <a:ln/>
        </p:spPr>
        <p:txBody>
          <a:bodyPr wrap="square" lIns="0" tIns="0" rIns="0" bIns="0" rtlCol="0" anchor="ctr"/>
          <a:lstStyle/>
          <a:p>
            <a:pPr>
              <a:lnSpc>
                <a:spcPct val="130000"/>
              </a:lnSpc>
            </a:pPr>
            <a:r>
              <a:rPr lang="en-US" sz="1112" dirty="0">
                <a:solidFill>
                  <a:srgbClr val="F1F5F9">
                    <a:alpha val="80000"/>
                  </a:srgbClr>
                </a:solidFill>
                <a:latin typeface="MiSans" pitchFamily="34" charset="0"/>
                <a:ea typeface="MiSans" pitchFamily="34" charset="-122"/>
                <a:cs typeface="MiSans" pitchFamily="34" charset="-120"/>
              </a:rPr>
              <a:t>Sử dụng </a:t>
            </a:r>
            <a:pPr>
              <a:lnSpc>
                <a:spcPct val="130000"/>
              </a:lnSpc>
            </a:pPr>
            <a:r>
              <a:rPr lang="en-US" sz="1112" b="1" dirty="0">
                <a:solidFill>
                  <a:srgbClr val="8B5CF6"/>
                </a:solidFill>
                <a:latin typeface="MiSans" pitchFamily="34" charset="0"/>
                <a:ea typeface="MiSans" pitchFamily="34" charset="-122"/>
                <a:cs typeface="MiSans" pitchFamily="34" charset="-120"/>
              </a:rPr>
              <a:t>memory_profiler</a:t>
            </a:r>
            <a:pPr>
              <a:lnSpc>
                <a:spcPct val="130000"/>
              </a:lnSpc>
            </a:pPr>
            <a:r>
              <a:rPr lang="en-US" sz="1112" dirty="0">
                <a:solidFill>
                  <a:srgbClr val="F1F5F9">
                    <a:alpha val="80000"/>
                  </a:srgbClr>
                </a:solidFill>
                <a:latin typeface="MiSans" pitchFamily="34" charset="0"/>
                <a:ea typeface="MiSans" pitchFamily="34" charset="-122"/>
                <a:cs typeface="MiSans" pitchFamily="34" charset="-120"/>
              </a:rPr>
              <a:t> để theo dõi mức tiêu thụ bộ nhớ của hàm theo từng dòng code.</a:t>
            </a:r>
            <a:endParaRPr lang="en-US" sz="1600" dirty="0"/>
          </a:p>
        </p:txBody>
      </p:sp>
      <p:sp>
        <p:nvSpPr>
          <p:cNvPr id="11" name="Shape 9"/>
          <p:cNvSpPr/>
          <p:nvPr/>
        </p:nvSpPr>
        <p:spPr>
          <a:xfrm>
            <a:off x="538531" y="2374836"/>
            <a:ext cx="5288203" cy="1050578"/>
          </a:xfrm>
          <a:custGeom>
            <a:avLst/>
            <a:gdLst/>
            <a:ahLst/>
            <a:cxnLst/>
            <a:rect l="l" t="t" r="r" b="b"/>
            <a:pathLst>
              <a:path w="5288203" h="1050578">
                <a:moveTo>
                  <a:pt x="70630" y="0"/>
                </a:moveTo>
                <a:lnTo>
                  <a:pt x="5217572" y="0"/>
                </a:lnTo>
                <a:cubicBezTo>
                  <a:pt x="5256580" y="0"/>
                  <a:pt x="5288203" y="31622"/>
                  <a:pt x="5288203" y="70630"/>
                </a:cubicBezTo>
                <a:lnTo>
                  <a:pt x="5288203" y="979947"/>
                </a:lnTo>
                <a:cubicBezTo>
                  <a:pt x="5288203" y="1018956"/>
                  <a:pt x="5256580" y="1050578"/>
                  <a:pt x="5217572" y="1050578"/>
                </a:cubicBezTo>
                <a:lnTo>
                  <a:pt x="70630" y="1050578"/>
                </a:lnTo>
                <a:cubicBezTo>
                  <a:pt x="31622" y="1050578"/>
                  <a:pt x="0" y="1018956"/>
                  <a:pt x="0" y="979947"/>
                </a:cubicBezTo>
                <a:lnTo>
                  <a:pt x="0" y="70630"/>
                </a:lnTo>
                <a:cubicBezTo>
                  <a:pt x="0" y="31648"/>
                  <a:pt x="31648" y="0"/>
                  <a:pt x="70630" y="0"/>
                </a:cubicBezTo>
                <a:close/>
              </a:path>
            </a:pathLst>
          </a:custGeom>
          <a:solidFill>
            <a:srgbClr val="0F172A"/>
          </a:solidFill>
          <a:ln/>
        </p:spPr>
      </p:sp>
      <p:sp>
        <p:nvSpPr>
          <p:cNvPr id="12" name="Text 10"/>
          <p:cNvSpPr/>
          <p:nvPr/>
        </p:nvSpPr>
        <p:spPr>
          <a:xfrm>
            <a:off x="644472" y="2480776"/>
            <a:ext cx="5146949" cy="211881"/>
          </a:xfrm>
          <a:prstGeom prst="rect">
            <a:avLst/>
          </a:prstGeom>
          <a:noFill/>
          <a:ln/>
        </p:spPr>
        <p:txBody>
          <a:bodyPr wrap="square" lIns="0" tIns="0" rIns="0" bIns="0" rtlCol="0" anchor="ctr"/>
          <a:lstStyle/>
          <a:p>
            <a:pPr>
              <a:lnSpc>
                <a:spcPct val="130000"/>
              </a:lnSpc>
            </a:pPr>
            <a:r>
              <a:rPr lang="en-US" sz="1112" b="1" dirty="0">
                <a:solidFill>
                  <a:srgbClr val="F1F5F9"/>
                </a:solidFill>
                <a:latin typeface="MiSans" pitchFamily="34" charset="0"/>
                <a:ea typeface="MiSans" pitchFamily="34" charset="-122"/>
                <a:cs typeface="MiSans" pitchFamily="34" charset="-120"/>
              </a:rPr>
              <a:t>Cách chạy:</a:t>
            </a:r>
            <a:endParaRPr lang="en-US" sz="1600" dirty="0"/>
          </a:p>
        </p:txBody>
      </p:sp>
      <p:sp>
        <p:nvSpPr>
          <p:cNvPr id="13" name="Shape 11"/>
          <p:cNvSpPr/>
          <p:nvPr/>
        </p:nvSpPr>
        <p:spPr>
          <a:xfrm>
            <a:off x="644472" y="2763285"/>
            <a:ext cx="5076322" cy="556188"/>
          </a:xfrm>
          <a:custGeom>
            <a:avLst/>
            <a:gdLst/>
            <a:ahLst/>
            <a:cxnLst/>
            <a:rect l="l" t="t" r="r" b="b"/>
            <a:pathLst>
              <a:path w="5076322" h="556188">
                <a:moveTo>
                  <a:pt x="70625" y="0"/>
                </a:moveTo>
                <a:lnTo>
                  <a:pt x="5005697" y="0"/>
                </a:lnTo>
                <a:cubicBezTo>
                  <a:pt x="5044702" y="0"/>
                  <a:pt x="5076322" y="31620"/>
                  <a:pt x="5076322" y="70625"/>
                </a:cubicBezTo>
                <a:lnTo>
                  <a:pt x="5076322" y="485563"/>
                </a:lnTo>
                <a:cubicBezTo>
                  <a:pt x="5076322" y="524568"/>
                  <a:pt x="5044702" y="556188"/>
                  <a:pt x="5005697" y="556188"/>
                </a:cubicBezTo>
                <a:lnTo>
                  <a:pt x="70625" y="556188"/>
                </a:lnTo>
                <a:cubicBezTo>
                  <a:pt x="31646" y="556188"/>
                  <a:pt x="0" y="524542"/>
                  <a:pt x="0" y="485563"/>
                </a:cubicBezTo>
                <a:lnTo>
                  <a:pt x="0" y="70625"/>
                </a:lnTo>
                <a:cubicBezTo>
                  <a:pt x="0" y="31620"/>
                  <a:pt x="31620" y="0"/>
                  <a:pt x="70625" y="0"/>
                </a:cubicBezTo>
                <a:close/>
              </a:path>
            </a:pathLst>
          </a:custGeom>
          <a:solidFill>
            <a:srgbClr val="1E293B"/>
          </a:solidFill>
          <a:ln/>
        </p:spPr>
      </p:sp>
      <p:sp>
        <p:nvSpPr>
          <p:cNvPr id="14" name="Text 12"/>
          <p:cNvSpPr/>
          <p:nvPr/>
        </p:nvSpPr>
        <p:spPr>
          <a:xfrm>
            <a:off x="750413" y="2886882"/>
            <a:ext cx="120563" cy="132426"/>
          </a:xfrm>
          <a:prstGeom prst="rect">
            <a:avLst/>
          </a:prstGeom>
          <a:noFill/>
          <a:ln/>
        </p:spPr>
        <p:txBody>
          <a:bodyPr wrap="square" lIns="0" tIns="0" rIns="0" bIns="0" rtlCol="0" anchor="ctr"/>
          <a:lstStyle/>
          <a:p>
            <a:pPr>
              <a:lnSpc>
                <a:spcPct val="120000"/>
              </a:lnSpc>
            </a:pPr>
            <a:r>
              <a:rPr lang="en-US" sz="904" dirty="0">
                <a:solidFill>
                  <a:srgbClr val="F1F5F9">
                    <a:alpha val="50000"/>
                  </a:srgbClr>
                </a:solidFill>
                <a:latin typeface="MiSans" pitchFamily="34" charset="0"/>
                <a:ea typeface="MiSans" pitchFamily="34" charset="-122"/>
                <a:cs typeface="MiSans" pitchFamily="34" charset="-120"/>
              </a:rPr>
              <a:t>$</a:t>
            </a:r>
            <a:endParaRPr lang="en-US" sz="1600" dirty="0"/>
          </a:p>
        </p:txBody>
      </p:sp>
      <p:sp>
        <p:nvSpPr>
          <p:cNvPr id="15" name="Text 13"/>
          <p:cNvSpPr/>
          <p:nvPr/>
        </p:nvSpPr>
        <p:spPr>
          <a:xfrm>
            <a:off x="876769" y="2886882"/>
            <a:ext cx="1634907" cy="132426"/>
          </a:xfrm>
          <a:prstGeom prst="rect">
            <a:avLst/>
          </a:prstGeom>
          <a:noFill/>
          <a:ln/>
        </p:spPr>
        <p:txBody>
          <a:bodyPr wrap="square" lIns="0" tIns="0" rIns="0" bIns="0" rtlCol="0" anchor="ctr"/>
          <a:lstStyle/>
          <a:p>
            <a:pPr>
              <a:lnSpc>
                <a:spcPct val="120000"/>
              </a:lnSpc>
            </a:pPr>
            <a:r>
              <a:rPr lang="en-US" sz="904" dirty="0">
                <a:solidFill>
                  <a:srgbClr val="10B981"/>
                </a:solidFill>
                <a:latin typeface="MiSans" pitchFamily="34" charset="0"/>
                <a:ea typeface="MiSans" pitchFamily="34" charset="-122"/>
                <a:cs typeface="MiSans" pitchFamily="34" charset="-120"/>
              </a:rPr>
              <a:t>python -m memory_profiler</a:t>
            </a:r>
            <a:endParaRPr lang="en-US" sz="1600" dirty="0"/>
          </a:p>
        </p:txBody>
      </p:sp>
      <p:sp>
        <p:nvSpPr>
          <p:cNvPr id="16" name="Text 14"/>
          <p:cNvSpPr/>
          <p:nvPr/>
        </p:nvSpPr>
        <p:spPr>
          <a:xfrm>
            <a:off x="750413" y="3059035"/>
            <a:ext cx="1193211" cy="132426"/>
          </a:xfrm>
          <a:prstGeom prst="rect">
            <a:avLst/>
          </a:prstGeom>
          <a:noFill/>
          <a:ln/>
        </p:spPr>
        <p:txBody>
          <a:bodyPr wrap="square" lIns="0" tIns="0" rIns="0" bIns="0" rtlCol="0" anchor="ctr"/>
          <a:lstStyle/>
          <a:p>
            <a:pPr>
              <a:lnSpc>
                <a:spcPct val="120000"/>
              </a:lnSpc>
            </a:pPr>
            <a:r>
              <a:rPr lang="en-US" sz="904" dirty="0">
                <a:solidFill>
                  <a:srgbClr val="10B981"/>
                </a:solidFill>
                <a:latin typeface="MiSans" pitchFamily="34" charset="0"/>
                <a:ea typeface="MiSans" pitchFamily="34" charset="-122"/>
                <a:cs typeface="MiSans" pitchFamily="34" charset="-120"/>
              </a:rPr>
              <a:t>profile_space.py</a:t>
            </a:r>
            <a:endParaRPr lang="en-US" sz="1600" dirty="0"/>
          </a:p>
        </p:txBody>
      </p:sp>
      <p:sp>
        <p:nvSpPr>
          <p:cNvPr id="17" name="Shape 15"/>
          <p:cNvSpPr/>
          <p:nvPr/>
        </p:nvSpPr>
        <p:spPr>
          <a:xfrm>
            <a:off x="357550" y="3756478"/>
            <a:ext cx="5650167" cy="2463119"/>
          </a:xfrm>
          <a:custGeom>
            <a:avLst/>
            <a:gdLst/>
            <a:ahLst/>
            <a:cxnLst/>
            <a:rect l="l" t="t" r="r" b="b"/>
            <a:pathLst>
              <a:path w="5650167" h="2463119">
                <a:moveTo>
                  <a:pt x="105939" y="0"/>
                </a:moveTo>
                <a:lnTo>
                  <a:pt x="5544228" y="0"/>
                </a:lnTo>
                <a:cubicBezTo>
                  <a:pt x="5602736" y="0"/>
                  <a:pt x="5650167" y="47430"/>
                  <a:pt x="5650167" y="105939"/>
                </a:cubicBezTo>
                <a:lnTo>
                  <a:pt x="5650167" y="2357181"/>
                </a:lnTo>
                <a:cubicBezTo>
                  <a:pt x="5650167" y="2415689"/>
                  <a:pt x="5602736" y="2463119"/>
                  <a:pt x="5544228" y="2463119"/>
                </a:cubicBezTo>
                <a:lnTo>
                  <a:pt x="105939" y="2463119"/>
                </a:lnTo>
                <a:cubicBezTo>
                  <a:pt x="47470" y="2463119"/>
                  <a:pt x="0" y="2415650"/>
                  <a:pt x="0" y="2357181"/>
                </a:cubicBezTo>
                <a:lnTo>
                  <a:pt x="0" y="105939"/>
                </a:lnTo>
                <a:cubicBezTo>
                  <a:pt x="0" y="47470"/>
                  <a:pt x="47470" y="0"/>
                  <a:pt x="105939" y="0"/>
                </a:cubicBezTo>
                <a:close/>
              </a:path>
            </a:pathLst>
          </a:custGeom>
          <a:solidFill>
            <a:srgbClr val="0F172A"/>
          </a:solidFill>
          <a:ln w="12700">
            <a:solidFill>
              <a:srgbClr val="3B82F6">
                <a:alpha val="30196"/>
              </a:srgbClr>
            </a:solidFill>
            <a:prstDash val="solid"/>
          </a:ln>
        </p:spPr>
      </p:sp>
      <p:sp>
        <p:nvSpPr>
          <p:cNvPr id="18" name="Text 16"/>
          <p:cNvSpPr/>
          <p:nvPr/>
        </p:nvSpPr>
        <p:spPr>
          <a:xfrm>
            <a:off x="503218" y="3902146"/>
            <a:ext cx="5438285" cy="247195"/>
          </a:xfrm>
          <a:prstGeom prst="rect">
            <a:avLst/>
          </a:prstGeom>
          <a:noFill/>
          <a:ln/>
        </p:spPr>
        <p:txBody>
          <a:bodyPr wrap="square" lIns="0" tIns="0" rIns="0" bIns="0" rtlCol="0" anchor="ctr"/>
          <a:lstStyle/>
          <a:p>
            <a:pPr>
              <a:lnSpc>
                <a:spcPct val="130000"/>
              </a:lnSpc>
            </a:pPr>
            <a:r>
              <a:rPr lang="en-US" sz="1251" b="1" dirty="0">
                <a:solidFill>
                  <a:srgbClr val="3B82F6"/>
                </a:solidFill>
                <a:latin typeface="MiSans" pitchFamily="34" charset="0"/>
                <a:ea typeface="MiSans" pitchFamily="34" charset="-122"/>
                <a:cs typeface="MiSans" pitchFamily="34" charset="-120"/>
              </a:rPr>
              <a:t>Hàm get_top_video</a:t>
            </a:r>
            <a:endParaRPr lang="en-US" sz="1600" dirty="0"/>
          </a:p>
        </p:txBody>
      </p:sp>
      <p:sp>
        <p:nvSpPr>
          <p:cNvPr id="19" name="Shape 17"/>
          <p:cNvSpPr/>
          <p:nvPr/>
        </p:nvSpPr>
        <p:spPr>
          <a:xfrm>
            <a:off x="503218" y="4255282"/>
            <a:ext cx="5358830" cy="900495"/>
          </a:xfrm>
          <a:custGeom>
            <a:avLst/>
            <a:gdLst/>
            <a:ahLst/>
            <a:cxnLst/>
            <a:rect l="l" t="t" r="r" b="b"/>
            <a:pathLst>
              <a:path w="5358830" h="900495">
                <a:moveTo>
                  <a:pt x="70626" y="0"/>
                </a:moveTo>
                <a:lnTo>
                  <a:pt x="5288204" y="0"/>
                </a:lnTo>
                <a:cubicBezTo>
                  <a:pt x="5327210" y="0"/>
                  <a:pt x="5358830" y="31620"/>
                  <a:pt x="5358830" y="70626"/>
                </a:cubicBezTo>
                <a:lnTo>
                  <a:pt x="5358830" y="829869"/>
                </a:lnTo>
                <a:cubicBezTo>
                  <a:pt x="5358830" y="868875"/>
                  <a:pt x="5327210" y="900495"/>
                  <a:pt x="5288204" y="900495"/>
                </a:cubicBezTo>
                <a:lnTo>
                  <a:pt x="70626" y="900495"/>
                </a:lnTo>
                <a:cubicBezTo>
                  <a:pt x="31620" y="900495"/>
                  <a:pt x="0" y="868875"/>
                  <a:pt x="0" y="829869"/>
                </a:cubicBezTo>
                <a:lnTo>
                  <a:pt x="0" y="70626"/>
                </a:lnTo>
                <a:cubicBezTo>
                  <a:pt x="0" y="31620"/>
                  <a:pt x="31620" y="0"/>
                  <a:pt x="70626" y="0"/>
                </a:cubicBezTo>
                <a:close/>
              </a:path>
            </a:pathLst>
          </a:custGeom>
          <a:solidFill>
            <a:srgbClr val="1E293B"/>
          </a:solidFill>
          <a:ln/>
        </p:spPr>
      </p:sp>
      <p:sp>
        <p:nvSpPr>
          <p:cNvPr id="20" name="Text 18"/>
          <p:cNvSpPr/>
          <p:nvPr/>
        </p:nvSpPr>
        <p:spPr>
          <a:xfrm>
            <a:off x="503218" y="4255282"/>
            <a:ext cx="5416214" cy="900495"/>
          </a:xfrm>
          <a:prstGeom prst="rect">
            <a:avLst/>
          </a:prstGeom>
          <a:noFill/>
          <a:ln/>
        </p:spPr>
        <p:txBody>
          <a:bodyPr wrap="square" lIns="105941" tIns="105941" rIns="105941" bIns="105941" rtlCol="0" anchor="ctr"/>
          <a:lstStyle/>
          <a:p>
            <a:pPr>
              <a:lnSpc>
                <a:spcPct val="120000"/>
              </a:lnSpc>
            </a:pPr>
            <a:r>
              <a:rPr lang="en-US" sz="904" dirty="0">
                <a:solidFill>
                  <a:srgbClr val="8B5CF6"/>
                </a:solidFill>
                <a:latin typeface="MiSans" pitchFamily="34" charset="0"/>
                <a:ea typeface="MiSans" pitchFamily="34" charset="-122"/>
                <a:cs typeface="MiSans" pitchFamily="34" charset="-120"/>
              </a:rPr>
              <a:t>def</a:t>
            </a:r>
            <a:pPr>
              <a:lnSpc>
                <a:spcPct val="120000"/>
              </a:lnSpc>
            </a:pPr>
            <a:r>
              <a:rPr lang="en-US" sz="904" dirty="0">
                <a:solidFill>
                  <a:srgbClr val="3B82F6"/>
                </a:solidFill>
                <a:latin typeface="MiSans" pitchFamily="34" charset="0"/>
                <a:ea typeface="MiSans" pitchFamily="34" charset="-122"/>
                <a:cs typeface="MiSans" pitchFamily="34" charset="-120"/>
              </a:rPr>
              <a:t>get_top_video</a:t>
            </a:r>
            <a:pPr>
              <a:lnSpc>
                <a:spcPct val="120000"/>
              </a:lnSpc>
            </a:pPr>
            <a:r>
              <a:rPr lang="en-US" sz="904" dirty="0">
                <a:solidFill>
                  <a:srgbClr val="F1F5F9"/>
                </a:solidFill>
                <a:latin typeface="MiSans" pitchFamily="34" charset="0"/>
                <a:ea typeface="MiSans" pitchFamily="34" charset="-122"/>
                <a:cs typeface="MiSans" pitchFamily="34" charset="-120"/>
              </a:rPr>
              <a:t>(path):</a:t>
            </a:r>
            <a:endParaRPr lang="en-US" sz="1600" dirty="0"/>
          </a:p>
          <a:p>
            <a:pPr>
              <a:lnSpc>
                <a:spcPct val="120000"/>
              </a:lnSpc>
            </a:pPr>
            <a:r>
              <a:rPr lang="en-US" sz="904" dirty="0">
                <a:solidFill>
                  <a:srgbClr val="F1F5F9"/>
                </a:solidFill>
                <a:latin typeface="MiSans" pitchFamily="34" charset="0"/>
                <a:ea typeface="MiSans" pitchFamily="34" charset="-122"/>
                <a:cs typeface="MiSans" pitchFamily="34" charset="-120"/>
              </a:rPr>
              <a:t>interactions = pd.read_csv(path)</a:t>
            </a:r>
            <a:endParaRPr lang="en-US" sz="1600" dirty="0"/>
          </a:p>
          <a:p>
            <a:pPr>
              <a:lnSpc>
                <a:spcPct val="120000"/>
              </a:lnSpc>
            </a:pPr>
            <a:r>
              <a:rPr lang="en-US" sz="904" dirty="0">
                <a:solidFill>
                  <a:srgbClr val="F1F5F9"/>
                </a:solidFill>
                <a:latin typeface="MiSans" pitchFamily="34" charset="0"/>
                <a:ea typeface="MiSans" pitchFamily="34" charset="-122"/>
                <a:cs typeface="MiSans" pitchFamily="34" charset="-120"/>
              </a:rPr>
              <a:t>avg_ratio = interactions.mean(axis=0)</a:t>
            </a:r>
            <a:endParaRPr lang="en-US" sz="1600" dirty="0"/>
          </a:p>
          <a:p>
            <a:pPr>
              <a:lnSpc>
                <a:spcPct val="120000"/>
              </a:lnSpc>
            </a:pPr>
            <a:r>
              <a:rPr lang="en-US" sz="904" dirty="0">
                <a:solidFill>
                  <a:srgbClr val="8B5CF6"/>
                </a:solidFill>
                <a:latin typeface="MiSans" pitchFamily="34" charset="0"/>
                <a:ea typeface="MiSans" pitchFamily="34" charset="-122"/>
                <a:cs typeface="MiSans" pitchFamily="34" charset="-120"/>
              </a:rPr>
              <a:t>return</a:t>
            </a:r>
            <a:pPr>
              <a:lnSpc>
                <a:spcPct val="120000"/>
              </a:lnSpc>
            </a:pPr>
            <a:r>
              <a:rPr lang="en-US" sz="904" dirty="0">
                <a:solidFill>
                  <a:srgbClr val="F1F5F9"/>
                </a:solidFill>
                <a:latin typeface="MiSans" pitchFamily="34" charset="0"/>
                <a:ea typeface="MiSans" pitchFamily="34" charset="-122"/>
                <a:cs typeface="MiSans" pitchFamily="34" charset="-120"/>
              </a:rPr>
              <a:t> avg_ratio.idxmax()</a:t>
            </a:r>
            <a:endParaRPr lang="en-US" sz="1600" dirty="0"/>
          </a:p>
        </p:txBody>
      </p:sp>
      <p:sp>
        <p:nvSpPr>
          <p:cNvPr id="21" name="Shape 19"/>
          <p:cNvSpPr/>
          <p:nvPr/>
        </p:nvSpPr>
        <p:spPr>
          <a:xfrm>
            <a:off x="503218" y="5261718"/>
            <a:ext cx="5358830" cy="812211"/>
          </a:xfrm>
          <a:custGeom>
            <a:avLst/>
            <a:gdLst/>
            <a:ahLst/>
            <a:cxnLst/>
            <a:rect l="l" t="t" r="r" b="b"/>
            <a:pathLst>
              <a:path w="5358830" h="812211">
                <a:moveTo>
                  <a:pt x="70630" y="0"/>
                </a:moveTo>
                <a:lnTo>
                  <a:pt x="5288200" y="0"/>
                </a:lnTo>
                <a:cubicBezTo>
                  <a:pt x="5327208" y="0"/>
                  <a:pt x="5358830" y="31622"/>
                  <a:pt x="5358830" y="70630"/>
                </a:cubicBezTo>
                <a:lnTo>
                  <a:pt x="5358830" y="741582"/>
                </a:lnTo>
                <a:cubicBezTo>
                  <a:pt x="5358830" y="780589"/>
                  <a:pt x="5327208" y="812211"/>
                  <a:pt x="5288200" y="812211"/>
                </a:cubicBezTo>
                <a:lnTo>
                  <a:pt x="70630" y="812211"/>
                </a:lnTo>
                <a:cubicBezTo>
                  <a:pt x="31648" y="812211"/>
                  <a:pt x="0" y="780563"/>
                  <a:pt x="0" y="741582"/>
                </a:cubicBezTo>
                <a:lnTo>
                  <a:pt x="0" y="70630"/>
                </a:lnTo>
                <a:cubicBezTo>
                  <a:pt x="0" y="31648"/>
                  <a:pt x="31648" y="0"/>
                  <a:pt x="70630" y="0"/>
                </a:cubicBezTo>
                <a:close/>
              </a:path>
            </a:pathLst>
          </a:custGeom>
          <a:solidFill>
            <a:srgbClr val="1E293B"/>
          </a:solidFill>
          <a:ln/>
        </p:spPr>
      </p:sp>
      <p:sp>
        <p:nvSpPr>
          <p:cNvPr id="22" name="Text 20"/>
          <p:cNvSpPr/>
          <p:nvPr/>
        </p:nvSpPr>
        <p:spPr>
          <a:xfrm>
            <a:off x="609159" y="5367658"/>
            <a:ext cx="5208747" cy="353135"/>
          </a:xfrm>
          <a:prstGeom prst="rect">
            <a:avLst/>
          </a:prstGeom>
          <a:noFill/>
          <a:ln/>
        </p:spPr>
        <p:txBody>
          <a:bodyPr wrap="square" lIns="0" tIns="0" rIns="0" bIns="0" rtlCol="0" anchor="ctr"/>
          <a:lstStyle/>
          <a:p>
            <a:pPr>
              <a:lnSpc>
                <a:spcPct val="120000"/>
              </a:lnSpc>
            </a:pPr>
            <a:r>
              <a:rPr lang="en-US" sz="973" b="1" dirty="0">
                <a:solidFill>
                  <a:srgbClr val="F1F5F9">
                    <a:alpha val="80000"/>
                  </a:srgbClr>
                </a:solidFill>
                <a:latin typeface="MiSans" pitchFamily="34" charset="0"/>
                <a:ea typeface="MiSans" pitchFamily="34" charset="-122"/>
                <a:cs typeface="MiSans" pitchFamily="34" charset="-120"/>
              </a:rPr>
              <a:t>Chức năng:</a:t>
            </a:r>
            <a:pPr>
              <a:lnSpc>
                <a:spcPct val="120000"/>
              </a:lnSpc>
            </a:pPr>
            <a:r>
              <a:rPr lang="en-US" sz="973" dirty="0">
                <a:solidFill>
                  <a:srgbClr val="F1F5F9">
                    <a:alpha val="80000"/>
                  </a:srgbClr>
                </a:solidFill>
                <a:latin typeface="MiSans" pitchFamily="34" charset="0"/>
                <a:ea typeface="MiSans" pitchFamily="34" charset="-122"/>
                <a:cs typeface="MiSans" pitchFamily="34" charset="-120"/>
              </a:rPr>
              <a:t> Đọc file CSV chứa dữ liệu xem video và trả về video có tỷ lệ xem trung bình cao nhất</a:t>
            </a:r>
            <a:endParaRPr lang="en-US" sz="1600" dirty="0"/>
          </a:p>
        </p:txBody>
      </p:sp>
      <p:sp>
        <p:nvSpPr>
          <p:cNvPr id="23" name="Text 21"/>
          <p:cNvSpPr/>
          <p:nvPr/>
        </p:nvSpPr>
        <p:spPr>
          <a:xfrm>
            <a:off x="609159" y="5791421"/>
            <a:ext cx="5208747" cy="176568"/>
          </a:xfrm>
          <a:prstGeom prst="rect">
            <a:avLst/>
          </a:prstGeom>
          <a:noFill/>
          <a:ln/>
        </p:spPr>
        <p:txBody>
          <a:bodyPr wrap="square" lIns="0" tIns="0" rIns="0" bIns="0" rtlCol="0" anchor="ctr"/>
          <a:lstStyle/>
          <a:p>
            <a:pPr>
              <a:lnSpc>
                <a:spcPct val="120000"/>
              </a:lnSpc>
            </a:pPr>
            <a:r>
              <a:rPr lang="en-US" sz="973" b="1" dirty="0">
                <a:solidFill>
                  <a:srgbClr val="8B5CF6"/>
                </a:solidFill>
                <a:latin typeface="MiSans" pitchFamily="34" charset="0"/>
                <a:ea typeface="MiSans" pitchFamily="34" charset="-122"/>
                <a:cs typeface="MiSans" pitchFamily="34" charset="-120"/>
              </a:rPr>
              <a:t>Độ phức tạp không gian:</a:t>
            </a:r>
            <a:pPr>
              <a:lnSpc>
                <a:spcPct val="120000"/>
              </a:lnSpc>
            </a:pPr>
            <a:r>
              <a:rPr lang="en-US" sz="973" dirty="0">
                <a:solidFill>
                  <a:srgbClr val="8B5CF6"/>
                </a:solidFill>
                <a:latin typeface="MiSans" pitchFamily="34" charset="0"/>
                <a:ea typeface="MiSans" pitchFamily="34" charset="-122"/>
                <a:cs typeface="MiSans" pitchFamily="34" charset="-120"/>
              </a:rPr>
              <a:t> O(m×n)</a:t>
            </a:r>
            <a:endParaRPr lang="en-US" sz="1600" dirty="0"/>
          </a:p>
        </p:txBody>
      </p:sp>
      <p:sp>
        <p:nvSpPr>
          <p:cNvPr id="24" name="Shape 22"/>
          <p:cNvSpPr/>
          <p:nvPr/>
        </p:nvSpPr>
        <p:spPr>
          <a:xfrm>
            <a:off x="6190077" y="1063820"/>
            <a:ext cx="5650167" cy="4325909"/>
          </a:xfrm>
          <a:custGeom>
            <a:avLst/>
            <a:gdLst/>
            <a:ahLst/>
            <a:cxnLst/>
            <a:rect l="l" t="t" r="r" b="b"/>
            <a:pathLst>
              <a:path w="5650167" h="4325909">
                <a:moveTo>
                  <a:pt x="105942" y="0"/>
                </a:moveTo>
                <a:lnTo>
                  <a:pt x="5544225" y="0"/>
                </a:lnTo>
                <a:cubicBezTo>
                  <a:pt x="5602735" y="0"/>
                  <a:pt x="5650167" y="47432"/>
                  <a:pt x="5650167" y="105942"/>
                </a:cubicBezTo>
                <a:lnTo>
                  <a:pt x="5650167" y="4219967"/>
                </a:lnTo>
                <a:cubicBezTo>
                  <a:pt x="5650167" y="4278477"/>
                  <a:pt x="5602735" y="4325909"/>
                  <a:pt x="5544225" y="4325909"/>
                </a:cubicBezTo>
                <a:lnTo>
                  <a:pt x="105942" y="4325909"/>
                </a:lnTo>
                <a:cubicBezTo>
                  <a:pt x="47432" y="4325909"/>
                  <a:pt x="0" y="4278477"/>
                  <a:pt x="0" y="4219967"/>
                </a:cubicBezTo>
                <a:lnTo>
                  <a:pt x="0" y="105942"/>
                </a:lnTo>
                <a:cubicBezTo>
                  <a:pt x="0" y="47432"/>
                  <a:pt x="47432" y="0"/>
                  <a:pt x="105942"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5" name="Shape 23"/>
          <p:cNvSpPr/>
          <p:nvPr/>
        </p:nvSpPr>
        <p:spPr>
          <a:xfrm>
            <a:off x="6393130" y="1280116"/>
            <a:ext cx="176568" cy="176568"/>
          </a:xfrm>
          <a:custGeom>
            <a:avLst/>
            <a:gdLst/>
            <a:ahLst/>
            <a:cxnLst/>
            <a:rect l="l" t="t" r="r" b="b"/>
            <a:pathLst>
              <a:path w="176568" h="176568">
                <a:moveTo>
                  <a:pt x="11035" y="11035"/>
                </a:moveTo>
                <a:cubicBezTo>
                  <a:pt x="17139" y="11035"/>
                  <a:pt x="22071" y="15967"/>
                  <a:pt x="22071" y="22071"/>
                </a:cubicBezTo>
                <a:lnTo>
                  <a:pt x="22071" y="137944"/>
                </a:lnTo>
                <a:cubicBezTo>
                  <a:pt x="22071" y="140978"/>
                  <a:pt x="24554" y="143461"/>
                  <a:pt x="27589" y="143461"/>
                </a:cubicBezTo>
                <a:lnTo>
                  <a:pt x="165532" y="143461"/>
                </a:lnTo>
                <a:cubicBezTo>
                  <a:pt x="171636" y="143461"/>
                  <a:pt x="176568" y="148393"/>
                  <a:pt x="176568" y="154497"/>
                </a:cubicBezTo>
                <a:cubicBezTo>
                  <a:pt x="176568" y="160601"/>
                  <a:pt x="171636" y="165532"/>
                  <a:pt x="165532" y="165532"/>
                </a:cubicBezTo>
                <a:lnTo>
                  <a:pt x="27589" y="165532"/>
                </a:lnTo>
                <a:cubicBezTo>
                  <a:pt x="12346" y="165532"/>
                  <a:pt x="0" y="153186"/>
                  <a:pt x="0" y="137944"/>
                </a:cubicBezTo>
                <a:lnTo>
                  <a:pt x="0" y="22071"/>
                </a:lnTo>
                <a:cubicBezTo>
                  <a:pt x="0" y="15967"/>
                  <a:pt x="4931" y="11035"/>
                  <a:pt x="11035" y="11035"/>
                </a:cubicBezTo>
                <a:close/>
                <a:moveTo>
                  <a:pt x="44142" y="33106"/>
                </a:moveTo>
                <a:cubicBezTo>
                  <a:pt x="44142" y="27002"/>
                  <a:pt x="49073" y="22071"/>
                  <a:pt x="55177" y="22071"/>
                </a:cubicBezTo>
                <a:lnTo>
                  <a:pt x="121390" y="22071"/>
                </a:lnTo>
                <a:cubicBezTo>
                  <a:pt x="127494" y="22071"/>
                  <a:pt x="132426" y="27002"/>
                  <a:pt x="132426" y="33106"/>
                </a:cubicBezTo>
                <a:cubicBezTo>
                  <a:pt x="132426" y="39210"/>
                  <a:pt x="127494" y="44142"/>
                  <a:pt x="121390" y="44142"/>
                </a:cubicBezTo>
                <a:lnTo>
                  <a:pt x="55177" y="44142"/>
                </a:lnTo>
                <a:cubicBezTo>
                  <a:pt x="49073" y="44142"/>
                  <a:pt x="44142" y="39210"/>
                  <a:pt x="44142" y="33106"/>
                </a:cubicBezTo>
                <a:close/>
                <a:moveTo>
                  <a:pt x="55177" y="60695"/>
                </a:moveTo>
                <a:lnTo>
                  <a:pt x="99319" y="60695"/>
                </a:lnTo>
                <a:cubicBezTo>
                  <a:pt x="105423" y="60695"/>
                  <a:pt x="110355" y="65627"/>
                  <a:pt x="110355" y="71731"/>
                </a:cubicBezTo>
                <a:cubicBezTo>
                  <a:pt x="110355" y="77835"/>
                  <a:pt x="105423" y="82766"/>
                  <a:pt x="99319" y="82766"/>
                </a:cubicBezTo>
                <a:lnTo>
                  <a:pt x="55177" y="82766"/>
                </a:lnTo>
                <a:cubicBezTo>
                  <a:pt x="49073" y="82766"/>
                  <a:pt x="44142" y="77835"/>
                  <a:pt x="44142" y="71731"/>
                </a:cubicBezTo>
                <a:cubicBezTo>
                  <a:pt x="44142" y="65627"/>
                  <a:pt x="49073" y="60695"/>
                  <a:pt x="55177" y="60695"/>
                </a:cubicBezTo>
                <a:close/>
                <a:moveTo>
                  <a:pt x="55177" y="99319"/>
                </a:moveTo>
                <a:lnTo>
                  <a:pt x="143461" y="99319"/>
                </a:lnTo>
                <a:cubicBezTo>
                  <a:pt x="149565" y="99319"/>
                  <a:pt x="154497" y="104251"/>
                  <a:pt x="154497" y="110355"/>
                </a:cubicBezTo>
                <a:cubicBezTo>
                  <a:pt x="154497" y="116459"/>
                  <a:pt x="149565" y="121390"/>
                  <a:pt x="143461" y="121390"/>
                </a:cubicBezTo>
                <a:lnTo>
                  <a:pt x="55177" y="121390"/>
                </a:lnTo>
                <a:cubicBezTo>
                  <a:pt x="49073" y="121390"/>
                  <a:pt x="44142" y="116459"/>
                  <a:pt x="44142" y="110355"/>
                </a:cubicBezTo>
                <a:cubicBezTo>
                  <a:pt x="44142" y="104251"/>
                  <a:pt x="49073" y="99319"/>
                  <a:pt x="55177" y="99319"/>
                </a:cubicBezTo>
                <a:close/>
              </a:path>
            </a:pathLst>
          </a:custGeom>
          <a:solidFill>
            <a:srgbClr val="10B981"/>
          </a:solidFill>
          <a:ln/>
        </p:spPr>
      </p:sp>
      <p:sp>
        <p:nvSpPr>
          <p:cNvPr id="26" name="Text 24"/>
          <p:cNvSpPr/>
          <p:nvPr/>
        </p:nvSpPr>
        <p:spPr>
          <a:xfrm>
            <a:off x="6591769" y="1244802"/>
            <a:ext cx="5155777" cy="247195"/>
          </a:xfrm>
          <a:prstGeom prst="rect">
            <a:avLst/>
          </a:prstGeom>
          <a:noFill/>
          <a:ln/>
        </p:spPr>
        <p:txBody>
          <a:bodyPr wrap="square" lIns="0" tIns="0" rIns="0" bIns="0" rtlCol="0" anchor="ctr"/>
          <a:lstStyle/>
          <a:p>
            <a:pPr>
              <a:lnSpc>
                <a:spcPct val="120000"/>
              </a:lnSpc>
            </a:pPr>
            <a:r>
              <a:rPr lang="en-US" sz="1390" b="1" dirty="0">
                <a:solidFill>
                  <a:srgbClr val="10B981"/>
                </a:solidFill>
                <a:latin typeface="MiSans" pitchFamily="34" charset="0"/>
                <a:ea typeface="MiSans" pitchFamily="34" charset="-122"/>
                <a:cs typeface="MiSans" pitchFamily="34" charset="-120"/>
              </a:rPr>
              <a:t>Kết quả profiling</a:t>
            </a:r>
            <a:endParaRPr lang="en-US" sz="1600" dirty="0"/>
          </a:p>
        </p:txBody>
      </p:sp>
      <p:sp>
        <p:nvSpPr>
          <p:cNvPr id="27" name="Shape 25"/>
          <p:cNvSpPr/>
          <p:nvPr/>
        </p:nvSpPr>
        <p:spPr>
          <a:xfrm>
            <a:off x="6375474" y="1637665"/>
            <a:ext cx="5279374" cy="3566668"/>
          </a:xfrm>
          <a:custGeom>
            <a:avLst/>
            <a:gdLst/>
            <a:ahLst/>
            <a:cxnLst/>
            <a:rect l="l" t="t" r="r" b="b"/>
            <a:pathLst>
              <a:path w="5279374" h="3566668">
                <a:moveTo>
                  <a:pt x="70620" y="0"/>
                </a:moveTo>
                <a:lnTo>
                  <a:pt x="5208754" y="0"/>
                </a:lnTo>
                <a:cubicBezTo>
                  <a:pt x="5247757" y="0"/>
                  <a:pt x="5279374" y="31618"/>
                  <a:pt x="5279374" y="70620"/>
                </a:cubicBezTo>
                <a:lnTo>
                  <a:pt x="5279374" y="3496048"/>
                </a:lnTo>
                <a:cubicBezTo>
                  <a:pt x="5279374" y="3535050"/>
                  <a:pt x="5247757" y="3566668"/>
                  <a:pt x="5208754" y="3566668"/>
                </a:cubicBezTo>
                <a:lnTo>
                  <a:pt x="70620" y="3566668"/>
                </a:lnTo>
                <a:cubicBezTo>
                  <a:pt x="31618" y="3566668"/>
                  <a:pt x="0" y="3535050"/>
                  <a:pt x="0" y="3496048"/>
                </a:cubicBezTo>
                <a:lnTo>
                  <a:pt x="0" y="70620"/>
                </a:lnTo>
                <a:cubicBezTo>
                  <a:pt x="0" y="31644"/>
                  <a:pt x="31644" y="0"/>
                  <a:pt x="70620" y="0"/>
                </a:cubicBezTo>
                <a:close/>
              </a:path>
            </a:pathLst>
          </a:custGeom>
          <a:solidFill>
            <a:srgbClr val="0F172A"/>
          </a:solidFill>
          <a:ln w="12700">
            <a:solidFill>
              <a:srgbClr val="10B981">
                <a:alpha val="30196"/>
              </a:srgbClr>
            </a:solidFill>
            <a:prstDash val="solid"/>
          </a:ln>
        </p:spPr>
      </p:sp>
      <p:sp>
        <p:nvSpPr>
          <p:cNvPr id="28" name="Shape 26"/>
          <p:cNvSpPr/>
          <p:nvPr/>
        </p:nvSpPr>
        <p:spPr>
          <a:xfrm>
            <a:off x="6521142" y="1783334"/>
            <a:ext cx="4988038" cy="1933416"/>
          </a:xfrm>
          <a:custGeom>
            <a:avLst/>
            <a:gdLst/>
            <a:ahLst/>
            <a:cxnLst/>
            <a:rect l="l" t="t" r="r" b="b"/>
            <a:pathLst>
              <a:path w="4988038" h="1933416">
                <a:moveTo>
                  <a:pt x="70628" y="0"/>
                </a:moveTo>
                <a:lnTo>
                  <a:pt x="4917410" y="0"/>
                </a:lnTo>
                <a:cubicBezTo>
                  <a:pt x="4956417" y="0"/>
                  <a:pt x="4988038" y="31621"/>
                  <a:pt x="4988038" y="70628"/>
                </a:cubicBezTo>
                <a:lnTo>
                  <a:pt x="4988038" y="1862789"/>
                </a:lnTo>
                <a:cubicBezTo>
                  <a:pt x="4988038" y="1901795"/>
                  <a:pt x="4956417" y="1933416"/>
                  <a:pt x="4917410" y="1933416"/>
                </a:cubicBezTo>
                <a:lnTo>
                  <a:pt x="70628" y="1933416"/>
                </a:lnTo>
                <a:cubicBezTo>
                  <a:pt x="31621" y="1933416"/>
                  <a:pt x="0" y="1901795"/>
                  <a:pt x="0" y="1862789"/>
                </a:cubicBezTo>
                <a:lnTo>
                  <a:pt x="0" y="70628"/>
                </a:lnTo>
                <a:cubicBezTo>
                  <a:pt x="0" y="31647"/>
                  <a:pt x="31647" y="0"/>
                  <a:pt x="70628" y="0"/>
                </a:cubicBezTo>
                <a:close/>
              </a:path>
            </a:pathLst>
          </a:custGeom>
          <a:solidFill>
            <a:srgbClr val="1E293B"/>
          </a:solidFill>
          <a:ln/>
        </p:spPr>
      </p:sp>
      <p:sp>
        <p:nvSpPr>
          <p:cNvPr id="29" name="Text 27"/>
          <p:cNvSpPr/>
          <p:nvPr/>
        </p:nvSpPr>
        <p:spPr>
          <a:xfrm>
            <a:off x="6627083" y="1906931"/>
            <a:ext cx="1698085"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Line # Mem usage Increment</a:t>
            </a:r>
            <a:endParaRPr lang="en-US" sz="1600" dirty="0"/>
          </a:p>
        </p:txBody>
      </p:sp>
      <p:sp>
        <p:nvSpPr>
          <p:cNvPr id="30" name="Text 28"/>
          <p:cNvSpPr/>
          <p:nvPr/>
        </p:nvSpPr>
        <p:spPr>
          <a:xfrm>
            <a:off x="6627083" y="2079085"/>
            <a:ext cx="2076602"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a:t>
            </a:r>
            <a:endParaRPr lang="en-US" sz="1600" dirty="0"/>
          </a:p>
        </p:txBody>
      </p:sp>
      <p:sp>
        <p:nvSpPr>
          <p:cNvPr id="31" name="Text 29"/>
          <p:cNvSpPr/>
          <p:nvPr/>
        </p:nvSpPr>
        <p:spPr>
          <a:xfrm>
            <a:off x="6627083" y="2251238"/>
            <a:ext cx="1698085"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5 83.6 MiB 83.6 MiB</a:t>
            </a:r>
            <a:endParaRPr lang="en-US" sz="1600" dirty="0"/>
          </a:p>
        </p:txBody>
      </p:sp>
      <p:sp>
        <p:nvSpPr>
          <p:cNvPr id="32" name="Text 30"/>
          <p:cNvSpPr/>
          <p:nvPr/>
        </p:nvSpPr>
        <p:spPr>
          <a:xfrm>
            <a:off x="6627083" y="2423392"/>
            <a:ext cx="2265998"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6 @profile</a:t>
            </a:r>
            <a:endParaRPr lang="en-US" sz="1600" dirty="0"/>
          </a:p>
        </p:txBody>
      </p:sp>
      <p:sp>
        <p:nvSpPr>
          <p:cNvPr id="33" name="Text 31"/>
          <p:cNvSpPr/>
          <p:nvPr/>
        </p:nvSpPr>
        <p:spPr>
          <a:xfrm>
            <a:off x="6627083" y="2595545"/>
            <a:ext cx="1698085"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7 84.2 MiB 0.6 MiB</a:t>
            </a:r>
            <a:endParaRPr lang="en-US" sz="1600" dirty="0"/>
          </a:p>
        </p:txBody>
      </p:sp>
      <p:sp>
        <p:nvSpPr>
          <p:cNvPr id="34" name="Text 32"/>
          <p:cNvSpPr/>
          <p:nvPr/>
        </p:nvSpPr>
        <p:spPr>
          <a:xfrm>
            <a:off x="6627083" y="2767699"/>
            <a:ext cx="2581475"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interactions = pd.read_csv(path)</a:t>
            </a:r>
            <a:endParaRPr lang="en-US" sz="1600" dirty="0"/>
          </a:p>
        </p:txBody>
      </p:sp>
      <p:sp>
        <p:nvSpPr>
          <p:cNvPr id="35" name="Text 33"/>
          <p:cNvSpPr/>
          <p:nvPr/>
        </p:nvSpPr>
        <p:spPr>
          <a:xfrm>
            <a:off x="6627083" y="2939852"/>
            <a:ext cx="1698085"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8 84.5 MiB 0.3 MiB</a:t>
            </a:r>
            <a:endParaRPr lang="en-US" sz="1600" dirty="0"/>
          </a:p>
        </p:txBody>
      </p:sp>
      <p:sp>
        <p:nvSpPr>
          <p:cNvPr id="36" name="Text 34"/>
          <p:cNvSpPr/>
          <p:nvPr/>
        </p:nvSpPr>
        <p:spPr>
          <a:xfrm>
            <a:off x="6627083" y="3112006"/>
            <a:ext cx="2707693"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avg_ratio = interactions.mean(...)</a:t>
            </a:r>
            <a:endParaRPr lang="en-US" sz="1600" dirty="0"/>
          </a:p>
        </p:txBody>
      </p:sp>
      <p:sp>
        <p:nvSpPr>
          <p:cNvPr id="37" name="Text 35"/>
          <p:cNvSpPr/>
          <p:nvPr/>
        </p:nvSpPr>
        <p:spPr>
          <a:xfrm>
            <a:off x="6627083" y="3284159"/>
            <a:ext cx="1698085"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9 84.5 MiB 0.0 MiB</a:t>
            </a:r>
            <a:endParaRPr lang="en-US" sz="1600" dirty="0"/>
          </a:p>
        </p:txBody>
      </p:sp>
      <p:sp>
        <p:nvSpPr>
          <p:cNvPr id="38" name="Text 36"/>
          <p:cNvSpPr/>
          <p:nvPr/>
        </p:nvSpPr>
        <p:spPr>
          <a:xfrm>
            <a:off x="6627083" y="3456313"/>
            <a:ext cx="2139780" cy="132426"/>
          </a:xfrm>
          <a:prstGeom prst="rect">
            <a:avLst/>
          </a:prstGeom>
          <a:noFill/>
          <a:ln/>
        </p:spPr>
        <p:txBody>
          <a:bodyPr wrap="square" lIns="0" tIns="0" rIns="0" bIns="0" rtlCol="0" anchor="ctr"/>
          <a:lstStyle/>
          <a:p>
            <a:pPr>
              <a:lnSpc>
                <a:spcPct val="120000"/>
              </a:lnSpc>
            </a:pPr>
            <a:r>
              <a:rPr lang="en-US" sz="904" dirty="0">
                <a:solidFill>
                  <a:srgbClr val="F1F5F9"/>
                </a:solidFill>
                <a:latin typeface="MiSans" pitchFamily="34" charset="0"/>
                <a:ea typeface="MiSans" pitchFamily="34" charset="-122"/>
                <a:cs typeface="MiSans" pitchFamily="34" charset="-120"/>
              </a:rPr>
              <a:t>return avg_ratio.idxmax()</a:t>
            </a:r>
            <a:endParaRPr lang="en-US" sz="1600" dirty="0"/>
          </a:p>
        </p:txBody>
      </p:sp>
      <p:sp>
        <p:nvSpPr>
          <p:cNvPr id="39" name="Shape 37"/>
          <p:cNvSpPr/>
          <p:nvPr/>
        </p:nvSpPr>
        <p:spPr>
          <a:xfrm>
            <a:off x="6521142" y="3858004"/>
            <a:ext cx="4988038" cy="353135"/>
          </a:xfrm>
          <a:custGeom>
            <a:avLst/>
            <a:gdLst/>
            <a:ahLst/>
            <a:cxnLst/>
            <a:rect l="l" t="t" r="r" b="b"/>
            <a:pathLst>
              <a:path w="4988038" h="353135">
                <a:moveTo>
                  <a:pt x="70627" y="0"/>
                </a:moveTo>
                <a:lnTo>
                  <a:pt x="4917411" y="0"/>
                </a:lnTo>
                <a:cubicBezTo>
                  <a:pt x="4956417" y="0"/>
                  <a:pt x="4988038" y="31621"/>
                  <a:pt x="4988038" y="70627"/>
                </a:cubicBezTo>
                <a:lnTo>
                  <a:pt x="4988038" y="282508"/>
                </a:lnTo>
                <a:cubicBezTo>
                  <a:pt x="4988038" y="321515"/>
                  <a:pt x="4956417" y="353135"/>
                  <a:pt x="4917411" y="353135"/>
                </a:cubicBezTo>
                <a:lnTo>
                  <a:pt x="70627" y="353135"/>
                </a:lnTo>
                <a:cubicBezTo>
                  <a:pt x="31647" y="353135"/>
                  <a:pt x="0" y="321488"/>
                  <a:pt x="0" y="282508"/>
                </a:cubicBezTo>
                <a:lnTo>
                  <a:pt x="0" y="70627"/>
                </a:lnTo>
                <a:cubicBezTo>
                  <a:pt x="0" y="31621"/>
                  <a:pt x="31621" y="0"/>
                  <a:pt x="70627" y="0"/>
                </a:cubicBezTo>
                <a:close/>
              </a:path>
            </a:pathLst>
          </a:custGeom>
          <a:solidFill>
            <a:srgbClr val="1E293B"/>
          </a:solidFill>
          <a:ln/>
        </p:spPr>
      </p:sp>
      <p:sp>
        <p:nvSpPr>
          <p:cNvPr id="40" name="Text 38"/>
          <p:cNvSpPr/>
          <p:nvPr/>
        </p:nvSpPr>
        <p:spPr>
          <a:xfrm>
            <a:off x="6591769" y="3946288"/>
            <a:ext cx="1491997" cy="176568"/>
          </a:xfrm>
          <a:prstGeom prst="rect">
            <a:avLst/>
          </a:prstGeom>
          <a:noFill/>
          <a:ln/>
        </p:spPr>
        <p:txBody>
          <a:bodyPr wrap="square" lIns="0" tIns="0" rIns="0" bIns="0" rtlCol="0" anchor="ctr"/>
          <a:lstStyle/>
          <a:p>
            <a:pPr>
              <a:lnSpc>
                <a:spcPct val="120000"/>
              </a:lnSpc>
            </a:pPr>
            <a:r>
              <a:rPr lang="en-US" sz="973" dirty="0">
                <a:solidFill>
                  <a:srgbClr val="F1F5F9">
                    <a:alpha val="80000"/>
                  </a:srgbClr>
                </a:solidFill>
                <a:latin typeface="MiSans" pitchFamily="34" charset="0"/>
                <a:ea typeface="MiSans" pitchFamily="34" charset="-122"/>
                <a:cs typeface="MiSans" pitchFamily="34" charset="-120"/>
              </a:rPr>
              <a:t>Dòng 7: Đọc file 100×100</a:t>
            </a:r>
            <a:endParaRPr lang="en-US" sz="1600" dirty="0"/>
          </a:p>
        </p:txBody>
      </p:sp>
      <p:sp>
        <p:nvSpPr>
          <p:cNvPr id="41" name="Text 39"/>
          <p:cNvSpPr/>
          <p:nvPr/>
        </p:nvSpPr>
        <p:spPr>
          <a:xfrm>
            <a:off x="10933403" y="3928631"/>
            <a:ext cx="573845" cy="211881"/>
          </a:xfrm>
          <a:prstGeom prst="rect">
            <a:avLst/>
          </a:prstGeom>
          <a:noFill/>
          <a:ln/>
        </p:spPr>
        <p:txBody>
          <a:bodyPr wrap="square" lIns="0" tIns="0" rIns="0" bIns="0" rtlCol="0" anchor="ctr"/>
          <a:lstStyle/>
          <a:p>
            <a:pPr>
              <a:lnSpc>
                <a:spcPct val="130000"/>
              </a:lnSpc>
            </a:pPr>
            <a:r>
              <a:rPr lang="en-US" sz="1112" b="1" dirty="0">
                <a:solidFill>
                  <a:srgbClr val="EF4444"/>
                </a:solidFill>
                <a:latin typeface="MiSans" pitchFamily="34" charset="0"/>
                <a:ea typeface="MiSans" pitchFamily="34" charset="-122"/>
                <a:cs typeface="MiSans" pitchFamily="34" charset="-120"/>
              </a:rPr>
              <a:t>0.6 MiB</a:t>
            </a:r>
            <a:endParaRPr lang="en-US" sz="1600" dirty="0"/>
          </a:p>
        </p:txBody>
      </p:sp>
      <p:sp>
        <p:nvSpPr>
          <p:cNvPr id="42" name="Shape 40"/>
          <p:cNvSpPr/>
          <p:nvPr/>
        </p:nvSpPr>
        <p:spPr>
          <a:xfrm>
            <a:off x="6521142" y="4281767"/>
            <a:ext cx="4988038" cy="353135"/>
          </a:xfrm>
          <a:custGeom>
            <a:avLst/>
            <a:gdLst/>
            <a:ahLst/>
            <a:cxnLst/>
            <a:rect l="l" t="t" r="r" b="b"/>
            <a:pathLst>
              <a:path w="4988038" h="353135">
                <a:moveTo>
                  <a:pt x="70627" y="0"/>
                </a:moveTo>
                <a:lnTo>
                  <a:pt x="4917411" y="0"/>
                </a:lnTo>
                <a:cubicBezTo>
                  <a:pt x="4956417" y="0"/>
                  <a:pt x="4988038" y="31621"/>
                  <a:pt x="4988038" y="70627"/>
                </a:cubicBezTo>
                <a:lnTo>
                  <a:pt x="4988038" y="282508"/>
                </a:lnTo>
                <a:cubicBezTo>
                  <a:pt x="4988038" y="321515"/>
                  <a:pt x="4956417" y="353135"/>
                  <a:pt x="4917411" y="353135"/>
                </a:cubicBezTo>
                <a:lnTo>
                  <a:pt x="70627" y="353135"/>
                </a:lnTo>
                <a:cubicBezTo>
                  <a:pt x="31647" y="353135"/>
                  <a:pt x="0" y="321488"/>
                  <a:pt x="0" y="282508"/>
                </a:cubicBezTo>
                <a:lnTo>
                  <a:pt x="0" y="70627"/>
                </a:lnTo>
                <a:cubicBezTo>
                  <a:pt x="0" y="31621"/>
                  <a:pt x="31621" y="0"/>
                  <a:pt x="70627" y="0"/>
                </a:cubicBezTo>
                <a:close/>
              </a:path>
            </a:pathLst>
          </a:custGeom>
          <a:solidFill>
            <a:srgbClr val="1E293B"/>
          </a:solidFill>
          <a:ln/>
        </p:spPr>
      </p:sp>
      <p:sp>
        <p:nvSpPr>
          <p:cNvPr id="43" name="Text 41"/>
          <p:cNvSpPr/>
          <p:nvPr/>
        </p:nvSpPr>
        <p:spPr>
          <a:xfrm>
            <a:off x="6591769" y="4370051"/>
            <a:ext cx="1412542" cy="176568"/>
          </a:xfrm>
          <a:prstGeom prst="rect">
            <a:avLst/>
          </a:prstGeom>
          <a:noFill/>
          <a:ln/>
        </p:spPr>
        <p:txBody>
          <a:bodyPr wrap="square" lIns="0" tIns="0" rIns="0" bIns="0" rtlCol="0" anchor="ctr"/>
          <a:lstStyle/>
          <a:p>
            <a:pPr>
              <a:lnSpc>
                <a:spcPct val="120000"/>
              </a:lnSpc>
            </a:pPr>
            <a:r>
              <a:rPr lang="en-US" sz="973" dirty="0">
                <a:solidFill>
                  <a:srgbClr val="F1F5F9">
                    <a:alpha val="80000"/>
                  </a:srgbClr>
                </a:solidFill>
                <a:latin typeface="MiSans" pitchFamily="34" charset="0"/>
                <a:ea typeface="MiSans" pitchFamily="34" charset="-122"/>
                <a:cs typeface="MiSans" pitchFamily="34" charset="-120"/>
              </a:rPr>
              <a:t>Dòng 8: Tính trung bình</a:t>
            </a:r>
            <a:endParaRPr lang="en-US" sz="1600" dirty="0"/>
          </a:p>
        </p:txBody>
      </p:sp>
      <p:sp>
        <p:nvSpPr>
          <p:cNvPr id="44" name="Text 42"/>
          <p:cNvSpPr/>
          <p:nvPr/>
        </p:nvSpPr>
        <p:spPr>
          <a:xfrm>
            <a:off x="10935197" y="4352394"/>
            <a:ext cx="573845" cy="211881"/>
          </a:xfrm>
          <a:prstGeom prst="rect">
            <a:avLst/>
          </a:prstGeom>
          <a:noFill/>
          <a:ln/>
        </p:spPr>
        <p:txBody>
          <a:bodyPr wrap="square" lIns="0" tIns="0" rIns="0" bIns="0" rtlCol="0" anchor="ctr"/>
          <a:lstStyle/>
          <a:p>
            <a:pPr>
              <a:lnSpc>
                <a:spcPct val="130000"/>
              </a:lnSpc>
            </a:pPr>
            <a:r>
              <a:rPr lang="en-US" sz="1112" b="1" dirty="0">
                <a:solidFill>
                  <a:srgbClr val="F59E0B"/>
                </a:solidFill>
                <a:latin typeface="MiSans" pitchFamily="34" charset="0"/>
                <a:ea typeface="MiSans" pitchFamily="34" charset="-122"/>
                <a:cs typeface="MiSans" pitchFamily="34" charset="-120"/>
              </a:rPr>
              <a:t>0.3 MiB</a:t>
            </a:r>
            <a:endParaRPr lang="en-US" sz="1600" dirty="0"/>
          </a:p>
        </p:txBody>
      </p:sp>
      <p:sp>
        <p:nvSpPr>
          <p:cNvPr id="45" name="Shape 43"/>
          <p:cNvSpPr/>
          <p:nvPr/>
        </p:nvSpPr>
        <p:spPr>
          <a:xfrm>
            <a:off x="6521142" y="4705529"/>
            <a:ext cx="4988038" cy="353135"/>
          </a:xfrm>
          <a:custGeom>
            <a:avLst/>
            <a:gdLst/>
            <a:ahLst/>
            <a:cxnLst/>
            <a:rect l="l" t="t" r="r" b="b"/>
            <a:pathLst>
              <a:path w="4988038" h="353135">
                <a:moveTo>
                  <a:pt x="70627" y="0"/>
                </a:moveTo>
                <a:lnTo>
                  <a:pt x="4917411" y="0"/>
                </a:lnTo>
                <a:cubicBezTo>
                  <a:pt x="4956417" y="0"/>
                  <a:pt x="4988038" y="31621"/>
                  <a:pt x="4988038" y="70627"/>
                </a:cubicBezTo>
                <a:lnTo>
                  <a:pt x="4988038" y="282508"/>
                </a:lnTo>
                <a:cubicBezTo>
                  <a:pt x="4988038" y="321515"/>
                  <a:pt x="4956417" y="353135"/>
                  <a:pt x="4917411" y="353135"/>
                </a:cubicBezTo>
                <a:lnTo>
                  <a:pt x="70627" y="353135"/>
                </a:lnTo>
                <a:cubicBezTo>
                  <a:pt x="31647" y="353135"/>
                  <a:pt x="0" y="321488"/>
                  <a:pt x="0" y="282508"/>
                </a:cubicBezTo>
                <a:lnTo>
                  <a:pt x="0" y="70627"/>
                </a:lnTo>
                <a:cubicBezTo>
                  <a:pt x="0" y="31621"/>
                  <a:pt x="31621" y="0"/>
                  <a:pt x="70627" y="0"/>
                </a:cubicBezTo>
                <a:close/>
              </a:path>
            </a:pathLst>
          </a:custGeom>
          <a:solidFill>
            <a:srgbClr val="1E293B"/>
          </a:solidFill>
          <a:ln/>
        </p:spPr>
      </p:sp>
      <p:sp>
        <p:nvSpPr>
          <p:cNvPr id="46" name="Text 44"/>
          <p:cNvSpPr/>
          <p:nvPr/>
        </p:nvSpPr>
        <p:spPr>
          <a:xfrm>
            <a:off x="6591769" y="4793813"/>
            <a:ext cx="1580281" cy="176568"/>
          </a:xfrm>
          <a:prstGeom prst="rect">
            <a:avLst/>
          </a:prstGeom>
          <a:noFill/>
          <a:ln/>
        </p:spPr>
        <p:txBody>
          <a:bodyPr wrap="square" lIns="0" tIns="0" rIns="0" bIns="0" rtlCol="0" anchor="ctr"/>
          <a:lstStyle/>
          <a:p>
            <a:pPr>
              <a:lnSpc>
                <a:spcPct val="120000"/>
              </a:lnSpc>
            </a:pPr>
            <a:r>
              <a:rPr lang="en-US" sz="973" dirty="0">
                <a:solidFill>
                  <a:srgbClr val="F1F5F9">
                    <a:alpha val="80000"/>
                  </a:srgbClr>
                </a:solidFill>
                <a:latin typeface="MiSans" pitchFamily="34" charset="0"/>
                <a:ea typeface="MiSans" pitchFamily="34" charset="-122"/>
                <a:cs typeface="MiSans" pitchFamily="34" charset="-120"/>
              </a:rPr>
              <a:t>Dòng 9: Tìm video tốt nhất</a:t>
            </a:r>
            <a:endParaRPr lang="en-US" sz="1600" dirty="0"/>
          </a:p>
        </p:txBody>
      </p:sp>
      <p:sp>
        <p:nvSpPr>
          <p:cNvPr id="47" name="Text 45"/>
          <p:cNvSpPr/>
          <p:nvPr/>
        </p:nvSpPr>
        <p:spPr>
          <a:xfrm>
            <a:off x="10929817" y="4776156"/>
            <a:ext cx="573845" cy="211881"/>
          </a:xfrm>
          <a:prstGeom prst="rect">
            <a:avLst/>
          </a:prstGeom>
          <a:noFill/>
          <a:ln/>
        </p:spPr>
        <p:txBody>
          <a:bodyPr wrap="square" lIns="0" tIns="0" rIns="0" bIns="0" rtlCol="0" anchor="ctr"/>
          <a:lstStyle/>
          <a:p>
            <a:pPr>
              <a:lnSpc>
                <a:spcPct val="130000"/>
              </a:lnSpc>
            </a:pPr>
            <a:r>
              <a:rPr lang="en-US" sz="1112" b="1" dirty="0">
                <a:solidFill>
                  <a:srgbClr val="10B981"/>
                </a:solidFill>
                <a:latin typeface="MiSans" pitchFamily="34" charset="0"/>
                <a:ea typeface="MiSans" pitchFamily="34" charset="-122"/>
                <a:cs typeface="MiSans" pitchFamily="34" charset="-120"/>
              </a:rPr>
              <a:t>0.0 MiB</a:t>
            </a:r>
            <a:endParaRPr lang="en-US" sz="1600" dirty="0"/>
          </a:p>
        </p:txBody>
      </p:sp>
      <p:sp>
        <p:nvSpPr>
          <p:cNvPr id="48" name="Shape 46"/>
          <p:cNvSpPr/>
          <p:nvPr/>
        </p:nvSpPr>
        <p:spPr>
          <a:xfrm>
            <a:off x="6190077" y="5539812"/>
            <a:ext cx="5650167" cy="1315429"/>
          </a:xfrm>
          <a:custGeom>
            <a:avLst/>
            <a:gdLst/>
            <a:ahLst/>
            <a:cxnLst/>
            <a:rect l="l" t="t" r="r" b="b"/>
            <a:pathLst>
              <a:path w="5650167" h="1315429">
                <a:moveTo>
                  <a:pt x="105945" y="0"/>
                </a:moveTo>
                <a:lnTo>
                  <a:pt x="5544222" y="0"/>
                </a:lnTo>
                <a:cubicBezTo>
                  <a:pt x="5602733" y="0"/>
                  <a:pt x="5650167" y="47433"/>
                  <a:pt x="5650167" y="105945"/>
                </a:cubicBezTo>
                <a:lnTo>
                  <a:pt x="5650167" y="1209485"/>
                </a:lnTo>
                <a:cubicBezTo>
                  <a:pt x="5650167" y="1267996"/>
                  <a:pt x="5602733" y="1315429"/>
                  <a:pt x="5544222" y="1315429"/>
                </a:cubicBezTo>
                <a:lnTo>
                  <a:pt x="105945" y="1315429"/>
                </a:lnTo>
                <a:cubicBezTo>
                  <a:pt x="47433" y="1315429"/>
                  <a:pt x="0" y="1267996"/>
                  <a:pt x="0" y="1209485"/>
                </a:cubicBezTo>
                <a:lnTo>
                  <a:pt x="0" y="105945"/>
                </a:lnTo>
                <a:cubicBezTo>
                  <a:pt x="0" y="47472"/>
                  <a:pt x="47472" y="0"/>
                  <a:pt x="105945" y="0"/>
                </a:cubicBezTo>
                <a:close/>
              </a:path>
            </a:pathLst>
          </a:custGeom>
          <a:gradFill rotWithShape="1" flip="none">
            <a:gsLst>
              <a:gs pos="0">
                <a:srgbClr val="8B5CF6">
                  <a:alpha val="10000"/>
                </a:srgbClr>
              </a:gs>
              <a:gs pos="100000">
                <a:srgbClr val="EF4444">
                  <a:alpha val="10000"/>
                </a:srgbClr>
              </a:gs>
            </a:gsLst>
            <a:lin ang="0" scaled="1"/>
          </a:gradFill>
          <a:ln w="12700">
            <a:solidFill>
              <a:srgbClr val="8B5CF6">
                <a:alpha val="30196"/>
              </a:srgbClr>
            </a:solidFill>
            <a:prstDash val="solid"/>
          </a:ln>
        </p:spPr>
      </p:sp>
      <p:sp>
        <p:nvSpPr>
          <p:cNvPr id="49" name="Text 47"/>
          <p:cNvSpPr/>
          <p:nvPr/>
        </p:nvSpPr>
        <p:spPr>
          <a:xfrm>
            <a:off x="6335746" y="5685480"/>
            <a:ext cx="5438285" cy="247195"/>
          </a:xfrm>
          <a:prstGeom prst="rect">
            <a:avLst/>
          </a:prstGeom>
          <a:noFill/>
          <a:ln/>
        </p:spPr>
        <p:txBody>
          <a:bodyPr wrap="square" lIns="0" tIns="0" rIns="0" bIns="0" rtlCol="0" anchor="ctr"/>
          <a:lstStyle/>
          <a:p>
            <a:pPr>
              <a:lnSpc>
                <a:spcPct val="130000"/>
              </a:lnSpc>
            </a:pPr>
            <a:r>
              <a:rPr lang="en-US" sz="1251" b="1" dirty="0">
                <a:solidFill>
                  <a:srgbClr val="F1F5F9"/>
                </a:solidFill>
                <a:latin typeface="MiSans" pitchFamily="34" charset="0"/>
                <a:ea typeface="MiSans" pitchFamily="34" charset="-122"/>
                <a:cs typeface="MiSans" pitchFamily="34" charset="-120"/>
              </a:rPr>
              <a:t>Ước lượng cho các kích thước</a:t>
            </a:r>
            <a:endParaRPr lang="en-US" sz="1600" dirty="0"/>
          </a:p>
        </p:txBody>
      </p:sp>
      <p:sp>
        <p:nvSpPr>
          <p:cNvPr id="50" name="Shape 48"/>
          <p:cNvSpPr/>
          <p:nvPr/>
        </p:nvSpPr>
        <p:spPr>
          <a:xfrm>
            <a:off x="6335746" y="6038615"/>
            <a:ext cx="1712707" cy="670957"/>
          </a:xfrm>
          <a:custGeom>
            <a:avLst/>
            <a:gdLst/>
            <a:ahLst/>
            <a:cxnLst/>
            <a:rect l="l" t="t" r="r" b="b"/>
            <a:pathLst>
              <a:path w="1712707" h="670957">
                <a:moveTo>
                  <a:pt x="70625" y="0"/>
                </a:moveTo>
                <a:lnTo>
                  <a:pt x="1642082" y="0"/>
                </a:lnTo>
                <a:cubicBezTo>
                  <a:pt x="1681087" y="0"/>
                  <a:pt x="1712707" y="31620"/>
                  <a:pt x="1712707" y="70625"/>
                </a:cubicBezTo>
                <a:lnTo>
                  <a:pt x="1712707" y="600332"/>
                </a:lnTo>
                <a:cubicBezTo>
                  <a:pt x="1712707" y="639337"/>
                  <a:pt x="1681087" y="670957"/>
                  <a:pt x="1642082" y="670957"/>
                </a:cubicBezTo>
                <a:lnTo>
                  <a:pt x="70625" y="670957"/>
                </a:lnTo>
                <a:cubicBezTo>
                  <a:pt x="31620" y="670957"/>
                  <a:pt x="0" y="639337"/>
                  <a:pt x="0" y="600332"/>
                </a:cubicBezTo>
                <a:lnTo>
                  <a:pt x="0" y="70625"/>
                </a:lnTo>
                <a:cubicBezTo>
                  <a:pt x="0" y="31620"/>
                  <a:pt x="31620" y="0"/>
                  <a:pt x="70625" y="0"/>
                </a:cubicBezTo>
                <a:close/>
              </a:path>
            </a:pathLst>
          </a:custGeom>
          <a:solidFill>
            <a:srgbClr val="0F172A"/>
          </a:solidFill>
          <a:ln/>
        </p:spPr>
      </p:sp>
      <p:sp>
        <p:nvSpPr>
          <p:cNvPr id="51" name="Text 49"/>
          <p:cNvSpPr/>
          <p:nvPr/>
        </p:nvSpPr>
        <p:spPr>
          <a:xfrm>
            <a:off x="6410787" y="6144556"/>
            <a:ext cx="1562624" cy="176568"/>
          </a:xfrm>
          <a:prstGeom prst="rect">
            <a:avLst/>
          </a:prstGeom>
          <a:noFill/>
          <a:ln/>
        </p:spPr>
        <p:txBody>
          <a:bodyPr wrap="square" lIns="0" tIns="0" rIns="0" bIns="0" rtlCol="0" anchor="ctr"/>
          <a:lstStyle/>
          <a:p>
            <a:pPr algn="ctr">
              <a:lnSpc>
                <a:spcPct val="120000"/>
              </a:lnSpc>
            </a:pPr>
            <a:r>
              <a:rPr lang="en-US" sz="973" dirty="0">
                <a:solidFill>
                  <a:srgbClr val="F1F5F9">
                    <a:alpha val="60000"/>
                  </a:srgbClr>
                </a:solidFill>
                <a:latin typeface="MiSans" pitchFamily="34" charset="0"/>
                <a:ea typeface="MiSans" pitchFamily="34" charset="-122"/>
                <a:cs typeface="MiSans" pitchFamily="34" charset="-120"/>
              </a:rPr>
              <a:t>100 × 100</a:t>
            </a:r>
            <a:endParaRPr lang="en-US" sz="1600" dirty="0"/>
          </a:p>
        </p:txBody>
      </p:sp>
      <p:sp>
        <p:nvSpPr>
          <p:cNvPr id="52" name="Text 50"/>
          <p:cNvSpPr/>
          <p:nvPr/>
        </p:nvSpPr>
        <p:spPr>
          <a:xfrm>
            <a:off x="6401959" y="6356437"/>
            <a:ext cx="1580281" cy="247195"/>
          </a:xfrm>
          <a:prstGeom prst="rect">
            <a:avLst/>
          </a:prstGeom>
          <a:noFill/>
          <a:ln/>
        </p:spPr>
        <p:txBody>
          <a:bodyPr wrap="square" lIns="0" tIns="0" rIns="0" bIns="0" rtlCol="0" anchor="ctr"/>
          <a:lstStyle/>
          <a:p>
            <a:pPr algn="ctr">
              <a:lnSpc>
                <a:spcPct val="130000"/>
              </a:lnSpc>
            </a:pPr>
            <a:r>
              <a:rPr lang="en-US" sz="1251" b="1" dirty="0">
                <a:solidFill>
                  <a:srgbClr val="10B981"/>
                </a:solidFill>
                <a:latin typeface="MiSans" pitchFamily="34" charset="0"/>
                <a:ea typeface="MiSans" pitchFamily="34" charset="-122"/>
                <a:cs typeface="MiSans" pitchFamily="34" charset="-120"/>
              </a:rPr>
              <a:t>~0.6 MB</a:t>
            </a:r>
            <a:endParaRPr lang="en-US" sz="1600" dirty="0"/>
          </a:p>
        </p:txBody>
      </p:sp>
      <p:sp>
        <p:nvSpPr>
          <p:cNvPr id="53" name="Shape 51"/>
          <p:cNvSpPr/>
          <p:nvPr/>
        </p:nvSpPr>
        <p:spPr>
          <a:xfrm>
            <a:off x="8156324" y="6038615"/>
            <a:ext cx="1712707" cy="670957"/>
          </a:xfrm>
          <a:custGeom>
            <a:avLst/>
            <a:gdLst/>
            <a:ahLst/>
            <a:cxnLst/>
            <a:rect l="l" t="t" r="r" b="b"/>
            <a:pathLst>
              <a:path w="1712707" h="670957">
                <a:moveTo>
                  <a:pt x="70625" y="0"/>
                </a:moveTo>
                <a:lnTo>
                  <a:pt x="1642082" y="0"/>
                </a:lnTo>
                <a:cubicBezTo>
                  <a:pt x="1681087" y="0"/>
                  <a:pt x="1712707" y="31620"/>
                  <a:pt x="1712707" y="70625"/>
                </a:cubicBezTo>
                <a:lnTo>
                  <a:pt x="1712707" y="600332"/>
                </a:lnTo>
                <a:cubicBezTo>
                  <a:pt x="1712707" y="639337"/>
                  <a:pt x="1681087" y="670957"/>
                  <a:pt x="1642082" y="670957"/>
                </a:cubicBezTo>
                <a:lnTo>
                  <a:pt x="70625" y="670957"/>
                </a:lnTo>
                <a:cubicBezTo>
                  <a:pt x="31620" y="670957"/>
                  <a:pt x="0" y="639337"/>
                  <a:pt x="0" y="600332"/>
                </a:cubicBezTo>
                <a:lnTo>
                  <a:pt x="0" y="70625"/>
                </a:lnTo>
                <a:cubicBezTo>
                  <a:pt x="0" y="31620"/>
                  <a:pt x="31620" y="0"/>
                  <a:pt x="70625" y="0"/>
                </a:cubicBezTo>
                <a:close/>
              </a:path>
            </a:pathLst>
          </a:custGeom>
          <a:solidFill>
            <a:srgbClr val="0F172A"/>
          </a:solidFill>
          <a:ln/>
        </p:spPr>
      </p:sp>
      <p:sp>
        <p:nvSpPr>
          <p:cNvPr id="54" name="Text 52"/>
          <p:cNvSpPr/>
          <p:nvPr/>
        </p:nvSpPr>
        <p:spPr>
          <a:xfrm>
            <a:off x="8231366" y="6144556"/>
            <a:ext cx="1562624" cy="176568"/>
          </a:xfrm>
          <a:prstGeom prst="rect">
            <a:avLst/>
          </a:prstGeom>
          <a:noFill/>
          <a:ln/>
        </p:spPr>
        <p:txBody>
          <a:bodyPr wrap="square" lIns="0" tIns="0" rIns="0" bIns="0" rtlCol="0" anchor="ctr"/>
          <a:lstStyle/>
          <a:p>
            <a:pPr algn="ctr">
              <a:lnSpc>
                <a:spcPct val="120000"/>
              </a:lnSpc>
            </a:pPr>
            <a:r>
              <a:rPr lang="en-US" sz="973" dirty="0">
                <a:solidFill>
                  <a:srgbClr val="F1F5F9">
                    <a:alpha val="60000"/>
                  </a:srgbClr>
                </a:solidFill>
                <a:latin typeface="MiSans" pitchFamily="34" charset="0"/>
                <a:ea typeface="MiSans" pitchFamily="34" charset="-122"/>
                <a:cs typeface="MiSans" pitchFamily="34" charset="-120"/>
              </a:rPr>
              <a:t>1,000 × 1,000</a:t>
            </a:r>
            <a:endParaRPr lang="en-US" sz="1600" dirty="0"/>
          </a:p>
        </p:txBody>
      </p:sp>
      <p:sp>
        <p:nvSpPr>
          <p:cNvPr id="55" name="Text 53"/>
          <p:cNvSpPr/>
          <p:nvPr/>
        </p:nvSpPr>
        <p:spPr>
          <a:xfrm>
            <a:off x="8222537" y="6356437"/>
            <a:ext cx="1580281" cy="247195"/>
          </a:xfrm>
          <a:prstGeom prst="rect">
            <a:avLst/>
          </a:prstGeom>
          <a:noFill/>
          <a:ln/>
        </p:spPr>
        <p:txBody>
          <a:bodyPr wrap="square" lIns="0" tIns="0" rIns="0" bIns="0" rtlCol="0" anchor="ctr"/>
          <a:lstStyle/>
          <a:p>
            <a:pPr algn="ctr">
              <a:lnSpc>
                <a:spcPct val="130000"/>
              </a:lnSpc>
            </a:pPr>
            <a:r>
              <a:rPr lang="en-US" sz="1251" b="1" dirty="0">
                <a:solidFill>
                  <a:srgbClr val="F59E0B"/>
                </a:solidFill>
                <a:latin typeface="MiSans" pitchFamily="34" charset="0"/>
                <a:ea typeface="MiSans" pitchFamily="34" charset="-122"/>
                <a:cs typeface="MiSans" pitchFamily="34" charset="-120"/>
              </a:rPr>
              <a:t>~29.9 MB</a:t>
            </a:r>
            <a:endParaRPr lang="en-US" sz="1600" dirty="0"/>
          </a:p>
        </p:txBody>
      </p:sp>
      <p:sp>
        <p:nvSpPr>
          <p:cNvPr id="56" name="Shape 54"/>
          <p:cNvSpPr/>
          <p:nvPr/>
        </p:nvSpPr>
        <p:spPr>
          <a:xfrm>
            <a:off x="9976903" y="6038615"/>
            <a:ext cx="1712707" cy="670957"/>
          </a:xfrm>
          <a:custGeom>
            <a:avLst/>
            <a:gdLst/>
            <a:ahLst/>
            <a:cxnLst/>
            <a:rect l="l" t="t" r="r" b="b"/>
            <a:pathLst>
              <a:path w="1712707" h="670957">
                <a:moveTo>
                  <a:pt x="70625" y="0"/>
                </a:moveTo>
                <a:lnTo>
                  <a:pt x="1642082" y="0"/>
                </a:lnTo>
                <a:cubicBezTo>
                  <a:pt x="1681087" y="0"/>
                  <a:pt x="1712707" y="31620"/>
                  <a:pt x="1712707" y="70625"/>
                </a:cubicBezTo>
                <a:lnTo>
                  <a:pt x="1712707" y="600332"/>
                </a:lnTo>
                <a:cubicBezTo>
                  <a:pt x="1712707" y="639337"/>
                  <a:pt x="1681087" y="670957"/>
                  <a:pt x="1642082" y="670957"/>
                </a:cubicBezTo>
                <a:lnTo>
                  <a:pt x="70625" y="670957"/>
                </a:lnTo>
                <a:cubicBezTo>
                  <a:pt x="31620" y="670957"/>
                  <a:pt x="0" y="639337"/>
                  <a:pt x="0" y="600332"/>
                </a:cubicBezTo>
                <a:lnTo>
                  <a:pt x="0" y="70625"/>
                </a:lnTo>
                <a:cubicBezTo>
                  <a:pt x="0" y="31620"/>
                  <a:pt x="31620" y="0"/>
                  <a:pt x="70625" y="0"/>
                </a:cubicBezTo>
                <a:close/>
              </a:path>
            </a:pathLst>
          </a:custGeom>
          <a:solidFill>
            <a:srgbClr val="0F172A"/>
          </a:solidFill>
          <a:ln/>
        </p:spPr>
      </p:sp>
      <p:sp>
        <p:nvSpPr>
          <p:cNvPr id="57" name="Text 55"/>
          <p:cNvSpPr/>
          <p:nvPr/>
        </p:nvSpPr>
        <p:spPr>
          <a:xfrm>
            <a:off x="10051944" y="6144556"/>
            <a:ext cx="1562624" cy="176568"/>
          </a:xfrm>
          <a:prstGeom prst="rect">
            <a:avLst/>
          </a:prstGeom>
          <a:noFill/>
          <a:ln/>
        </p:spPr>
        <p:txBody>
          <a:bodyPr wrap="square" lIns="0" tIns="0" rIns="0" bIns="0" rtlCol="0" anchor="ctr"/>
          <a:lstStyle/>
          <a:p>
            <a:pPr algn="ctr">
              <a:lnSpc>
                <a:spcPct val="120000"/>
              </a:lnSpc>
            </a:pPr>
            <a:r>
              <a:rPr lang="en-US" sz="973" dirty="0">
                <a:solidFill>
                  <a:srgbClr val="F1F5F9">
                    <a:alpha val="60000"/>
                  </a:srgbClr>
                </a:solidFill>
                <a:latin typeface="MiSans" pitchFamily="34" charset="0"/>
                <a:ea typeface="MiSans" pitchFamily="34" charset="-122"/>
                <a:cs typeface="MiSans" pitchFamily="34" charset="-120"/>
              </a:rPr>
              <a:t>10,000 × 10,000</a:t>
            </a:r>
            <a:endParaRPr lang="en-US" sz="1600" dirty="0"/>
          </a:p>
        </p:txBody>
      </p:sp>
      <p:sp>
        <p:nvSpPr>
          <p:cNvPr id="58" name="Text 56"/>
          <p:cNvSpPr/>
          <p:nvPr/>
        </p:nvSpPr>
        <p:spPr>
          <a:xfrm>
            <a:off x="10043116" y="6356437"/>
            <a:ext cx="1580281" cy="247195"/>
          </a:xfrm>
          <a:prstGeom prst="rect">
            <a:avLst/>
          </a:prstGeom>
          <a:noFill/>
          <a:ln/>
        </p:spPr>
        <p:txBody>
          <a:bodyPr wrap="square" lIns="0" tIns="0" rIns="0" bIns="0" rtlCol="0" anchor="ctr"/>
          <a:lstStyle/>
          <a:p>
            <a:pPr algn="ctr">
              <a:lnSpc>
                <a:spcPct val="130000"/>
              </a:lnSpc>
            </a:pPr>
            <a:r>
              <a:rPr lang="en-US" sz="1251" b="1" dirty="0">
                <a:solidFill>
                  <a:srgbClr val="EF4444"/>
                </a:solidFill>
                <a:latin typeface="MiSans" pitchFamily="34" charset="0"/>
                <a:ea typeface="MiSans" pitchFamily="34" charset="-122"/>
                <a:cs typeface="MiSans" pitchFamily="34" charset="-120"/>
              </a:rPr>
              <a:t>~889 MB</a:t>
            </a:r>
            <a:endParaRPr lang="en-US" sz="16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39138" y="406965"/>
            <a:ext cx="339138" cy="339138"/>
          </a:xfrm>
          <a:custGeom>
            <a:avLst/>
            <a:gdLst/>
            <a:ahLst/>
            <a:cxnLst/>
            <a:rect l="l" t="t" r="r" b="b"/>
            <a:pathLst>
              <a:path w="339138" h="339138">
                <a:moveTo>
                  <a:pt x="67828" y="0"/>
                </a:moveTo>
                <a:lnTo>
                  <a:pt x="271310" y="0"/>
                </a:lnTo>
                <a:cubicBezTo>
                  <a:pt x="308770" y="0"/>
                  <a:pt x="339138" y="30367"/>
                  <a:pt x="339138" y="67828"/>
                </a:cubicBezTo>
                <a:lnTo>
                  <a:pt x="339138" y="271310"/>
                </a:lnTo>
                <a:cubicBezTo>
                  <a:pt x="339138" y="308770"/>
                  <a:pt x="308770" y="339138"/>
                  <a:pt x="271310" y="339138"/>
                </a:cubicBezTo>
                <a:lnTo>
                  <a:pt x="67828" y="339138"/>
                </a:lnTo>
                <a:cubicBezTo>
                  <a:pt x="30367" y="339138"/>
                  <a:pt x="0" y="308770"/>
                  <a:pt x="0" y="271310"/>
                </a:cubicBezTo>
                <a:lnTo>
                  <a:pt x="0" y="67828"/>
                </a:lnTo>
                <a:cubicBezTo>
                  <a:pt x="0" y="30393"/>
                  <a:pt x="30393" y="0"/>
                  <a:pt x="67828" y="0"/>
                </a:cubicBezTo>
                <a:close/>
              </a:path>
            </a:pathLst>
          </a:custGeom>
          <a:solidFill>
            <a:srgbClr val="10B981"/>
          </a:solidFill>
          <a:ln/>
        </p:spPr>
      </p:sp>
      <p:sp>
        <p:nvSpPr>
          <p:cNvPr id="3" name="Shape 1"/>
          <p:cNvSpPr/>
          <p:nvPr/>
        </p:nvSpPr>
        <p:spPr>
          <a:xfrm>
            <a:off x="444058" y="500228"/>
            <a:ext cx="133535" cy="152612"/>
          </a:xfrm>
          <a:custGeom>
            <a:avLst/>
            <a:gdLst/>
            <a:ahLst/>
            <a:cxnLst/>
            <a:rect l="l" t="t" r="r" b="b"/>
            <a:pathLst>
              <a:path w="133535" h="152612">
                <a:moveTo>
                  <a:pt x="85844" y="0"/>
                </a:moveTo>
                <a:lnTo>
                  <a:pt x="38153" y="0"/>
                </a:lnTo>
                <a:cubicBezTo>
                  <a:pt x="32877" y="0"/>
                  <a:pt x="28615" y="4262"/>
                  <a:pt x="28615" y="9538"/>
                </a:cubicBezTo>
                <a:cubicBezTo>
                  <a:pt x="28615" y="14814"/>
                  <a:pt x="32877" y="19076"/>
                  <a:pt x="38153" y="19076"/>
                </a:cubicBezTo>
                <a:lnTo>
                  <a:pt x="38153" y="64234"/>
                </a:lnTo>
                <a:lnTo>
                  <a:pt x="2236" y="127067"/>
                </a:lnTo>
                <a:cubicBezTo>
                  <a:pt x="775" y="129661"/>
                  <a:pt x="0" y="132552"/>
                  <a:pt x="0" y="135533"/>
                </a:cubicBezTo>
                <a:cubicBezTo>
                  <a:pt x="0" y="144981"/>
                  <a:pt x="7631" y="152612"/>
                  <a:pt x="17079" y="152612"/>
                </a:cubicBezTo>
                <a:lnTo>
                  <a:pt x="116456" y="152612"/>
                </a:lnTo>
                <a:cubicBezTo>
                  <a:pt x="125875" y="152612"/>
                  <a:pt x="133535" y="144981"/>
                  <a:pt x="133535" y="135533"/>
                </a:cubicBezTo>
                <a:cubicBezTo>
                  <a:pt x="133535" y="132552"/>
                  <a:pt x="132760" y="129631"/>
                  <a:pt x="131300" y="127067"/>
                </a:cubicBezTo>
                <a:lnTo>
                  <a:pt x="95382" y="64234"/>
                </a:lnTo>
                <a:lnTo>
                  <a:pt x="95382" y="19076"/>
                </a:lnTo>
                <a:cubicBezTo>
                  <a:pt x="100658" y="19076"/>
                  <a:pt x="104921" y="14814"/>
                  <a:pt x="104921" y="9538"/>
                </a:cubicBezTo>
                <a:cubicBezTo>
                  <a:pt x="104921" y="4262"/>
                  <a:pt x="100658" y="0"/>
                  <a:pt x="95382" y="0"/>
                </a:cubicBezTo>
                <a:lnTo>
                  <a:pt x="85844" y="0"/>
                </a:lnTo>
                <a:close/>
                <a:moveTo>
                  <a:pt x="57229" y="64234"/>
                </a:moveTo>
                <a:lnTo>
                  <a:pt x="57229" y="19076"/>
                </a:lnTo>
                <a:lnTo>
                  <a:pt x="76306" y="19076"/>
                </a:lnTo>
                <a:lnTo>
                  <a:pt x="76306" y="64234"/>
                </a:lnTo>
                <a:cubicBezTo>
                  <a:pt x="76306" y="67543"/>
                  <a:pt x="77170" y="70821"/>
                  <a:pt x="78810" y="73713"/>
                </a:cubicBezTo>
                <a:lnTo>
                  <a:pt x="91209" y="95382"/>
                </a:lnTo>
                <a:lnTo>
                  <a:pt x="42326" y="95382"/>
                </a:lnTo>
                <a:lnTo>
                  <a:pt x="54726" y="73713"/>
                </a:lnTo>
                <a:cubicBezTo>
                  <a:pt x="56365" y="70821"/>
                  <a:pt x="57229" y="67573"/>
                  <a:pt x="57229" y="64234"/>
                </a:cubicBezTo>
                <a:close/>
              </a:path>
            </a:pathLst>
          </a:custGeom>
          <a:solidFill>
            <a:srgbClr val="FFFFFF"/>
          </a:solidFill>
          <a:ln/>
        </p:spPr>
      </p:sp>
      <p:sp>
        <p:nvSpPr>
          <p:cNvPr id="4" name="Text 2"/>
          <p:cNvSpPr/>
          <p:nvPr/>
        </p:nvSpPr>
        <p:spPr>
          <a:xfrm>
            <a:off x="780017" y="339138"/>
            <a:ext cx="5036195" cy="169569"/>
          </a:xfrm>
          <a:prstGeom prst="rect">
            <a:avLst/>
          </a:prstGeom>
          <a:noFill/>
          <a:ln/>
        </p:spPr>
        <p:txBody>
          <a:bodyPr wrap="square" lIns="0" tIns="0" rIns="0" bIns="0" rtlCol="0" anchor="ctr"/>
          <a:lstStyle/>
          <a:p>
            <a:pPr>
              <a:lnSpc>
                <a:spcPct val="120000"/>
              </a:lnSpc>
            </a:pPr>
            <a:r>
              <a:rPr lang="en-US" sz="935" b="1" spc="47" kern="0" dirty="0">
                <a:solidFill>
                  <a:srgbClr val="10B981"/>
                </a:solidFill>
                <a:latin typeface="MiSans" pitchFamily="34" charset="0"/>
                <a:ea typeface="MiSans" pitchFamily="34" charset="-122"/>
                <a:cs typeface="MiSans" pitchFamily="34" charset="-120"/>
              </a:rPr>
              <a:t>CHƯƠNG 14 | LAB 3</a:t>
            </a:r>
            <a:endParaRPr lang="en-US" sz="1600" dirty="0"/>
          </a:p>
        </p:txBody>
      </p:sp>
      <p:sp>
        <p:nvSpPr>
          <p:cNvPr id="5" name="Text 3"/>
          <p:cNvSpPr/>
          <p:nvPr/>
        </p:nvSpPr>
        <p:spPr>
          <a:xfrm>
            <a:off x="780017" y="508707"/>
            <a:ext cx="5104022" cy="305224"/>
          </a:xfrm>
          <a:prstGeom prst="rect">
            <a:avLst/>
          </a:prstGeom>
          <a:noFill/>
          <a:ln/>
        </p:spPr>
        <p:txBody>
          <a:bodyPr wrap="square" lIns="0" tIns="0" rIns="0" bIns="0" rtlCol="0" anchor="ctr"/>
          <a:lstStyle/>
          <a:p>
            <a:pPr>
              <a:lnSpc>
                <a:spcPct val="100000"/>
              </a:lnSpc>
            </a:pPr>
            <a:r>
              <a:rPr lang="en-US" sz="2003" b="1" dirty="0">
                <a:solidFill>
                  <a:srgbClr val="F1F5F9"/>
                </a:solidFill>
                <a:latin typeface="MiSans" pitchFamily="34" charset="0"/>
                <a:ea typeface="MiSans" pitchFamily="34" charset="-122"/>
                <a:cs typeface="MiSans" pitchFamily="34" charset="-120"/>
              </a:rPr>
              <a:t>LAB 3: Xác định dung lượng đầu vào tối đa</a:t>
            </a:r>
            <a:endParaRPr lang="en-US" sz="1600" dirty="0"/>
          </a:p>
        </p:txBody>
      </p:sp>
      <p:sp>
        <p:nvSpPr>
          <p:cNvPr id="6" name="Shape 4"/>
          <p:cNvSpPr/>
          <p:nvPr/>
        </p:nvSpPr>
        <p:spPr>
          <a:xfrm>
            <a:off x="343377" y="1021652"/>
            <a:ext cx="5663599" cy="4027260"/>
          </a:xfrm>
          <a:custGeom>
            <a:avLst/>
            <a:gdLst/>
            <a:ahLst/>
            <a:cxnLst/>
            <a:rect l="l" t="t" r="r" b="b"/>
            <a:pathLst>
              <a:path w="5663599" h="4027260">
                <a:moveTo>
                  <a:pt x="101729" y="0"/>
                </a:moveTo>
                <a:lnTo>
                  <a:pt x="5561871" y="0"/>
                </a:lnTo>
                <a:cubicBezTo>
                  <a:pt x="5618054" y="0"/>
                  <a:pt x="5663599" y="45545"/>
                  <a:pt x="5663599" y="101729"/>
                </a:cubicBezTo>
                <a:lnTo>
                  <a:pt x="5663599" y="3925531"/>
                </a:lnTo>
                <a:cubicBezTo>
                  <a:pt x="5663599" y="3981715"/>
                  <a:pt x="5618054" y="4027260"/>
                  <a:pt x="5561871" y="4027260"/>
                </a:cubicBezTo>
                <a:lnTo>
                  <a:pt x="101729" y="4027260"/>
                </a:lnTo>
                <a:cubicBezTo>
                  <a:pt x="45545" y="4027260"/>
                  <a:pt x="0" y="3981715"/>
                  <a:pt x="0" y="3925531"/>
                </a:cubicBezTo>
                <a:lnTo>
                  <a:pt x="0" y="101729"/>
                </a:lnTo>
                <a:cubicBezTo>
                  <a:pt x="0" y="45583"/>
                  <a:pt x="45583" y="0"/>
                  <a:pt x="101729"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38381" y="1229374"/>
            <a:ext cx="169569" cy="169569"/>
          </a:xfrm>
          <a:custGeom>
            <a:avLst/>
            <a:gdLst/>
            <a:ahLst/>
            <a:cxnLst/>
            <a:rect l="l" t="t" r="r" b="b"/>
            <a:pathLst>
              <a:path w="169569" h="169569">
                <a:moveTo>
                  <a:pt x="0" y="84784"/>
                </a:moveTo>
                <a:cubicBezTo>
                  <a:pt x="0" y="37991"/>
                  <a:pt x="37991" y="0"/>
                  <a:pt x="84784" y="0"/>
                </a:cubicBezTo>
                <a:cubicBezTo>
                  <a:pt x="131578" y="0"/>
                  <a:pt x="169569" y="37991"/>
                  <a:pt x="169569" y="84784"/>
                </a:cubicBezTo>
                <a:cubicBezTo>
                  <a:pt x="169569" y="131578"/>
                  <a:pt x="131578" y="169569"/>
                  <a:pt x="84784" y="169569"/>
                </a:cubicBezTo>
                <a:cubicBezTo>
                  <a:pt x="37991" y="169569"/>
                  <a:pt x="0" y="131578"/>
                  <a:pt x="0" y="84784"/>
                </a:cubicBezTo>
                <a:close/>
                <a:moveTo>
                  <a:pt x="95382" y="31794"/>
                </a:moveTo>
                <a:cubicBezTo>
                  <a:pt x="95382" y="25945"/>
                  <a:pt x="90634" y="21196"/>
                  <a:pt x="84784" y="21196"/>
                </a:cubicBezTo>
                <a:cubicBezTo>
                  <a:pt x="78935" y="21196"/>
                  <a:pt x="74186" y="25945"/>
                  <a:pt x="74186" y="31794"/>
                </a:cubicBezTo>
                <a:cubicBezTo>
                  <a:pt x="74186" y="37643"/>
                  <a:pt x="78935" y="42392"/>
                  <a:pt x="84784" y="42392"/>
                </a:cubicBezTo>
                <a:cubicBezTo>
                  <a:pt x="90634" y="42392"/>
                  <a:pt x="95382" y="37643"/>
                  <a:pt x="95382" y="31794"/>
                </a:cubicBezTo>
                <a:close/>
                <a:moveTo>
                  <a:pt x="84784" y="137775"/>
                </a:moveTo>
                <a:cubicBezTo>
                  <a:pt x="96475" y="137775"/>
                  <a:pt x="105981" y="128270"/>
                  <a:pt x="105981" y="116579"/>
                </a:cubicBezTo>
                <a:cubicBezTo>
                  <a:pt x="105981" y="111213"/>
                  <a:pt x="103993" y="106279"/>
                  <a:pt x="100682" y="102569"/>
                </a:cubicBezTo>
                <a:lnTo>
                  <a:pt x="123699" y="56567"/>
                </a:lnTo>
                <a:cubicBezTo>
                  <a:pt x="125653" y="52626"/>
                  <a:pt x="124063" y="47857"/>
                  <a:pt x="120155" y="45903"/>
                </a:cubicBezTo>
                <a:cubicBezTo>
                  <a:pt x="116247" y="43949"/>
                  <a:pt x="111445" y="45539"/>
                  <a:pt x="109491" y="49447"/>
                </a:cubicBezTo>
                <a:lnTo>
                  <a:pt x="86473" y="95449"/>
                </a:lnTo>
                <a:cubicBezTo>
                  <a:pt x="85910" y="95416"/>
                  <a:pt x="85347" y="95382"/>
                  <a:pt x="84784" y="95382"/>
                </a:cubicBezTo>
                <a:cubicBezTo>
                  <a:pt x="73093" y="95382"/>
                  <a:pt x="63588" y="104888"/>
                  <a:pt x="63588" y="116579"/>
                </a:cubicBezTo>
                <a:cubicBezTo>
                  <a:pt x="63588" y="128270"/>
                  <a:pt x="73093" y="137775"/>
                  <a:pt x="84784" y="137775"/>
                </a:cubicBezTo>
                <a:close/>
                <a:moveTo>
                  <a:pt x="58289" y="47691"/>
                </a:moveTo>
                <a:cubicBezTo>
                  <a:pt x="58289" y="41842"/>
                  <a:pt x="53540" y="37093"/>
                  <a:pt x="47691" y="37093"/>
                </a:cubicBezTo>
                <a:cubicBezTo>
                  <a:pt x="41842" y="37093"/>
                  <a:pt x="37093" y="41842"/>
                  <a:pt x="37093" y="47691"/>
                </a:cubicBezTo>
                <a:cubicBezTo>
                  <a:pt x="37093" y="53540"/>
                  <a:pt x="41842" y="58289"/>
                  <a:pt x="47691" y="58289"/>
                </a:cubicBezTo>
                <a:cubicBezTo>
                  <a:pt x="53540" y="58289"/>
                  <a:pt x="58289" y="53540"/>
                  <a:pt x="58289" y="47691"/>
                </a:cubicBezTo>
                <a:close/>
                <a:moveTo>
                  <a:pt x="31794" y="95382"/>
                </a:moveTo>
                <a:cubicBezTo>
                  <a:pt x="37643" y="95382"/>
                  <a:pt x="42392" y="90634"/>
                  <a:pt x="42392" y="84784"/>
                </a:cubicBezTo>
                <a:cubicBezTo>
                  <a:pt x="42392" y="78935"/>
                  <a:pt x="37643" y="74186"/>
                  <a:pt x="31794" y="74186"/>
                </a:cubicBezTo>
                <a:cubicBezTo>
                  <a:pt x="25945" y="74186"/>
                  <a:pt x="21196" y="78935"/>
                  <a:pt x="21196" y="84784"/>
                </a:cubicBezTo>
                <a:cubicBezTo>
                  <a:pt x="21196" y="90634"/>
                  <a:pt x="25945" y="95382"/>
                  <a:pt x="31794" y="95382"/>
                </a:cubicBezTo>
                <a:close/>
                <a:moveTo>
                  <a:pt x="148373" y="84784"/>
                </a:moveTo>
                <a:cubicBezTo>
                  <a:pt x="148373" y="78935"/>
                  <a:pt x="143624" y="74186"/>
                  <a:pt x="137775" y="74186"/>
                </a:cubicBezTo>
                <a:cubicBezTo>
                  <a:pt x="131925" y="74186"/>
                  <a:pt x="127177" y="78935"/>
                  <a:pt x="127177" y="84784"/>
                </a:cubicBezTo>
                <a:cubicBezTo>
                  <a:pt x="127177" y="90634"/>
                  <a:pt x="131925" y="95382"/>
                  <a:pt x="137775" y="95382"/>
                </a:cubicBezTo>
                <a:cubicBezTo>
                  <a:pt x="143624" y="95382"/>
                  <a:pt x="148373" y="90634"/>
                  <a:pt x="148373" y="84784"/>
                </a:cubicBezTo>
                <a:close/>
              </a:path>
            </a:pathLst>
          </a:custGeom>
          <a:solidFill>
            <a:srgbClr val="3B82F6"/>
          </a:solidFill>
          <a:ln/>
        </p:spPr>
      </p:sp>
      <p:sp>
        <p:nvSpPr>
          <p:cNvPr id="8" name="Text 6"/>
          <p:cNvSpPr/>
          <p:nvPr/>
        </p:nvSpPr>
        <p:spPr>
          <a:xfrm>
            <a:off x="729146" y="1195460"/>
            <a:ext cx="5188807" cy="237396"/>
          </a:xfrm>
          <a:prstGeom prst="rect">
            <a:avLst/>
          </a:prstGeom>
          <a:noFill/>
          <a:ln/>
        </p:spPr>
        <p:txBody>
          <a:bodyPr wrap="square" lIns="0" tIns="0" rIns="0" bIns="0" rtlCol="0" anchor="ctr"/>
          <a:lstStyle/>
          <a:p>
            <a:pPr>
              <a:lnSpc>
                <a:spcPct val="120000"/>
              </a:lnSpc>
            </a:pPr>
            <a:r>
              <a:rPr lang="en-US" sz="1335" b="1" dirty="0">
                <a:solidFill>
                  <a:srgbClr val="3B82F6"/>
                </a:solidFill>
                <a:latin typeface="MiSans" pitchFamily="34" charset="0"/>
                <a:ea typeface="MiSans" pitchFamily="34" charset="-122"/>
                <a:cs typeface="MiSans" pitchFamily="34" charset="-120"/>
              </a:rPr>
              <a:t>Xác định dung lượng thờigian</a:t>
            </a:r>
            <a:endParaRPr lang="en-US" sz="1600" dirty="0"/>
          </a:p>
        </p:txBody>
      </p:sp>
      <p:sp>
        <p:nvSpPr>
          <p:cNvPr id="9" name="Shape 7"/>
          <p:cNvSpPr/>
          <p:nvPr/>
        </p:nvSpPr>
        <p:spPr>
          <a:xfrm>
            <a:off x="517185" y="1568512"/>
            <a:ext cx="5315983" cy="2170481"/>
          </a:xfrm>
          <a:custGeom>
            <a:avLst/>
            <a:gdLst/>
            <a:ahLst/>
            <a:cxnLst/>
            <a:rect l="l" t="t" r="r" b="b"/>
            <a:pathLst>
              <a:path w="5315983" h="2170481">
                <a:moveTo>
                  <a:pt x="67828" y="0"/>
                </a:moveTo>
                <a:lnTo>
                  <a:pt x="5248156" y="0"/>
                </a:lnTo>
                <a:cubicBezTo>
                  <a:pt x="5285616" y="0"/>
                  <a:pt x="5315983" y="30367"/>
                  <a:pt x="5315983" y="67828"/>
                </a:cubicBezTo>
                <a:lnTo>
                  <a:pt x="5315983" y="2102654"/>
                </a:lnTo>
                <a:cubicBezTo>
                  <a:pt x="5315983" y="2140114"/>
                  <a:pt x="5285616" y="2170481"/>
                  <a:pt x="5248156" y="2170481"/>
                </a:cubicBezTo>
                <a:lnTo>
                  <a:pt x="67828" y="2170481"/>
                </a:lnTo>
                <a:cubicBezTo>
                  <a:pt x="30367" y="2170481"/>
                  <a:pt x="0" y="2140114"/>
                  <a:pt x="0" y="2102654"/>
                </a:cubicBezTo>
                <a:lnTo>
                  <a:pt x="0" y="67828"/>
                </a:lnTo>
                <a:cubicBezTo>
                  <a:pt x="0" y="30367"/>
                  <a:pt x="30367" y="0"/>
                  <a:pt x="67828" y="0"/>
                </a:cubicBezTo>
                <a:close/>
              </a:path>
            </a:pathLst>
          </a:custGeom>
          <a:solidFill>
            <a:srgbClr val="0F172A"/>
          </a:solidFill>
          <a:ln/>
        </p:spPr>
      </p:sp>
      <p:sp>
        <p:nvSpPr>
          <p:cNvPr id="10" name="Text 8"/>
          <p:cNvSpPr/>
          <p:nvPr/>
        </p:nvSpPr>
        <p:spPr>
          <a:xfrm>
            <a:off x="618926" y="1670253"/>
            <a:ext cx="5180328" cy="203483"/>
          </a:xfrm>
          <a:prstGeom prst="rect">
            <a:avLst/>
          </a:prstGeom>
          <a:noFill/>
          <a:ln/>
        </p:spPr>
        <p:txBody>
          <a:bodyPr wrap="square" lIns="0" tIns="0" rIns="0" bIns="0" rtlCol="0" anchor="ctr"/>
          <a:lstStyle/>
          <a:p>
            <a:pPr>
              <a:lnSpc>
                <a:spcPct val="130000"/>
              </a:lnSpc>
            </a:pPr>
            <a:r>
              <a:rPr lang="en-US" sz="1068" b="1" dirty="0">
                <a:solidFill>
                  <a:srgbClr val="F1F5F9"/>
                </a:solidFill>
                <a:latin typeface="MiSans" pitchFamily="34" charset="0"/>
                <a:ea typeface="MiSans" pitchFamily="34" charset="-122"/>
                <a:cs typeface="MiSans" pitchFamily="34" charset="-120"/>
              </a:rPr>
              <a:t>Prompt:</a:t>
            </a:r>
            <a:endParaRPr lang="en-US" sz="1600" dirty="0"/>
          </a:p>
        </p:txBody>
      </p:sp>
      <p:sp>
        <p:nvSpPr>
          <p:cNvPr id="11" name="Shape 9"/>
          <p:cNvSpPr/>
          <p:nvPr/>
        </p:nvSpPr>
        <p:spPr>
          <a:xfrm>
            <a:off x="618926" y="1941563"/>
            <a:ext cx="4985324" cy="1695688"/>
          </a:xfrm>
          <a:custGeom>
            <a:avLst/>
            <a:gdLst/>
            <a:ahLst/>
            <a:cxnLst/>
            <a:rect l="l" t="t" r="r" b="b"/>
            <a:pathLst>
              <a:path w="4985324" h="1695688">
                <a:moveTo>
                  <a:pt x="67828" y="0"/>
                </a:moveTo>
                <a:lnTo>
                  <a:pt x="4917497" y="0"/>
                </a:lnTo>
                <a:cubicBezTo>
                  <a:pt x="4954957" y="0"/>
                  <a:pt x="4985324" y="30367"/>
                  <a:pt x="4985324" y="67828"/>
                </a:cubicBezTo>
                <a:lnTo>
                  <a:pt x="4985324" y="1627861"/>
                </a:lnTo>
                <a:cubicBezTo>
                  <a:pt x="4985324" y="1665321"/>
                  <a:pt x="4954957" y="1695688"/>
                  <a:pt x="4917497" y="1695688"/>
                </a:cubicBezTo>
                <a:lnTo>
                  <a:pt x="67828" y="1695688"/>
                </a:lnTo>
                <a:cubicBezTo>
                  <a:pt x="30367" y="1695688"/>
                  <a:pt x="0" y="1665321"/>
                  <a:pt x="0" y="1627861"/>
                </a:cubicBezTo>
                <a:lnTo>
                  <a:pt x="0" y="67828"/>
                </a:lnTo>
                <a:cubicBezTo>
                  <a:pt x="0" y="30393"/>
                  <a:pt x="30393" y="0"/>
                  <a:pt x="67828" y="0"/>
                </a:cubicBezTo>
                <a:close/>
              </a:path>
            </a:pathLst>
          </a:custGeom>
          <a:solidFill>
            <a:srgbClr val="1E293B"/>
          </a:solidFill>
          <a:ln/>
        </p:spPr>
      </p:sp>
      <p:sp>
        <p:nvSpPr>
          <p:cNvPr id="12" name="Text 10"/>
          <p:cNvSpPr/>
          <p:nvPr/>
        </p:nvSpPr>
        <p:spPr>
          <a:xfrm>
            <a:off x="720668" y="2060261"/>
            <a:ext cx="1933747" cy="127177"/>
          </a:xfrm>
          <a:prstGeom prst="rect">
            <a:avLst/>
          </a:prstGeom>
          <a:noFill/>
          <a:ln/>
        </p:spPr>
        <p:txBody>
          <a:bodyPr wrap="square" lIns="0" tIns="0" rIns="0" bIns="0" rtlCol="0" anchor="ctr"/>
          <a:lstStyle/>
          <a:p>
            <a:pPr>
              <a:lnSpc>
                <a:spcPct val="130000"/>
              </a:lnSpc>
            </a:pPr>
            <a:r>
              <a:rPr lang="en-US" sz="868" dirty="0">
                <a:solidFill>
                  <a:srgbClr val="F1F5F9">
                    <a:alpha val="50000"/>
                  </a:srgbClr>
                </a:solidFill>
                <a:latin typeface="MiSans" pitchFamily="34" charset="0"/>
                <a:ea typeface="MiSans" pitchFamily="34" charset="-122"/>
                <a:cs typeface="MiSans" pitchFamily="34" charset="-120"/>
              </a:rPr>
              <a:t>CONTEXT: You are provided with:</a:t>
            </a:r>
            <a:endParaRPr lang="en-US" sz="1600" dirty="0"/>
          </a:p>
        </p:txBody>
      </p:sp>
      <p:sp>
        <p:nvSpPr>
          <p:cNvPr id="13" name="Text 11"/>
          <p:cNvSpPr/>
          <p:nvPr/>
        </p:nvSpPr>
        <p:spPr>
          <a:xfrm>
            <a:off x="720668" y="2225591"/>
            <a:ext cx="1327804"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1. Python function...</a:t>
            </a:r>
            <a:endParaRPr lang="en-US" sz="1600" dirty="0"/>
          </a:p>
        </p:txBody>
      </p:sp>
      <p:sp>
        <p:nvSpPr>
          <p:cNvPr id="14" name="Text 12"/>
          <p:cNvSpPr/>
          <p:nvPr/>
        </p:nvSpPr>
        <p:spPr>
          <a:xfrm>
            <a:off x="720668" y="2390921"/>
            <a:ext cx="1449019"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2. Runtime profiling...</a:t>
            </a:r>
            <a:endParaRPr lang="en-US" sz="1600" dirty="0"/>
          </a:p>
        </p:txBody>
      </p:sp>
      <p:sp>
        <p:nvSpPr>
          <p:cNvPr id="15" name="Text 13"/>
          <p:cNvSpPr/>
          <p:nvPr/>
        </p:nvSpPr>
        <p:spPr>
          <a:xfrm>
            <a:off x="720668" y="2556250"/>
            <a:ext cx="1206588"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3. Runtime limit...</a:t>
            </a:r>
            <a:endParaRPr lang="en-US" sz="1600" dirty="0"/>
          </a:p>
        </p:txBody>
      </p:sp>
      <p:sp>
        <p:nvSpPr>
          <p:cNvPr id="16" name="Text 14"/>
          <p:cNvSpPr/>
          <p:nvPr/>
        </p:nvSpPr>
        <p:spPr>
          <a:xfrm>
            <a:off x="720668" y="2886910"/>
            <a:ext cx="1933747" cy="127177"/>
          </a:xfrm>
          <a:prstGeom prst="rect">
            <a:avLst/>
          </a:prstGeom>
          <a:noFill/>
          <a:ln/>
        </p:spPr>
        <p:txBody>
          <a:bodyPr wrap="square" lIns="0" tIns="0" rIns="0" bIns="0" rtlCol="0" anchor="ctr"/>
          <a:lstStyle/>
          <a:p>
            <a:pPr>
              <a:lnSpc>
                <a:spcPct val="130000"/>
              </a:lnSpc>
            </a:pPr>
            <a:r>
              <a:rPr lang="en-US" sz="868" dirty="0">
                <a:solidFill>
                  <a:srgbClr val="8B5CF6"/>
                </a:solidFill>
                <a:latin typeface="MiSans" pitchFamily="34" charset="0"/>
                <a:ea typeface="MiSans" pitchFamily="34" charset="-122"/>
                <a:cs typeface="MiSans" pitchFamily="34" charset="-120"/>
              </a:rPr>
              <a:t>TASK: What is the maximal input</a:t>
            </a:r>
            <a:endParaRPr lang="en-US" sz="1600" dirty="0"/>
          </a:p>
        </p:txBody>
      </p:sp>
      <p:sp>
        <p:nvSpPr>
          <p:cNvPr id="17" name="Text 15"/>
          <p:cNvSpPr/>
          <p:nvPr/>
        </p:nvSpPr>
        <p:spPr>
          <a:xfrm>
            <a:off x="720668" y="3052239"/>
            <a:ext cx="1691317" cy="127177"/>
          </a:xfrm>
          <a:prstGeom prst="rect">
            <a:avLst/>
          </a:prstGeom>
          <a:noFill/>
          <a:ln/>
        </p:spPr>
        <p:txBody>
          <a:bodyPr wrap="square" lIns="0" tIns="0" rIns="0" bIns="0" rtlCol="0" anchor="ctr"/>
          <a:lstStyle/>
          <a:p>
            <a:pPr>
              <a:lnSpc>
                <a:spcPct val="130000"/>
              </a:lnSpc>
            </a:pPr>
            <a:r>
              <a:rPr lang="en-US" sz="868" dirty="0">
                <a:solidFill>
                  <a:srgbClr val="8B5CF6"/>
                </a:solidFill>
                <a:latin typeface="MiSans" pitchFamily="34" charset="0"/>
                <a:ea typeface="MiSans" pitchFamily="34" charset="-122"/>
                <a:cs typeface="MiSans" pitchFamily="34" charset="-120"/>
              </a:rPr>
              <a:t>the function can run in the</a:t>
            </a:r>
            <a:endParaRPr lang="en-US" sz="1600" dirty="0"/>
          </a:p>
        </p:txBody>
      </p:sp>
      <p:sp>
        <p:nvSpPr>
          <p:cNvPr id="18" name="Text 16"/>
          <p:cNvSpPr/>
          <p:nvPr/>
        </p:nvSpPr>
        <p:spPr>
          <a:xfrm>
            <a:off x="720668" y="3217569"/>
            <a:ext cx="721727" cy="127177"/>
          </a:xfrm>
          <a:prstGeom prst="rect">
            <a:avLst/>
          </a:prstGeom>
          <a:noFill/>
          <a:ln/>
        </p:spPr>
        <p:txBody>
          <a:bodyPr wrap="square" lIns="0" tIns="0" rIns="0" bIns="0" rtlCol="0" anchor="ctr"/>
          <a:lstStyle/>
          <a:p>
            <a:pPr>
              <a:lnSpc>
                <a:spcPct val="130000"/>
              </a:lnSpc>
            </a:pPr>
            <a:r>
              <a:rPr lang="en-US" sz="868" dirty="0">
                <a:solidFill>
                  <a:srgbClr val="8B5CF6"/>
                </a:solidFill>
                <a:latin typeface="MiSans" pitchFamily="34" charset="0"/>
                <a:ea typeface="MiSans" pitchFamily="34" charset="-122"/>
                <a:cs typeface="MiSans" pitchFamily="34" charset="-120"/>
              </a:rPr>
              <a:t>time limit?</a:t>
            </a:r>
            <a:endParaRPr lang="en-US" sz="1600" dirty="0"/>
          </a:p>
        </p:txBody>
      </p:sp>
      <p:sp>
        <p:nvSpPr>
          <p:cNvPr id="19" name="Text 17"/>
          <p:cNvSpPr/>
          <p:nvPr/>
        </p:nvSpPr>
        <p:spPr>
          <a:xfrm>
            <a:off x="720668" y="3548228"/>
            <a:ext cx="1145914" cy="127177"/>
          </a:xfrm>
          <a:prstGeom prst="rect">
            <a:avLst/>
          </a:prstGeom>
          <a:noFill/>
          <a:ln/>
        </p:spPr>
        <p:txBody>
          <a:bodyPr wrap="square" lIns="0" tIns="0" rIns="0" bIns="0" rtlCol="0" anchor="ctr"/>
          <a:lstStyle/>
          <a:p>
            <a:pPr>
              <a:lnSpc>
                <a:spcPct val="130000"/>
              </a:lnSpc>
            </a:pPr>
            <a:r>
              <a:rPr lang="en-US" sz="868" dirty="0">
                <a:solidFill>
                  <a:srgbClr val="10B981"/>
                </a:solidFill>
                <a:latin typeface="MiSans" pitchFamily="34" charset="0"/>
                <a:ea typeface="MiSans" pitchFamily="34" charset="-122"/>
                <a:cs typeface="MiSans" pitchFamily="34" charset="-120"/>
              </a:rPr>
              <a:t>LIMIT: 100 seconds</a:t>
            </a:r>
            <a:endParaRPr lang="en-US" sz="1600" dirty="0"/>
          </a:p>
        </p:txBody>
      </p:sp>
      <p:sp>
        <p:nvSpPr>
          <p:cNvPr id="20" name="Shape 18"/>
          <p:cNvSpPr/>
          <p:nvPr/>
        </p:nvSpPr>
        <p:spPr>
          <a:xfrm>
            <a:off x="521424" y="3844974"/>
            <a:ext cx="5307505" cy="1025892"/>
          </a:xfrm>
          <a:custGeom>
            <a:avLst/>
            <a:gdLst/>
            <a:ahLst/>
            <a:cxnLst/>
            <a:rect l="l" t="t" r="r" b="b"/>
            <a:pathLst>
              <a:path w="5307505" h="1025892">
                <a:moveTo>
                  <a:pt x="67832" y="0"/>
                </a:moveTo>
                <a:lnTo>
                  <a:pt x="5239673" y="0"/>
                </a:lnTo>
                <a:cubicBezTo>
                  <a:pt x="5277135" y="0"/>
                  <a:pt x="5307505" y="30369"/>
                  <a:pt x="5307505" y="67832"/>
                </a:cubicBezTo>
                <a:lnTo>
                  <a:pt x="5307505" y="958060"/>
                </a:lnTo>
                <a:cubicBezTo>
                  <a:pt x="5307505" y="995522"/>
                  <a:pt x="5277135" y="1025892"/>
                  <a:pt x="5239673" y="1025892"/>
                </a:cubicBezTo>
                <a:lnTo>
                  <a:pt x="67832" y="1025892"/>
                </a:lnTo>
                <a:cubicBezTo>
                  <a:pt x="30369" y="1025892"/>
                  <a:pt x="0" y="995522"/>
                  <a:pt x="0" y="958060"/>
                </a:cubicBezTo>
                <a:lnTo>
                  <a:pt x="0" y="67832"/>
                </a:lnTo>
                <a:cubicBezTo>
                  <a:pt x="0" y="30394"/>
                  <a:pt x="30394" y="0"/>
                  <a:pt x="67832" y="0"/>
                </a:cubicBezTo>
                <a:close/>
              </a:path>
            </a:pathLst>
          </a:custGeom>
          <a:solidFill>
            <a:srgbClr val="0F172A"/>
          </a:solidFill>
          <a:ln w="12700">
            <a:solidFill>
              <a:srgbClr val="10B981">
                <a:alpha val="30196"/>
              </a:srgbClr>
            </a:solidFill>
            <a:prstDash val="solid"/>
          </a:ln>
        </p:spPr>
      </p:sp>
      <p:sp>
        <p:nvSpPr>
          <p:cNvPr id="21" name="Text 19"/>
          <p:cNvSpPr/>
          <p:nvPr/>
        </p:nvSpPr>
        <p:spPr>
          <a:xfrm>
            <a:off x="627405" y="3950954"/>
            <a:ext cx="5163371" cy="203483"/>
          </a:xfrm>
          <a:prstGeom prst="rect">
            <a:avLst/>
          </a:prstGeom>
          <a:noFill/>
          <a:ln/>
        </p:spPr>
        <p:txBody>
          <a:bodyPr wrap="square" lIns="0" tIns="0" rIns="0" bIns="0" rtlCol="0" anchor="ctr"/>
          <a:lstStyle/>
          <a:p>
            <a:pPr>
              <a:lnSpc>
                <a:spcPct val="130000"/>
              </a:lnSpc>
            </a:pPr>
            <a:r>
              <a:rPr lang="en-US" sz="1068" b="1" dirty="0">
                <a:solidFill>
                  <a:srgbClr val="10B981"/>
                </a:solidFill>
                <a:latin typeface="MiSans" pitchFamily="34" charset="0"/>
                <a:ea typeface="MiSans" pitchFamily="34" charset="-122"/>
                <a:cs typeface="MiSans" pitchFamily="34" charset="-120"/>
              </a:rPr>
              <a:t>Kết quả ChatGPT:</a:t>
            </a:r>
            <a:endParaRPr lang="en-US" sz="1600" dirty="0"/>
          </a:p>
        </p:txBody>
      </p:sp>
      <p:sp>
        <p:nvSpPr>
          <p:cNvPr id="22" name="Text 20"/>
          <p:cNvSpPr/>
          <p:nvPr/>
        </p:nvSpPr>
        <p:spPr>
          <a:xfrm>
            <a:off x="627405" y="4256178"/>
            <a:ext cx="864801"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Giá trị n tối đa:</a:t>
            </a:r>
            <a:endParaRPr lang="en-US" sz="1600" dirty="0"/>
          </a:p>
        </p:txBody>
      </p:sp>
      <p:sp>
        <p:nvSpPr>
          <p:cNvPr id="23" name="Text 21"/>
          <p:cNvSpPr/>
          <p:nvPr/>
        </p:nvSpPr>
        <p:spPr>
          <a:xfrm>
            <a:off x="5276771" y="4222264"/>
            <a:ext cx="525663" cy="237396"/>
          </a:xfrm>
          <a:prstGeom prst="rect">
            <a:avLst/>
          </a:prstGeom>
          <a:noFill/>
          <a:ln/>
        </p:spPr>
        <p:txBody>
          <a:bodyPr wrap="square" lIns="0" tIns="0" rIns="0" bIns="0" rtlCol="0" anchor="ctr"/>
          <a:lstStyle/>
          <a:p>
            <a:pPr>
              <a:lnSpc>
                <a:spcPct val="130000"/>
              </a:lnSpc>
            </a:pPr>
            <a:r>
              <a:rPr lang="en-US" sz="1202" b="1" dirty="0">
                <a:solidFill>
                  <a:srgbClr val="10B981"/>
                </a:solidFill>
                <a:latin typeface="MiSans" pitchFamily="34" charset="0"/>
                <a:ea typeface="MiSans" pitchFamily="34" charset="-122"/>
                <a:cs typeface="MiSans" pitchFamily="34" charset="-120"/>
              </a:rPr>
              <a:t>n = 44</a:t>
            </a:r>
            <a:endParaRPr lang="en-US" sz="1600" dirty="0"/>
          </a:p>
        </p:txBody>
      </p:sp>
      <p:sp>
        <p:nvSpPr>
          <p:cNvPr id="24" name="Text 22"/>
          <p:cNvSpPr/>
          <p:nvPr/>
        </p:nvSpPr>
        <p:spPr>
          <a:xfrm>
            <a:off x="627405" y="4561402"/>
            <a:ext cx="1042848"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Thờigian dự đoán:</a:t>
            </a:r>
            <a:endParaRPr lang="en-US" sz="1600" dirty="0"/>
          </a:p>
        </p:txBody>
      </p:sp>
      <p:sp>
        <p:nvSpPr>
          <p:cNvPr id="25" name="Text 23"/>
          <p:cNvSpPr/>
          <p:nvPr/>
        </p:nvSpPr>
        <p:spPr>
          <a:xfrm>
            <a:off x="5126941" y="4527488"/>
            <a:ext cx="669797" cy="237396"/>
          </a:xfrm>
          <a:prstGeom prst="rect">
            <a:avLst/>
          </a:prstGeom>
          <a:noFill/>
          <a:ln/>
        </p:spPr>
        <p:txBody>
          <a:bodyPr wrap="square" lIns="0" tIns="0" rIns="0" bIns="0" rtlCol="0" anchor="ctr"/>
          <a:lstStyle/>
          <a:p>
            <a:pPr>
              <a:lnSpc>
                <a:spcPct val="130000"/>
              </a:lnSpc>
            </a:pPr>
            <a:r>
              <a:rPr lang="en-US" sz="1202" b="1" dirty="0">
                <a:solidFill>
                  <a:srgbClr val="10B981"/>
                </a:solidFill>
                <a:latin typeface="MiSans" pitchFamily="34" charset="0"/>
                <a:ea typeface="MiSans" pitchFamily="34" charset="-122"/>
                <a:cs typeface="MiSans" pitchFamily="34" charset="-120"/>
              </a:rPr>
              <a:t>~85 giây</a:t>
            </a:r>
            <a:endParaRPr lang="en-US" sz="1600" dirty="0"/>
          </a:p>
        </p:txBody>
      </p:sp>
      <p:sp>
        <p:nvSpPr>
          <p:cNvPr id="26" name="Shape 24"/>
          <p:cNvSpPr/>
          <p:nvPr/>
        </p:nvSpPr>
        <p:spPr>
          <a:xfrm>
            <a:off x="343377" y="5193046"/>
            <a:ext cx="5663599" cy="1653296"/>
          </a:xfrm>
          <a:custGeom>
            <a:avLst/>
            <a:gdLst/>
            <a:ahLst/>
            <a:cxnLst/>
            <a:rect l="l" t="t" r="r" b="b"/>
            <a:pathLst>
              <a:path w="5663599" h="1653296">
                <a:moveTo>
                  <a:pt x="101744" y="0"/>
                </a:moveTo>
                <a:lnTo>
                  <a:pt x="5561856" y="0"/>
                </a:lnTo>
                <a:cubicBezTo>
                  <a:pt x="5618047" y="0"/>
                  <a:pt x="5663599" y="45552"/>
                  <a:pt x="5663599" y="101744"/>
                </a:cubicBezTo>
                <a:lnTo>
                  <a:pt x="5663599" y="1551552"/>
                </a:lnTo>
                <a:cubicBezTo>
                  <a:pt x="5663599" y="1607744"/>
                  <a:pt x="5618047" y="1653296"/>
                  <a:pt x="5561856" y="1653296"/>
                </a:cubicBezTo>
                <a:lnTo>
                  <a:pt x="101744" y="1653296"/>
                </a:lnTo>
                <a:cubicBezTo>
                  <a:pt x="45552" y="1653296"/>
                  <a:pt x="0" y="1607744"/>
                  <a:pt x="0" y="1551552"/>
                </a:cubicBezTo>
                <a:lnTo>
                  <a:pt x="0" y="101744"/>
                </a:lnTo>
                <a:cubicBezTo>
                  <a:pt x="0" y="45590"/>
                  <a:pt x="45590" y="0"/>
                  <a:pt x="101744" y="0"/>
                </a:cubicBezTo>
                <a:close/>
              </a:path>
            </a:pathLst>
          </a:custGeom>
          <a:solidFill>
            <a:srgbClr val="0F172A"/>
          </a:solidFill>
          <a:ln w="12700">
            <a:solidFill>
              <a:srgbClr val="3B82F6">
                <a:alpha val="30196"/>
              </a:srgbClr>
            </a:solidFill>
            <a:prstDash val="solid"/>
          </a:ln>
        </p:spPr>
      </p:sp>
      <p:sp>
        <p:nvSpPr>
          <p:cNvPr id="27" name="Text 25"/>
          <p:cNvSpPr/>
          <p:nvPr/>
        </p:nvSpPr>
        <p:spPr>
          <a:xfrm>
            <a:off x="483271" y="5332940"/>
            <a:ext cx="5460117" cy="237396"/>
          </a:xfrm>
          <a:prstGeom prst="rect">
            <a:avLst/>
          </a:prstGeom>
          <a:noFill/>
          <a:ln/>
        </p:spPr>
        <p:txBody>
          <a:bodyPr wrap="square" lIns="0" tIns="0" rIns="0" bIns="0" rtlCol="0" anchor="ctr"/>
          <a:lstStyle/>
          <a:p>
            <a:pPr>
              <a:lnSpc>
                <a:spcPct val="130000"/>
              </a:lnSpc>
            </a:pPr>
            <a:r>
              <a:rPr lang="en-US" sz="1202" b="1" dirty="0">
                <a:solidFill>
                  <a:srgbClr val="3B82F6"/>
                </a:solidFill>
                <a:latin typeface="MiSans" pitchFamily="34" charset="0"/>
                <a:ea typeface="MiSans" pitchFamily="34" charset="-122"/>
                <a:cs typeface="MiSans" pitchFamily="34" charset="-120"/>
              </a:rPr>
              <a:t>Dữ liệu profiling đầu vào</a:t>
            </a:r>
            <a:endParaRPr lang="en-US" sz="1600" dirty="0"/>
          </a:p>
        </p:txBody>
      </p:sp>
      <p:sp>
        <p:nvSpPr>
          <p:cNvPr id="28" name="Shape 26"/>
          <p:cNvSpPr/>
          <p:nvPr/>
        </p:nvSpPr>
        <p:spPr>
          <a:xfrm>
            <a:off x="483271" y="5672078"/>
            <a:ext cx="5383811" cy="1034370"/>
          </a:xfrm>
          <a:custGeom>
            <a:avLst/>
            <a:gdLst/>
            <a:ahLst/>
            <a:cxnLst/>
            <a:rect l="l" t="t" r="r" b="b"/>
            <a:pathLst>
              <a:path w="5383811" h="1034370">
                <a:moveTo>
                  <a:pt x="67824" y="0"/>
                </a:moveTo>
                <a:lnTo>
                  <a:pt x="5315987" y="0"/>
                </a:lnTo>
                <a:cubicBezTo>
                  <a:pt x="5353445" y="0"/>
                  <a:pt x="5383811" y="30366"/>
                  <a:pt x="5383811" y="67824"/>
                </a:cubicBezTo>
                <a:lnTo>
                  <a:pt x="5383811" y="966546"/>
                </a:lnTo>
                <a:cubicBezTo>
                  <a:pt x="5383811" y="1004004"/>
                  <a:pt x="5353445" y="1034370"/>
                  <a:pt x="5315987" y="1034370"/>
                </a:cubicBezTo>
                <a:lnTo>
                  <a:pt x="67824" y="1034370"/>
                </a:lnTo>
                <a:cubicBezTo>
                  <a:pt x="30366" y="1034370"/>
                  <a:pt x="0" y="1004004"/>
                  <a:pt x="0" y="966546"/>
                </a:cubicBezTo>
                <a:lnTo>
                  <a:pt x="0" y="67824"/>
                </a:lnTo>
                <a:cubicBezTo>
                  <a:pt x="0" y="30366"/>
                  <a:pt x="30366" y="0"/>
                  <a:pt x="67824" y="0"/>
                </a:cubicBezTo>
                <a:close/>
              </a:path>
            </a:pathLst>
          </a:custGeom>
          <a:solidFill>
            <a:srgbClr val="1E293B"/>
          </a:solidFill>
          <a:ln/>
        </p:spPr>
      </p:sp>
      <p:sp>
        <p:nvSpPr>
          <p:cNvPr id="29" name="Text 27"/>
          <p:cNvSpPr/>
          <p:nvPr/>
        </p:nvSpPr>
        <p:spPr>
          <a:xfrm>
            <a:off x="585013" y="5790776"/>
            <a:ext cx="964158"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fib(10): 8.58μs</a:t>
            </a:r>
            <a:endParaRPr lang="en-US" sz="1600" dirty="0"/>
          </a:p>
        </p:txBody>
      </p:sp>
      <p:sp>
        <p:nvSpPr>
          <p:cNvPr id="30" name="Text 28"/>
          <p:cNvSpPr/>
          <p:nvPr/>
        </p:nvSpPr>
        <p:spPr>
          <a:xfrm>
            <a:off x="585013" y="5956106"/>
            <a:ext cx="964158"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fib(20): 0.79ms</a:t>
            </a:r>
            <a:endParaRPr lang="en-US" sz="1600" dirty="0"/>
          </a:p>
        </p:txBody>
      </p:sp>
      <p:sp>
        <p:nvSpPr>
          <p:cNvPr id="31" name="Text 29"/>
          <p:cNvSpPr/>
          <p:nvPr/>
        </p:nvSpPr>
        <p:spPr>
          <a:xfrm>
            <a:off x="585013" y="6121435"/>
            <a:ext cx="964158"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fib(30): 97.7ms</a:t>
            </a:r>
            <a:endParaRPr lang="en-US" sz="1600" dirty="0"/>
          </a:p>
        </p:txBody>
      </p:sp>
      <p:sp>
        <p:nvSpPr>
          <p:cNvPr id="32" name="Text 30"/>
          <p:cNvSpPr/>
          <p:nvPr/>
        </p:nvSpPr>
        <p:spPr>
          <a:xfrm>
            <a:off x="585013" y="6286765"/>
            <a:ext cx="903616"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fib(35): 1.02s</a:t>
            </a:r>
            <a:endParaRPr lang="en-US" sz="1600" dirty="0"/>
          </a:p>
        </p:txBody>
      </p:sp>
      <p:sp>
        <p:nvSpPr>
          <p:cNvPr id="33" name="Text 31"/>
          <p:cNvSpPr/>
          <p:nvPr/>
        </p:nvSpPr>
        <p:spPr>
          <a:xfrm>
            <a:off x="585013" y="6452095"/>
            <a:ext cx="903616"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fib(40): 11.3s</a:t>
            </a:r>
            <a:endParaRPr lang="en-US" sz="1600" dirty="0"/>
          </a:p>
        </p:txBody>
      </p:sp>
      <p:sp>
        <p:nvSpPr>
          <p:cNvPr id="34" name="Shape 32"/>
          <p:cNvSpPr/>
          <p:nvPr/>
        </p:nvSpPr>
        <p:spPr>
          <a:xfrm>
            <a:off x="6185951" y="1021652"/>
            <a:ext cx="5663599" cy="4188350"/>
          </a:xfrm>
          <a:custGeom>
            <a:avLst/>
            <a:gdLst/>
            <a:ahLst/>
            <a:cxnLst/>
            <a:rect l="l" t="t" r="r" b="b"/>
            <a:pathLst>
              <a:path w="5663599" h="4188350">
                <a:moveTo>
                  <a:pt x="101735" y="0"/>
                </a:moveTo>
                <a:lnTo>
                  <a:pt x="5561864" y="0"/>
                </a:lnTo>
                <a:cubicBezTo>
                  <a:pt x="5618051" y="0"/>
                  <a:pt x="5663599" y="45548"/>
                  <a:pt x="5663599" y="101735"/>
                </a:cubicBezTo>
                <a:lnTo>
                  <a:pt x="5663599" y="4086615"/>
                </a:lnTo>
                <a:cubicBezTo>
                  <a:pt x="5663599" y="4142802"/>
                  <a:pt x="5618051" y="4188350"/>
                  <a:pt x="5561864" y="4188350"/>
                </a:cubicBezTo>
                <a:lnTo>
                  <a:pt x="101735" y="4188350"/>
                </a:lnTo>
                <a:cubicBezTo>
                  <a:pt x="45548" y="4188350"/>
                  <a:pt x="0" y="4142802"/>
                  <a:pt x="0" y="4086615"/>
                </a:cubicBezTo>
                <a:lnTo>
                  <a:pt x="0" y="101735"/>
                </a:lnTo>
                <a:cubicBezTo>
                  <a:pt x="0" y="45548"/>
                  <a:pt x="45548" y="0"/>
                  <a:pt x="101735"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35" name="Shape 33"/>
          <p:cNvSpPr/>
          <p:nvPr/>
        </p:nvSpPr>
        <p:spPr>
          <a:xfrm>
            <a:off x="6380955" y="1229374"/>
            <a:ext cx="169569" cy="169569"/>
          </a:xfrm>
          <a:custGeom>
            <a:avLst/>
            <a:gdLst/>
            <a:ahLst/>
            <a:cxnLst/>
            <a:rect l="l" t="t" r="r" b="b"/>
            <a:pathLst>
              <a:path w="169569" h="169569">
                <a:moveTo>
                  <a:pt x="21196" y="21196"/>
                </a:moveTo>
                <a:cubicBezTo>
                  <a:pt x="9505" y="21196"/>
                  <a:pt x="0" y="30701"/>
                  <a:pt x="0" y="42392"/>
                </a:cubicBezTo>
                <a:lnTo>
                  <a:pt x="0" y="44843"/>
                </a:lnTo>
                <a:cubicBezTo>
                  <a:pt x="0" y="47095"/>
                  <a:pt x="1457" y="49016"/>
                  <a:pt x="3345" y="50241"/>
                </a:cubicBezTo>
                <a:cubicBezTo>
                  <a:pt x="7717" y="53090"/>
                  <a:pt x="10598" y="57991"/>
                  <a:pt x="10598" y="63588"/>
                </a:cubicBezTo>
                <a:cubicBezTo>
                  <a:pt x="10598" y="69185"/>
                  <a:pt x="7717" y="74087"/>
                  <a:pt x="3345" y="76935"/>
                </a:cubicBezTo>
                <a:cubicBezTo>
                  <a:pt x="1457" y="78161"/>
                  <a:pt x="0" y="80082"/>
                  <a:pt x="0" y="82334"/>
                </a:cubicBezTo>
                <a:lnTo>
                  <a:pt x="0" y="100682"/>
                </a:lnTo>
                <a:lnTo>
                  <a:pt x="169569" y="100682"/>
                </a:lnTo>
                <a:lnTo>
                  <a:pt x="169569" y="82334"/>
                </a:lnTo>
                <a:cubicBezTo>
                  <a:pt x="169569" y="80082"/>
                  <a:pt x="168112" y="78161"/>
                  <a:pt x="166224" y="76935"/>
                </a:cubicBezTo>
                <a:cubicBezTo>
                  <a:pt x="161852" y="74087"/>
                  <a:pt x="158971" y="69185"/>
                  <a:pt x="158971" y="63588"/>
                </a:cubicBezTo>
                <a:cubicBezTo>
                  <a:pt x="158971" y="57991"/>
                  <a:pt x="161852" y="53090"/>
                  <a:pt x="166224" y="50241"/>
                </a:cubicBezTo>
                <a:cubicBezTo>
                  <a:pt x="168112" y="49016"/>
                  <a:pt x="169569" y="47095"/>
                  <a:pt x="169569" y="44843"/>
                </a:cubicBezTo>
                <a:lnTo>
                  <a:pt x="169569" y="42392"/>
                </a:lnTo>
                <a:cubicBezTo>
                  <a:pt x="169569" y="30701"/>
                  <a:pt x="160064" y="21196"/>
                  <a:pt x="148373" y="21196"/>
                </a:cubicBezTo>
                <a:lnTo>
                  <a:pt x="21196" y="21196"/>
                </a:lnTo>
                <a:close/>
                <a:moveTo>
                  <a:pt x="169569" y="137775"/>
                </a:moveTo>
                <a:lnTo>
                  <a:pt x="169569" y="116579"/>
                </a:lnTo>
                <a:lnTo>
                  <a:pt x="0" y="116579"/>
                </a:lnTo>
                <a:lnTo>
                  <a:pt x="0" y="137775"/>
                </a:lnTo>
                <a:cubicBezTo>
                  <a:pt x="0" y="143637"/>
                  <a:pt x="4736" y="148373"/>
                  <a:pt x="10598" y="148373"/>
                </a:cubicBezTo>
                <a:lnTo>
                  <a:pt x="31794" y="148373"/>
                </a:lnTo>
                <a:lnTo>
                  <a:pt x="31794" y="140424"/>
                </a:lnTo>
                <a:cubicBezTo>
                  <a:pt x="31794" y="136019"/>
                  <a:pt x="35338" y="132476"/>
                  <a:pt x="39743" y="132476"/>
                </a:cubicBezTo>
                <a:cubicBezTo>
                  <a:pt x="44148" y="132476"/>
                  <a:pt x="47691" y="136019"/>
                  <a:pt x="47691" y="140424"/>
                </a:cubicBezTo>
                <a:lnTo>
                  <a:pt x="47691" y="148373"/>
                </a:lnTo>
                <a:lnTo>
                  <a:pt x="76836" y="148373"/>
                </a:lnTo>
                <a:lnTo>
                  <a:pt x="76836" y="140424"/>
                </a:lnTo>
                <a:cubicBezTo>
                  <a:pt x="76836" y="136019"/>
                  <a:pt x="80380" y="132476"/>
                  <a:pt x="84784" y="132476"/>
                </a:cubicBezTo>
                <a:cubicBezTo>
                  <a:pt x="89189" y="132476"/>
                  <a:pt x="92733" y="136019"/>
                  <a:pt x="92733" y="140424"/>
                </a:cubicBezTo>
                <a:lnTo>
                  <a:pt x="92733" y="148373"/>
                </a:lnTo>
                <a:lnTo>
                  <a:pt x="121878" y="148373"/>
                </a:lnTo>
                <a:lnTo>
                  <a:pt x="121878" y="140424"/>
                </a:lnTo>
                <a:cubicBezTo>
                  <a:pt x="121878" y="136019"/>
                  <a:pt x="125421" y="132476"/>
                  <a:pt x="129826" y="132476"/>
                </a:cubicBezTo>
                <a:cubicBezTo>
                  <a:pt x="134231" y="132476"/>
                  <a:pt x="137775" y="136019"/>
                  <a:pt x="137775" y="140424"/>
                </a:cubicBezTo>
                <a:lnTo>
                  <a:pt x="137775" y="148373"/>
                </a:lnTo>
                <a:lnTo>
                  <a:pt x="158971" y="148373"/>
                </a:lnTo>
                <a:cubicBezTo>
                  <a:pt x="164833" y="148373"/>
                  <a:pt x="169569" y="143637"/>
                  <a:pt x="169569" y="137775"/>
                </a:cubicBezTo>
                <a:close/>
                <a:moveTo>
                  <a:pt x="52990" y="52990"/>
                </a:moveTo>
                <a:lnTo>
                  <a:pt x="52990" y="74186"/>
                </a:lnTo>
                <a:cubicBezTo>
                  <a:pt x="52990" y="80048"/>
                  <a:pt x="48254" y="84784"/>
                  <a:pt x="42392" y="84784"/>
                </a:cubicBezTo>
                <a:cubicBezTo>
                  <a:pt x="36530" y="84784"/>
                  <a:pt x="31794" y="80048"/>
                  <a:pt x="31794" y="74186"/>
                </a:cubicBezTo>
                <a:lnTo>
                  <a:pt x="31794" y="52990"/>
                </a:lnTo>
                <a:cubicBezTo>
                  <a:pt x="31794" y="47128"/>
                  <a:pt x="36530" y="42392"/>
                  <a:pt x="42392" y="42392"/>
                </a:cubicBezTo>
                <a:cubicBezTo>
                  <a:pt x="48254" y="42392"/>
                  <a:pt x="52990" y="47128"/>
                  <a:pt x="52990" y="52990"/>
                </a:cubicBezTo>
                <a:close/>
                <a:moveTo>
                  <a:pt x="95382" y="52990"/>
                </a:moveTo>
                <a:lnTo>
                  <a:pt x="95382" y="74186"/>
                </a:lnTo>
                <a:cubicBezTo>
                  <a:pt x="95382" y="80048"/>
                  <a:pt x="90646" y="84784"/>
                  <a:pt x="84784" y="84784"/>
                </a:cubicBezTo>
                <a:cubicBezTo>
                  <a:pt x="78922" y="84784"/>
                  <a:pt x="74186" y="80048"/>
                  <a:pt x="74186" y="74186"/>
                </a:cubicBezTo>
                <a:lnTo>
                  <a:pt x="74186" y="52990"/>
                </a:lnTo>
                <a:cubicBezTo>
                  <a:pt x="74186" y="47128"/>
                  <a:pt x="78922" y="42392"/>
                  <a:pt x="84784" y="42392"/>
                </a:cubicBezTo>
                <a:cubicBezTo>
                  <a:pt x="90646" y="42392"/>
                  <a:pt x="95382" y="47128"/>
                  <a:pt x="95382" y="52990"/>
                </a:cubicBezTo>
                <a:close/>
                <a:moveTo>
                  <a:pt x="137775" y="52990"/>
                </a:moveTo>
                <a:lnTo>
                  <a:pt x="137775" y="74186"/>
                </a:lnTo>
                <a:cubicBezTo>
                  <a:pt x="137775" y="80048"/>
                  <a:pt x="133039" y="84784"/>
                  <a:pt x="127177" y="84784"/>
                </a:cubicBezTo>
                <a:cubicBezTo>
                  <a:pt x="121315" y="84784"/>
                  <a:pt x="116579" y="80048"/>
                  <a:pt x="116579" y="74186"/>
                </a:cubicBezTo>
                <a:lnTo>
                  <a:pt x="116579" y="52990"/>
                </a:lnTo>
                <a:cubicBezTo>
                  <a:pt x="116579" y="47128"/>
                  <a:pt x="121315" y="42392"/>
                  <a:pt x="127177" y="42392"/>
                </a:cubicBezTo>
                <a:cubicBezTo>
                  <a:pt x="133039" y="42392"/>
                  <a:pt x="137775" y="47128"/>
                  <a:pt x="137775" y="52990"/>
                </a:cubicBezTo>
                <a:close/>
              </a:path>
            </a:pathLst>
          </a:custGeom>
          <a:solidFill>
            <a:srgbClr val="8B5CF6"/>
          </a:solidFill>
          <a:ln/>
        </p:spPr>
      </p:sp>
      <p:sp>
        <p:nvSpPr>
          <p:cNvPr id="36" name="Text 34"/>
          <p:cNvSpPr/>
          <p:nvPr/>
        </p:nvSpPr>
        <p:spPr>
          <a:xfrm>
            <a:off x="6571720" y="1195460"/>
            <a:ext cx="5188807" cy="237396"/>
          </a:xfrm>
          <a:prstGeom prst="rect">
            <a:avLst/>
          </a:prstGeom>
          <a:noFill/>
          <a:ln/>
        </p:spPr>
        <p:txBody>
          <a:bodyPr wrap="square" lIns="0" tIns="0" rIns="0" bIns="0" rtlCol="0" anchor="ctr"/>
          <a:lstStyle/>
          <a:p>
            <a:pPr>
              <a:lnSpc>
                <a:spcPct val="120000"/>
              </a:lnSpc>
            </a:pPr>
            <a:r>
              <a:rPr lang="en-US" sz="1335" b="1" dirty="0">
                <a:solidFill>
                  <a:srgbClr val="8B5CF6"/>
                </a:solidFill>
                <a:latin typeface="MiSans" pitchFamily="34" charset="0"/>
                <a:ea typeface="MiSans" pitchFamily="34" charset="-122"/>
                <a:cs typeface="MiSans" pitchFamily="34" charset="-120"/>
              </a:rPr>
              <a:t>Xác định dung lượng bộ nhớ</a:t>
            </a:r>
            <a:endParaRPr lang="en-US" sz="1600" dirty="0"/>
          </a:p>
        </p:txBody>
      </p:sp>
      <p:sp>
        <p:nvSpPr>
          <p:cNvPr id="37" name="Shape 35"/>
          <p:cNvSpPr/>
          <p:nvPr/>
        </p:nvSpPr>
        <p:spPr>
          <a:xfrm>
            <a:off x="6359759" y="1568512"/>
            <a:ext cx="5315983" cy="2331572"/>
          </a:xfrm>
          <a:custGeom>
            <a:avLst/>
            <a:gdLst/>
            <a:ahLst/>
            <a:cxnLst/>
            <a:rect l="l" t="t" r="r" b="b"/>
            <a:pathLst>
              <a:path w="5315983" h="2331572">
                <a:moveTo>
                  <a:pt x="67825" y="0"/>
                </a:moveTo>
                <a:lnTo>
                  <a:pt x="5248158" y="0"/>
                </a:lnTo>
                <a:cubicBezTo>
                  <a:pt x="5285617" y="0"/>
                  <a:pt x="5315983" y="30366"/>
                  <a:pt x="5315983" y="67825"/>
                </a:cubicBezTo>
                <a:lnTo>
                  <a:pt x="5315983" y="2263746"/>
                </a:lnTo>
                <a:cubicBezTo>
                  <a:pt x="5315983" y="2301205"/>
                  <a:pt x="5285617" y="2331572"/>
                  <a:pt x="5248158" y="2331572"/>
                </a:cubicBezTo>
                <a:lnTo>
                  <a:pt x="67825" y="2331572"/>
                </a:lnTo>
                <a:cubicBezTo>
                  <a:pt x="30366" y="2331572"/>
                  <a:pt x="0" y="2301205"/>
                  <a:pt x="0" y="2263746"/>
                </a:cubicBezTo>
                <a:lnTo>
                  <a:pt x="0" y="67825"/>
                </a:lnTo>
                <a:cubicBezTo>
                  <a:pt x="0" y="30392"/>
                  <a:pt x="30392" y="0"/>
                  <a:pt x="67825" y="0"/>
                </a:cubicBezTo>
                <a:close/>
              </a:path>
            </a:pathLst>
          </a:custGeom>
          <a:solidFill>
            <a:srgbClr val="0F172A"/>
          </a:solidFill>
          <a:ln/>
        </p:spPr>
      </p:sp>
      <p:sp>
        <p:nvSpPr>
          <p:cNvPr id="38" name="Text 36"/>
          <p:cNvSpPr/>
          <p:nvPr/>
        </p:nvSpPr>
        <p:spPr>
          <a:xfrm>
            <a:off x="6461500" y="1670253"/>
            <a:ext cx="5180328" cy="203483"/>
          </a:xfrm>
          <a:prstGeom prst="rect">
            <a:avLst/>
          </a:prstGeom>
          <a:noFill/>
          <a:ln/>
        </p:spPr>
        <p:txBody>
          <a:bodyPr wrap="square" lIns="0" tIns="0" rIns="0" bIns="0" rtlCol="0" anchor="ctr"/>
          <a:lstStyle/>
          <a:p>
            <a:pPr>
              <a:lnSpc>
                <a:spcPct val="130000"/>
              </a:lnSpc>
            </a:pPr>
            <a:r>
              <a:rPr lang="en-US" sz="1068" b="1" dirty="0">
                <a:solidFill>
                  <a:srgbClr val="F1F5F9"/>
                </a:solidFill>
                <a:latin typeface="MiSans" pitchFamily="34" charset="0"/>
                <a:ea typeface="MiSans" pitchFamily="34" charset="-122"/>
                <a:cs typeface="MiSans" pitchFamily="34" charset="-120"/>
              </a:rPr>
              <a:t>Prompt:</a:t>
            </a:r>
            <a:endParaRPr lang="en-US" sz="1600" dirty="0"/>
          </a:p>
        </p:txBody>
      </p:sp>
      <p:sp>
        <p:nvSpPr>
          <p:cNvPr id="39" name="Shape 37"/>
          <p:cNvSpPr/>
          <p:nvPr/>
        </p:nvSpPr>
        <p:spPr>
          <a:xfrm>
            <a:off x="6461500" y="1941563"/>
            <a:ext cx="5112501" cy="1856779"/>
          </a:xfrm>
          <a:custGeom>
            <a:avLst/>
            <a:gdLst/>
            <a:ahLst/>
            <a:cxnLst/>
            <a:rect l="l" t="t" r="r" b="b"/>
            <a:pathLst>
              <a:path w="5112501" h="1856779">
                <a:moveTo>
                  <a:pt x="67828" y="0"/>
                </a:moveTo>
                <a:lnTo>
                  <a:pt x="5044673" y="0"/>
                </a:lnTo>
                <a:cubicBezTo>
                  <a:pt x="5082133" y="0"/>
                  <a:pt x="5112501" y="30368"/>
                  <a:pt x="5112501" y="67828"/>
                </a:cubicBezTo>
                <a:lnTo>
                  <a:pt x="5112501" y="1788951"/>
                </a:lnTo>
                <a:cubicBezTo>
                  <a:pt x="5112501" y="1826411"/>
                  <a:pt x="5082133" y="1856779"/>
                  <a:pt x="5044673" y="1856779"/>
                </a:cubicBezTo>
                <a:lnTo>
                  <a:pt x="67828" y="1856779"/>
                </a:lnTo>
                <a:cubicBezTo>
                  <a:pt x="30368" y="1856779"/>
                  <a:pt x="0" y="1826411"/>
                  <a:pt x="0" y="1788951"/>
                </a:cubicBezTo>
                <a:lnTo>
                  <a:pt x="0" y="67828"/>
                </a:lnTo>
                <a:cubicBezTo>
                  <a:pt x="0" y="30368"/>
                  <a:pt x="30368" y="0"/>
                  <a:pt x="67828" y="0"/>
                </a:cubicBezTo>
                <a:close/>
              </a:path>
            </a:pathLst>
          </a:custGeom>
          <a:solidFill>
            <a:srgbClr val="1E293B"/>
          </a:solidFill>
          <a:ln/>
        </p:spPr>
      </p:sp>
      <p:sp>
        <p:nvSpPr>
          <p:cNvPr id="40" name="Text 38"/>
          <p:cNvSpPr/>
          <p:nvPr/>
        </p:nvSpPr>
        <p:spPr>
          <a:xfrm>
            <a:off x="6563242" y="2060261"/>
            <a:ext cx="1933747" cy="127177"/>
          </a:xfrm>
          <a:prstGeom prst="rect">
            <a:avLst/>
          </a:prstGeom>
          <a:noFill/>
          <a:ln/>
        </p:spPr>
        <p:txBody>
          <a:bodyPr wrap="square" lIns="0" tIns="0" rIns="0" bIns="0" rtlCol="0" anchor="ctr"/>
          <a:lstStyle/>
          <a:p>
            <a:pPr>
              <a:lnSpc>
                <a:spcPct val="130000"/>
              </a:lnSpc>
            </a:pPr>
            <a:r>
              <a:rPr lang="en-US" sz="868" dirty="0">
                <a:solidFill>
                  <a:srgbClr val="F1F5F9">
                    <a:alpha val="50000"/>
                  </a:srgbClr>
                </a:solidFill>
                <a:latin typeface="MiSans" pitchFamily="34" charset="0"/>
                <a:ea typeface="MiSans" pitchFamily="34" charset="-122"/>
                <a:cs typeface="MiSans" pitchFamily="34" charset="-120"/>
              </a:rPr>
              <a:t>CONTEXT: You are provided with:</a:t>
            </a:r>
            <a:endParaRPr lang="en-US" sz="1600" dirty="0"/>
          </a:p>
        </p:txBody>
      </p:sp>
      <p:sp>
        <p:nvSpPr>
          <p:cNvPr id="41" name="Text 39"/>
          <p:cNvSpPr/>
          <p:nvPr/>
        </p:nvSpPr>
        <p:spPr>
          <a:xfrm>
            <a:off x="6563242" y="2225591"/>
            <a:ext cx="1327804"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1. Python function...</a:t>
            </a:r>
            <a:endParaRPr lang="en-US" sz="1600" dirty="0"/>
          </a:p>
        </p:txBody>
      </p:sp>
      <p:sp>
        <p:nvSpPr>
          <p:cNvPr id="42" name="Text 40"/>
          <p:cNvSpPr/>
          <p:nvPr/>
        </p:nvSpPr>
        <p:spPr>
          <a:xfrm>
            <a:off x="6563242" y="2390921"/>
            <a:ext cx="1570102"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2. RAM usage profiling...</a:t>
            </a:r>
            <a:endParaRPr lang="en-US" sz="1600" dirty="0"/>
          </a:p>
        </p:txBody>
      </p:sp>
      <p:sp>
        <p:nvSpPr>
          <p:cNvPr id="43" name="Text 41"/>
          <p:cNvSpPr/>
          <p:nvPr/>
        </p:nvSpPr>
        <p:spPr>
          <a:xfrm>
            <a:off x="6563242" y="2556250"/>
            <a:ext cx="964158" cy="127177"/>
          </a:xfrm>
          <a:prstGeom prst="rect">
            <a:avLst/>
          </a:prstGeom>
          <a:noFill/>
          <a:ln/>
        </p:spPr>
        <p:txBody>
          <a:bodyPr wrap="square" lIns="0" tIns="0" rIns="0" bIns="0" rtlCol="0" anchor="ctr"/>
          <a:lstStyle/>
          <a:p>
            <a:pPr>
              <a:lnSpc>
                <a:spcPct val="130000"/>
              </a:lnSpc>
            </a:pPr>
            <a:r>
              <a:rPr lang="en-US" sz="868" dirty="0">
                <a:solidFill>
                  <a:srgbClr val="F1F5F9"/>
                </a:solidFill>
                <a:latin typeface="MiSans" pitchFamily="34" charset="0"/>
                <a:ea typeface="MiSans" pitchFamily="34" charset="-122"/>
                <a:cs typeface="MiSans" pitchFamily="34" charset="-120"/>
              </a:rPr>
              <a:t>3. RAM limit...</a:t>
            </a:r>
            <a:endParaRPr lang="en-US" sz="1600" dirty="0"/>
          </a:p>
        </p:txBody>
      </p:sp>
      <p:sp>
        <p:nvSpPr>
          <p:cNvPr id="44" name="Text 42"/>
          <p:cNvSpPr/>
          <p:nvPr/>
        </p:nvSpPr>
        <p:spPr>
          <a:xfrm>
            <a:off x="6563242" y="2886910"/>
            <a:ext cx="1933747" cy="127177"/>
          </a:xfrm>
          <a:prstGeom prst="rect">
            <a:avLst/>
          </a:prstGeom>
          <a:noFill/>
          <a:ln/>
        </p:spPr>
        <p:txBody>
          <a:bodyPr wrap="square" lIns="0" tIns="0" rIns="0" bIns="0" rtlCol="0" anchor="ctr"/>
          <a:lstStyle/>
          <a:p>
            <a:pPr>
              <a:lnSpc>
                <a:spcPct val="130000"/>
              </a:lnSpc>
            </a:pPr>
            <a:r>
              <a:rPr lang="en-US" sz="868" dirty="0">
                <a:solidFill>
                  <a:srgbClr val="8B5CF6"/>
                </a:solidFill>
                <a:latin typeface="MiSans" pitchFamily="34" charset="0"/>
                <a:ea typeface="MiSans" pitchFamily="34" charset="-122"/>
                <a:cs typeface="MiSans" pitchFamily="34" charset="-120"/>
              </a:rPr>
              <a:t>TASK: What is the maximal input</a:t>
            </a:r>
            <a:endParaRPr lang="en-US" sz="1600" dirty="0"/>
          </a:p>
        </p:txBody>
      </p:sp>
      <p:sp>
        <p:nvSpPr>
          <p:cNvPr id="45" name="Text 43"/>
          <p:cNvSpPr/>
          <p:nvPr/>
        </p:nvSpPr>
        <p:spPr>
          <a:xfrm>
            <a:off x="6563242" y="3052239"/>
            <a:ext cx="1691317" cy="127177"/>
          </a:xfrm>
          <a:prstGeom prst="rect">
            <a:avLst/>
          </a:prstGeom>
          <a:noFill/>
          <a:ln/>
        </p:spPr>
        <p:txBody>
          <a:bodyPr wrap="square" lIns="0" tIns="0" rIns="0" bIns="0" rtlCol="0" anchor="ctr"/>
          <a:lstStyle/>
          <a:p>
            <a:pPr>
              <a:lnSpc>
                <a:spcPct val="130000"/>
              </a:lnSpc>
            </a:pPr>
            <a:r>
              <a:rPr lang="en-US" sz="868" dirty="0">
                <a:solidFill>
                  <a:srgbClr val="8B5CF6"/>
                </a:solidFill>
                <a:latin typeface="MiSans" pitchFamily="34" charset="0"/>
                <a:ea typeface="MiSans" pitchFamily="34" charset="-122"/>
                <a:cs typeface="MiSans" pitchFamily="34" charset="-120"/>
              </a:rPr>
              <a:t>the function can run in the</a:t>
            </a:r>
            <a:endParaRPr lang="en-US" sz="1600" dirty="0"/>
          </a:p>
        </p:txBody>
      </p:sp>
      <p:sp>
        <p:nvSpPr>
          <p:cNvPr id="46" name="Text 44"/>
          <p:cNvSpPr/>
          <p:nvPr/>
        </p:nvSpPr>
        <p:spPr>
          <a:xfrm>
            <a:off x="6563242" y="3217569"/>
            <a:ext cx="661186" cy="127177"/>
          </a:xfrm>
          <a:prstGeom prst="rect">
            <a:avLst/>
          </a:prstGeom>
          <a:noFill/>
          <a:ln/>
        </p:spPr>
        <p:txBody>
          <a:bodyPr wrap="square" lIns="0" tIns="0" rIns="0" bIns="0" rtlCol="0" anchor="ctr"/>
          <a:lstStyle/>
          <a:p>
            <a:pPr>
              <a:lnSpc>
                <a:spcPct val="130000"/>
              </a:lnSpc>
            </a:pPr>
            <a:r>
              <a:rPr lang="en-US" sz="868" dirty="0">
                <a:solidFill>
                  <a:srgbClr val="8B5CF6"/>
                </a:solidFill>
                <a:latin typeface="MiSans" pitchFamily="34" charset="0"/>
                <a:ea typeface="MiSans" pitchFamily="34" charset="-122"/>
                <a:cs typeface="MiSans" pitchFamily="34" charset="-120"/>
              </a:rPr>
              <a:t>RAM limit?</a:t>
            </a:r>
            <a:endParaRPr lang="en-US" sz="1600" dirty="0"/>
          </a:p>
        </p:txBody>
      </p:sp>
      <p:sp>
        <p:nvSpPr>
          <p:cNvPr id="47" name="Text 45"/>
          <p:cNvSpPr/>
          <p:nvPr/>
        </p:nvSpPr>
        <p:spPr>
          <a:xfrm>
            <a:off x="6563242" y="3548228"/>
            <a:ext cx="721727" cy="127177"/>
          </a:xfrm>
          <a:prstGeom prst="rect">
            <a:avLst/>
          </a:prstGeom>
          <a:noFill/>
          <a:ln/>
        </p:spPr>
        <p:txBody>
          <a:bodyPr wrap="square" lIns="0" tIns="0" rIns="0" bIns="0" rtlCol="0" anchor="ctr"/>
          <a:lstStyle/>
          <a:p>
            <a:pPr>
              <a:lnSpc>
                <a:spcPct val="130000"/>
              </a:lnSpc>
            </a:pPr>
            <a:r>
              <a:rPr lang="en-US" sz="868" dirty="0">
                <a:solidFill>
                  <a:srgbClr val="10B981"/>
                </a:solidFill>
                <a:latin typeface="MiSans" pitchFamily="34" charset="0"/>
                <a:ea typeface="MiSans" pitchFamily="34" charset="-122"/>
                <a:cs typeface="MiSans" pitchFamily="34" charset="-120"/>
              </a:rPr>
              <a:t>LIMIT: 5 GB</a:t>
            </a:r>
            <a:endParaRPr lang="en-US" sz="1600" dirty="0"/>
          </a:p>
        </p:txBody>
      </p:sp>
      <p:sp>
        <p:nvSpPr>
          <p:cNvPr id="48" name="Shape 46"/>
          <p:cNvSpPr/>
          <p:nvPr/>
        </p:nvSpPr>
        <p:spPr>
          <a:xfrm>
            <a:off x="6363998" y="4006064"/>
            <a:ext cx="5307505" cy="1025892"/>
          </a:xfrm>
          <a:custGeom>
            <a:avLst/>
            <a:gdLst/>
            <a:ahLst/>
            <a:cxnLst/>
            <a:rect l="l" t="t" r="r" b="b"/>
            <a:pathLst>
              <a:path w="5307505" h="1025892">
                <a:moveTo>
                  <a:pt x="67832" y="0"/>
                </a:moveTo>
                <a:lnTo>
                  <a:pt x="5239673" y="0"/>
                </a:lnTo>
                <a:cubicBezTo>
                  <a:pt x="5277135" y="0"/>
                  <a:pt x="5307505" y="30369"/>
                  <a:pt x="5307505" y="67832"/>
                </a:cubicBezTo>
                <a:lnTo>
                  <a:pt x="5307505" y="958060"/>
                </a:lnTo>
                <a:cubicBezTo>
                  <a:pt x="5307505" y="995522"/>
                  <a:pt x="5277135" y="1025892"/>
                  <a:pt x="5239673" y="1025892"/>
                </a:cubicBezTo>
                <a:lnTo>
                  <a:pt x="67832" y="1025892"/>
                </a:lnTo>
                <a:cubicBezTo>
                  <a:pt x="30369" y="1025892"/>
                  <a:pt x="0" y="995522"/>
                  <a:pt x="0" y="958060"/>
                </a:cubicBezTo>
                <a:lnTo>
                  <a:pt x="0" y="67832"/>
                </a:lnTo>
                <a:cubicBezTo>
                  <a:pt x="0" y="30394"/>
                  <a:pt x="30394" y="0"/>
                  <a:pt x="67832" y="0"/>
                </a:cubicBezTo>
                <a:close/>
              </a:path>
            </a:pathLst>
          </a:custGeom>
          <a:solidFill>
            <a:srgbClr val="0F172A"/>
          </a:solidFill>
          <a:ln w="12700">
            <a:solidFill>
              <a:srgbClr val="10B981">
                <a:alpha val="30196"/>
              </a:srgbClr>
            </a:solidFill>
            <a:prstDash val="solid"/>
          </a:ln>
        </p:spPr>
      </p:sp>
      <p:sp>
        <p:nvSpPr>
          <p:cNvPr id="49" name="Text 47"/>
          <p:cNvSpPr/>
          <p:nvPr/>
        </p:nvSpPr>
        <p:spPr>
          <a:xfrm>
            <a:off x="6469979" y="4112045"/>
            <a:ext cx="5163371" cy="203483"/>
          </a:xfrm>
          <a:prstGeom prst="rect">
            <a:avLst/>
          </a:prstGeom>
          <a:noFill/>
          <a:ln/>
        </p:spPr>
        <p:txBody>
          <a:bodyPr wrap="square" lIns="0" tIns="0" rIns="0" bIns="0" rtlCol="0" anchor="ctr"/>
          <a:lstStyle/>
          <a:p>
            <a:pPr>
              <a:lnSpc>
                <a:spcPct val="130000"/>
              </a:lnSpc>
            </a:pPr>
            <a:r>
              <a:rPr lang="en-US" sz="1068" b="1" dirty="0">
                <a:solidFill>
                  <a:srgbClr val="10B981"/>
                </a:solidFill>
                <a:latin typeface="MiSans" pitchFamily="34" charset="0"/>
                <a:ea typeface="MiSans" pitchFamily="34" charset="-122"/>
                <a:cs typeface="MiSans" pitchFamily="34" charset="-120"/>
              </a:rPr>
              <a:t>Kết quả GPT-4o1-mini:</a:t>
            </a:r>
            <a:endParaRPr lang="en-US" sz="1600" dirty="0"/>
          </a:p>
        </p:txBody>
      </p:sp>
      <p:sp>
        <p:nvSpPr>
          <p:cNvPr id="50" name="Text 48"/>
          <p:cNvSpPr/>
          <p:nvPr/>
        </p:nvSpPr>
        <p:spPr>
          <a:xfrm>
            <a:off x="6469979" y="4417268"/>
            <a:ext cx="1127633"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Kích thước ma trận:</a:t>
            </a:r>
            <a:endParaRPr lang="en-US" sz="1600" dirty="0"/>
          </a:p>
        </p:txBody>
      </p:sp>
      <p:sp>
        <p:nvSpPr>
          <p:cNvPr id="51" name="Text 49"/>
          <p:cNvSpPr/>
          <p:nvPr/>
        </p:nvSpPr>
        <p:spPr>
          <a:xfrm>
            <a:off x="10391921" y="4383355"/>
            <a:ext cx="1254809" cy="237396"/>
          </a:xfrm>
          <a:prstGeom prst="rect">
            <a:avLst/>
          </a:prstGeom>
          <a:noFill/>
          <a:ln/>
        </p:spPr>
        <p:txBody>
          <a:bodyPr wrap="square" lIns="0" tIns="0" rIns="0" bIns="0" rtlCol="0" anchor="ctr"/>
          <a:lstStyle/>
          <a:p>
            <a:pPr>
              <a:lnSpc>
                <a:spcPct val="130000"/>
              </a:lnSpc>
            </a:pPr>
            <a:r>
              <a:rPr lang="en-US" sz="1202" b="1" dirty="0">
                <a:solidFill>
                  <a:srgbClr val="10B981"/>
                </a:solidFill>
                <a:latin typeface="MiSans" pitchFamily="34" charset="0"/>
                <a:ea typeface="MiSans" pitchFamily="34" charset="-122"/>
                <a:cs typeface="MiSans" pitchFamily="34" charset="-120"/>
              </a:rPr>
              <a:t>22,000 × 22,000</a:t>
            </a:r>
            <a:endParaRPr lang="en-US" sz="1600" dirty="0"/>
          </a:p>
        </p:txBody>
      </p:sp>
      <p:sp>
        <p:nvSpPr>
          <p:cNvPr id="52" name="Text 50"/>
          <p:cNvSpPr/>
          <p:nvPr/>
        </p:nvSpPr>
        <p:spPr>
          <a:xfrm>
            <a:off x="6469979" y="4722492"/>
            <a:ext cx="958064"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Bộ nhớ dự đoán:</a:t>
            </a:r>
            <a:endParaRPr lang="en-US" sz="1600" dirty="0"/>
          </a:p>
        </p:txBody>
      </p:sp>
      <p:sp>
        <p:nvSpPr>
          <p:cNvPr id="53" name="Text 51"/>
          <p:cNvSpPr/>
          <p:nvPr/>
        </p:nvSpPr>
        <p:spPr>
          <a:xfrm>
            <a:off x="11009787" y="4688579"/>
            <a:ext cx="635883" cy="237396"/>
          </a:xfrm>
          <a:prstGeom prst="rect">
            <a:avLst/>
          </a:prstGeom>
          <a:noFill/>
          <a:ln/>
        </p:spPr>
        <p:txBody>
          <a:bodyPr wrap="square" lIns="0" tIns="0" rIns="0" bIns="0" rtlCol="0" anchor="ctr"/>
          <a:lstStyle/>
          <a:p>
            <a:pPr>
              <a:lnSpc>
                <a:spcPct val="130000"/>
              </a:lnSpc>
            </a:pPr>
            <a:r>
              <a:rPr lang="en-US" sz="1202" b="1" dirty="0">
                <a:solidFill>
                  <a:srgbClr val="10B981"/>
                </a:solidFill>
                <a:latin typeface="MiSans" pitchFamily="34" charset="0"/>
                <a:ea typeface="MiSans" pitchFamily="34" charset="-122"/>
                <a:cs typeface="MiSans" pitchFamily="34" charset="-120"/>
              </a:rPr>
              <a:t>~4.9 GB</a:t>
            </a:r>
            <a:endParaRPr lang="en-US" sz="1600" dirty="0"/>
          </a:p>
        </p:txBody>
      </p:sp>
      <p:sp>
        <p:nvSpPr>
          <p:cNvPr id="54" name="Shape 52"/>
          <p:cNvSpPr/>
          <p:nvPr/>
        </p:nvSpPr>
        <p:spPr>
          <a:xfrm>
            <a:off x="6185951" y="5354136"/>
            <a:ext cx="5663599" cy="1500684"/>
          </a:xfrm>
          <a:custGeom>
            <a:avLst/>
            <a:gdLst/>
            <a:ahLst/>
            <a:cxnLst/>
            <a:rect l="l" t="t" r="r" b="b"/>
            <a:pathLst>
              <a:path w="5663599" h="1500684">
                <a:moveTo>
                  <a:pt x="101746" y="0"/>
                </a:moveTo>
                <a:lnTo>
                  <a:pt x="5561853" y="0"/>
                </a:lnTo>
                <a:cubicBezTo>
                  <a:pt x="5618046" y="0"/>
                  <a:pt x="5663599" y="45553"/>
                  <a:pt x="5663599" y="101746"/>
                </a:cubicBezTo>
                <a:lnTo>
                  <a:pt x="5663599" y="1398938"/>
                </a:lnTo>
                <a:cubicBezTo>
                  <a:pt x="5663599" y="1455131"/>
                  <a:pt x="5618046" y="1500684"/>
                  <a:pt x="5561853" y="1500684"/>
                </a:cubicBezTo>
                <a:lnTo>
                  <a:pt x="101746" y="1500684"/>
                </a:lnTo>
                <a:cubicBezTo>
                  <a:pt x="45553" y="1500684"/>
                  <a:pt x="0" y="1455131"/>
                  <a:pt x="0" y="1398938"/>
                </a:cubicBezTo>
                <a:lnTo>
                  <a:pt x="0" y="101746"/>
                </a:lnTo>
                <a:cubicBezTo>
                  <a:pt x="0" y="45591"/>
                  <a:pt x="45591" y="0"/>
                  <a:pt x="101746"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55" name="Shape 53"/>
          <p:cNvSpPr/>
          <p:nvPr/>
        </p:nvSpPr>
        <p:spPr>
          <a:xfrm>
            <a:off x="6347041" y="5536423"/>
            <a:ext cx="152612" cy="152612"/>
          </a:xfrm>
          <a:custGeom>
            <a:avLst/>
            <a:gdLst/>
            <a:ahLst/>
            <a:cxnLst/>
            <a:rect l="l" t="t" r="r" b="b"/>
            <a:pathLst>
              <a:path w="152612" h="152612">
                <a:moveTo>
                  <a:pt x="35768" y="16692"/>
                </a:moveTo>
                <a:cubicBezTo>
                  <a:pt x="35768" y="7482"/>
                  <a:pt x="43250" y="0"/>
                  <a:pt x="52460" y="0"/>
                </a:cubicBezTo>
                <a:lnTo>
                  <a:pt x="59614" y="0"/>
                </a:lnTo>
                <a:cubicBezTo>
                  <a:pt x="64890" y="0"/>
                  <a:pt x="69152" y="4262"/>
                  <a:pt x="69152" y="9538"/>
                </a:cubicBezTo>
                <a:lnTo>
                  <a:pt x="69152" y="143074"/>
                </a:lnTo>
                <a:cubicBezTo>
                  <a:pt x="69152" y="148350"/>
                  <a:pt x="64890" y="152612"/>
                  <a:pt x="59614" y="152612"/>
                </a:cubicBezTo>
                <a:lnTo>
                  <a:pt x="50076" y="152612"/>
                </a:lnTo>
                <a:cubicBezTo>
                  <a:pt x="41193" y="152612"/>
                  <a:pt x="33712" y="146531"/>
                  <a:pt x="31595" y="138305"/>
                </a:cubicBezTo>
                <a:cubicBezTo>
                  <a:pt x="31387" y="138305"/>
                  <a:pt x="31208" y="138305"/>
                  <a:pt x="30999" y="138305"/>
                </a:cubicBezTo>
                <a:cubicBezTo>
                  <a:pt x="17825" y="138305"/>
                  <a:pt x="7154" y="127634"/>
                  <a:pt x="7154" y="114459"/>
                </a:cubicBezTo>
                <a:cubicBezTo>
                  <a:pt x="7154" y="109094"/>
                  <a:pt x="8942" y="104146"/>
                  <a:pt x="11923" y="100152"/>
                </a:cubicBezTo>
                <a:cubicBezTo>
                  <a:pt x="6140" y="95800"/>
                  <a:pt x="2385" y="88885"/>
                  <a:pt x="2385" y="81075"/>
                </a:cubicBezTo>
                <a:cubicBezTo>
                  <a:pt x="2385" y="71865"/>
                  <a:pt x="7631" y="63847"/>
                  <a:pt x="15261" y="59882"/>
                </a:cubicBezTo>
                <a:cubicBezTo>
                  <a:pt x="13145" y="56305"/>
                  <a:pt x="11923" y="52132"/>
                  <a:pt x="11923" y="47691"/>
                </a:cubicBezTo>
                <a:cubicBezTo>
                  <a:pt x="11923" y="34517"/>
                  <a:pt x="22594" y="23846"/>
                  <a:pt x="35768" y="23846"/>
                </a:cubicBezTo>
                <a:lnTo>
                  <a:pt x="35768" y="16692"/>
                </a:lnTo>
                <a:close/>
                <a:moveTo>
                  <a:pt x="116844" y="16692"/>
                </a:moveTo>
                <a:lnTo>
                  <a:pt x="116844" y="23846"/>
                </a:lnTo>
                <a:cubicBezTo>
                  <a:pt x="130018" y="23846"/>
                  <a:pt x="140689" y="34517"/>
                  <a:pt x="140689" y="47691"/>
                </a:cubicBezTo>
                <a:cubicBezTo>
                  <a:pt x="140689" y="52162"/>
                  <a:pt x="139467" y="56335"/>
                  <a:pt x="137351" y="59882"/>
                </a:cubicBezTo>
                <a:cubicBezTo>
                  <a:pt x="145011" y="63847"/>
                  <a:pt x="150227" y="71835"/>
                  <a:pt x="150227" y="81075"/>
                </a:cubicBezTo>
                <a:cubicBezTo>
                  <a:pt x="150227" y="88885"/>
                  <a:pt x="146472" y="95800"/>
                  <a:pt x="140689" y="100152"/>
                </a:cubicBezTo>
                <a:cubicBezTo>
                  <a:pt x="143670" y="104146"/>
                  <a:pt x="145458" y="109094"/>
                  <a:pt x="145458" y="114459"/>
                </a:cubicBezTo>
                <a:cubicBezTo>
                  <a:pt x="145458" y="127634"/>
                  <a:pt x="134787" y="138305"/>
                  <a:pt x="121613" y="138305"/>
                </a:cubicBezTo>
                <a:cubicBezTo>
                  <a:pt x="121404" y="138305"/>
                  <a:pt x="121225" y="138305"/>
                  <a:pt x="121017" y="138305"/>
                </a:cubicBezTo>
                <a:cubicBezTo>
                  <a:pt x="118900" y="146531"/>
                  <a:pt x="111419" y="152612"/>
                  <a:pt x="102536" y="152612"/>
                </a:cubicBezTo>
                <a:lnTo>
                  <a:pt x="92998" y="152612"/>
                </a:lnTo>
                <a:cubicBezTo>
                  <a:pt x="87722" y="152612"/>
                  <a:pt x="83460" y="148350"/>
                  <a:pt x="83460" y="143074"/>
                </a:cubicBezTo>
                <a:lnTo>
                  <a:pt x="83460" y="9538"/>
                </a:lnTo>
                <a:cubicBezTo>
                  <a:pt x="83460" y="4262"/>
                  <a:pt x="87722" y="0"/>
                  <a:pt x="92998" y="0"/>
                </a:cubicBezTo>
                <a:lnTo>
                  <a:pt x="100152" y="0"/>
                </a:lnTo>
                <a:cubicBezTo>
                  <a:pt x="109362" y="0"/>
                  <a:pt x="116844" y="7482"/>
                  <a:pt x="116844" y="16692"/>
                </a:cubicBezTo>
                <a:close/>
              </a:path>
            </a:pathLst>
          </a:custGeom>
          <a:solidFill>
            <a:srgbClr val="8B5CF6"/>
          </a:solidFill>
          <a:ln/>
        </p:spPr>
      </p:sp>
      <p:sp>
        <p:nvSpPr>
          <p:cNvPr id="56" name="Text 54"/>
          <p:cNvSpPr/>
          <p:nvPr/>
        </p:nvSpPr>
        <p:spPr>
          <a:xfrm>
            <a:off x="6520849" y="5494031"/>
            <a:ext cx="5265113" cy="237396"/>
          </a:xfrm>
          <a:prstGeom prst="rect">
            <a:avLst/>
          </a:prstGeom>
          <a:noFill/>
          <a:ln/>
        </p:spPr>
        <p:txBody>
          <a:bodyPr wrap="square" lIns="0" tIns="0" rIns="0" bIns="0" rtlCol="0" anchor="ctr"/>
          <a:lstStyle/>
          <a:p>
            <a:pPr>
              <a:lnSpc>
                <a:spcPct val="130000"/>
              </a:lnSpc>
            </a:pPr>
            <a:r>
              <a:rPr lang="en-US" sz="1202" b="1" dirty="0">
                <a:solidFill>
                  <a:srgbClr val="F1F5F9"/>
                </a:solidFill>
                <a:latin typeface="MiSans" pitchFamily="34" charset="0"/>
                <a:ea typeface="MiSans" pitchFamily="34" charset="-122"/>
                <a:cs typeface="MiSans" pitchFamily="34" charset="-120"/>
              </a:rPr>
              <a:t>Cách thức hoạt động</a:t>
            </a:r>
            <a:endParaRPr lang="en-US" sz="1600" dirty="0"/>
          </a:p>
        </p:txBody>
      </p:sp>
      <p:sp>
        <p:nvSpPr>
          <p:cNvPr id="57" name="Shape 55"/>
          <p:cNvSpPr/>
          <p:nvPr/>
        </p:nvSpPr>
        <p:spPr>
          <a:xfrm>
            <a:off x="6350221" y="5867082"/>
            <a:ext cx="103861" cy="118698"/>
          </a:xfrm>
          <a:custGeom>
            <a:avLst/>
            <a:gdLst/>
            <a:ahLst/>
            <a:cxnLst/>
            <a:rect l="l" t="t" r="r" b="b"/>
            <a:pathLst>
              <a:path w="103861" h="118698">
                <a:moveTo>
                  <a:pt x="100801" y="16251"/>
                </a:moveTo>
                <a:cubicBezTo>
                  <a:pt x="104116" y="18663"/>
                  <a:pt x="104858" y="23299"/>
                  <a:pt x="102447" y="26614"/>
                </a:cubicBezTo>
                <a:lnTo>
                  <a:pt x="43098" y="108219"/>
                </a:lnTo>
                <a:cubicBezTo>
                  <a:pt x="41823" y="109981"/>
                  <a:pt x="39852" y="111071"/>
                  <a:pt x="37673" y="111256"/>
                </a:cubicBezTo>
                <a:cubicBezTo>
                  <a:pt x="35494" y="111442"/>
                  <a:pt x="33384" y="110630"/>
                  <a:pt x="31854" y="109100"/>
                </a:cubicBezTo>
                <a:lnTo>
                  <a:pt x="2179" y="79426"/>
                </a:lnTo>
                <a:cubicBezTo>
                  <a:pt x="-719" y="76528"/>
                  <a:pt x="-719" y="71822"/>
                  <a:pt x="2179" y="68924"/>
                </a:cubicBezTo>
                <a:cubicBezTo>
                  <a:pt x="5077" y="66026"/>
                  <a:pt x="9783" y="66026"/>
                  <a:pt x="12681" y="68924"/>
                </a:cubicBezTo>
                <a:lnTo>
                  <a:pt x="36212" y="92455"/>
                </a:lnTo>
                <a:lnTo>
                  <a:pt x="90461" y="17874"/>
                </a:lnTo>
                <a:cubicBezTo>
                  <a:pt x="92872" y="14559"/>
                  <a:pt x="97509" y="13817"/>
                  <a:pt x="100824" y="16228"/>
                </a:cubicBezTo>
                <a:close/>
              </a:path>
            </a:pathLst>
          </a:custGeom>
          <a:solidFill>
            <a:srgbClr val="3B82F6"/>
          </a:solidFill>
          <a:ln/>
        </p:spPr>
      </p:sp>
      <p:sp>
        <p:nvSpPr>
          <p:cNvPr id="58" name="Text 56"/>
          <p:cNvSpPr/>
          <p:nvPr/>
        </p:nvSpPr>
        <p:spPr>
          <a:xfrm>
            <a:off x="6542046" y="5833168"/>
            <a:ext cx="1593947"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AI phân tích dữ liệu profiling</a:t>
            </a:r>
            <a:endParaRPr lang="en-US" sz="1600" dirty="0"/>
          </a:p>
        </p:txBody>
      </p:sp>
      <p:sp>
        <p:nvSpPr>
          <p:cNvPr id="59" name="Shape 57"/>
          <p:cNvSpPr/>
          <p:nvPr/>
        </p:nvSpPr>
        <p:spPr>
          <a:xfrm>
            <a:off x="6350221" y="6104478"/>
            <a:ext cx="103861" cy="118698"/>
          </a:xfrm>
          <a:custGeom>
            <a:avLst/>
            <a:gdLst/>
            <a:ahLst/>
            <a:cxnLst/>
            <a:rect l="l" t="t" r="r" b="b"/>
            <a:pathLst>
              <a:path w="103861" h="118698">
                <a:moveTo>
                  <a:pt x="100801" y="16251"/>
                </a:moveTo>
                <a:cubicBezTo>
                  <a:pt x="104116" y="18663"/>
                  <a:pt x="104858" y="23299"/>
                  <a:pt x="102447" y="26614"/>
                </a:cubicBezTo>
                <a:lnTo>
                  <a:pt x="43098" y="108219"/>
                </a:lnTo>
                <a:cubicBezTo>
                  <a:pt x="41823" y="109981"/>
                  <a:pt x="39852" y="111071"/>
                  <a:pt x="37673" y="111256"/>
                </a:cubicBezTo>
                <a:cubicBezTo>
                  <a:pt x="35494" y="111442"/>
                  <a:pt x="33384" y="110630"/>
                  <a:pt x="31854" y="109100"/>
                </a:cubicBezTo>
                <a:lnTo>
                  <a:pt x="2179" y="79426"/>
                </a:lnTo>
                <a:cubicBezTo>
                  <a:pt x="-719" y="76528"/>
                  <a:pt x="-719" y="71822"/>
                  <a:pt x="2179" y="68924"/>
                </a:cubicBezTo>
                <a:cubicBezTo>
                  <a:pt x="5077" y="66026"/>
                  <a:pt x="9783" y="66026"/>
                  <a:pt x="12681" y="68924"/>
                </a:cubicBezTo>
                <a:lnTo>
                  <a:pt x="36212" y="92455"/>
                </a:lnTo>
                <a:lnTo>
                  <a:pt x="90461" y="17874"/>
                </a:lnTo>
                <a:cubicBezTo>
                  <a:pt x="92872" y="14559"/>
                  <a:pt x="97509" y="13817"/>
                  <a:pt x="100824" y="16228"/>
                </a:cubicBezTo>
                <a:close/>
              </a:path>
            </a:pathLst>
          </a:custGeom>
          <a:solidFill>
            <a:srgbClr val="3B82F6"/>
          </a:solidFill>
          <a:ln/>
        </p:spPr>
      </p:sp>
      <p:sp>
        <p:nvSpPr>
          <p:cNvPr id="60" name="Text 58"/>
          <p:cNvSpPr/>
          <p:nvPr/>
        </p:nvSpPr>
        <p:spPr>
          <a:xfrm>
            <a:off x="6542046" y="6070565"/>
            <a:ext cx="1636339"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Xác định pattern tăng trưởng</a:t>
            </a:r>
            <a:endParaRPr lang="en-US" sz="1600" dirty="0"/>
          </a:p>
        </p:txBody>
      </p:sp>
      <p:sp>
        <p:nvSpPr>
          <p:cNvPr id="61" name="Shape 59"/>
          <p:cNvSpPr/>
          <p:nvPr/>
        </p:nvSpPr>
        <p:spPr>
          <a:xfrm>
            <a:off x="6350221" y="6341875"/>
            <a:ext cx="103861" cy="118698"/>
          </a:xfrm>
          <a:custGeom>
            <a:avLst/>
            <a:gdLst/>
            <a:ahLst/>
            <a:cxnLst/>
            <a:rect l="l" t="t" r="r" b="b"/>
            <a:pathLst>
              <a:path w="103861" h="118698">
                <a:moveTo>
                  <a:pt x="100801" y="16251"/>
                </a:moveTo>
                <a:cubicBezTo>
                  <a:pt x="104116" y="18663"/>
                  <a:pt x="104858" y="23299"/>
                  <a:pt x="102447" y="26614"/>
                </a:cubicBezTo>
                <a:lnTo>
                  <a:pt x="43098" y="108219"/>
                </a:lnTo>
                <a:cubicBezTo>
                  <a:pt x="41823" y="109981"/>
                  <a:pt x="39852" y="111071"/>
                  <a:pt x="37673" y="111256"/>
                </a:cubicBezTo>
                <a:cubicBezTo>
                  <a:pt x="35494" y="111442"/>
                  <a:pt x="33384" y="110630"/>
                  <a:pt x="31854" y="109100"/>
                </a:cubicBezTo>
                <a:lnTo>
                  <a:pt x="2179" y="79426"/>
                </a:lnTo>
                <a:cubicBezTo>
                  <a:pt x="-719" y="76528"/>
                  <a:pt x="-719" y="71822"/>
                  <a:pt x="2179" y="68924"/>
                </a:cubicBezTo>
                <a:cubicBezTo>
                  <a:pt x="5077" y="66026"/>
                  <a:pt x="9783" y="66026"/>
                  <a:pt x="12681" y="68924"/>
                </a:cubicBezTo>
                <a:lnTo>
                  <a:pt x="36212" y="92455"/>
                </a:lnTo>
                <a:lnTo>
                  <a:pt x="90461" y="17874"/>
                </a:lnTo>
                <a:cubicBezTo>
                  <a:pt x="92872" y="14559"/>
                  <a:pt x="97509" y="13817"/>
                  <a:pt x="100824" y="16228"/>
                </a:cubicBezTo>
                <a:close/>
              </a:path>
            </a:pathLst>
          </a:custGeom>
          <a:solidFill>
            <a:srgbClr val="3B82F6"/>
          </a:solidFill>
          <a:ln/>
        </p:spPr>
      </p:sp>
      <p:sp>
        <p:nvSpPr>
          <p:cNvPr id="62" name="Text 60"/>
          <p:cNvSpPr/>
          <p:nvPr/>
        </p:nvSpPr>
        <p:spPr>
          <a:xfrm>
            <a:off x="6542046" y="6307961"/>
            <a:ext cx="1941563"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Dự báo chính xác kích thước tối đa</a:t>
            </a:r>
            <a:endParaRPr lang="en-US" sz="1600" dirty="0"/>
          </a:p>
        </p:txBody>
      </p:sp>
      <p:sp>
        <p:nvSpPr>
          <p:cNvPr id="63" name="Shape 61"/>
          <p:cNvSpPr/>
          <p:nvPr/>
        </p:nvSpPr>
        <p:spPr>
          <a:xfrm>
            <a:off x="6350221" y="6579271"/>
            <a:ext cx="103861" cy="118698"/>
          </a:xfrm>
          <a:custGeom>
            <a:avLst/>
            <a:gdLst/>
            <a:ahLst/>
            <a:cxnLst/>
            <a:rect l="l" t="t" r="r" b="b"/>
            <a:pathLst>
              <a:path w="103861" h="118698">
                <a:moveTo>
                  <a:pt x="100801" y="16251"/>
                </a:moveTo>
                <a:cubicBezTo>
                  <a:pt x="104116" y="18663"/>
                  <a:pt x="104858" y="23299"/>
                  <a:pt x="102447" y="26614"/>
                </a:cubicBezTo>
                <a:lnTo>
                  <a:pt x="43098" y="108219"/>
                </a:lnTo>
                <a:cubicBezTo>
                  <a:pt x="41823" y="109981"/>
                  <a:pt x="39852" y="111071"/>
                  <a:pt x="37673" y="111256"/>
                </a:cubicBezTo>
                <a:cubicBezTo>
                  <a:pt x="35494" y="111442"/>
                  <a:pt x="33384" y="110630"/>
                  <a:pt x="31854" y="109100"/>
                </a:cubicBezTo>
                <a:lnTo>
                  <a:pt x="2179" y="79426"/>
                </a:lnTo>
                <a:cubicBezTo>
                  <a:pt x="-719" y="76528"/>
                  <a:pt x="-719" y="71822"/>
                  <a:pt x="2179" y="68924"/>
                </a:cubicBezTo>
                <a:cubicBezTo>
                  <a:pt x="5077" y="66026"/>
                  <a:pt x="9783" y="66026"/>
                  <a:pt x="12681" y="68924"/>
                </a:cubicBezTo>
                <a:lnTo>
                  <a:pt x="36212" y="92455"/>
                </a:lnTo>
                <a:lnTo>
                  <a:pt x="90461" y="17874"/>
                </a:lnTo>
                <a:cubicBezTo>
                  <a:pt x="92872" y="14559"/>
                  <a:pt x="97509" y="13817"/>
                  <a:pt x="100824" y="16228"/>
                </a:cubicBezTo>
                <a:close/>
              </a:path>
            </a:pathLst>
          </a:custGeom>
          <a:solidFill>
            <a:srgbClr val="3B82F6"/>
          </a:solidFill>
          <a:ln/>
        </p:spPr>
      </p:sp>
      <p:sp>
        <p:nvSpPr>
          <p:cNvPr id="64" name="Text 62"/>
          <p:cNvSpPr/>
          <p:nvPr/>
        </p:nvSpPr>
        <p:spPr>
          <a:xfrm>
            <a:off x="6542046" y="6545357"/>
            <a:ext cx="2051783" cy="169569"/>
          </a:xfrm>
          <a:prstGeom prst="rect">
            <a:avLst/>
          </a:prstGeom>
          <a:noFill/>
          <a:ln/>
        </p:spPr>
        <p:txBody>
          <a:bodyPr wrap="square" lIns="0" tIns="0" rIns="0" bIns="0" rtlCol="0" anchor="ctr"/>
          <a:lstStyle/>
          <a:p>
            <a:pPr>
              <a:lnSpc>
                <a:spcPct val="120000"/>
              </a:lnSpc>
            </a:pPr>
            <a:r>
              <a:rPr lang="en-US" sz="935" dirty="0">
                <a:solidFill>
                  <a:srgbClr val="F1F5F9">
                    <a:alpha val="80000"/>
                  </a:srgbClr>
                </a:solidFill>
                <a:latin typeface="MiSans" pitchFamily="34" charset="0"/>
                <a:ea typeface="MiSans" pitchFamily="34" charset="-122"/>
                <a:cs typeface="MiSans" pitchFamily="34" charset="-120"/>
              </a:rPr>
              <a:t>Sử dụng chain-of-thought reasoning</a:t>
            </a:r>
            <a:endParaRPr lang="en-US" sz="16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32207" y="398649"/>
            <a:ext cx="332207" cy="332207"/>
          </a:xfrm>
          <a:custGeom>
            <a:avLst/>
            <a:gdLst/>
            <a:ahLst/>
            <a:cxnLst/>
            <a:rect l="l" t="t" r="r" b="b"/>
            <a:pathLst>
              <a:path w="332207" h="332207">
                <a:moveTo>
                  <a:pt x="66441" y="0"/>
                </a:moveTo>
                <a:lnTo>
                  <a:pt x="265766" y="0"/>
                </a:lnTo>
                <a:cubicBezTo>
                  <a:pt x="302436" y="0"/>
                  <a:pt x="332207" y="29771"/>
                  <a:pt x="332207" y="66441"/>
                </a:cubicBezTo>
                <a:lnTo>
                  <a:pt x="332207" y="265766"/>
                </a:lnTo>
                <a:cubicBezTo>
                  <a:pt x="332207" y="302436"/>
                  <a:pt x="302436" y="332207"/>
                  <a:pt x="265766" y="332207"/>
                </a:cubicBezTo>
                <a:lnTo>
                  <a:pt x="66441" y="332207"/>
                </a:lnTo>
                <a:cubicBezTo>
                  <a:pt x="29771" y="332207"/>
                  <a:pt x="0" y="302436"/>
                  <a:pt x="0" y="265766"/>
                </a:cubicBezTo>
                <a:lnTo>
                  <a:pt x="0" y="66441"/>
                </a:lnTo>
                <a:cubicBezTo>
                  <a:pt x="0" y="29771"/>
                  <a:pt x="29771" y="0"/>
                  <a:pt x="66441" y="0"/>
                </a:cubicBezTo>
                <a:close/>
              </a:path>
            </a:pathLst>
          </a:custGeom>
          <a:solidFill>
            <a:srgbClr val="F59E0B"/>
          </a:solidFill>
          <a:ln/>
        </p:spPr>
      </p:sp>
      <p:sp>
        <p:nvSpPr>
          <p:cNvPr id="3" name="Shape 1"/>
          <p:cNvSpPr/>
          <p:nvPr/>
        </p:nvSpPr>
        <p:spPr>
          <a:xfrm>
            <a:off x="434984" y="490005"/>
            <a:ext cx="130807" cy="149493"/>
          </a:xfrm>
          <a:custGeom>
            <a:avLst/>
            <a:gdLst/>
            <a:ahLst/>
            <a:cxnLst/>
            <a:rect l="l" t="t" r="r" b="b"/>
            <a:pathLst>
              <a:path w="130807" h="149493">
                <a:moveTo>
                  <a:pt x="84090" y="0"/>
                </a:moveTo>
                <a:lnTo>
                  <a:pt x="37373" y="0"/>
                </a:lnTo>
                <a:cubicBezTo>
                  <a:pt x="32205" y="0"/>
                  <a:pt x="28030" y="4175"/>
                  <a:pt x="28030" y="9343"/>
                </a:cubicBezTo>
                <a:cubicBezTo>
                  <a:pt x="28030" y="14511"/>
                  <a:pt x="32205" y="18687"/>
                  <a:pt x="37373" y="18687"/>
                </a:cubicBezTo>
                <a:lnTo>
                  <a:pt x="37373" y="62921"/>
                </a:lnTo>
                <a:lnTo>
                  <a:pt x="2190" y="124471"/>
                </a:lnTo>
                <a:cubicBezTo>
                  <a:pt x="759" y="127011"/>
                  <a:pt x="0" y="129843"/>
                  <a:pt x="0" y="132763"/>
                </a:cubicBezTo>
                <a:cubicBezTo>
                  <a:pt x="0" y="142019"/>
                  <a:pt x="7475" y="149493"/>
                  <a:pt x="16730" y="149493"/>
                </a:cubicBezTo>
                <a:lnTo>
                  <a:pt x="114076" y="149493"/>
                </a:lnTo>
                <a:cubicBezTo>
                  <a:pt x="123303" y="149493"/>
                  <a:pt x="130807" y="142019"/>
                  <a:pt x="130807" y="132763"/>
                </a:cubicBezTo>
                <a:cubicBezTo>
                  <a:pt x="130807" y="129843"/>
                  <a:pt x="130047" y="126982"/>
                  <a:pt x="128617" y="124471"/>
                </a:cubicBezTo>
                <a:lnTo>
                  <a:pt x="93433" y="62921"/>
                </a:lnTo>
                <a:lnTo>
                  <a:pt x="93433" y="18687"/>
                </a:lnTo>
                <a:cubicBezTo>
                  <a:pt x="98601" y="18687"/>
                  <a:pt x="102777" y="14511"/>
                  <a:pt x="102777" y="9343"/>
                </a:cubicBezTo>
                <a:cubicBezTo>
                  <a:pt x="102777" y="4175"/>
                  <a:pt x="98601" y="0"/>
                  <a:pt x="93433" y="0"/>
                </a:cubicBezTo>
                <a:lnTo>
                  <a:pt x="84090" y="0"/>
                </a:lnTo>
                <a:close/>
                <a:moveTo>
                  <a:pt x="56060" y="62921"/>
                </a:moveTo>
                <a:lnTo>
                  <a:pt x="56060" y="18687"/>
                </a:lnTo>
                <a:lnTo>
                  <a:pt x="74747" y="18687"/>
                </a:lnTo>
                <a:lnTo>
                  <a:pt x="74747" y="62921"/>
                </a:lnTo>
                <a:cubicBezTo>
                  <a:pt x="74747" y="66162"/>
                  <a:pt x="75593" y="69374"/>
                  <a:pt x="77199" y="72206"/>
                </a:cubicBezTo>
                <a:lnTo>
                  <a:pt x="89346" y="93433"/>
                </a:lnTo>
                <a:lnTo>
                  <a:pt x="41461" y="93433"/>
                </a:lnTo>
                <a:lnTo>
                  <a:pt x="53607" y="72206"/>
                </a:lnTo>
                <a:cubicBezTo>
                  <a:pt x="55213" y="69374"/>
                  <a:pt x="56060" y="66192"/>
                  <a:pt x="56060" y="62921"/>
                </a:cubicBezTo>
                <a:close/>
              </a:path>
            </a:pathLst>
          </a:custGeom>
          <a:solidFill>
            <a:srgbClr val="FFFFFF"/>
          </a:solidFill>
          <a:ln/>
        </p:spPr>
      </p:sp>
      <p:sp>
        <p:nvSpPr>
          <p:cNvPr id="4" name="Text 2"/>
          <p:cNvSpPr/>
          <p:nvPr/>
        </p:nvSpPr>
        <p:spPr>
          <a:xfrm>
            <a:off x="764076" y="332207"/>
            <a:ext cx="5174125" cy="166104"/>
          </a:xfrm>
          <a:prstGeom prst="rect">
            <a:avLst/>
          </a:prstGeom>
          <a:noFill/>
          <a:ln/>
        </p:spPr>
        <p:txBody>
          <a:bodyPr wrap="square" lIns="0" tIns="0" rIns="0" bIns="0" rtlCol="0" anchor="ctr"/>
          <a:lstStyle/>
          <a:p>
            <a:pPr>
              <a:lnSpc>
                <a:spcPct val="120000"/>
              </a:lnSpc>
            </a:pPr>
            <a:r>
              <a:rPr lang="en-US" sz="916" b="1" spc="46" kern="0" dirty="0">
                <a:solidFill>
                  <a:srgbClr val="F59E0B"/>
                </a:solidFill>
                <a:latin typeface="MiSans" pitchFamily="34" charset="0"/>
                <a:ea typeface="MiSans" pitchFamily="34" charset="-122"/>
                <a:cs typeface="MiSans" pitchFamily="34" charset="-120"/>
              </a:rPr>
              <a:t>CHƯƠNG 14 | LAB 4</a:t>
            </a:r>
            <a:endParaRPr lang="en-US" sz="1600" dirty="0"/>
          </a:p>
        </p:txBody>
      </p:sp>
      <p:sp>
        <p:nvSpPr>
          <p:cNvPr id="5" name="Text 3"/>
          <p:cNvSpPr/>
          <p:nvPr/>
        </p:nvSpPr>
        <p:spPr>
          <a:xfrm>
            <a:off x="764076" y="498311"/>
            <a:ext cx="5240567" cy="298986"/>
          </a:xfrm>
          <a:prstGeom prst="rect">
            <a:avLst/>
          </a:prstGeom>
          <a:noFill/>
          <a:ln/>
        </p:spPr>
        <p:txBody>
          <a:bodyPr wrap="square" lIns="0" tIns="0" rIns="0" bIns="0" rtlCol="0" anchor="ctr"/>
          <a:lstStyle/>
          <a:p>
            <a:pPr>
              <a:lnSpc>
                <a:spcPct val="100000"/>
              </a:lnSpc>
            </a:pPr>
            <a:r>
              <a:rPr lang="en-US" sz="1962" b="1" dirty="0">
                <a:solidFill>
                  <a:srgbClr val="F1F5F9"/>
                </a:solidFill>
                <a:latin typeface="MiSans" pitchFamily="34" charset="0"/>
                <a:ea typeface="MiSans" pitchFamily="34" charset="-122"/>
                <a:cs typeface="MiSans" pitchFamily="34" charset="-120"/>
              </a:rPr>
              <a:t>LAB 4: Tối ưu hóa code với Chained Prompts</a:t>
            </a:r>
            <a:endParaRPr lang="en-US" sz="1600" dirty="0"/>
          </a:p>
        </p:txBody>
      </p:sp>
      <p:sp>
        <p:nvSpPr>
          <p:cNvPr id="6" name="Shape 4"/>
          <p:cNvSpPr/>
          <p:nvPr/>
        </p:nvSpPr>
        <p:spPr>
          <a:xfrm>
            <a:off x="336360" y="1000774"/>
            <a:ext cx="5672436" cy="1669341"/>
          </a:xfrm>
          <a:custGeom>
            <a:avLst/>
            <a:gdLst/>
            <a:ahLst/>
            <a:cxnLst/>
            <a:rect l="l" t="t" r="r" b="b"/>
            <a:pathLst>
              <a:path w="5672436" h="1669341">
                <a:moveTo>
                  <a:pt x="99660" y="0"/>
                </a:moveTo>
                <a:lnTo>
                  <a:pt x="5572776" y="0"/>
                </a:lnTo>
                <a:cubicBezTo>
                  <a:pt x="5627817" y="0"/>
                  <a:pt x="5672436" y="44619"/>
                  <a:pt x="5672436" y="99660"/>
                </a:cubicBezTo>
                <a:lnTo>
                  <a:pt x="5672436" y="1569681"/>
                </a:lnTo>
                <a:cubicBezTo>
                  <a:pt x="5672436" y="1624721"/>
                  <a:pt x="5627817" y="1669341"/>
                  <a:pt x="5572776" y="1669341"/>
                </a:cubicBezTo>
                <a:lnTo>
                  <a:pt x="99660" y="1669341"/>
                </a:lnTo>
                <a:cubicBezTo>
                  <a:pt x="44619" y="1669341"/>
                  <a:pt x="0" y="1624721"/>
                  <a:pt x="0" y="1569681"/>
                </a:cubicBezTo>
                <a:lnTo>
                  <a:pt x="0" y="99660"/>
                </a:lnTo>
                <a:cubicBezTo>
                  <a:pt x="0" y="44619"/>
                  <a:pt x="44619" y="0"/>
                  <a:pt x="99660"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16997" y="1204251"/>
            <a:ext cx="186866" cy="166104"/>
          </a:xfrm>
          <a:custGeom>
            <a:avLst/>
            <a:gdLst/>
            <a:ahLst/>
            <a:cxnLst/>
            <a:rect l="l" t="t" r="r" b="b"/>
            <a:pathLst>
              <a:path w="186866" h="166104">
                <a:moveTo>
                  <a:pt x="136095" y="31144"/>
                </a:moveTo>
                <a:cubicBezTo>
                  <a:pt x="130709" y="31144"/>
                  <a:pt x="125486" y="32604"/>
                  <a:pt x="120912" y="35265"/>
                </a:cubicBezTo>
                <a:cubicBezTo>
                  <a:pt x="115786" y="30074"/>
                  <a:pt x="109817" y="25727"/>
                  <a:pt x="103231" y="22450"/>
                </a:cubicBezTo>
                <a:cubicBezTo>
                  <a:pt x="112379" y="14664"/>
                  <a:pt x="124026" y="10381"/>
                  <a:pt x="136095" y="10381"/>
                </a:cubicBezTo>
                <a:cubicBezTo>
                  <a:pt x="164125" y="10381"/>
                  <a:pt x="186866" y="33091"/>
                  <a:pt x="186866" y="61153"/>
                </a:cubicBezTo>
                <a:cubicBezTo>
                  <a:pt x="186866" y="74617"/>
                  <a:pt x="181514" y="87529"/>
                  <a:pt x="172008" y="97034"/>
                </a:cubicBezTo>
                <a:lnTo>
                  <a:pt x="148942" y="120101"/>
                </a:lnTo>
                <a:cubicBezTo>
                  <a:pt x="139436" y="129606"/>
                  <a:pt x="126524" y="134959"/>
                  <a:pt x="113061" y="134959"/>
                </a:cubicBezTo>
                <a:cubicBezTo>
                  <a:pt x="85031" y="134959"/>
                  <a:pt x="62289" y="112250"/>
                  <a:pt x="62289" y="84187"/>
                </a:cubicBezTo>
                <a:cubicBezTo>
                  <a:pt x="62289" y="83701"/>
                  <a:pt x="62289" y="83214"/>
                  <a:pt x="62321" y="82727"/>
                </a:cubicBezTo>
                <a:cubicBezTo>
                  <a:pt x="62483" y="76985"/>
                  <a:pt x="67252" y="72476"/>
                  <a:pt x="72995" y="72638"/>
                </a:cubicBezTo>
                <a:cubicBezTo>
                  <a:pt x="78737" y="72800"/>
                  <a:pt x="83246" y="77569"/>
                  <a:pt x="83084" y="83311"/>
                </a:cubicBezTo>
                <a:cubicBezTo>
                  <a:pt x="83084" y="83603"/>
                  <a:pt x="83084" y="83895"/>
                  <a:pt x="83084" y="84155"/>
                </a:cubicBezTo>
                <a:cubicBezTo>
                  <a:pt x="83084" y="100733"/>
                  <a:pt x="96515" y="114164"/>
                  <a:pt x="113093" y="114164"/>
                </a:cubicBezTo>
                <a:cubicBezTo>
                  <a:pt x="121041" y="114164"/>
                  <a:pt x="128665" y="111017"/>
                  <a:pt x="134310" y="105372"/>
                </a:cubicBezTo>
                <a:lnTo>
                  <a:pt x="157377" y="82306"/>
                </a:lnTo>
                <a:cubicBezTo>
                  <a:pt x="162989" y="76693"/>
                  <a:pt x="166168" y="69037"/>
                  <a:pt x="166168" y="61088"/>
                </a:cubicBezTo>
                <a:cubicBezTo>
                  <a:pt x="166168" y="44511"/>
                  <a:pt x="152737" y="31080"/>
                  <a:pt x="136159" y="31080"/>
                </a:cubicBezTo>
                <a:close/>
                <a:moveTo>
                  <a:pt x="89281" y="56222"/>
                </a:moveTo>
                <a:cubicBezTo>
                  <a:pt x="88664" y="55963"/>
                  <a:pt x="88048" y="55606"/>
                  <a:pt x="87496" y="55216"/>
                </a:cubicBezTo>
                <a:cubicBezTo>
                  <a:pt x="83409" y="53108"/>
                  <a:pt x="78737" y="51907"/>
                  <a:pt x="73838" y="51907"/>
                </a:cubicBezTo>
                <a:cubicBezTo>
                  <a:pt x="65890" y="51907"/>
                  <a:pt x="58266" y="55054"/>
                  <a:pt x="52621" y="60699"/>
                </a:cubicBezTo>
                <a:lnTo>
                  <a:pt x="29555" y="83765"/>
                </a:lnTo>
                <a:cubicBezTo>
                  <a:pt x="23942" y="89378"/>
                  <a:pt x="20763" y="97034"/>
                  <a:pt x="20763" y="104983"/>
                </a:cubicBezTo>
                <a:cubicBezTo>
                  <a:pt x="20763" y="121561"/>
                  <a:pt x="34194" y="134992"/>
                  <a:pt x="50772" y="134992"/>
                </a:cubicBezTo>
                <a:cubicBezTo>
                  <a:pt x="56125" y="134992"/>
                  <a:pt x="61348" y="133564"/>
                  <a:pt x="65922" y="130904"/>
                </a:cubicBezTo>
                <a:cubicBezTo>
                  <a:pt x="71048" y="136095"/>
                  <a:pt x="77018" y="140442"/>
                  <a:pt x="83636" y="143718"/>
                </a:cubicBezTo>
                <a:cubicBezTo>
                  <a:pt x="74487" y="151472"/>
                  <a:pt x="62873" y="155787"/>
                  <a:pt x="50772" y="155787"/>
                </a:cubicBezTo>
                <a:cubicBezTo>
                  <a:pt x="22742" y="155787"/>
                  <a:pt x="0" y="133077"/>
                  <a:pt x="0" y="105015"/>
                </a:cubicBezTo>
                <a:cubicBezTo>
                  <a:pt x="0" y="91552"/>
                  <a:pt x="5353" y="78640"/>
                  <a:pt x="14858" y="69134"/>
                </a:cubicBezTo>
                <a:lnTo>
                  <a:pt x="37925" y="46068"/>
                </a:lnTo>
                <a:cubicBezTo>
                  <a:pt x="47430" y="36562"/>
                  <a:pt x="60342" y="31209"/>
                  <a:pt x="73806" y="31209"/>
                </a:cubicBezTo>
                <a:cubicBezTo>
                  <a:pt x="101901" y="31209"/>
                  <a:pt x="124578" y="54113"/>
                  <a:pt x="124578" y="82111"/>
                </a:cubicBezTo>
                <a:cubicBezTo>
                  <a:pt x="124578" y="82533"/>
                  <a:pt x="124578" y="82954"/>
                  <a:pt x="124578" y="83376"/>
                </a:cubicBezTo>
                <a:cubicBezTo>
                  <a:pt x="124448" y="89118"/>
                  <a:pt x="119679" y="93628"/>
                  <a:pt x="113937" y="93498"/>
                </a:cubicBezTo>
                <a:cubicBezTo>
                  <a:pt x="108194" y="93368"/>
                  <a:pt x="103685" y="88599"/>
                  <a:pt x="103815" y="82857"/>
                </a:cubicBezTo>
                <a:cubicBezTo>
                  <a:pt x="103815" y="82598"/>
                  <a:pt x="103815" y="82370"/>
                  <a:pt x="103815" y="82111"/>
                </a:cubicBezTo>
                <a:cubicBezTo>
                  <a:pt x="103815" y="71178"/>
                  <a:pt x="97975" y="61575"/>
                  <a:pt x="89281" y="56287"/>
                </a:cubicBezTo>
                <a:close/>
              </a:path>
            </a:pathLst>
          </a:custGeom>
          <a:solidFill>
            <a:srgbClr val="3B82F6"/>
          </a:solidFill>
          <a:ln/>
        </p:spPr>
      </p:sp>
      <p:sp>
        <p:nvSpPr>
          <p:cNvPr id="8" name="Text 6"/>
          <p:cNvSpPr/>
          <p:nvPr/>
        </p:nvSpPr>
        <p:spPr>
          <a:xfrm>
            <a:off x="714245" y="1171030"/>
            <a:ext cx="5207346" cy="232545"/>
          </a:xfrm>
          <a:prstGeom prst="rect">
            <a:avLst/>
          </a:prstGeom>
          <a:noFill/>
          <a:ln/>
        </p:spPr>
        <p:txBody>
          <a:bodyPr wrap="square" lIns="0" tIns="0" rIns="0" bIns="0" rtlCol="0" anchor="ctr"/>
          <a:lstStyle/>
          <a:p>
            <a:pPr>
              <a:lnSpc>
                <a:spcPct val="120000"/>
              </a:lnSpc>
            </a:pPr>
            <a:r>
              <a:rPr lang="en-US" sz="1308" b="1" dirty="0">
                <a:solidFill>
                  <a:srgbClr val="3B82F6"/>
                </a:solidFill>
                <a:latin typeface="MiSans" pitchFamily="34" charset="0"/>
                <a:ea typeface="MiSans" pitchFamily="34" charset="-122"/>
                <a:cs typeface="MiSans" pitchFamily="34" charset="-120"/>
              </a:rPr>
              <a:t>Khái niệm Chaining Prompts</a:t>
            </a:r>
            <a:endParaRPr lang="en-US" sz="1600" dirty="0"/>
          </a:p>
        </p:txBody>
      </p:sp>
      <p:sp>
        <p:nvSpPr>
          <p:cNvPr id="9" name="Shape 7"/>
          <p:cNvSpPr/>
          <p:nvPr/>
        </p:nvSpPr>
        <p:spPr>
          <a:xfrm>
            <a:off x="506616" y="1536458"/>
            <a:ext cx="5331924" cy="963401"/>
          </a:xfrm>
          <a:custGeom>
            <a:avLst/>
            <a:gdLst/>
            <a:ahLst/>
            <a:cxnLst/>
            <a:rect l="l" t="t" r="r" b="b"/>
            <a:pathLst>
              <a:path w="5331924" h="963401">
                <a:moveTo>
                  <a:pt x="66446" y="0"/>
                </a:moveTo>
                <a:lnTo>
                  <a:pt x="5265478" y="0"/>
                </a:lnTo>
                <a:cubicBezTo>
                  <a:pt x="5302175" y="0"/>
                  <a:pt x="5331924" y="29749"/>
                  <a:pt x="5331924" y="66446"/>
                </a:cubicBezTo>
                <a:lnTo>
                  <a:pt x="5331924" y="896955"/>
                </a:lnTo>
                <a:cubicBezTo>
                  <a:pt x="5331924" y="933652"/>
                  <a:pt x="5302175" y="963401"/>
                  <a:pt x="5265478" y="963401"/>
                </a:cubicBezTo>
                <a:lnTo>
                  <a:pt x="66446" y="963401"/>
                </a:lnTo>
                <a:cubicBezTo>
                  <a:pt x="29749" y="963401"/>
                  <a:pt x="0" y="933652"/>
                  <a:pt x="0" y="896955"/>
                </a:cubicBezTo>
                <a:lnTo>
                  <a:pt x="0" y="66446"/>
                </a:lnTo>
                <a:cubicBezTo>
                  <a:pt x="0" y="29773"/>
                  <a:pt x="29773" y="0"/>
                  <a:pt x="66446" y="0"/>
                </a:cubicBezTo>
                <a:close/>
              </a:path>
            </a:pathLst>
          </a:custGeom>
          <a:solidFill>
            <a:srgbClr val="0F172A"/>
          </a:solidFill>
          <a:ln/>
        </p:spPr>
      </p:sp>
      <p:sp>
        <p:nvSpPr>
          <p:cNvPr id="10" name="Text 8"/>
          <p:cNvSpPr/>
          <p:nvPr/>
        </p:nvSpPr>
        <p:spPr>
          <a:xfrm>
            <a:off x="606278" y="1636120"/>
            <a:ext cx="5199041" cy="199324"/>
          </a:xfrm>
          <a:prstGeom prst="rect">
            <a:avLst/>
          </a:prstGeom>
          <a:noFill/>
          <a:ln/>
        </p:spPr>
        <p:txBody>
          <a:bodyPr wrap="square" lIns="0" tIns="0" rIns="0" bIns="0" rtlCol="0" anchor="ctr"/>
          <a:lstStyle/>
          <a:p>
            <a:pPr>
              <a:lnSpc>
                <a:spcPct val="130000"/>
              </a:lnSpc>
            </a:pPr>
            <a:r>
              <a:rPr lang="en-US" sz="1046" b="1" dirty="0">
                <a:solidFill>
                  <a:srgbClr val="3B82F6"/>
                </a:solidFill>
                <a:latin typeface="MiSans" pitchFamily="34" charset="0"/>
                <a:ea typeface="MiSans" pitchFamily="34" charset="-122"/>
                <a:cs typeface="MiSans" pitchFamily="34" charset="-120"/>
              </a:rPr>
              <a:t>Chaining:</a:t>
            </a:r>
            <a:pPr>
              <a:lnSpc>
                <a:spcPct val="130000"/>
              </a:lnSpc>
            </a:pPr>
            <a:r>
              <a:rPr lang="en-US" sz="1046" dirty="0">
                <a:solidFill>
                  <a:srgbClr val="F1F5F9">
                    <a:alpha val="80000"/>
                  </a:srgbClr>
                </a:solidFill>
                <a:latin typeface="MiSans" pitchFamily="34" charset="0"/>
                <a:ea typeface="MiSans" pitchFamily="34" charset="-122"/>
                <a:cs typeface="MiSans" pitchFamily="34" charset="-120"/>
              </a:rPr>
              <a:t> Kết hợp nhiều prompt để:</a:t>
            </a:r>
            <a:endParaRPr lang="en-US" sz="1600" dirty="0"/>
          </a:p>
        </p:txBody>
      </p:sp>
      <p:sp>
        <p:nvSpPr>
          <p:cNvPr id="11" name="Shape 9"/>
          <p:cNvSpPr/>
          <p:nvPr/>
        </p:nvSpPr>
        <p:spPr>
          <a:xfrm>
            <a:off x="606278" y="1935106"/>
            <a:ext cx="199324" cy="199324"/>
          </a:xfrm>
          <a:custGeom>
            <a:avLst/>
            <a:gdLst/>
            <a:ahLst/>
            <a:cxnLst/>
            <a:rect l="l" t="t" r="r" b="b"/>
            <a:pathLst>
              <a:path w="199324" h="199324">
                <a:moveTo>
                  <a:pt x="99662" y="0"/>
                </a:moveTo>
                <a:lnTo>
                  <a:pt x="99662" y="0"/>
                </a:lnTo>
                <a:cubicBezTo>
                  <a:pt x="154704" y="0"/>
                  <a:pt x="199324" y="44620"/>
                  <a:pt x="199324" y="99662"/>
                </a:cubicBezTo>
                <a:lnTo>
                  <a:pt x="199324" y="99662"/>
                </a:lnTo>
                <a:cubicBezTo>
                  <a:pt x="199324" y="154704"/>
                  <a:pt x="154704" y="199324"/>
                  <a:pt x="99662" y="199324"/>
                </a:cubicBezTo>
                <a:lnTo>
                  <a:pt x="99662" y="199324"/>
                </a:lnTo>
                <a:cubicBezTo>
                  <a:pt x="44620" y="199324"/>
                  <a:pt x="0" y="154704"/>
                  <a:pt x="0" y="99662"/>
                </a:cubicBezTo>
                <a:lnTo>
                  <a:pt x="0" y="99662"/>
                </a:lnTo>
                <a:cubicBezTo>
                  <a:pt x="0" y="44620"/>
                  <a:pt x="44620" y="0"/>
                  <a:pt x="99662" y="0"/>
                </a:cubicBezTo>
                <a:close/>
              </a:path>
            </a:pathLst>
          </a:custGeom>
          <a:solidFill>
            <a:srgbClr val="3B82F6"/>
          </a:solidFill>
          <a:ln/>
        </p:spPr>
      </p:sp>
      <p:sp>
        <p:nvSpPr>
          <p:cNvPr id="12" name="Text 10"/>
          <p:cNvSpPr/>
          <p:nvPr/>
        </p:nvSpPr>
        <p:spPr>
          <a:xfrm>
            <a:off x="581362" y="1935106"/>
            <a:ext cx="249155" cy="199324"/>
          </a:xfrm>
          <a:prstGeom prst="rect">
            <a:avLst/>
          </a:prstGeom>
          <a:noFill/>
          <a:ln/>
        </p:spPr>
        <p:txBody>
          <a:bodyPr wrap="square" lIns="0" tIns="0" rIns="0" bIns="0" rtlCol="0" anchor="ctr"/>
          <a:lstStyle/>
          <a:p>
            <a:pPr algn="ctr">
              <a:lnSpc>
                <a:spcPct val="110000"/>
              </a:lnSpc>
            </a:pPr>
            <a:r>
              <a:rPr lang="en-US" sz="785" b="1" dirty="0">
                <a:solidFill>
                  <a:srgbClr val="FFFFFF"/>
                </a:solidFill>
                <a:latin typeface="MiSans" pitchFamily="34" charset="0"/>
                <a:ea typeface="MiSans" pitchFamily="34" charset="-122"/>
                <a:cs typeface="MiSans" pitchFamily="34" charset="-120"/>
              </a:rPr>
              <a:t>1</a:t>
            </a:r>
            <a:endParaRPr lang="en-US" sz="1600" dirty="0"/>
          </a:p>
        </p:txBody>
      </p:sp>
      <p:sp>
        <p:nvSpPr>
          <p:cNvPr id="13" name="Text 11"/>
          <p:cNvSpPr/>
          <p:nvPr/>
        </p:nvSpPr>
        <p:spPr>
          <a:xfrm>
            <a:off x="872044" y="1951717"/>
            <a:ext cx="1619510" cy="166104"/>
          </a:xfrm>
          <a:prstGeom prst="rect">
            <a:avLst/>
          </a:prstGeom>
          <a:noFill/>
          <a:ln/>
        </p:spPr>
        <p:txBody>
          <a:bodyPr wrap="square" lIns="0" tIns="0" rIns="0" bIns="0" rtlCol="0" anchor="ctr"/>
          <a:lstStyle/>
          <a:p>
            <a:pPr>
              <a:lnSpc>
                <a:spcPct val="120000"/>
              </a:lnSpc>
            </a:pPr>
            <a:r>
              <a:rPr lang="en-US" sz="916" dirty="0">
                <a:solidFill>
                  <a:srgbClr val="F1F5F9">
                    <a:alpha val="80000"/>
                  </a:srgbClr>
                </a:solidFill>
                <a:latin typeface="MiSans" pitchFamily="34" charset="0"/>
                <a:ea typeface="MiSans" pitchFamily="34" charset="-122"/>
                <a:cs typeface="MiSans" pitchFamily="34" charset="-120"/>
              </a:rPr>
              <a:t>Hỏi ChatGPT xác định vấn đề</a:t>
            </a:r>
            <a:endParaRPr lang="en-US" sz="1600" dirty="0"/>
          </a:p>
        </p:txBody>
      </p:sp>
      <p:sp>
        <p:nvSpPr>
          <p:cNvPr id="14" name="Shape 12"/>
          <p:cNvSpPr/>
          <p:nvPr/>
        </p:nvSpPr>
        <p:spPr>
          <a:xfrm>
            <a:off x="606278" y="2200872"/>
            <a:ext cx="199324" cy="199324"/>
          </a:xfrm>
          <a:custGeom>
            <a:avLst/>
            <a:gdLst/>
            <a:ahLst/>
            <a:cxnLst/>
            <a:rect l="l" t="t" r="r" b="b"/>
            <a:pathLst>
              <a:path w="199324" h="199324">
                <a:moveTo>
                  <a:pt x="99662" y="0"/>
                </a:moveTo>
                <a:lnTo>
                  <a:pt x="99662" y="0"/>
                </a:lnTo>
                <a:cubicBezTo>
                  <a:pt x="154704" y="0"/>
                  <a:pt x="199324" y="44620"/>
                  <a:pt x="199324" y="99662"/>
                </a:cubicBezTo>
                <a:lnTo>
                  <a:pt x="199324" y="99662"/>
                </a:lnTo>
                <a:cubicBezTo>
                  <a:pt x="199324" y="154704"/>
                  <a:pt x="154704" y="199324"/>
                  <a:pt x="99662" y="199324"/>
                </a:cubicBezTo>
                <a:lnTo>
                  <a:pt x="99662" y="199324"/>
                </a:lnTo>
                <a:cubicBezTo>
                  <a:pt x="44620" y="199324"/>
                  <a:pt x="0" y="154704"/>
                  <a:pt x="0" y="99662"/>
                </a:cubicBezTo>
                <a:lnTo>
                  <a:pt x="0" y="99662"/>
                </a:lnTo>
                <a:cubicBezTo>
                  <a:pt x="0" y="44620"/>
                  <a:pt x="44620" y="0"/>
                  <a:pt x="99662" y="0"/>
                </a:cubicBezTo>
                <a:close/>
              </a:path>
            </a:pathLst>
          </a:custGeom>
          <a:solidFill>
            <a:srgbClr val="8B5CF6"/>
          </a:solidFill>
          <a:ln/>
        </p:spPr>
      </p:sp>
      <p:sp>
        <p:nvSpPr>
          <p:cNvPr id="15" name="Text 13"/>
          <p:cNvSpPr/>
          <p:nvPr/>
        </p:nvSpPr>
        <p:spPr>
          <a:xfrm>
            <a:off x="581362" y="2200872"/>
            <a:ext cx="249155" cy="199324"/>
          </a:xfrm>
          <a:prstGeom prst="rect">
            <a:avLst/>
          </a:prstGeom>
          <a:noFill/>
          <a:ln/>
        </p:spPr>
        <p:txBody>
          <a:bodyPr wrap="square" lIns="0" tIns="0" rIns="0" bIns="0" rtlCol="0" anchor="ctr"/>
          <a:lstStyle/>
          <a:p>
            <a:pPr algn="ctr">
              <a:lnSpc>
                <a:spcPct val="110000"/>
              </a:lnSpc>
            </a:pPr>
            <a:r>
              <a:rPr lang="en-US" sz="785" b="1" dirty="0">
                <a:solidFill>
                  <a:srgbClr val="FFFFFF"/>
                </a:solidFill>
                <a:latin typeface="MiSans" pitchFamily="34" charset="0"/>
                <a:ea typeface="MiSans" pitchFamily="34" charset="-122"/>
                <a:cs typeface="MiSans" pitchFamily="34" charset="-120"/>
              </a:rPr>
              <a:t>2</a:t>
            </a:r>
            <a:endParaRPr lang="en-US" sz="1600" dirty="0"/>
          </a:p>
        </p:txBody>
      </p:sp>
      <p:sp>
        <p:nvSpPr>
          <p:cNvPr id="16" name="Text 14"/>
          <p:cNvSpPr/>
          <p:nvPr/>
        </p:nvSpPr>
        <p:spPr>
          <a:xfrm>
            <a:off x="872044" y="2217482"/>
            <a:ext cx="1777308" cy="166104"/>
          </a:xfrm>
          <a:prstGeom prst="rect">
            <a:avLst/>
          </a:prstGeom>
          <a:noFill/>
          <a:ln/>
        </p:spPr>
        <p:txBody>
          <a:bodyPr wrap="square" lIns="0" tIns="0" rIns="0" bIns="0" rtlCol="0" anchor="ctr"/>
          <a:lstStyle/>
          <a:p>
            <a:pPr>
              <a:lnSpc>
                <a:spcPct val="120000"/>
              </a:lnSpc>
            </a:pPr>
            <a:r>
              <a:rPr lang="en-US" sz="916" dirty="0">
                <a:solidFill>
                  <a:srgbClr val="F1F5F9">
                    <a:alpha val="80000"/>
                  </a:srgbClr>
                </a:solidFill>
                <a:latin typeface="MiSans" pitchFamily="34" charset="0"/>
                <a:ea typeface="MiSans" pitchFamily="34" charset="-122"/>
                <a:cs typeface="MiSans" pitchFamily="34" charset="-120"/>
              </a:rPr>
              <a:t>Dựa trên kết quả, yêu cầu tối ưu</a:t>
            </a:r>
            <a:endParaRPr lang="en-US" sz="1600" dirty="0"/>
          </a:p>
        </p:txBody>
      </p:sp>
      <p:sp>
        <p:nvSpPr>
          <p:cNvPr id="17" name="Shape 15"/>
          <p:cNvSpPr/>
          <p:nvPr/>
        </p:nvSpPr>
        <p:spPr>
          <a:xfrm>
            <a:off x="336360" y="2811302"/>
            <a:ext cx="5672436" cy="1561373"/>
          </a:xfrm>
          <a:custGeom>
            <a:avLst/>
            <a:gdLst/>
            <a:ahLst/>
            <a:cxnLst/>
            <a:rect l="l" t="t" r="r" b="b"/>
            <a:pathLst>
              <a:path w="5672436" h="1561373">
                <a:moveTo>
                  <a:pt x="99662" y="0"/>
                </a:moveTo>
                <a:lnTo>
                  <a:pt x="5572774" y="0"/>
                </a:lnTo>
                <a:cubicBezTo>
                  <a:pt x="5627816" y="0"/>
                  <a:pt x="5672436" y="44620"/>
                  <a:pt x="5672436" y="99662"/>
                </a:cubicBezTo>
                <a:lnTo>
                  <a:pt x="5672436" y="1461711"/>
                </a:lnTo>
                <a:cubicBezTo>
                  <a:pt x="5672436" y="1516753"/>
                  <a:pt x="5627816" y="1561373"/>
                  <a:pt x="5572774" y="1561373"/>
                </a:cubicBezTo>
                <a:lnTo>
                  <a:pt x="99662" y="1561373"/>
                </a:lnTo>
                <a:cubicBezTo>
                  <a:pt x="44620" y="1561373"/>
                  <a:pt x="0" y="1516753"/>
                  <a:pt x="0" y="1461711"/>
                </a:cubicBezTo>
                <a:lnTo>
                  <a:pt x="0" y="99662"/>
                </a:lnTo>
                <a:cubicBezTo>
                  <a:pt x="0" y="44657"/>
                  <a:pt x="44657" y="0"/>
                  <a:pt x="99662" y="0"/>
                </a:cubicBezTo>
                <a:close/>
              </a:path>
            </a:pathLst>
          </a:custGeom>
          <a:solidFill>
            <a:srgbClr val="0F172A"/>
          </a:solidFill>
          <a:ln w="12700">
            <a:solidFill>
              <a:srgbClr val="EF4444">
                <a:alpha val="30196"/>
              </a:srgbClr>
            </a:solidFill>
            <a:prstDash val="solid"/>
          </a:ln>
        </p:spPr>
      </p:sp>
      <p:sp>
        <p:nvSpPr>
          <p:cNvPr id="18" name="Text 16"/>
          <p:cNvSpPr/>
          <p:nvPr/>
        </p:nvSpPr>
        <p:spPr>
          <a:xfrm>
            <a:off x="473395" y="2948338"/>
            <a:ext cx="5473112" cy="232545"/>
          </a:xfrm>
          <a:prstGeom prst="rect">
            <a:avLst/>
          </a:prstGeom>
          <a:noFill/>
          <a:ln/>
        </p:spPr>
        <p:txBody>
          <a:bodyPr wrap="square" lIns="0" tIns="0" rIns="0" bIns="0" rtlCol="0" anchor="ctr"/>
          <a:lstStyle/>
          <a:p>
            <a:pPr>
              <a:lnSpc>
                <a:spcPct val="130000"/>
              </a:lnSpc>
            </a:pPr>
            <a:r>
              <a:rPr lang="en-US" sz="1177" b="1" dirty="0">
                <a:solidFill>
                  <a:srgbClr val="EF4444"/>
                </a:solidFill>
                <a:latin typeface="MiSans" pitchFamily="34" charset="0"/>
                <a:ea typeface="MiSans" pitchFamily="34" charset="-122"/>
                <a:cs typeface="MiSans" pitchFamily="34" charset="-120"/>
              </a:rPr>
              <a:t>Vấn đề ban đầu</a:t>
            </a:r>
            <a:endParaRPr lang="en-US" sz="1600" dirty="0"/>
          </a:p>
        </p:txBody>
      </p:sp>
      <p:sp>
        <p:nvSpPr>
          <p:cNvPr id="19" name="Shape 17"/>
          <p:cNvSpPr/>
          <p:nvPr/>
        </p:nvSpPr>
        <p:spPr>
          <a:xfrm>
            <a:off x="473395" y="3280545"/>
            <a:ext cx="5398365" cy="689330"/>
          </a:xfrm>
          <a:custGeom>
            <a:avLst/>
            <a:gdLst/>
            <a:ahLst/>
            <a:cxnLst/>
            <a:rect l="l" t="t" r="r" b="b"/>
            <a:pathLst>
              <a:path w="5398365" h="689330">
                <a:moveTo>
                  <a:pt x="66444" y="0"/>
                </a:moveTo>
                <a:lnTo>
                  <a:pt x="5331921" y="0"/>
                </a:lnTo>
                <a:cubicBezTo>
                  <a:pt x="5368617" y="0"/>
                  <a:pt x="5398365" y="29748"/>
                  <a:pt x="5398365" y="66444"/>
                </a:cubicBezTo>
                <a:lnTo>
                  <a:pt x="5398365" y="622885"/>
                </a:lnTo>
                <a:cubicBezTo>
                  <a:pt x="5398365" y="659581"/>
                  <a:pt x="5368617" y="689330"/>
                  <a:pt x="5331921" y="689330"/>
                </a:cubicBezTo>
                <a:lnTo>
                  <a:pt x="66444" y="689330"/>
                </a:lnTo>
                <a:cubicBezTo>
                  <a:pt x="29748" y="689330"/>
                  <a:pt x="0" y="659581"/>
                  <a:pt x="0" y="622885"/>
                </a:cubicBezTo>
                <a:lnTo>
                  <a:pt x="0" y="66444"/>
                </a:lnTo>
                <a:cubicBezTo>
                  <a:pt x="0" y="29748"/>
                  <a:pt x="29748" y="0"/>
                  <a:pt x="66444" y="0"/>
                </a:cubicBezTo>
                <a:close/>
              </a:path>
            </a:pathLst>
          </a:custGeom>
          <a:solidFill>
            <a:srgbClr val="1E293B"/>
          </a:solidFill>
          <a:ln/>
        </p:spPr>
      </p:sp>
      <p:sp>
        <p:nvSpPr>
          <p:cNvPr id="20" name="Text 18"/>
          <p:cNvSpPr/>
          <p:nvPr/>
        </p:nvSpPr>
        <p:spPr>
          <a:xfrm>
            <a:off x="473395" y="3280545"/>
            <a:ext cx="5452349" cy="689330"/>
          </a:xfrm>
          <a:prstGeom prst="rect">
            <a:avLst/>
          </a:prstGeom>
          <a:noFill/>
          <a:ln/>
        </p:spPr>
        <p:txBody>
          <a:bodyPr wrap="square" lIns="99662" tIns="99662" rIns="99662" bIns="99662" rtlCol="0" anchor="ctr"/>
          <a:lstStyle/>
          <a:p>
            <a:pPr>
              <a:lnSpc>
                <a:spcPct val="130000"/>
              </a:lnSpc>
            </a:pPr>
            <a:r>
              <a:rPr lang="en-US" sz="850" dirty="0">
                <a:solidFill>
                  <a:srgbClr val="8B5CF6"/>
                </a:solidFill>
                <a:latin typeface="MiSans" pitchFamily="34" charset="0"/>
                <a:ea typeface="MiSans" pitchFamily="34" charset="-122"/>
                <a:cs typeface="MiSans" pitchFamily="34" charset="-120"/>
              </a:rPr>
              <a:t>def</a:t>
            </a:r>
            <a:pPr>
              <a:lnSpc>
                <a:spcPct val="130000"/>
              </a:lnSpc>
            </a:pPr>
            <a:r>
              <a:rPr lang="en-US" sz="850" dirty="0">
                <a:solidFill>
                  <a:srgbClr val="3B82F6"/>
                </a:solidFill>
                <a:latin typeface="MiSans" pitchFamily="34" charset="0"/>
                <a:ea typeface="MiSans" pitchFamily="34" charset="-122"/>
                <a:cs typeface="MiSans" pitchFamily="34" charset="-120"/>
              </a:rPr>
              <a:t>fibonacci_iterative</a:t>
            </a:r>
            <a:pPr>
              <a:lnSpc>
                <a:spcPct val="130000"/>
              </a:lnSpc>
            </a:pPr>
            <a:r>
              <a:rPr lang="en-US" sz="850" dirty="0">
                <a:solidFill>
                  <a:srgbClr val="F1F5F9"/>
                </a:solidFill>
                <a:latin typeface="MiSans" pitchFamily="34" charset="0"/>
                <a:ea typeface="MiSans" pitchFamily="34" charset="-122"/>
                <a:cs typeface="MiSans" pitchFamily="34" charset="-120"/>
              </a:rPr>
              <a:t>(n):</a:t>
            </a:r>
            <a:endParaRPr lang="en-US" sz="1600" dirty="0"/>
          </a:p>
          <a:p>
            <a:pPr>
              <a:lnSpc>
                <a:spcPct val="130000"/>
              </a:lnSpc>
            </a:pPr>
            <a:r>
              <a:rPr lang="en-US" sz="850" dirty="0">
                <a:solidFill>
                  <a:srgbClr val="F1F5F9"/>
                </a:solidFill>
                <a:latin typeface="MiSans" pitchFamily="34" charset="0"/>
                <a:ea typeface="MiSans" pitchFamily="34" charset="-122"/>
                <a:cs typeface="MiSans" pitchFamily="34" charset="-120"/>
              </a:rPr>
              <a:t># O(n) - tính fib(1,000,000)</a:t>
            </a:r>
            <a:endParaRPr lang="en-US" sz="1600" dirty="0"/>
          </a:p>
          <a:p>
            <a:pPr>
              <a:lnSpc>
                <a:spcPct val="130000"/>
              </a:lnSpc>
            </a:pPr>
            <a:r>
              <a:rPr lang="en-US" sz="850" dirty="0">
                <a:solidFill>
                  <a:srgbClr val="F1F5F9"/>
                </a:solidFill>
                <a:latin typeface="MiSans" pitchFamily="34" charset="0"/>
                <a:ea typeface="MiSans" pitchFamily="34" charset="-122"/>
                <a:cs typeface="MiSans" pitchFamily="34" charset="-120"/>
              </a:rPr>
              <a:t># mất 9.2 giây - QUÁ CHẬM!</a:t>
            </a:r>
            <a:endParaRPr lang="en-US" sz="1600" dirty="0"/>
          </a:p>
        </p:txBody>
      </p:sp>
      <p:sp>
        <p:nvSpPr>
          <p:cNvPr id="21" name="Text 19"/>
          <p:cNvSpPr/>
          <p:nvPr/>
        </p:nvSpPr>
        <p:spPr>
          <a:xfrm>
            <a:off x="473395" y="4065384"/>
            <a:ext cx="5456501" cy="166104"/>
          </a:xfrm>
          <a:prstGeom prst="rect">
            <a:avLst/>
          </a:prstGeom>
          <a:noFill/>
          <a:ln/>
        </p:spPr>
        <p:txBody>
          <a:bodyPr wrap="square" lIns="0" tIns="0" rIns="0" bIns="0" rtlCol="0" anchor="ctr"/>
          <a:lstStyle/>
          <a:p>
            <a:pPr>
              <a:lnSpc>
                <a:spcPct val="120000"/>
              </a:lnSpc>
            </a:pPr>
            <a:r>
              <a:rPr lang="en-US" sz="916" b="1" dirty="0">
                <a:solidFill>
                  <a:srgbClr val="F1F5F9">
                    <a:alpha val="80000"/>
                  </a:srgbClr>
                </a:solidFill>
                <a:latin typeface="MiSans" pitchFamily="34" charset="0"/>
                <a:ea typeface="MiSans" pitchFamily="34" charset="-122"/>
                <a:cs typeface="MiSans" pitchFamily="34" charset="-120"/>
              </a:rPr>
              <a:t>Mục tiêu:</a:t>
            </a:r>
            <a:pPr>
              <a:lnSpc>
                <a:spcPct val="120000"/>
              </a:lnSpc>
            </a:pPr>
            <a:r>
              <a:rPr lang="en-US" sz="916" dirty="0">
                <a:solidFill>
                  <a:srgbClr val="F1F5F9">
                    <a:alpha val="80000"/>
                  </a:srgbClr>
                </a:solidFill>
                <a:latin typeface="MiSans" pitchFamily="34" charset="0"/>
                <a:ea typeface="MiSans" pitchFamily="34" charset="-122"/>
                <a:cs typeface="MiSans" pitchFamily="34" charset="-120"/>
              </a:rPr>
              <a:t> Tính số Fibonacci thứ </a:t>
            </a:r>
            <a:pPr>
              <a:lnSpc>
                <a:spcPct val="120000"/>
              </a:lnSpc>
            </a:pPr>
            <a:r>
              <a:rPr lang="en-US" sz="916" b="1" dirty="0">
                <a:solidFill>
                  <a:srgbClr val="EF4444"/>
                </a:solidFill>
                <a:latin typeface="MiSans" pitchFamily="34" charset="0"/>
                <a:ea typeface="MiSans" pitchFamily="34" charset="-122"/>
                <a:cs typeface="MiSans" pitchFamily="34" charset="-120"/>
              </a:rPr>
              <a:t>1,000,000</a:t>
            </a:r>
            <a:pPr>
              <a:lnSpc>
                <a:spcPct val="120000"/>
              </a:lnSpc>
            </a:pPr>
            <a:r>
              <a:rPr lang="en-US" sz="916" dirty="0">
                <a:solidFill>
                  <a:srgbClr val="F1F5F9">
                    <a:alpha val="80000"/>
                  </a:srgbClr>
                </a:solidFill>
                <a:latin typeface="MiSans" pitchFamily="34" charset="0"/>
                <a:ea typeface="MiSans" pitchFamily="34" charset="-122"/>
                <a:cs typeface="MiSans" pitchFamily="34" charset="-120"/>
              </a:rPr>
              <a:t> trong thờigian chấp nhận được</a:t>
            </a:r>
            <a:endParaRPr lang="en-US" sz="1600" dirty="0"/>
          </a:p>
        </p:txBody>
      </p:sp>
      <p:sp>
        <p:nvSpPr>
          <p:cNvPr id="22" name="Shape 20"/>
          <p:cNvSpPr/>
          <p:nvPr/>
        </p:nvSpPr>
        <p:spPr>
          <a:xfrm>
            <a:off x="6185021" y="1000774"/>
            <a:ext cx="5672436" cy="3936654"/>
          </a:xfrm>
          <a:custGeom>
            <a:avLst/>
            <a:gdLst/>
            <a:ahLst/>
            <a:cxnLst/>
            <a:rect l="l" t="t" r="r" b="b"/>
            <a:pathLst>
              <a:path w="5672436" h="3936654">
                <a:moveTo>
                  <a:pt x="99676" y="0"/>
                </a:moveTo>
                <a:lnTo>
                  <a:pt x="5572760" y="0"/>
                </a:lnTo>
                <a:cubicBezTo>
                  <a:pt x="5627809" y="0"/>
                  <a:pt x="5672436" y="44627"/>
                  <a:pt x="5672436" y="99676"/>
                </a:cubicBezTo>
                <a:lnTo>
                  <a:pt x="5672436" y="3836978"/>
                </a:lnTo>
                <a:cubicBezTo>
                  <a:pt x="5672436" y="3892027"/>
                  <a:pt x="5627809" y="3936654"/>
                  <a:pt x="5572760" y="3936654"/>
                </a:cubicBezTo>
                <a:lnTo>
                  <a:pt x="99676" y="3936654"/>
                </a:lnTo>
                <a:cubicBezTo>
                  <a:pt x="44627" y="3936654"/>
                  <a:pt x="0" y="3892027"/>
                  <a:pt x="0" y="3836978"/>
                </a:cubicBezTo>
                <a:lnTo>
                  <a:pt x="0" y="99676"/>
                </a:lnTo>
                <a:cubicBezTo>
                  <a:pt x="0" y="44627"/>
                  <a:pt x="44626" y="0"/>
                  <a:pt x="99676"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3" name="Shape 21"/>
          <p:cNvSpPr/>
          <p:nvPr/>
        </p:nvSpPr>
        <p:spPr>
          <a:xfrm>
            <a:off x="6376040" y="1204251"/>
            <a:ext cx="166104" cy="166104"/>
          </a:xfrm>
          <a:custGeom>
            <a:avLst/>
            <a:gdLst/>
            <a:ahLst/>
            <a:cxnLst/>
            <a:rect l="l" t="t" r="r" b="b"/>
            <a:pathLst>
              <a:path w="166104" h="166104">
                <a:moveTo>
                  <a:pt x="41526" y="103815"/>
                </a:moveTo>
                <a:lnTo>
                  <a:pt x="7948" y="103815"/>
                </a:lnTo>
                <a:cubicBezTo>
                  <a:pt x="-130" y="103815"/>
                  <a:pt x="-5093" y="95023"/>
                  <a:pt x="-941" y="88080"/>
                </a:cubicBezTo>
                <a:lnTo>
                  <a:pt x="16221" y="59466"/>
                </a:lnTo>
                <a:cubicBezTo>
                  <a:pt x="19044" y="54762"/>
                  <a:pt x="24104" y="51907"/>
                  <a:pt x="29587" y="51907"/>
                </a:cubicBezTo>
                <a:lnTo>
                  <a:pt x="60407" y="51907"/>
                </a:lnTo>
                <a:cubicBezTo>
                  <a:pt x="85096" y="10089"/>
                  <a:pt x="121917" y="7981"/>
                  <a:pt x="146541" y="11582"/>
                </a:cubicBezTo>
                <a:cubicBezTo>
                  <a:pt x="150694" y="12198"/>
                  <a:pt x="153938" y="15442"/>
                  <a:pt x="154522" y="19563"/>
                </a:cubicBezTo>
                <a:cubicBezTo>
                  <a:pt x="158123" y="44186"/>
                  <a:pt x="156014" y="81008"/>
                  <a:pt x="114196" y="105696"/>
                </a:cubicBezTo>
                <a:lnTo>
                  <a:pt x="114196" y="136516"/>
                </a:lnTo>
                <a:cubicBezTo>
                  <a:pt x="114196" y="141999"/>
                  <a:pt x="111341" y="147060"/>
                  <a:pt x="106637" y="149882"/>
                </a:cubicBezTo>
                <a:lnTo>
                  <a:pt x="78023" y="167044"/>
                </a:lnTo>
                <a:cubicBezTo>
                  <a:pt x="71113" y="171197"/>
                  <a:pt x="62289" y="166201"/>
                  <a:pt x="62289" y="158155"/>
                </a:cubicBezTo>
                <a:lnTo>
                  <a:pt x="62289" y="124578"/>
                </a:lnTo>
                <a:cubicBezTo>
                  <a:pt x="62289" y="113126"/>
                  <a:pt x="52978" y="103815"/>
                  <a:pt x="41526" y="103815"/>
                </a:cubicBezTo>
                <a:lnTo>
                  <a:pt x="41493" y="103815"/>
                </a:lnTo>
                <a:close/>
                <a:moveTo>
                  <a:pt x="129768" y="51907"/>
                </a:moveTo>
                <a:cubicBezTo>
                  <a:pt x="129768" y="43313"/>
                  <a:pt x="122791" y="36335"/>
                  <a:pt x="114196" y="36335"/>
                </a:cubicBezTo>
                <a:cubicBezTo>
                  <a:pt x="105602" y="36335"/>
                  <a:pt x="98624" y="43313"/>
                  <a:pt x="98624" y="51907"/>
                </a:cubicBezTo>
                <a:cubicBezTo>
                  <a:pt x="98624" y="60502"/>
                  <a:pt x="105602" y="67480"/>
                  <a:pt x="114196" y="67480"/>
                </a:cubicBezTo>
                <a:cubicBezTo>
                  <a:pt x="122791" y="67480"/>
                  <a:pt x="129768" y="60502"/>
                  <a:pt x="129768" y="51907"/>
                </a:cubicBezTo>
                <a:close/>
              </a:path>
            </a:pathLst>
          </a:custGeom>
          <a:solidFill>
            <a:srgbClr val="10B981"/>
          </a:solidFill>
          <a:ln/>
        </p:spPr>
      </p:sp>
      <p:sp>
        <p:nvSpPr>
          <p:cNvPr id="24" name="Text 22"/>
          <p:cNvSpPr/>
          <p:nvPr/>
        </p:nvSpPr>
        <p:spPr>
          <a:xfrm>
            <a:off x="6562907" y="1171030"/>
            <a:ext cx="5207346" cy="232545"/>
          </a:xfrm>
          <a:prstGeom prst="rect">
            <a:avLst/>
          </a:prstGeom>
          <a:noFill/>
          <a:ln/>
        </p:spPr>
        <p:txBody>
          <a:bodyPr wrap="square" lIns="0" tIns="0" rIns="0" bIns="0" rtlCol="0" anchor="ctr"/>
          <a:lstStyle/>
          <a:p>
            <a:pPr>
              <a:lnSpc>
                <a:spcPct val="120000"/>
              </a:lnSpc>
            </a:pPr>
            <a:r>
              <a:rPr lang="en-US" sz="1308" b="1" dirty="0">
                <a:solidFill>
                  <a:srgbClr val="10B981"/>
                </a:solidFill>
                <a:latin typeface="MiSans" pitchFamily="34" charset="0"/>
                <a:ea typeface="MiSans" pitchFamily="34" charset="-122"/>
                <a:cs typeface="MiSans" pitchFamily="34" charset="-120"/>
              </a:rPr>
              <a:t>Tối ưu hóa thờigian - Fibonacci</a:t>
            </a:r>
            <a:endParaRPr lang="en-US" sz="1600" dirty="0"/>
          </a:p>
        </p:txBody>
      </p:sp>
      <p:sp>
        <p:nvSpPr>
          <p:cNvPr id="25" name="Shape 23"/>
          <p:cNvSpPr/>
          <p:nvPr/>
        </p:nvSpPr>
        <p:spPr>
          <a:xfrm>
            <a:off x="6355277" y="1536458"/>
            <a:ext cx="5331924" cy="1312218"/>
          </a:xfrm>
          <a:custGeom>
            <a:avLst/>
            <a:gdLst/>
            <a:ahLst/>
            <a:cxnLst/>
            <a:rect l="l" t="t" r="r" b="b"/>
            <a:pathLst>
              <a:path w="5331924" h="1312218">
                <a:moveTo>
                  <a:pt x="66438" y="0"/>
                </a:moveTo>
                <a:lnTo>
                  <a:pt x="5265486" y="0"/>
                </a:lnTo>
                <a:cubicBezTo>
                  <a:pt x="5302154" y="0"/>
                  <a:pt x="5331924" y="29770"/>
                  <a:pt x="5331924" y="66438"/>
                </a:cubicBezTo>
                <a:lnTo>
                  <a:pt x="5331924" y="1245780"/>
                </a:lnTo>
                <a:cubicBezTo>
                  <a:pt x="5331924" y="1282448"/>
                  <a:pt x="5302154" y="1312218"/>
                  <a:pt x="5265486" y="1312218"/>
                </a:cubicBezTo>
                <a:lnTo>
                  <a:pt x="66438" y="1312218"/>
                </a:lnTo>
                <a:cubicBezTo>
                  <a:pt x="29770" y="1312218"/>
                  <a:pt x="0" y="1282448"/>
                  <a:pt x="0" y="1245780"/>
                </a:cubicBezTo>
                <a:lnTo>
                  <a:pt x="0" y="66438"/>
                </a:lnTo>
                <a:cubicBezTo>
                  <a:pt x="0" y="29745"/>
                  <a:pt x="29745" y="0"/>
                  <a:pt x="66438" y="0"/>
                </a:cubicBezTo>
                <a:close/>
              </a:path>
            </a:pathLst>
          </a:custGeom>
          <a:solidFill>
            <a:srgbClr val="0F172A"/>
          </a:solidFill>
          <a:ln/>
        </p:spPr>
      </p:sp>
      <p:sp>
        <p:nvSpPr>
          <p:cNvPr id="26" name="Text 24"/>
          <p:cNvSpPr/>
          <p:nvPr/>
        </p:nvSpPr>
        <p:spPr>
          <a:xfrm>
            <a:off x="6454939" y="1636120"/>
            <a:ext cx="5199041" cy="199324"/>
          </a:xfrm>
          <a:prstGeom prst="rect">
            <a:avLst/>
          </a:prstGeom>
          <a:noFill/>
          <a:ln/>
        </p:spPr>
        <p:txBody>
          <a:bodyPr wrap="square" lIns="0" tIns="0" rIns="0" bIns="0" rtlCol="0" anchor="ctr"/>
          <a:lstStyle/>
          <a:p>
            <a:pPr>
              <a:lnSpc>
                <a:spcPct val="130000"/>
              </a:lnSpc>
            </a:pPr>
            <a:r>
              <a:rPr lang="en-US" sz="1046" b="1" dirty="0">
                <a:solidFill>
                  <a:srgbClr val="F1F5F9"/>
                </a:solidFill>
                <a:latin typeface="MiSans" pitchFamily="34" charset="0"/>
                <a:ea typeface="MiSans" pitchFamily="34" charset="-122"/>
                <a:cs typeface="MiSans" pitchFamily="34" charset="-120"/>
              </a:rPr>
              <a:t>Prompt tối ưu:</a:t>
            </a:r>
            <a:endParaRPr lang="en-US" sz="1600" dirty="0"/>
          </a:p>
        </p:txBody>
      </p:sp>
      <p:sp>
        <p:nvSpPr>
          <p:cNvPr id="27" name="Shape 25"/>
          <p:cNvSpPr/>
          <p:nvPr/>
        </p:nvSpPr>
        <p:spPr>
          <a:xfrm>
            <a:off x="6454939" y="1901886"/>
            <a:ext cx="5132599" cy="847128"/>
          </a:xfrm>
          <a:custGeom>
            <a:avLst/>
            <a:gdLst/>
            <a:ahLst/>
            <a:cxnLst/>
            <a:rect l="l" t="t" r="r" b="b"/>
            <a:pathLst>
              <a:path w="5132599" h="847128">
                <a:moveTo>
                  <a:pt x="66440" y="0"/>
                </a:moveTo>
                <a:lnTo>
                  <a:pt x="5066159" y="0"/>
                </a:lnTo>
                <a:cubicBezTo>
                  <a:pt x="5102853" y="0"/>
                  <a:pt x="5132599" y="29746"/>
                  <a:pt x="5132599" y="66440"/>
                </a:cubicBezTo>
                <a:lnTo>
                  <a:pt x="5132599" y="780688"/>
                </a:lnTo>
                <a:cubicBezTo>
                  <a:pt x="5132599" y="817382"/>
                  <a:pt x="5102853" y="847128"/>
                  <a:pt x="5066159" y="847128"/>
                </a:cubicBezTo>
                <a:lnTo>
                  <a:pt x="66440" y="847128"/>
                </a:lnTo>
                <a:cubicBezTo>
                  <a:pt x="29771" y="847128"/>
                  <a:pt x="0" y="817357"/>
                  <a:pt x="0" y="780688"/>
                </a:cubicBezTo>
                <a:lnTo>
                  <a:pt x="0" y="66440"/>
                </a:lnTo>
                <a:cubicBezTo>
                  <a:pt x="0" y="29746"/>
                  <a:pt x="29746" y="0"/>
                  <a:pt x="66440" y="0"/>
                </a:cubicBezTo>
                <a:close/>
              </a:path>
            </a:pathLst>
          </a:custGeom>
          <a:solidFill>
            <a:srgbClr val="1E293B"/>
          </a:solidFill>
          <a:ln/>
        </p:spPr>
      </p:sp>
      <p:sp>
        <p:nvSpPr>
          <p:cNvPr id="28" name="Text 26"/>
          <p:cNvSpPr/>
          <p:nvPr/>
        </p:nvSpPr>
        <p:spPr>
          <a:xfrm>
            <a:off x="6554601" y="2018158"/>
            <a:ext cx="1834925" cy="124578"/>
          </a:xfrm>
          <a:prstGeom prst="rect">
            <a:avLst/>
          </a:prstGeom>
          <a:noFill/>
          <a:ln/>
        </p:spPr>
        <p:txBody>
          <a:bodyPr wrap="square" lIns="0" tIns="0" rIns="0" bIns="0" rtlCol="0" anchor="ctr"/>
          <a:lstStyle/>
          <a:p>
            <a:pPr>
              <a:lnSpc>
                <a:spcPct val="130000"/>
              </a:lnSpc>
            </a:pPr>
            <a:r>
              <a:rPr lang="en-US" sz="850" dirty="0">
                <a:solidFill>
                  <a:srgbClr val="8B5CF6"/>
                </a:solidFill>
                <a:latin typeface="MiSans" pitchFamily="34" charset="0"/>
                <a:ea typeface="MiSans" pitchFamily="34" charset="-122"/>
                <a:cs typeface="MiSans" pitchFamily="34" charset="-120"/>
              </a:rPr>
              <a:t>CONTEXT: Optimize the function</a:t>
            </a:r>
            <a:endParaRPr lang="en-US" sz="1600" dirty="0"/>
          </a:p>
        </p:txBody>
      </p:sp>
      <p:sp>
        <p:nvSpPr>
          <p:cNvPr id="29" name="Text 27"/>
          <p:cNvSpPr/>
          <p:nvPr/>
        </p:nvSpPr>
        <p:spPr>
          <a:xfrm>
            <a:off x="6554601" y="2180109"/>
            <a:ext cx="2072271" cy="124578"/>
          </a:xfrm>
          <a:prstGeom prst="rect">
            <a:avLst/>
          </a:prstGeom>
          <a:noFill/>
          <a:ln/>
        </p:spPr>
        <p:txBody>
          <a:bodyPr wrap="square" lIns="0" tIns="0" rIns="0" bIns="0" rtlCol="0" anchor="ctr"/>
          <a:lstStyle/>
          <a:p>
            <a:pPr>
              <a:lnSpc>
                <a:spcPct val="130000"/>
              </a:lnSpc>
            </a:pPr>
            <a:r>
              <a:rPr lang="en-US" sz="850" dirty="0">
                <a:solidFill>
                  <a:srgbClr val="8B5CF6"/>
                </a:solidFill>
                <a:latin typeface="MiSans" pitchFamily="34" charset="0"/>
                <a:ea typeface="MiSans" pitchFamily="34" charset="-122"/>
                <a:cs typeface="MiSans" pitchFamily="34" charset="-120"/>
              </a:rPr>
              <a:t>to run in a better time complexity</a:t>
            </a:r>
            <a:endParaRPr lang="en-US" sz="1600" dirty="0"/>
          </a:p>
        </p:txBody>
      </p:sp>
      <p:sp>
        <p:nvSpPr>
          <p:cNvPr id="30" name="Text 28"/>
          <p:cNvSpPr/>
          <p:nvPr/>
        </p:nvSpPr>
        <p:spPr>
          <a:xfrm>
            <a:off x="6554601" y="2504011"/>
            <a:ext cx="1597449" cy="124578"/>
          </a:xfrm>
          <a:prstGeom prst="rect">
            <a:avLst/>
          </a:prstGeom>
          <a:noFill/>
          <a:ln/>
        </p:spPr>
        <p:txBody>
          <a:bodyPr wrap="square" lIns="0" tIns="0" rIns="0" bIns="0" rtlCol="0" anchor="ctr"/>
          <a:lstStyle/>
          <a:p>
            <a:pPr>
              <a:lnSpc>
                <a:spcPct val="130000"/>
              </a:lnSpc>
            </a:pPr>
            <a:r>
              <a:rPr lang="en-US" sz="850" dirty="0">
                <a:solidFill>
                  <a:srgbClr val="10B981"/>
                </a:solidFill>
                <a:latin typeface="MiSans" pitchFamily="34" charset="0"/>
                <a:ea typeface="MiSans" pitchFamily="34" charset="-122"/>
                <a:cs typeface="MiSans" pitchFamily="34" charset="-120"/>
              </a:rPr>
              <a:t>REQUIRED_INPUT = 1,000,000</a:t>
            </a:r>
            <a:endParaRPr lang="en-US" sz="1600" dirty="0"/>
          </a:p>
        </p:txBody>
      </p:sp>
      <p:sp>
        <p:nvSpPr>
          <p:cNvPr id="31" name="Shape 29"/>
          <p:cNvSpPr/>
          <p:nvPr/>
        </p:nvSpPr>
        <p:spPr>
          <a:xfrm>
            <a:off x="6359430" y="2952490"/>
            <a:ext cx="5323619" cy="1810529"/>
          </a:xfrm>
          <a:custGeom>
            <a:avLst/>
            <a:gdLst/>
            <a:ahLst/>
            <a:cxnLst/>
            <a:rect l="l" t="t" r="r" b="b"/>
            <a:pathLst>
              <a:path w="5323619" h="1810529">
                <a:moveTo>
                  <a:pt x="66446" y="0"/>
                </a:moveTo>
                <a:lnTo>
                  <a:pt x="5257172" y="0"/>
                </a:lnTo>
                <a:cubicBezTo>
                  <a:pt x="5293869" y="0"/>
                  <a:pt x="5323619" y="29749"/>
                  <a:pt x="5323619" y="66446"/>
                </a:cubicBezTo>
                <a:lnTo>
                  <a:pt x="5323619" y="1744082"/>
                </a:lnTo>
                <a:cubicBezTo>
                  <a:pt x="5323619" y="1780780"/>
                  <a:pt x="5293869" y="1810529"/>
                  <a:pt x="5257172" y="1810529"/>
                </a:cubicBezTo>
                <a:lnTo>
                  <a:pt x="66446" y="1810529"/>
                </a:lnTo>
                <a:cubicBezTo>
                  <a:pt x="29774" y="1810529"/>
                  <a:pt x="0" y="1780755"/>
                  <a:pt x="0" y="1744082"/>
                </a:cubicBezTo>
                <a:lnTo>
                  <a:pt x="0" y="66446"/>
                </a:lnTo>
                <a:cubicBezTo>
                  <a:pt x="0" y="29749"/>
                  <a:pt x="29749" y="0"/>
                  <a:pt x="66446" y="0"/>
                </a:cubicBezTo>
                <a:close/>
              </a:path>
            </a:pathLst>
          </a:custGeom>
          <a:solidFill>
            <a:srgbClr val="0F172A"/>
          </a:solidFill>
          <a:ln w="12700">
            <a:solidFill>
              <a:srgbClr val="10B981">
                <a:alpha val="30196"/>
              </a:srgbClr>
            </a:solidFill>
            <a:prstDash val="solid"/>
          </a:ln>
        </p:spPr>
      </p:sp>
      <p:sp>
        <p:nvSpPr>
          <p:cNvPr id="32" name="Text 30"/>
          <p:cNvSpPr/>
          <p:nvPr/>
        </p:nvSpPr>
        <p:spPr>
          <a:xfrm>
            <a:off x="6463245" y="3056305"/>
            <a:ext cx="5182431" cy="199324"/>
          </a:xfrm>
          <a:prstGeom prst="rect">
            <a:avLst/>
          </a:prstGeom>
          <a:noFill/>
          <a:ln/>
        </p:spPr>
        <p:txBody>
          <a:bodyPr wrap="square" lIns="0" tIns="0" rIns="0" bIns="0" rtlCol="0" anchor="ctr"/>
          <a:lstStyle/>
          <a:p>
            <a:pPr>
              <a:lnSpc>
                <a:spcPct val="130000"/>
              </a:lnSpc>
            </a:pPr>
            <a:r>
              <a:rPr lang="en-US" sz="1046" b="1" dirty="0">
                <a:solidFill>
                  <a:srgbClr val="10B981"/>
                </a:solidFill>
                <a:latin typeface="MiSans" pitchFamily="34" charset="0"/>
                <a:ea typeface="MiSans" pitchFamily="34" charset="-122"/>
                <a:cs typeface="MiSans" pitchFamily="34" charset="-120"/>
              </a:rPr>
              <a:t>Giải pháp GPT: Fast-Doubling</a:t>
            </a:r>
            <a:endParaRPr lang="en-US" sz="1600" dirty="0"/>
          </a:p>
        </p:txBody>
      </p:sp>
      <p:sp>
        <p:nvSpPr>
          <p:cNvPr id="33" name="Shape 31"/>
          <p:cNvSpPr/>
          <p:nvPr/>
        </p:nvSpPr>
        <p:spPr>
          <a:xfrm>
            <a:off x="6463245" y="3322071"/>
            <a:ext cx="5115989" cy="1337134"/>
          </a:xfrm>
          <a:custGeom>
            <a:avLst/>
            <a:gdLst/>
            <a:ahLst/>
            <a:cxnLst/>
            <a:rect l="l" t="t" r="r" b="b"/>
            <a:pathLst>
              <a:path w="5115989" h="1337134">
                <a:moveTo>
                  <a:pt x="66442" y="0"/>
                </a:moveTo>
                <a:lnTo>
                  <a:pt x="5049547" y="0"/>
                </a:lnTo>
                <a:cubicBezTo>
                  <a:pt x="5086242" y="0"/>
                  <a:pt x="5115989" y="29747"/>
                  <a:pt x="5115989" y="66442"/>
                </a:cubicBezTo>
                <a:lnTo>
                  <a:pt x="5115989" y="1270691"/>
                </a:lnTo>
                <a:cubicBezTo>
                  <a:pt x="5115989" y="1307386"/>
                  <a:pt x="5086242" y="1337134"/>
                  <a:pt x="5049547" y="1337134"/>
                </a:cubicBezTo>
                <a:lnTo>
                  <a:pt x="66442" y="1337134"/>
                </a:lnTo>
                <a:cubicBezTo>
                  <a:pt x="29747" y="1337134"/>
                  <a:pt x="0" y="1307386"/>
                  <a:pt x="0" y="1270691"/>
                </a:cubicBezTo>
                <a:lnTo>
                  <a:pt x="0" y="66442"/>
                </a:lnTo>
                <a:cubicBezTo>
                  <a:pt x="0" y="29772"/>
                  <a:pt x="29772" y="0"/>
                  <a:pt x="66442" y="0"/>
                </a:cubicBezTo>
                <a:close/>
              </a:path>
            </a:pathLst>
          </a:custGeom>
          <a:solidFill>
            <a:srgbClr val="1E293B"/>
          </a:solidFill>
          <a:ln/>
        </p:spPr>
      </p:sp>
      <p:sp>
        <p:nvSpPr>
          <p:cNvPr id="34" name="Text 32"/>
          <p:cNvSpPr/>
          <p:nvPr/>
        </p:nvSpPr>
        <p:spPr>
          <a:xfrm>
            <a:off x="6463245" y="3322071"/>
            <a:ext cx="5169973" cy="1337134"/>
          </a:xfrm>
          <a:prstGeom prst="rect">
            <a:avLst/>
          </a:prstGeom>
          <a:noFill/>
          <a:ln/>
        </p:spPr>
        <p:txBody>
          <a:bodyPr wrap="square" lIns="99662" tIns="99662" rIns="99662" bIns="99662" rtlCol="0" anchor="ctr"/>
          <a:lstStyle/>
          <a:p>
            <a:pPr>
              <a:lnSpc>
                <a:spcPct val="130000"/>
              </a:lnSpc>
            </a:pPr>
            <a:r>
              <a:rPr lang="en-US" sz="850" dirty="0">
                <a:solidFill>
                  <a:srgbClr val="8B5CF6"/>
                </a:solidFill>
                <a:latin typeface="MiSans" pitchFamily="34" charset="0"/>
                <a:ea typeface="MiSans" pitchFamily="34" charset="-122"/>
                <a:cs typeface="MiSans" pitchFamily="34" charset="-120"/>
              </a:rPr>
              <a:t>def</a:t>
            </a:r>
            <a:pPr>
              <a:lnSpc>
                <a:spcPct val="130000"/>
              </a:lnSpc>
            </a:pPr>
            <a:r>
              <a:rPr lang="en-US" sz="850" dirty="0">
                <a:solidFill>
                  <a:srgbClr val="3B82F6"/>
                </a:solidFill>
                <a:latin typeface="MiSans" pitchFamily="34" charset="0"/>
                <a:ea typeface="MiSans" pitchFamily="34" charset="-122"/>
                <a:cs typeface="MiSans" pitchFamily="34" charset="-120"/>
              </a:rPr>
              <a:t>fib_pair</a:t>
            </a:r>
            <a:pPr>
              <a:lnSpc>
                <a:spcPct val="130000"/>
              </a:lnSpc>
            </a:pPr>
            <a:r>
              <a:rPr lang="en-US" sz="850" dirty="0">
                <a:solidFill>
                  <a:srgbClr val="F1F5F9"/>
                </a:solidFill>
                <a:latin typeface="MiSans" pitchFamily="34" charset="0"/>
                <a:ea typeface="MiSans" pitchFamily="34" charset="-122"/>
                <a:cs typeface="MiSans" pitchFamily="34" charset="-120"/>
              </a:rPr>
              <a:t>(n):</a:t>
            </a:r>
            <a:endParaRPr lang="en-US" sz="1600" dirty="0"/>
          </a:p>
          <a:p>
            <a:pPr>
              <a:lnSpc>
                <a:spcPct val="130000"/>
              </a:lnSpc>
            </a:pPr>
            <a:r>
              <a:rPr lang="en-US" sz="850" dirty="0">
                <a:solidFill>
                  <a:srgbClr val="8B5CF6"/>
                </a:solidFill>
                <a:latin typeface="MiSans" pitchFamily="34" charset="0"/>
                <a:ea typeface="MiSans" pitchFamily="34" charset="-122"/>
                <a:cs typeface="MiSans" pitchFamily="34" charset="-120"/>
              </a:rPr>
              <a:t>if</a:t>
            </a:r>
            <a:pPr>
              <a:lnSpc>
                <a:spcPct val="130000"/>
              </a:lnSpc>
            </a:pPr>
            <a:r>
              <a:rPr lang="en-US" sz="850" dirty="0">
                <a:solidFill>
                  <a:srgbClr val="F1F5F9"/>
                </a:solidFill>
                <a:latin typeface="MiSans" pitchFamily="34" charset="0"/>
                <a:ea typeface="MiSans" pitchFamily="34" charset="-122"/>
                <a:cs typeface="MiSans" pitchFamily="34" charset="-120"/>
              </a:rPr>
              <a:t> n == 0:</a:t>
            </a:r>
            <a:endParaRPr lang="en-US" sz="1600" dirty="0"/>
          </a:p>
          <a:p>
            <a:pPr>
              <a:lnSpc>
                <a:spcPct val="130000"/>
              </a:lnSpc>
            </a:pPr>
            <a:r>
              <a:rPr lang="en-US" sz="850" dirty="0">
                <a:solidFill>
                  <a:srgbClr val="8B5CF6"/>
                </a:solidFill>
                <a:latin typeface="MiSans" pitchFamily="34" charset="0"/>
                <a:ea typeface="MiSans" pitchFamily="34" charset="-122"/>
                <a:cs typeface="MiSans" pitchFamily="34" charset="-120"/>
              </a:rPr>
              <a:t>return</a:t>
            </a:r>
            <a:pPr>
              <a:lnSpc>
                <a:spcPct val="130000"/>
              </a:lnSpc>
            </a:pPr>
            <a:r>
              <a:rPr lang="en-US" sz="850" dirty="0">
                <a:solidFill>
                  <a:srgbClr val="F1F5F9"/>
                </a:solidFill>
                <a:latin typeface="MiSans" pitchFamily="34" charset="0"/>
                <a:ea typeface="MiSans" pitchFamily="34" charset="-122"/>
                <a:cs typeface="MiSans" pitchFamily="34" charset="-120"/>
              </a:rPr>
              <a:t> 0, 1</a:t>
            </a:r>
            <a:endParaRPr lang="en-US" sz="1600" dirty="0"/>
          </a:p>
          <a:p>
            <a:pPr>
              <a:lnSpc>
                <a:spcPct val="130000"/>
              </a:lnSpc>
            </a:pPr>
            <a:r>
              <a:rPr lang="en-US" sz="850" dirty="0">
                <a:solidFill>
                  <a:srgbClr val="F1F5F9"/>
                </a:solidFill>
                <a:latin typeface="MiSans" pitchFamily="34" charset="0"/>
                <a:ea typeface="MiSans" pitchFamily="34" charset="-122"/>
                <a:cs typeface="MiSans" pitchFamily="34" charset="-120"/>
              </a:rPr>
              <a:t>a, b = fib_pair(n // 2)</a:t>
            </a:r>
            <a:endParaRPr lang="en-US" sz="1600" dirty="0"/>
          </a:p>
          <a:p>
            <a:pPr>
              <a:lnSpc>
                <a:spcPct val="130000"/>
              </a:lnSpc>
            </a:pPr>
            <a:r>
              <a:rPr lang="en-US" sz="850" dirty="0">
                <a:solidFill>
                  <a:srgbClr val="F1F5F9"/>
                </a:solidFill>
                <a:latin typeface="MiSans" pitchFamily="34" charset="0"/>
                <a:ea typeface="MiSans" pitchFamily="34" charset="-122"/>
                <a:cs typeface="MiSans" pitchFamily="34" charset="-120"/>
              </a:rPr>
              <a:t>c = a * ((2*b) - a)</a:t>
            </a:r>
            <a:endParaRPr lang="en-US" sz="1600" dirty="0"/>
          </a:p>
          <a:p>
            <a:pPr>
              <a:lnSpc>
                <a:spcPct val="130000"/>
              </a:lnSpc>
            </a:pPr>
            <a:r>
              <a:rPr lang="en-US" sz="850" dirty="0">
                <a:solidFill>
                  <a:srgbClr val="F1F5F9"/>
                </a:solidFill>
                <a:latin typeface="MiSans" pitchFamily="34" charset="0"/>
                <a:ea typeface="MiSans" pitchFamily="34" charset="-122"/>
                <a:cs typeface="MiSans" pitchFamily="34" charset="-120"/>
              </a:rPr>
              <a:t>d = a*a + b*b</a:t>
            </a:r>
            <a:endParaRPr lang="en-US" sz="1600" dirty="0"/>
          </a:p>
          <a:p>
            <a:pPr>
              <a:lnSpc>
                <a:spcPct val="130000"/>
              </a:lnSpc>
            </a:pPr>
            <a:r>
              <a:rPr lang="en-US" sz="850" dirty="0">
                <a:solidFill>
                  <a:srgbClr val="8B5CF6"/>
                </a:solidFill>
                <a:latin typeface="MiSans" pitchFamily="34" charset="0"/>
                <a:ea typeface="MiSans" pitchFamily="34" charset="-122"/>
                <a:cs typeface="MiSans" pitchFamily="34" charset="-120"/>
              </a:rPr>
              <a:t>return</a:t>
            </a:r>
            <a:pPr>
              <a:lnSpc>
                <a:spcPct val="130000"/>
              </a:lnSpc>
            </a:pPr>
            <a:r>
              <a:rPr lang="en-US" sz="850" dirty="0">
                <a:solidFill>
                  <a:srgbClr val="F1F5F9"/>
                </a:solidFill>
                <a:latin typeface="MiSans" pitchFamily="34" charset="0"/>
                <a:ea typeface="MiSans" pitchFamily="34" charset="-122"/>
                <a:cs typeface="MiSans" pitchFamily="34" charset="-120"/>
              </a:rPr>
              <a:t> (d, c+d) </a:t>
            </a:r>
            <a:pPr>
              <a:lnSpc>
                <a:spcPct val="130000"/>
              </a:lnSpc>
            </a:pPr>
            <a:r>
              <a:rPr lang="en-US" sz="850" dirty="0">
                <a:solidFill>
                  <a:srgbClr val="8B5CF6"/>
                </a:solidFill>
                <a:latin typeface="MiSans" pitchFamily="34" charset="0"/>
                <a:ea typeface="MiSans" pitchFamily="34" charset="-122"/>
                <a:cs typeface="MiSans" pitchFamily="34" charset="-120"/>
              </a:rPr>
              <a:t>if</a:t>
            </a:r>
            <a:pPr>
              <a:lnSpc>
                <a:spcPct val="130000"/>
              </a:lnSpc>
            </a:pPr>
            <a:r>
              <a:rPr lang="en-US" sz="850" dirty="0">
                <a:solidFill>
                  <a:srgbClr val="F1F5F9"/>
                </a:solidFill>
                <a:latin typeface="MiSans" pitchFamily="34" charset="0"/>
                <a:ea typeface="MiSans" pitchFamily="34" charset="-122"/>
                <a:cs typeface="MiSans" pitchFamily="34" charset="-120"/>
              </a:rPr>
              <a:t> n &amp; 1 </a:t>
            </a:r>
            <a:pPr>
              <a:lnSpc>
                <a:spcPct val="130000"/>
              </a:lnSpc>
            </a:pPr>
            <a:r>
              <a:rPr lang="en-US" sz="850" dirty="0">
                <a:solidFill>
                  <a:srgbClr val="8B5CF6"/>
                </a:solidFill>
                <a:latin typeface="MiSans" pitchFamily="34" charset="0"/>
                <a:ea typeface="MiSans" pitchFamily="34" charset="-122"/>
                <a:cs typeface="MiSans" pitchFamily="34" charset="-120"/>
              </a:rPr>
              <a:t>else</a:t>
            </a:r>
            <a:pPr>
              <a:lnSpc>
                <a:spcPct val="130000"/>
              </a:lnSpc>
            </a:pPr>
            <a:r>
              <a:rPr lang="en-US" sz="850" dirty="0">
                <a:solidFill>
                  <a:srgbClr val="F1F5F9"/>
                </a:solidFill>
                <a:latin typeface="MiSans" pitchFamily="34" charset="0"/>
                <a:ea typeface="MiSans" pitchFamily="34" charset="-122"/>
                <a:cs typeface="MiSans" pitchFamily="34" charset="-120"/>
              </a:rPr>
              <a:t> (c, d)</a:t>
            </a:r>
            <a:endParaRPr lang="en-US" sz="1600" dirty="0"/>
          </a:p>
        </p:txBody>
      </p:sp>
      <p:sp>
        <p:nvSpPr>
          <p:cNvPr id="35" name="Shape 33"/>
          <p:cNvSpPr/>
          <p:nvPr/>
        </p:nvSpPr>
        <p:spPr>
          <a:xfrm>
            <a:off x="6185021" y="5074463"/>
            <a:ext cx="5672436" cy="1777308"/>
          </a:xfrm>
          <a:custGeom>
            <a:avLst/>
            <a:gdLst/>
            <a:ahLst/>
            <a:cxnLst/>
            <a:rect l="l" t="t" r="r" b="b"/>
            <a:pathLst>
              <a:path w="5672436" h="1777308">
                <a:moveTo>
                  <a:pt x="99654" y="0"/>
                </a:moveTo>
                <a:lnTo>
                  <a:pt x="5572782" y="0"/>
                </a:lnTo>
                <a:cubicBezTo>
                  <a:pt x="5627820" y="0"/>
                  <a:pt x="5672436" y="44616"/>
                  <a:pt x="5672436" y="99654"/>
                </a:cubicBezTo>
                <a:lnTo>
                  <a:pt x="5672436" y="1677654"/>
                </a:lnTo>
                <a:cubicBezTo>
                  <a:pt x="5672436" y="1732691"/>
                  <a:pt x="5627820" y="1777308"/>
                  <a:pt x="5572782" y="1777308"/>
                </a:cubicBezTo>
                <a:lnTo>
                  <a:pt x="99654" y="1777308"/>
                </a:lnTo>
                <a:cubicBezTo>
                  <a:pt x="44616" y="1777308"/>
                  <a:pt x="0" y="1732691"/>
                  <a:pt x="0" y="1677654"/>
                </a:cubicBezTo>
                <a:lnTo>
                  <a:pt x="0" y="99654"/>
                </a:lnTo>
                <a:cubicBezTo>
                  <a:pt x="0" y="44653"/>
                  <a:pt x="44653" y="0"/>
                  <a:pt x="99654"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36" name="Text 34"/>
          <p:cNvSpPr/>
          <p:nvPr/>
        </p:nvSpPr>
        <p:spPr>
          <a:xfrm>
            <a:off x="6322057" y="5211499"/>
            <a:ext cx="5473112" cy="232545"/>
          </a:xfrm>
          <a:prstGeom prst="rect">
            <a:avLst/>
          </a:prstGeom>
          <a:noFill/>
          <a:ln/>
        </p:spPr>
        <p:txBody>
          <a:bodyPr wrap="square" lIns="0" tIns="0" rIns="0" bIns="0" rtlCol="0" anchor="ctr"/>
          <a:lstStyle/>
          <a:p>
            <a:pPr>
              <a:lnSpc>
                <a:spcPct val="130000"/>
              </a:lnSpc>
            </a:pPr>
            <a:r>
              <a:rPr lang="en-US" sz="1177" b="1" dirty="0">
                <a:solidFill>
                  <a:srgbClr val="F1F5F9"/>
                </a:solidFill>
                <a:latin typeface="MiSans" pitchFamily="34" charset="0"/>
                <a:ea typeface="MiSans" pitchFamily="34" charset="-122"/>
                <a:cs typeface="MiSans" pitchFamily="34" charset="-120"/>
              </a:rPr>
              <a:t>So sánh hiệu suất</a:t>
            </a:r>
            <a:endParaRPr lang="en-US" sz="1600" dirty="0"/>
          </a:p>
        </p:txBody>
      </p:sp>
      <p:sp>
        <p:nvSpPr>
          <p:cNvPr id="37" name="Shape 35"/>
          <p:cNvSpPr/>
          <p:nvPr/>
        </p:nvSpPr>
        <p:spPr>
          <a:xfrm>
            <a:off x="6322057" y="5543706"/>
            <a:ext cx="2649351" cy="764076"/>
          </a:xfrm>
          <a:custGeom>
            <a:avLst/>
            <a:gdLst/>
            <a:ahLst/>
            <a:cxnLst/>
            <a:rect l="l" t="t" r="r" b="b"/>
            <a:pathLst>
              <a:path w="2649351" h="764076">
                <a:moveTo>
                  <a:pt x="66444" y="0"/>
                </a:moveTo>
                <a:lnTo>
                  <a:pt x="2582907" y="0"/>
                </a:lnTo>
                <a:cubicBezTo>
                  <a:pt x="2619579" y="0"/>
                  <a:pt x="2649351" y="29773"/>
                  <a:pt x="2649351" y="66444"/>
                </a:cubicBezTo>
                <a:lnTo>
                  <a:pt x="2649351" y="697632"/>
                </a:lnTo>
                <a:cubicBezTo>
                  <a:pt x="2649351" y="734328"/>
                  <a:pt x="2619603" y="764076"/>
                  <a:pt x="2582907" y="764076"/>
                </a:cubicBezTo>
                <a:lnTo>
                  <a:pt x="66444" y="764076"/>
                </a:lnTo>
                <a:cubicBezTo>
                  <a:pt x="29773" y="764076"/>
                  <a:pt x="0" y="734304"/>
                  <a:pt x="0" y="697632"/>
                </a:cubicBezTo>
                <a:lnTo>
                  <a:pt x="0" y="66444"/>
                </a:lnTo>
                <a:cubicBezTo>
                  <a:pt x="0" y="29748"/>
                  <a:pt x="29748" y="0"/>
                  <a:pt x="66444" y="0"/>
                </a:cubicBezTo>
                <a:close/>
              </a:path>
            </a:pathLst>
          </a:custGeom>
          <a:solidFill>
            <a:srgbClr val="0F172A"/>
          </a:solidFill>
          <a:ln/>
        </p:spPr>
      </p:sp>
      <p:sp>
        <p:nvSpPr>
          <p:cNvPr id="38" name="Text 36"/>
          <p:cNvSpPr/>
          <p:nvPr/>
        </p:nvSpPr>
        <p:spPr>
          <a:xfrm>
            <a:off x="6421719" y="5643368"/>
            <a:ext cx="2508163" cy="166104"/>
          </a:xfrm>
          <a:prstGeom prst="rect">
            <a:avLst/>
          </a:prstGeom>
          <a:noFill/>
          <a:ln/>
        </p:spPr>
        <p:txBody>
          <a:bodyPr wrap="square" lIns="0" tIns="0" rIns="0" bIns="0" rtlCol="0" anchor="ctr"/>
          <a:lstStyle/>
          <a:p>
            <a:pPr>
              <a:lnSpc>
                <a:spcPct val="120000"/>
              </a:lnSpc>
            </a:pPr>
            <a:r>
              <a:rPr lang="en-US" sz="916" dirty="0">
                <a:solidFill>
                  <a:srgbClr val="F1F5F9">
                    <a:alpha val="60000"/>
                  </a:srgbClr>
                </a:solidFill>
                <a:latin typeface="MiSans" pitchFamily="34" charset="0"/>
                <a:ea typeface="MiSans" pitchFamily="34" charset="-122"/>
                <a:cs typeface="MiSans" pitchFamily="34" charset="-120"/>
              </a:rPr>
              <a:t>n = 1,000,000</a:t>
            </a:r>
            <a:endParaRPr lang="en-US" sz="1600" dirty="0"/>
          </a:p>
        </p:txBody>
      </p:sp>
      <p:sp>
        <p:nvSpPr>
          <p:cNvPr id="39" name="Text 37"/>
          <p:cNvSpPr/>
          <p:nvPr/>
        </p:nvSpPr>
        <p:spPr>
          <a:xfrm>
            <a:off x="6421719" y="5842692"/>
            <a:ext cx="548142" cy="166104"/>
          </a:xfrm>
          <a:prstGeom prst="rect">
            <a:avLst/>
          </a:prstGeom>
          <a:noFill/>
          <a:ln/>
        </p:spPr>
        <p:txBody>
          <a:bodyPr wrap="square" lIns="0" tIns="0" rIns="0" bIns="0" rtlCol="0" anchor="ctr"/>
          <a:lstStyle/>
          <a:p>
            <a:pPr>
              <a:lnSpc>
                <a:spcPct val="120000"/>
              </a:lnSpc>
            </a:pPr>
            <a:r>
              <a:rPr lang="en-US" sz="916" dirty="0">
                <a:solidFill>
                  <a:srgbClr val="F1F5F9">
                    <a:alpha val="80000"/>
                  </a:srgbClr>
                </a:solidFill>
                <a:latin typeface="MiSans" pitchFamily="34" charset="0"/>
                <a:ea typeface="MiSans" pitchFamily="34" charset="-122"/>
                <a:cs typeface="MiSans" pitchFamily="34" charset="-120"/>
              </a:rPr>
              <a:t>Lặp O(n):</a:t>
            </a:r>
            <a:endParaRPr lang="en-US" sz="1600" dirty="0"/>
          </a:p>
        </p:txBody>
      </p:sp>
      <p:sp>
        <p:nvSpPr>
          <p:cNvPr id="40" name="Text 38"/>
          <p:cNvSpPr/>
          <p:nvPr/>
        </p:nvSpPr>
        <p:spPr>
          <a:xfrm>
            <a:off x="8652827" y="5842692"/>
            <a:ext cx="274071" cy="166104"/>
          </a:xfrm>
          <a:prstGeom prst="rect">
            <a:avLst/>
          </a:prstGeom>
          <a:noFill/>
          <a:ln/>
        </p:spPr>
        <p:txBody>
          <a:bodyPr wrap="square" lIns="0" tIns="0" rIns="0" bIns="0" rtlCol="0" anchor="ctr"/>
          <a:lstStyle/>
          <a:p>
            <a:pPr>
              <a:lnSpc>
                <a:spcPct val="120000"/>
              </a:lnSpc>
            </a:pPr>
            <a:r>
              <a:rPr lang="en-US" sz="916" b="1" dirty="0">
                <a:solidFill>
                  <a:srgbClr val="F59E0B"/>
                </a:solidFill>
                <a:latin typeface="MiSans" pitchFamily="34" charset="0"/>
                <a:ea typeface="MiSans" pitchFamily="34" charset="-122"/>
                <a:cs typeface="MiSans" pitchFamily="34" charset="-120"/>
              </a:rPr>
              <a:t>9.2s</a:t>
            </a:r>
            <a:endParaRPr lang="en-US" sz="1600" dirty="0"/>
          </a:p>
        </p:txBody>
      </p:sp>
      <p:sp>
        <p:nvSpPr>
          <p:cNvPr id="41" name="Text 39"/>
          <p:cNvSpPr/>
          <p:nvPr/>
        </p:nvSpPr>
        <p:spPr>
          <a:xfrm>
            <a:off x="6421719" y="6042016"/>
            <a:ext cx="847128" cy="166104"/>
          </a:xfrm>
          <a:prstGeom prst="rect">
            <a:avLst/>
          </a:prstGeom>
          <a:noFill/>
          <a:ln/>
        </p:spPr>
        <p:txBody>
          <a:bodyPr wrap="square" lIns="0" tIns="0" rIns="0" bIns="0" rtlCol="0" anchor="ctr"/>
          <a:lstStyle/>
          <a:p>
            <a:pPr>
              <a:lnSpc>
                <a:spcPct val="120000"/>
              </a:lnSpc>
            </a:pPr>
            <a:r>
              <a:rPr lang="en-US" sz="916" dirty="0">
                <a:solidFill>
                  <a:srgbClr val="F1F5F9">
                    <a:alpha val="80000"/>
                  </a:srgbClr>
                </a:solidFill>
                <a:latin typeface="MiSans" pitchFamily="34" charset="0"/>
                <a:ea typeface="MiSans" pitchFamily="34" charset="-122"/>
                <a:cs typeface="MiSans" pitchFamily="34" charset="-120"/>
              </a:rPr>
              <a:t>Fast-Doubling:</a:t>
            </a:r>
            <a:endParaRPr lang="en-US" sz="1600" dirty="0"/>
          </a:p>
        </p:txBody>
      </p:sp>
      <p:sp>
        <p:nvSpPr>
          <p:cNvPr id="42" name="Text 40"/>
          <p:cNvSpPr/>
          <p:nvPr/>
        </p:nvSpPr>
        <p:spPr>
          <a:xfrm>
            <a:off x="8506967" y="6042016"/>
            <a:ext cx="423564" cy="166104"/>
          </a:xfrm>
          <a:prstGeom prst="rect">
            <a:avLst/>
          </a:prstGeom>
          <a:noFill/>
          <a:ln/>
        </p:spPr>
        <p:txBody>
          <a:bodyPr wrap="square" lIns="0" tIns="0" rIns="0" bIns="0" rtlCol="0" anchor="ctr"/>
          <a:lstStyle/>
          <a:p>
            <a:pPr>
              <a:lnSpc>
                <a:spcPct val="120000"/>
              </a:lnSpc>
            </a:pPr>
            <a:r>
              <a:rPr lang="en-US" sz="916" b="1" dirty="0">
                <a:solidFill>
                  <a:srgbClr val="10B981"/>
                </a:solidFill>
                <a:latin typeface="MiSans" pitchFamily="34" charset="0"/>
                <a:ea typeface="MiSans" pitchFamily="34" charset="-122"/>
                <a:cs typeface="MiSans" pitchFamily="34" charset="-120"/>
              </a:rPr>
              <a:t>0.092s</a:t>
            </a:r>
            <a:endParaRPr lang="en-US" sz="1600" dirty="0"/>
          </a:p>
        </p:txBody>
      </p:sp>
      <p:sp>
        <p:nvSpPr>
          <p:cNvPr id="43" name="Shape 41"/>
          <p:cNvSpPr/>
          <p:nvPr/>
        </p:nvSpPr>
        <p:spPr>
          <a:xfrm>
            <a:off x="9071979" y="5543706"/>
            <a:ext cx="2649351" cy="764076"/>
          </a:xfrm>
          <a:custGeom>
            <a:avLst/>
            <a:gdLst/>
            <a:ahLst/>
            <a:cxnLst/>
            <a:rect l="l" t="t" r="r" b="b"/>
            <a:pathLst>
              <a:path w="2649351" h="764076">
                <a:moveTo>
                  <a:pt x="66444" y="0"/>
                </a:moveTo>
                <a:lnTo>
                  <a:pt x="2582907" y="0"/>
                </a:lnTo>
                <a:cubicBezTo>
                  <a:pt x="2619579" y="0"/>
                  <a:pt x="2649351" y="29773"/>
                  <a:pt x="2649351" y="66444"/>
                </a:cubicBezTo>
                <a:lnTo>
                  <a:pt x="2649351" y="697632"/>
                </a:lnTo>
                <a:cubicBezTo>
                  <a:pt x="2649351" y="734328"/>
                  <a:pt x="2619603" y="764076"/>
                  <a:pt x="2582907" y="764076"/>
                </a:cubicBezTo>
                <a:lnTo>
                  <a:pt x="66444" y="764076"/>
                </a:lnTo>
                <a:cubicBezTo>
                  <a:pt x="29773" y="764076"/>
                  <a:pt x="0" y="734304"/>
                  <a:pt x="0" y="697632"/>
                </a:cubicBezTo>
                <a:lnTo>
                  <a:pt x="0" y="66444"/>
                </a:lnTo>
                <a:cubicBezTo>
                  <a:pt x="0" y="29748"/>
                  <a:pt x="29748" y="0"/>
                  <a:pt x="66444" y="0"/>
                </a:cubicBezTo>
                <a:close/>
              </a:path>
            </a:pathLst>
          </a:custGeom>
          <a:solidFill>
            <a:srgbClr val="0F172A"/>
          </a:solidFill>
          <a:ln/>
        </p:spPr>
      </p:sp>
      <p:sp>
        <p:nvSpPr>
          <p:cNvPr id="44" name="Text 42"/>
          <p:cNvSpPr/>
          <p:nvPr/>
        </p:nvSpPr>
        <p:spPr>
          <a:xfrm>
            <a:off x="9171641" y="5643368"/>
            <a:ext cx="2508163" cy="166104"/>
          </a:xfrm>
          <a:prstGeom prst="rect">
            <a:avLst/>
          </a:prstGeom>
          <a:noFill/>
          <a:ln/>
        </p:spPr>
        <p:txBody>
          <a:bodyPr wrap="square" lIns="0" tIns="0" rIns="0" bIns="0" rtlCol="0" anchor="ctr"/>
          <a:lstStyle/>
          <a:p>
            <a:pPr>
              <a:lnSpc>
                <a:spcPct val="120000"/>
              </a:lnSpc>
            </a:pPr>
            <a:r>
              <a:rPr lang="en-US" sz="916" dirty="0">
                <a:solidFill>
                  <a:srgbClr val="F1F5F9">
                    <a:alpha val="60000"/>
                  </a:srgbClr>
                </a:solidFill>
                <a:latin typeface="MiSans" pitchFamily="34" charset="0"/>
                <a:ea typeface="MiSans" pitchFamily="34" charset="-122"/>
                <a:cs typeface="MiSans" pitchFamily="34" charset="-120"/>
              </a:rPr>
              <a:t>n = 10,000,000</a:t>
            </a:r>
            <a:endParaRPr lang="en-US" sz="1600" dirty="0"/>
          </a:p>
        </p:txBody>
      </p:sp>
      <p:sp>
        <p:nvSpPr>
          <p:cNvPr id="45" name="Text 43"/>
          <p:cNvSpPr/>
          <p:nvPr/>
        </p:nvSpPr>
        <p:spPr>
          <a:xfrm>
            <a:off x="9171641" y="5842692"/>
            <a:ext cx="548142" cy="166104"/>
          </a:xfrm>
          <a:prstGeom prst="rect">
            <a:avLst/>
          </a:prstGeom>
          <a:noFill/>
          <a:ln/>
        </p:spPr>
        <p:txBody>
          <a:bodyPr wrap="square" lIns="0" tIns="0" rIns="0" bIns="0" rtlCol="0" anchor="ctr"/>
          <a:lstStyle/>
          <a:p>
            <a:pPr>
              <a:lnSpc>
                <a:spcPct val="120000"/>
              </a:lnSpc>
            </a:pPr>
            <a:r>
              <a:rPr lang="en-US" sz="916" dirty="0">
                <a:solidFill>
                  <a:srgbClr val="F1F5F9">
                    <a:alpha val="80000"/>
                  </a:srgbClr>
                </a:solidFill>
                <a:latin typeface="MiSans" pitchFamily="34" charset="0"/>
                <a:ea typeface="MiSans" pitchFamily="34" charset="-122"/>
                <a:cs typeface="MiSans" pitchFamily="34" charset="-120"/>
              </a:rPr>
              <a:t>Lặp O(n):</a:t>
            </a:r>
            <a:endParaRPr lang="en-US" sz="1600" dirty="0"/>
          </a:p>
        </p:txBody>
      </p:sp>
      <p:sp>
        <p:nvSpPr>
          <p:cNvPr id="46" name="Text 44"/>
          <p:cNvSpPr/>
          <p:nvPr/>
        </p:nvSpPr>
        <p:spPr>
          <a:xfrm>
            <a:off x="11156318" y="5842692"/>
            <a:ext cx="523226" cy="166104"/>
          </a:xfrm>
          <a:prstGeom prst="rect">
            <a:avLst/>
          </a:prstGeom>
          <a:noFill/>
          <a:ln/>
        </p:spPr>
        <p:txBody>
          <a:bodyPr wrap="square" lIns="0" tIns="0" rIns="0" bIns="0" rtlCol="0" anchor="ctr"/>
          <a:lstStyle/>
          <a:p>
            <a:pPr>
              <a:lnSpc>
                <a:spcPct val="120000"/>
              </a:lnSpc>
            </a:pPr>
            <a:r>
              <a:rPr lang="en-US" sz="916" b="1" dirty="0">
                <a:solidFill>
                  <a:srgbClr val="EF4444"/>
                </a:solidFill>
                <a:latin typeface="MiSans" pitchFamily="34" charset="0"/>
                <a:ea typeface="MiSans" pitchFamily="34" charset="-122"/>
                <a:cs typeface="MiSans" pitchFamily="34" charset="-120"/>
              </a:rPr>
              <a:t>&gt;10 phút</a:t>
            </a:r>
            <a:endParaRPr lang="en-US" sz="1600" dirty="0"/>
          </a:p>
        </p:txBody>
      </p:sp>
      <p:sp>
        <p:nvSpPr>
          <p:cNvPr id="47" name="Text 45"/>
          <p:cNvSpPr/>
          <p:nvPr/>
        </p:nvSpPr>
        <p:spPr>
          <a:xfrm>
            <a:off x="9171641" y="6042016"/>
            <a:ext cx="847128" cy="166104"/>
          </a:xfrm>
          <a:prstGeom prst="rect">
            <a:avLst/>
          </a:prstGeom>
          <a:noFill/>
          <a:ln/>
        </p:spPr>
        <p:txBody>
          <a:bodyPr wrap="square" lIns="0" tIns="0" rIns="0" bIns="0" rtlCol="0" anchor="ctr"/>
          <a:lstStyle/>
          <a:p>
            <a:pPr>
              <a:lnSpc>
                <a:spcPct val="120000"/>
              </a:lnSpc>
            </a:pPr>
            <a:r>
              <a:rPr lang="en-US" sz="916" dirty="0">
                <a:solidFill>
                  <a:srgbClr val="F1F5F9">
                    <a:alpha val="80000"/>
                  </a:srgbClr>
                </a:solidFill>
                <a:latin typeface="MiSans" pitchFamily="34" charset="0"/>
                <a:ea typeface="MiSans" pitchFamily="34" charset="-122"/>
                <a:cs typeface="MiSans" pitchFamily="34" charset="-120"/>
              </a:rPr>
              <a:t>Fast-Doubling:</a:t>
            </a:r>
            <a:endParaRPr lang="en-US" sz="1600" dirty="0"/>
          </a:p>
        </p:txBody>
      </p:sp>
      <p:sp>
        <p:nvSpPr>
          <p:cNvPr id="48" name="Text 46"/>
          <p:cNvSpPr/>
          <p:nvPr/>
        </p:nvSpPr>
        <p:spPr>
          <a:xfrm>
            <a:off x="11336697" y="6042016"/>
            <a:ext cx="340512" cy="166104"/>
          </a:xfrm>
          <a:prstGeom prst="rect">
            <a:avLst/>
          </a:prstGeom>
          <a:noFill/>
          <a:ln/>
        </p:spPr>
        <p:txBody>
          <a:bodyPr wrap="square" lIns="0" tIns="0" rIns="0" bIns="0" rtlCol="0" anchor="ctr"/>
          <a:lstStyle/>
          <a:p>
            <a:pPr>
              <a:lnSpc>
                <a:spcPct val="120000"/>
              </a:lnSpc>
            </a:pPr>
            <a:r>
              <a:rPr lang="en-US" sz="916" b="1" dirty="0">
                <a:solidFill>
                  <a:srgbClr val="10B981"/>
                </a:solidFill>
                <a:latin typeface="MiSans" pitchFamily="34" charset="0"/>
                <a:ea typeface="MiSans" pitchFamily="34" charset="-122"/>
                <a:cs typeface="MiSans" pitchFamily="34" charset="-120"/>
              </a:rPr>
              <a:t>2.26s</a:t>
            </a:r>
            <a:endParaRPr lang="en-US" sz="1600" dirty="0"/>
          </a:p>
        </p:txBody>
      </p:sp>
      <p:sp>
        <p:nvSpPr>
          <p:cNvPr id="49" name="Shape 47"/>
          <p:cNvSpPr/>
          <p:nvPr/>
        </p:nvSpPr>
        <p:spPr>
          <a:xfrm>
            <a:off x="6322057" y="6411597"/>
            <a:ext cx="5398365" cy="8305"/>
          </a:xfrm>
          <a:custGeom>
            <a:avLst/>
            <a:gdLst/>
            <a:ahLst/>
            <a:cxnLst/>
            <a:rect l="l" t="t" r="r" b="b"/>
            <a:pathLst>
              <a:path w="5398365" h="8305">
                <a:moveTo>
                  <a:pt x="0" y="0"/>
                </a:moveTo>
                <a:lnTo>
                  <a:pt x="5398365" y="0"/>
                </a:lnTo>
                <a:lnTo>
                  <a:pt x="5398365" y="8305"/>
                </a:lnTo>
                <a:lnTo>
                  <a:pt x="0" y="8305"/>
                </a:lnTo>
                <a:lnTo>
                  <a:pt x="0" y="0"/>
                </a:lnTo>
                <a:close/>
              </a:path>
            </a:pathLst>
          </a:custGeom>
          <a:solidFill>
            <a:srgbClr val="F1F5F9">
              <a:alpha val="10196"/>
            </a:srgbClr>
          </a:solidFill>
          <a:ln/>
        </p:spPr>
      </p:sp>
      <p:sp>
        <p:nvSpPr>
          <p:cNvPr id="50" name="Text 48"/>
          <p:cNvSpPr/>
          <p:nvPr/>
        </p:nvSpPr>
        <p:spPr>
          <a:xfrm>
            <a:off x="6288836" y="6515411"/>
            <a:ext cx="5464807" cy="199324"/>
          </a:xfrm>
          <a:prstGeom prst="rect">
            <a:avLst/>
          </a:prstGeom>
          <a:noFill/>
          <a:ln/>
        </p:spPr>
        <p:txBody>
          <a:bodyPr wrap="square" lIns="0" tIns="0" rIns="0" bIns="0" rtlCol="0" anchor="ctr"/>
          <a:lstStyle/>
          <a:p>
            <a:pPr algn="ctr">
              <a:lnSpc>
                <a:spcPct val="130000"/>
              </a:lnSpc>
            </a:pPr>
            <a:r>
              <a:rPr lang="en-US" sz="1046" b="1" dirty="0">
                <a:solidFill>
                  <a:srgbClr val="10B981"/>
                </a:solidFill>
                <a:latin typeface="MiSans" pitchFamily="34" charset="0"/>
                <a:ea typeface="MiSans" pitchFamily="34" charset="-122"/>
                <a:cs typeface="MiSans" pitchFamily="34" charset="-120"/>
              </a:rPr>
              <a:t>Cải thiện:</a:t>
            </a:r>
            <a:pPr algn="ctr">
              <a:lnSpc>
                <a:spcPct val="130000"/>
              </a:lnSpc>
            </a:pPr>
            <a:r>
              <a:rPr lang="en-US" sz="1046" dirty="0">
                <a:solidFill>
                  <a:srgbClr val="F1F5F9"/>
                </a:solidFill>
                <a:latin typeface="MiSans" pitchFamily="34" charset="0"/>
                <a:ea typeface="MiSans" pitchFamily="34" charset="-122"/>
                <a:cs typeface="MiSans" pitchFamily="34" charset="-120"/>
              </a:rPr>
              <a:t> Từ O(n) → </a:t>
            </a:r>
            <a:pPr algn="ctr">
              <a:lnSpc>
                <a:spcPct val="130000"/>
              </a:lnSpc>
            </a:pPr>
            <a:r>
              <a:rPr lang="en-US" sz="1046" b="1" dirty="0">
                <a:solidFill>
                  <a:srgbClr val="10B981"/>
                </a:solidFill>
                <a:latin typeface="MiSans" pitchFamily="34" charset="0"/>
                <a:ea typeface="MiSans" pitchFamily="34" charset="-122"/>
                <a:cs typeface="MiSans" pitchFamily="34" charset="-120"/>
              </a:rPr>
              <a:t>O(log n)</a:t>
            </a:r>
            <a:pPr algn="ctr">
              <a:lnSpc>
                <a:spcPct val="130000"/>
              </a:lnSpc>
            </a:pPr>
            <a:r>
              <a:rPr lang="en-US" sz="1046" dirty="0">
                <a:solidFill>
                  <a:srgbClr val="F1F5F9"/>
                </a:solidFill>
                <a:latin typeface="MiSans" pitchFamily="34" charset="0"/>
                <a:ea typeface="MiSans" pitchFamily="34" charset="-122"/>
                <a:cs typeface="MiSans" pitchFamily="34" charset="-120"/>
              </a:rPr>
              <a:t> - Vượt trội!</a:t>
            </a:r>
            <a:endParaRPr lang="en-US" sz="16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17500" y="38100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8B5CF6"/>
          </a:solidFill>
          <a:ln/>
        </p:spPr>
      </p:sp>
      <p:sp>
        <p:nvSpPr>
          <p:cNvPr id="3" name="Shape 1"/>
          <p:cNvSpPr/>
          <p:nvPr/>
        </p:nvSpPr>
        <p:spPr>
          <a:xfrm>
            <a:off x="406797" y="468313"/>
            <a:ext cx="142875" cy="142875"/>
          </a:xfrm>
          <a:custGeom>
            <a:avLst/>
            <a:gdLst/>
            <a:ahLst/>
            <a:cxnLst/>
            <a:rect l="l" t="t" r="r" b="b"/>
            <a:pathLst>
              <a:path w="142875" h="142875">
                <a:moveTo>
                  <a:pt x="17859" y="17859"/>
                </a:moveTo>
                <a:cubicBezTo>
                  <a:pt x="8009" y="17859"/>
                  <a:pt x="0" y="25868"/>
                  <a:pt x="0" y="35719"/>
                </a:cubicBezTo>
                <a:lnTo>
                  <a:pt x="0" y="37784"/>
                </a:lnTo>
                <a:cubicBezTo>
                  <a:pt x="0" y="39681"/>
                  <a:pt x="1228" y="41300"/>
                  <a:pt x="2818" y="42332"/>
                </a:cubicBezTo>
                <a:cubicBezTo>
                  <a:pt x="6502" y="44732"/>
                  <a:pt x="8930" y="48862"/>
                  <a:pt x="8930" y="53578"/>
                </a:cubicBezTo>
                <a:cubicBezTo>
                  <a:pt x="8930" y="58294"/>
                  <a:pt x="6502" y="62424"/>
                  <a:pt x="2818" y="64824"/>
                </a:cubicBezTo>
                <a:cubicBezTo>
                  <a:pt x="1228" y="65856"/>
                  <a:pt x="0" y="67475"/>
                  <a:pt x="0" y="69373"/>
                </a:cubicBezTo>
                <a:lnTo>
                  <a:pt x="0" y="84832"/>
                </a:lnTo>
                <a:lnTo>
                  <a:pt x="142875" y="84832"/>
                </a:lnTo>
                <a:lnTo>
                  <a:pt x="142875" y="69373"/>
                </a:lnTo>
                <a:cubicBezTo>
                  <a:pt x="142875" y="67475"/>
                  <a:pt x="141647" y="65856"/>
                  <a:pt x="140057" y="64824"/>
                </a:cubicBezTo>
                <a:cubicBezTo>
                  <a:pt x="136373" y="62424"/>
                  <a:pt x="133945" y="58294"/>
                  <a:pt x="133945" y="53578"/>
                </a:cubicBezTo>
                <a:cubicBezTo>
                  <a:pt x="133945" y="48862"/>
                  <a:pt x="136373" y="44732"/>
                  <a:pt x="140057" y="42332"/>
                </a:cubicBezTo>
                <a:cubicBezTo>
                  <a:pt x="141647" y="41300"/>
                  <a:pt x="142875" y="39681"/>
                  <a:pt x="142875" y="37784"/>
                </a:cubicBezTo>
                <a:lnTo>
                  <a:pt x="142875" y="35719"/>
                </a:lnTo>
                <a:cubicBezTo>
                  <a:pt x="142875" y="25868"/>
                  <a:pt x="134866" y="17859"/>
                  <a:pt x="125016" y="17859"/>
                </a:cubicBezTo>
                <a:lnTo>
                  <a:pt x="17859" y="17859"/>
                </a:lnTo>
                <a:close/>
                <a:moveTo>
                  <a:pt x="142875" y="116086"/>
                </a:moveTo>
                <a:lnTo>
                  <a:pt x="142875" y="98227"/>
                </a:lnTo>
                <a:lnTo>
                  <a:pt x="0" y="98227"/>
                </a:lnTo>
                <a:lnTo>
                  <a:pt x="0" y="116086"/>
                </a:lnTo>
                <a:cubicBezTo>
                  <a:pt x="0" y="121025"/>
                  <a:pt x="3990" y="125016"/>
                  <a:pt x="8930" y="125016"/>
                </a:cubicBezTo>
                <a:lnTo>
                  <a:pt x="26789" y="125016"/>
                </a:lnTo>
                <a:lnTo>
                  <a:pt x="26789" y="118318"/>
                </a:lnTo>
                <a:cubicBezTo>
                  <a:pt x="26789" y="114607"/>
                  <a:pt x="29775" y="111621"/>
                  <a:pt x="33486" y="111621"/>
                </a:cubicBezTo>
                <a:cubicBezTo>
                  <a:pt x="37198" y="111621"/>
                  <a:pt x="40184" y="114607"/>
                  <a:pt x="40184" y="118318"/>
                </a:cubicBezTo>
                <a:lnTo>
                  <a:pt x="40184" y="125016"/>
                </a:lnTo>
                <a:lnTo>
                  <a:pt x="64740" y="125016"/>
                </a:lnTo>
                <a:lnTo>
                  <a:pt x="64740" y="118318"/>
                </a:lnTo>
                <a:cubicBezTo>
                  <a:pt x="64740" y="114607"/>
                  <a:pt x="67726" y="111621"/>
                  <a:pt x="71438" y="111621"/>
                </a:cubicBezTo>
                <a:cubicBezTo>
                  <a:pt x="75149" y="111621"/>
                  <a:pt x="78135" y="114607"/>
                  <a:pt x="78135" y="118318"/>
                </a:cubicBezTo>
                <a:lnTo>
                  <a:pt x="78135" y="125016"/>
                </a:lnTo>
                <a:lnTo>
                  <a:pt x="102691" y="125016"/>
                </a:lnTo>
                <a:lnTo>
                  <a:pt x="102691" y="118318"/>
                </a:lnTo>
                <a:cubicBezTo>
                  <a:pt x="102691" y="114607"/>
                  <a:pt x="105677" y="111621"/>
                  <a:pt x="109389" y="111621"/>
                </a:cubicBezTo>
                <a:cubicBezTo>
                  <a:pt x="113100" y="111621"/>
                  <a:pt x="116086" y="114607"/>
                  <a:pt x="116086" y="118318"/>
                </a:cubicBezTo>
                <a:lnTo>
                  <a:pt x="116086" y="125016"/>
                </a:lnTo>
                <a:lnTo>
                  <a:pt x="133945" y="125016"/>
                </a:lnTo>
                <a:cubicBezTo>
                  <a:pt x="138885" y="125016"/>
                  <a:pt x="142875" y="121025"/>
                  <a:pt x="142875" y="116086"/>
                </a:cubicBezTo>
                <a:close/>
                <a:moveTo>
                  <a:pt x="44648" y="44648"/>
                </a:moveTo>
                <a:lnTo>
                  <a:pt x="44648" y="62508"/>
                </a:lnTo>
                <a:cubicBezTo>
                  <a:pt x="44648" y="67447"/>
                  <a:pt x="40658" y="71438"/>
                  <a:pt x="35719" y="71438"/>
                </a:cubicBezTo>
                <a:cubicBezTo>
                  <a:pt x="30780" y="71438"/>
                  <a:pt x="26789" y="67447"/>
                  <a:pt x="26789" y="62508"/>
                </a:cubicBezTo>
                <a:lnTo>
                  <a:pt x="26789" y="44648"/>
                </a:lnTo>
                <a:cubicBezTo>
                  <a:pt x="26789" y="39709"/>
                  <a:pt x="30780" y="35719"/>
                  <a:pt x="35719" y="35719"/>
                </a:cubicBezTo>
                <a:cubicBezTo>
                  <a:pt x="40658" y="35719"/>
                  <a:pt x="44648" y="39709"/>
                  <a:pt x="44648" y="44648"/>
                </a:cubicBezTo>
                <a:close/>
                <a:moveTo>
                  <a:pt x="80367" y="44648"/>
                </a:moveTo>
                <a:lnTo>
                  <a:pt x="80367" y="62508"/>
                </a:lnTo>
                <a:cubicBezTo>
                  <a:pt x="80367" y="67447"/>
                  <a:pt x="76377" y="71438"/>
                  <a:pt x="71438" y="71438"/>
                </a:cubicBezTo>
                <a:cubicBezTo>
                  <a:pt x="66498" y="71438"/>
                  <a:pt x="62508" y="67447"/>
                  <a:pt x="62508" y="62508"/>
                </a:cubicBezTo>
                <a:lnTo>
                  <a:pt x="62508" y="44648"/>
                </a:lnTo>
                <a:cubicBezTo>
                  <a:pt x="62508" y="39709"/>
                  <a:pt x="66498" y="35719"/>
                  <a:pt x="71438" y="35719"/>
                </a:cubicBezTo>
                <a:cubicBezTo>
                  <a:pt x="76377" y="35719"/>
                  <a:pt x="80367" y="39709"/>
                  <a:pt x="80367" y="44648"/>
                </a:cubicBezTo>
                <a:close/>
                <a:moveTo>
                  <a:pt x="116086" y="44648"/>
                </a:moveTo>
                <a:lnTo>
                  <a:pt x="116086" y="62508"/>
                </a:lnTo>
                <a:cubicBezTo>
                  <a:pt x="116086" y="67447"/>
                  <a:pt x="112095" y="71438"/>
                  <a:pt x="107156" y="71438"/>
                </a:cubicBezTo>
                <a:cubicBezTo>
                  <a:pt x="102217" y="71438"/>
                  <a:pt x="98227" y="67447"/>
                  <a:pt x="98227" y="62508"/>
                </a:cubicBezTo>
                <a:lnTo>
                  <a:pt x="98227" y="44648"/>
                </a:lnTo>
                <a:cubicBezTo>
                  <a:pt x="98227" y="39709"/>
                  <a:pt x="102217" y="35719"/>
                  <a:pt x="107156" y="35719"/>
                </a:cubicBezTo>
                <a:cubicBezTo>
                  <a:pt x="112095" y="35719"/>
                  <a:pt x="116086" y="39709"/>
                  <a:pt x="116086" y="44648"/>
                </a:cubicBezTo>
                <a:close/>
              </a:path>
            </a:pathLst>
          </a:custGeom>
          <a:solidFill>
            <a:srgbClr val="FFFFFF"/>
          </a:solidFill>
          <a:ln/>
        </p:spPr>
      </p:sp>
      <p:sp>
        <p:nvSpPr>
          <p:cNvPr id="4" name="Text 2"/>
          <p:cNvSpPr/>
          <p:nvPr/>
        </p:nvSpPr>
        <p:spPr>
          <a:xfrm>
            <a:off x="730250" y="317500"/>
            <a:ext cx="4389438" cy="158750"/>
          </a:xfrm>
          <a:prstGeom prst="rect">
            <a:avLst/>
          </a:prstGeom>
          <a:noFill/>
          <a:ln/>
        </p:spPr>
        <p:txBody>
          <a:bodyPr wrap="square" lIns="0" tIns="0" rIns="0" bIns="0" rtlCol="0" anchor="ctr"/>
          <a:lstStyle/>
          <a:p>
            <a:pPr>
              <a:lnSpc>
                <a:spcPct val="120000"/>
              </a:lnSpc>
            </a:pPr>
            <a:r>
              <a:rPr lang="en-US" sz="875" b="1" spc="44" kern="0" dirty="0">
                <a:solidFill>
                  <a:srgbClr val="8B5CF6"/>
                </a:solidFill>
                <a:latin typeface="MiSans" pitchFamily="34" charset="0"/>
                <a:ea typeface="MiSans" pitchFamily="34" charset="-122"/>
                <a:cs typeface="MiSans" pitchFamily="34" charset="-120"/>
              </a:rPr>
              <a:t>CHƯƠNG 14 | TỐI ƯU BỘ NHỚ</a:t>
            </a:r>
            <a:endParaRPr lang="en-US" sz="1600" dirty="0"/>
          </a:p>
        </p:txBody>
      </p:sp>
      <p:sp>
        <p:nvSpPr>
          <p:cNvPr id="5" name="Text 3"/>
          <p:cNvSpPr/>
          <p:nvPr/>
        </p:nvSpPr>
        <p:spPr>
          <a:xfrm>
            <a:off x="730250" y="476250"/>
            <a:ext cx="4452938" cy="285750"/>
          </a:xfrm>
          <a:prstGeom prst="rect">
            <a:avLst/>
          </a:prstGeom>
          <a:noFill/>
          <a:ln/>
        </p:spPr>
        <p:txBody>
          <a:bodyPr wrap="square" lIns="0" tIns="0" rIns="0" bIns="0" rtlCol="0" anchor="ctr"/>
          <a:lstStyle/>
          <a:p>
            <a:pPr>
              <a:lnSpc>
                <a:spcPct val="100000"/>
              </a:lnSpc>
            </a:pPr>
            <a:r>
              <a:rPr lang="en-US" sz="1875" b="1" dirty="0">
                <a:solidFill>
                  <a:srgbClr val="F1F5F9"/>
                </a:solidFill>
                <a:latin typeface="MiSans" pitchFamily="34" charset="0"/>
                <a:ea typeface="MiSans" pitchFamily="34" charset="-122"/>
                <a:cs typeface="MiSans" pitchFamily="34" charset="-120"/>
              </a:rPr>
              <a:t>Tối ưu hóa bộ nhớ với Batch Processing</a:t>
            </a:r>
            <a:endParaRPr lang="en-US" sz="1600" dirty="0"/>
          </a:p>
        </p:txBody>
      </p:sp>
      <p:sp>
        <p:nvSpPr>
          <p:cNvPr id="6" name="Shape 4"/>
          <p:cNvSpPr/>
          <p:nvPr/>
        </p:nvSpPr>
        <p:spPr>
          <a:xfrm>
            <a:off x="321469" y="956469"/>
            <a:ext cx="5691188" cy="3635375"/>
          </a:xfrm>
          <a:custGeom>
            <a:avLst/>
            <a:gdLst/>
            <a:ahLst/>
            <a:cxnLst/>
            <a:rect l="l" t="t" r="r" b="b"/>
            <a:pathLst>
              <a:path w="5691188" h="3635375">
                <a:moveTo>
                  <a:pt x="95247" y="0"/>
                </a:moveTo>
                <a:lnTo>
                  <a:pt x="5595941" y="0"/>
                </a:lnTo>
                <a:cubicBezTo>
                  <a:pt x="5648544" y="0"/>
                  <a:pt x="5691188" y="42643"/>
                  <a:pt x="5691188" y="95247"/>
                </a:cubicBezTo>
                <a:lnTo>
                  <a:pt x="5691188" y="3540128"/>
                </a:lnTo>
                <a:cubicBezTo>
                  <a:pt x="5691188" y="3592732"/>
                  <a:pt x="5648544" y="3635375"/>
                  <a:pt x="5595941" y="3635375"/>
                </a:cubicBezTo>
                <a:lnTo>
                  <a:pt x="95247" y="3635375"/>
                </a:lnTo>
                <a:cubicBezTo>
                  <a:pt x="42643" y="3635375"/>
                  <a:pt x="0" y="3592732"/>
                  <a:pt x="0" y="3540128"/>
                </a:cubicBezTo>
                <a:lnTo>
                  <a:pt x="0" y="95247"/>
                </a:lnTo>
                <a:cubicBezTo>
                  <a:pt x="0" y="42643"/>
                  <a:pt x="42643" y="0"/>
                  <a:pt x="95247"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504031" y="1150938"/>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EF4444"/>
          </a:solidFill>
          <a:ln/>
        </p:spPr>
      </p:sp>
      <p:sp>
        <p:nvSpPr>
          <p:cNvPr id="8" name="Text 6"/>
          <p:cNvSpPr/>
          <p:nvPr/>
        </p:nvSpPr>
        <p:spPr>
          <a:xfrm>
            <a:off x="682625" y="1119188"/>
            <a:ext cx="5246688" cy="222250"/>
          </a:xfrm>
          <a:prstGeom prst="rect">
            <a:avLst/>
          </a:prstGeom>
          <a:noFill/>
          <a:ln/>
        </p:spPr>
        <p:txBody>
          <a:bodyPr wrap="square" lIns="0" tIns="0" rIns="0" bIns="0" rtlCol="0" anchor="ctr"/>
          <a:lstStyle/>
          <a:p>
            <a:pPr>
              <a:lnSpc>
                <a:spcPct val="120000"/>
              </a:lnSpc>
            </a:pPr>
            <a:r>
              <a:rPr lang="en-US" sz="1250" b="1" dirty="0">
                <a:solidFill>
                  <a:srgbClr val="EF4444"/>
                </a:solidFill>
                <a:latin typeface="MiSans" pitchFamily="34" charset="0"/>
                <a:ea typeface="MiSans" pitchFamily="34" charset="-122"/>
                <a:cs typeface="MiSans" pitchFamily="34" charset="-120"/>
              </a:rPr>
              <a:t>Vấn đề ban đầu</a:t>
            </a:r>
            <a:endParaRPr lang="en-US" sz="1600" dirty="0"/>
          </a:p>
        </p:txBody>
      </p:sp>
      <p:sp>
        <p:nvSpPr>
          <p:cNvPr id="9" name="Shape 7"/>
          <p:cNvSpPr/>
          <p:nvPr/>
        </p:nvSpPr>
        <p:spPr>
          <a:xfrm>
            <a:off x="484187" y="1468438"/>
            <a:ext cx="5365750" cy="603250"/>
          </a:xfrm>
          <a:custGeom>
            <a:avLst/>
            <a:gdLst/>
            <a:ahLst/>
            <a:cxnLst/>
            <a:rect l="l" t="t" r="r" b="b"/>
            <a:pathLst>
              <a:path w="5365750" h="603250">
                <a:moveTo>
                  <a:pt x="63498" y="0"/>
                </a:moveTo>
                <a:lnTo>
                  <a:pt x="5302252" y="0"/>
                </a:lnTo>
                <a:cubicBezTo>
                  <a:pt x="5337321" y="0"/>
                  <a:pt x="5365750" y="28429"/>
                  <a:pt x="5365750" y="63498"/>
                </a:cubicBezTo>
                <a:lnTo>
                  <a:pt x="5365750" y="539752"/>
                </a:lnTo>
                <a:cubicBezTo>
                  <a:pt x="5365750" y="574821"/>
                  <a:pt x="5337321" y="603250"/>
                  <a:pt x="5302252" y="603250"/>
                </a:cubicBezTo>
                <a:lnTo>
                  <a:pt x="63498" y="603250"/>
                </a:lnTo>
                <a:cubicBezTo>
                  <a:pt x="28429" y="603250"/>
                  <a:pt x="0" y="574821"/>
                  <a:pt x="0" y="539752"/>
                </a:cubicBezTo>
                <a:lnTo>
                  <a:pt x="0" y="63498"/>
                </a:lnTo>
                <a:cubicBezTo>
                  <a:pt x="0" y="28453"/>
                  <a:pt x="28453" y="0"/>
                  <a:pt x="63498" y="0"/>
                </a:cubicBezTo>
                <a:close/>
              </a:path>
            </a:pathLst>
          </a:custGeom>
          <a:solidFill>
            <a:srgbClr val="0F172A"/>
          </a:solidFill>
          <a:ln/>
        </p:spPr>
      </p:sp>
      <p:sp>
        <p:nvSpPr>
          <p:cNvPr id="10" name="Text 8"/>
          <p:cNvSpPr/>
          <p:nvPr/>
        </p:nvSpPr>
        <p:spPr>
          <a:xfrm>
            <a:off x="579438" y="1563688"/>
            <a:ext cx="5238750" cy="190500"/>
          </a:xfrm>
          <a:prstGeom prst="rect">
            <a:avLst/>
          </a:prstGeom>
          <a:noFill/>
          <a:ln/>
        </p:spPr>
        <p:txBody>
          <a:bodyPr wrap="square" lIns="0" tIns="0" rIns="0" bIns="0" rtlCol="0" anchor="ctr"/>
          <a:lstStyle/>
          <a:p>
            <a:pPr>
              <a:lnSpc>
                <a:spcPct val="130000"/>
              </a:lnSpc>
            </a:pPr>
            <a:r>
              <a:rPr lang="en-US" sz="1000" b="1" dirty="0">
                <a:solidFill>
                  <a:srgbClr val="F1F5F9"/>
                </a:solidFill>
                <a:latin typeface="MiSans" pitchFamily="34" charset="0"/>
                <a:ea typeface="MiSans" pitchFamily="34" charset="-122"/>
                <a:cs typeface="MiSans" pitchFamily="34" charset="-120"/>
              </a:rPr>
              <a:t>Mục tiêu:</a:t>
            </a:r>
            <a:endParaRPr lang="en-US" sz="1600" dirty="0"/>
          </a:p>
        </p:txBody>
      </p:sp>
      <p:sp>
        <p:nvSpPr>
          <p:cNvPr id="11" name="Text 9"/>
          <p:cNvSpPr/>
          <p:nvPr/>
        </p:nvSpPr>
        <p:spPr>
          <a:xfrm>
            <a:off x="579438" y="1817688"/>
            <a:ext cx="5230813" cy="158750"/>
          </a:xfrm>
          <a:prstGeom prst="rect">
            <a:avLst/>
          </a:prstGeom>
          <a:noFill/>
          <a:ln/>
        </p:spPr>
        <p:txBody>
          <a:bodyPr wrap="square" lIns="0" tIns="0" rIns="0" bIns="0" rtlCol="0" anchor="ctr"/>
          <a:lstStyle/>
          <a:p>
            <a:pPr>
              <a:lnSpc>
                <a:spcPct val="120000"/>
              </a:lnSpc>
            </a:pPr>
            <a:r>
              <a:rPr lang="en-US" sz="875" dirty="0">
                <a:solidFill>
                  <a:srgbClr val="F1F5F9">
                    <a:alpha val="80000"/>
                  </a:srgbClr>
                </a:solidFill>
                <a:latin typeface="MiSans" pitchFamily="34" charset="0"/>
                <a:ea typeface="MiSans" pitchFamily="34" charset="-122"/>
                <a:cs typeface="MiSans" pitchFamily="34" charset="-120"/>
              </a:rPr>
              <a:t>Xử lý ma trận </a:t>
            </a:r>
            <a:pPr>
              <a:lnSpc>
                <a:spcPct val="120000"/>
              </a:lnSpc>
            </a:pPr>
            <a:r>
              <a:rPr lang="en-US" sz="875" b="1" dirty="0">
                <a:solidFill>
                  <a:srgbClr val="EF4444"/>
                </a:solidFill>
                <a:latin typeface="MiSans" pitchFamily="34" charset="0"/>
                <a:ea typeface="MiSans" pitchFamily="34" charset="-122"/>
                <a:cs typeface="MiSans" pitchFamily="34" charset="-120"/>
              </a:rPr>
              <a:t>100,000 × 100,000</a:t>
            </a:r>
            <a:pPr>
              <a:lnSpc>
                <a:spcPct val="120000"/>
              </a:lnSpc>
            </a:pPr>
            <a:r>
              <a:rPr lang="en-US" sz="875" dirty="0">
                <a:solidFill>
                  <a:srgbClr val="F1F5F9">
                    <a:alpha val="80000"/>
                  </a:srgbClr>
                </a:solidFill>
                <a:latin typeface="MiSans" pitchFamily="34" charset="0"/>
                <a:ea typeface="MiSans" pitchFamily="34" charset="-122"/>
                <a:cs typeface="MiSans" pitchFamily="34" charset="-120"/>
              </a:rPr>
              <a:t> trong giới hạn 5GB RAM</a:t>
            </a:r>
            <a:endParaRPr lang="en-US" sz="1600" dirty="0"/>
          </a:p>
        </p:txBody>
      </p:sp>
      <p:sp>
        <p:nvSpPr>
          <p:cNvPr id="12" name="Shape 10"/>
          <p:cNvSpPr/>
          <p:nvPr/>
        </p:nvSpPr>
        <p:spPr>
          <a:xfrm>
            <a:off x="488156" y="2170906"/>
            <a:ext cx="5357813" cy="1055688"/>
          </a:xfrm>
          <a:custGeom>
            <a:avLst/>
            <a:gdLst/>
            <a:ahLst/>
            <a:cxnLst/>
            <a:rect l="l" t="t" r="r" b="b"/>
            <a:pathLst>
              <a:path w="5357813" h="1055688">
                <a:moveTo>
                  <a:pt x="63500" y="0"/>
                </a:moveTo>
                <a:lnTo>
                  <a:pt x="5294313" y="0"/>
                </a:lnTo>
                <a:cubicBezTo>
                  <a:pt x="5329383" y="0"/>
                  <a:pt x="5357813" y="28430"/>
                  <a:pt x="5357813" y="63500"/>
                </a:cubicBezTo>
                <a:lnTo>
                  <a:pt x="5357813" y="992188"/>
                </a:lnTo>
                <a:cubicBezTo>
                  <a:pt x="5357813" y="1027258"/>
                  <a:pt x="5329383" y="1055688"/>
                  <a:pt x="5294313" y="1055688"/>
                </a:cubicBezTo>
                <a:lnTo>
                  <a:pt x="63500" y="1055688"/>
                </a:lnTo>
                <a:cubicBezTo>
                  <a:pt x="28430" y="1055688"/>
                  <a:pt x="0" y="1027258"/>
                  <a:pt x="0" y="992188"/>
                </a:cubicBezTo>
                <a:lnTo>
                  <a:pt x="0" y="63500"/>
                </a:lnTo>
                <a:cubicBezTo>
                  <a:pt x="0" y="28453"/>
                  <a:pt x="28453" y="0"/>
                  <a:pt x="63500" y="0"/>
                </a:cubicBezTo>
                <a:close/>
              </a:path>
            </a:pathLst>
          </a:custGeom>
          <a:solidFill>
            <a:srgbClr val="0F172A"/>
          </a:solidFill>
          <a:ln w="12700">
            <a:solidFill>
              <a:srgbClr val="EF4444">
                <a:alpha val="30196"/>
              </a:srgbClr>
            </a:solidFill>
            <a:prstDash val="solid"/>
          </a:ln>
        </p:spPr>
      </p:sp>
      <p:sp>
        <p:nvSpPr>
          <p:cNvPr id="13" name="Text 11"/>
          <p:cNvSpPr/>
          <p:nvPr/>
        </p:nvSpPr>
        <p:spPr>
          <a:xfrm>
            <a:off x="587375" y="2270125"/>
            <a:ext cx="5222875" cy="190500"/>
          </a:xfrm>
          <a:prstGeom prst="rect">
            <a:avLst/>
          </a:prstGeom>
          <a:noFill/>
          <a:ln/>
        </p:spPr>
        <p:txBody>
          <a:bodyPr wrap="square" lIns="0" tIns="0" rIns="0" bIns="0" rtlCol="0" anchor="ctr"/>
          <a:lstStyle/>
          <a:p>
            <a:pPr>
              <a:lnSpc>
                <a:spcPct val="130000"/>
              </a:lnSpc>
            </a:pPr>
            <a:r>
              <a:rPr lang="en-US" sz="1000" b="1" dirty="0">
                <a:solidFill>
                  <a:srgbClr val="EF4444"/>
                </a:solidFill>
                <a:latin typeface="MiSans" pitchFamily="34" charset="0"/>
                <a:ea typeface="MiSans" pitchFamily="34" charset="-122"/>
                <a:cs typeface="MiSans" pitchFamily="34" charset="-120"/>
              </a:rPr>
              <a:t>Vấn đề:</a:t>
            </a:r>
            <a:endParaRPr lang="en-US" sz="1600" dirty="0"/>
          </a:p>
        </p:txBody>
      </p:sp>
      <p:sp>
        <p:nvSpPr>
          <p:cNvPr id="14" name="Shape 12"/>
          <p:cNvSpPr/>
          <p:nvPr/>
        </p:nvSpPr>
        <p:spPr>
          <a:xfrm>
            <a:off x="603250" y="2555875"/>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36246" y="36246"/>
                </a:moveTo>
                <a:cubicBezTo>
                  <a:pt x="38286" y="34206"/>
                  <a:pt x="41585" y="34206"/>
                  <a:pt x="43604" y="36246"/>
                </a:cubicBezTo>
                <a:lnTo>
                  <a:pt x="55541" y="48183"/>
                </a:lnTo>
                <a:lnTo>
                  <a:pt x="67478" y="36246"/>
                </a:lnTo>
                <a:cubicBezTo>
                  <a:pt x="69518" y="34206"/>
                  <a:pt x="72817" y="34206"/>
                  <a:pt x="74836" y="36246"/>
                </a:cubicBezTo>
                <a:cubicBezTo>
                  <a:pt x="76854" y="38286"/>
                  <a:pt x="76876" y="41585"/>
                  <a:pt x="74836" y="43604"/>
                </a:cubicBezTo>
                <a:lnTo>
                  <a:pt x="62898" y="55541"/>
                </a:lnTo>
                <a:lnTo>
                  <a:pt x="74836" y="67478"/>
                </a:lnTo>
                <a:cubicBezTo>
                  <a:pt x="76876" y="69518"/>
                  <a:pt x="76876" y="72817"/>
                  <a:pt x="74836" y="74836"/>
                </a:cubicBezTo>
                <a:cubicBezTo>
                  <a:pt x="72796" y="76854"/>
                  <a:pt x="69497" y="76876"/>
                  <a:pt x="67478" y="74836"/>
                </a:cubicBezTo>
                <a:lnTo>
                  <a:pt x="55541" y="62898"/>
                </a:lnTo>
                <a:lnTo>
                  <a:pt x="43604" y="74836"/>
                </a:lnTo>
                <a:cubicBezTo>
                  <a:pt x="41563" y="76876"/>
                  <a:pt x="38264" y="76876"/>
                  <a:pt x="36246" y="74836"/>
                </a:cubicBezTo>
                <a:cubicBezTo>
                  <a:pt x="34227" y="72796"/>
                  <a:pt x="34206" y="69497"/>
                  <a:pt x="36246" y="67478"/>
                </a:cubicBezTo>
                <a:lnTo>
                  <a:pt x="48183" y="55541"/>
                </a:lnTo>
                <a:lnTo>
                  <a:pt x="36246" y="43604"/>
                </a:lnTo>
                <a:cubicBezTo>
                  <a:pt x="34206" y="41563"/>
                  <a:pt x="34206" y="38264"/>
                  <a:pt x="36246" y="36246"/>
                </a:cubicBezTo>
                <a:close/>
              </a:path>
            </a:pathLst>
          </a:custGeom>
          <a:solidFill>
            <a:srgbClr val="EF4444"/>
          </a:solidFill>
          <a:ln/>
        </p:spPr>
      </p:sp>
      <p:sp>
        <p:nvSpPr>
          <p:cNvPr id="15" name="Text 13"/>
          <p:cNvSpPr/>
          <p:nvPr/>
        </p:nvSpPr>
        <p:spPr>
          <a:xfrm>
            <a:off x="789781" y="2524125"/>
            <a:ext cx="1468438" cy="158750"/>
          </a:xfrm>
          <a:prstGeom prst="rect">
            <a:avLst/>
          </a:prstGeom>
          <a:noFill/>
          <a:ln/>
        </p:spPr>
        <p:txBody>
          <a:bodyPr wrap="square" lIns="0" tIns="0" rIns="0" bIns="0" rtlCol="0" anchor="ctr"/>
          <a:lstStyle/>
          <a:p>
            <a:pPr>
              <a:lnSpc>
                <a:spcPct val="120000"/>
              </a:lnSpc>
            </a:pPr>
            <a:r>
              <a:rPr lang="en-US" sz="875" dirty="0">
                <a:solidFill>
                  <a:srgbClr val="F1F5F9">
                    <a:alpha val="80000"/>
                  </a:srgbClr>
                </a:solidFill>
                <a:latin typeface="MiSans" pitchFamily="34" charset="0"/>
                <a:ea typeface="MiSans" pitchFamily="34" charset="-122"/>
                <a:cs typeface="MiSans" pitchFamily="34" charset="-120"/>
              </a:rPr>
              <a:t>Đọc toàn bộ file vào bộ nhớ</a:t>
            </a:r>
            <a:endParaRPr lang="en-US" sz="1600" dirty="0"/>
          </a:p>
        </p:txBody>
      </p:sp>
      <p:sp>
        <p:nvSpPr>
          <p:cNvPr id="16" name="Shape 14"/>
          <p:cNvSpPr/>
          <p:nvPr/>
        </p:nvSpPr>
        <p:spPr>
          <a:xfrm>
            <a:off x="603250" y="2778125"/>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36246" y="36246"/>
                </a:moveTo>
                <a:cubicBezTo>
                  <a:pt x="38286" y="34206"/>
                  <a:pt x="41585" y="34206"/>
                  <a:pt x="43604" y="36246"/>
                </a:cubicBezTo>
                <a:lnTo>
                  <a:pt x="55541" y="48183"/>
                </a:lnTo>
                <a:lnTo>
                  <a:pt x="67478" y="36246"/>
                </a:lnTo>
                <a:cubicBezTo>
                  <a:pt x="69518" y="34206"/>
                  <a:pt x="72817" y="34206"/>
                  <a:pt x="74836" y="36246"/>
                </a:cubicBezTo>
                <a:cubicBezTo>
                  <a:pt x="76854" y="38286"/>
                  <a:pt x="76876" y="41585"/>
                  <a:pt x="74836" y="43604"/>
                </a:cubicBezTo>
                <a:lnTo>
                  <a:pt x="62898" y="55541"/>
                </a:lnTo>
                <a:lnTo>
                  <a:pt x="74836" y="67478"/>
                </a:lnTo>
                <a:cubicBezTo>
                  <a:pt x="76876" y="69518"/>
                  <a:pt x="76876" y="72817"/>
                  <a:pt x="74836" y="74836"/>
                </a:cubicBezTo>
                <a:cubicBezTo>
                  <a:pt x="72796" y="76854"/>
                  <a:pt x="69497" y="76876"/>
                  <a:pt x="67478" y="74836"/>
                </a:cubicBezTo>
                <a:lnTo>
                  <a:pt x="55541" y="62898"/>
                </a:lnTo>
                <a:lnTo>
                  <a:pt x="43604" y="74836"/>
                </a:lnTo>
                <a:cubicBezTo>
                  <a:pt x="41563" y="76876"/>
                  <a:pt x="38264" y="76876"/>
                  <a:pt x="36246" y="74836"/>
                </a:cubicBezTo>
                <a:cubicBezTo>
                  <a:pt x="34227" y="72796"/>
                  <a:pt x="34206" y="69497"/>
                  <a:pt x="36246" y="67478"/>
                </a:cubicBezTo>
                <a:lnTo>
                  <a:pt x="48183" y="55541"/>
                </a:lnTo>
                <a:lnTo>
                  <a:pt x="36246" y="43604"/>
                </a:lnTo>
                <a:cubicBezTo>
                  <a:pt x="34206" y="41563"/>
                  <a:pt x="34206" y="38264"/>
                  <a:pt x="36246" y="36246"/>
                </a:cubicBezTo>
                <a:close/>
              </a:path>
            </a:pathLst>
          </a:custGeom>
          <a:solidFill>
            <a:srgbClr val="EF4444"/>
          </a:solidFill>
          <a:ln/>
        </p:spPr>
      </p:sp>
      <p:sp>
        <p:nvSpPr>
          <p:cNvPr id="17" name="Text 15"/>
          <p:cNvSpPr/>
          <p:nvPr/>
        </p:nvSpPr>
        <p:spPr>
          <a:xfrm>
            <a:off x="789781" y="2746375"/>
            <a:ext cx="1730375" cy="158750"/>
          </a:xfrm>
          <a:prstGeom prst="rect">
            <a:avLst/>
          </a:prstGeom>
          <a:noFill/>
          <a:ln/>
        </p:spPr>
        <p:txBody>
          <a:bodyPr wrap="square" lIns="0" tIns="0" rIns="0" bIns="0" rtlCol="0" anchor="ctr"/>
          <a:lstStyle/>
          <a:p>
            <a:pPr>
              <a:lnSpc>
                <a:spcPct val="120000"/>
              </a:lnSpc>
            </a:pPr>
            <a:r>
              <a:rPr lang="en-US" sz="875" dirty="0">
                <a:solidFill>
                  <a:srgbClr val="F1F5F9">
                    <a:alpha val="80000"/>
                  </a:srgbClr>
                </a:solidFill>
                <a:latin typeface="MiSans" pitchFamily="34" charset="0"/>
                <a:ea typeface="MiSans" pitchFamily="34" charset="-122"/>
                <a:cs typeface="MiSans" pitchFamily="34" charset="-120"/>
              </a:rPr>
              <a:t>Tính toán trên dữ liệu trong RAM</a:t>
            </a:r>
            <a:endParaRPr lang="en-US" sz="1600" dirty="0"/>
          </a:p>
        </p:txBody>
      </p:sp>
      <p:sp>
        <p:nvSpPr>
          <p:cNvPr id="18" name="Shape 16"/>
          <p:cNvSpPr/>
          <p:nvPr/>
        </p:nvSpPr>
        <p:spPr>
          <a:xfrm>
            <a:off x="603250" y="3000375"/>
            <a:ext cx="111125" cy="111125"/>
          </a:xfrm>
          <a:custGeom>
            <a:avLst/>
            <a:gdLst/>
            <a:ahLst/>
            <a:cxnLst/>
            <a:rect l="l" t="t" r="r" b="b"/>
            <a:pathLst>
              <a:path w="111125" h="111125">
                <a:moveTo>
                  <a:pt x="55563" y="111125"/>
                </a:moveTo>
                <a:cubicBezTo>
                  <a:pt x="86228" y="111125"/>
                  <a:pt x="111125" y="86228"/>
                  <a:pt x="111125" y="55563"/>
                </a:cubicBezTo>
                <a:cubicBezTo>
                  <a:pt x="111125" y="24897"/>
                  <a:pt x="86228" y="0"/>
                  <a:pt x="55563" y="0"/>
                </a:cubicBezTo>
                <a:cubicBezTo>
                  <a:pt x="24897" y="0"/>
                  <a:pt x="0" y="24897"/>
                  <a:pt x="0" y="55563"/>
                </a:cubicBezTo>
                <a:cubicBezTo>
                  <a:pt x="0" y="86228"/>
                  <a:pt x="24897" y="111125"/>
                  <a:pt x="55562" y="111125"/>
                </a:cubicBezTo>
                <a:close/>
                <a:moveTo>
                  <a:pt x="36246" y="36246"/>
                </a:moveTo>
                <a:cubicBezTo>
                  <a:pt x="38286" y="34206"/>
                  <a:pt x="41585" y="34206"/>
                  <a:pt x="43604" y="36246"/>
                </a:cubicBezTo>
                <a:lnTo>
                  <a:pt x="55541" y="48183"/>
                </a:lnTo>
                <a:lnTo>
                  <a:pt x="67478" y="36246"/>
                </a:lnTo>
                <a:cubicBezTo>
                  <a:pt x="69518" y="34206"/>
                  <a:pt x="72817" y="34206"/>
                  <a:pt x="74836" y="36246"/>
                </a:cubicBezTo>
                <a:cubicBezTo>
                  <a:pt x="76854" y="38286"/>
                  <a:pt x="76876" y="41585"/>
                  <a:pt x="74836" y="43604"/>
                </a:cubicBezTo>
                <a:lnTo>
                  <a:pt x="62898" y="55541"/>
                </a:lnTo>
                <a:lnTo>
                  <a:pt x="74836" y="67478"/>
                </a:lnTo>
                <a:cubicBezTo>
                  <a:pt x="76876" y="69518"/>
                  <a:pt x="76876" y="72817"/>
                  <a:pt x="74836" y="74836"/>
                </a:cubicBezTo>
                <a:cubicBezTo>
                  <a:pt x="72796" y="76854"/>
                  <a:pt x="69497" y="76876"/>
                  <a:pt x="67478" y="74836"/>
                </a:cubicBezTo>
                <a:lnTo>
                  <a:pt x="55541" y="62898"/>
                </a:lnTo>
                <a:lnTo>
                  <a:pt x="43604" y="74836"/>
                </a:lnTo>
                <a:cubicBezTo>
                  <a:pt x="41563" y="76876"/>
                  <a:pt x="38264" y="76876"/>
                  <a:pt x="36246" y="74836"/>
                </a:cubicBezTo>
                <a:cubicBezTo>
                  <a:pt x="34227" y="72796"/>
                  <a:pt x="34206" y="69497"/>
                  <a:pt x="36246" y="67478"/>
                </a:cubicBezTo>
                <a:lnTo>
                  <a:pt x="48183" y="55541"/>
                </a:lnTo>
                <a:lnTo>
                  <a:pt x="36246" y="43604"/>
                </a:lnTo>
                <a:cubicBezTo>
                  <a:pt x="34206" y="41563"/>
                  <a:pt x="34206" y="38264"/>
                  <a:pt x="36246" y="36246"/>
                </a:cubicBezTo>
                <a:close/>
              </a:path>
            </a:pathLst>
          </a:custGeom>
          <a:solidFill>
            <a:srgbClr val="EF4444"/>
          </a:solidFill>
          <a:ln/>
        </p:spPr>
      </p:sp>
      <p:sp>
        <p:nvSpPr>
          <p:cNvPr id="19" name="Text 17"/>
          <p:cNvSpPr/>
          <p:nvPr/>
        </p:nvSpPr>
        <p:spPr>
          <a:xfrm>
            <a:off x="789781" y="2968625"/>
            <a:ext cx="2182813" cy="158750"/>
          </a:xfrm>
          <a:prstGeom prst="rect">
            <a:avLst/>
          </a:prstGeom>
          <a:noFill/>
          <a:ln/>
        </p:spPr>
        <p:txBody>
          <a:bodyPr wrap="square" lIns="0" tIns="0" rIns="0" bIns="0" rtlCol="0" anchor="ctr"/>
          <a:lstStyle/>
          <a:p>
            <a:pPr>
              <a:lnSpc>
                <a:spcPct val="120000"/>
              </a:lnSpc>
            </a:pPr>
            <a:r>
              <a:rPr lang="en-US" sz="875" dirty="0">
                <a:solidFill>
                  <a:srgbClr val="F1F5F9">
                    <a:alpha val="80000"/>
                  </a:srgbClr>
                </a:solidFill>
                <a:latin typeface="MiSans" pitchFamily="34" charset="0"/>
                <a:ea typeface="MiSans" pitchFamily="34" charset="-122"/>
                <a:cs typeface="MiSans" pitchFamily="34" charset="-120"/>
              </a:rPr>
              <a:t>Vượt quá 16GB RAM → </a:t>
            </a:r>
            <a:pPr>
              <a:lnSpc>
                <a:spcPct val="120000"/>
              </a:lnSpc>
            </a:pPr>
            <a:r>
              <a:rPr lang="en-US" sz="875" b="1" dirty="0">
                <a:solidFill>
                  <a:srgbClr val="F1F5F9">
                    <a:alpha val="80000"/>
                  </a:srgbClr>
                </a:solidFill>
                <a:latin typeface="MiSans" pitchFamily="34" charset="0"/>
                <a:ea typeface="MiSans" pitchFamily="34" charset="-122"/>
                <a:cs typeface="MiSans" pitchFamily="34" charset="-120"/>
              </a:rPr>
              <a:t>Lỗi OutOfMemory</a:t>
            </a:r>
            <a:endParaRPr lang="en-US" sz="1600" dirty="0"/>
          </a:p>
        </p:txBody>
      </p:sp>
      <p:sp>
        <p:nvSpPr>
          <p:cNvPr id="20" name="Shape 18"/>
          <p:cNvSpPr/>
          <p:nvPr/>
        </p:nvSpPr>
        <p:spPr>
          <a:xfrm>
            <a:off x="484187" y="3325813"/>
            <a:ext cx="5365750" cy="1103313"/>
          </a:xfrm>
          <a:custGeom>
            <a:avLst/>
            <a:gdLst/>
            <a:ahLst/>
            <a:cxnLst/>
            <a:rect l="l" t="t" r="r" b="b"/>
            <a:pathLst>
              <a:path w="5365750" h="1103313">
                <a:moveTo>
                  <a:pt x="63496" y="0"/>
                </a:moveTo>
                <a:lnTo>
                  <a:pt x="5302254" y="0"/>
                </a:lnTo>
                <a:cubicBezTo>
                  <a:pt x="5337322" y="0"/>
                  <a:pt x="5365750" y="28428"/>
                  <a:pt x="5365750" y="63496"/>
                </a:cubicBezTo>
                <a:lnTo>
                  <a:pt x="5365750" y="1039817"/>
                </a:lnTo>
                <a:cubicBezTo>
                  <a:pt x="5365750" y="1074885"/>
                  <a:pt x="5337322" y="1103312"/>
                  <a:pt x="5302254" y="1103313"/>
                </a:cubicBezTo>
                <a:lnTo>
                  <a:pt x="63496" y="1103313"/>
                </a:lnTo>
                <a:cubicBezTo>
                  <a:pt x="28428" y="1103313"/>
                  <a:pt x="0" y="1074885"/>
                  <a:pt x="0" y="1039817"/>
                </a:cubicBezTo>
                <a:lnTo>
                  <a:pt x="0" y="63496"/>
                </a:lnTo>
                <a:cubicBezTo>
                  <a:pt x="0" y="28428"/>
                  <a:pt x="28428" y="0"/>
                  <a:pt x="63496" y="0"/>
                </a:cubicBezTo>
                <a:close/>
              </a:path>
            </a:pathLst>
          </a:custGeom>
          <a:solidFill>
            <a:srgbClr val="0F172A"/>
          </a:solidFill>
          <a:ln/>
        </p:spPr>
      </p:sp>
      <p:sp>
        <p:nvSpPr>
          <p:cNvPr id="21" name="Text 19"/>
          <p:cNvSpPr/>
          <p:nvPr/>
        </p:nvSpPr>
        <p:spPr>
          <a:xfrm>
            <a:off x="579438" y="3421063"/>
            <a:ext cx="5238750" cy="190500"/>
          </a:xfrm>
          <a:prstGeom prst="rect">
            <a:avLst/>
          </a:prstGeom>
          <a:noFill/>
          <a:ln/>
        </p:spPr>
        <p:txBody>
          <a:bodyPr wrap="square" lIns="0" tIns="0" rIns="0" bIns="0" rtlCol="0" anchor="ctr"/>
          <a:lstStyle/>
          <a:p>
            <a:pPr>
              <a:lnSpc>
                <a:spcPct val="130000"/>
              </a:lnSpc>
            </a:pPr>
            <a:r>
              <a:rPr lang="en-US" sz="1000" b="1" dirty="0">
                <a:solidFill>
                  <a:srgbClr val="F1F5F9"/>
                </a:solidFill>
                <a:latin typeface="MiSans" pitchFamily="34" charset="0"/>
                <a:ea typeface="MiSans" pitchFamily="34" charset="-122"/>
                <a:cs typeface="MiSans" pitchFamily="34" charset="-120"/>
              </a:rPr>
              <a:t>Tính toán:</a:t>
            </a:r>
            <a:endParaRPr lang="en-US" sz="1600" dirty="0"/>
          </a:p>
        </p:txBody>
      </p:sp>
      <p:sp>
        <p:nvSpPr>
          <p:cNvPr id="22" name="Shape 20"/>
          <p:cNvSpPr/>
          <p:nvPr/>
        </p:nvSpPr>
        <p:spPr>
          <a:xfrm>
            <a:off x="579438" y="3675063"/>
            <a:ext cx="5175250" cy="658813"/>
          </a:xfrm>
          <a:custGeom>
            <a:avLst/>
            <a:gdLst/>
            <a:ahLst/>
            <a:cxnLst/>
            <a:rect l="l" t="t" r="r" b="b"/>
            <a:pathLst>
              <a:path w="5175250" h="658813">
                <a:moveTo>
                  <a:pt x="63503" y="0"/>
                </a:moveTo>
                <a:lnTo>
                  <a:pt x="5111747" y="0"/>
                </a:lnTo>
                <a:cubicBezTo>
                  <a:pt x="5146819" y="0"/>
                  <a:pt x="5175250" y="28431"/>
                  <a:pt x="5175250" y="63503"/>
                </a:cubicBezTo>
                <a:lnTo>
                  <a:pt x="5175250" y="595310"/>
                </a:lnTo>
                <a:cubicBezTo>
                  <a:pt x="5175250" y="630381"/>
                  <a:pt x="5146819" y="658813"/>
                  <a:pt x="5111747" y="658813"/>
                </a:cubicBezTo>
                <a:lnTo>
                  <a:pt x="63503" y="658813"/>
                </a:lnTo>
                <a:cubicBezTo>
                  <a:pt x="28431" y="658813"/>
                  <a:pt x="0" y="630381"/>
                  <a:pt x="0" y="595310"/>
                </a:cubicBezTo>
                <a:lnTo>
                  <a:pt x="0" y="63503"/>
                </a:lnTo>
                <a:cubicBezTo>
                  <a:pt x="0" y="28455"/>
                  <a:pt x="28455" y="0"/>
                  <a:pt x="63503" y="0"/>
                </a:cubicBezTo>
                <a:close/>
              </a:path>
            </a:pathLst>
          </a:custGeom>
          <a:solidFill>
            <a:srgbClr val="1E293B"/>
          </a:solidFill>
          <a:ln/>
        </p:spPr>
      </p:sp>
      <p:sp>
        <p:nvSpPr>
          <p:cNvPr id="23" name="Text 21"/>
          <p:cNvSpPr/>
          <p:nvPr/>
        </p:nvSpPr>
        <p:spPr>
          <a:xfrm>
            <a:off x="674688" y="3786188"/>
            <a:ext cx="1583407" cy="119063"/>
          </a:xfrm>
          <a:prstGeom prst="rect">
            <a:avLst/>
          </a:prstGeom>
          <a:noFill/>
          <a:ln/>
        </p:spPr>
        <p:txBody>
          <a:bodyPr wrap="square" lIns="0" tIns="0" rIns="0" bIns="0" rtlCol="0" anchor="ctr"/>
          <a:lstStyle/>
          <a:p>
            <a:pPr>
              <a:lnSpc>
                <a:spcPct val="130000"/>
              </a:lnSpc>
            </a:pPr>
            <a:r>
              <a:rPr lang="en-US" sz="813" dirty="0">
                <a:solidFill>
                  <a:srgbClr val="F1F5F9"/>
                </a:solidFill>
                <a:latin typeface="MiSans" pitchFamily="34" charset="0"/>
                <a:ea typeface="MiSans" pitchFamily="34" charset="-122"/>
                <a:cs typeface="MiSans" pitchFamily="34" charset="-120"/>
              </a:rPr>
              <a:t>100,000 × 100,000 × 8 bytes</a:t>
            </a:r>
            <a:endParaRPr lang="en-US" sz="1600" dirty="0"/>
          </a:p>
        </p:txBody>
      </p:sp>
      <p:sp>
        <p:nvSpPr>
          <p:cNvPr id="24" name="Text 22"/>
          <p:cNvSpPr/>
          <p:nvPr/>
        </p:nvSpPr>
        <p:spPr>
          <a:xfrm>
            <a:off x="674688" y="3940969"/>
            <a:ext cx="1299766" cy="119063"/>
          </a:xfrm>
          <a:prstGeom prst="rect">
            <a:avLst/>
          </a:prstGeom>
          <a:noFill/>
          <a:ln/>
        </p:spPr>
        <p:txBody>
          <a:bodyPr wrap="square" lIns="0" tIns="0" rIns="0" bIns="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 80,000,000,000 bytes</a:t>
            </a:r>
            <a:endParaRPr lang="en-US" sz="1600" dirty="0"/>
          </a:p>
        </p:txBody>
      </p:sp>
      <p:sp>
        <p:nvSpPr>
          <p:cNvPr id="25" name="Text 23"/>
          <p:cNvSpPr/>
          <p:nvPr/>
        </p:nvSpPr>
        <p:spPr>
          <a:xfrm>
            <a:off x="674688" y="4095750"/>
            <a:ext cx="789161" cy="119063"/>
          </a:xfrm>
          <a:prstGeom prst="rect">
            <a:avLst/>
          </a:prstGeom>
          <a:noFill/>
          <a:ln/>
        </p:spPr>
        <p:txBody>
          <a:bodyPr wrap="square" lIns="0" tIns="0" rIns="0" bIns="0" rtlCol="0" anchor="ctr"/>
          <a:lstStyle/>
          <a:p>
            <a:pPr>
              <a:lnSpc>
                <a:spcPct val="130000"/>
              </a:lnSpc>
            </a:pPr>
            <a:r>
              <a:rPr lang="en-US" sz="813" b="1" dirty="0">
                <a:solidFill>
                  <a:srgbClr val="EF4444"/>
                </a:solidFill>
                <a:latin typeface="MiSans" pitchFamily="34" charset="0"/>
                <a:ea typeface="MiSans" pitchFamily="34" charset="-122"/>
                <a:cs typeface="MiSans" pitchFamily="34" charset="-120"/>
              </a:rPr>
              <a:t>= ~80 GB RAM!</a:t>
            </a:r>
            <a:endParaRPr lang="en-US" sz="1600" dirty="0"/>
          </a:p>
        </p:txBody>
      </p:sp>
      <p:sp>
        <p:nvSpPr>
          <p:cNvPr id="26" name="Shape 24"/>
          <p:cNvSpPr/>
          <p:nvPr/>
        </p:nvSpPr>
        <p:spPr>
          <a:xfrm>
            <a:off x="321469" y="4722813"/>
            <a:ext cx="5691188" cy="452438"/>
          </a:xfrm>
          <a:custGeom>
            <a:avLst/>
            <a:gdLst/>
            <a:ahLst/>
            <a:cxnLst/>
            <a:rect l="l" t="t" r="r" b="b"/>
            <a:pathLst>
              <a:path w="5691188" h="452438">
                <a:moveTo>
                  <a:pt x="95252" y="0"/>
                </a:moveTo>
                <a:lnTo>
                  <a:pt x="5595936" y="0"/>
                </a:lnTo>
                <a:cubicBezTo>
                  <a:pt x="5648542" y="0"/>
                  <a:pt x="5691188" y="42646"/>
                  <a:pt x="5691188" y="95252"/>
                </a:cubicBezTo>
                <a:lnTo>
                  <a:pt x="5691188" y="357186"/>
                </a:lnTo>
                <a:cubicBezTo>
                  <a:pt x="5691187" y="409792"/>
                  <a:pt x="5648542" y="452438"/>
                  <a:pt x="5595936" y="452438"/>
                </a:cubicBezTo>
                <a:lnTo>
                  <a:pt x="95252" y="452438"/>
                </a:lnTo>
                <a:cubicBezTo>
                  <a:pt x="42681" y="452438"/>
                  <a:pt x="0" y="409757"/>
                  <a:pt x="0" y="357186"/>
                </a:cubicBezTo>
                <a:lnTo>
                  <a:pt x="0" y="95252"/>
                </a:lnTo>
                <a:cubicBezTo>
                  <a:pt x="0" y="42681"/>
                  <a:pt x="42681" y="0"/>
                  <a:pt x="95252" y="0"/>
                </a:cubicBezTo>
                <a:close/>
              </a:path>
            </a:pathLst>
          </a:custGeom>
          <a:solidFill>
            <a:srgbClr val="0F172A"/>
          </a:solidFill>
          <a:ln w="12700">
            <a:solidFill>
              <a:srgbClr val="3B82F6">
                <a:alpha val="30196"/>
              </a:srgbClr>
            </a:solidFill>
            <a:prstDash val="solid"/>
          </a:ln>
        </p:spPr>
      </p:sp>
      <p:sp>
        <p:nvSpPr>
          <p:cNvPr id="27" name="Shape 25"/>
          <p:cNvSpPr/>
          <p:nvPr/>
        </p:nvSpPr>
        <p:spPr>
          <a:xfrm>
            <a:off x="468313" y="4893469"/>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55563" y="39688"/>
                </a:moveTo>
                <a:cubicBezTo>
                  <a:pt x="55563" y="35307"/>
                  <a:pt x="59119" y="31750"/>
                  <a:pt x="63500" y="31750"/>
                </a:cubicBezTo>
                <a:cubicBezTo>
                  <a:pt x="67881" y="31750"/>
                  <a:pt x="71438" y="35307"/>
                  <a:pt x="71438" y="39688"/>
                </a:cubicBezTo>
                <a:cubicBezTo>
                  <a:pt x="71438" y="44068"/>
                  <a:pt x="67881" y="47625"/>
                  <a:pt x="63500" y="47625"/>
                </a:cubicBezTo>
                <a:cubicBezTo>
                  <a:pt x="59119" y="47625"/>
                  <a:pt x="55563" y="44068"/>
                  <a:pt x="55563" y="39688"/>
                </a:cubicBezTo>
                <a:close/>
                <a:moveTo>
                  <a:pt x="53578" y="55563"/>
                </a:moveTo>
                <a:lnTo>
                  <a:pt x="65484" y="55563"/>
                </a:lnTo>
                <a:cubicBezTo>
                  <a:pt x="68783" y="55563"/>
                  <a:pt x="71438" y="58217"/>
                  <a:pt x="71438" y="61516"/>
                </a:cubicBezTo>
                <a:lnTo>
                  <a:pt x="71438" y="83344"/>
                </a:lnTo>
                <a:lnTo>
                  <a:pt x="73422" y="83344"/>
                </a:lnTo>
                <a:cubicBezTo>
                  <a:pt x="76721" y="83344"/>
                  <a:pt x="79375" y="85998"/>
                  <a:pt x="79375" y="89297"/>
                </a:cubicBezTo>
                <a:cubicBezTo>
                  <a:pt x="79375" y="92596"/>
                  <a:pt x="76721" y="95250"/>
                  <a:pt x="73422" y="95250"/>
                </a:cubicBezTo>
                <a:lnTo>
                  <a:pt x="53578" y="95250"/>
                </a:lnTo>
                <a:cubicBezTo>
                  <a:pt x="50279" y="95250"/>
                  <a:pt x="47625" y="92596"/>
                  <a:pt x="47625" y="89297"/>
                </a:cubicBezTo>
                <a:cubicBezTo>
                  <a:pt x="47625" y="85998"/>
                  <a:pt x="50279" y="83344"/>
                  <a:pt x="53578" y="83344"/>
                </a:cubicBezTo>
                <a:lnTo>
                  <a:pt x="59531" y="83344"/>
                </a:lnTo>
                <a:lnTo>
                  <a:pt x="59531" y="67469"/>
                </a:lnTo>
                <a:lnTo>
                  <a:pt x="53578" y="67469"/>
                </a:lnTo>
                <a:cubicBezTo>
                  <a:pt x="50279" y="67469"/>
                  <a:pt x="47625" y="64815"/>
                  <a:pt x="47625" y="61516"/>
                </a:cubicBezTo>
                <a:cubicBezTo>
                  <a:pt x="47625" y="58217"/>
                  <a:pt x="50279" y="55563"/>
                  <a:pt x="53578" y="55563"/>
                </a:cubicBezTo>
                <a:close/>
              </a:path>
            </a:pathLst>
          </a:custGeom>
          <a:solidFill>
            <a:srgbClr val="3B82F6"/>
          </a:solidFill>
          <a:ln/>
        </p:spPr>
      </p:sp>
      <p:sp>
        <p:nvSpPr>
          <p:cNvPr id="28" name="Text 26"/>
          <p:cNvSpPr/>
          <p:nvPr/>
        </p:nvSpPr>
        <p:spPr>
          <a:xfrm>
            <a:off x="650875" y="4853781"/>
            <a:ext cx="5294313" cy="190500"/>
          </a:xfrm>
          <a:prstGeom prst="rect">
            <a:avLst/>
          </a:prstGeom>
          <a:noFill/>
          <a:ln/>
        </p:spPr>
        <p:txBody>
          <a:bodyPr wrap="square" lIns="0" tIns="0" rIns="0" bIns="0" rtlCol="0" anchor="ctr"/>
          <a:lstStyle/>
          <a:p>
            <a:pPr>
              <a:lnSpc>
                <a:spcPct val="130000"/>
              </a:lnSpc>
            </a:pPr>
            <a:r>
              <a:rPr lang="en-US" sz="1000" b="1" dirty="0">
                <a:solidFill>
                  <a:srgbClr val="F1F5F9">
                    <a:alpha val="90000"/>
                  </a:srgbClr>
                </a:solidFill>
                <a:latin typeface="MiSans" pitchFamily="34" charset="0"/>
                <a:ea typeface="MiSans" pitchFamily="34" charset="-122"/>
                <a:cs typeface="MiSans" pitchFamily="34" charset="-120"/>
              </a:rPr>
              <a:t>Giải pháp cần thiết:</a:t>
            </a:r>
            <a:pPr>
              <a:lnSpc>
                <a:spcPct val="130000"/>
              </a:lnSpc>
            </a:pPr>
            <a:r>
              <a:rPr lang="en-US" sz="1000" dirty="0">
                <a:solidFill>
                  <a:srgbClr val="F1F5F9">
                    <a:alpha val="90000"/>
                  </a:srgbClr>
                </a:solidFill>
                <a:latin typeface="MiSans" pitchFamily="34" charset="0"/>
                <a:ea typeface="MiSans" pitchFamily="34" charset="-122"/>
                <a:cs typeface="MiSans" pitchFamily="34" charset="-120"/>
              </a:rPr>
              <a:t> Không đọc toàn bộ dữ liệu cùng lúc mà xử lý từng phần nhỏ.</a:t>
            </a:r>
            <a:endParaRPr lang="en-US" sz="1600" dirty="0"/>
          </a:p>
        </p:txBody>
      </p:sp>
      <p:sp>
        <p:nvSpPr>
          <p:cNvPr id="29" name="Shape 27"/>
          <p:cNvSpPr/>
          <p:nvPr/>
        </p:nvSpPr>
        <p:spPr>
          <a:xfrm>
            <a:off x="6179344" y="956469"/>
            <a:ext cx="5691188" cy="4532313"/>
          </a:xfrm>
          <a:custGeom>
            <a:avLst/>
            <a:gdLst/>
            <a:ahLst/>
            <a:cxnLst/>
            <a:rect l="l" t="t" r="r" b="b"/>
            <a:pathLst>
              <a:path w="5691188" h="4532313">
                <a:moveTo>
                  <a:pt x="95269" y="0"/>
                </a:moveTo>
                <a:lnTo>
                  <a:pt x="5595918" y="0"/>
                </a:lnTo>
                <a:cubicBezTo>
                  <a:pt x="5648534" y="0"/>
                  <a:pt x="5691188" y="42653"/>
                  <a:pt x="5691188" y="95269"/>
                </a:cubicBezTo>
                <a:lnTo>
                  <a:pt x="5691188" y="4437043"/>
                </a:lnTo>
                <a:cubicBezTo>
                  <a:pt x="5691188" y="4489659"/>
                  <a:pt x="5648534" y="4532313"/>
                  <a:pt x="5595918" y="4532313"/>
                </a:cubicBezTo>
                <a:lnTo>
                  <a:pt x="95269" y="4532313"/>
                </a:lnTo>
                <a:cubicBezTo>
                  <a:pt x="42653" y="4532313"/>
                  <a:pt x="0" y="4489659"/>
                  <a:pt x="0" y="4437043"/>
                </a:cubicBezTo>
                <a:lnTo>
                  <a:pt x="0" y="95269"/>
                </a:lnTo>
                <a:cubicBezTo>
                  <a:pt x="0" y="42653"/>
                  <a:pt x="42653" y="0"/>
                  <a:pt x="95269"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0" name="Shape 28"/>
          <p:cNvSpPr/>
          <p:nvPr/>
        </p:nvSpPr>
        <p:spPr>
          <a:xfrm>
            <a:off x="6361906" y="1150938"/>
            <a:ext cx="158750" cy="158750"/>
          </a:xfrm>
          <a:custGeom>
            <a:avLst/>
            <a:gdLst/>
            <a:ahLst/>
            <a:cxnLst/>
            <a:rect l="l" t="t" r="r" b="b"/>
            <a:pathLst>
              <a:path w="158750" h="158750">
                <a:moveTo>
                  <a:pt x="123558" y="3783"/>
                </a:moveTo>
                <a:lnTo>
                  <a:pt x="96211" y="31130"/>
                </a:lnTo>
                <a:lnTo>
                  <a:pt x="127620" y="62539"/>
                </a:lnTo>
                <a:lnTo>
                  <a:pt x="154967" y="35192"/>
                </a:lnTo>
                <a:cubicBezTo>
                  <a:pt x="157386" y="32742"/>
                  <a:pt x="158750" y="29456"/>
                  <a:pt x="158750" y="26045"/>
                </a:cubicBezTo>
                <a:cubicBezTo>
                  <a:pt x="158750" y="22634"/>
                  <a:pt x="157386" y="19348"/>
                  <a:pt x="154967" y="16898"/>
                </a:cubicBezTo>
                <a:lnTo>
                  <a:pt x="141852" y="3783"/>
                </a:lnTo>
                <a:cubicBezTo>
                  <a:pt x="139402" y="1364"/>
                  <a:pt x="136116" y="0"/>
                  <a:pt x="132705" y="0"/>
                </a:cubicBezTo>
                <a:cubicBezTo>
                  <a:pt x="129294" y="0"/>
                  <a:pt x="126008" y="1364"/>
                  <a:pt x="123558" y="3783"/>
                </a:cubicBezTo>
                <a:close/>
                <a:moveTo>
                  <a:pt x="85700" y="41641"/>
                </a:moveTo>
                <a:lnTo>
                  <a:pt x="3783" y="123558"/>
                </a:lnTo>
                <a:cubicBezTo>
                  <a:pt x="1364" y="126008"/>
                  <a:pt x="0" y="129294"/>
                  <a:pt x="0" y="132705"/>
                </a:cubicBezTo>
                <a:cubicBezTo>
                  <a:pt x="0" y="136116"/>
                  <a:pt x="1364" y="139402"/>
                  <a:pt x="3783" y="141852"/>
                </a:cubicBezTo>
                <a:lnTo>
                  <a:pt x="16898" y="154967"/>
                </a:lnTo>
                <a:cubicBezTo>
                  <a:pt x="19348" y="157386"/>
                  <a:pt x="22634" y="158750"/>
                  <a:pt x="26045" y="158750"/>
                </a:cubicBezTo>
                <a:cubicBezTo>
                  <a:pt x="29456" y="158750"/>
                  <a:pt x="32742" y="157386"/>
                  <a:pt x="35192" y="154967"/>
                </a:cubicBezTo>
                <a:lnTo>
                  <a:pt x="117109" y="73050"/>
                </a:lnTo>
                <a:lnTo>
                  <a:pt x="85700" y="41641"/>
                </a:lnTo>
                <a:close/>
              </a:path>
            </a:pathLst>
          </a:custGeom>
          <a:solidFill>
            <a:srgbClr val="10B981"/>
          </a:solidFill>
          <a:ln/>
        </p:spPr>
      </p:sp>
      <p:sp>
        <p:nvSpPr>
          <p:cNvPr id="31" name="Text 29"/>
          <p:cNvSpPr/>
          <p:nvPr/>
        </p:nvSpPr>
        <p:spPr>
          <a:xfrm>
            <a:off x="6540500" y="1119188"/>
            <a:ext cx="5246688" cy="222250"/>
          </a:xfrm>
          <a:prstGeom prst="rect">
            <a:avLst/>
          </a:prstGeom>
          <a:noFill/>
          <a:ln/>
        </p:spPr>
        <p:txBody>
          <a:bodyPr wrap="square" lIns="0" tIns="0" rIns="0" bIns="0" rtlCol="0" anchor="ctr"/>
          <a:lstStyle/>
          <a:p>
            <a:pPr>
              <a:lnSpc>
                <a:spcPct val="120000"/>
              </a:lnSpc>
            </a:pPr>
            <a:r>
              <a:rPr lang="en-US" sz="1250" b="1" dirty="0">
                <a:solidFill>
                  <a:srgbClr val="10B981"/>
                </a:solidFill>
                <a:latin typeface="MiSans" pitchFamily="34" charset="0"/>
                <a:ea typeface="MiSans" pitchFamily="34" charset="-122"/>
                <a:cs typeface="MiSans" pitchFamily="34" charset="-120"/>
              </a:rPr>
              <a:t>Giải pháp GPT: Batch Processing</a:t>
            </a:r>
            <a:endParaRPr lang="en-US" sz="1600" dirty="0"/>
          </a:p>
        </p:txBody>
      </p:sp>
      <p:sp>
        <p:nvSpPr>
          <p:cNvPr id="32" name="Shape 30"/>
          <p:cNvSpPr/>
          <p:nvPr/>
        </p:nvSpPr>
        <p:spPr>
          <a:xfrm>
            <a:off x="6342063" y="1468438"/>
            <a:ext cx="5365750" cy="1412875"/>
          </a:xfrm>
          <a:custGeom>
            <a:avLst/>
            <a:gdLst/>
            <a:ahLst/>
            <a:cxnLst/>
            <a:rect l="l" t="t" r="r" b="b"/>
            <a:pathLst>
              <a:path w="5365750" h="1412875">
                <a:moveTo>
                  <a:pt x="63495" y="0"/>
                </a:moveTo>
                <a:lnTo>
                  <a:pt x="5302255" y="0"/>
                </a:lnTo>
                <a:cubicBezTo>
                  <a:pt x="5337322" y="0"/>
                  <a:pt x="5365750" y="28428"/>
                  <a:pt x="5365750" y="63495"/>
                </a:cubicBezTo>
                <a:lnTo>
                  <a:pt x="5365750" y="1349380"/>
                </a:lnTo>
                <a:cubicBezTo>
                  <a:pt x="5365750" y="1384447"/>
                  <a:pt x="5337322" y="1412875"/>
                  <a:pt x="5302255" y="1412875"/>
                </a:cubicBezTo>
                <a:lnTo>
                  <a:pt x="63495" y="1412875"/>
                </a:lnTo>
                <a:cubicBezTo>
                  <a:pt x="28428" y="1412875"/>
                  <a:pt x="0" y="1384447"/>
                  <a:pt x="0" y="1349380"/>
                </a:cubicBezTo>
                <a:lnTo>
                  <a:pt x="0" y="63495"/>
                </a:lnTo>
                <a:cubicBezTo>
                  <a:pt x="0" y="28428"/>
                  <a:pt x="28428" y="0"/>
                  <a:pt x="63495" y="0"/>
                </a:cubicBezTo>
                <a:close/>
              </a:path>
            </a:pathLst>
          </a:custGeom>
          <a:solidFill>
            <a:srgbClr val="0F172A"/>
          </a:solidFill>
          <a:ln/>
        </p:spPr>
      </p:sp>
      <p:sp>
        <p:nvSpPr>
          <p:cNvPr id="33" name="Text 31"/>
          <p:cNvSpPr/>
          <p:nvPr/>
        </p:nvSpPr>
        <p:spPr>
          <a:xfrm>
            <a:off x="6437313" y="1563688"/>
            <a:ext cx="5238750" cy="190500"/>
          </a:xfrm>
          <a:prstGeom prst="rect">
            <a:avLst/>
          </a:prstGeom>
          <a:noFill/>
          <a:ln/>
        </p:spPr>
        <p:txBody>
          <a:bodyPr wrap="square" lIns="0" tIns="0" rIns="0" bIns="0" rtlCol="0" anchor="ctr"/>
          <a:lstStyle/>
          <a:p>
            <a:pPr>
              <a:lnSpc>
                <a:spcPct val="130000"/>
              </a:lnSpc>
            </a:pPr>
            <a:r>
              <a:rPr lang="en-US" sz="1000" b="1" dirty="0">
                <a:solidFill>
                  <a:srgbClr val="F1F5F9"/>
                </a:solidFill>
                <a:latin typeface="MiSans" pitchFamily="34" charset="0"/>
                <a:ea typeface="MiSans" pitchFamily="34" charset="-122"/>
                <a:cs typeface="MiSans" pitchFamily="34" charset="-120"/>
              </a:rPr>
              <a:t>Prompt:</a:t>
            </a:r>
            <a:endParaRPr lang="en-US" sz="1600" dirty="0"/>
          </a:p>
        </p:txBody>
      </p:sp>
      <p:sp>
        <p:nvSpPr>
          <p:cNvPr id="34" name="Shape 32"/>
          <p:cNvSpPr/>
          <p:nvPr/>
        </p:nvSpPr>
        <p:spPr>
          <a:xfrm>
            <a:off x="6437313" y="1817688"/>
            <a:ext cx="5175250" cy="968375"/>
          </a:xfrm>
          <a:custGeom>
            <a:avLst/>
            <a:gdLst/>
            <a:ahLst/>
            <a:cxnLst/>
            <a:rect l="l" t="t" r="r" b="b"/>
            <a:pathLst>
              <a:path w="5175250" h="968375">
                <a:moveTo>
                  <a:pt x="63496" y="0"/>
                </a:moveTo>
                <a:lnTo>
                  <a:pt x="5111754" y="0"/>
                </a:lnTo>
                <a:cubicBezTo>
                  <a:pt x="5146822" y="0"/>
                  <a:pt x="5175250" y="28428"/>
                  <a:pt x="5175250" y="63496"/>
                </a:cubicBezTo>
                <a:lnTo>
                  <a:pt x="5175250" y="904879"/>
                </a:lnTo>
                <a:cubicBezTo>
                  <a:pt x="5175250" y="939947"/>
                  <a:pt x="5146822" y="968375"/>
                  <a:pt x="5111754" y="968375"/>
                </a:cubicBezTo>
                <a:lnTo>
                  <a:pt x="63496" y="968375"/>
                </a:lnTo>
                <a:cubicBezTo>
                  <a:pt x="28428" y="968375"/>
                  <a:pt x="0" y="939947"/>
                  <a:pt x="0" y="904879"/>
                </a:cubicBezTo>
                <a:lnTo>
                  <a:pt x="0" y="63496"/>
                </a:lnTo>
                <a:cubicBezTo>
                  <a:pt x="0" y="28452"/>
                  <a:pt x="28452" y="0"/>
                  <a:pt x="63496" y="0"/>
                </a:cubicBezTo>
                <a:close/>
              </a:path>
            </a:pathLst>
          </a:custGeom>
          <a:solidFill>
            <a:srgbClr val="1E293B"/>
          </a:solidFill>
          <a:ln/>
        </p:spPr>
      </p:sp>
      <p:sp>
        <p:nvSpPr>
          <p:cNvPr id="35" name="Text 33"/>
          <p:cNvSpPr/>
          <p:nvPr/>
        </p:nvSpPr>
        <p:spPr>
          <a:xfrm>
            <a:off x="6532563" y="1928813"/>
            <a:ext cx="1753691" cy="119063"/>
          </a:xfrm>
          <a:prstGeom prst="rect">
            <a:avLst/>
          </a:prstGeom>
          <a:noFill/>
          <a:ln/>
        </p:spPr>
        <p:txBody>
          <a:bodyPr wrap="square" lIns="0" tIns="0" rIns="0" bIns="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CONTEXT: Optimize the function</a:t>
            </a:r>
            <a:endParaRPr lang="en-US" sz="1600" dirty="0"/>
          </a:p>
        </p:txBody>
      </p:sp>
      <p:sp>
        <p:nvSpPr>
          <p:cNvPr id="36" name="Text 34"/>
          <p:cNvSpPr/>
          <p:nvPr/>
        </p:nvSpPr>
        <p:spPr>
          <a:xfrm>
            <a:off x="6532563" y="2083594"/>
            <a:ext cx="1640210" cy="119063"/>
          </a:xfrm>
          <a:prstGeom prst="rect">
            <a:avLst/>
          </a:prstGeom>
          <a:noFill/>
          <a:ln/>
        </p:spPr>
        <p:txBody>
          <a:bodyPr wrap="square" lIns="0" tIns="0" rIns="0" bIns="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to run in batches within the</a:t>
            </a:r>
            <a:endParaRPr lang="en-US" sz="1600" dirty="0"/>
          </a:p>
        </p:txBody>
      </p:sp>
      <p:sp>
        <p:nvSpPr>
          <p:cNvPr id="37" name="Text 35"/>
          <p:cNvSpPr/>
          <p:nvPr/>
        </p:nvSpPr>
        <p:spPr>
          <a:xfrm>
            <a:off x="6532563" y="2238375"/>
            <a:ext cx="562198" cy="119063"/>
          </a:xfrm>
          <a:prstGeom prst="rect">
            <a:avLst/>
          </a:prstGeom>
          <a:noFill/>
          <a:ln/>
        </p:spPr>
        <p:txBody>
          <a:bodyPr wrap="square" lIns="0" tIns="0" rIns="0" bIns="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RAM limit</a:t>
            </a:r>
            <a:endParaRPr lang="en-US" sz="1600" dirty="0"/>
          </a:p>
        </p:txBody>
      </p:sp>
      <p:sp>
        <p:nvSpPr>
          <p:cNvPr id="38" name="Text 36"/>
          <p:cNvSpPr/>
          <p:nvPr/>
        </p:nvSpPr>
        <p:spPr>
          <a:xfrm>
            <a:off x="6532563" y="2547938"/>
            <a:ext cx="1980530" cy="119063"/>
          </a:xfrm>
          <a:prstGeom prst="rect">
            <a:avLst/>
          </a:prstGeom>
          <a:noFill/>
          <a:ln/>
        </p:spPr>
        <p:txBody>
          <a:bodyPr wrap="square" lIns="0" tIns="0" rIns="0" bIns="0" rtlCol="0" anchor="ctr"/>
          <a:lstStyle/>
          <a:p>
            <a:pPr>
              <a:lnSpc>
                <a:spcPct val="130000"/>
              </a:lnSpc>
            </a:pPr>
            <a:r>
              <a:rPr lang="en-US" sz="813" dirty="0">
                <a:solidFill>
                  <a:srgbClr val="10B981"/>
                </a:solidFill>
                <a:latin typeface="MiSans" pitchFamily="34" charset="0"/>
                <a:ea typeface="MiSans" pitchFamily="34" charset="-122"/>
                <a:cs typeface="MiSans" pitchFamily="34" charset="-120"/>
              </a:rPr>
              <a:t>REQUIRED_INPUT = 100,000 × 100,000</a:t>
            </a:r>
            <a:endParaRPr lang="en-US" sz="1600" dirty="0"/>
          </a:p>
        </p:txBody>
      </p:sp>
      <p:sp>
        <p:nvSpPr>
          <p:cNvPr id="39" name="Shape 37"/>
          <p:cNvSpPr/>
          <p:nvPr/>
        </p:nvSpPr>
        <p:spPr>
          <a:xfrm>
            <a:off x="6346031" y="2976563"/>
            <a:ext cx="5357813" cy="2349500"/>
          </a:xfrm>
          <a:custGeom>
            <a:avLst/>
            <a:gdLst/>
            <a:ahLst/>
            <a:cxnLst/>
            <a:rect l="l" t="t" r="r" b="b"/>
            <a:pathLst>
              <a:path w="5357813" h="2349500">
                <a:moveTo>
                  <a:pt x="63507" y="0"/>
                </a:moveTo>
                <a:lnTo>
                  <a:pt x="5294306" y="0"/>
                </a:lnTo>
                <a:cubicBezTo>
                  <a:pt x="5329379" y="0"/>
                  <a:pt x="5357813" y="28433"/>
                  <a:pt x="5357813" y="63507"/>
                </a:cubicBezTo>
                <a:lnTo>
                  <a:pt x="5357813" y="2285993"/>
                </a:lnTo>
                <a:cubicBezTo>
                  <a:pt x="5357813" y="2321067"/>
                  <a:pt x="5329379" y="2349500"/>
                  <a:pt x="5294306" y="2349500"/>
                </a:cubicBezTo>
                <a:lnTo>
                  <a:pt x="63507" y="2349500"/>
                </a:lnTo>
                <a:cubicBezTo>
                  <a:pt x="28433" y="2349500"/>
                  <a:pt x="0" y="2321067"/>
                  <a:pt x="0" y="2285993"/>
                </a:cubicBezTo>
                <a:lnTo>
                  <a:pt x="0" y="63507"/>
                </a:lnTo>
                <a:cubicBezTo>
                  <a:pt x="0" y="28457"/>
                  <a:pt x="28457" y="0"/>
                  <a:pt x="63507" y="0"/>
                </a:cubicBezTo>
                <a:close/>
              </a:path>
            </a:pathLst>
          </a:custGeom>
          <a:solidFill>
            <a:srgbClr val="0F172A"/>
          </a:solidFill>
          <a:ln w="12700">
            <a:solidFill>
              <a:srgbClr val="10B981">
                <a:alpha val="30196"/>
              </a:srgbClr>
            </a:solidFill>
            <a:prstDash val="solid"/>
          </a:ln>
        </p:spPr>
      </p:sp>
      <p:sp>
        <p:nvSpPr>
          <p:cNvPr id="40" name="Text 38"/>
          <p:cNvSpPr/>
          <p:nvPr/>
        </p:nvSpPr>
        <p:spPr>
          <a:xfrm>
            <a:off x="6445250" y="3075781"/>
            <a:ext cx="5222875" cy="190500"/>
          </a:xfrm>
          <a:prstGeom prst="rect">
            <a:avLst/>
          </a:prstGeom>
          <a:noFill/>
          <a:ln/>
        </p:spPr>
        <p:txBody>
          <a:bodyPr wrap="square" lIns="0" tIns="0" rIns="0" bIns="0" rtlCol="0" anchor="ctr"/>
          <a:lstStyle/>
          <a:p>
            <a:pPr>
              <a:lnSpc>
                <a:spcPct val="130000"/>
              </a:lnSpc>
            </a:pPr>
            <a:r>
              <a:rPr lang="en-US" sz="1000" b="1" dirty="0">
                <a:solidFill>
                  <a:srgbClr val="10B981"/>
                </a:solidFill>
                <a:latin typeface="MiSans" pitchFamily="34" charset="0"/>
                <a:ea typeface="MiSans" pitchFamily="34" charset="-122"/>
                <a:cs typeface="MiSans" pitchFamily="34" charset="-120"/>
              </a:rPr>
              <a:t>Code tối ưu:</a:t>
            </a:r>
            <a:endParaRPr lang="en-US" sz="1600" dirty="0"/>
          </a:p>
        </p:txBody>
      </p:sp>
      <p:sp>
        <p:nvSpPr>
          <p:cNvPr id="41" name="Shape 39"/>
          <p:cNvSpPr/>
          <p:nvPr/>
        </p:nvSpPr>
        <p:spPr>
          <a:xfrm>
            <a:off x="6445250" y="3329781"/>
            <a:ext cx="5159375" cy="1897063"/>
          </a:xfrm>
          <a:custGeom>
            <a:avLst/>
            <a:gdLst/>
            <a:ahLst/>
            <a:cxnLst/>
            <a:rect l="l" t="t" r="r" b="b"/>
            <a:pathLst>
              <a:path w="5159375" h="1897063">
                <a:moveTo>
                  <a:pt x="63495" y="0"/>
                </a:moveTo>
                <a:lnTo>
                  <a:pt x="5095880" y="0"/>
                </a:lnTo>
                <a:cubicBezTo>
                  <a:pt x="5130947" y="0"/>
                  <a:pt x="5159375" y="28428"/>
                  <a:pt x="5159375" y="63495"/>
                </a:cubicBezTo>
                <a:lnTo>
                  <a:pt x="5159375" y="1833568"/>
                </a:lnTo>
                <a:cubicBezTo>
                  <a:pt x="5159375" y="1868635"/>
                  <a:pt x="5130947" y="1897063"/>
                  <a:pt x="5095880" y="1897063"/>
                </a:cubicBezTo>
                <a:lnTo>
                  <a:pt x="63495" y="1897063"/>
                </a:lnTo>
                <a:cubicBezTo>
                  <a:pt x="28428" y="1897063"/>
                  <a:pt x="0" y="1868635"/>
                  <a:pt x="0" y="1833568"/>
                </a:cubicBezTo>
                <a:lnTo>
                  <a:pt x="0" y="63495"/>
                </a:lnTo>
                <a:cubicBezTo>
                  <a:pt x="0" y="28451"/>
                  <a:pt x="28451" y="0"/>
                  <a:pt x="63495" y="0"/>
                </a:cubicBezTo>
                <a:close/>
              </a:path>
            </a:pathLst>
          </a:custGeom>
          <a:solidFill>
            <a:srgbClr val="1E293B"/>
          </a:solidFill>
          <a:ln/>
        </p:spPr>
      </p:sp>
      <p:sp>
        <p:nvSpPr>
          <p:cNvPr id="42" name="Text 40"/>
          <p:cNvSpPr/>
          <p:nvPr/>
        </p:nvSpPr>
        <p:spPr>
          <a:xfrm>
            <a:off x="6445250" y="3329781"/>
            <a:ext cx="5210969" cy="1897063"/>
          </a:xfrm>
          <a:prstGeom prst="rect">
            <a:avLst/>
          </a:prstGeom>
          <a:noFill/>
          <a:ln/>
        </p:spPr>
        <p:txBody>
          <a:bodyPr wrap="square" lIns="95250" tIns="95250" rIns="95250" bIns="95250" rtlCol="0" anchor="ctr"/>
          <a:lstStyle/>
          <a:p>
            <a:pPr>
              <a:lnSpc>
                <a:spcPct val="130000"/>
              </a:lnSpc>
            </a:pPr>
            <a:r>
              <a:rPr lang="en-US" sz="813" dirty="0">
                <a:solidFill>
                  <a:srgbClr val="8B5CF6"/>
                </a:solidFill>
                <a:latin typeface="MiSans" pitchFamily="34" charset="0"/>
                <a:ea typeface="MiSans" pitchFamily="34" charset="-122"/>
                <a:cs typeface="MiSans" pitchFamily="34" charset="-120"/>
              </a:rPr>
              <a:t>def</a:t>
            </a:r>
            <a:pPr>
              <a:lnSpc>
                <a:spcPct val="130000"/>
              </a:lnSpc>
            </a:pPr>
            <a:r>
              <a:rPr lang="en-US" sz="813" dirty="0">
                <a:solidFill>
                  <a:srgbClr val="3B82F6"/>
                </a:solidFill>
                <a:latin typeface="MiSans" pitchFamily="34" charset="0"/>
                <a:ea typeface="MiSans" pitchFamily="34" charset="-122"/>
                <a:cs typeface="MiSans" pitchFamily="34" charset="-120"/>
              </a:rPr>
              <a:t>get_top_video_batch</a:t>
            </a:r>
            <a:pPr>
              <a:lnSpc>
                <a:spcPct val="130000"/>
              </a:lnSpc>
            </a:pPr>
            <a:r>
              <a:rPr lang="en-US" sz="813" dirty="0">
                <a:solidFill>
                  <a:srgbClr val="F1F5F9"/>
                </a:solidFill>
                <a:latin typeface="MiSans" pitchFamily="34" charset="0"/>
                <a:ea typeface="MiSans" pitchFamily="34" charset="-122"/>
                <a:cs typeface="MiSans" pitchFamily="34" charset="-120"/>
              </a:rPr>
              <a:t>(path, batch_size=5000):</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 Đọc file CSV theo từng batch</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total_cols = pd.read_csv(path, nrows=1).shape[1]</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cumulative_sum = None</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row_count = 0</a:t>
            </a:r>
            <a:endParaRPr lang="en-US" sz="1600" dirty="0"/>
          </a:p>
          <a:p>
            <a:pPr>
              <a:lnSpc>
                <a:spcPct val="130000"/>
              </a:lnSpc>
            </a:pPr>
            <a:r>
              <a:rPr lang="en-US" sz="813" dirty="0">
                <a:solidFill>
                  <a:srgbClr val="8B5CF6"/>
                </a:solidFill>
                <a:latin typeface="MiSans" pitchFamily="34" charset="0"/>
                <a:ea typeface="MiSans" pitchFamily="34" charset="-122"/>
                <a:cs typeface="MiSans" pitchFamily="34" charset="-120"/>
              </a:rPr>
              <a:t>for</a:t>
            </a:r>
            <a:pPr>
              <a:lnSpc>
                <a:spcPct val="130000"/>
              </a:lnSpc>
            </a:pPr>
            <a:r>
              <a:rPr lang="en-US" sz="813" dirty="0">
                <a:solidFill>
                  <a:srgbClr val="F1F5F9"/>
                </a:solidFill>
                <a:latin typeface="MiSans" pitchFamily="34" charset="0"/>
                <a:ea typeface="MiSans" pitchFamily="34" charset="-122"/>
                <a:cs typeface="MiSans" pitchFamily="34" charset="-120"/>
              </a:rPr>
              <a:t> chunk </a:t>
            </a:r>
            <a:pPr>
              <a:lnSpc>
                <a:spcPct val="130000"/>
              </a:lnSpc>
            </a:pPr>
            <a:r>
              <a:rPr lang="en-US" sz="813" dirty="0">
                <a:solidFill>
                  <a:srgbClr val="8B5CF6"/>
                </a:solidFill>
                <a:latin typeface="MiSans" pitchFamily="34" charset="0"/>
                <a:ea typeface="MiSans" pitchFamily="34" charset="-122"/>
                <a:cs typeface="MiSans" pitchFamily="34" charset="-120"/>
              </a:rPr>
              <a:t>in</a:t>
            </a:r>
            <a:pPr>
              <a:lnSpc>
                <a:spcPct val="130000"/>
              </a:lnSpc>
            </a:pPr>
            <a:r>
              <a:rPr lang="en-US" sz="813" dirty="0">
                <a:solidFill>
                  <a:srgbClr val="F1F5F9"/>
                </a:solidFill>
                <a:latin typeface="MiSans" pitchFamily="34" charset="0"/>
                <a:ea typeface="MiSans" pitchFamily="34" charset="-122"/>
                <a:cs typeface="MiSans" pitchFamily="34" charset="-120"/>
              </a:rPr>
              <a:t> pd.read_csv(path, chunksize=batch_size):</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row_count += len(chunk)</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cumulative_sum = chunk.sum(axis=0) if cumulative_sum is None else cumulative_sum + chunk.sum(axis=0)</a:t>
            </a:r>
            <a:endParaRPr lang="en-US" sz="1600" dirty="0"/>
          </a:p>
          <a:p>
            <a:pPr>
              <a:lnSpc>
                <a:spcPct val="130000"/>
              </a:lnSpc>
            </a:pPr>
            <a:r>
              <a:rPr lang="en-US" sz="813" dirty="0">
                <a:solidFill>
                  <a:srgbClr val="F1F5F9"/>
                </a:solidFill>
                <a:latin typeface="MiSans" pitchFamily="34" charset="0"/>
                <a:ea typeface="MiSans" pitchFamily="34" charset="-122"/>
                <a:cs typeface="MiSans" pitchFamily="34" charset="-120"/>
              </a:rPr>
              <a:t>avg_ratio = cumulative_sum / row_count</a:t>
            </a:r>
            <a:endParaRPr lang="en-US" sz="1600" dirty="0"/>
          </a:p>
          <a:p>
            <a:pPr>
              <a:lnSpc>
                <a:spcPct val="130000"/>
              </a:lnSpc>
            </a:pPr>
            <a:r>
              <a:rPr lang="en-US" sz="813" dirty="0">
                <a:solidFill>
                  <a:srgbClr val="8B5CF6"/>
                </a:solidFill>
                <a:latin typeface="MiSans" pitchFamily="34" charset="0"/>
                <a:ea typeface="MiSans" pitchFamily="34" charset="-122"/>
                <a:cs typeface="MiSans" pitchFamily="34" charset="-120"/>
              </a:rPr>
              <a:t>return</a:t>
            </a:r>
            <a:pPr>
              <a:lnSpc>
                <a:spcPct val="130000"/>
              </a:lnSpc>
            </a:pPr>
            <a:r>
              <a:rPr lang="en-US" sz="813" dirty="0">
                <a:solidFill>
                  <a:srgbClr val="F1F5F9"/>
                </a:solidFill>
                <a:latin typeface="MiSans" pitchFamily="34" charset="0"/>
                <a:ea typeface="MiSans" pitchFamily="34" charset="-122"/>
                <a:cs typeface="MiSans" pitchFamily="34" charset="-120"/>
              </a:rPr>
              <a:t> avg_ratio.idxmax()</a:t>
            </a:r>
            <a:endParaRPr lang="en-US" sz="1600" dirty="0"/>
          </a:p>
        </p:txBody>
      </p:sp>
      <p:sp>
        <p:nvSpPr>
          <p:cNvPr id="43" name="Shape 41"/>
          <p:cNvSpPr/>
          <p:nvPr/>
        </p:nvSpPr>
        <p:spPr>
          <a:xfrm>
            <a:off x="6179344" y="5623719"/>
            <a:ext cx="5691188" cy="1698625"/>
          </a:xfrm>
          <a:custGeom>
            <a:avLst/>
            <a:gdLst/>
            <a:ahLst/>
            <a:cxnLst/>
            <a:rect l="l" t="t" r="r" b="b"/>
            <a:pathLst>
              <a:path w="5691188" h="1698625">
                <a:moveTo>
                  <a:pt x="95242" y="0"/>
                </a:moveTo>
                <a:lnTo>
                  <a:pt x="5595946" y="0"/>
                </a:lnTo>
                <a:cubicBezTo>
                  <a:pt x="5648546" y="0"/>
                  <a:pt x="5691188" y="42641"/>
                  <a:pt x="5691188" y="95242"/>
                </a:cubicBezTo>
                <a:lnTo>
                  <a:pt x="5691188" y="1603383"/>
                </a:lnTo>
                <a:cubicBezTo>
                  <a:pt x="5691188" y="1655984"/>
                  <a:pt x="5648546" y="1698625"/>
                  <a:pt x="5595946" y="1698625"/>
                </a:cubicBezTo>
                <a:lnTo>
                  <a:pt x="95242" y="1698625"/>
                </a:lnTo>
                <a:cubicBezTo>
                  <a:pt x="42641" y="1698625"/>
                  <a:pt x="0" y="1655984"/>
                  <a:pt x="0" y="1603383"/>
                </a:cubicBezTo>
                <a:lnTo>
                  <a:pt x="0" y="95242"/>
                </a:lnTo>
                <a:cubicBezTo>
                  <a:pt x="0" y="42676"/>
                  <a:pt x="42676" y="0"/>
                  <a:pt x="95242" y="0"/>
                </a:cubicBezTo>
                <a:close/>
              </a:path>
            </a:pathLst>
          </a:custGeom>
          <a:gradFill rotWithShape="1" flip="none">
            <a:gsLst>
              <a:gs pos="0">
                <a:srgbClr val="10B981">
                  <a:alpha val="10000"/>
                </a:srgbClr>
              </a:gs>
              <a:gs pos="100000">
                <a:srgbClr val="10B981">
                  <a:alpha val="5000"/>
                </a:srgbClr>
              </a:gs>
            </a:gsLst>
            <a:lin ang="0" scaled="1"/>
          </a:gradFill>
          <a:ln w="12700">
            <a:solidFill>
              <a:srgbClr val="10B981">
                <a:alpha val="30196"/>
              </a:srgbClr>
            </a:solidFill>
            <a:prstDash val="solid"/>
          </a:ln>
        </p:spPr>
      </p:sp>
      <p:sp>
        <p:nvSpPr>
          <p:cNvPr id="44" name="Text 42"/>
          <p:cNvSpPr/>
          <p:nvPr/>
        </p:nvSpPr>
        <p:spPr>
          <a:xfrm>
            <a:off x="6310313" y="5754688"/>
            <a:ext cx="5500688" cy="222250"/>
          </a:xfrm>
          <a:prstGeom prst="rect">
            <a:avLst/>
          </a:prstGeom>
          <a:noFill/>
          <a:ln/>
        </p:spPr>
        <p:txBody>
          <a:bodyPr wrap="square" lIns="0" tIns="0" rIns="0" bIns="0" rtlCol="0" anchor="ctr"/>
          <a:lstStyle/>
          <a:p>
            <a:pPr>
              <a:lnSpc>
                <a:spcPct val="130000"/>
              </a:lnSpc>
            </a:pPr>
            <a:r>
              <a:rPr lang="en-US" sz="1125" b="1" dirty="0">
                <a:solidFill>
                  <a:srgbClr val="F1F5F9"/>
                </a:solidFill>
                <a:latin typeface="MiSans" pitchFamily="34" charset="0"/>
                <a:ea typeface="MiSans" pitchFamily="34" charset="-122"/>
                <a:cs typeface="MiSans" pitchFamily="34" charset="-120"/>
              </a:rPr>
              <a:t>Cải thiện</a:t>
            </a:r>
            <a:endParaRPr lang="en-US" sz="1600" dirty="0"/>
          </a:p>
        </p:txBody>
      </p:sp>
      <p:sp>
        <p:nvSpPr>
          <p:cNvPr id="45" name="Shape 43"/>
          <p:cNvSpPr/>
          <p:nvPr/>
        </p:nvSpPr>
        <p:spPr>
          <a:xfrm>
            <a:off x="6310313" y="6072188"/>
            <a:ext cx="2667000" cy="762000"/>
          </a:xfrm>
          <a:custGeom>
            <a:avLst/>
            <a:gdLst/>
            <a:ahLst/>
            <a:cxnLst/>
            <a:rect l="l" t="t" r="r" b="b"/>
            <a:pathLst>
              <a:path w="2667000" h="762000">
                <a:moveTo>
                  <a:pt x="63497" y="0"/>
                </a:moveTo>
                <a:lnTo>
                  <a:pt x="2603503" y="0"/>
                </a:lnTo>
                <a:cubicBezTo>
                  <a:pt x="2638571" y="0"/>
                  <a:pt x="2667000" y="28429"/>
                  <a:pt x="2667000" y="63497"/>
                </a:cubicBezTo>
                <a:lnTo>
                  <a:pt x="2667000" y="698503"/>
                </a:lnTo>
                <a:cubicBezTo>
                  <a:pt x="2667000" y="733571"/>
                  <a:pt x="2638571" y="762000"/>
                  <a:pt x="2603503" y="762000"/>
                </a:cubicBezTo>
                <a:lnTo>
                  <a:pt x="63497" y="762000"/>
                </a:lnTo>
                <a:cubicBezTo>
                  <a:pt x="28429" y="762000"/>
                  <a:pt x="0" y="733571"/>
                  <a:pt x="0" y="698503"/>
                </a:cubicBezTo>
                <a:lnTo>
                  <a:pt x="0" y="63497"/>
                </a:lnTo>
                <a:cubicBezTo>
                  <a:pt x="0" y="28452"/>
                  <a:pt x="28452" y="0"/>
                  <a:pt x="63497" y="0"/>
                </a:cubicBezTo>
                <a:close/>
              </a:path>
            </a:pathLst>
          </a:custGeom>
          <a:solidFill>
            <a:srgbClr val="0F172A"/>
          </a:solidFill>
          <a:ln/>
        </p:spPr>
      </p:sp>
      <p:sp>
        <p:nvSpPr>
          <p:cNvPr id="46" name="Text 44"/>
          <p:cNvSpPr/>
          <p:nvPr/>
        </p:nvSpPr>
        <p:spPr>
          <a:xfrm>
            <a:off x="6377781" y="6167438"/>
            <a:ext cx="2532063" cy="158750"/>
          </a:xfrm>
          <a:prstGeom prst="rect">
            <a:avLst/>
          </a:prstGeom>
          <a:noFill/>
          <a:ln/>
        </p:spPr>
        <p:txBody>
          <a:bodyPr wrap="square" lIns="0" tIns="0" rIns="0" bIns="0" rtlCol="0" anchor="ctr"/>
          <a:lstStyle/>
          <a:p>
            <a:pPr algn="ctr">
              <a:lnSpc>
                <a:spcPct val="120000"/>
              </a:lnSpc>
            </a:pPr>
            <a:r>
              <a:rPr lang="en-US" sz="875" dirty="0">
                <a:solidFill>
                  <a:srgbClr val="F1F5F9">
                    <a:alpha val="60000"/>
                  </a:srgbClr>
                </a:solidFill>
                <a:latin typeface="MiSans" pitchFamily="34" charset="0"/>
                <a:ea typeface="MiSans" pitchFamily="34" charset="-122"/>
                <a:cs typeface="MiSans" pitchFamily="34" charset="-120"/>
              </a:rPr>
              <a:t>Trước</a:t>
            </a:r>
            <a:endParaRPr lang="en-US" sz="1600" dirty="0"/>
          </a:p>
        </p:txBody>
      </p:sp>
      <p:sp>
        <p:nvSpPr>
          <p:cNvPr id="47" name="Text 45"/>
          <p:cNvSpPr/>
          <p:nvPr/>
        </p:nvSpPr>
        <p:spPr>
          <a:xfrm>
            <a:off x="6357938" y="6357938"/>
            <a:ext cx="2571750" cy="254000"/>
          </a:xfrm>
          <a:prstGeom prst="rect">
            <a:avLst/>
          </a:prstGeom>
          <a:noFill/>
          <a:ln/>
        </p:spPr>
        <p:txBody>
          <a:bodyPr wrap="square" lIns="0" tIns="0" rIns="0" bIns="0" rtlCol="0" anchor="ctr"/>
          <a:lstStyle/>
          <a:p>
            <a:pPr algn="ctr">
              <a:lnSpc>
                <a:spcPct val="110000"/>
              </a:lnSpc>
            </a:pPr>
            <a:r>
              <a:rPr lang="en-US" sz="1500" b="1" dirty="0">
                <a:solidFill>
                  <a:srgbClr val="EF4444"/>
                </a:solidFill>
                <a:latin typeface="MiSans" pitchFamily="34" charset="0"/>
                <a:ea typeface="MiSans" pitchFamily="34" charset="-122"/>
                <a:cs typeface="MiSans" pitchFamily="34" charset="-120"/>
              </a:rPr>
              <a:t>~80 GB</a:t>
            </a:r>
            <a:endParaRPr lang="en-US" sz="1600" dirty="0"/>
          </a:p>
        </p:txBody>
      </p:sp>
      <p:sp>
        <p:nvSpPr>
          <p:cNvPr id="48" name="Text 46"/>
          <p:cNvSpPr/>
          <p:nvPr/>
        </p:nvSpPr>
        <p:spPr>
          <a:xfrm>
            <a:off x="6381750" y="6611938"/>
            <a:ext cx="2524125" cy="127000"/>
          </a:xfrm>
          <a:prstGeom prst="rect">
            <a:avLst/>
          </a:prstGeom>
          <a:noFill/>
          <a:ln/>
        </p:spPr>
        <p:txBody>
          <a:bodyPr wrap="square" lIns="0" tIns="0" rIns="0" bIns="0" rtlCol="0" anchor="ctr"/>
          <a:lstStyle/>
          <a:p>
            <a:pPr algn="ctr">
              <a:lnSpc>
                <a:spcPct val="110000"/>
              </a:lnSpc>
            </a:pPr>
            <a:r>
              <a:rPr lang="en-US" sz="750" dirty="0">
                <a:solidFill>
                  <a:srgbClr val="F1F5F9">
                    <a:alpha val="50000"/>
                  </a:srgbClr>
                </a:solidFill>
                <a:latin typeface="MiSans" pitchFamily="34" charset="0"/>
                <a:ea typeface="MiSans" pitchFamily="34" charset="-122"/>
                <a:cs typeface="MiSans" pitchFamily="34" charset="-120"/>
              </a:rPr>
              <a:t>Đọc toàn bộ</a:t>
            </a:r>
            <a:endParaRPr lang="en-US" sz="1600" dirty="0"/>
          </a:p>
        </p:txBody>
      </p:sp>
      <p:sp>
        <p:nvSpPr>
          <p:cNvPr id="49" name="Shape 47"/>
          <p:cNvSpPr/>
          <p:nvPr/>
        </p:nvSpPr>
        <p:spPr>
          <a:xfrm>
            <a:off x="9072563" y="6072188"/>
            <a:ext cx="2667000" cy="762000"/>
          </a:xfrm>
          <a:custGeom>
            <a:avLst/>
            <a:gdLst/>
            <a:ahLst/>
            <a:cxnLst/>
            <a:rect l="l" t="t" r="r" b="b"/>
            <a:pathLst>
              <a:path w="2667000" h="762000">
                <a:moveTo>
                  <a:pt x="63497" y="0"/>
                </a:moveTo>
                <a:lnTo>
                  <a:pt x="2603503" y="0"/>
                </a:lnTo>
                <a:cubicBezTo>
                  <a:pt x="2638571" y="0"/>
                  <a:pt x="2667000" y="28429"/>
                  <a:pt x="2667000" y="63497"/>
                </a:cubicBezTo>
                <a:lnTo>
                  <a:pt x="2667000" y="698503"/>
                </a:lnTo>
                <a:cubicBezTo>
                  <a:pt x="2667000" y="733571"/>
                  <a:pt x="2638571" y="762000"/>
                  <a:pt x="2603503" y="762000"/>
                </a:cubicBezTo>
                <a:lnTo>
                  <a:pt x="63497" y="762000"/>
                </a:lnTo>
                <a:cubicBezTo>
                  <a:pt x="28429" y="762000"/>
                  <a:pt x="0" y="733571"/>
                  <a:pt x="0" y="698503"/>
                </a:cubicBezTo>
                <a:lnTo>
                  <a:pt x="0" y="63497"/>
                </a:lnTo>
                <a:cubicBezTo>
                  <a:pt x="0" y="28452"/>
                  <a:pt x="28452" y="0"/>
                  <a:pt x="63497" y="0"/>
                </a:cubicBezTo>
                <a:close/>
              </a:path>
            </a:pathLst>
          </a:custGeom>
          <a:solidFill>
            <a:srgbClr val="0F172A"/>
          </a:solidFill>
          <a:ln/>
        </p:spPr>
      </p:sp>
      <p:sp>
        <p:nvSpPr>
          <p:cNvPr id="50" name="Text 48"/>
          <p:cNvSpPr/>
          <p:nvPr/>
        </p:nvSpPr>
        <p:spPr>
          <a:xfrm>
            <a:off x="9140031" y="6167438"/>
            <a:ext cx="2532063" cy="158750"/>
          </a:xfrm>
          <a:prstGeom prst="rect">
            <a:avLst/>
          </a:prstGeom>
          <a:noFill/>
          <a:ln/>
        </p:spPr>
        <p:txBody>
          <a:bodyPr wrap="square" lIns="0" tIns="0" rIns="0" bIns="0" rtlCol="0" anchor="ctr"/>
          <a:lstStyle/>
          <a:p>
            <a:pPr algn="ctr">
              <a:lnSpc>
                <a:spcPct val="120000"/>
              </a:lnSpc>
            </a:pPr>
            <a:r>
              <a:rPr lang="en-US" sz="875" dirty="0">
                <a:solidFill>
                  <a:srgbClr val="F1F5F9">
                    <a:alpha val="60000"/>
                  </a:srgbClr>
                </a:solidFill>
                <a:latin typeface="MiSans" pitchFamily="34" charset="0"/>
                <a:ea typeface="MiSans" pitchFamily="34" charset="-122"/>
                <a:cs typeface="MiSans" pitchFamily="34" charset="-120"/>
              </a:rPr>
              <a:t>Sau</a:t>
            </a:r>
            <a:endParaRPr lang="en-US" sz="1600" dirty="0"/>
          </a:p>
        </p:txBody>
      </p:sp>
      <p:sp>
        <p:nvSpPr>
          <p:cNvPr id="51" name="Text 49"/>
          <p:cNvSpPr/>
          <p:nvPr/>
        </p:nvSpPr>
        <p:spPr>
          <a:xfrm>
            <a:off x="9120188" y="6357938"/>
            <a:ext cx="2571750" cy="254000"/>
          </a:xfrm>
          <a:prstGeom prst="rect">
            <a:avLst/>
          </a:prstGeom>
          <a:noFill/>
          <a:ln/>
        </p:spPr>
        <p:txBody>
          <a:bodyPr wrap="square" lIns="0" tIns="0" rIns="0" bIns="0" rtlCol="0" anchor="ctr"/>
          <a:lstStyle/>
          <a:p>
            <a:pPr algn="ctr">
              <a:lnSpc>
                <a:spcPct val="110000"/>
              </a:lnSpc>
            </a:pPr>
            <a:r>
              <a:rPr lang="en-US" sz="1500" b="1" dirty="0">
                <a:solidFill>
                  <a:srgbClr val="10B981"/>
                </a:solidFill>
                <a:latin typeface="MiSans" pitchFamily="34" charset="0"/>
                <a:ea typeface="MiSans" pitchFamily="34" charset="-122"/>
                <a:cs typeface="MiSans" pitchFamily="34" charset="-120"/>
              </a:rPr>
              <a:t>~250 MB</a:t>
            </a:r>
            <a:endParaRPr lang="en-US" sz="1600" dirty="0"/>
          </a:p>
        </p:txBody>
      </p:sp>
      <p:sp>
        <p:nvSpPr>
          <p:cNvPr id="52" name="Text 50"/>
          <p:cNvSpPr/>
          <p:nvPr/>
        </p:nvSpPr>
        <p:spPr>
          <a:xfrm>
            <a:off x="9144000" y="6611938"/>
            <a:ext cx="2524125" cy="127000"/>
          </a:xfrm>
          <a:prstGeom prst="rect">
            <a:avLst/>
          </a:prstGeom>
          <a:noFill/>
          <a:ln/>
        </p:spPr>
        <p:txBody>
          <a:bodyPr wrap="square" lIns="0" tIns="0" rIns="0" bIns="0" rtlCol="0" anchor="ctr"/>
          <a:lstStyle/>
          <a:p>
            <a:pPr algn="ctr">
              <a:lnSpc>
                <a:spcPct val="110000"/>
              </a:lnSpc>
            </a:pPr>
            <a:r>
              <a:rPr lang="en-US" sz="750" dirty="0">
                <a:solidFill>
                  <a:srgbClr val="F1F5F9">
                    <a:alpha val="50000"/>
                  </a:srgbClr>
                </a:solidFill>
                <a:latin typeface="MiSans" pitchFamily="34" charset="0"/>
                <a:ea typeface="MiSans" pitchFamily="34" charset="-122"/>
                <a:cs typeface="MiSans" pitchFamily="34" charset="-120"/>
              </a:rPr>
              <a:t>Batch 5,000 rows</a:t>
            </a:r>
            <a:endParaRPr lang="en-US" sz="1600" dirty="0"/>
          </a:p>
        </p:txBody>
      </p:sp>
      <p:sp>
        <p:nvSpPr>
          <p:cNvPr id="53" name="Shape 51"/>
          <p:cNvSpPr/>
          <p:nvPr/>
        </p:nvSpPr>
        <p:spPr>
          <a:xfrm>
            <a:off x="6310313" y="6933406"/>
            <a:ext cx="5429250" cy="7938"/>
          </a:xfrm>
          <a:custGeom>
            <a:avLst/>
            <a:gdLst/>
            <a:ahLst/>
            <a:cxnLst/>
            <a:rect l="l" t="t" r="r" b="b"/>
            <a:pathLst>
              <a:path w="5429250" h="7938">
                <a:moveTo>
                  <a:pt x="0" y="0"/>
                </a:moveTo>
                <a:lnTo>
                  <a:pt x="5429250" y="0"/>
                </a:lnTo>
                <a:lnTo>
                  <a:pt x="5429250" y="7938"/>
                </a:lnTo>
                <a:lnTo>
                  <a:pt x="0" y="7938"/>
                </a:lnTo>
                <a:lnTo>
                  <a:pt x="0" y="0"/>
                </a:lnTo>
                <a:close/>
              </a:path>
            </a:pathLst>
          </a:custGeom>
          <a:solidFill>
            <a:srgbClr val="F1F5F9">
              <a:alpha val="10196"/>
            </a:srgbClr>
          </a:solidFill>
          <a:ln/>
        </p:spPr>
      </p:sp>
      <p:sp>
        <p:nvSpPr>
          <p:cNvPr id="54" name="Shape 52"/>
          <p:cNvSpPr/>
          <p:nvPr/>
        </p:nvSpPr>
        <p:spPr>
          <a:xfrm>
            <a:off x="7724800" y="7064375"/>
            <a:ext cx="111125" cy="111125"/>
          </a:xfrm>
          <a:custGeom>
            <a:avLst/>
            <a:gdLst/>
            <a:ahLst/>
            <a:cxnLst/>
            <a:rect l="l" t="t" r="r" b="b"/>
            <a:pathLst>
              <a:path w="111125" h="111125">
                <a:moveTo>
                  <a:pt x="109085" y="32686"/>
                </a:moveTo>
                <a:lnTo>
                  <a:pt x="88249" y="53522"/>
                </a:lnTo>
                <a:cubicBezTo>
                  <a:pt x="86252" y="55519"/>
                  <a:pt x="83279" y="56105"/>
                  <a:pt x="80674" y="55020"/>
                </a:cubicBezTo>
                <a:cubicBezTo>
                  <a:pt x="78070" y="53935"/>
                  <a:pt x="76398" y="51417"/>
                  <a:pt x="76398" y="48617"/>
                </a:cubicBezTo>
                <a:lnTo>
                  <a:pt x="76398" y="34727"/>
                </a:lnTo>
                <a:lnTo>
                  <a:pt x="6945" y="34727"/>
                </a:lnTo>
                <a:cubicBezTo>
                  <a:pt x="3104" y="34727"/>
                  <a:pt x="0" y="31623"/>
                  <a:pt x="0" y="27781"/>
                </a:cubicBezTo>
                <a:cubicBezTo>
                  <a:pt x="0" y="23940"/>
                  <a:pt x="3104" y="20836"/>
                  <a:pt x="6945" y="20836"/>
                </a:cubicBezTo>
                <a:lnTo>
                  <a:pt x="76398" y="20836"/>
                </a:lnTo>
                <a:lnTo>
                  <a:pt x="76398" y="6945"/>
                </a:lnTo>
                <a:cubicBezTo>
                  <a:pt x="76398" y="4145"/>
                  <a:pt x="78091" y="1606"/>
                  <a:pt x="80696" y="521"/>
                </a:cubicBezTo>
                <a:cubicBezTo>
                  <a:pt x="83300" y="-564"/>
                  <a:pt x="86274" y="43"/>
                  <a:pt x="88271" y="2018"/>
                </a:cubicBezTo>
                <a:lnTo>
                  <a:pt x="109107" y="22854"/>
                </a:lnTo>
                <a:cubicBezTo>
                  <a:pt x="111820" y="25567"/>
                  <a:pt x="111820" y="29973"/>
                  <a:pt x="109107" y="32686"/>
                </a:cubicBezTo>
                <a:close/>
                <a:moveTo>
                  <a:pt x="22854" y="109085"/>
                </a:moveTo>
                <a:lnTo>
                  <a:pt x="2018" y="88249"/>
                </a:lnTo>
                <a:cubicBezTo>
                  <a:pt x="-695" y="85536"/>
                  <a:pt x="-695" y="81130"/>
                  <a:pt x="2018" y="78417"/>
                </a:cubicBezTo>
                <a:lnTo>
                  <a:pt x="22854" y="57581"/>
                </a:lnTo>
                <a:cubicBezTo>
                  <a:pt x="24851" y="55584"/>
                  <a:pt x="27825" y="54998"/>
                  <a:pt x="30429" y="56083"/>
                </a:cubicBezTo>
                <a:cubicBezTo>
                  <a:pt x="33034" y="57169"/>
                  <a:pt x="34727" y="59708"/>
                  <a:pt x="34727" y="62508"/>
                </a:cubicBezTo>
                <a:lnTo>
                  <a:pt x="34727" y="76398"/>
                </a:lnTo>
                <a:lnTo>
                  <a:pt x="104180" y="76398"/>
                </a:lnTo>
                <a:cubicBezTo>
                  <a:pt x="108021" y="76398"/>
                  <a:pt x="111125" y="79502"/>
                  <a:pt x="111125" y="83344"/>
                </a:cubicBezTo>
                <a:cubicBezTo>
                  <a:pt x="111125" y="87185"/>
                  <a:pt x="108021" y="90289"/>
                  <a:pt x="104180" y="90289"/>
                </a:cubicBezTo>
                <a:lnTo>
                  <a:pt x="34727" y="90289"/>
                </a:lnTo>
                <a:lnTo>
                  <a:pt x="34727" y="104180"/>
                </a:lnTo>
                <a:cubicBezTo>
                  <a:pt x="34727" y="106980"/>
                  <a:pt x="33034" y="109519"/>
                  <a:pt x="30429" y="110604"/>
                </a:cubicBezTo>
                <a:cubicBezTo>
                  <a:pt x="27825" y="111689"/>
                  <a:pt x="24851" y="111082"/>
                  <a:pt x="22854" y="109107"/>
                </a:cubicBezTo>
                <a:close/>
              </a:path>
            </a:pathLst>
          </a:custGeom>
          <a:solidFill>
            <a:srgbClr val="F59E0B"/>
          </a:solidFill>
          <a:ln/>
        </p:spPr>
      </p:sp>
      <p:sp>
        <p:nvSpPr>
          <p:cNvPr id="55" name="Text 53"/>
          <p:cNvSpPr/>
          <p:nvPr/>
        </p:nvSpPr>
        <p:spPr>
          <a:xfrm>
            <a:off x="6465094" y="7032625"/>
            <a:ext cx="5302250" cy="158750"/>
          </a:xfrm>
          <a:prstGeom prst="rect">
            <a:avLst/>
          </a:prstGeom>
          <a:noFill/>
          <a:ln/>
        </p:spPr>
        <p:txBody>
          <a:bodyPr wrap="square" lIns="0" tIns="0" rIns="0" bIns="0" rtlCol="0" anchor="ctr"/>
          <a:lstStyle/>
          <a:p>
            <a:pPr algn="ctr">
              <a:lnSpc>
                <a:spcPct val="120000"/>
              </a:lnSpc>
            </a:pPr>
            <a:r>
              <a:rPr lang="en-US" sz="875" b="1" dirty="0">
                <a:solidFill>
                  <a:srgbClr val="F1F5F9">
                    <a:alpha val="80000"/>
                  </a:srgbClr>
                </a:solidFill>
                <a:latin typeface="MiSans" pitchFamily="34" charset="0"/>
                <a:ea typeface="MiSans" pitchFamily="34" charset="-122"/>
                <a:cs typeface="MiSans" pitchFamily="34" charset="-120"/>
              </a:rPr>
              <a:t>Tradeoff:</a:t>
            </a:r>
            <a:pPr algn="ctr">
              <a:lnSpc>
                <a:spcPct val="120000"/>
              </a:lnSpc>
            </a:pPr>
            <a:r>
              <a:rPr lang="en-US" sz="875" dirty="0">
                <a:solidFill>
                  <a:srgbClr val="F1F5F9">
                    <a:alpha val="80000"/>
                  </a:srgbClr>
                </a:solidFill>
                <a:latin typeface="MiSans" pitchFamily="34" charset="0"/>
                <a:ea typeface="MiSans" pitchFamily="34" charset="-122"/>
                <a:cs typeface="MiSans" pitchFamily="34" charset="-120"/>
              </a:rPr>
              <a:t> Lấy thêm thờigian để xử lý từng batch</a:t>
            </a:r>
            <a:endParaRPr lang="en-US" sz="1600" dirty="0"/>
          </a:p>
        </p:txBody>
      </p:sp>
    </p:spTree>
  </p:cSld>
  <p:clrMapOvr>
    <a:masterClrMapping/>
  </p:clrMapOvr>
  <p:transition>
    <p:fade/>
    <p:spd val="med"/>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77441" y="561975"/>
            <a:ext cx="192881" cy="171450"/>
          </a:xfrm>
          <a:custGeom>
            <a:avLst/>
            <a:gdLst/>
            <a:ahLst/>
            <a:cxnLst/>
            <a:rect l="l" t="t" r="r" b="b"/>
            <a:pathLst>
              <a:path w="192881" h="171450">
                <a:moveTo>
                  <a:pt x="171584" y="80367"/>
                </a:moveTo>
                <a:lnTo>
                  <a:pt x="112648" y="80367"/>
                </a:lnTo>
                <a:cubicBezTo>
                  <a:pt x="106721" y="80367"/>
                  <a:pt x="101932" y="75579"/>
                  <a:pt x="101932" y="69652"/>
                </a:cubicBezTo>
                <a:lnTo>
                  <a:pt x="101932" y="10716"/>
                </a:lnTo>
                <a:cubicBezTo>
                  <a:pt x="101932" y="4789"/>
                  <a:pt x="106754" y="-67"/>
                  <a:pt x="112615" y="703"/>
                </a:cubicBezTo>
                <a:cubicBezTo>
                  <a:pt x="148445" y="5458"/>
                  <a:pt x="176841" y="33855"/>
                  <a:pt x="181596" y="69685"/>
                </a:cubicBezTo>
                <a:cubicBezTo>
                  <a:pt x="182367" y="75545"/>
                  <a:pt x="177511" y="80367"/>
                  <a:pt x="171584" y="80367"/>
                </a:cubicBezTo>
                <a:close/>
                <a:moveTo>
                  <a:pt x="74541" y="12457"/>
                </a:moveTo>
                <a:cubicBezTo>
                  <a:pt x="80602" y="11184"/>
                  <a:pt x="85859" y="16140"/>
                  <a:pt x="85859" y="22335"/>
                </a:cubicBezTo>
                <a:lnTo>
                  <a:pt x="85859" y="88404"/>
                </a:lnTo>
                <a:cubicBezTo>
                  <a:pt x="85859" y="90279"/>
                  <a:pt x="86529" y="92087"/>
                  <a:pt x="87701" y="93527"/>
                </a:cubicBezTo>
                <a:lnTo>
                  <a:pt x="131936" y="146905"/>
                </a:lnTo>
                <a:cubicBezTo>
                  <a:pt x="135854" y="151626"/>
                  <a:pt x="135017" y="158759"/>
                  <a:pt x="129626" y="161672"/>
                </a:cubicBezTo>
                <a:cubicBezTo>
                  <a:pt x="118207" y="167900"/>
                  <a:pt x="105114" y="171450"/>
                  <a:pt x="91217" y="171450"/>
                </a:cubicBezTo>
                <a:cubicBezTo>
                  <a:pt x="46847" y="171450"/>
                  <a:pt x="10850" y="135452"/>
                  <a:pt x="10850" y="91083"/>
                </a:cubicBezTo>
                <a:cubicBezTo>
                  <a:pt x="10850" y="52406"/>
                  <a:pt x="38141" y="20125"/>
                  <a:pt x="74541" y="12457"/>
                </a:cubicBezTo>
                <a:close/>
                <a:moveTo>
                  <a:pt x="159998" y="96441"/>
                </a:moveTo>
                <a:lnTo>
                  <a:pt x="181429" y="96441"/>
                </a:lnTo>
                <a:cubicBezTo>
                  <a:pt x="187624" y="96441"/>
                  <a:pt x="192580" y="101698"/>
                  <a:pt x="191307" y="107759"/>
                </a:cubicBezTo>
                <a:cubicBezTo>
                  <a:pt x="187892" y="123966"/>
                  <a:pt x="179587" y="138366"/>
                  <a:pt x="168001" y="149349"/>
                </a:cubicBezTo>
                <a:cubicBezTo>
                  <a:pt x="163882" y="153267"/>
                  <a:pt x="157419" y="152430"/>
                  <a:pt x="153803" y="148043"/>
                </a:cubicBezTo>
                <a:lnTo>
                  <a:pt x="125540" y="113987"/>
                </a:lnTo>
                <a:cubicBezTo>
                  <a:pt x="119747" y="106989"/>
                  <a:pt x="124737" y="96441"/>
                  <a:pt x="133778" y="96441"/>
                </a:cubicBezTo>
                <a:lnTo>
                  <a:pt x="159964" y="96441"/>
                </a:lnTo>
                <a:close/>
              </a:path>
            </a:pathLst>
          </a:custGeom>
          <a:solidFill>
            <a:srgbClr val="FFFFFF"/>
          </a:solidFill>
          <a:ln/>
        </p:spPr>
      </p:sp>
      <p:sp>
        <p:nvSpPr>
          <p:cNvPr id="4" name="Text 2"/>
          <p:cNvSpPr/>
          <p:nvPr/>
        </p:nvSpPr>
        <p:spPr>
          <a:xfrm>
            <a:off x="876300" y="381000"/>
            <a:ext cx="635317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14 | PHÂN TÍCH</a:t>
            </a:r>
            <a:endParaRPr lang="en-US" sz="1600" dirty="0"/>
          </a:p>
        </p:txBody>
      </p:sp>
      <p:sp>
        <p:nvSpPr>
          <p:cNvPr id="5" name="Text 3"/>
          <p:cNvSpPr/>
          <p:nvPr/>
        </p:nvSpPr>
        <p:spPr>
          <a:xfrm>
            <a:off x="876300" y="571500"/>
            <a:ext cx="64293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Phân tích: Tầm quan trọng và khi nào nên tối ưu</a:t>
            </a:r>
            <a:endParaRPr lang="en-US" sz="1600" dirty="0"/>
          </a:p>
        </p:txBody>
      </p:sp>
      <p:sp>
        <p:nvSpPr>
          <p:cNvPr id="6" name="Shape 4"/>
          <p:cNvSpPr/>
          <p:nvPr/>
        </p:nvSpPr>
        <p:spPr>
          <a:xfrm>
            <a:off x="385763" y="1147763"/>
            <a:ext cx="5610225" cy="4048125"/>
          </a:xfrm>
          <a:custGeom>
            <a:avLst/>
            <a:gdLst/>
            <a:ahLst/>
            <a:cxnLst/>
            <a:rect l="l" t="t" r="r" b="b"/>
            <a:pathLst>
              <a:path w="5610225" h="4048125">
                <a:moveTo>
                  <a:pt x="114319" y="0"/>
                </a:moveTo>
                <a:lnTo>
                  <a:pt x="5495906" y="0"/>
                </a:lnTo>
                <a:cubicBezTo>
                  <a:pt x="5559043" y="0"/>
                  <a:pt x="5610225" y="51182"/>
                  <a:pt x="5610225" y="114319"/>
                </a:cubicBezTo>
                <a:lnTo>
                  <a:pt x="5610225" y="3933806"/>
                </a:lnTo>
                <a:cubicBezTo>
                  <a:pt x="5610225" y="3996943"/>
                  <a:pt x="5559043" y="4048125"/>
                  <a:pt x="5495906" y="4048125"/>
                </a:cubicBezTo>
                <a:lnTo>
                  <a:pt x="114319" y="4048125"/>
                </a:lnTo>
                <a:cubicBezTo>
                  <a:pt x="51182" y="4048125"/>
                  <a:pt x="0" y="3996943"/>
                  <a:pt x="0" y="3933806"/>
                </a:cubicBezTo>
                <a:lnTo>
                  <a:pt x="0" y="114319"/>
                </a:lnTo>
                <a:cubicBezTo>
                  <a:pt x="0" y="51225"/>
                  <a:pt x="51225" y="0"/>
                  <a:pt x="114319"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92931" y="1381125"/>
            <a:ext cx="214313" cy="190500"/>
          </a:xfrm>
          <a:custGeom>
            <a:avLst/>
            <a:gdLst/>
            <a:ahLst/>
            <a:cxnLst/>
            <a:rect l="l" t="t" r="r" b="b"/>
            <a:pathLst>
              <a:path w="214313" h="190500">
                <a:moveTo>
                  <a:pt x="115156" y="-7032"/>
                </a:moveTo>
                <a:cubicBezTo>
                  <a:pt x="113630" y="-10009"/>
                  <a:pt x="110542" y="-11906"/>
                  <a:pt x="107193" y="-11906"/>
                </a:cubicBezTo>
                <a:cubicBezTo>
                  <a:pt x="103845" y="-11906"/>
                  <a:pt x="100757" y="-10009"/>
                  <a:pt x="99231" y="-7032"/>
                </a:cubicBezTo>
                <a:lnTo>
                  <a:pt x="71847" y="46620"/>
                </a:lnTo>
                <a:lnTo>
                  <a:pt x="12353" y="56071"/>
                </a:lnTo>
                <a:cubicBezTo>
                  <a:pt x="9041" y="56592"/>
                  <a:pt x="6288" y="58936"/>
                  <a:pt x="5246" y="62136"/>
                </a:cubicBezTo>
                <a:cubicBezTo>
                  <a:pt x="4204" y="65336"/>
                  <a:pt x="5060" y="68833"/>
                  <a:pt x="7404" y="71214"/>
                </a:cubicBezTo>
                <a:lnTo>
                  <a:pt x="49969" y="113816"/>
                </a:lnTo>
                <a:lnTo>
                  <a:pt x="40593" y="173310"/>
                </a:lnTo>
                <a:cubicBezTo>
                  <a:pt x="40072" y="176622"/>
                  <a:pt x="41449" y="179970"/>
                  <a:pt x="44165" y="181942"/>
                </a:cubicBezTo>
                <a:cubicBezTo>
                  <a:pt x="46881" y="183914"/>
                  <a:pt x="50453" y="184212"/>
                  <a:pt x="53467" y="182687"/>
                </a:cubicBezTo>
                <a:lnTo>
                  <a:pt x="107193" y="155377"/>
                </a:lnTo>
                <a:lnTo>
                  <a:pt x="160883" y="182687"/>
                </a:lnTo>
                <a:cubicBezTo>
                  <a:pt x="163860" y="184212"/>
                  <a:pt x="167469" y="183914"/>
                  <a:pt x="170185" y="181942"/>
                </a:cubicBezTo>
                <a:cubicBezTo>
                  <a:pt x="172901" y="179970"/>
                  <a:pt x="174278" y="176659"/>
                  <a:pt x="173757" y="173310"/>
                </a:cubicBezTo>
                <a:lnTo>
                  <a:pt x="164343" y="113816"/>
                </a:lnTo>
                <a:lnTo>
                  <a:pt x="206908" y="71214"/>
                </a:lnTo>
                <a:cubicBezTo>
                  <a:pt x="209290" y="68833"/>
                  <a:pt x="210108" y="65336"/>
                  <a:pt x="209066" y="62136"/>
                </a:cubicBezTo>
                <a:cubicBezTo>
                  <a:pt x="208025" y="58936"/>
                  <a:pt x="205308" y="56592"/>
                  <a:pt x="201960" y="56071"/>
                </a:cubicBezTo>
                <a:lnTo>
                  <a:pt x="142503" y="46620"/>
                </a:lnTo>
                <a:lnTo>
                  <a:pt x="115156" y="-7032"/>
                </a:ln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Tầm quan trọng của phân tích độ phức tạp</a:t>
            </a:r>
            <a:endParaRPr lang="en-US" sz="1600" dirty="0"/>
          </a:p>
        </p:txBody>
      </p:sp>
      <p:sp>
        <p:nvSpPr>
          <p:cNvPr id="9" name="Shape 7"/>
          <p:cNvSpPr/>
          <p:nvPr/>
        </p:nvSpPr>
        <p:spPr>
          <a:xfrm>
            <a:off x="600075" y="1762125"/>
            <a:ext cx="5200650" cy="723900"/>
          </a:xfrm>
          <a:custGeom>
            <a:avLst/>
            <a:gdLst/>
            <a:ahLst/>
            <a:cxnLst/>
            <a:rect l="l" t="t" r="r" b="b"/>
            <a:pathLst>
              <a:path w="5200650" h="723900">
                <a:moveTo>
                  <a:pt x="38100" y="0"/>
                </a:moveTo>
                <a:lnTo>
                  <a:pt x="5124452" y="0"/>
                </a:lnTo>
                <a:cubicBezTo>
                  <a:pt x="5166507" y="0"/>
                  <a:pt x="5200650" y="34143"/>
                  <a:pt x="5200650" y="76198"/>
                </a:cubicBezTo>
                <a:lnTo>
                  <a:pt x="5200650" y="647702"/>
                </a:lnTo>
                <a:cubicBezTo>
                  <a:pt x="5200650" y="689757"/>
                  <a:pt x="5166507" y="723900"/>
                  <a:pt x="5124452" y="723900"/>
                </a:cubicBezTo>
                <a:lnTo>
                  <a:pt x="38100" y="723900"/>
                </a:lnTo>
                <a:cubicBezTo>
                  <a:pt x="17072" y="723900"/>
                  <a:pt x="0" y="706828"/>
                  <a:pt x="0" y="685800"/>
                </a:cubicBezTo>
                <a:lnTo>
                  <a:pt x="0" y="38100"/>
                </a:lnTo>
                <a:cubicBezTo>
                  <a:pt x="0" y="17072"/>
                  <a:pt x="17072" y="0"/>
                  <a:pt x="38100" y="0"/>
                </a:cubicBezTo>
                <a:close/>
              </a:path>
            </a:pathLst>
          </a:custGeom>
          <a:solidFill>
            <a:srgbClr val="0F172A"/>
          </a:solidFill>
          <a:ln/>
        </p:spPr>
      </p:sp>
      <p:sp>
        <p:nvSpPr>
          <p:cNvPr id="10" name="Shape 8"/>
          <p:cNvSpPr/>
          <p:nvPr/>
        </p:nvSpPr>
        <p:spPr>
          <a:xfrm>
            <a:off x="600075" y="17621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10B981"/>
          </a:solidFill>
          <a:ln/>
        </p:spPr>
      </p:sp>
      <p:sp>
        <p:nvSpPr>
          <p:cNvPr id="11" name="Shape 9"/>
          <p:cNvSpPr/>
          <p:nvPr/>
        </p:nvSpPr>
        <p:spPr>
          <a:xfrm>
            <a:off x="792956" y="1895475"/>
            <a:ext cx="119063" cy="190500"/>
          </a:xfrm>
          <a:custGeom>
            <a:avLst/>
            <a:gdLst/>
            <a:ahLst/>
            <a:cxnLst/>
            <a:rect l="l" t="t" r="r" b="b"/>
            <a:pathLst>
              <a:path w="119063" h="190500">
                <a:moveTo>
                  <a:pt x="50602" y="8930"/>
                </a:moveTo>
                <a:cubicBezTo>
                  <a:pt x="50602" y="3981"/>
                  <a:pt x="54583" y="0"/>
                  <a:pt x="59531" y="0"/>
                </a:cubicBezTo>
                <a:cubicBezTo>
                  <a:pt x="64480" y="0"/>
                  <a:pt x="68461" y="3981"/>
                  <a:pt x="68461" y="8930"/>
                </a:cubicBezTo>
                <a:lnTo>
                  <a:pt x="68461" y="23812"/>
                </a:lnTo>
                <a:lnTo>
                  <a:pt x="89297" y="23812"/>
                </a:lnTo>
                <a:cubicBezTo>
                  <a:pt x="95883" y="23812"/>
                  <a:pt x="101203" y="29133"/>
                  <a:pt x="101203" y="35719"/>
                </a:cubicBezTo>
                <a:cubicBezTo>
                  <a:pt x="101203" y="42304"/>
                  <a:pt x="95883" y="47625"/>
                  <a:pt x="89297" y="47625"/>
                </a:cubicBezTo>
                <a:lnTo>
                  <a:pt x="46546" y="47625"/>
                </a:lnTo>
                <a:cubicBezTo>
                  <a:pt x="37281" y="47625"/>
                  <a:pt x="29766" y="55141"/>
                  <a:pt x="29766" y="64405"/>
                </a:cubicBezTo>
                <a:cubicBezTo>
                  <a:pt x="29766" y="72777"/>
                  <a:pt x="35905" y="79846"/>
                  <a:pt x="44165" y="81037"/>
                </a:cubicBezTo>
                <a:lnTo>
                  <a:pt x="78246" y="85911"/>
                </a:lnTo>
                <a:cubicBezTo>
                  <a:pt x="98264" y="88776"/>
                  <a:pt x="113109" y="105891"/>
                  <a:pt x="113109" y="126095"/>
                </a:cubicBezTo>
                <a:cubicBezTo>
                  <a:pt x="113109" y="148530"/>
                  <a:pt x="94915" y="166688"/>
                  <a:pt x="72517" y="166688"/>
                </a:cubicBezTo>
                <a:lnTo>
                  <a:pt x="68461" y="166688"/>
                </a:lnTo>
                <a:lnTo>
                  <a:pt x="68461" y="181570"/>
                </a:lnTo>
                <a:cubicBezTo>
                  <a:pt x="68461" y="186519"/>
                  <a:pt x="64480" y="190500"/>
                  <a:pt x="59531" y="190500"/>
                </a:cubicBezTo>
                <a:cubicBezTo>
                  <a:pt x="54583" y="190500"/>
                  <a:pt x="50602" y="186519"/>
                  <a:pt x="50602" y="181570"/>
                </a:cubicBezTo>
                <a:lnTo>
                  <a:pt x="50602" y="166688"/>
                </a:lnTo>
                <a:lnTo>
                  <a:pt x="23812" y="166688"/>
                </a:lnTo>
                <a:cubicBezTo>
                  <a:pt x="17227" y="166688"/>
                  <a:pt x="11906" y="161367"/>
                  <a:pt x="11906" y="154781"/>
                </a:cubicBezTo>
                <a:cubicBezTo>
                  <a:pt x="11906" y="148196"/>
                  <a:pt x="17227" y="142875"/>
                  <a:pt x="23812" y="142875"/>
                </a:cubicBezTo>
                <a:lnTo>
                  <a:pt x="72517" y="142875"/>
                </a:lnTo>
                <a:cubicBezTo>
                  <a:pt x="81781" y="142875"/>
                  <a:pt x="89297" y="135359"/>
                  <a:pt x="89297" y="126095"/>
                </a:cubicBezTo>
                <a:cubicBezTo>
                  <a:pt x="89297" y="117723"/>
                  <a:pt x="83158" y="110654"/>
                  <a:pt x="74898" y="109463"/>
                </a:cubicBezTo>
                <a:lnTo>
                  <a:pt x="40816" y="104589"/>
                </a:lnTo>
                <a:cubicBezTo>
                  <a:pt x="20799" y="101761"/>
                  <a:pt x="5953" y="84609"/>
                  <a:pt x="5953" y="64405"/>
                </a:cubicBezTo>
                <a:cubicBezTo>
                  <a:pt x="5953" y="42007"/>
                  <a:pt x="24147" y="23812"/>
                  <a:pt x="46546" y="23812"/>
                </a:cubicBezTo>
                <a:lnTo>
                  <a:pt x="50602" y="23812"/>
                </a:lnTo>
                <a:lnTo>
                  <a:pt x="50602" y="8930"/>
                </a:lnTo>
                <a:close/>
              </a:path>
            </a:pathLst>
          </a:custGeom>
          <a:solidFill>
            <a:srgbClr val="10B981"/>
          </a:solidFill>
          <a:ln/>
        </p:spPr>
      </p:sp>
      <p:sp>
        <p:nvSpPr>
          <p:cNvPr id="12" name="Text 10"/>
          <p:cNvSpPr/>
          <p:nvPr/>
        </p:nvSpPr>
        <p:spPr>
          <a:xfrm>
            <a:off x="1085850" y="1876425"/>
            <a:ext cx="12096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Số tiền tiết kiệm</a:t>
            </a:r>
            <a:endParaRPr lang="en-US" sz="1600" dirty="0"/>
          </a:p>
        </p:txBody>
      </p:sp>
      <p:sp>
        <p:nvSpPr>
          <p:cNvPr id="13" name="Text 11"/>
          <p:cNvSpPr/>
          <p:nvPr/>
        </p:nvSpPr>
        <p:spPr>
          <a:xfrm>
            <a:off x="733425" y="21812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Cải thiện 1% hiệu suất → tiết kiệm </a:t>
            </a:r>
            <a:pPr>
              <a:lnSpc>
                <a:spcPct val="120000"/>
              </a:lnSpc>
            </a:pPr>
            <a:r>
              <a:rPr lang="en-US" sz="1050" b="1" dirty="0">
                <a:solidFill>
                  <a:srgbClr val="10B981"/>
                </a:solidFill>
                <a:latin typeface="MiSans" pitchFamily="34" charset="0"/>
                <a:ea typeface="MiSans" pitchFamily="34" charset="-122"/>
                <a:cs typeface="MiSans" pitchFamily="34" charset="-120"/>
              </a:rPr>
              <a:t>hàng triệu đô la</a:t>
            </a:r>
            <a:endParaRPr lang="en-US" sz="1600" dirty="0"/>
          </a:p>
        </p:txBody>
      </p:sp>
      <p:sp>
        <p:nvSpPr>
          <p:cNvPr id="14" name="Shape 12"/>
          <p:cNvSpPr/>
          <p:nvPr/>
        </p:nvSpPr>
        <p:spPr>
          <a:xfrm>
            <a:off x="600075" y="2600325"/>
            <a:ext cx="5200650" cy="723900"/>
          </a:xfrm>
          <a:custGeom>
            <a:avLst/>
            <a:gdLst/>
            <a:ahLst/>
            <a:cxnLst/>
            <a:rect l="l" t="t" r="r" b="b"/>
            <a:pathLst>
              <a:path w="5200650" h="723900">
                <a:moveTo>
                  <a:pt x="38100" y="0"/>
                </a:moveTo>
                <a:lnTo>
                  <a:pt x="5124452" y="0"/>
                </a:lnTo>
                <a:cubicBezTo>
                  <a:pt x="5166507" y="0"/>
                  <a:pt x="5200650" y="34143"/>
                  <a:pt x="5200650" y="76198"/>
                </a:cubicBezTo>
                <a:lnTo>
                  <a:pt x="5200650" y="647702"/>
                </a:lnTo>
                <a:cubicBezTo>
                  <a:pt x="5200650" y="689757"/>
                  <a:pt x="5166507" y="723900"/>
                  <a:pt x="5124452" y="723900"/>
                </a:cubicBezTo>
                <a:lnTo>
                  <a:pt x="38100" y="723900"/>
                </a:lnTo>
                <a:cubicBezTo>
                  <a:pt x="17072" y="723900"/>
                  <a:pt x="0" y="706828"/>
                  <a:pt x="0" y="685800"/>
                </a:cubicBezTo>
                <a:lnTo>
                  <a:pt x="0" y="38100"/>
                </a:lnTo>
                <a:cubicBezTo>
                  <a:pt x="0" y="17072"/>
                  <a:pt x="17072" y="0"/>
                  <a:pt x="38100" y="0"/>
                </a:cubicBezTo>
                <a:close/>
              </a:path>
            </a:pathLst>
          </a:custGeom>
          <a:solidFill>
            <a:srgbClr val="0F172A"/>
          </a:solidFill>
          <a:ln/>
        </p:spPr>
      </p:sp>
      <p:sp>
        <p:nvSpPr>
          <p:cNvPr id="15" name="Shape 13"/>
          <p:cNvSpPr/>
          <p:nvPr/>
        </p:nvSpPr>
        <p:spPr>
          <a:xfrm>
            <a:off x="600075" y="26003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3B82F6"/>
          </a:solidFill>
          <a:ln/>
        </p:spPr>
      </p:sp>
      <p:sp>
        <p:nvSpPr>
          <p:cNvPr id="16" name="Shape 14"/>
          <p:cNvSpPr/>
          <p:nvPr/>
        </p:nvSpPr>
        <p:spPr>
          <a:xfrm>
            <a:off x="769144" y="2733675"/>
            <a:ext cx="166688" cy="190500"/>
          </a:xfrm>
          <a:custGeom>
            <a:avLst/>
            <a:gdLst/>
            <a:ahLst/>
            <a:cxnLst/>
            <a:rect l="l" t="t" r="r" b="b"/>
            <a:pathLst>
              <a:path w="166688" h="190500">
                <a:moveTo>
                  <a:pt x="62508" y="11906"/>
                </a:moveTo>
                <a:lnTo>
                  <a:pt x="8930" y="11906"/>
                </a:lnTo>
                <a:cubicBezTo>
                  <a:pt x="3981" y="11906"/>
                  <a:pt x="0" y="15887"/>
                  <a:pt x="0" y="20836"/>
                </a:cubicBezTo>
                <a:lnTo>
                  <a:pt x="0" y="74414"/>
                </a:lnTo>
                <a:cubicBezTo>
                  <a:pt x="0" y="78023"/>
                  <a:pt x="2158" y="81297"/>
                  <a:pt x="5507" y="82674"/>
                </a:cubicBezTo>
                <a:cubicBezTo>
                  <a:pt x="8855" y="84051"/>
                  <a:pt x="12688" y="83269"/>
                  <a:pt x="15255" y="80739"/>
                </a:cubicBezTo>
                <a:lnTo>
                  <a:pt x="30138" y="65856"/>
                </a:lnTo>
                <a:lnTo>
                  <a:pt x="59531" y="95250"/>
                </a:lnTo>
                <a:lnTo>
                  <a:pt x="30138" y="124644"/>
                </a:lnTo>
                <a:lnTo>
                  <a:pt x="15255" y="109761"/>
                </a:lnTo>
                <a:cubicBezTo>
                  <a:pt x="12688" y="107193"/>
                  <a:pt x="8855" y="106449"/>
                  <a:pt x="5507" y="107826"/>
                </a:cubicBezTo>
                <a:cubicBezTo>
                  <a:pt x="2158" y="109203"/>
                  <a:pt x="0" y="112477"/>
                  <a:pt x="0" y="116086"/>
                </a:cubicBezTo>
                <a:lnTo>
                  <a:pt x="0" y="169664"/>
                </a:lnTo>
                <a:cubicBezTo>
                  <a:pt x="0" y="174613"/>
                  <a:pt x="3981" y="178594"/>
                  <a:pt x="8930" y="178594"/>
                </a:cubicBezTo>
                <a:lnTo>
                  <a:pt x="62508" y="178594"/>
                </a:lnTo>
                <a:cubicBezTo>
                  <a:pt x="66117" y="178594"/>
                  <a:pt x="69391" y="176436"/>
                  <a:pt x="70768" y="173087"/>
                </a:cubicBezTo>
                <a:cubicBezTo>
                  <a:pt x="72144" y="169738"/>
                  <a:pt x="71400" y="165906"/>
                  <a:pt x="68833" y="163339"/>
                </a:cubicBezTo>
                <a:lnTo>
                  <a:pt x="53950" y="148456"/>
                </a:lnTo>
                <a:lnTo>
                  <a:pt x="83344" y="119063"/>
                </a:lnTo>
                <a:lnTo>
                  <a:pt x="112737" y="148456"/>
                </a:lnTo>
                <a:lnTo>
                  <a:pt x="97854" y="163339"/>
                </a:lnTo>
                <a:cubicBezTo>
                  <a:pt x="95287" y="165906"/>
                  <a:pt x="94543" y="169738"/>
                  <a:pt x="95920" y="173087"/>
                </a:cubicBezTo>
                <a:cubicBezTo>
                  <a:pt x="97296" y="176436"/>
                  <a:pt x="100571" y="178594"/>
                  <a:pt x="104180" y="178594"/>
                </a:cubicBezTo>
                <a:lnTo>
                  <a:pt x="157758" y="178594"/>
                </a:lnTo>
                <a:cubicBezTo>
                  <a:pt x="162706" y="178594"/>
                  <a:pt x="166688" y="174613"/>
                  <a:pt x="166688" y="169664"/>
                </a:cubicBezTo>
                <a:lnTo>
                  <a:pt x="166688" y="116086"/>
                </a:lnTo>
                <a:cubicBezTo>
                  <a:pt x="166688" y="112477"/>
                  <a:pt x="164529" y="109203"/>
                  <a:pt x="161181" y="107826"/>
                </a:cubicBezTo>
                <a:cubicBezTo>
                  <a:pt x="157832" y="106449"/>
                  <a:pt x="154000" y="107193"/>
                  <a:pt x="151433" y="109761"/>
                </a:cubicBezTo>
                <a:lnTo>
                  <a:pt x="136550" y="124644"/>
                </a:lnTo>
                <a:lnTo>
                  <a:pt x="107156" y="95250"/>
                </a:lnTo>
                <a:lnTo>
                  <a:pt x="136550" y="65856"/>
                </a:lnTo>
                <a:lnTo>
                  <a:pt x="151433" y="80739"/>
                </a:lnTo>
                <a:cubicBezTo>
                  <a:pt x="154000" y="83307"/>
                  <a:pt x="157832" y="84051"/>
                  <a:pt x="161181" y="82674"/>
                </a:cubicBezTo>
                <a:cubicBezTo>
                  <a:pt x="164529" y="81297"/>
                  <a:pt x="166688" y="78023"/>
                  <a:pt x="166688" y="74414"/>
                </a:cubicBezTo>
                <a:lnTo>
                  <a:pt x="166688" y="20836"/>
                </a:lnTo>
                <a:cubicBezTo>
                  <a:pt x="166688" y="15887"/>
                  <a:pt x="162706" y="11906"/>
                  <a:pt x="157758" y="11906"/>
                </a:cubicBezTo>
                <a:lnTo>
                  <a:pt x="104180" y="11906"/>
                </a:lnTo>
                <a:cubicBezTo>
                  <a:pt x="100571" y="11906"/>
                  <a:pt x="97296" y="14064"/>
                  <a:pt x="95920" y="17413"/>
                </a:cubicBezTo>
                <a:cubicBezTo>
                  <a:pt x="94543" y="20762"/>
                  <a:pt x="95324" y="24594"/>
                  <a:pt x="97854" y="27161"/>
                </a:cubicBezTo>
                <a:lnTo>
                  <a:pt x="112737" y="42044"/>
                </a:lnTo>
                <a:lnTo>
                  <a:pt x="83344" y="71438"/>
                </a:lnTo>
                <a:lnTo>
                  <a:pt x="53950" y="42044"/>
                </a:lnTo>
                <a:lnTo>
                  <a:pt x="68833" y="27161"/>
                </a:lnTo>
                <a:cubicBezTo>
                  <a:pt x="71400" y="24594"/>
                  <a:pt x="72144" y="20762"/>
                  <a:pt x="70768" y="17413"/>
                </a:cubicBezTo>
                <a:cubicBezTo>
                  <a:pt x="69391" y="14064"/>
                  <a:pt x="66117" y="11906"/>
                  <a:pt x="62508" y="11906"/>
                </a:cubicBezTo>
                <a:close/>
              </a:path>
            </a:pathLst>
          </a:custGeom>
          <a:solidFill>
            <a:srgbClr val="3B82F6"/>
          </a:solidFill>
          <a:ln/>
        </p:spPr>
      </p:sp>
      <p:sp>
        <p:nvSpPr>
          <p:cNvPr id="17" name="Text 15"/>
          <p:cNvSpPr/>
          <p:nvPr/>
        </p:nvSpPr>
        <p:spPr>
          <a:xfrm>
            <a:off x="1085850" y="2714625"/>
            <a:ext cx="13716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Khả năng mở rộng</a:t>
            </a:r>
            <a:endParaRPr lang="en-US" sz="1600" dirty="0"/>
          </a:p>
        </p:txBody>
      </p:sp>
      <p:sp>
        <p:nvSpPr>
          <p:cNvPr id="18" name="Text 16"/>
          <p:cNvSpPr/>
          <p:nvPr/>
        </p:nvSpPr>
        <p:spPr>
          <a:xfrm>
            <a:off x="733425" y="30194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Chương trình có thể xử lý dữ liệu lớn hơn </a:t>
            </a:r>
            <a:pPr>
              <a:lnSpc>
                <a:spcPct val="120000"/>
              </a:lnSpc>
            </a:pPr>
            <a:r>
              <a:rPr lang="en-US" sz="1050" b="1" dirty="0">
                <a:solidFill>
                  <a:srgbClr val="3B82F6"/>
                </a:solidFill>
                <a:latin typeface="MiSans" pitchFamily="34" charset="0"/>
                <a:ea typeface="MiSans" pitchFamily="34" charset="-122"/>
                <a:cs typeface="MiSans" pitchFamily="34" charset="-120"/>
              </a:rPr>
              <a:t>100 lần</a:t>
            </a:r>
            <a:endParaRPr lang="en-US" sz="1600" dirty="0"/>
          </a:p>
        </p:txBody>
      </p:sp>
      <p:sp>
        <p:nvSpPr>
          <p:cNvPr id="19" name="Shape 17"/>
          <p:cNvSpPr/>
          <p:nvPr/>
        </p:nvSpPr>
        <p:spPr>
          <a:xfrm>
            <a:off x="600075" y="3438525"/>
            <a:ext cx="5200650" cy="723900"/>
          </a:xfrm>
          <a:custGeom>
            <a:avLst/>
            <a:gdLst/>
            <a:ahLst/>
            <a:cxnLst/>
            <a:rect l="l" t="t" r="r" b="b"/>
            <a:pathLst>
              <a:path w="5200650" h="723900">
                <a:moveTo>
                  <a:pt x="38100" y="0"/>
                </a:moveTo>
                <a:lnTo>
                  <a:pt x="5124452" y="0"/>
                </a:lnTo>
                <a:cubicBezTo>
                  <a:pt x="5166507" y="0"/>
                  <a:pt x="5200650" y="34143"/>
                  <a:pt x="5200650" y="76198"/>
                </a:cubicBezTo>
                <a:lnTo>
                  <a:pt x="5200650" y="647702"/>
                </a:lnTo>
                <a:cubicBezTo>
                  <a:pt x="5200650" y="689757"/>
                  <a:pt x="5166507" y="723900"/>
                  <a:pt x="5124452" y="723900"/>
                </a:cubicBezTo>
                <a:lnTo>
                  <a:pt x="38100" y="723900"/>
                </a:lnTo>
                <a:cubicBezTo>
                  <a:pt x="17072" y="723900"/>
                  <a:pt x="0" y="706828"/>
                  <a:pt x="0" y="685800"/>
                </a:cubicBezTo>
                <a:lnTo>
                  <a:pt x="0" y="38100"/>
                </a:lnTo>
                <a:cubicBezTo>
                  <a:pt x="0" y="17072"/>
                  <a:pt x="17072" y="0"/>
                  <a:pt x="38100" y="0"/>
                </a:cubicBezTo>
                <a:close/>
              </a:path>
            </a:pathLst>
          </a:custGeom>
          <a:solidFill>
            <a:srgbClr val="0F172A"/>
          </a:solidFill>
          <a:ln/>
        </p:spPr>
      </p:sp>
      <p:sp>
        <p:nvSpPr>
          <p:cNvPr id="20" name="Shape 18"/>
          <p:cNvSpPr/>
          <p:nvPr/>
        </p:nvSpPr>
        <p:spPr>
          <a:xfrm>
            <a:off x="600075" y="34385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8B5CF6"/>
          </a:solidFill>
          <a:ln/>
        </p:spPr>
      </p:sp>
      <p:sp>
        <p:nvSpPr>
          <p:cNvPr id="21" name="Shape 19"/>
          <p:cNvSpPr/>
          <p:nvPr/>
        </p:nvSpPr>
        <p:spPr>
          <a:xfrm>
            <a:off x="745331" y="3571875"/>
            <a:ext cx="214313" cy="190500"/>
          </a:xfrm>
          <a:custGeom>
            <a:avLst/>
            <a:gdLst/>
            <a:ahLst/>
            <a:cxnLst/>
            <a:rect l="l" t="t" r="r" b="b"/>
            <a:pathLst>
              <a:path w="214313" h="190500">
                <a:moveTo>
                  <a:pt x="83344" y="2977"/>
                </a:moveTo>
                <a:cubicBezTo>
                  <a:pt x="107986" y="2977"/>
                  <a:pt x="127992" y="22983"/>
                  <a:pt x="127992" y="47625"/>
                </a:cubicBezTo>
                <a:cubicBezTo>
                  <a:pt x="127992" y="72267"/>
                  <a:pt x="107986" y="92273"/>
                  <a:pt x="83344" y="92273"/>
                </a:cubicBezTo>
                <a:cubicBezTo>
                  <a:pt x="58702" y="92273"/>
                  <a:pt x="38695" y="72267"/>
                  <a:pt x="38695" y="47625"/>
                </a:cubicBezTo>
                <a:cubicBezTo>
                  <a:pt x="38695" y="22983"/>
                  <a:pt x="58702" y="2977"/>
                  <a:pt x="83344" y="2977"/>
                </a:cubicBezTo>
                <a:close/>
                <a:moveTo>
                  <a:pt x="72293" y="113109"/>
                </a:moveTo>
                <a:lnTo>
                  <a:pt x="94394" y="113109"/>
                </a:lnTo>
                <a:cubicBezTo>
                  <a:pt x="95845" y="113109"/>
                  <a:pt x="97334" y="113147"/>
                  <a:pt x="98785" y="113258"/>
                </a:cubicBezTo>
                <a:cubicBezTo>
                  <a:pt x="92757" y="123751"/>
                  <a:pt x="89297" y="135880"/>
                  <a:pt x="89297" y="148828"/>
                </a:cubicBezTo>
                <a:cubicBezTo>
                  <a:pt x="89297" y="164381"/>
                  <a:pt x="94283" y="178780"/>
                  <a:pt x="102691" y="190500"/>
                </a:cubicBezTo>
                <a:lnTo>
                  <a:pt x="17004" y="190500"/>
                </a:lnTo>
                <a:cubicBezTo>
                  <a:pt x="10902" y="190500"/>
                  <a:pt x="5953" y="185551"/>
                  <a:pt x="5953" y="179450"/>
                </a:cubicBezTo>
                <a:cubicBezTo>
                  <a:pt x="5953" y="142801"/>
                  <a:pt x="35644" y="113109"/>
                  <a:pt x="72293" y="113109"/>
                </a:cubicBezTo>
                <a:close/>
                <a:moveTo>
                  <a:pt x="107156" y="148828"/>
                </a:moveTo>
                <a:cubicBezTo>
                  <a:pt x="107156" y="119258"/>
                  <a:pt x="131164" y="95250"/>
                  <a:pt x="160734" y="95250"/>
                </a:cubicBezTo>
                <a:cubicBezTo>
                  <a:pt x="190305" y="95250"/>
                  <a:pt x="214313" y="119258"/>
                  <a:pt x="214313" y="148828"/>
                </a:cubicBezTo>
                <a:cubicBezTo>
                  <a:pt x="214313" y="178399"/>
                  <a:pt x="190305" y="202406"/>
                  <a:pt x="160734" y="202406"/>
                </a:cubicBezTo>
                <a:cubicBezTo>
                  <a:pt x="131164" y="202406"/>
                  <a:pt x="107156" y="178399"/>
                  <a:pt x="107156" y="148828"/>
                </a:cubicBezTo>
                <a:close/>
                <a:moveTo>
                  <a:pt x="160734" y="119063"/>
                </a:moveTo>
                <a:cubicBezTo>
                  <a:pt x="157460" y="119063"/>
                  <a:pt x="154781" y="121741"/>
                  <a:pt x="154781" y="125016"/>
                </a:cubicBezTo>
                <a:lnTo>
                  <a:pt x="154781" y="148828"/>
                </a:lnTo>
                <a:cubicBezTo>
                  <a:pt x="154781" y="152102"/>
                  <a:pt x="157460" y="154781"/>
                  <a:pt x="160734" y="154781"/>
                </a:cubicBezTo>
                <a:lnTo>
                  <a:pt x="178594" y="154781"/>
                </a:lnTo>
                <a:cubicBezTo>
                  <a:pt x="181868" y="154781"/>
                  <a:pt x="184547" y="152102"/>
                  <a:pt x="184547" y="148828"/>
                </a:cubicBezTo>
                <a:cubicBezTo>
                  <a:pt x="184547" y="145554"/>
                  <a:pt x="181868" y="142875"/>
                  <a:pt x="178594" y="142875"/>
                </a:cubicBezTo>
                <a:lnTo>
                  <a:pt x="166688" y="142875"/>
                </a:lnTo>
                <a:lnTo>
                  <a:pt x="166688" y="125016"/>
                </a:lnTo>
                <a:cubicBezTo>
                  <a:pt x="166688" y="121741"/>
                  <a:pt x="164009" y="119063"/>
                  <a:pt x="160734" y="119063"/>
                </a:cubicBezTo>
                <a:close/>
              </a:path>
            </a:pathLst>
          </a:custGeom>
          <a:solidFill>
            <a:srgbClr val="8B5CF6"/>
          </a:solidFill>
          <a:ln/>
        </p:spPr>
      </p:sp>
      <p:sp>
        <p:nvSpPr>
          <p:cNvPr id="22" name="Text 20"/>
          <p:cNvSpPr/>
          <p:nvPr/>
        </p:nvSpPr>
        <p:spPr>
          <a:xfrm>
            <a:off x="1085850" y="3552825"/>
            <a:ext cx="17049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Trải nghiệm ngườidùng</a:t>
            </a:r>
            <a:endParaRPr lang="en-US" sz="1600" dirty="0"/>
          </a:p>
        </p:txBody>
      </p:sp>
      <p:sp>
        <p:nvSpPr>
          <p:cNvPr id="23" name="Text 21"/>
          <p:cNvSpPr/>
          <p:nvPr/>
        </p:nvSpPr>
        <p:spPr>
          <a:xfrm>
            <a:off x="733425" y="38576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Giảm thờichờ từ </a:t>
            </a:r>
            <a:pPr>
              <a:lnSpc>
                <a:spcPct val="120000"/>
              </a:lnSpc>
            </a:pPr>
            <a:r>
              <a:rPr lang="en-US" sz="1050" b="1" dirty="0">
                <a:solidFill>
                  <a:srgbClr val="EF4444"/>
                </a:solidFill>
                <a:latin typeface="MiSans" pitchFamily="34" charset="0"/>
                <a:ea typeface="MiSans" pitchFamily="34" charset="-122"/>
                <a:cs typeface="MiSans" pitchFamily="34" charset="-120"/>
              </a:rPr>
              <a:t>19 giây</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a:t>
            </a:r>
            <a:pPr>
              <a:lnSpc>
                <a:spcPct val="120000"/>
              </a:lnSpc>
            </a:pPr>
            <a:r>
              <a:rPr lang="en-US" sz="1050" b="1" dirty="0">
                <a:solidFill>
                  <a:srgbClr val="10B981"/>
                </a:solidFill>
                <a:latin typeface="MiSans" pitchFamily="34" charset="0"/>
                <a:ea typeface="MiSans" pitchFamily="34" charset="-122"/>
                <a:cs typeface="MiSans" pitchFamily="34" charset="-120"/>
              </a:rPr>
              <a:t>0.06 giây</a:t>
            </a:r>
            <a:endParaRPr lang="en-US" sz="1600" dirty="0"/>
          </a:p>
        </p:txBody>
      </p:sp>
      <p:sp>
        <p:nvSpPr>
          <p:cNvPr id="24" name="Shape 22"/>
          <p:cNvSpPr/>
          <p:nvPr/>
        </p:nvSpPr>
        <p:spPr>
          <a:xfrm>
            <a:off x="600075" y="4276725"/>
            <a:ext cx="5200650" cy="723900"/>
          </a:xfrm>
          <a:custGeom>
            <a:avLst/>
            <a:gdLst/>
            <a:ahLst/>
            <a:cxnLst/>
            <a:rect l="l" t="t" r="r" b="b"/>
            <a:pathLst>
              <a:path w="5200650" h="723900">
                <a:moveTo>
                  <a:pt x="38100" y="0"/>
                </a:moveTo>
                <a:lnTo>
                  <a:pt x="5124452" y="0"/>
                </a:lnTo>
                <a:cubicBezTo>
                  <a:pt x="5166507" y="0"/>
                  <a:pt x="5200650" y="34143"/>
                  <a:pt x="5200650" y="76198"/>
                </a:cubicBezTo>
                <a:lnTo>
                  <a:pt x="5200650" y="647702"/>
                </a:lnTo>
                <a:cubicBezTo>
                  <a:pt x="5200650" y="689757"/>
                  <a:pt x="5166507" y="723900"/>
                  <a:pt x="5124452" y="723900"/>
                </a:cubicBezTo>
                <a:lnTo>
                  <a:pt x="38100" y="723900"/>
                </a:lnTo>
                <a:cubicBezTo>
                  <a:pt x="17072" y="723900"/>
                  <a:pt x="0" y="706828"/>
                  <a:pt x="0" y="685800"/>
                </a:cubicBezTo>
                <a:lnTo>
                  <a:pt x="0" y="38100"/>
                </a:lnTo>
                <a:cubicBezTo>
                  <a:pt x="0" y="17072"/>
                  <a:pt x="17072" y="0"/>
                  <a:pt x="38100" y="0"/>
                </a:cubicBezTo>
                <a:close/>
              </a:path>
            </a:pathLst>
          </a:custGeom>
          <a:solidFill>
            <a:srgbClr val="0F172A"/>
          </a:solidFill>
          <a:ln/>
        </p:spPr>
      </p:sp>
      <p:sp>
        <p:nvSpPr>
          <p:cNvPr id="25" name="Shape 23"/>
          <p:cNvSpPr/>
          <p:nvPr/>
        </p:nvSpPr>
        <p:spPr>
          <a:xfrm>
            <a:off x="600075" y="4276725"/>
            <a:ext cx="38100" cy="723900"/>
          </a:xfrm>
          <a:custGeom>
            <a:avLst/>
            <a:gdLst/>
            <a:ahLst/>
            <a:cxnLst/>
            <a:rect l="l" t="t" r="r" b="b"/>
            <a:pathLst>
              <a:path w="38100" h="723900">
                <a:moveTo>
                  <a:pt x="38100" y="0"/>
                </a:moveTo>
                <a:lnTo>
                  <a:pt x="38100" y="0"/>
                </a:lnTo>
                <a:lnTo>
                  <a:pt x="38100" y="723900"/>
                </a:lnTo>
                <a:lnTo>
                  <a:pt x="38100" y="723900"/>
                </a:lnTo>
                <a:cubicBezTo>
                  <a:pt x="17072" y="723900"/>
                  <a:pt x="0" y="706828"/>
                  <a:pt x="0" y="685800"/>
                </a:cubicBezTo>
                <a:lnTo>
                  <a:pt x="0" y="38100"/>
                </a:lnTo>
                <a:cubicBezTo>
                  <a:pt x="0" y="17072"/>
                  <a:pt x="17072" y="0"/>
                  <a:pt x="38100" y="0"/>
                </a:cubicBezTo>
                <a:close/>
              </a:path>
            </a:pathLst>
          </a:custGeom>
          <a:solidFill>
            <a:srgbClr val="F59E0B"/>
          </a:solidFill>
          <a:ln/>
        </p:spPr>
      </p:sp>
      <p:sp>
        <p:nvSpPr>
          <p:cNvPr id="26" name="Shape 24"/>
          <p:cNvSpPr/>
          <p:nvPr/>
        </p:nvSpPr>
        <p:spPr>
          <a:xfrm>
            <a:off x="757238" y="4410075"/>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F59E0B"/>
          </a:solidFill>
          <a:ln/>
        </p:spPr>
      </p:sp>
      <p:sp>
        <p:nvSpPr>
          <p:cNvPr id="27" name="Text 25"/>
          <p:cNvSpPr/>
          <p:nvPr/>
        </p:nvSpPr>
        <p:spPr>
          <a:xfrm>
            <a:off x="1085850" y="4391025"/>
            <a:ext cx="78105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Độ tin cậy</a:t>
            </a:r>
            <a:endParaRPr lang="en-US" sz="1600" dirty="0"/>
          </a:p>
        </p:txBody>
      </p:sp>
      <p:sp>
        <p:nvSpPr>
          <p:cNvPr id="28" name="Text 26"/>
          <p:cNvSpPr/>
          <p:nvPr/>
        </p:nvSpPr>
        <p:spPr>
          <a:xfrm>
            <a:off x="733425" y="4695825"/>
            <a:ext cx="50196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Tránh lỗi OutOfMemory, crash ứng dụng</a:t>
            </a:r>
            <a:endParaRPr lang="en-US" sz="1600" dirty="0"/>
          </a:p>
        </p:txBody>
      </p:sp>
      <p:sp>
        <p:nvSpPr>
          <p:cNvPr id="29" name="Shape 27"/>
          <p:cNvSpPr/>
          <p:nvPr/>
        </p:nvSpPr>
        <p:spPr>
          <a:xfrm>
            <a:off x="6196013" y="1147763"/>
            <a:ext cx="5610225" cy="5419725"/>
          </a:xfrm>
          <a:custGeom>
            <a:avLst/>
            <a:gdLst/>
            <a:ahLst/>
            <a:cxnLst/>
            <a:rect l="l" t="t" r="r" b="b"/>
            <a:pathLst>
              <a:path w="5610225" h="5419725">
                <a:moveTo>
                  <a:pt x="114302" y="0"/>
                </a:moveTo>
                <a:lnTo>
                  <a:pt x="5495923" y="0"/>
                </a:lnTo>
                <a:cubicBezTo>
                  <a:pt x="5559050" y="0"/>
                  <a:pt x="5610225" y="51175"/>
                  <a:pt x="5610225" y="114302"/>
                </a:cubicBezTo>
                <a:lnTo>
                  <a:pt x="5610225" y="5305423"/>
                </a:lnTo>
                <a:cubicBezTo>
                  <a:pt x="5610225" y="5368550"/>
                  <a:pt x="5559050" y="5419725"/>
                  <a:pt x="5495923" y="5419725"/>
                </a:cubicBezTo>
                <a:lnTo>
                  <a:pt x="114302" y="5419725"/>
                </a:lnTo>
                <a:cubicBezTo>
                  <a:pt x="51175" y="5419725"/>
                  <a:pt x="0" y="5368550"/>
                  <a:pt x="0" y="5305423"/>
                </a:cubicBezTo>
                <a:lnTo>
                  <a:pt x="0" y="114302"/>
                </a:lnTo>
                <a:cubicBezTo>
                  <a:pt x="0" y="51175"/>
                  <a:pt x="51175" y="0"/>
                  <a:pt x="114302"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30" name="Shape 28"/>
          <p:cNvSpPr/>
          <p:nvPr/>
        </p:nvSpPr>
        <p:spPr>
          <a:xfrm>
            <a:off x="641508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3" y="86320"/>
                  <a:pt x="74414" y="86320"/>
                </a:cubicBezTo>
                <a:cubicBezTo>
                  <a:pt x="69466" y="86320"/>
                  <a:pt x="65484" y="82339"/>
                  <a:pt x="65484" y="77391"/>
                </a:cubicBezTo>
                <a:cubicBezTo>
                  <a:pt x="65484" y="60945"/>
                  <a:pt x="78804" y="47625"/>
                  <a:pt x="95250" y="47625"/>
                </a:cubicBezTo>
                <a:cubicBezTo>
                  <a:pt x="111696" y="47625"/>
                  <a:pt x="125016" y="60945"/>
                  <a:pt x="125016" y="77391"/>
                </a:cubicBezTo>
                <a:cubicBezTo>
                  <a:pt x="125016" y="94952"/>
                  <a:pt x="111621" y="102394"/>
                  <a:pt x="104180" y="105110"/>
                </a:cubicBezTo>
                <a:lnTo>
                  <a:pt x="104180" y="106524"/>
                </a:lnTo>
                <a:cubicBezTo>
                  <a:pt x="104180" y="111472"/>
                  <a:pt x="100199" y="115453"/>
                  <a:pt x="95250" y="115453"/>
                </a:cubicBezTo>
                <a:cubicBezTo>
                  <a:pt x="90301" y="115453"/>
                  <a:pt x="86320" y="111472"/>
                  <a:pt x="86320" y="106524"/>
                </a:cubicBezTo>
                <a:lnTo>
                  <a:pt x="86320" y="103510"/>
                </a:lnTo>
                <a:cubicBezTo>
                  <a:pt x="86320" y="95883"/>
                  <a:pt x="91827" y="90413"/>
                  <a:pt x="97520" y="88553"/>
                </a:cubicBezTo>
                <a:cubicBezTo>
                  <a:pt x="99901" y="87771"/>
                  <a:pt x="102431" y="86506"/>
                  <a:pt x="104291" y="84720"/>
                </a:cubicBezTo>
                <a:cubicBezTo>
                  <a:pt x="105891" y="83158"/>
                  <a:pt x="107156" y="81000"/>
                  <a:pt x="107156" y="77428"/>
                </a:cubicBezTo>
                <a:cubicBezTo>
                  <a:pt x="107156" y="70842"/>
                  <a:pt x="101836" y="65522"/>
                  <a:pt x="95250" y="65522"/>
                </a:cubicBezTo>
                <a:close/>
                <a:moveTo>
                  <a:pt x="83344" y="136922"/>
                </a:moveTo>
                <a:cubicBezTo>
                  <a:pt x="83344" y="130351"/>
                  <a:pt x="88679" y="125016"/>
                  <a:pt x="95250" y="125016"/>
                </a:cubicBezTo>
                <a:cubicBezTo>
                  <a:pt x="101821" y="125016"/>
                  <a:pt x="107156" y="130351"/>
                  <a:pt x="107156" y="136922"/>
                </a:cubicBezTo>
                <a:cubicBezTo>
                  <a:pt x="107156" y="143493"/>
                  <a:pt x="101821" y="148828"/>
                  <a:pt x="95250" y="148828"/>
                </a:cubicBezTo>
                <a:cubicBezTo>
                  <a:pt x="88679" y="148828"/>
                  <a:pt x="83344" y="143493"/>
                  <a:pt x="83344" y="136922"/>
                </a:cubicBezTo>
                <a:close/>
              </a:path>
            </a:pathLst>
          </a:custGeom>
          <a:solidFill>
            <a:srgbClr val="8B5CF6"/>
          </a:solidFill>
          <a:ln/>
        </p:spPr>
      </p:sp>
      <p:sp>
        <p:nvSpPr>
          <p:cNvPr id="31" name="Text 29"/>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8B5CF6"/>
                </a:solidFill>
                <a:latin typeface="MiSans" pitchFamily="34" charset="0"/>
                <a:ea typeface="MiSans" pitchFamily="34" charset="-122"/>
                <a:cs typeface="MiSans" pitchFamily="34" charset="-120"/>
              </a:rPr>
              <a:t>Khi nào nên tối ưu hóa?</a:t>
            </a:r>
            <a:endParaRPr lang="en-US" sz="1600" dirty="0"/>
          </a:p>
        </p:txBody>
      </p:sp>
      <p:sp>
        <p:nvSpPr>
          <p:cNvPr id="32" name="Shape 30"/>
          <p:cNvSpPr/>
          <p:nvPr/>
        </p:nvSpPr>
        <p:spPr>
          <a:xfrm>
            <a:off x="6391275" y="1762125"/>
            <a:ext cx="5219700" cy="1524000"/>
          </a:xfrm>
          <a:custGeom>
            <a:avLst/>
            <a:gdLst/>
            <a:ahLst/>
            <a:cxnLst/>
            <a:rect l="l" t="t" r="r" b="b"/>
            <a:pathLst>
              <a:path w="5219700" h="1524000">
                <a:moveTo>
                  <a:pt x="76200" y="0"/>
                </a:moveTo>
                <a:lnTo>
                  <a:pt x="5143500" y="0"/>
                </a:lnTo>
                <a:cubicBezTo>
                  <a:pt x="5185556" y="0"/>
                  <a:pt x="5219700" y="34144"/>
                  <a:pt x="5219700" y="76200"/>
                </a:cubicBezTo>
                <a:lnTo>
                  <a:pt x="5219700" y="1447800"/>
                </a:lnTo>
                <a:cubicBezTo>
                  <a:pt x="5219700" y="1489856"/>
                  <a:pt x="5185556" y="1524000"/>
                  <a:pt x="5143500" y="1524000"/>
                </a:cubicBezTo>
                <a:lnTo>
                  <a:pt x="76200" y="1524000"/>
                </a:lnTo>
                <a:cubicBezTo>
                  <a:pt x="34144" y="1524000"/>
                  <a:pt x="0" y="1489856"/>
                  <a:pt x="0" y="1447800"/>
                </a:cubicBezTo>
                <a:lnTo>
                  <a:pt x="0" y="76200"/>
                </a:lnTo>
                <a:cubicBezTo>
                  <a:pt x="0" y="34144"/>
                  <a:pt x="34144" y="0"/>
                  <a:pt x="76200" y="0"/>
                </a:cubicBezTo>
                <a:close/>
              </a:path>
            </a:pathLst>
          </a:custGeom>
          <a:solidFill>
            <a:srgbClr val="0F172A"/>
          </a:solidFill>
          <a:ln/>
        </p:spPr>
      </p:sp>
      <p:sp>
        <p:nvSpPr>
          <p:cNvPr id="33" name="Shape 31"/>
          <p:cNvSpPr/>
          <p:nvPr/>
        </p:nvSpPr>
        <p:spPr>
          <a:xfrm>
            <a:off x="6543675" y="19145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4" name="Shape 32"/>
          <p:cNvSpPr/>
          <p:nvPr/>
        </p:nvSpPr>
        <p:spPr>
          <a:xfrm>
            <a:off x="6657975" y="2028825"/>
            <a:ext cx="152400" cy="152400"/>
          </a:xfrm>
          <a:custGeom>
            <a:avLst/>
            <a:gdLst/>
            <a:ahLst/>
            <a:cxnLst/>
            <a:rect l="l" t="t" r="r" b="b"/>
            <a:pathLst>
              <a:path w="152400" h="152400">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85725" y="28575"/>
                </a:moveTo>
                <a:cubicBezTo>
                  <a:pt x="85725" y="23318"/>
                  <a:pt x="81457" y="19050"/>
                  <a:pt x="76200" y="19050"/>
                </a:cubicBezTo>
                <a:cubicBezTo>
                  <a:pt x="70943" y="19050"/>
                  <a:pt x="66675" y="23318"/>
                  <a:pt x="66675" y="28575"/>
                </a:cubicBezTo>
                <a:cubicBezTo>
                  <a:pt x="66675" y="33832"/>
                  <a:pt x="70943" y="38100"/>
                  <a:pt x="76200" y="38100"/>
                </a:cubicBezTo>
                <a:cubicBezTo>
                  <a:pt x="81457" y="38100"/>
                  <a:pt x="85725" y="33832"/>
                  <a:pt x="85725" y="28575"/>
                </a:cubicBezTo>
                <a:close/>
                <a:moveTo>
                  <a:pt x="76200" y="123825"/>
                </a:moveTo>
                <a:cubicBezTo>
                  <a:pt x="86707" y="123825"/>
                  <a:pt x="95250" y="115282"/>
                  <a:pt x="95250" y="104775"/>
                </a:cubicBezTo>
                <a:cubicBezTo>
                  <a:pt x="95250" y="99953"/>
                  <a:pt x="93464" y="95518"/>
                  <a:pt x="90488" y="92184"/>
                </a:cubicBezTo>
                <a:lnTo>
                  <a:pt x="111175" y="50840"/>
                </a:lnTo>
                <a:cubicBezTo>
                  <a:pt x="112931" y="47298"/>
                  <a:pt x="111502" y="43011"/>
                  <a:pt x="107990" y="41255"/>
                </a:cubicBezTo>
                <a:cubicBezTo>
                  <a:pt x="104477" y="39499"/>
                  <a:pt x="100161" y="40928"/>
                  <a:pt x="98405" y="44440"/>
                </a:cubicBezTo>
                <a:lnTo>
                  <a:pt x="77718" y="85785"/>
                </a:lnTo>
                <a:cubicBezTo>
                  <a:pt x="77212" y="85755"/>
                  <a:pt x="76706" y="85725"/>
                  <a:pt x="76200" y="85725"/>
                </a:cubicBezTo>
                <a:cubicBezTo>
                  <a:pt x="65693" y="85725"/>
                  <a:pt x="57150" y="94268"/>
                  <a:pt x="57150" y="104775"/>
                </a:cubicBezTo>
                <a:cubicBezTo>
                  <a:pt x="57150" y="115282"/>
                  <a:pt x="65693" y="123825"/>
                  <a:pt x="76200" y="123825"/>
                </a:cubicBezTo>
                <a:close/>
                <a:moveTo>
                  <a:pt x="52388" y="42863"/>
                </a:moveTo>
                <a:cubicBezTo>
                  <a:pt x="52388" y="37606"/>
                  <a:pt x="48119" y="33338"/>
                  <a:pt x="42863" y="33338"/>
                </a:cubicBezTo>
                <a:cubicBezTo>
                  <a:pt x="37606" y="33338"/>
                  <a:pt x="33338" y="37606"/>
                  <a:pt x="33338" y="42863"/>
                </a:cubicBezTo>
                <a:cubicBezTo>
                  <a:pt x="33338" y="48119"/>
                  <a:pt x="37606" y="52388"/>
                  <a:pt x="42863" y="52388"/>
                </a:cubicBezTo>
                <a:cubicBezTo>
                  <a:pt x="48119" y="52388"/>
                  <a:pt x="52388" y="48119"/>
                  <a:pt x="52388" y="42863"/>
                </a:cubicBezTo>
                <a:close/>
                <a:moveTo>
                  <a:pt x="28575" y="85725"/>
                </a:moveTo>
                <a:cubicBezTo>
                  <a:pt x="33832" y="85725"/>
                  <a:pt x="38100" y="81457"/>
                  <a:pt x="38100" y="76200"/>
                </a:cubicBezTo>
                <a:cubicBezTo>
                  <a:pt x="38100" y="70943"/>
                  <a:pt x="33832" y="66675"/>
                  <a:pt x="28575" y="66675"/>
                </a:cubicBezTo>
                <a:cubicBezTo>
                  <a:pt x="23318" y="66675"/>
                  <a:pt x="19050" y="70943"/>
                  <a:pt x="19050" y="76200"/>
                </a:cubicBezTo>
                <a:cubicBezTo>
                  <a:pt x="19050" y="81457"/>
                  <a:pt x="23318" y="85725"/>
                  <a:pt x="28575" y="85725"/>
                </a:cubicBezTo>
                <a:close/>
                <a:moveTo>
                  <a:pt x="133350" y="76200"/>
                </a:moveTo>
                <a:cubicBezTo>
                  <a:pt x="133350" y="70943"/>
                  <a:pt x="129082" y="66675"/>
                  <a:pt x="123825" y="66675"/>
                </a:cubicBezTo>
                <a:cubicBezTo>
                  <a:pt x="118568" y="66675"/>
                  <a:pt x="114300" y="70943"/>
                  <a:pt x="114300" y="76200"/>
                </a:cubicBezTo>
                <a:cubicBezTo>
                  <a:pt x="114300" y="81457"/>
                  <a:pt x="118568" y="85725"/>
                  <a:pt x="123825" y="85725"/>
                </a:cubicBezTo>
                <a:cubicBezTo>
                  <a:pt x="129082" y="85725"/>
                  <a:pt x="133350" y="81457"/>
                  <a:pt x="133350" y="76200"/>
                </a:cubicBezTo>
                <a:close/>
              </a:path>
            </a:pathLst>
          </a:custGeom>
          <a:solidFill>
            <a:srgbClr val="FFFFFF"/>
          </a:solidFill>
          <a:ln/>
        </p:spPr>
      </p:sp>
      <p:sp>
        <p:nvSpPr>
          <p:cNvPr id="35" name="Text 33"/>
          <p:cNvSpPr/>
          <p:nvPr/>
        </p:nvSpPr>
        <p:spPr>
          <a:xfrm>
            <a:off x="7038975" y="1971675"/>
            <a:ext cx="19050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Nên tối ưu thờigian khi:</a:t>
            </a:r>
            <a:endParaRPr lang="en-US" sz="1600" dirty="0"/>
          </a:p>
        </p:txBody>
      </p:sp>
      <p:sp>
        <p:nvSpPr>
          <p:cNvPr id="36" name="Shape 34"/>
          <p:cNvSpPr/>
          <p:nvPr/>
        </p:nvSpPr>
        <p:spPr>
          <a:xfrm>
            <a:off x="6571059" y="24479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37" name="Text 35"/>
          <p:cNvSpPr/>
          <p:nvPr/>
        </p:nvSpPr>
        <p:spPr>
          <a:xfrm>
            <a:off x="6786563" y="2409825"/>
            <a:ext cx="27527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Chương trình chạy liên tục (web server, API)</a:t>
            </a:r>
            <a:endParaRPr lang="en-US" sz="1600" dirty="0"/>
          </a:p>
        </p:txBody>
      </p:sp>
      <p:sp>
        <p:nvSpPr>
          <p:cNvPr id="38" name="Shape 36"/>
          <p:cNvSpPr/>
          <p:nvPr/>
        </p:nvSpPr>
        <p:spPr>
          <a:xfrm>
            <a:off x="6571059" y="27146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39" name="Text 37"/>
          <p:cNvSpPr/>
          <p:nvPr/>
        </p:nvSpPr>
        <p:spPr>
          <a:xfrm>
            <a:off x="6786563" y="2676525"/>
            <a:ext cx="18002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Cần xử lý hàng triệu request</a:t>
            </a:r>
            <a:endParaRPr lang="en-US" sz="1600" dirty="0"/>
          </a:p>
        </p:txBody>
      </p:sp>
      <p:sp>
        <p:nvSpPr>
          <p:cNvPr id="40" name="Shape 38"/>
          <p:cNvSpPr/>
          <p:nvPr/>
        </p:nvSpPr>
        <p:spPr>
          <a:xfrm>
            <a:off x="6571059" y="29813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41" name="Text 39"/>
          <p:cNvSpPr/>
          <p:nvPr/>
        </p:nvSpPr>
        <p:spPr>
          <a:xfrm>
            <a:off x="6786563" y="2943225"/>
            <a:ext cx="25336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Ngườidùng chờ kết quả (interactive app)</a:t>
            </a:r>
            <a:endParaRPr lang="en-US" sz="1600" dirty="0"/>
          </a:p>
        </p:txBody>
      </p:sp>
      <p:sp>
        <p:nvSpPr>
          <p:cNvPr id="42" name="Shape 40"/>
          <p:cNvSpPr/>
          <p:nvPr/>
        </p:nvSpPr>
        <p:spPr>
          <a:xfrm>
            <a:off x="6391275" y="3438525"/>
            <a:ext cx="5219700" cy="1524000"/>
          </a:xfrm>
          <a:custGeom>
            <a:avLst/>
            <a:gdLst/>
            <a:ahLst/>
            <a:cxnLst/>
            <a:rect l="l" t="t" r="r" b="b"/>
            <a:pathLst>
              <a:path w="5219700" h="1524000">
                <a:moveTo>
                  <a:pt x="76200" y="0"/>
                </a:moveTo>
                <a:lnTo>
                  <a:pt x="5143500" y="0"/>
                </a:lnTo>
                <a:cubicBezTo>
                  <a:pt x="5185556" y="0"/>
                  <a:pt x="5219700" y="34144"/>
                  <a:pt x="5219700" y="76200"/>
                </a:cubicBezTo>
                <a:lnTo>
                  <a:pt x="5219700" y="1447800"/>
                </a:lnTo>
                <a:cubicBezTo>
                  <a:pt x="5219700" y="1489856"/>
                  <a:pt x="5185556" y="1524000"/>
                  <a:pt x="5143500" y="1524000"/>
                </a:cubicBezTo>
                <a:lnTo>
                  <a:pt x="76200" y="1524000"/>
                </a:lnTo>
                <a:cubicBezTo>
                  <a:pt x="34144" y="1524000"/>
                  <a:pt x="0" y="1489856"/>
                  <a:pt x="0" y="1447800"/>
                </a:cubicBezTo>
                <a:lnTo>
                  <a:pt x="0" y="76200"/>
                </a:lnTo>
                <a:cubicBezTo>
                  <a:pt x="0" y="34144"/>
                  <a:pt x="34144" y="0"/>
                  <a:pt x="76200" y="0"/>
                </a:cubicBezTo>
                <a:close/>
              </a:path>
            </a:pathLst>
          </a:custGeom>
          <a:solidFill>
            <a:srgbClr val="0F172A"/>
          </a:solidFill>
          <a:ln/>
        </p:spPr>
      </p:sp>
      <p:sp>
        <p:nvSpPr>
          <p:cNvPr id="43" name="Shape 41"/>
          <p:cNvSpPr/>
          <p:nvPr/>
        </p:nvSpPr>
        <p:spPr>
          <a:xfrm>
            <a:off x="6543675" y="35909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44" name="Shape 42"/>
          <p:cNvSpPr/>
          <p:nvPr/>
        </p:nvSpPr>
        <p:spPr>
          <a:xfrm>
            <a:off x="6657975" y="3705225"/>
            <a:ext cx="152400" cy="152400"/>
          </a:xfrm>
          <a:custGeom>
            <a:avLst/>
            <a:gdLst/>
            <a:ahLst/>
            <a:cxnLst/>
            <a:rect l="l" t="t" r="r" b="b"/>
            <a:pathLst>
              <a:path w="152400" h="152400">
                <a:moveTo>
                  <a:pt x="19050" y="19050"/>
                </a:moveTo>
                <a:cubicBezTo>
                  <a:pt x="8543" y="19050"/>
                  <a:pt x="0" y="27593"/>
                  <a:pt x="0" y="38100"/>
                </a:cubicBezTo>
                <a:lnTo>
                  <a:pt x="0" y="40303"/>
                </a:lnTo>
                <a:cubicBezTo>
                  <a:pt x="0" y="42327"/>
                  <a:pt x="1310" y="44053"/>
                  <a:pt x="3006" y="45154"/>
                </a:cubicBezTo>
                <a:cubicBezTo>
                  <a:pt x="6935" y="47714"/>
                  <a:pt x="9525" y="52120"/>
                  <a:pt x="9525" y="57150"/>
                </a:cubicBezTo>
                <a:cubicBezTo>
                  <a:pt x="9525" y="62180"/>
                  <a:pt x="6935" y="66586"/>
                  <a:pt x="3006" y="69146"/>
                </a:cubicBezTo>
                <a:cubicBezTo>
                  <a:pt x="1310" y="70247"/>
                  <a:pt x="0" y="71973"/>
                  <a:pt x="0" y="73997"/>
                </a:cubicBezTo>
                <a:lnTo>
                  <a:pt x="0" y="90488"/>
                </a:lnTo>
                <a:lnTo>
                  <a:pt x="152400" y="90488"/>
                </a:lnTo>
                <a:lnTo>
                  <a:pt x="152400" y="73997"/>
                </a:lnTo>
                <a:cubicBezTo>
                  <a:pt x="152400" y="71973"/>
                  <a:pt x="151090" y="70247"/>
                  <a:pt x="149394" y="69146"/>
                </a:cubicBezTo>
                <a:cubicBezTo>
                  <a:pt x="145465" y="66586"/>
                  <a:pt x="142875" y="62180"/>
                  <a:pt x="142875" y="57150"/>
                </a:cubicBezTo>
                <a:cubicBezTo>
                  <a:pt x="142875" y="52120"/>
                  <a:pt x="145465" y="47714"/>
                  <a:pt x="149394" y="45154"/>
                </a:cubicBezTo>
                <a:cubicBezTo>
                  <a:pt x="151090" y="44053"/>
                  <a:pt x="152400" y="42327"/>
                  <a:pt x="152400" y="40303"/>
                </a:cubicBezTo>
                <a:lnTo>
                  <a:pt x="152400" y="38100"/>
                </a:lnTo>
                <a:cubicBezTo>
                  <a:pt x="152400" y="27593"/>
                  <a:pt x="143857" y="19050"/>
                  <a:pt x="133350" y="19050"/>
                </a:cubicBezTo>
                <a:lnTo>
                  <a:pt x="19050" y="19050"/>
                </a:lnTo>
                <a:close/>
                <a:moveTo>
                  <a:pt x="152400" y="123825"/>
                </a:moveTo>
                <a:lnTo>
                  <a:pt x="152400" y="104775"/>
                </a:lnTo>
                <a:lnTo>
                  <a:pt x="0" y="104775"/>
                </a:lnTo>
                <a:lnTo>
                  <a:pt x="0" y="123825"/>
                </a:lnTo>
                <a:cubicBezTo>
                  <a:pt x="0" y="129094"/>
                  <a:pt x="4256" y="133350"/>
                  <a:pt x="9525" y="133350"/>
                </a:cubicBezTo>
                <a:lnTo>
                  <a:pt x="28575" y="133350"/>
                </a:lnTo>
                <a:lnTo>
                  <a:pt x="28575" y="126206"/>
                </a:lnTo>
                <a:cubicBezTo>
                  <a:pt x="28575" y="122247"/>
                  <a:pt x="31760" y="119062"/>
                  <a:pt x="35719" y="119062"/>
                </a:cubicBezTo>
                <a:cubicBezTo>
                  <a:pt x="39678" y="119062"/>
                  <a:pt x="42863" y="122247"/>
                  <a:pt x="42863" y="126206"/>
                </a:cubicBezTo>
                <a:lnTo>
                  <a:pt x="42863" y="133350"/>
                </a:lnTo>
                <a:lnTo>
                  <a:pt x="69056" y="133350"/>
                </a:lnTo>
                <a:lnTo>
                  <a:pt x="69056" y="126206"/>
                </a:lnTo>
                <a:cubicBezTo>
                  <a:pt x="69056" y="122247"/>
                  <a:pt x="72241" y="119062"/>
                  <a:pt x="76200" y="119062"/>
                </a:cubicBezTo>
                <a:cubicBezTo>
                  <a:pt x="80159" y="119062"/>
                  <a:pt x="83344" y="122247"/>
                  <a:pt x="83344" y="126206"/>
                </a:cubicBezTo>
                <a:lnTo>
                  <a:pt x="83344" y="133350"/>
                </a:lnTo>
                <a:lnTo>
                  <a:pt x="109537" y="133350"/>
                </a:lnTo>
                <a:lnTo>
                  <a:pt x="109537" y="126206"/>
                </a:lnTo>
                <a:cubicBezTo>
                  <a:pt x="109537" y="122247"/>
                  <a:pt x="112722" y="119062"/>
                  <a:pt x="116681" y="119062"/>
                </a:cubicBezTo>
                <a:cubicBezTo>
                  <a:pt x="120640" y="119062"/>
                  <a:pt x="123825" y="122247"/>
                  <a:pt x="123825" y="126206"/>
                </a:cubicBezTo>
                <a:lnTo>
                  <a:pt x="123825" y="133350"/>
                </a:lnTo>
                <a:lnTo>
                  <a:pt x="142875" y="133350"/>
                </a:lnTo>
                <a:cubicBezTo>
                  <a:pt x="148144" y="133350"/>
                  <a:pt x="152400" y="129094"/>
                  <a:pt x="152400" y="123825"/>
                </a:cubicBezTo>
                <a:close/>
                <a:moveTo>
                  <a:pt x="47625" y="47625"/>
                </a:moveTo>
                <a:lnTo>
                  <a:pt x="47625" y="66675"/>
                </a:lnTo>
                <a:cubicBezTo>
                  <a:pt x="47625" y="71944"/>
                  <a:pt x="43369" y="76200"/>
                  <a:pt x="38100" y="76200"/>
                </a:cubicBezTo>
                <a:cubicBezTo>
                  <a:pt x="32831" y="76200"/>
                  <a:pt x="28575" y="71944"/>
                  <a:pt x="28575" y="66675"/>
                </a:cubicBezTo>
                <a:lnTo>
                  <a:pt x="28575" y="47625"/>
                </a:lnTo>
                <a:cubicBezTo>
                  <a:pt x="28575" y="42356"/>
                  <a:pt x="32831" y="38100"/>
                  <a:pt x="38100" y="38100"/>
                </a:cubicBezTo>
                <a:cubicBezTo>
                  <a:pt x="43369" y="38100"/>
                  <a:pt x="47625" y="42356"/>
                  <a:pt x="47625" y="47625"/>
                </a:cubicBezTo>
                <a:close/>
                <a:moveTo>
                  <a:pt x="85725" y="47625"/>
                </a:moveTo>
                <a:lnTo>
                  <a:pt x="85725" y="66675"/>
                </a:lnTo>
                <a:cubicBezTo>
                  <a:pt x="85725" y="71944"/>
                  <a:pt x="81469" y="76200"/>
                  <a:pt x="76200" y="76200"/>
                </a:cubicBezTo>
                <a:cubicBezTo>
                  <a:pt x="70931" y="76200"/>
                  <a:pt x="66675" y="71944"/>
                  <a:pt x="66675" y="66675"/>
                </a:cubicBezTo>
                <a:lnTo>
                  <a:pt x="66675" y="47625"/>
                </a:lnTo>
                <a:cubicBezTo>
                  <a:pt x="66675" y="42356"/>
                  <a:pt x="70931" y="38100"/>
                  <a:pt x="76200" y="38100"/>
                </a:cubicBezTo>
                <a:cubicBezTo>
                  <a:pt x="81469" y="38100"/>
                  <a:pt x="85725" y="42356"/>
                  <a:pt x="85725" y="47625"/>
                </a:cubicBezTo>
                <a:close/>
                <a:moveTo>
                  <a:pt x="123825" y="47625"/>
                </a:moveTo>
                <a:lnTo>
                  <a:pt x="123825" y="66675"/>
                </a:lnTo>
                <a:cubicBezTo>
                  <a:pt x="123825" y="71944"/>
                  <a:pt x="119569" y="76200"/>
                  <a:pt x="114300" y="76200"/>
                </a:cubicBezTo>
                <a:cubicBezTo>
                  <a:pt x="109031" y="76200"/>
                  <a:pt x="104775" y="71944"/>
                  <a:pt x="104775" y="66675"/>
                </a:cubicBezTo>
                <a:lnTo>
                  <a:pt x="104775" y="47625"/>
                </a:lnTo>
                <a:cubicBezTo>
                  <a:pt x="104775" y="42356"/>
                  <a:pt x="109031" y="38100"/>
                  <a:pt x="114300" y="38100"/>
                </a:cubicBezTo>
                <a:cubicBezTo>
                  <a:pt x="119569" y="38100"/>
                  <a:pt x="123825" y="42356"/>
                  <a:pt x="123825" y="47625"/>
                </a:cubicBezTo>
                <a:close/>
              </a:path>
            </a:pathLst>
          </a:custGeom>
          <a:solidFill>
            <a:srgbClr val="FFFFFF"/>
          </a:solidFill>
          <a:ln/>
        </p:spPr>
      </p:sp>
      <p:sp>
        <p:nvSpPr>
          <p:cNvPr id="45" name="Text 43"/>
          <p:cNvSpPr/>
          <p:nvPr/>
        </p:nvSpPr>
        <p:spPr>
          <a:xfrm>
            <a:off x="7038975" y="3648075"/>
            <a:ext cx="18192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Nên tối ưu bộ nhớ khi:</a:t>
            </a:r>
            <a:endParaRPr lang="en-US" sz="1600" dirty="0"/>
          </a:p>
        </p:txBody>
      </p:sp>
      <p:sp>
        <p:nvSpPr>
          <p:cNvPr id="46" name="Shape 44"/>
          <p:cNvSpPr/>
          <p:nvPr/>
        </p:nvSpPr>
        <p:spPr>
          <a:xfrm>
            <a:off x="6571059" y="41243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8B5CF6"/>
          </a:solidFill>
          <a:ln/>
        </p:spPr>
      </p:sp>
      <p:sp>
        <p:nvSpPr>
          <p:cNvPr id="47" name="Text 45"/>
          <p:cNvSpPr/>
          <p:nvPr/>
        </p:nvSpPr>
        <p:spPr>
          <a:xfrm>
            <a:off x="6786563" y="4086225"/>
            <a:ext cx="16383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Dữ liệu quá lớn (Big Data)</a:t>
            </a:r>
            <a:endParaRPr lang="en-US" sz="1600" dirty="0"/>
          </a:p>
        </p:txBody>
      </p:sp>
      <p:sp>
        <p:nvSpPr>
          <p:cNvPr id="48" name="Shape 46"/>
          <p:cNvSpPr/>
          <p:nvPr/>
        </p:nvSpPr>
        <p:spPr>
          <a:xfrm>
            <a:off x="6571059" y="43910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8B5CF6"/>
          </a:solidFill>
          <a:ln/>
        </p:spPr>
      </p:sp>
      <p:sp>
        <p:nvSpPr>
          <p:cNvPr id="49" name="Text 47"/>
          <p:cNvSpPr/>
          <p:nvPr/>
        </p:nvSpPr>
        <p:spPr>
          <a:xfrm>
            <a:off x="6786563" y="4352925"/>
            <a:ext cx="29527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Chạy trên thiết bị có RAM giới hạn (mobile, IoT)</a:t>
            </a:r>
            <a:endParaRPr lang="en-US" sz="1600" dirty="0"/>
          </a:p>
        </p:txBody>
      </p:sp>
      <p:sp>
        <p:nvSpPr>
          <p:cNvPr id="50" name="Shape 48"/>
          <p:cNvSpPr/>
          <p:nvPr/>
        </p:nvSpPr>
        <p:spPr>
          <a:xfrm>
            <a:off x="6571059" y="4657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8B5CF6"/>
          </a:solidFill>
          <a:ln/>
        </p:spPr>
      </p:sp>
      <p:sp>
        <p:nvSpPr>
          <p:cNvPr id="51" name="Text 49"/>
          <p:cNvSpPr/>
          <p:nvPr/>
        </p:nvSpPr>
        <p:spPr>
          <a:xfrm>
            <a:off x="6786563" y="4619625"/>
            <a:ext cx="18859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Chạy đồng thờnhiều quy trình</a:t>
            </a:r>
            <a:endParaRPr lang="en-US" sz="1600" dirty="0"/>
          </a:p>
        </p:txBody>
      </p:sp>
      <p:sp>
        <p:nvSpPr>
          <p:cNvPr id="52" name="Shape 50"/>
          <p:cNvSpPr/>
          <p:nvPr/>
        </p:nvSpPr>
        <p:spPr>
          <a:xfrm>
            <a:off x="6391275" y="5114925"/>
            <a:ext cx="5219700" cy="1257300"/>
          </a:xfrm>
          <a:custGeom>
            <a:avLst/>
            <a:gdLst/>
            <a:ahLst/>
            <a:cxnLst/>
            <a:rect l="l" t="t" r="r" b="b"/>
            <a:pathLst>
              <a:path w="5219700" h="1257300">
                <a:moveTo>
                  <a:pt x="76205" y="0"/>
                </a:moveTo>
                <a:lnTo>
                  <a:pt x="5143495" y="0"/>
                </a:lnTo>
                <a:cubicBezTo>
                  <a:pt x="5185582" y="0"/>
                  <a:pt x="5219700" y="34118"/>
                  <a:pt x="5219700" y="76205"/>
                </a:cubicBezTo>
                <a:lnTo>
                  <a:pt x="5219700" y="1181095"/>
                </a:lnTo>
                <a:cubicBezTo>
                  <a:pt x="5219700" y="1223182"/>
                  <a:pt x="5185582" y="1257300"/>
                  <a:pt x="5143495" y="1257300"/>
                </a:cubicBezTo>
                <a:lnTo>
                  <a:pt x="76205" y="1257300"/>
                </a:lnTo>
                <a:cubicBezTo>
                  <a:pt x="34118" y="1257300"/>
                  <a:pt x="0" y="1223182"/>
                  <a:pt x="0" y="1181095"/>
                </a:cubicBezTo>
                <a:lnTo>
                  <a:pt x="0" y="76205"/>
                </a:lnTo>
                <a:cubicBezTo>
                  <a:pt x="0" y="34146"/>
                  <a:pt x="34146" y="0"/>
                  <a:pt x="76205" y="0"/>
                </a:cubicBezTo>
                <a:close/>
              </a:path>
            </a:pathLst>
          </a:custGeom>
          <a:solidFill>
            <a:srgbClr val="0F172A"/>
          </a:solidFill>
          <a:ln/>
        </p:spPr>
      </p:sp>
      <p:sp>
        <p:nvSpPr>
          <p:cNvPr id="53" name="Shape 51"/>
          <p:cNvSpPr/>
          <p:nvPr/>
        </p:nvSpPr>
        <p:spPr>
          <a:xfrm>
            <a:off x="6543675" y="52673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54" name="Shape 52"/>
          <p:cNvSpPr/>
          <p:nvPr/>
        </p:nvSpPr>
        <p:spPr>
          <a:xfrm>
            <a:off x="6638925" y="5381625"/>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FFFFFF"/>
          </a:solidFill>
          <a:ln/>
        </p:spPr>
      </p:sp>
      <p:sp>
        <p:nvSpPr>
          <p:cNvPr id="55" name="Text 53"/>
          <p:cNvSpPr/>
          <p:nvPr/>
        </p:nvSpPr>
        <p:spPr>
          <a:xfrm>
            <a:off x="7038975" y="5324475"/>
            <a:ext cx="20097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Nên cân bằng cả hai khi:</a:t>
            </a:r>
            <a:endParaRPr lang="en-US" sz="1600" dirty="0"/>
          </a:p>
        </p:txBody>
      </p:sp>
      <p:sp>
        <p:nvSpPr>
          <p:cNvPr id="56" name="Shape 54"/>
          <p:cNvSpPr/>
          <p:nvPr/>
        </p:nvSpPr>
        <p:spPr>
          <a:xfrm>
            <a:off x="6571059" y="5800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57" name="Text 55"/>
          <p:cNvSpPr/>
          <p:nvPr/>
        </p:nvSpPr>
        <p:spPr>
          <a:xfrm>
            <a:off x="6786563" y="5762625"/>
            <a:ext cx="24669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Hệ thống phức tạp với nhiều ràng buộc</a:t>
            </a:r>
            <a:endParaRPr lang="en-US" sz="1600" dirty="0"/>
          </a:p>
        </p:txBody>
      </p:sp>
      <p:sp>
        <p:nvSpPr>
          <p:cNvPr id="58" name="Shape 56"/>
          <p:cNvSpPr/>
          <p:nvPr/>
        </p:nvSpPr>
        <p:spPr>
          <a:xfrm>
            <a:off x="6571059" y="60674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59" name="Text 57"/>
          <p:cNvSpPr/>
          <p:nvPr/>
        </p:nvSpPr>
        <p:spPr>
          <a:xfrm>
            <a:off x="6786563" y="6029325"/>
            <a:ext cx="25908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Cần xử lý lượng dữ liệu lớn với tốc độ cao</a:t>
            </a:r>
            <a:endParaRPr lang="en-US" sz="1600" dirty="0"/>
          </a:p>
        </p:txBody>
      </p:sp>
    </p:spTree>
  </p:cSld>
  <p:clrMapOvr>
    <a:masterClrMapping/>
  </p:clrMapOvr>
  <p:transition>
    <p:fade/>
    <p:spd val="med"/>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66725" y="561975"/>
            <a:ext cx="214313" cy="171450"/>
          </a:xfrm>
          <a:custGeom>
            <a:avLst/>
            <a:gdLst/>
            <a:ahLst/>
            <a:cxnLst/>
            <a:rect l="l" t="t" r="r" b="b"/>
            <a:pathLst>
              <a:path w="214313" h="171450">
                <a:moveTo>
                  <a:pt x="117872" y="0"/>
                </a:moveTo>
                <a:cubicBezTo>
                  <a:pt x="117872" y="-5927"/>
                  <a:pt x="113083" y="-10716"/>
                  <a:pt x="107156" y="-10716"/>
                </a:cubicBezTo>
                <a:cubicBezTo>
                  <a:pt x="101229" y="-10716"/>
                  <a:pt x="96441" y="-5927"/>
                  <a:pt x="96441" y="0"/>
                </a:cubicBezTo>
                <a:lnTo>
                  <a:pt x="96441" y="21431"/>
                </a:lnTo>
                <a:lnTo>
                  <a:pt x="64294" y="21431"/>
                </a:lnTo>
                <a:cubicBezTo>
                  <a:pt x="46546" y="21431"/>
                  <a:pt x="32147" y="35830"/>
                  <a:pt x="32147" y="53578"/>
                </a:cubicBezTo>
                <a:lnTo>
                  <a:pt x="32147" y="128588"/>
                </a:lnTo>
                <a:cubicBezTo>
                  <a:pt x="32147" y="146335"/>
                  <a:pt x="46546" y="160734"/>
                  <a:pt x="64294" y="160734"/>
                </a:cubicBezTo>
                <a:lnTo>
                  <a:pt x="150019" y="160734"/>
                </a:lnTo>
                <a:cubicBezTo>
                  <a:pt x="167767" y="160734"/>
                  <a:pt x="182166" y="146335"/>
                  <a:pt x="182166" y="128588"/>
                </a:cubicBezTo>
                <a:lnTo>
                  <a:pt x="182166" y="53578"/>
                </a:lnTo>
                <a:cubicBezTo>
                  <a:pt x="182166" y="35830"/>
                  <a:pt x="167767" y="21431"/>
                  <a:pt x="150019" y="21431"/>
                </a:cubicBezTo>
                <a:lnTo>
                  <a:pt x="117872" y="21431"/>
                </a:lnTo>
                <a:lnTo>
                  <a:pt x="117872" y="0"/>
                </a:lnTo>
                <a:close/>
                <a:moveTo>
                  <a:pt x="53578" y="123230"/>
                </a:moveTo>
                <a:cubicBezTo>
                  <a:pt x="53578" y="118776"/>
                  <a:pt x="57161" y="115193"/>
                  <a:pt x="61615" y="115193"/>
                </a:cubicBezTo>
                <a:lnTo>
                  <a:pt x="72330" y="115193"/>
                </a:lnTo>
                <a:cubicBezTo>
                  <a:pt x="76784" y="115193"/>
                  <a:pt x="80367" y="118776"/>
                  <a:pt x="80367" y="123230"/>
                </a:cubicBezTo>
                <a:cubicBezTo>
                  <a:pt x="80367" y="127683"/>
                  <a:pt x="76784" y="131266"/>
                  <a:pt x="72330" y="131266"/>
                </a:cubicBezTo>
                <a:lnTo>
                  <a:pt x="61615" y="131266"/>
                </a:lnTo>
                <a:cubicBezTo>
                  <a:pt x="57161" y="131266"/>
                  <a:pt x="53578" y="127683"/>
                  <a:pt x="53578" y="123230"/>
                </a:cubicBezTo>
                <a:close/>
                <a:moveTo>
                  <a:pt x="93762" y="123230"/>
                </a:moveTo>
                <a:cubicBezTo>
                  <a:pt x="93762" y="118776"/>
                  <a:pt x="97345" y="115193"/>
                  <a:pt x="101798" y="115193"/>
                </a:cubicBezTo>
                <a:lnTo>
                  <a:pt x="112514" y="115193"/>
                </a:lnTo>
                <a:cubicBezTo>
                  <a:pt x="116968" y="115193"/>
                  <a:pt x="120551" y="118776"/>
                  <a:pt x="120551" y="123230"/>
                </a:cubicBezTo>
                <a:cubicBezTo>
                  <a:pt x="120551" y="127683"/>
                  <a:pt x="116968" y="131266"/>
                  <a:pt x="112514" y="131266"/>
                </a:cubicBezTo>
                <a:lnTo>
                  <a:pt x="101798" y="131266"/>
                </a:lnTo>
                <a:cubicBezTo>
                  <a:pt x="97345" y="131266"/>
                  <a:pt x="93762" y="127683"/>
                  <a:pt x="93762" y="123230"/>
                </a:cubicBezTo>
                <a:close/>
                <a:moveTo>
                  <a:pt x="133945" y="123230"/>
                </a:moveTo>
                <a:cubicBezTo>
                  <a:pt x="133945" y="118776"/>
                  <a:pt x="137528" y="115193"/>
                  <a:pt x="141982" y="115193"/>
                </a:cubicBezTo>
                <a:lnTo>
                  <a:pt x="152698" y="115193"/>
                </a:lnTo>
                <a:cubicBezTo>
                  <a:pt x="157151" y="115193"/>
                  <a:pt x="160734" y="118776"/>
                  <a:pt x="160734" y="123230"/>
                </a:cubicBezTo>
                <a:cubicBezTo>
                  <a:pt x="160734" y="127683"/>
                  <a:pt x="157151" y="131266"/>
                  <a:pt x="152698" y="131266"/>
                </a:cubicBezTo>
                <a:lnTo>
                  <a:pt x="141982" y="131266"/>
                </a:lnTo>
                <a:cubicBezTo>
                  <a:pt x="137528" y="131266"/>
                  <a:pt x="133945" y="127683"/>
                  <a:pt x="133945" y="123230"/>
                </a:cubicBezTo>
                <a:close/>
                <a:moveTo>
                  <a:pt x="75009" y="58936"/>
                </a:moveTo>
                <a:cubicBezTo>
                  <a:pt x="83881" y="58936"/>
                  <a:pt x="91083" y="66138"/>
                  <a:pt x="91083" y="75009"/>
                </a:cubicBezTo>
                <a:cubicBezTo>
                  <a:pt x="91083" y="83881"/>
                  <a:pt x="83881" y="91083"/>
                  <a:pt x="75009" y="91083"/>
                </a:cubicBezTo>
                <a:cubicBezTo>
                  <a:pt x="66138" y="91083"/>
                  <a:pt x="58936" y="83881"/>
                  <a:pt x="58936" y="75009"/>
                </a:cubicBezTo>
                <a:cubicBezTo>
                  <a:pt x="58936" y="66138"/>
                  <a:pt x="66138" y="58936"/>
                  <a:pt x="75009" y="58936"/>
                </a:cubicBezTo>
                <a:close/>
                <a:moveTo>
                  <a:pt x="123230" y="75009"/>
                </a:moveTo>
                <a:cubicBezTo>
                  <a:pt x="123230" y="66138"/>
                  <a:pt x="130432" y="58936"/>
                  <a:pt x="139303" y="58936"/>
                </a:cubicBezTo>
                <a:cubicBezTo>
                  <a:pt x="148174" y="58936"/>
                  <a:pt x="155377" y="66138"/>
                  <a:pt x="155377" y="75009"/>
                </a:cubicBezTo>
                <a:cubicBezTo>
                  <a:pt x="155377" y="83881"/>
                  <a:pt x="148174" y="91083"/>
                  <a:pt x="139303" y="91083"/>
                </a:cubicBezTo>
                <a:cubicBezTo>
                  <a:pt x="130432" y="91083"/>
                  <a:pt x="123230" y="83881"/>
                  <a:pt x="123230" y="75009"/>
                </a:cubicBezTo>
                <a:close/>
                <a:moveTo>
                  <a:pt x="21431" y="75009"/>
                </a:moveTo>
                <a:cubicBezTo>
                  <a:pt x="21431" y="69082"/>
                  <a:pt x="16643" y="64294"/>
                  <a:pt x="10716" y="64294"/>
                </a:cubicBezTo>
                <a:cubicBezTo>
                  <a:pt x="4789" y="64294"/>
                  <a:pt x="0" y="69082"/>
                  <a:pt x="0" y="75009"/>
                </a:cubicBezTo>
                <a:lnTo>
                  <a:pt x="0" y="107156"/>
                </a:lnTo>
                <a:cubicBezTo>
                  <a:pt x="0" y="113083"/>
                  <a:pt x="4789" y="117872"/>
                  <a:pt x="10716" y="117872"/>
                </a:cubicBezTo>
                <a:cubicBezTo>
                  <a:pt x="16643" y="117872"/>
                  <a:pt x="21431" y="113083"/>
                  <a:pt x="21431" y="107156"/>
                </a:cubicBezTo>
                <a:lnTo>
                  <a:pt x="21431" y="75009"/>
                </a:lnTo>
                <a:close/>
                <a:moveTo>
                  <a:pt x="203597" y="64294"/>
                </a:moveTo>
                <a:cubicBezTo>
                  <a:pt x="197670" y="64294"/>
                  <a:pt x="192881" y="69082"/>
                  <a:pt x="192881" y="75009"/>
                </a:cubicBezTo>
                <a:lnTo>
                  <a:pt x="192881" y="107156"/>
                </a:lnTo>
                <a:cubicBezTo>
                  <a:pt x="192881" y="113083"/>
                  <a:pt x="197670" y="117872"/>
                  <a:pt x="203597" y="117872"/>
                </a:cubicBezTo>
                <a:cubicBezTo>
                  <a:pt x="209524" y="117872"/>
                  <a:pt x="214313" y="113083"/>
                  <a:pt x="214313" y="107156"/>
                </a:cubicBezTo>
                <a:lnTo>
                  <a:pt x="214313" y="75009"/>
                </a:lnTo>
                <a:cubicBezTo>
                  <a:pt x="214313" y="69082"/>
                  <a:pt x="209524" y="64294"/>
                  <a:pt x="203597" y="64294"/>
                </a:cubicBezTo>
                <a:close/>
              </a:path>
            </a:pathLst>
          </a:custGeom>
          <a:solidFill>
            <a:srgbClr val="FFFFFF"/>
          </a:solidFill>
          <a:ln/>
        </p:spPr>
      </p:sp>
      <p:sp>
        <p:nvSpPr>
          <p:cNvPr id="4" name="Text 2"/>
          <p:cNvSpPr/>
          <p:nvPr/>
        </p:nvSpPr>
        <p:spPr>
          <a:xfrm>
            <a:off x="876300" y="381000"/>
            <a:ext cx="4543425"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14 | PHÂN TÍCH</a:t>
            </a:r>
            <a:endParaRPr lang="en-US" sz="1600" dirty="0"/>
          </a:p>
        </p:txBody>
      </p:sp>
      <p:sp>
        <p:nvSpPr>
          <p:cNvPr id="5" name="Text 3"/>
          <p:cNvSpPr/>
          <p:nvPr/>
        </p:nvSpPr>
        <p:spPr>
          <a:xfrm>
            <a:off x="876300" y="571500"/>
            <a:ext cx="46196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Vai trò của GenAI trong tối ưu hóa</a:t>
            </a:r>
            <a:endParaRPr lang="en-US" sz="1600" dirty="0"/>
          </a:p>
        </p:txBody>
      </p:sp>
      <p:sp>
        <p:nvSpPr>
          <p:cNvPr id="6" name="Shape 4"/>
          <p:cNvSpPr/>
          <p:nvPr/>
        </p:nvSpPr>
        <p:spPr>
          <a:xfrm>
            <a:off x="385763" y="1147763"/>
            <a:ext cx="3695700" cy="4429125"/>
          </a:xfrm>
          <a:custGeom>
            <a:avLst/>
            <a:gdLst/>
            <a:ahLst/>
            <a:cxnLst/>
            <a:rect l="l" t="t" r="r" b="b"/>
            <a:pathLst>
              <a:path w="3695700" h="4429125">
                <a:moveTo>
                  <a:pt x="114308" y="0"/>
                </a:moveTo>
                <a:lnTo>
                  <a:pt x="3581392" y="0"/>
                </a:lnTo>
                <a:cubicBezTo>
                  <a:pt x="3644523" y="0"/>
                  <a:pt x="3695700" y="51177"/>
                  <a:pt x="3695700" y="114308"/>
                </a:cubicBezTo>
                <a:lnTo>
                  <a:pt x="3695700" y="4314817"/>
                </a:lnTo>
                <a:cubicBezTo>
                  <a:pt x="3695700" y="4377948"/>
                  <a:pt x="3644523" y="4429125"/>
                  <a:pt x="3581392" y="4429125"/>
                </a:cubicBezTo>
                <a:lnTo>
                  <a:pt x="114308" y="4429125"/>
                </a:lnTo>
                <a:cubicBezTo>
                  <a:pt x="51177" y="4429125"/>
                  <a:pt x="0" y="4377948"/>
                  <a:pt x="0" y="4314817"/>
                </a:cubicBezTo>
                <a:lnTo>
                  <a:pt x="0" y="114308"/>
                </a:lnTo>
                <a:cubicBezTo>
                  <a:pt x="0" y="51220"/>
                  <a:pt x="51220" y="0"/>
                  <a:pt x="114308"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1025" y="13430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3B82F6"/>
          </a:solidFill>
          <a:ln/>
        </p:spPr>
      </p:sp>
      <p:sp>
        <p:nvSpPr>
          <p:cNvPr id="8" name="Shape 6"/>
          <p:cNvSpPr/>
          <p:nvPr/>
        </p:nvSpPr>
        <p:spPr>
          <a:xfrm>
            <a:off x="733425" y="1495425"/>
            <a:ext cx="228600" cy="228600"/>
          </a:xfrm>
          <a:custGeom>
            <a:avLst/>
            <a:gdLst/>
            <a:ahLst/>
            <a:cxnLst/>
            <a:rect l="l" t="t" r="r" b="b"/>
            <a:pathLst>
              <a:path w="228600" h="228600">
                <a:moveTo>
                  <a:pt x="0" y="114300"/>
                </a:moveTo>
                <a:cubicBezTo>
                  <a:pt x="0" y="51216"/>
                  <a:pt x="51216" y="0"/>
                  <a:pt x="114300" y="0"/>
                </a:cubicBezTo>
                <a:cubicBezTo>
                  <a:pt x="177384" y="0"/>
                  <a:pt x="228600" y="51216"/>
                  <a:pt x="228600" y="114300"/>
                </a:cubicBezTo>
                <a:cubicBezTo>
                  <a:pt x="228600" y="177384"/>
                  <a:pt x="177384" y="228600"/>
                  <a:pt x="114300" y="228600"/>
                </a:cubicBezTo>
                <a:cubicBezTo>
                  <a:pt x="51216" y="228600"/>
                  <a:pt x="0" y="177384"/>
                  <a:pt x="0" y="114300"/>
                </a:cubicBezTo>
                <a:close/>
                <a:moveTo>
                  <a:pt x="128588" y="42863"/>
                </a:moveTo>
                <a:cubicBezTo>
                  <a:pt x="128588" y="34977"/>
                  <a:pt x="122185" y="28575"/>
                  <a:pt x="114300" y="28575"/>
                </a:cubicBezTo>
                <a:cubicBezTo>
                  <a:pt x="106415" y="28575"/>
                  <a:pt x="100013" y="34977"/>
                  <a:pt x="100013" y="42863"/>
                </a:cubicBezTo>
                <a:cubicBezTo>
                  <a:pt x="100013" y="50748"/>
                  <a:pt x="106415" y="57150"/>
                  <a:pt x="114300" y="57150"/>
                </a:cubicBezTo>
                <a:cubicBezTo>
                  <a:pt x="122185" y="57150"/>
                  <a:pt x="128588" y="50748"/>
                  <a:pt x="128588" y="42863"/>
                </a:cubicBezTo>
                <a:close/>
                <a:moveTo>
                  <a:pt x="114300" y="185738"/>
                </a:moveTo>
                <a:cubicBezTo>
                  <a:pt x="130061" y="185738"/>
                  <a:pt x="142875" y="172923"/>
                  <a:pt x="142875" y="157163"/>
                </a:cubicBezTo>
                <a:cubicBezTo>
                  <a:pt x="142875" y="149929"/>
                  <a:pt x="140196" y="143277"/>
                  <a:pt x="135731" y="138276"/>
                </a:cubicBezTo>
                <a:lnTo>
                  <a:pt x="166762" y="76260"/>
                </a:lnTo>
                <a:cubicBezTo>
                  <a:pt x="169396" y="70946"/>
                  <a:pt x="167253" y="64517"/>
                  <a:pt x="161985" y="61883"/>
                </a:cubicBezTo>
                <a:cubicBezTo>
                  <a:pt x="156716" y="59248"/>
                  <a:pt x="150242" y="61392"/>
                  <a:pt x="147608" y="66660"/>
                </a:cubicBezTo>
                <a:lnTo>
                  <a:pt x="116577" y="128677"/>
                </a:lnTo>
                <a:cubicBezTo>
                  <a:pt x="115818" y="128632"/>
                  <a:pt x="115059" y="128588"/>
                  <a:pt x="114300" y="128588"/>
                </a:cubicBezTo>
                <a:cubicBezTo>
                  <a:pt x="98539" y="128588"/>
                  <a:pt x="85725" y="141402"/>
                  <a:pt x="85725" y="157163"/>
                </a:cubicBezTo>
                <a:cubicBezTo>
                  <a:pt x="85725" y="172923"/>
                  <a:pt x="98539" y="185738"/>
                  <a:pt x="114300" y="185738"/>
                </a:cubicBezTo>
                <a:close/>
                <a:moveTo>
                  <a:pt x="78581" y="64294"/>
                </a:moveTo>
                <a:cubicBezTo>
                  <a:pt x="78581" y="56408"/>
                  <a:pt x="72179" y="50006"/>
                  <a:pt x="64294" y="50006"/>
                </a:cubicBezTo>
                <a:cubicBezTo>
                  <a:pt x="56408" y="50006"/>
                  <a:pt x="50006" y="56408"/>
                  <a:pt x="50006" y="64294"/>
                </a:cubicBezTo>
                <a:cubicBezTo>
                  <a:pt x="50006" y="72179"/>
                  <a:pt x="56408" y="78581"/>
                  <a:pt x="64294" y="78581"/>
                </a:cubicBezTo>
                <a:cubicBezTo>
                  <a:pt x="72179" y="78581"/>
                  <a:pt x="78581" y="72179"/>
                  <a:pt x="78581" y="64294"/>
                </a:cubicBezTo>
                <a:close/>
                <a:moveTo>
                  <a:pt x="42863" y="128588"/>
                </a:moveTo>
                <a:cubicBezTo>
                  <a:pt x="50748" y="128588"/>
                  <a:pt x="57150" y="122185"/>
                  <a:pt x="57150" y="114300"/>
                </a:cubicBezTo>
                <a:cubicBezTo>
                  <a:pt x="57150" y="106415"/>
                  <a:pt x="50748" y="100013"/>
                  <a:pt x="42863" y="100013"/>
                </a:cubicBezTo>
                <a:cubicBezTo>
                  <a:pt x="34977" y="100013"/>
                  <a:pt x="28575" y="106415"/>
                  <a:pt x="28575" y="114300"/>
                </a:cubicBezTo>
                <a:cubicBezTo>
                  <a:pt x="28575" y="122185"/>
                  <a:pt x="34977" y="128588"/>
                  <a:pt x="42863" y="128588"/>
                </a:cubicBezTo>
                <a:close/>
                <a:moveTo>
                  <a:pt x="200025" y="114300"/>
                </a:moveTo>
                <a:cubicBezTo>
                  <a:pt x="200025" y="106415"/>
                  <a:pt x="193623" y="100013"/>
                  <a:pt x="185738" y="100013"/>
                </a:cubicBezTo>
                <a:cubicBezTo>
                  <a:pt x="177852" y="100013"/>
                  <a:pt x="171450" y="106415"/>
                  <a:pt x="171450" y="114300"/>
                </a:cubicBezTo>
                <a:cubicBezTo>
                  <a:pt x="171450" y="122185"/>
                  <a:pt x="177852" y="128588"/>
                  <a:pt x="185738" y="128588"/>
                </a:cubicBezTo>
                <a:cubicBezTo>
                  <a:pt x="193623" y="128588"/>
                  <a:pt x="200025" y="122185"/>
                  <a:pt x="200025" y="114300"/>
                </a:cubicBezTo>
                <a:close/>
              </a:path>
            </a:pathLst>
          </a:custGeom>
          <a:solidFill>
            <a:srgbClr val="FFFFFF"/>
          </a:solidFill>
          <a:ln/>
        </p:spPr>
      </p:sp>
      <p:sp>
        <p:nvSpPr>
          <p:cNvPr id="9" name="Text 7"/>
          <p:cNvSpPr/>
          <p:nvPr/>
        </p:nvSpPr>
        <p:spPr>
          <a:xfrm>
            <a:off x="581025" y="2028825"/>
            <a:ext cx="34004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Tự động hóa profiling</a:t>
            </a:r>
            <a:endParaRPr lang="en-US" sz="1600" dirty="0"/>
          </a:p>
        </p:txBody>
      </p:sp>
      <p:sp>
        <p:nvSpPr>
          <p:cNvPr id="10" name="Shape 8"/>
          <p:cNvSpPr/>
          <p:nvPr/>
        </p:nvSpPr>
        <p:spPr>
          <a:xfrm>
            <a:off x="581025" y="24098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1" name="Text 9"/>
          <p:cNvSpPr/>
          <p:nvPr/>
        </p:nvSpPr>
        <p:spPr>
          <a:xfrm>
            <a:off x="695325" y="2524125"/>
            <a:ext cx="3152775"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GitHub Copilot</a:t>
            </a:r>
            <a:endParaRPr lang="en-US" sz="1600" dirty="0"/>
          </a:p>
        </p:txBody>
      </p:sp>
      <p:sp>
        <p:nvSpPr>
          <p:cNvPr id="12" name="Text 10"/>
          <p:cNvSpPr/>
          <p:nvPr/>
        </p:nvSpPr>
        <p:spPr>
          <a:xfrm>
            <a:off x="695325" y="28289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Gợi ý code profiling tự động</a:t>
            </a:r>
            <a:endParaRPr lang="en-US" sz="1600" dirty="0"/>
          </a:p>
        </p:txBody>
      </p:sp>
      <p:sp>
        <p:nvSpPr>
          <p:cNvPr id="13" name="Shape 11"/>
          <p:cNvSpPr/>
          <p:nvPr/>
        </p:nvSpPr>
        <p:spPr>
          <a:xfrm>
            <a:off x="581025" y="32480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4" name="Text 12"/>
          <p:cNvSpPr/>
          <p:nvPr/>
        </p:nvSpPr>
        <p:spPr>
          <a:xfrm>
            <a:off x="695325" y="3362325"/>
            <a:ext cx="3152775"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Tự động hoàn thành</a:t>
            </a:r>
            <a:endParaRPr lang="en-US" sz="1600" dirty="0"/>
          </a:p>
        </p:txBody>
      </p:sp>
      <p:sp>
        <p:nvSpPr>
          <p:cNvPr id="15" name="Text 13"/>
          <p:cNvSpPr/>
          <p:nvPr/>
        </p:nvSpPr>
        <p:spPr>
          <a:xfrm>
            <a:off x="695325" y="36671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Vòng lặp đo thờigian chạy</a:t>
            </a:r>
            <a:endParaRPr lang="en-US" sz="1600" dirty="0"/>
          </a:p>
        </p:txBody>
      </p:sp>
      <p:sp>
        <p:nvSpPr>
          <p:cNvPr id="16" name="Shape 14"/>
          <p:cNvSpPr/>
          <p:nvPr/>
        </p:nvSpPr>
        <p:spPr>
          <a:xfrm>
            <a:off x="581025" y="41243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17" name="Shape 15"/>
          <p:cNvSpPr/>
          <p:nvPr/>
        </p:nvSpPr>
        <p:spPr>
          <a:xfrm>
            <a:off x="731044" y="4276725"/>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F59E0B"/>
          </a:solidFill>
          <a:ln/>
        </p:spPr>
      </p:sp>
      <p:sp>
        <p:nvSpPr>
          <p:cNvPr id="18" name="Text 16"/>
          <p:cNvSpPr/>
          <p:nvPr/>
        </p:nvSpPr>
        <p:spPr>
          <a:xfrm>
            <a:off x="923925" y="4238625"/>
            <a:ext cx="29146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Giảm thờigian viết code đo lường</a:t>
            </a:r>
            <a:endParaRPr lang="en-US" sz="1600" dirty="0"/>
          </a:p>
        </p:txBody>
      </p:sp>
      <p:sp>
        <p:nvSpPr>
          <p:cNvPr id="19" name="Shape 17"/>
          <p:cNvSpPr/>
          <p:nvPr/>
        </p:nvSpPr>
        <p:spPr>
          <a:xfrm>
            <a:off x="4246513" y="1147763"/>
            <a:ext cx="3695700" cy="4429125"/>
          </a:xfrm>
          <a:custGeom>
            <a:avLst/>
            <a:gdLst/>
            <a:ahLst/>
            <a:cxnLst/>
            <a:rect l="l" t="t" r="r" b="b"/>
            <a:pathLst>
              <a:path w="3695700" h="4429125">
                <a:moveTo>
                  <a:pt x="114308" y="0"/>
                </a:moveTo>
                <a:lnTo>
                  <a:pt x="3581392" y="0"/>
                </a:lnTo>
                <a:cubicBezTo>
                  <a:pt x="3644523" y="0"/>
                  <a:pt x="3695700" y="51177"/>
                  <a:pt x="3695700" y="114308"/>
                </a:cubicBezTo>
                <a:lnTo>
                  <a:pt x="3695700" y="4314817"/>
                </a:lnTo>
                <a:cubicBezTo>
                  <a:pt x="3695700" y="4377948"/>
                  <a:pt x="3644523" y="4429125"/>
                  <a:pt x="3581392" y="4429125"/>
                </a:cubicBezTo>
                <a:lnTo>
                  <a:pt x="114308" y="4429125"/>
                </a:lnTo>
                <a:cubicBezTo>
                  <a:pt x="51177" y="4429125"/>
                  <a:pt x="0" y="4377948"/>
                  <a:pt x="0" y="4314817"/>
                </a:cubicBezTo>
                <a:lnTo>
                  <a:pt x="0" y="114308"/>
                </a:lnTo>
                <a:cubicBezTo>
                  <a:pt x="0" y="51220"/>
                  <a:pt x="51220" y="0"/>
                  <a:pt x="11430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0" name="Shape 18"/>
          <p:cNvSpPr/>
          <p:nvPr/>
        </p:nvSpPr>
        <p:spPr>
          <a:xfrm>
            <a:off x="4441775" y="13430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8B5CF6"/>
          </a:solidFill>
          <a:ln/>
        </p:spPr>
      </p:sp>
      <p:sp>
        <p:nvSpPr>
          <p:cNvPr id="21" name="Shape 19"/>
          <p:cNvSpPr/>
          <p:nvPr/>
        </p:nvSpPr>
        <p:spPr>
          <a:xfrm>
            <a:off x="4594175" y="1495425"/>
            <a:ext cx="228600" cy="228600"/>
          </a:xfrm>
          <a:custGeom>
            <a:avLst/>
            <a:gdLst/>
            <a:ahLst/>
            <a:cxnLst/>
            <a:rect l="l" t="t" r="r" b="b"/>
            <a:pathLst>
              <a:path w="228600" h="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FFFFFF"/>
          </a:solidFill>
          <a:ln/>
        </p:spPr>
      </p:sp>
      <p:sp>
        <p:nvSpPr>
          <p:cNvPr id="22" name="Text 20"/>
          <p:cNvSpPr/>
          <p:nvPr/>
        </p:nvSpPr>
        <p:spPr>
          <a:xfrm>
            <a:off x="4441775" y="2028825"/>
            <a:ext cx="34004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Dự đoán dung lượng</a:t>
            </a:r>
            <a:endParaRPr lang="en-US" sz="1600" dirty="0"/>
          </a:p>
        </p:txBody>
      </p:sp>
      <p:sp>
        <p:nvSpPr>
          <p:cNvPr id="23" name="Shape 21"/>
          <p:cNvSpPr/>
          <p:nvPr/>
        </p:nvSpPr>
        <p:spPr>
          <a:xfrm>
            <a:off x="4441775" y="24098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24" name="Text 22"/>
          <p:cNvSpPr/>
          <p:nvPr/>
        </p:nvSpPr>
        <p:spPr>
          <a:xfrm>
            <a:off x="4556075" y="2524125"/>
            <a:ext cx="3152775"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ChatGPT phân tích</a:t>
            </a:r>
            <a:endParaRPr lang="en-US" sz="1600" dirty="0"/>
          </a:p>
        </p:txBody>
      </p:sp>
      <p:sp>
        <p:nvSpPr>
          <p:cNvPr id="25" name="Text 23"/>
          <p:cNvSpPr/>
          <p:nvPr/>
        </p:nvSpPr>
        <p:spPr>
          <a:xfrm>
            <a:off x="4556075" y="28289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Dữ liệu profiling để dự báo</a:t>
            </a:r>
            <a:endParaRPr lang="en-US" sz="1600" dirty="0"/>
          </a:p>
        </p:txBody>
      </p:sp>
      <p:sp>
        <p:nvSpPr>
          <p:cNvPr id="26" name="Shape 24"/>
          <p:cNvSpPr/>
          <p:nvPr/>
        </p:nvSpPr>
        <p:spPr>
          <a:xfrm>
            <a:off x="4441775" y="32480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27" name="Text 25"/>
          <p:cNvSpPr/>
          <p:nvPr/>
        </p:nvSpPr>
        <p:spPr>
          <a:xfrm>
            <a:off x="4556075" y="3362325"/>
            <a:ext cx="3152775"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Dự báo chính xác</a:t>
            </a:r>
            <a:endParaRPr lang="en-US" sz="1600" dirty="0"/>
          </a:p>
        </p:txBody>
      </p:sp>
      <p:sp>
        <p:nvSpPr>
          <p:cNvPr id="28" name="Text 26"/>
          <p:cNvSpPr/>
          <p:nvPr/>
        </p:nvSpPr>
        <p:spPr>
          <a:xfrm>
            <a:off x="4556075" y="36671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Kích thước đầu vào tối đa</a:t>
            </a:r>
            <a:endParaRPr lang="en-US" sz="1600" dirty="0"/>
          </a:p>
        </p:txBody>
      </p:sp>
      <p:sp>
        <p:nvSpPr>
          <p:cNvPr id="29" name="Shape 27"/>
          <p:cNvSpPr/>
          <p:nvPr/>
        </p:nvSpPr>
        <p:spPr>
          <a:xfrm>
            <a:off x="4441775" y="40862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30" name="Text 28"/>
          <p:cNvSpPr/>
          <p:nvPr/>
        </p:nvSpPr>
        <p:spPr>
          <a:xfrm>
            <a:off x="4556075" y="4200525"/>
            <a:ext cx="3152775"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Chain-of-thought</a:t>
            </a:r>
            <a:endParaRPr lang="en-US" sz="1600" dirty="0"/>
          </a:p>
        </p:txBody>
      </p:sp>
      <p:sp>
        <p:nvSpPr>
          <p:cNvPr id="31" name="Text 29"/>
          <p:cNvSpPr/>
          <p:nvPr/>
        </p:nvSpPr>
        <p:spPr>
          <a:xfrm>
            <a:off x="4556075" y="45053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Reasoning để đưa ra dự đoán</a:t>
            </a:r>
            <a:endParaRPr lang="en-US" sz="1600" dirty="0"/>
          </a:p>
        </p:txBody>
      </p:sp>
      <p:sp>
        <p:nvSpPr>
          <p:cNvPr id="32" name="Shape 30"/>
          <p:cNvSpPr/>
          <p:nvPr/>
        </p:nvSpPr>
        <p:spPr>
          <a:xfrm>
            <a:off x="4441775" y="49625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33" name="Shape 31"/>
          <p:cNvSpPr/>
          <p:nvPr/>
        </p:nvSpPr>
        <p:spPr>
          <a:xfrm>
            <a:off x="4591794" y="5114925"/>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F59E0B"/>
          </a:solidFill>
          <a:ln/>
        </p:spPr>
      </p:sp>
      <p:sp>
        <p:nvSpPr>
          <p:cNvPr id="34" name="Text 32"/>
          <p:cNvSpPr/>
          <p:nvPr/>
        </p:nvSpPr>
        <p:spPr>
          <a:xfrm>
            <a:off x="4784675" y="5076825"/>
            <a:ext cx="29146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Tránh lỗi vượt quá giới hạn</a:t>
            </a:r>
            <a:endParaRPr lang="en-US" sz="1600" dirty="0"/>
          </a:p>
        </p:txBody>
      </p:sp>
      <p:sp>
        <p:nvSpPr>
          <p:cNvPr id="35" name="Shape 33"/>
          <p:cNvSpPr/>
          <p:nvPr/>
        </p:nvSpPr>
        <p:spPr>
          <a:xfrm>
            <a:off x="8107263" y="1147763"/>
            <a:ext cx="3695700" cy="4429125"/>
          </a:xfrm>
          <a:custGeom>
            <a:avLst/>
            <a:gdLst/>
            <a:ahLst/>
            <a:cxnLst/>
            <a:rect l="l" t="t" r="r" b="b"/>
            <a:pathLst>
              <a:path w="3695700" h="4429125">
                <a:moveTo>
                  <a:pt x="114308" y="0"/>
                </a:moveTo>
                <a:lnTo>
                  <a:pt x="3581392" y="0"/>
                </a:lnTo>
                <a:cubicBezTo>
                  <a:pt x="3644523" y="0"/>
                  <a:pt x="3695700" y="51177"/>
                  <a:pt x="3695700" y="114308"/>
                </a:cubicBezTo>
                <a:lnTo>
                  <a:pt x="3695700" y="4314817"/>
                </a:lnTo>
                <a:cubicBezTo>
                  <a:pt x="3695700" y="4377948"/>
                  <a:pt x="3644523" y="4429125"/>
                  <a:pt x="3581392" y="4429125"/>
                </a:cubicBezTo>
                <a:lnTo>
                  <a:pt x="114308" y="4429125"/>
                </a:lnTo>
                <a:cubicBezTo>
                  <a:pt x="51177" y="4429125"/>
                  <a:pt x="0" y="4377948"/>
                  <a:pt x="0" y="4314817"/>
                </a:cubicBezTo>
                <a:lnTo>
                  <a:pt x="0" y="114308"/>
                </a:lnTo>
                <a:cubicBezTo>
                  <a:pt x="0" y="51220"/>
                  <a:pt x="51220" y="0"/>
                  <a:pt x="11430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6" name="Shape 34"/>
          <p:cNvSpPr/>
          <p:nvPr/>
        </p:nvSpPr>
        <p:spPr>
          <a:xfrm>
            <a:off x="8302526" y="1343025"/>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10B981"/>
          </a:solidFill>
          <a:ln/>
        </p:spPr>
      </p:sp>
      <p:sp>
        <p:nvSpPr>
          <p:cNvPr id="37" name="Shape 35"/>
          <p:cNvSpPr/>
          <p:nvPr/>
        </p:nvSpPr>
        <p:spPr>
          <a:xfrm>
            <a:off x="8454926" y="1495425"/>
            <a:ext cx="228600" cy="228600"/>
          </a:xfrm>
          <a:custGeom>
            <a:avLst/>
            <a:gdLst/>
            <a:ahLst/>
            <a:cxnLst/>
            <a:rect l="l" t="t" r="r" b="b"/>
            <a:pathLst>
              <a:path w="228600" h="228600">
                <a:moveTo>
                  <a:pt x="177924" y="5447"/>
                </a:moveTo>
                <a:lnTo>
                  <a:pt x="138544" y="44827"/>
                </a:lnTo>
                <a:lnTo>
                  <a:pt x="183773" y="90056"/>
                </a:lnTo>
                <a:lnTo>
                  <a:pt x="223153" y="50676"/>
                </a:lnTo>
                <a:cubicBezTo>
                  <a:pt x="226635" y="47149"/>
                  <a:pt x="228600" y="42416"/>
                  <a:pt x="228600" y="37505"/>
                </a:cubicBezTo>
                <a:cubicBezTo>
                  <a:pt x="228600" y="32593"/>
                  <a:pt x="226635" y="27861"/>
                  <a:pt x="223153" y="24333"/>
                </a:cubicBezTo>
                <a:lnTo>
                  <a:pt x="204267" y="5447"/>
                </a:lnTo>
                <a:cubicBezTo>
                  <a:pt x="200739" y="1965"/>
                  <a:pt x="196007" y="0"/>
                  <a:pt x="191095" y="0"/>
                </a:cubicBezTo>
                <a:cubicBezTo>
                  <a:pt x="186184" y="0"/>
                  <a:pt x="181451" y="1965"/>
                  <a:pt x="177924" y="5447"/>
                </a:cubicBezTo>
                <a:close/>
                <a:moveTo>
                  <a:pt x="123408" y="59963"/>
                </a:moveTo>
                <a:lnTo>
                  <a:pt x="5447" y="177924"/>
                </a:lnTo>
                <a:cubicBezTo>
                  <a:pt x="1965" y="181451"/>
                  <a:pt x="0" y="186184"/>
                  <a:pt x="0" y="191095"/>
                </a:cubicBezTo>
                <a:cubicBezTo>
                  <a:pt x="0" y="196007"/>
                  <a:pt x="1965" y="200739"/>
                  <a:pt x="5447" y="204267"/>
                </a:cubicBezTo>
                <a:lnTo>
                  <a:pt x="24333" y="223153"/>
                </a:lnTo>
                <a:cubicBezTo>
                  <a:pt x="27861" y="226635"/>
                  <a:pt x="32593" y="228600"/>
                  <a:pt x="37505" y="228600"/>
                </a:cubicBezTo>
                <a:cubicBezTo>
                  <a:pt x="42416" y="228600"/>
                  <a:pt x="47149" y="226635"/>
                  <a:pt x="50676" y="223153"/>
                </a:cubicBezTo>
                <a:lnTo>
                  <a:pt x="168637" y="105192"/>
                </a:lnTo>
                <a:lnTo>
                  <a:pt x="123408" y="59963"/>
                </a:lnTo>
                <a:close/>
              </a:path>
            </a:pathLst>
          </a:custGeom>
          <a:solidFill>
            <a:srgbClr val="FFFFFF"/>
          </a:solidFill>
          <a:ln/>
        </p:spPr>
      </p:sp>
      <p:sp>
        <p:nvSpPr>
          <p:cNvPr id="38" name="Text 36"/>
          <p:cNvSpPr/>
          <p:nvPr/>
        </p:nvSpPr>
        <p:spPr>
          <a:xfrm>
            <a:off x="8302526" y="2028825"/>
            <a:ext cx="34004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Tối ưu thông minh</a:t>
            </a:r>
            <a:endParaRPr lang="en-US" sz="1600" dirty="0"/>
          </a:p>
        </p:txBody>
      </p:sp>
      <p:sp>
        <p:nvSpPr>
          <p:cNvPr id="39" name="Shape 37"/>
          <p:cNvSpPr/>
          <p:nvPr/>
        </p:nvSpPr>
        <p:spPr>
          <a:xfrm>
            <a:off x="8302526" y="24098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0" name="Text 38"/>
          <p:cNvSpPr/>
          <p:nvPr/>
        </p:nvSpPr>
        <p:spPr>
          <a:xfrm>
            <a:off x="8416826" y="2524125"/>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Gợi ý thuật toán</a:t>
            </a:r>
            <a:endParaRPr lang="en-US" sz="1600" dirty="0"/>
          </a:p>
        </p:txBody>
      </p:sp>
      <p:sp>
        <p:nvSpPr>
          <p:cNvPr id="41" name="Text 39"/>
          <p:cNvSpPr/>
          <p:nvPr/>
        </p:nvSpPr>
        <p:spPr>
          <a:xfrm>
            <a:off x="8416826" y="28289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Tốt hơn (Fast-Doubling, Batch)</a:t>
            </a:r>
            <a:endParaRPr lang="en-US" sz="1600" dirty="0"/>
          </a:p>
        </p:txBody>
      </p:sp>
      <p:sp>
        <p:nvSpPr>
          <p:cNvPr id="42" name="Shape 40"/>
          <p:cNvSpPr/>
          <p:nvPr/>
        </p:nvSpPr>
        <p:spPr>
          <a:xfrm>
            <a:off x="8302526" y="32480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3" name="Text 41"/>
          <p:cNvSpPr/>
          <p:nvPr/>
        </p:nvSpPr>
        <p:spPr>
          <a:xfrm>
            <a:off x="8416826" y="3362325"/>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Giải thích tradeoff</a:t>
            </a:r>
            <a:endParaRPr lang="en-US" sz="1600" dirty="0"/>
          </a:p>
        </p:txBody>
      </p:sp>
      <p:sp>
        <p:nvSpPr>
          <p:cNvPr id="44" name="Text 42"/>
          <p:cNvSpPr/>
          <p:nvPr/>
        </p:nvSpPr>
        <p:spPr>
          <a:xfrm>
            <a:off x="8416826" y="36671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Time vs Memory rõ ràng</a:t>
            </a:r>
            <a:endParaRPr lang="en-US" sz="1600" dirty="0"/>
          </a:p>
        </p:txBody>
      </p:sp>
      <p:sp>
        <p:nvSpPr>
          <p:cNvPr id="45" name="Shape 43"/>
          <p:cNvSpPr/>
          <p:nvPr/>
        </p:nvSpPr>
        <p:spPr>
          <a:xfrm>
            <a:off x="8302526" y="40862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6" name="Text 44"/>
          <p:cNvSpPr/>
          <p:nvPr/>
        </p:nvSpPr>
        <p:spPr>
          <a:xfrm>
            <a:off x="8416826" y="4200525"/>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Cấu trúc code</a:t>
            </a:r>
            <a:endParaRPr lang="en-US" sz="1600" dirty="0"/>
          </a:p>
        </p:txBody>
      </p:sp>
      <p:sp>
        <p:nvSpPr>
          <p:cNvPr id="47" name="Text 45"/>
          <p:cNvSpPr/>
          <p:nvPr/>
        </p:nvSpPr>
        <p:spPr>
          <a:xfrm>
            <a:off x="8416826" y="45053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Đã tối ưu sẵn</a:t>
            </a:r>
            <a:endParaRPr lang="en-US" sz="1600" dirty="0"/>
          </a:p>
        </p:txBody>
      </p:sp>
      <p:sp>
        <p:nvSpPr>
          <p:cNvPr id="48" name="Shape 46"/>
          <p:cNvSpPr/>
          <p:nvPr/>
        </p:nvSpPr>
        <p:spPr>
          <a:xfrm>
            <a:off x="8302526" y="49625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49" name="Shape 47"/>
          <p:cNvSpPr/>
          <p:nvPr/>
        </p:nvSpPr>
        <p:spPr>
          <a:xfrm>
            <a:off x="8452545" y="5114925"/>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F59E0B"/>
          </a:solidFill>
          <a:ln/>
        </p:spPr>
      </p:sp>
      <p:sp>
        <p:nvSpPr>
          <p:cNvPr id="50" name="Text 48"/>
          <p:cNvSpPr/>
          <p:nvPr/>
        </p:nvSpPr>
        <p:spPr>
          <a:xfrm>
            <a:off x="8645426" y="5076825"/>
            <a:ext cx="29146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Tăng hiệu suất vượt trội</a:t>
            </a:r>
            <a:endParaRPr lang="en-US" sz="1600" dirty="0"/>
          </a:p>
        </p:txBody>
      </p:sp>
      <p:sp>
        <p:nvSpPr>
          <p:cNvPr id="51" name="Shape 49"/>
          <p:cNvSpPr/>
          <p:nvPr/>
        </p:nvSpPr>
        <p:spPr>
          <a:xfrm>
            <a:off x="385763" y="5738813"/>
            <a:ext cx="11420475" cy="847725"/>
          </a:xfrm>
          <a:custGeom>
            <a:avLst/>
            <a:gdLst/>
            <a:ahLst/>
            <a:cxnLst/>
            <a:rect l="l" t="t" r="r" b="b"/>
            <a:pathLst>
              <a:path w="11420475" h="847725">
                <a:moveTo>
                  <a:pt x="114299" y="0"/>
                </a:moveTo>
                <a:lnTo>
                  <a:pt x="11306176" y="0"/>
                </a:lnTo>
                <a:cubicBezTo>
                  <a:pt x="11369302" y="0"/>
                  <a:pt x="11420475" y="51173"/>
                  <a:pt x="11420475" y="114299"/>
                </a:cubicBezTo>
                <a:lnTo>
                  <a:pt x="11420475" y="733426"/>
                </a:lnTo>
                <a:cubicBezTo>
                  <a:pt x="11420475" y="796552"/>
                  <a:pt x="11369302" y="847725"/>
                  <a:pt x="11306176" y="847725"/>
                </a:cubicBezTo>
                <a:lnTo>
                  <a:pt x="114299" y="847725"/>
                </a:lnTo>
                <a:cubicBezTo>
                  <a:pt x="51216" y="847725"/>
                  <a:pt x="0" y="796509"/>
                  <a:pt x="0" y="733426"/>
                </a:cubicBezTo>
                <a:lnTo>
                  <a:pt x="0" y="114299"/>
                </a:lnTo>
                <a:cubicBezTo>
                  <a:pt x="0" y="51216"/>
                  <a:pt x="51216" y="0"/>
                  <a:pt x="114299"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52" name="Shape 50"/>
          <p:cNvSpPr/>
          <p:nvPr/>
        </p:nvSpPr>
        <p:spPr>
          <a:xfrm>
            <a:off x="795338" y="5953125"/>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3B82F6"/>
          </a:solidFill>
          <a:ln/>
        </p:spPr>
      </p:sp>
      <p:sp>
        <p:nvSpPr>
          <p:cNvPr id="53" name="Text 51"/>
          <p:cNvSpPr/>
          <p:nvPr/>
        </p:nvSpPr>
        <p:spPr>
          <a:xfrm>
            <a:off x="776288" y="5895975"/>
            <a:ext cx="10915650" cy="5334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GenAI là công cụ mạnh mẽ</a:t>
            </a:r>
            <a:pPr algn="ctr">
              <a:lnSpc>
                <a:spcPct val="130000"/>
              </a:lnSpc>
            </a:pPr>
            <a:r>
              <a:rPr lang="en-US" sz="1350" dirty="0">
                <a:solidFill>
                  <a:srgbClr val="F1F5F9">
                    <a:alpha val="90000"/>
                  </a:srgbClr>
                </a:solidFill>
                <a:latin typeface="MiSans" pitchFamily="34" charset="0"/>
                <a:ea typeface="MiSans" pitchFamily="34" charset="-122"/>
                <a:cs typeface="MiSans" pitchFamily="34" charset="-120"/>
              </a:rPr>
              <a:t> trong tối ưu hóa: Copilot tự động hóa code profiling, ChatGPT phân tích và dự đoán dung lượng, và gợi ý thuật toán tối ưu với giải thích tradeoff rõ ràng.</a:t>
            </a:r>
            <a:endParaRPr lang="en-US" sz="1600" dirty="0"/>
          </a:p>
        </p:txBody>
      </p:sp>
    </p:spTree>
  </p:cSld>
  <p:clrMapOvr>
    <a:masterClrMapping/>
  </p:clrMapOvr>
  <p:transition>
    <p:fade/>
    <p:spd val="med"/>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98872" y="561975"/>
            <a:ext cx="150019" cy="171450"/>
          </a:xfrm>
          <a:custGeom>
            <a:avLst/>
            <a:gdLst/>
            <a:ahLst/>
            <a:cxnLst/>
            <a:rect l="l" t="t" r="r" b="b"/>
            <a:pathLst>
              <a:path w="150019" h="171450">
                <a:moveTo>
                  <a:pt x="10716" y="0"/>
                </a:moveTo>
                <a:cubicBezTo>
                  <a:pt x="16643" y="0"/>
                  <a:pt x="21431" y="4789"/>
                  <a:pt x="21431" y="10716"/>
                </a:cubicBezTo>
                <a:lnTo>
                  <a:pt x="21431" y="16073"/>
                </a:lnTo>
                <a:lnTo>
                  <a:pt x="44537" y="10314"/>
                </a:lnTo>
                <a:cubicBezTo>
                  <a:pt x="57295" y="7133"/>
                  <a:pt x="70757" y="8606"/>
                  <a:pt x="82544" y="14500"/>
                </a:cubicBezTo>
                <a:cubicBezTo>
                  <a:pt x="98048" y="22268"/>
                  <a:pt x="116298" y="22268"/>
                  <a:pt x="131802" y="14500"/>
                </a:cubicBezTo>
                <a:lnTo>
                  <a:pt x="135017" y="12892"/>
                </a:lnTo>
                <a:cubicBezTo>
                  <a:pt x="141915" y="9410"/>
                  <a:pt x="150019" y="14433"/>
                  <a:pt x="150019" y="22134"/>
                </a:cubicBezTo>
                <a:lnTo>
                  <a:pt x="150019" y="115796"/>
                </a:lnTo>
                <a:cubicBezTo>
                  <a:pt x="150019" y="120249"/>
                  <a:pt x="147239" y="124268"/>
                  <a:pt x="143054" y="125842"/>
                </a:cubicBezTo>
                <a:lnTo>
                  <a:pt x="131434" y="130195"/>
                </a:lnTo>
                <a:cubicBezTo>
                  <a:pt x="115963" y="135988"/>
                  <a:pt x="98751" y="135084"/>
                  <a:pt x="83984" y="127717"/>
                </a:cubicBezTo>
                <a:cubicBezTo>
                  <a:pt x="71292" y="121354"/>
                  <a:pt x="56726" y="119781"/>
                  <a:pt x="42963" y="123230"/>
                </a:cubicBezTo>
                <a:lnTo>
                  <a:pt x="21431" y="128588"/>
                </a:lnTo>
                <a:lnTo>
                  <a:pt x="21431" y="160734"/>
                </a:lnTo>
                <a:cubicBezTo>
                  <a:pt x="21431" y="166661"/>
                  <a:pt x="16643" y="171450"/>
                  <a:pt x="10716" y="171450"/>
                </a:cubicBezTo>
                <a:cubicBezTo>
                  <a:pt x="4789" y="171450"/>
                  <a:pt x="0" y="166661"/>
                  <a:pt x="0" y="160734"/>
                </a:cubicBezTo>
                <a:lnTo>
                  <a:pt x="0" y="10716"/>
                </a:lnTo>
                <a:cubicBezTo>
                  <a:pt x="0" y="4789"/>
                  <a:pt x="4789" y="0"/>
                  <a:pt x="10716" y="0"/>
                </a:cubicBezTo>
                <a:close/>
                <a:moveTo>
                  <a:pt x="21431" y="62653"/>
                </a:moveTo>
                <a:lnTo>
                  <a:pt x="42863" y="57998"/>
                </a:lnTo>
                <a:lnTo>
                  <a:pt x="42863" y="79932"/>
                </a:lnTo>
                <a:lnTo>
                  <a:pt x="21431" y="84586"/>
                </a:lnTo>
                <a:lnTo>
                  <a:pt x="21431" y="106520"/>
                </a:lnTo>
                <a:lnTo>
                  <a:pt x="37773" y="102435"/>
                </a:lnTo>
                <a:cubicBezTo>
                  <a:pt x="39480" y="101999"/>
                  <a:pt x="41155" y="101631"/>
                  <a:pt x="42863" y="101330"/>
                </a:cubicBezTo>
                <a:lnTo>
                  <a:pt x="42863" y="79932"/>
                </a:lnTo>
                <a:lnTo>
                  <a:pt x="55889" y="77119"/>
                </a:lnTo>
                <a:cubicBezTo>
                  <a:pt x="58668" y="76516"/>
                  <a:pt x="61481" y="76282"/>
                  <a:pt x="64294" y="76416"/>
                </a:cubicBezTo>
                <a:lnTo>
                  <a:pt x="64294" y="54985"/>
                </a:lnTo>
                <a:cubicBezTo>
                  <a:pt x="68848" y="55118"/>
                  <a:pt x="73402" y="55855"/>
                  <a:pt x="77822" y="57128"/>
                </a:cubicBezTo>
                <a:lnTo>
                  <a:pt x="85725" y="59438"/>
                </a:lnTo>
                <a:lnTo>
                  <a:pt x="85725" y="81774"/>
                </a:lnTo>
                <a:lnTo>
                  <a:pt x="71761" y="77655"/>
                </a:lnTo>
                <a:cubicBezTo>
                  <a:pt x="69317" y="76952"/>
                  <a:pt x="66805" y="76516"/>
                  <a:pt x="64294" y="76382"/>
                </a:cubicBezTo>
                <a:lnTo>
                  <a:pt x="64294" y="100292"/>
                </a:lnTo>
                <a:cubicBezTo>
                  <a:pt x="71594" y="100928"/>
                  <a:pt x="78793" y="102535"/>
                  <a:pt x="85725" y="105114"/>
                </a:cubicBezTo>
                <a:lnTo>
                  <a:pt x="85725" y="81740"/>
                </a:lnTo>
                <a:lnTo>
                  <a:pt x="93326" y="83984"/>
                </a:lnTo>
                <a:cubicBezTo>
                  <a:pt x="97847" y="85323"/>
                  <a:pt x="102468" y="86127"/>
                  <a:pt x="107156" y="86462"/>
                </a:cubicBezTo>
                <a:lnTo>
                  <a:pt x="107156" y="64963"/>
                </a:lnTo>
                <a:cubicBezTo>
                  <a:pt x="104544" y="64696"/>
                  <a:pt x="101932" y="64193"/>
                  <a:pt x="99387" y="63457"/>
                </a:cubicBezTo>
                <a:lnTo>
                  <a:pt x="85725" y="59438"/>
                </a:lnTo>
                <a:lnTo>
                  <a:pt x="85725" y="38677"/>
                </a:lnTo>
                <a:cubicBezTo>
                  <a:pt x="81372" y="37404"/>
                  <a:pt x="77086" y="35730"/>
                  <a:pt x="72933" y="33654"/>
                </a:cubicBezTo>
                <a:cubicBezTo>
                  <a:pt x="70187" y="32281"/>
                  <a:pt x="67274" y="31310"/>
                  <a:pt x="64294" y="30707"/>
                </a:cubicBezTo>
                <a:lnTo>
                  <a:pt x="64294" y="54951"/>
                </a:lnTo>
                <a:cubicBezTo>
                  <a:pt x="59941" y="54817"/>
                  <a:pt x="55587" y="55219"/>
                  <a:pt x="51335" y="56157"/>
                </a:cubicBezTo>
                <a:lnTo>
                  <a:pt x="42863" y="57998"/>
                </a:lnTo>
                <a:lnTo>
                  <a:pt x="42863" y="32817"/>
                </a:lnTo>
                <a:lnTo>
                  <a:pt x="21431" y="38174"/>
                </a:lnTo>
                <a:lnTo>
                  <a:pt x="21431" y="62653"/>
                </a:lnTo>
                <a:close/>
                <a:moveTo>
                  <a:pt x="107156" y="112414"/>
                </a:moveTo>
                <a:cubicBezTo>
                  <a:pt x="112782" y="112916"/>
                  <a:pt x="118508" y="112179"/>
                  <a:pt x="123899" y="110137"/>
                </a:cubicBezTo>
                <a:lnTo>
                  <a:pt x="128588" y="108395"/>
                </a:lnTo>
                <a:lnTo>
                  <a:pt x="128588" y="84386"/>
                </a:lnTo>
                <a:lnTo>
                  <a:pt x="125942" y="84988"/>
                </a:lnTo>
                <a:cubicBezTo>
                  <a:pt x="119781" y="86428"/>
                  <a:pt x="113452" y="86897"/>
                  <a:pt x="107156" y="86495"/>
                </a:cubicBezTo>
                <a:lnTo>
                  <a:pt x="107156" y="112414"/>
                </a:lnTo>
                <a:close/>
                <a:moveTo>
                  <a:pt x="128588" y="62385"/>
                </a:moveTo>
                <a:lnTo>
                  <a:pt x="128588" y="38677"/>
                </a:lnTo>
                <a:cubicBezTo>
                  <a:pt x="121589" y="40719"/>
                  <a:pt x="114389" y="41724"/>
                  <a:pt x="107156" y="41724"/>
                </a:cubicBezTo>
                <a:lnTo>
                  <a:pt x="107156" y="64963"/>
                </a:lnTo>
                <a:cubicBezTo>
                  <a:pt x="111811" y="65432"/>
                  <a:pt x="116532" y="65131"/>
                  <a:pt x="121120" y="64093"/>
                </a:cubicBezTo>
                <a:lnTo>
                  <a:pt x="128588" y="62352"/>
                </a:lnTo>
                <a:close/>
              </a:path>
            </a:pathLst>
          </a:custGeom>
          <a:solidFill>
            <a:srgbClr val="FFFFFF"/>
          </a:solidFill>
          <a:ln/>
        </p:spPr>
      </p:sp>
      <p:sp>
        <p:nvSpPr>
          <p:cNvPr id="4" name="Text 2"/>
          <p:cNvSpPr/>
          <p:nvPr/>
        </p:nvSpPr>
        <p:spPr>
          <a:xfrm>
            <a:off x="876300" y="381000"/>
            <a:ext cx="3629025"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14 | KẾT LUẬN</a:t>
            </a:r>
            <a:endParaRPr lang="en-US" sz="1600" dirty="0"/>
          </a:p>
        </p:txBody>
      </p:sp>
      <p:sp>
        <p:nvSpPr>
          <p:cNvPr id="5" name="Text 3"/>
          <p:cNvSpPr/>
          <p:nvPr/>
        </p:nvSpPr>
        <p:spPr>
          <a:xfrm>
            <a:off x="876300" y="571500"/>
            <a:ext cx="37052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Kết luận: Big-O và Profiling</a:t>
            </a:r>
            <a:endParaRPr lang="en-US" sz="1600" dirty="0"/>
          </a:p>
        </p:txBody>
      </p:sp>
      <p:sp>
        <p:nvSpPr>
          <p:cNvPr id="6" name="Shape 4"/>
          <p:cNvSpPr/>
          <p:nvPr/>
        </p:nvSpPr>
        <p:spPr>
          <a:xfrm>
            <a:off x="385763" y="1147763"/>
            <a:ext cx="5629275" cy="1724025"/>
          </a:xfrm>
          <a:custGeom>
            <a:avLst/>
            <a:gdLst/>
            <a:ahLst/>
            <a:cxnLst/>
            <a:rect l="l" t="t" r="r" b="b"/>
            <a:pathLst>
              <a:path w="5629275" h="1724025">
                <a:moveTo>
                  <a:pt x="114303" y="0"/>
                </a:moveTo>
                <a:lnTo>
                  <a:pt x="5514972" y="0"/>
                </a:lnTo>
                <a:cubicBezTo>
                  <a:pt x="5578058" y="0"/>
                  <a:pt x="5629275" y="51217"/>
                  <a:pt x="5629275" y="114303"/>
                </a:cubicBezTo>
                <a:lnTo>
                  <a:pt x="5629275" y="1609722"/>
                </a:lnTo>
                <a:cubicBezTo>
                  <a:pt x="5629275" y="1672808"/>
                  <a:pt x="5578058" y="1724025"/>
                  <a:pt x="5514972" y="1724025"/>
                </a:cubicBezTo>
                <a:lnTo>
                  <a:pt x="114303" y="1724025"/>
                </a:lnTo>
                <a:cubicBezTo>
                  <a:pt x="51217" y="1724025"/>
                  <a:pt x="0" y="1672808"/>
                  <a:pt x="0" y="1609722"/>
                </a:cubicBezTo>
                <a:lnTo>
                  <a:pt x="0" y="114303"/>
                </a:lnTo>
                <a:cubicBezTo>
                  <a:pt x="0" y="51217"/>
                  <a:pt x="51217" y="0"/>
                  <a:pt x="114303"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58102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EF4444"/>
          </a:solidFill>
          <a:ln/>
        </p:spPr>
      </p:sp>
      <p:sp>
        <p:nvSpPr>
          <p:cNvPr id="8" name="Shape 6"/>
          <p:cNvSpPr/>
          <p:nvPr/>
        </p:nvSpPr>
        <p:spPr>
          <a:xfrm>
            <a:off x="714375" y="1476375"/>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FFFFF"/>
          </a:solidFill>
          <a:ln/>
        </p:spPr>
      </p:sp>
      <p:sp>
        <p:nvSpPr>
          <p:cNvPr id="9" name="Text 7"/>
          <p:cNvSpPr/>
          <p:nvPr/>
        </p:nvSpPr>
        <p:spPr>
          <a:xfrm>
            <a:off x="1152525" y="1438275"/>
            <a:ext cx="14097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Big-O là cốt lõi</a:t>
            </a:r>
            <a:endParaRPr lang="en-US" sz="1600" dirty="0"/>
          </a:p>
        </p:txBody>
      </p:sp>
      <p:sp>
        <p:nvSpPr>
          <p:cNvPr id="10" name="Text 8"/>
          <p:cNvSpPr/>
          <p:nvPr/>
        </p:nvSpPr>
        <p:spPr>
          <a:xfrm>
            <a:off x="581025" y="1914525"/>
            <a:ext cx="53149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Hiểu </a:t>
            </a:r>
            <a:pPr>
              <a:lnSpc>
                <a:spcPct val="130000"/>
              </a:lnSpc>
            </a:pPr>
            <a:r>
              <a:rPr lang="en-US" sz="1200" b="1" dirty="0">
                <a:solidFill>
                  <a:srgbClr val="EF4444"/>
                </a:solidFill>
                <a:latin typeface="MiSans" pitchFamily="34" charset="0"/>
                <a:ea typeface="MiSans" pitchFamily="34" charset="-122"/>
                <a:cs typeface="MiSans" pitchFamily="34" charset="-120"/>
              </a:rPr>
              <a:t>O(n) vs O(2ⁿ)</a:t>
            </a:r>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 có ý nghĩa sống chết trong phát triển phần mềm.</a:t>
            </a:r>
            <a:endParaRPr lang="en-US" sz="1600" dirty="0"/>
          </a:p>
        </p:txBody>
      </p:sp>
      <p:sp>
        <p:nvSpPr>
          <p:cNvPr id="11" name="Shape 9"/>
          <p:cNvSpPr/>
          <p:nvPr/>
        </p:nvSpPr>
        <p:spPr>
          <a:xfrm>
            <a:off x="581025" y="2257425"/>
            <a:ext cx="5238750" cy="419100"/>
          </a:xfrm>
          <a:custGeom>
            <a:avLst/>
            <a:gdLst/>
            <a:ahLst/>
            <a:cxnLst/>
            <a:rect l="l" t="t" r="r" b="b"/>
            <a:pathLst>
              <a:path w="5238750" h="419100">
                <a:moveTo>
                  <a:pt x="76201" y="0"/>
                </a:moveTo>
                <a:lnTo>
                  <a:pt x="5162549" y="0"/>
                </a:lnTo>
                <a:cubicBezTo>
                  <a:pt x="5204634" y="0"/>
                  <a:pt x="5238750" y="34116"/>
                  <a:pt x="5238750" y="76201"/>
                </a:cubicBezTo>
                <a:lnTo>
                  <a:pt x="5238750" y="342899"/>
                </a:lnTo>
                <a:cubicBezTo>
                  <a:pt x="5238750" y="384984"/>
                  <a:pt x="5204634" y="419100"/>
                  <a:pt x="5162549"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12" name="Shape 10"/>
          <p:cNvSpPr/>
          <p:nvPr/>
        </p:nvSpPr>
        <p:spPr>
          <a:xfrm>
            <a:off x="722709" y="2409825"/>
            <a:ext cx="116681" cy="133350"/>
          </a:xfrm>
          <a:custGeom>
            <a:avLst/>
            <a:gdLst/>
            <a:ahLst/>
            <a:cxnLst/>
            <a:rect l="l" t="t" r="r" b="b"/>
            <a:pathLst>
              <a:path w="116681" h="133350">
                <a:moveTo>
                  <a:pt x="100013" y="37505"/>
                </a:moveTo>
                <a:cubicBezTo>
                  <a:pt x="100013" y="16799"/>
                  <a:pt x="81364" y="0"/>
                  <a:pt x="58341" y="0"/>
                </a:cubicBezTo>
                <a:cubicBezTo>
                  <a:pt x="35317" y="0"/>
                  <a:pt x="16669" y="16799"/>
                  <a:pt x="16669" y="37505"/>
                </a:cubicBezTo>
                <a:cubicBezTo>
                  <a:pt x="16669" y="49772"/>
                  <a:pt x="23206" y="60659"/>
                  <a:pt x="33337" y="67508"/>
                </a:cubicBezTo>
                <a:lnTo>
                  <a:pt x="33337" y="75009"/>
                </a:lnTo>
                <a:cubicBezTo>
                  <a:pt x="33337" y="79619"/>
                  <a:pt x="37062" y="83344"/>
                  <a:pt x="41672" y="83344"/>
                </a:cubicBezTo>
                <a:lnTo>
                  <a:pt x="75009" y="83344"/>
                </a:lnTo>
                <a:cubicBezTo>
                  <a:pt x="79619" y="83344"/>
                  <a:pt x="83344" y="79619"/>
                  <a:pt x="83344" y="75009"/>
                </a:cubicBezTo>
                <a:lnTo>
                  <a:pt x="83344" y="67508"/>
                </a:lnTo>
                <a:cubicBezTo>
                  <a:pt x="93475" y="60659"/>
                  <a:pt x="100013" y="49772"/>
                  <a:pt x="100013" y="37505"/>
                </a:cubicBezTo>
                <a:close/>
                <a:moveTo>
                  <a:pt x="41672" y="33337"/>
                </a:moveTo>
                <a:cubicBezTo>
                  <a:pt x="46272" y="33337"/>
                  <a:pt x="50006" y="37072"/>
                  <a:pt x="50006" y="41672"/>
                </a:cubicBezTo>
                <a:cubicBezTo>
                  <a:pt x="50006" y="46272"/>
                  <a:pt x="46272" y="50006"/>
                  <a:pt x="41672" y="50006"/>
                </a:cubicBezTo>
                <a:cubicBezTo>
                  <a:pt x="37072" y="50006"/>
                  <a:pt x="33337" y="46272"/>
                  <a:pt x="33337" y="41672"/>
                </a:cubicBezTo>
                <a:cubicBezTo>
                  <a:pt x="33337" y="37072"/>
                  <a:pt x="37072" y="33337"/>
                  <a:pt x="41672" y="33337"/>
                </a:cubicBezTo>
                <a:close/>
                <a:moveTo>
                  <a:pt x="66675" y="41672"/>
                </a:moveTo>
                <a:cubicBezTo>
                  <a:pt x="66675" y="37072"/>
                  <a:pt x="70410" y="33337"/>
                  <a:pt x="75009" y="33337"/>
                </a:cubicBezTo>
                <a:cubicBezTo>
                  <a:pt x="79609" y="33337"/>
                  <a:pt x="83344" y="37072"/>
                  <a:pt x="83344" y="41672"/>
                </a:cubicBezTo>
                <a:cubicBezTo>
                  <a:pt x="83344" y="46272"/>
                  <a:pt x="79609" y="50006"/>
                  <a:pt x="75009" y="50006"/>
                </a:cubicBezTo>
                <a:cubicBezTo>
                  <a:pt x="70410" y="50006"/>
                  <a:pt x="66675" y="46272"/>
                  <a:pt x="66675" y="41672"/>
                </a:cubicBezTo>
                <a:close/>
                <a:moveTo>
                  <a:pt x="116030" y="88475"/>
                </a:moveTo>
                <a:cubicBezTo>
                  <a:pt x="114259" y="84229"/>
                  <a:pt x="109389" y="82224"/>
                  <a:pt x="105143" y="83995"/>
                </a:cubicBezTo>
                <a:lnTo>
                  <a:pt x="58341" y="103476"/>
                </a:lnTo>
                <a:lnTo>
                  <a:pt x="11538" y="83995"/>
                </a:lnTo>
                <a:cubicBezTo>
                  <a:pt x="7293" y="82224"/>
                  <a:pt x="2422" y="84229"/>
                  <a:pt x="651" y="88475"/>
                </a:cubicBezTo>
                <a:cubicBezTo>
                  <a:pt x="-1120" y="92720"/>
                  <a:pt x="886" y="97590"/>
                  <a:pt x="5131" y="99361"/>
                </a:cubicBezTo>
                <a:lnTo>
                  <a:pt x="36671" y="112514"/>
                </a:lnTo>
                <a:lnTo>
                  <a:pt x="5131" y="125667"/>
                </a:lnTo>
                <a:cubicBezTo>
                  <a:pt x="886" y="127438"/>
                  <a:pt x="-1120" y="132308"/>
                  <a:pt x="651" y="136554"/>
                </a:cubicBezTo>
                <a:cubicBezTo>
                  <a:pt x="2422" y="140799"/>
                  <a:pt x="7293" y="142804"/>
                  <a:pt x="11538" y="141033"/>
                </a:cubicBezTo>
                <a:lnTo>
                  <a:pt x="58341" y="121552"/>
                </a:lnTo>
                <a:lnTo>
                  <a:pt x="105143" y="141033"/>
                </a:lnTo>
                <a:cubicBezTo>
                  <a:pt x="109389" y="142804"/>
                  <a:pt x="114259" y="140799"/>
                  <a:pt x="116030" y="136554"/>
                </a:cubicBezTo>
                <a:cubicBezTo>
                  <a:pt x="117801" y="132308"/>
                  <a:pt x="115796" y="127438"/>
                  <a:pt x="111550" y="125667"/>
                </a:cubicBezTo>
                <a:lnTo>
                  <a:pt x="80010" y="112514"/>
                </a:lnTo>
                <a:lnTo>
                  <a:pt x="111550" y="99361"/>
                </a:lnTo>
                <a:cubicBezTo>
                  <a:pt x="115796" y="97590"/>
                  <a:pt x="117801" y="92720"/>
                  <a:pt x="116030" y="88475"/>
                </a:cubicBezTo>
                <a:close/>
              </a:path>
            </a:pathLst>
          </a:custGeom>
          <a:solidFill>
            <a:srgbClr val="EF4444"/>
          </a:solidFill>
          <a:ln/>
        </p:spPr>
      </p:sp>
      <p:sp>
        <p:nvSpPr>
          <p:cNvPr id="13" name="Text 11"/>
          <p:cNvSpPr/>
          <p:nvPr/>
        </p:nvSpPr>
        <p:spPr>
          <a:xfrm>
            <a:off x="923925" y="2371725"/>
            <a:ext cx="48482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Sai lầm nhỏ có thể dẫn đến "chạy 475,000 năm"</a:t>
            </a:r>
            <a:endParaRPr lang="en-US" sz="1600" dirty="0"/>
          </a:p>
        </p:txBody>
      </p:sp>
      <p:sp>
        <p:nvSpPr>
          <p:cNvPr id="14" name="Shape 12"/>
          <p:cNvSpPr/>
          <p:nvPr/>
        </p:nvSpPr>
        <p:spPr>
          <a:xfrm>
            <a:off x="6176963" y="1147763"/>
            <a:ext cx="5629275" cy="1724025"/>
          </a:xfrm>
          <a:custGeom>
            <a:avLst/>
            <a:gdLst/>
            <a:ahLst/>
            <a:cxnLst/>
            <a:rect l="l" t="t" r="r" b="b"/>
            <a:pathLst>
              <a:path w="5629275" h="1724025">
                <a:moveTo>
                  <a:pt x="114303" y="0"/>
                </a:moveTo>
                <a:lnTo>
                  <a:pt x="5514972" y="0"/>
                </a:lnTo>
                <a:cubicBezTo>
                  <a:pt x="5578058" y="0"/>
                  <a:pt x="5629275" y="51217"/>
                  <a:pt x="5629275" y="114303"/>
                </a:cubicBezTo>
                <a:lnTo>
                  <a:pt x="5629275" y="1609722"/>
                </a:lnTo>
                <a:cubicBezTo>
                  <a:pt x="5629275" y="1672808"/>
                  <a:pt x="5578058" y="1724025"/>
                  <a:pt x="5514972" y="1724025"/>
                </a:cubicBezTo>
                <a:lnTo>
                  <a:pt x="114303" y="1724025"/>
                </a:lnTo>
                <a:cubicBezTo>
                  <a:pt x="51217" y="1724025"/>
                  <a:pt x="0" y="1672808"/>
                  <a:pt x="0" y="1609722"/>
                </a:cubicBezTo>
                <a:lnTo>
                  <a:pt x="0" y="114303"/>
                </a:lnTo>
                <a:cubicBezTo>
                  <a:pt x="0" y="51217"/>
                  <a:pt x="51217" y="0"/>
                  <a:pt x="114303"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15" name="Shape 13"/>
          <p:cNvSpPr/>
          <p:nvPr/>
        </p:nvSpPr>
        <p:spPr>
          <a:xfrm>
            <a:off x="637222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16" name="Shape 14"/>
          <p:cNvSpPr/>
          <p:nvPr/>
        </p:nvSpPr>
        <p:spPr>
          <a:xfrm>
            <a:off x="6505575" y="147637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FFFFFF"/>
          </a:solidFill>
          <a:ln/>
        </p:spPr>
      </p:sp>
      <p:sp>
        <p:nvSpPr>
          <p:cNvPr id="17" name="Text 15"/>
          <p:cNvSpPr/>
          <p:nvPr/>
        </p:nvSpPr>
        <p:spPr>
          <a:xfrm>
            <a:off x="6943725" y="1438275"/>
            <a:ext cx="23050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Profiling trước, tối ưu sau</a:t>
            </a:r>
            <a:endParaRPr lang="en-US" sz="1600" dirty="0"/>
          </a:p>
        </p:txBody>
      </p:sp>
      <p:sp>
        <p:nvSpPr>
          <p:cNvPr id="18" name="Text 16"/>
          <p:cNvSpPr/>
          <p:nvPr/>
        </p:nvSpPr>
        <p:spPr>
          <a:xfrm>
            <a:off x="6372225" y="1914525"/>
            <a:ext cx="53149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Không profiling = </a:t>
            </a:r>
            <a:pPr>
              <a:lnSpc>
                <a:spcPct val="130000"/>
              </a:lnSpc>
            </a:pPr>
            <a:r>
              <a:rPr lang="en-US" sz="1200" b="1" dirty="0">
                <a:solidFill>
                  <a:srgbClr val="EF4444"/>
                </a:solidFill>
                <a:latin typeface="MiSans" pitchFamily="34" charset="0"/>
                <a:ea typeface="MiSans" pitchFamily="34" charset="-122"/>
                <a:cs typeface="MiSans" pitchFamily="34" charset="-120"/>
              </a:rPr>
              <a:t>tối ưu hóa mù quáng</a:t>
            </a:r>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 Cần đo lường trước khi cải thiện.</a:t>
            </a:r>
            <a:endParaRPr lang="en-US" sz="1600" dirty="0"/>
          </a:p>
        </p:txBody>
      </p:sp>
      <p:sp>
        <p:nvSpPr>
          <p:cNvPr id="19" name="Shape 17"/>
          <p:cNvSpPr/>
          <p:nvPr/>
        </p:nvSpPr>
        <p:spPr>
          <a:xfrm>
            <a:off x="6372225" y="2257425"/>
            <a:ext cx="5238750" cy="419100"/>
          </a:xfrm>
          <a:custGeom>
            <a:avLst/>
            <a:gdLst/>
            <a:ahLst/>
            <a:cxnLst/>
            <a:rect l="l" t="t" r="r" b="b"/>
            <a:pathLst>
              <a:path w="5238750" h="419100">
                <a:moveTo>
                  <a:pt x="76201" y="0"/>
                </a:moveTo>
                <a:lnTo>
                  <a:pt x="5162549" y="0"/>
                </a:lnTo>
                <a:cubicBezTo>
                  <a:pt x="5204634" y="0"/>
                  <a:pt x="5238750" y="34116"/>
                  <a:pt x="5238750" y="76201"/>
                </a:cubicBezTo>
                <a:lnTo>
                  <a:pt x="5238750" y="342899"/>
                </a:lnTo>
                <a:cubicBezTo>
                  <a:pt x="5238750" y="384984"/>
                  <a:pt x="5204634" y="419100"/>
                  <a:pt x="5162549"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20" name="Shape 18"/>
          <p:cNvSpPr/>
          <p:nvPr/>
        </p:nvSpPr>
        <p:spPr>
          <a:xfrm>
            <a:off x="6497241" y="2409825"/>
            <a:ext cx="150019" cy="133350"/>
          </a:xfrm>
          <a:custGeom>
            <a:avLst/>
            <a:gdLst/>
            <a:ahLst/>
            <a:cxnLst/>
            <a:rect l="l" t="t" r="r" b="b"/>
            <a:pathLst>
              <a:path w="150019" h="133350">
                <a:moveTo>
                  <a:pt x="54460" y="134444"/>
                </a:moveTo>
                <a:cubicBezTo>
                  <a:pt x="49590" y="139314"/>
                  <a:pt x="41672" y="139314"/>
                  <a:pt x="36775" y="134444"/>
                </a:cubicBezTo>
                <a:lnTo>
                  <a:pt x="7319" y="104987"/>
                </a:lnTo>
                <a:cubicBezTo>
                  <a:pt x="2448" y="100117"/>
                  <a:pt x="2448" y="92199"/>
                  <a:pt x="7319" y="87303"/>
                </a:cubicBezTo>
                <a:lnTo>
                  <a:pt x="11746" y="82875"/>
                </a:lnTo>
                <a:lnTo>
                  <a:pt x="30889" y="102018"/>
                </a:lnTo>
                <a:cubicBezTo>
                  <a:pt x="33337" y="104466"/>
                  <a:pt x="37296" y="104466"/>
                  <a:pt x="39719" y="102018"/>
                </a:cubicBezTo>
                <a:cubicBezTo>
                  <a:pt x="42141" y="99570"/>
                  <a:pt x="42167" y="95611"/>
                  <a:pt x="39719" y="93189"/>
                </a:cubicBezTo>
                <a:lnTo>
                  <a:pt x="20575" y="74046"/>
                </a:lnTo>
                <a:lnTo>
                  <a:pt x="29405" y="65216"/>
                </a:lnTo>
                <a:lnTo>
                  <a:pt x="42662" y="78473"/>
                </a:lnTo>
                <a:cubicBezTo>
                  <a:pt x="45110" y="80922"/>
                  <a:pt x="49069" y="80922"/>
                  <a:pt x="51491" y="78473"/>
                </a:cubicBezTo>
                <a:cubicBezTo>
                  <a:pt x="53913" y="76025"/>
                  <a:pt x="53939" y="72066"/>
                  <a:pt x="51491" y="69644"/>
                </a:cubicBezTo>
                <a:lnTo>
                  <a:pt x="38234" y="56387"/>
                </a:lnTo>
                <a:lnTo>
                  <a:pt x="47063" y="47558"/>
                </a:lnTo>
                <a:lnTo>
                  <a:pt x="66206" y="66701"/>
                </a:lnTo>
                <a:cubicBezTo>
                  <a:pt x="68654" y="69149"/>
                  <a:pt x="72613" y="69149"/>
                  <a:pt x="75035" y="66701"/>
                </a:cubicBezTo>
                <a:cubicBezTo>
                  <a:pt x="77458" y="64253"/>
                  <a:pt x="77484" y="60294"/>
                  <a:pt x="75035" y="57872"/>
                </a:cubicBezTo>
                <a:lnTo>
                  <a:pt x="55892" y="38729"/>
                </a:lnTo>
                <a:lnTo>
                  <a:pt x="64722" y="29900"/>
                </a:lnTo>
                <a:lnTo>
                  <a:pt x="77978" y="43156"/>
                </a:lnTo>
                <a:cubicBezTo>
                  <a:pt x="80427" y="45605"/>
                  <a:pt x="84386" y="45605"/>
                  <a:pt x="86808" y="43156"/>
                </a:cubicBezTo>
                <a:cubicBezTo>
                  <a:pt x="89230" y="40708"/>
                  <a:pt x="89256" y="36749"/>
                  <a:pt x="86808" y="34327"/>
                </a:cubicBezTo>
                <a:lnTo>
                  <a:pt x="73551" y="21070"/>
                </a:lnTo>
                <a:lnTo>
                  <a:pt x="82380" y="12241"/>
                </a:lnTo>
                <a:lnTo>
                  <a:pt x="101523" y="31384"/>
                </a:lnTo>
                <a:cubicBezTo>
                  <a:pt x="103971" y="33832"/>
                  <a:pt x="107930" y="33832"/>
                  <a:pt x="110352" y="31384"/>
                </a:cubicBezTo>
                <a:cubicBezTo>
                  <a:pt x="112775" y="28936"/>
                  <a:pt x="112801" y="24977"/>
                  <a:pt x="110352" y="22555"/>
                </a:cubicBezTo>
                <a:lnTo>
                  <a:pt x="91209" y="3412"/>
                </a:lnTo>
                <a:lnTo>
                  <a:pt x="95637" y="-1016"/>
                </a:lnTo>
                <a:cubicBezTo>
                  <a:pt x="100507" y="-5886"/>
                  <a:pt x="108425" y="-5886"/>
                  <a:pt x="113321" y="-1016"/>
                </a:cubicBezTo>
                <a:lnTo>
                  <a:pt x="142856" y="28363"/>
                </a:lnTo>
                <a:cubicBezTo>
                  <a:pt x="147727" y="33233"/>
                  <a:pt x="147727" y="41151"/>
                  <a:pt x="142856" y="46047"/>
                </a:cubicBezTo>
                <a:lnTo>
                  <a:pt x="54460" y="134444"/>
                </a:lnTo>
                <a:close/>
              </a:path>
            </a:pathLst>
          </a:custGeom>
          <a:solidFill>
            <a:srgbClr val="3B82F6"/>
          </a:solidFill>
          <a:ln/>
        </p:spPr>
      </p:sp>
      <p:sp>
        <p:nvSpPr>
          <p:cNvPr id="21" name="Text 19"/>
          <p:cNvSpPr/>
          <p:nvPr/>
        </p:nvSpPr>
        <p:spPr>
          <a:xfrm>
            <a:off x="6715125" y="2371725"/>
            <a:ext cx="48482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Measure → Analyze → Optimize</a:t>
            </a:r>
            <a:endParaRPr lang="en-US" sz="1600" dirty="0"/>
          </a:p>
        </p:txBody>
      </p:sp>
      <p:sp>
        <p:nvSpPr>
          <p:cNvPr id="22" name="Shape 20"/>
          <p:cNvSpPr/>
          <p:nvPr/>
        </p:nvSpPr>
        <p:spPr>
          <a:xfrm>
            <a:off x="385763" y="3033713"/>
            <a:ext cx="5629275" cy="1952625"/>
          </a:xfrm>
          <a:custGeom>
            <a:avLst/>
            <a:gdLst/>
            <a:ahLst/>
            <a:cxnLst/>
            <a:rect l="l" t="t" r="r" b="b"/>
            <a:pathLst>
              <a:path w="5629275" h="1952625">
                <a:moveTo>
                  <a:pt x="114307" y="0"/>
                </a:moveTo>
                <a:lnTo>
                  <a:pt x="5514968" y="0"/>
                </a:lnTo>
                <a:cubicBezTo>
                  <a:pt x="5578098" y="0"/>
                  <a:pt x="5629275" y="51177"/>
                  <a:pt x="5629275" y="114307"/>
                </a:cubicBezTo>
                <a:lnTo>
                  <a:pt x="5629275" y="1838318"/>
                </a:lnTo>
                <a:cubicBezTo>
                  <a:pt x="5629275" y="1901448"/>
                  <a:pt x="5578098" y="1952625"/>
                  <a:pt x="5514968" y="1952625"/>
                </a:cubicBezTo>
                <a:lnTo>
                  <a:pt x="114307" y="1952625"/>
                </a:lnTo>
                <a:cubicBezTo>
                  <a:pt x="51177" y="1952625"/>
                  <a:pt x="0" y="1901448"/>
                  <a:pt x="0" y="1838318"/>
                </a:cubicBezTo>
                <a:lnTo>
                  <a:pt x="0" y="114307"/>
                </a:lnTo>
                <a:cubicBezTo>
                  <a:pt x="0" y="51219"/>
                  <a:pt x="51219" y="0"/>
                  <a:pt x="114307"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3" name="Shape 21"/>
          <p:cNvSpPr/>
          <p:nvPr/>
        </p:nvSpPr>
        <p:spPr>
          <a:xfrm>
            <a:off x="581025" y="32289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24" name="Shape 22"/>
          <p:cNvSpPr/>
          <p:nvPr/>
        </p:nvSpPr>
        <p:spPr>
          <a:xfrm>
            <a:off x="690563" y="3362325"/>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FFFFFF"/>
          </a:solidFill>
          <a:ln/>
        </p:spPr>
      </p:sp>
      <p:sp>
        <p:nvSpPr>
          <p:cNvPr id="25" name="Text 23"/>
          <p:cNvSpPr/>
          <p:nvPr/>
        </p:nvSpPr>
        <p:spPr>
          <a:xfrm>
            <a:off x="1152525" y="3324225"/>
            <a:ext cx="24574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GenAI là công cụ mạnh mẽ</a:t>
            </a:r>
            <a:endParaRPr lang="en-US" sz="1600" dirty="0"/>
          </a:p>
        </p:txBody>
      </p:sp>
      <p:sp>
        <p:nvSpPr>
          <p:cNvPr id="26" name="Text 24"/>
          <p:cNvSpPr/>
          <p:nvPr/>
        </p:nvSpPr>
        <p:spPr>
          <a:xfrm>
            <a:off x="581025" y="3800475"/>
            <a:ext cx="5314950"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Copilot + ChatGPT giúp tự động hóa profiling, dự đoán dung lượng, và tối ưu thông minh.</a:t>
            </a:r>
            <a:endParaRPr lang="en-US" sz="1600" dirty="0"/>
          </a:p>
        </p:txBody>
      </p:sp>
      <p:sp>
        <p:nvSpPr>
          <p:cNvPr id="27" name="Shape 25"/>
          <p:cNvSpPr/>
          <p:nvPr/>
        </p:nvSpPr>
        <p:spPr>
          <a:xfrm>
            <a:off x="581025" y="4371975"/>
            <a:ext cx="5238750" cy="419100"/>
          </a:xfrm>
          <a:custGeom>
            <a:avLst/>
            <a:gdLst/>
            <a:ahLst/>
            <a:cxnLst/>
            <a:rect l="l" t="t" r="r" b="b"/>
            <a:pathLst>
              <a:path w="5238750" h="419100">
                <a:moveTo>
                  <a:pt x="76201" y="0"/>
                </a:moveTo>
                <a:lnTo>
                  <a:pt x="5162549" y="0"/>
                </a:lnTo>
                <a:cubicBezTo>
                  <a:pt x="5204634" y="0"/>
                  <a:pt x="5238750" y="34116"/>
                  <a:pt x="5238750" y="76201"/>
                </a:cubicBezTo>
                <a:lnTo>
                  <a:pt x="5238750" y="342899"/>
                </a:lnTo>
                <a:cubicBezTo>
                  <a:pt x="5238750" y="384984"/>
                  <a:pt x="5204634" y="419100"/>
                  <a:pt x="5162549"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28" name="Shape 26"/>
          <p:cNvSpPr/>
          <p:nvPr/>
        </p:nvSpPr>
        <p:spPr>
          <a:xfrm>
            <a:off x="714375" y="45243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8B5CF6"/>
          </a:solidFill>
          <a:ln/>
        </p:spPr>
      </p:sp>
      <p:sp>
        <p:nvSpPr>
          <p:cNvPr id="29" name="Text 27"/>
          <p:cNvSpPr/>
          <p:nvPr/>
        </p:nvSpPr>
        <p:spPr>
          <a:xfrm>
            <a:off x="923925" y="4486275"/>
            <a:ext cx="48482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Không phải lúc nào cũng chính xác nhưng hữu ích</a:t>
            </a:r>
            <a:endParaRPr lang="en-US" sz="1600" dirty="0"/>
          </a:p>
        </p:txBody>
      </p:sp>
      <p:sp>
        <p:nvSpPr>
          <p:cNvPr id="30" name="Shape 28"/>
          <p:cNvSpPr/>
          <p:nvPr/>
        </p:nvSpPr>
        <p:spPr>
          <a:xfrm>
            <a:off x="6176963" y="3033713"/>
            <a:ext cx="5629275" cy="1952625"/>
          </a:xfrm>
          <a:custGeom>
            <a:avLst/>
            <a:gdLst/>
            <a:ahLst/>
            <a:cxnLst/>
            <a:rect l="l" t="t" r="r" b="b"/>
            <a:pathLst>
              <a:path w="5629275" h="1952625">
                <a:moveTo>
                  <a:pt x="114307" y="0"/>
                </a:moveTo>
                <a:lnTo>
                  <a:pt x="5514968" y="0"/>
                </a:lnTo>
                <a:cubicBezTo>
                  <a:pt x="5578098" y="0"/>
                  <a:pt x="5629275" y="51177"/>
                  <a:pt x="5629275" y="114307"/>
                </a:cubicBezTo>
                <a:lnTo>
                  <a:pt x="5629275" y="1838318"/>
                </a:lnTo>
                <a:cubicBezTo>
                  <a:pt x="5629275" y="1901448"/>
                  <a:pt x="5578098" y="1952625"/>
                  <a:pt x="5514968" y="1952625"/>
                </a:cubicBezTo>
                <a:lnTo>
                  <a:pt x="114307" y="1952625"/>
                </a:lnTo>
                <a:cubicBezTo>
                  <a:pt x="51177" y="1952625"/>
                  <a:pt x="0" y="1901448"/>
                  <a:pt x="0" y="1838318"/>
                </a:cubicBezTo>
                <a:lnTo>
                  <a:pt x="0" y="114307"/>
                </a:lnTo>
                <a:cubicBezTo>
                  <a:pt x="0" y="51219"/>
                  <a:pt x="51219" y="0"/>
                  <a:pt x="114307"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1" name="Shape 29"/>
          <p:cNvSpPr/>
          <p:nvPr/>
        </p:nvSpPr>
        <p:spPr>
          <a:xfrm>
            <a:off x="6372225" y="32289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32" name="Shape 30"/>
          <p:cNvSpPr/>
          <p:nvPr/>
        </p:nvSpPr>
        <p:spPr>
          <a:xfrm>
            <a:off x="6481763" y="3362325"/>
            <a:ext cx="238125" cy="190500"/>
          </a:xfrm>
          <a:custGeom>
            <a:avLst/>
            <a:gdLst/>
            <a:ahLst/>
            <a:cxnLst/>
            <a:rect l="l" t="t" r="r" b="b"/>
            <a:pathLst>
              <a:path w="238125" h="190500">
                <a:moveTo>
                  <a:pt x="142875" y="11906"/>
                </a:moveTo>
                <a:lnTo>
                  <a:pt x="190500" y="11906"/>
                </a:lnTo>
                <a:cubicBezTo>
                  <a:pt x="197086" y="11906"/>
                  <a:pt x="202406" y="17227"/>
                  <a:pt x="202406" y="23812"/>
                </a:cubicBezTo>
                <a:cubicBezTo>
                  <a:pt x="202406" y="30398"/>
                  <a:pt x="197086" y="35719"/>
                  <a:pt x="190500" y="35719"/>
                </a:cubicBezTo>
                <a:lnTo>
                  <a:pt x="148233" y="35719"/>
                </a:lnTo>
                <a:cubicBezTo>
                  <a:pt x="146298" y="45318"/>
                  <a:pt x="139712" y="53243"/>
                  <a:pt x="130969" y="57038"/>
                </a:cubicBezTo>
                <a:lnTo>
                  <a:pt x="130969" y="166688"/>
                </a:lnTo>
                <a:lnTo>
                  <a:pt x="190500" y="166688"/>
                </a:lnTo>
                <a:cubicBezTo>
                  <a:pt x="197086" y="166688"/>
                  <a:pt x="202406" y="172008"/>
                  <a:pt x="202406" y="178594"/>
                </a:cubicBezTo>
                <a:cubicBezTo>
                  <a:pt x="202406" y="185179"/>
                  <a:pt x="197086" y="190500"/>
                  <a:pt x="190500" y="190500"/>
                </a:cubicBezTo>
                <a:lnTo>
                  <a:pt x="47625" y="190500"/>
                </a:lnTo>
                <a:cubicBezTo>
                  <a:pt x="41039" y="190500"/>
                  <a:pt x="35719" y="185179"/>
                  <a:pt x="35719" y="178594"/>
                </a:cubicBezTo>
                <a:cubicBezTo>
                  <a:pt x="35719" y="172008"/>
                  <a:pt x="41039" y="166688"/>
                  <a:pt x="47625" y="166688"/>
                </a:cubicBezTo>
                <a:lnTo>
                  <a:pt x="107156" y="166688"/>
                </a:lnTo>
                <a:lnTo>
                  <a:pt x="107156" y="57038"/>
                </a:lnTo>
                <a:cubicBezTo>
                  <a:pt x="98413" y="53206"/>
                  <a:pt x="91827" y="45281"/>
                  <a:pt x="89892" y="35719"/>
                </a:cubicBezTo>
                <a:lnTo>
                  <a:pt x="47625" y="35719"/>
                </a:lnTo>
                <a:cubicBezTo>
                  <a:pt x="41039" y="35719"/>
                  <a:pt x="35719" y="30398"/>
                  <a:pt x="35719" y="23812"/>
                </a:cubicBezTo>
                <a:cubicBezTo>
                  <a:pt x="35719" y="17227"/>
                  <a:pt x="41039" y="11906"/>
                  <a:pt x="47625" y="11906"/>
                </a:cubicBezTo>
                <a:lnTo>
                  <a:pt x="95250" y="11906"/>
                </a:lnTo>
                <a:cubicBezTo>
                  <a:pt x="100682" y="4688"/>
                  <a:pt x="109314" y="0"/>
                  <a:pt x="119063" y="0"/>
                </a:cubicBezTo>
                <a:cubicBezTo>
                  <a:pt x="128811" y="0"/>
                  <a:pt x="137443" y="4688"/>
                  <a:pt x="142875" y="11906"/>
                </a:cubicBezTo>
                <a:close/>
                <a:moveTo>
                  <a:pt x="163562" y="119063"/>
                </a:moveTo>
                <a:lnTo>
                  <a:pt x="217438" y="119063"/>
                </a:lnTo>
                <a:lnTo>
                  <a:pt x="190500" y="72851"/>
                </a:lnTo>
                <a:lnTo>
                  <a:pt x="163562" y="119063"/>
                </a:lnTo>
                <a:close/>
                <a:moveTo>
                  <a:pt x="190500" y="154781"/>
                </a:moveTo>
                <a:cubicBezTo>
                  <a:pt x="167097" y="154781"/>
                  <a:pt x="147638" y="142131"/>
                  <a:pt x="143619" y="125425"/>
                </a:cubicBezTo>
                <a:cubicBezTo>
                  <a:pt x="142652" y="121332"/>
                  <a:pt x="143991" y="117128"/>
                  <a:pt x="146112" y="113481"/>
                </a:cubicBezTo>
                <a:lnTo>
                  <a:pt x="181533" y="52760"/>
                </a:lnTo>
                <a:cubicBezTo>
                  <a:pt x="183393" y="49560"/>
                  <a:pt x="186817" y="47625"/>
                  <a:pt x="190500" y="47625"/>
                </a:cubicBezTo>
                <a:cubicBezTo>
                  <a:pt x="194183" y="47625"/>
                  <a:pt x="197607" y="49597"/>
                  <a:pt x="199467" y="52760"/>
                </a:cubicBezTo>
                <a:lnTo>
                  <a:pt x="234888" y="113481"/>
                </a:lnTo>
                <a:cubicBezTo>
                  <a:pt x="237009" y="117128"/>
                  <a:pt x="238348" y="121332"/>
                  <a:pt x="237381" y="125425"/>
                </a:cubicBezTo>
                <a:cubicBezTo>
                  <a:pt x="233363" y="142094"/>
                  <a:pt x="213903" y="154781"/>
                  <a:pt x="190500" y="154781"/>
                </a:cubicBezTo>
                <a:close/>
                <a:moveTo>
                  <a:pt x="47179" y="72851"/>
                </a:moveTo>
                <a:lnTo>
                  <a:pt x="20241" y="119063"/>
                </a:lnTo>
                <a:lnTo>
                  <a:pt x="74154" y="119063"/>
                </a:lnTo>
                <a:lnTo>
                  <a:pt x="47179" y="72851"/>
                </a:lnTo>
                <a:close/>
                <a:moveTo>
                  <a:pt x="335" y="125425"/>
                </a:moveTo>
                <a:cubicBezTo>
                  <a:pt x="-633" y="121332"/>
                  <a:pt x="707" y="117128"/>
                  <a:pt x="2828" y="113481"/>
                </a:cubicBezTo>
                <a:lnTo>
                  <a:pt x="38249" y="52760"/>
                </a:lnTo>
                <a:cubicBezTo>
                  <a:pt x="40109" y="49560"/>
                  <a:pt x="43532" y="47625"/>
                  <a:pt x="47216" y="47625"/>
                </a:cubicBezTo>
                <a:cubicBezTo>
                  <a:pt x="50899" y="47625"/>
                  <a:pt x="54322" y="49597"/>
                  <a:pt x="56183" y="52760"/>
                </a:cubicBezTo>
                <a:lnTo>
                  <a:pt x="91604" y="113481"/>
                </a:lnTo>
                <a:cubicBezTo>
                  <a:pt x="93725" y="117128"/>
                  <a:pt x="95064" y="121332"/>
                  <a:pt x="94097" y="125425"/>
                </a:cubicBezTo>
                <a:cubicBezTo>
                  <a:pt x="90078" y="142094"/>
                  <a:pt x="70619" y="154781"/>
                  <a:pt x="47216" y="154781"/>
                </a:cubicBezTo>
                <a:cubicBezTo>
                  <a:pt x="23812" y="154781"/>
                  <a:pt x="4353" y="142131"/>
                  <a:pt x="335" y="125425"/>
                </a:cubicBezTo>
                <a:close/>
              </a:path>
            </a:pathLst>
          </a:custGeom>
          <a:solidFill>
            <a:srgbClr val="FFFFFF"/>
          </a:solidFill>
          <a:ln/>
        </p:spPr>
      </p:sp>
      <p:sp>
        <p:nvSpPr>
          <p:cNvPr id="33" name="Text 31"/>
          <p:cNvSpPr/>
          <p:nvPr/>
        </p:nvSpPr>
        <p:spPr>
          <a:xfrm>
            <a:off x="6943725" y="3324225"/>
            <a:ext cx="26003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Cân bằng thờigian vs bộ nhớ</a:t>
            </a:r>
            <a:endParaRPr lang="en-US" sz="1600" dirty="0"/>
          </a:p>
        </p:txBody>
      </p:sp>
      <p:sp>
        <p:nvSpPr>
          <p:cNvPr id="34" name="Text 32"/>
          <p:cNvSpPr/>
          <p:nvPr/>
        </p:nvSpPr>
        <p:spPr>
          <a:xfrm>
            <a:off x="6372225" y="3800475"/>
            <a:ext cx="5314950"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Từng trường hợp khác nhau. </a:t>
            </a:r>
            <a:pPr>
              <a:lnSpc>
                <a:spcPct val="130000"/>
              </a:lnSpc>
            </a:pPr>
            <a:r>
              <a:rPr lang="en-US" sz="1200" b="1" dirty="0">
                <a:solidFill>
                  <a:srgbClr val="10B981"/>
                </a:solidFill>
                <a:latin typeface="MiSans" pitchFamily="34" charset="0"/>
                <a:ea typeface="MiSans" pitchFamily="34" charset="-122"/>
                <a:cs typeface="MiSans" pitchFamily="34" charset="-120"/>
              </a:rPr>
              <a:t>fib_pair</a:t>
            </a:r>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 chiến thắng cả hai, </a:t>
            </a:r>
            <a:pPr>
              <a:lnSpc>
                <a:spcPct val="130000"/>
              </a:lnSpc>
            </a:pPr>
            <a:r>
              <a:rPr lang="en-US" sz="1200" b="1" dirty="0">
                <a:solidFill>
                  <a:srgbClr val="3B82F6"/>
                </a:solidFill>
                <a:latin typeface="MiSans" pitchFamily="34" charset="0"/>
                <a:ea typeface="MiSans" pitchFamily="34" charset="-122"/>
                <a:cs typeface="MiSans" pitchFamily="34" charset="-120"/>
              </a:rPr>
              <a:t>get_top_video_batch</a:t>
            </a:r>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 quy đổi bộ nhớ lấy tốc độ.</a:t>
            </a:r>
            <a:endParaRPr lang="en-US" sz="1600" dirty="0"/>
          </a:p>
        </p:txBody>
      </p:sp>
      <p:sp>
        <p:nvSpPr>
          <p:cNvPr id="35" name="Shape 33"/>
          <p:cNvSpPr/>
          <p:nvPr/>
        </p:nvSpPr>
        <p:spPr>
          <a:xfrm>
            <a:off x="6372225" y="4371975"/>
            <a:ext cx="5238750" cy="419100"/>
          </a:xfrm>
          <a:custGeom>
            <a:avLst/>
            <a:gdLst/>
            <a:ahLst/>
            <a:cxnLst/>
            <a:rect l="l" t="t" r="r" b="b"/>
            <a:pathLst>
              <a:path w="5238750" h="419100">
                <a:moveTo>
                  <a:pt x="76201" y="0"/>
                </a:moveTo>
                <a:lnTo>
                  <a:pt x="5162549" y="0"/>
                </a:lnTo>
                <a:cubicBezTo>
                  <a:pt x="5204634" y="0"/>
                  <a:pt x="5238750" y="34116"/>
                  <a:pt x="5238750" y="76201"/>
                </a:cubicBezTo>
                <a:lnTo>
                  <a:pt x="5238750" y="342899"/>
                </a:lnTo>
                <a:cubicBezTo>
                  <a:pt x="5238750" y="384984"/>
                  <a:pt x="5204634" y="419100"/>
                  <a:pt x="5162549"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36" name="Shape 34"/>
          <p:cNvSpPr/>
          <p:nvPr/>
        </p:nvSpPr>
        <p:spPr>
          <a:xfrm>
            <a:off x="6522244" y="4524375"/>
            <a:ext cx="100013" cy="133350"/>
          </a:xfrm>
          <a:custGeom>
            <a:avLst/>
            <a:gdLst/>
            <a:ahLst/>
            <a:cxnLst/>
            <a:rect l="l" t="t" r="r" b="b"/>
            <a:pathLst>
              <a:path w="100013" h="133350">
                <a:moveTo>
                  <a:pt x="76286" y="100013"/>
                </a:moveTo>
                <a:cubicBezTo>
                  <a:pt x="78187" y="94204"/>
                  <a:pt x="81989" y="88943"/>
                  <a:pt x="86287" y="84412"/>
                </a:cubicBezTo>
                <a:cubicBezTo>
                  <a:pt x="94804" y="75452"/>
                  <a:pt x="100012" y="63341"/>
                  <a:pt x="100012" y="50006"/>
                </a:cubicBezTo>
                <a:cubicBezTo>
                  <a:pt x="100012" y="22399"/>
                  <a:pt x="77614" y="0"/>
                  <a:pt x="50006" y="0"/>
                </a:cubicBezTo>
                <a:cubicBezTo>
                  <a:pt x="22399" y="0"/>
                  <a:pt x="0" y="22399"/>
                  <a:pt x="0" y="50006"/>
                </a:cubicBezTo>
                <a:cubicBezTo>
                  <a:pt x="0" y="63341"/>
                  <a:pt x="5209" y="75452"/>
                  <a:pt x="13726" y="84412"/>
                </a:cubicBezTo>
                <a:cubicBezTo>
                  <a:pt x="18023" y="88943"/>
                  <a:pt x="21852" y="94204"/>
                  <a:pt x="23727" y="100013"/>
                </a:cubicBezTo>
                <a:lnTo>
                  <a:pt x="76260" y="100013"/>
                </a:lnTo>
                <a:close/>
                <a:moveTo>
                  <a:pt x="75009" y="112514"/>
                </a:moveTo>
                <a:lnTo>
                  <a:pt x="25003" y="112514"/>
                </a:lnTo>
                <a:lnTo>
                  <a:pt x="25003" y="116681"/>
                </a:lnTo>
                <a:cubicBezTo>
                  <a:pt x="25003" y="128193"/>
                  <a:pt x="34327" y="137517"/>
                  <a:pt x="45839" y="137517"/>
                </a:cubicBezTo>
                <a:lnTo>
                  <a:pt x="54173" y="137517"/>
                </a:lnTo>
                <a:cubicBezTo>
                  <a:pt x="65685" y="137517"/>
                  <a:pt x="75009" y="128193"/>
                  <a:pt x="75009" y="116681"/>
                </a:cubicBezTo>
                <a:lnTo>
                  <a:pt x="75009" y="112514"/>
                </a:lnTo>
                <a:close/>
                <a:moveTo>
                  <a:pt x="47923" y="29170"/>
                </a:moveTo>
                <a:cubicBezTo>
                  <a:pt x="37557" y="29170"/>
                  <a:pt x="29170" y="37557"/>
                  <a:pt x="29170" y="47923"/>
                </a:cubicBezTo>
                <a:cubicBezTo>
                  <a:pt x="29170" y="51387"/>
                  <a:pt x="26384" y="54173"/>
                  <a:pt x="22920" y="54173"/>
                </a:cubicBezTo>
                <a:cubicBezTo>
                  <a:pt x="19456" y="54173"/>
                  <a:pt x="16669" y="51387"/>
                  <a:pt x="16669" y="47923"/>
                </a:cubicBezTo>
                <a:cubicBezTo>
                  <a:pt x="16669" y="30655"/>
                  <a:pt x="30655" y="16669"/>
                  <a:pt x="47923" y="16669"/>
                </a:cubicBezTo>
                <a:cubicBezTo>
                  <a:pt x="51387" y="16669"/>
                  <a:pt x="54173" y="19456"/>
                  <a:pt x="54173" y="22920"/>
                </a:cubicBezTo>
                <a:cubicBezTo>
                  <a:pt x="54173" y="26384"/>
                  <a:pt x="51387" y="29170"/>
                  <a:pt x="47923" y="29170"/>
                </a:cubicBezTo>
                <a:close/>
              </a:path>
            </a:pathLst>
          </a:custGeom>
          <a:solidFill>
            <a:srgbClr val="F59E0B"/>
          </a:solidFill>
          <a:ln/>
        </p:spPr>
      </p:sp>
      <p:sp>
        <p:nvSpPr>
          <p:cNvPr id="37" name="Text 35"/>
          <p:cNvSpPr/>
          <p:nvPr/>
        </p:nvSpPr>
        <p:spPr>
          <a:xfrm>
            <a:off x="6715125" y="4486275"/>
            <a:ext cx="4848225"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Tradeoff phù hợp với yêu cầu</a:t>
            </a:r>
            <a:endParaRPr lang="en-US" sz="1600" dirty="0"/>
          </a:p>
        </p:txBody>
      </p:sp>
      <p:sp>
        <p:nvSpPr>
          <p:cNvPr id="38" name="Shape 36"/>
          <p:cNvSpPr/>
          <p:nvPr/>
        </p:nvSpPr>
        <p:spPr>
          <a:xfrm>
            <a:off x="385763" y="5148263"/>
            <a:ext cx="11420475" cy="847725"/>
          </a:xfrm>
          <a:custGeom>
            <a:avLst/>
            <a:gdLst/>
            <a:ahLst/>
            <a:cxnLst/>
            <a:rect l="l" t="t" r="r" b="b"/>
            <a:pathLst>
              <a:path w="11420475" h="847725">
                <a:moveTo>
                  <a:pt x="114299" y="0"/>
                </a:moveTo>
                <a:lnTo>
                  <a:pt x="11306176" y="0"/>
                </a:lnTo>
                <a:cubicBezTo>
                  <a:pt x="11369302" y="0"/>
                  <a:pt x="11420475" y="51173"/>
                  <a:pt x="11420475" y="114299"/>
                </a:cubicBezTo>
                <a:lnTo>
                  <a:pt x="11420475" y="733426"/>
                </a:lnTo>
                <a:cubicBezTo>
                  <a:pt x="11420475" y="796552"/>
                  <a:pt x="11369302" y="847725"/>
                  <a:pt x="11306176" y="847725"/>
                </a:cubicBezTo>
                <a:lnTo>
                  <a:pt x="114299" y="847725"/>
                </a:lnTo>
                <a:cubicBezTo>
                  <a:pt x="51216" y="847725"/>
                  <a:pt x="0" y="796509"/>
                  <a:pt x="0" y="733426"/>
                </a:cubicBezTo>
                <a:lnTo>
                  <a:pt x="0" y="114299"/>
                </a:lnTo>
                <a:cubicBezTo>
                  <a:pt x="0" y="51216"/>
                  <a:pt x="51216" y="0"/>
                  <a:pt x="114299" y="0"/>
                </a:cubicBezTo>
                <a:close/>
              </a:path>
            </a:pathLst>
          </a:custGeom>
          <a:solidFill>
            <a:srgbClr val="0F172A"/>
          </a:solidFill>
          <a:ln w="12700">
            <a:solidFill>
              <a:srgbClr val="10B981">
                <a:alpha val="30196"/>
              </a:srgbClr>
            </a:solidFill>
            <a:prstDash val="solid"/>
          </a:ln>
        </p:spPr>
      </p:sp>
      <p:sp>
        <p:nvSpPr>
          <p:cNvPr id="39" name="Shape 37"/>
          <p:cNvSpPr/>
          <p:nvPr/>
        </p:nvSpPr>
        <p:spPr>
          <a:xfrm>
            <a:off x="892820" y="5362575"/>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10B981"/>
          </a:solidFill>
          <a:ln/>
        </p:spPr>
      </p:sp>
      <p:sp>
        <p:nvSpPr>
          <p:cNvPr id="40" name="Text 38"/>
          <p:cNvSpPr/>
          <p:nvPr/>
        </p:nvSpPr>
        <p:spPr>
          <a:xfrm>
            <a:off x="776288" y="5305425"/>
            <a:ext cx="10915650" cy="533400"/>
          </a:xfrm>
          <a:prstGeom prst="rect">
            <a:avLst/>
          </a:prstGeom>
          <a:noFill/>
          <a:ln/>
        </p:spPr>
        <p:txBody>
          <a:bodyPr wrap="square" lIns="0" tIns="0" rIns="0" bIns="0" rtlCol="0" anchor="ctr"/>
          <a:lstStyle/>
          <a:p>
            <a:pPr algn="ctr">
              <a:lnSpc>
                <a:spcPct val="130000"/>
              </a:lnSpc>
            </a:pPr>
            <a:r>
              <a:rPr lang="en-US" sz="1350" b="1" dirty="0">
                <a:solidFill>
                  <a:srgbClr val="10B981"/>
                </a:solidFill>
                <a:latin typeface="MiSans" pitchFamily="34" charset="0"/>
                <a:ea typeface="MiSans" pitchFamily="34" charset="-122"/>
                <a:cs typeface="MiSans" pitchFamily="34" charset="-120"/>
              </a:rPr>
              <a:t>Những điểm chính:</a:t>
            </a:r>
            <a:pPr algn="ctr">
              <a:lnSpc>
                <a:spcPct val="130000"/>
              </a:lnSpc>
            </a:pPr>
            <a:r>
              <a:rPr lang="en-US" sz="1350" dirty="0">
                <a:solidFill>
                  <a:srgbClr val="F1F5F9">
                    <a:alpha val="90000"/>
                  </a:srgbClr>
                </a:solidFill>
                <a:latin typeface="MiSans" pitchFamily="34" charset="0"/>
                <a:ea typeface="MiSans" pitchFamily="34" charset="-122"/>
                <a:cs typeface="MiSans" pitchFamily="34" charset="-120"/>
              </a:rPr>
              <a:t> Big-O là cốt lõi (sai lầm nhỏ → 475,000 năm), Profiling trước tối ưu sau, GenAI là công cụ mạnh mẽ, Cân bằng thờigian vs bộ nhớ tùy trường hợp.</a:t>
            </a:r>
            <a:endParaRPr lang="en-US" sz="1600" dirty="0"/>
          </a:p>
        </p:txBody>
      </p:sp>
    </p:spTree>
  </p:cSld>
  <p:clrMapOvr>
    <a:masterClrMapping/>
  </p:clrMapOvr>
  <p:transition>
    <p:fade/>
    <p:spd val="med"/>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72A"/>
        </a:solidFill>
      </p:bgPr>
    </p:bg>
    <p:spTree>
      <p:nvGrpSpPr>
        <p:cNvPr id="1" name=""/>
        <p:cNvGrpSpPr/>
        <p:nvPr/>
      </p:nvGrpSpPr>
      <p:grpSpPr>
        <a:xfrm>
          <a:off x="0" y="0"/>
          <a:ext cx="0" cy="0"/>
          <a:chOff x="0" y="0"/>
          <a:chExt cx="0" cy="0"/>
        </a:xfrm>
      </p:grpSpPr>
      <p:pic>
        <p:nvPicPr>
          <p:cNvPr id="2" name="Image 0" descr="https://kimi-web-img.moonshot.cn/img/img.freepik.com/0535714734570d1894e1ce9b8291546363aba0dd.jpg">    </p:cNvPr>
          <p:cNvPicPr>
            <a:picLocks noChangeAspect="1"/>
          </p:cNvPicPr>
          <p:nvPr/>
        </p:nvPicPr>
        <p:blipFill>
          <a:blip r:embed="rId1">
            <a:alphaModFix amt="30000"/>
          </a:blip>
          <a:srcRect l="0" r="0" t="7779" b="7779"/>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8B5CF6">
                  <a:alpha val="20000"/>
                </a:srgbClr>
              </a:gs>
            </a:gsLst>
            <a:lin ang="2700000" scaled="1"/>
          </a:gradFill>
          <a:ln/>
        </p:spPr>
      </p:sp>
      <p:sp>
        <p:nvSpPr>
          <p:cNvPr id="4" name="Shape 1"/>
          <p:cNvSpPr/>
          <p:nvPr/>
        </p:nvSpPr>
        <p:spPr>
          <a:xfrm>
            <a:off x="385763" y="1662113"/>
            <a:ext cx="1247775" cy="390525"/>
          </a:xfrm>
          <a:custGeom>
            <a:avLst/>
            <a:gdLst/>
            <a:ahLst/>
            <a:cxnLst/>
            <a:rect l="l" t="t" r="r" b="b"/>
            <a:pathLst>
              <a:path w="1247775" h="390525">
                <a:moveTo>
                  <a:pt x="76199" y="0"/>
                </a:moveTo>
                <a:lnTo>
                  <a:pt x="1171576" y="0"/>
                </a:lnTo>
                <a:cubicBezTo>
                  <a:pt x="1213659" y="0"/>
                  <a:pt x="1247775" y="34116"/>
                  <a:pt x="1247775" y="76199"/>
                </a:cubicBezTo>
                <a:lnTo>
                  <a:pt x="1247775" y="314326"/>
                </a:lnTo>
                <a:cubicBezTo>
                  <a:pt x="1247775" y="356409"/>
                  <a:pt x="1213659" y="390525"/>
                  <a:pt x="1171576" y="390525"/>
                </a:cubicBezTo>
                <a:lnTo>
                  <a:pt x="76199" y="390525"/>
                </a:lnTo>
                <a:cubicBezTo>
                  <a:pt x="34144" y="390525"/>
                  <a:pt x="0" y="356381"/>
                  <a:pt x="0" y="314326"/>
                </a:cubicBezTo>
                <a:lnTo>
                  <a:pt x="0" y="76199"/>
                </a:lnTo>
                <a:cubicBezTo>
                  <a:pt x="0" y="34144"/>
                  <a:pt x="34144" y="0"/>
                  <a:pt x="76199" y="0"/>
                </a:cubicBezTo>
                <a:close/>
              </a:path>
            </a:pathLst>
          </a:custGeom>
          <a:solidFill>
            <a:srgbClr val="8B5CF6">
              <a:alpha val="20000"/>
            </a:srgbClr>
          </a:solidFill>
          <a:ln w="12700">
            <a:solidFill>
              <a:srgbClr val="8B5CF6">
                <a:alpha val="50196"/>
              </a:srgbClr>
            </a:solidFill>
            <a:prstDash val="solid"/>
          </a:ln>
        </p:spPr>
      </p:sp>
      <p:sp>
        <p:nvSpPr>
          <p:cNvPr id="5" name="Text 2"/>
          <p:cNvSpPr/>
          <p:nvPr/>
        </p:nvSpPr>
        <p:spPr>
          <a:xfrm>
            <a:off x="542925" y="1752600"/>
            <a:ext cx="1006227" cy="209550"/>
          </a:xfrm>
          <a:prstGeom prst="rect">
            <a:avLst/>
          </a:prstGeom>
          <a:noFill/>
          <a:ln/>
        </p:spPr>
        <p:txBody>
          <a:bodyPr wrap="square" lIns="0" tIns="0" rIns="0" bIns="0" rtlCol="0" anchor="ctr"/>
          <a:lstStyle/>
          <a:p>
            <a:pPr>
              <a:lnSpc>
                <a:spcPct val="130000"/>
              </a:lnSpc>
            </a:pPr>
            <a:r>
              <a:rPr lang="en-US" sz="1200" b="1" spc="60" kern="0" dirty="0">
                <a:solidFill>
                  <a:srgbClr val="8B5CF6"/>
                </a:solidFill>
                <a:latin typeface="MiSans" pitchFamily="34" charset="0"/>
                <a:ea typeface="MiSans" pitchFamily="34" charset="-122"/>
                <a:cs typeface="MiSans" pitchFamily="34" charset="-120"/>
              </a:rPr>
              <a:t>CHƯƠNG 15</a:t>
            </a:r>
            <a:endParaRPr lang="en-US" sz="1600" dirty="0"/>
          </a:p>
        </p:txBody>
      </p:sp>
      <p:sp>
        <p:nvSpPr>
          <p:cNvPr id="6" name="Text 3"/>
          <p:cNvSpPr/>
          <p:nvPr/>
        </p:nvSpPr>
        <p:spPr>
          <a:xfrm>
            <a:off x="381000" y="2209800"/>
            <a:ext cx="11658600" cy="1143000"/>
          </a:xfrm>
          <a:prstGeom prst="rect">
            <a:avLst/>
          </a:prstGeom>
          <a:noFill/>
          <a:ln/>
        </p:spPr>
        <p:txBody>
          <a:bodyPr wrap="square" lIns="0" tIns="0" rIns="0" bIns="0" rtlCol="0" anchor="ctr"/>
          <a:lstStyle/>
          <a:p>
            <a:pPr>
              <a:lnSpc>
                <a:spcPct val="100000"/>
              </a:lnSpc>
            </a:pPr>
            <a:r>
              <a:rPr lang="en-US" sz="3600" b="1" dirty="0">
                <a:solidFill>
                  <a:srgbClr val="F1F5F9"/>
                </a:solidFill>
                <a:latin typeface="MiSans" pitchFamily="34" charset="0"/>
                <a:ea typeface="MiSans" pitchFamily="34" charset="-122"/>
                <a:cs typeface="MiSans" pitchFamily="34" charset="-120"/>
              </a:rPr>
              <a:t>Tự động hóa Code Generation</a:t>
            </a:r>
            <a:endParaRPr lang="en-US" sz="1600" dirty="0"/>
          </a:p>
          <a:p>
            <a:pPr>
              <a:lnSpc>
                <a:spcPct val="100000"/>
              </a:lnSpc>
            </a:pPr>
            <a:r>
              <a:rPr lang="en-US" sz="3600" b="1" dirty="0">
                <a:solidFill>
                  <a:srgbClr val="F1F5F9"/>
                </a:solidFill>
                <a:latin typeface="MiSans" pitchFamily="34" charset="0"/>
                <a:ea typeface="MiSans" pitchFamily="34" charset="-122"/>
                <a:cs typeface="MiSans" pitchFamily="34" charset="-120"/>
              </a:rPr>
              <a:t>với Decorator Pattern</a:t>
            </a:r>
            <a:endParaRPr lang="en-US" sz="1600" dirty="0"/>
          </a:p>
        </p:txBody>
      </p:sp>
      <p:sp>
        <p:nvSpPr>
          <p:cNvPr id="7" name="Text 4"/>
          <p:cNvSpPr/>
          <p:nvPr/>
        </p:nvSpPr>
        <p:spPr>
          <a:xfrm>
            <a:off x="381000" y="3505200"/>
            <a:ext cx="11544300" cy="304800"/>
          </a:xfrm>
          <a:prstGeom prst="rect">
            <a:avLst/>
          </a:prstGeom>
          <a:noFill/>
          <a:ln/>
        </p:spPr>
        <p:txBody>
          <a:bodyPr wrap="square" lIns="0" tIns="0" rIns="0" bIns="0" rtlCol="0" anchor="ctr"/>
          <a:lstStyle/>
          <a:p>
            <a:pPr>
              <a:lnSpc>
                <a:spcPct val="110000"/>
              </a:lnSpc>
            </a:pPr>
            <a:r>
              <a:rPr lang="en-US" sz="1800" dirty="0">
                <a:solidFill>
                  <a:srgbClr val="F1F5F9">
                    <a:alpha val="70000"/>
                  </a:srgbClr>
                </a:solidFill>
                <a:latin typeface="MiSans" pitchFamily="34" charset="0"/>
                <a:ea typeface="MiSans" pitchFamily="34" charset="-122"/>
                <a:cs typeface="MiSans" pitchFamily="34" charset="-120"/>
              </a:rPr>
              <a:t>Nghiên cứu thực nghiệm - Zero-shot vs Few-shot</a:t>
            </a:r>
            <a:endParaRPr lang="en-US" sz="1600" dirty="0"/>
          </a:p>
        </p:txBody>
      </p:sp>
      <p:sp>
        <p:nvSpPr>
          <p:cNvPr id="8" name="Shape 5"/>
          <p:cNvSpPr/>
          <p:nvPr/>
        </p:nvSpPr>
        <p:spPr>
          <a:xfrm>
            <a:off x="3857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3B82F6">
              <a:alpha val="10196"/>
            </a:srgbClr>
          </a:solidFill>
          <a:ln w="12700">
            <a:solidFill>
              <a:srgbClr val="3B82F6">
                <a:alpha val="30196"/>
              </a:srgbClr>
            </a:solidFill>
            <a:prstDash val="solid"/>
          </a:ln>
        </p:spPr>
      </p:sp>
      <p:sp>
        <p:nvSpPr>
          <p:cNvPr id="9" name="Shape 6"/>
          <p:cNvSpPr/>
          <p:nvPr/>
        </p:nvSpPr>
        <p:spPr>
          <a:xfrm>
            <a:off x="585788" y="4505325"/>
            <a:ext cx="200025" cy="228600"/>
          </a:xfrm>
          <a:custGeom>
            <a:avLst/>
            <a:gdLst/>
            <a:ahLst/>
            <a:cxnLst/>
            <a:rect l="l" t="t" r="r" b="b"/>
            <a:pathLst>
              <a:path w="200025" h="228600">
                <a:moveTo>
                  <a:pt x="128588" y="0"/>
                </a:moveTo>
                <a:lnTo>
                  <a:pt x="57150" y="0"/>
                </a:lnTo>
                <a:cubicBezTo>
                  <a:pt x="49247" y="0"/>
                  <a:pt x="42863" y="6385"/>
                  <a:pt x="42863" y="14288"/>
                </a:cubicBezTo>
                <a:cubicBezTo>
                  <a:pt x="42863" y="22190"/>
                  <a:pt x="49247" y="28575"/>
                  <a:pt x="57150" y="28575"/>
                </a:cubicBezTo>
                <a:lnTo>
                  <a:pt x="57150" y="96217"/>
                </a:lnTo>
                <a:lnTo>
                  <a:pt x="3349" y="190336"/>
                </a:lnTo>
                <a:cubicBezTo>
                  <a:pt x="1161" y="194221"/>
                  <a:pt x="0" y="198552"/>
                  <a:pt x="0" y="203016"/>
                </a:cubicBezTo>
                <a:cubicBezTo>
                  <a:pt x="0" y="217170"/>
                  <a:pt x="11430" y="228600"/>
                  <a:pt x="25584" y="228600"/>
                </a:cubicBezTo>
                <a:lnTo>
                  <a:pt x="174441" y="228600"/>
                </a:lnTo>
                <a:cubicBezTo>
                  <a:pt x="188550" y="228600"/>
                  <a:pt x="200025" y="217170"/>
                  <a:pt x="200025" y="203016"/>
                </a:cubicBezTo>
                <a:cubicBezTo>
                  <a:pt x="200025" y="198552"/>
                  <a:pt x="198864" y="194176"/>
                  <a:pt x="196676" y="190336"/>
                </a:cubicBezTo>
                <a:lnTo>
                  <a:pt x="142875" y="96217"/>
                </a:lnTo>
                <a:lnTo>
                  <a:pt x="142875" y="28575"/>
                </a:lnTo>
                <a:cubicBezTo>
                  <a:pt x="150778" y="28575"/>
                  <a:pt x="157163" y="22190"/>
                  <a:pt x="157163" y="14288"/>
                </a:cubicBezTo>
                <a:cubicBezTo>
                  <a:pt x="157163" y="6385"/>
                  <a:pt x="150778" y="0"/>
                  <a:pt x="142875" y="0"/>
                </a:cubicBezTo>
                <a:lnTo>
                  <a:pt x="128588" y="0"/>
                </a:lnTo>
                <a:close/>
                <a:moveTo>
                  <a:pt x="85725" y="96217"/>
                </a:moveTo>
                <a:lnTo>
                  <a:pt x="85725" y="28575"/>
                </a:lnTo>
                <a:lnTo>
                  <a:pt x="114300" y="28575"/>
                </a:lnTo>
                <a:lnTo>
                  <a:pt x="114300" y="96217"/>
                </a:lnTo>
                <a:cubicBezTo>
                  <a:pt x="114300" y="101173"/>
                  <a:pt x="115595" y="106085"/>
                  <a:pt x="118050" y="110416"/>
                </a:cubicBezTo>
                <a:lnTo>
                  <a:pt x="136624" y="142875"/>
                </a:lnTo>
                <a:lnTo>
                  <a:pt x="63401" y="142875"/>
                </a:lnTo>
                <a:lnTo>
                  <a:pt x="81975" y="110416"/>
                </a:lnTo>
                <a:cubicBezTo>
                  <a:pt x="84430" y="106085"/>
                  <a:pt x="85725" y="101218"/>
                  <a:pt x="85725" y="96217"/>
                </a:cubicBezTo>
                <a:close/>
              </a:path>
            </a:pathLst>
          </a:custGeom>
          <a:solidFill>
            <a:srgbClr val="3B82F6"/>
          </a:solidFill>
          <a:ln/>
        </p:spPr>
      </p:sp>
      <p:sp>
        <p:nvSpPr>
          <p:cNvPr id="10" name="Text 7"/>
          <p:cNvSpPr/>
          <p:nvPr/>
        </p:nvSpPr>
        <p:spPr>
          <a:xfrm>
            <a:off x="5429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Thực nghiệm định lượng</a:t>
            </a:r>
            <a:endParaRPr lang="en-US" sz="1600" dirty="0"/>
          </a:p>
        </p:txBody>
      </p:sp>
      <p:sp>
        <p:nvSpPr>
          <p:cNvPr id="11" name="Shape 8"/>
          <p:cNvSpPr/>
          <p:nvPr/>
        </p:nvSpPr>
        <p:spPr>
          <a:xfrm>
            <a:off x="28622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8B5CF6">
              <a:alpha val="10196"/>
            </a:srgbClr>
          </a:solidFill>
          <a:ln w="12700">
            <a:solidFill>
              <a:srgbClr val="8B5CF6">
                <a:alpha val="30196"/>
              </a:srgbClr>
            </a:solidFill>
            <a:prstDash val="solid"/>
          </a:ln>
        </p:spPr>
      </p:sp>
      <p:sp>
        <p:nvSpPr>
          <p:cNvPr id="12" name="Shape 9"/>
          <p:cNvSpPr/>
          <p:nvPr/>
        </p:nvSpPr>
        <p:spPr>
          <a:xfrm>
            <a:off x="3048000" y="4505325"/>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B5CF6"/>
          </a:solidFill>
          <a:ln/>
        </p:spPr>
      </p:sp>
      <p:sp>
        <p:nvSpPr>
          <p:cNvPr id="13" name="Text 10"/>
          <p:cNvSpPr/>
          <p:nvPr/>
        </p:nvSpPr>
        <p:spPr>
          <a:xfrm>
            <a:off x="30194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3 Mức kiến trúc</a:t>
            </a:r>
            <a:endParaRPr lang="en-US" sz="1600" dirty="0"/>
          </a:p>
        </p:txBody>
      </p:sp>
      <p:sp>
        <p:nvSpPr>
          <p:cNvPr id="14" name="Shape 11"/>
          <p:cNvSpPr/>
          <p:nvPr/>
        </p:nvSpPr>
        <p:spPr>
          <a:xfrm>
            <a:off x="53387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10B981">
              <a:alpha val="10196"/>
            </a:srgbClr>
          </a:solidFill>
          <a:ln w="12700">
            <a:solidFill>
              <a:srgbClr val="10B981">
                <a:alpha val="30196"/>
              </a:srgbClr>
            </a:solidFill>
            <a:prstDash val="solid"/>
          </a:ln>
        </p:spPr>
      </p:sp>
      <p:sp>
        <p:nvSpPr>
          <p:cNvPr id="15" name="Shape 12"/>
          <p:cNvSpPr/>
          <p:nvPr/>
        </p:nvSpPr>
        <p:spPr>
          <a:xfrm>
            <a:off x="5495925" y="4505325"/>
            <a:ext cx="285750" cy="228600"/>
          </a:xfrm>
          <a:custGeom>
            <a:avLst/>
            <a:gdLst/>
            <a:ahLst/>
            <a:cxnLst/>
            <a:rect l="l" t="t" r="r" b="b"/>
            <a:pathLst>
              <a:path w="285750" h="228600">
                <a:moveTo>
                  <a:pt x="171450" y="14288"/>
                </a:moveTo>
                <a:lnTo>
                  <a:pt x="228600" y="14288"/>
                </a:lnTo>
                <a:cubicBezTo>
                  <a:pt x="236503" y="14288"/>
                  <a:pt x="242888" y="20672"/>
                  <a:pt x="242888" y="28575"/>
                </a:cubicBezTo>
                <a:cubicBezTo>
                  <a:pt x="242888" y="36478"/>
                  <a:pt x="236503" y="42863"/>
                  <a:pt x="228600" y="42863"/>
                </a:cubicBezTo>
                <a:lnTo>
                  <a:pt x="177879" y="42863"/>
                </a:lnTo>
                <a:cubicBezTo>
                  <a:pt x="175558" y="54382"/>
                  <a:pt x="167655" y="63892"/>
                  <a:pt x="157163" y="68446"/>
                </a:cubicBezTo>
                <a:lnTo>
                  <a:pt x="157163" y="200025"/>
                </a:lnTo>
                <a:lnTo>
                  <a:pt x="228600" y="200025"/>
                </a:lnTo>
                <a:cubicBezTo>
                  <a:pt x="236503" y="200025"/>
                  <a:pt x="242888" y="206410"/>
                  <a:pt x="242888" y="214313"/>
                </a:cubicBezTo>
                <a:cubicBezTo>
                  <a:pt x="242888" y="222215"/>
                  <a:pt x="236503" y="228600"/>
                  <a:pt x="228600" y="228600"/>
                </a:cubicBezTo>
                <a:lnTo>
                  <a:pt x="57150" y="228600"/>
                </a:lnTo>
                <a:cubicBezTo>
                  <a:pt x="49247" y="228600"/>
                  <a:pt x="42863" y="222215"/>
                  <a:pt x="42863" y="214313"/>
                </a:cubicBezTo>
                <a:cubicBezTo>
                  <a:pt x="42863" y="206410"/>
                  <a:pt x="49247" y="200025"/>
                  <a:pt x="57150" y="200025"/>
                </a:cubicBezTo>
                <a:lnTo>
                  <a:pt x="128588" y="200025"/>
                </a:lnTo>
                <a:lnTo>
                  <a:pt x="128588" y="68446"/>
                </a:lnTo>
                <a:cubicBezTo>
                  <a:pt x="118095" y="63847"/>
                  <a:pt x="110192" y="54337"/>
                  <a:pt x="107871" y="42863"/>
                </a:cubicBezTo>
                <a:lnTo>
                  <a:pt x="57150" y="42863"/>
                </a:lnTo>
                <a:cubicBezTo>
                  <a:pt x="49247" y="42863"/>
                  <a:pt x="42863" y="36478"/>
                  <a:pt x="42863" y="28575"/>
                </a:cubicBezTo>
                <a:cubicBezTo>
                  <a:pt x="42863" y="20672"/>
                  <a:pt x="49247" y="14288"/>
                  <a:pt x="57150" y="14288"/>
                </a:cubicBezTo>
                <a:lnTo>
                  <a:pt x="114300" y="14288"/>
                </a:lnTo>
                <a:cubicBezTo>
                  <a:pt x="120819" y="5626"/>
                  <a:pt x="131177" y="0"/>
                  <a:pt x="142875" y="0"/>
                </a:cubicBezTo>
                <a:cubicBezTo>
                  <a:pt x="154573" y="0"/>
                  <a:pt x="164931" y="5626"/>
                  <a:pt x="171450" y="14288"/>
                </a:cubicBezTo>
                <a:close/>
                <a:moveTo>
                  <a:pt x="196275" y="142875"/>
                </a:moveTo>
                <a:lnTo>
                  <a:pt x="260925" y="142875"/>
                </a:lnTo>
                <a:lnTo>
                  <a:pt x="228600" y="87422"/>
                </a:lnTo>
                <a:lnTo>
                  <a:pt x="196275" y="142875"/>
                </a:lnTo>
                <a:close/>
                <a:moveTo>
                  <a:pt x="228600" y="185738"/>
                </a:moveTo>
                <a:cubicBezTo>
                  <a:pt x="200516" y="185738"/>
                  <a:pt x="177165" y="170557"/>
                  <a:pt x="172343" y="150510"/>
                </a:cubicBezTo>
                <a:cubicBezTo>
                  <a:pt x="171182" y="145599"/>
                  <a:pt x="172789" y="140553"/>
                  <a:pt x="175334" y="136178"/>
                </a:cubicBezTo>
                <a:lnTo>
                  <a:pt x="217840" y="63311"/>
                </a:lnTo>
                <a:cubicBezTo>
                  <a:pt x="220072" y="59472"/>
                  <a:pt x="224180" y="57150"/>
                  <a:pt x="228600" y="57150"/>
                </a:cubicBezTo>
                <a:cubicBezTo>
                  <a:pt x="233020" y="57150"/>
                  <a:pt x="237128" y="59516"/>
                  <a:pt x="239360" y="63311"/>
                </a:cubicBezTo>
                <a:lnTo>
                  <a:pt x="281866" y="136178"/>
                </a:lnTo>
                <a:cubicBezTo>
                  <a:pt x="284411" y="140553"/>
                  <a:pt x="286018" y="145599"/>
                  <a:pt x="284857" y="150510"/>
                </a:cubicBezTo>
                <a:cubicBezTo>
                  <a:pt x="280035" y="170512"/>
                  <a:pt x="256684" y="185738"/>
                  <a:pt x="228600" y="185738"/>
                </a:cubicBezTo>
                <a:close/>
                <a:moveTo>
                  <a:pt x="56614" y="87422"/>
                </a:moveTo>
                <a:lnTo>
                  <a:pt x="24289" y="142875"/>
                </a:lnTo>
                <a:lnTo>
                  <a:pt x="88984" y="142875"/>
                </a:lnTo>
                <a:lnTo>
                  <a:pt x="56614" y="87422"/>
                </a:lnTo>
                <a:close/>
                <a:moveTo>
                  <a:pt x="402" y="150510"/>
                </a:moveTo>
                <a:cubicBezTo>
                  <a:pt x="-759" y="145599"/>
                  <a:pt x="848" y="140553"/>
                  <a:pt x="3393" y="136178"/>
                </a:cubicBezTo>
                <a:lnTo>
                  <a:pt x="45899" y="63311"/>
                </a:lnTo>
                <a:cubicBezTo>
                  <a:pt x="48131" y="59472"/>
                  <a:pt x="52239" y="57150"/>
                  <a:pt x="56659" y="57150"/>
                </a:cubicBezTo>
                <a:cubicBezTo>
                  <a:pt x="61079" y="57150"/>
                  <a:pt x="65187" y="59516"/>
                  <a:pt x="67419" y="63311"/>
                </a:cubicBezTo>
                <a:lnTo>
                  <a:pt x="109924" y="136178"/>
                </a:lnTo>
                <a:cubicBezTo>
                  <a:pt x="112469" y="140553"/>
                  <a:pt x="114077" y="145599"/>
                  <a:pt x="112916" y="150510"/>
                </a:cubicBezTo>
                <a:cubicBezTo>
                  <a:pt x="108094" y="170512"/>
                  <a:pt x="84743" y="185738"/>
                  <a:pt x="56659" y="185738"/>
                </a:cubicBezTo>
                <a:cubicBezTo>
                  <a:pt x="28575" y="185738"/>
                  <a:pt x="5224" y="170557"/>
                  <a:pt x="402" y="150510"/>
                </a:cubicBezTo>
                <a:close/>
              </a:path>
            </a:pathLst>
          </a:custGeom>
          <a:solidFill>
            <a:srgbClr val="10B981"/>
          </a:solidFill>
          <a:ln/>
        </p:spPr>
      </p:sp>
      <p:sp>
        <p:nvSpPr>
          <p:cNvPr id="16" name="Text 13"/>
          <p:cNvSpPr/>
          <p:nvPr/>
        </p:nvSpPr>
        <p:spPr>
          <a:xfrm>
            <a:off x="54959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Zero vs Few-shot</a:t>
            </a:r>
            <a:endParaRPr lang="en-US" sz="1600" dirty="0"/>
          </a:p>
        </p:txBody>
      </p:sp>
      <p:sp>
        <p:nvSpPr>
          <p:cNvPr id="17" name="Shape 14"/>
          <p:cNvSpPr/>
          <p:nvPr/>
        </p:nvSpPr>
        <p:spPr>
          <a:xfrm>
            <a:off x="78152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F59E0B">
              <a:alpha val="10196"/>
            </a:srgbClr>
          </a:solidFill>
          <a:ln w="12700">
            <a:solidFill>
              <a:srgbClr val="F59E0B">
                <a:alpha val="30196"/>
              </a:srgbClr>
            </a:solidFill>
            <a:prstDash val="solid"/>
          </a:ln>
        </p:spPr>
      </p:sp>
      <p:sp>
        <p:nvSpPr>
          <p:cNvPr id="18" name="Shape 15"/>
          <p:cNvSpPr/>
          <p:nvPr/>
        </p:nvSpPr>
        <p:spPr>
          <a:xfrm>
            <a:off x="8001000" y="4505325"/>
            <a:ext cx="228600" cy="228600"/>
          </a:xfrm>
          <a:custGeom>
            <a:avLst/>
            <a:gdLst/>
            <a:ahLst/>
            <a:cxnLst/>
            <a:rect l="l" t="t" r="r" b="b"/>
            <a:pathLst>
              <a:path w="228600" h="228600">
                <a:moveTo>
                  <a:pt x="114300" y="0"/>
                </a:moveTo>
                <a:cubicBezTo>
                  <a:pt x="116354" y="0"/>
                  <a:pt x="118408" y="446"/>
                  <a:pt x="120283" y="1295"/>
                </a:cubicBezTo>
                <a:lnTo>
                  <a:pt x="204401" y="36969"/>
                </a:lnTo>
                <a:cubicBezTo>
                  <a:pt x="214223" y="41121"/>
                  <a:pt x="221546" y="50810"/>
                  <a:pt x="221501" y="62508"/>
                </a:cubicBezTo>
                <a:cubicBezTo>
                  <a:pt x="221278" y="106799"/>
                  <a:pt x="203061" y="187836"/>
                  <a:pt x="126132" y="224671"/>
                </a:cubicBezTo>
                <a:cubicBezTo>
                  <a:pt x="118676" y="228243"/>
                  <a:pt x="110014" y="228243"/>
                  <a:pt x="102557" y="224671"/>
                </a:cubicBezTo>
                <a:cubicBezTo>
                  <a:pt x="25584" y="187836"/>
                  <a:pt x="7412" y="106799"/>
                  <a:pt x="7188" y="62508"/>
                </a:cubicBezTo>
                <a:cubicBezTo>
                  <a:pt x="7144" y="50810"/>
                  <a:pt x="14466" y="41121"/>
                  <a:pt x="24289" y="36969"/>
                </a:cubicBezTo>
                <a:lnTo>
                  <a:pt x="108362" y="1295"/>
                </a:lnTo>
                <a:cubicBezTo>
                  <a:pt x="110237" y="446"/>
                  <a:pt x="112246" y="0"/>
                  <a:pt x="114300" y="0"/>
                </a:cubicBezTo>
                <a:close/>
                <a:moveTo>
                  <a:pt x="114300" y="29825"/>
                </a:moveTo>
                <a:lnTo>
                  <a:pt x="114300" y="198641"/>
                </a:lnTo>
                <a:cubicBezTo>
                  <a:pt x="175915" y="168816"/>
                  <a:pt x="192479" y="102736"/>
                  <a:pt x="192881" y="63178"/>
                </a:cubicBezTo>
                <a:lnTo>
                  <a:pt x="114300" y="29870"/>
                </a:lnTo>
                <a:lnTo>
                  <a:pt x="114300" y="29870"/>
                </a:lnTo>
                <a:close/>
              </a:path>
            </a:pathLst>
          </a:custGeom>
          <a:solidFill>
            <a:srgbClr val="F59E0B"/>
          </a:solidFill>
          <a:ln/>
        </p:spPr>
      </p:sp>
      <p:sp>
        <p:nvSpPr>
          <p:cNvPr id="19" name="Text 16"/>
          <p:cNvSpPr/>
          <p:nvPr/>
        </p:nvSpPr>
        <p:spPr>
          <a:xfrm>
            <a:off x="79724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Validation 3 lớp</a:t>
            </a:r>
            <a:endParaRPr lang="en-US" sz="1600" dirty="0"/>
          </a:p>
        </p:txBody>
      </p:sp>
    </p:spTree>
  </p:cSld>
  <p:clrMapOvr>
    <a:masterClrMapping/>
  </p:clrMapOvr>
  <p:transition>
    <p:fade/>
    <p:spd val="med"/>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75009" y="53578"/>
                </a:moveTo>
                <a:cubicBezTo>
                  <a:pt x="75009" y="47664"/>
                  <a:pt x="79811" y="42863"/>
                  <a:pt x="85725" y="42863"/>
                </a:cubicBezTo>
                <a:cubicBezTo>
                  <a:pt x="91639" y="42863"/>
                  <a:pt x="96441" y="47664"/>
                  <a:pt x="96441" y="53578"/>
                </a:cubicBezTo>
                <a:cubicBezTo>
                  <a:pt x="96441" y="59492"/>
                  <a:pt x="91639" y="64294"/>
                  <a:pt x="85725" y="64294"/>
                </a:cubicBezTo>
                <a:cubicBezTo>
                  <a:pt x="79811" y="64294"/>
                  <a:pt x="75009" y="59492"/>
                  <a:pt x="75009" y="53578"/>
                </a:cubicBezTo>
                <a:close/>
                <a:moveTo>
                  <a:pt x="72330" y="75009"/>
                </a:moveTo>
                <a:lnTo>
                  <a:pt x="88404" y="75009"/>
                </a:lnTo>
                <a:cubicBezTo>
                  <a:pt x="92858" y="75009"/>
                  <a:pt x="96441" y="78592"/>
                  <a:pt x="96441" y="83046"/>
                </a:cubicBezTo>
                <a:lnTo>
                  <a:pt x="96441" y="112514"/>
                </a:lnTo>
                <a:lnTo>
                  <a:pt x="99120" y="112514"/>
                </a:lnTo>
                <a:cubicBezTo>
                  <a:pt x="103573" y="112514"/>
                  <a:pt x="107156" y="116097"/>
                  <a:pt x="107156" y="120551"/>
                </a:cubicBezTo>
                <a:cubicBezTo>
                  <a:pt x="107156" y="125004"/>
                  <a:pt x="103573" y="128588"/>
                  <a:pt x="99120" y="128588"/>
                </a:cubicBezTo>
                <a:lnTo>
                  <a:pt x="72330" y="128588"/>
                </a:lnTo>
                <a:cubicBezTo>
                  <a:pt x="67877" y="128588"/>
                  <a:pt x="64294" y="125004"/>
                  <a:pt x="64294" y="120551"/>
                </a:cubicBezTo>
                <a:cubicBezTo>
                  <a:pt x="64294" y="116097"/>
                  <a:pt x="67877" y="112514"/>
                  <a:pt x="72330" y="112514"/>
                </a:cubicBezTo>
                <a:lnTo>
                  <a:pt x="80367" y="112514"/>
                </a:lnTo>
                <a:lnTo>
                  <a:pt x="80367" y="91083"/>
                </a:lnTo>
                <a:lnTo>
                  <a:pt x="72330" y="91083"/>
                </a:lnTo>
                <a:cubicBezTo>
                  <a:pt x="67877" y="91083"/>
                  <a:pt x="64294" y="87500"/>
                  <a:pt x="64294" y="83046"/>
                </a:cubicBezTo>
                <a:cubicBezTo>
                  <a:pt x="64294" y="78592"/>
                  <a:pt x="67877" y="75009"/>
                  <a:pt x="72330" y="75009"/>
                </a:cubicBezTo>
                <a:close/>
              </a:path>
            </a:pathLst>
          </a:custGeom>
          <a:solidFill>
            <a:srgbClr val="FFFFFF"/>
          </a:solidFill>
          <a:ln/>
        </p:spPr>
      </p:sp>
      <p:sp>
        <p:nvSpPr>
          <p:cNvPr id="4" name="Text 2"/>
          <p:cNvSpPr/>
          <p:nvPr/>
        </p:nvSpPr>
        <p:spPr>
          <a:xfrm>
            <a:off x="876300" y="381000"/>
            <a:ext cx="541972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15 | TỔNG QUAN</a:t>
            </a:r>
            <a:endParaRPr lang="en-US" sz="1600" dirty="0"/>
          </a:p>
        </p:txBody>
      </p:sp>
      <p:sp>
        <p:nvSpPr>
          <p:cNvPr id="5" name="Text 3"/>
          <p:cNvSpPr/>
          <p:nvPr/>
        </p:nvSpPr>
        <p:spPr>
          <a:xfrm>
            <a:off x="876300" y="571500"/>
            <a:ext cx="54959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Tổng quan đề tài và bối cảnh nghiên cứu</a:t>
            </a:r>
            <a:endParaRPr lang="en-US" sz="1600" dirty="0"/>
          </a:p>
        </p:txBody>
      </p:sp>
      <p:sp>
        <p:nvSpPr>
          <p:cNvPr id="6" name="Shape 4"/>
          <p:cNvSpPr/>
          <p:nvPr/>
        </p:nvSpPr>
        <p:spPr>
          <a:xfrm>
            <a:off x="385763" y="1147763"/>
            <a:ext cx="5610225" cy="3914775"/>
          </a:xfrm>
          <a:custGeom>
            <a:avLst/>
            <a:gdLst/>
            <a:ahLst/>
            <a:cxnLst/>
            <a:rect l="l" t="t" r="r" b="b"/>
            <a:pathLst>
              <a:path w="5610225" h="3914775">
                <a:moveTo>
                  <a:pt x="114311" y="0"/>
                </a:moveTo>
                <a:lnTo>
                  <a:pt x="5495914" y="0"/>
                </a:lnTo>
                <a:cubicBezTo>
                  <a:pt x="5559046" y="0"/>
                  <a:pt x="5610225" y="51179"/>
                  <a:pt x="5610225" y="114311"/>
                </a:cubicBezTo>
                <a:lnTo>
                  <a:pt x="5610225" y="3800464"/>
                </a:lnTo>
                <a:cubicBezTo>
                  <a:pt x="5610225" y="3863596"/>
                  <a:pt x="5559046" y="3914775"/>
                  <a:pt x="5495914" y="3914775"/>
                </a:cubicBezTo>
                <a:lnTo>
                  <a:pt x="114311" y="3914775"/>
                </a:lnTo>
                <a:cubicBezTo>
                  <a:pt x="51179" y="3914775"/>
                  <a:pt x="0" y="3863596"/>
                  <a:pt x="0" y="3800464"/>
                </a:cubicBezTo>
                <a:lnTo>
                  <a:pt x="0" y="114311"/>
                </a:lnTo>
                <a:cubicBezTo>
                  <a:pt x="0" y="51179"/>
                  <a:pt x="51179" y="0"/>
                  <a:pt x="114311"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F4444"/>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EF4444"/>
                </a:solidFill>
                <a:latin typeface="MiSans" pitchFamily="34" charset="0"/>
                <a:ea typeface="MiSans" pitchFamily="34" charset="-122"/>
                <a:cs typeface="MiSans" pitchFamily="34" charset="-120"/>
              </a:rPr>
              <a:t>Vấn đề trong kỹ nghệ phần mềm</a:t>
            </a:r>
            <a:endParaRPr lang="en-US" sz="1600" dirty="0"/>
          </a:p>
        </p:txBody>
      </p:sp>
      <p:sp>
        <p:nvSpPr>
          <p:cNvPr id="9" name="Shape 7"/>
          <p:cNvSpPr/>
          <p:nvPr/>
        </p:nvSpPr>
        <p:spPr>
          <a:xfrm>
            <a:off x="581025" y="1762125"/>
            <a:ext cx="5219700" cy="685800"/>
          </a:xfrm>
          <a:custGeom>
            <a:avLst/>
            <a:gdLst/>
            <a:ahLst/>
            <a:cxnLst/>
            <a:rect l="l" t="t" r="r" b="b"/>
            <a:pathLst>
              <a:path w="5219700" h="685800">
                <a:moveTo>
                  <a:pt x="76199" y="0"/>
                </a:moveTo>
                <a:lnTo>
                  <a:pt x="5143501" y="0"/>
                </a:lnTo>
                <a:cubicBezTo>
                  <a:pt x="5185584" y="0"/>
                  <a:pt x="5219700" y="34116"/>
                  <a:pt x="5219700" y="76199"/>
                </a:cubicBezTo>
                <a:lnTo>
                  <a:pt x="5219700" y="609601"/>
                </a:lnTo>
                <a:cubicBezTo>
                  <a:pt x="5219700" y="651684"/>
                  <a:pt x="5185584" y="685800"/>
                  <a:pt x="5143501"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solidFill>
          <a:ln/>
        </p:spPr>
      </p:sp>
      <p:sp>
        <p:nvSpPr>
          <p:cNvPr id="10" name="Text 8"/>
          <p:cNvSpPr/>
          <p:nvPr/>
        </p:nvSpPr>
        <p:spPr>
          <a:xfrm>
            <a:off x="695325" y="1876425"/>
            <a:ext cx="5067300"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Việc viết các đoạn mã </a:t>
            </a:r>
            <a:pPr>
              <a:lnSpc>
                <a:spcPct val="130000"/>
              </a:lnSpc>
            </a:pPr>
            <a:r>
              <a:rPr lang="en-US" sz="1200" b="1" dirty="0">
                <a:solidFill>
                  <a:srgbClr val="EF4444"/>
                </a:solidFill>
                <a:latin typeface="MiSans" pitchFamily="34" charset="0"/>
                <a:ea typeface="MiSans" pitchFamily="34" charset="-122"/>
                <a:cs typeface="MiSans" pitchFamily="34" charset="-120"/>
              </a:rPr>
              <a:t>lặp đi lặp lại (boilerplate code)</a:t>
            </a:r>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 tiêu tốn một lượng lớn thờigian của lập trình viên.</a:t>
            </a:r>
            <a:endParaRPr lang="en-US" sz="1600" dirty="0"/>
          </a:p>
        </p:txBody>
      </p:sp>
      <p:sp>
        <p:nvSpPr>
          <p:cNvPr id="11" name="Shape 9"/>
          <p:cNvSpPr/>
          <p:nvPr/>
        </p:nvSpPr>
        <p:spPr>
          <a:xfrm>
            <a:off x="581025" y="2562225"/>
            <a:ext cx="5219700" cy="914400"/>
          </a:xfrm>
          <a:custGeom>
            <a:avLst/>
            <a:gdLst/>
            <a:ahLst/>
            <a:cxnLst/>
            <a:rect l="l" t="t" r="r" b="b"/>
            <a:pathLst>
              <a:path w="5219700" h="914400">
                <a:moveTo>
                  <a:pt x="76197" y="0"/>
                </a:moveTo>
                <a:lnTo>
                  <a:pt x="5143503" y="0"/>
                </a:lnTo>
                <a:cubicBezTo>
                  <a:pt x="5185585" y="0"/>
                  <a:pt x="5219700" y="34115"/>
                  <a:pt x="5219700" y="76197"/>
                </a:cubicBezTo>
                <a:lnTo>
                  <a:pt x="5219700" y="838203"/>
                </a:lnTo>
                <a:cubicBezTo>
                  <a:pt x="5219700" y="880285"/>
                  <a:pt x="5185585" y="914400"/>
                  <a:pt x="5143503" y="914400"/>
                </a:cubicBezTo>
                <a:lnTo>
                  <a:pt x="76197" y="914400"/>
                </a:lnTo>
                <a:cubicBezTo>
                  <a:pt x="34115" y="914400"/>
                  <a:pt x="0" y="880285"/>
                  <a:pt x="0" y="838203"/>
                </a:cubicBezTo>
                <a:lnTo>
                  <a:pt x="0" y="76197"/>
                </a:lnTo>
                <a:cubicBezTo>
                  <a:pt x="0" y="34143"/>
                  <a:pt x="34143" y="0"/>
                  <a:pt x="76197" y="0"/>
                </a:cubicBezTo>
                <a:close/>
              </a:path>
            </a:pathLst>
          </a:custGeom>
          <a:solidFill>
            <a:srgbClr val="0F172A"/>
          </a:solidFill>
          <a:ln/>
        </p:spPr>
      </p:sp>
      <p:sp>
        <p:nvSpPr>
          <p:cNvPr id="12" name="Text 10"/>
          <p:cNvSpPr/>
          <p:nvPr/>
        </p:nvSpPr>
        <p:spPr>
          <a:xfrm>
            <a:off x="695325" y="26765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Decorator Pattern trong Python:</a:t>
            </a:r>
            <a:endParaRPr lang="en-US" sz="1600" dirty="0"/>
          </a:p>
        </p:txBody>
      </p:sp>
      <p:sp>
        <p:nvSpPr>
          <p:cNvPr id="13" name="Text 11"/>
          <p:cNvSpPr/>
          <p:nvPr/>
        </p:nvSpPr>
        <p:spPr>
          <a:xfrm>
            <a:off x="695325" y="2981325"/>
            <a:ext cx="505777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Là design pattern mạnh mẽ giúp can thiệp và bổ sung hành vi cho hàm mà không làm thay đổi logic lõi.</a:t>
            </a:r>
            <a:endParaRPr lang="en-US" sz="1600" dirty="0"/>
          </a:p>
        </p:txBody>
      </p:sp>
      <p:sp>
        <p:nvSpPr>
          <p:cNvPr id="14" name="Shape 12"/>
          <p:cNvSpPr/>
          <p:nvPr/>
        </p:nvSpPr>
        <p:spPr>
          <a:xfrm>
            <a:off x="585788" y="3595688"/>
            <a:ext cx="5210175" cy="1266825"/>
          </a:xfrm>
          <a:custGeom>
            <a:avLst/>
            <a:gdLst/>
            <a:ahLst/>
            <a:cxnLst/>
            <a:rect l="l" t="t" r="r" b="b"/>
            <a:pathLst>
              <a:path w="5210175" h="1266825">
                <a:moveTo>
                  <a:pt x="76200" y="0"/>
                </a:moveTo>
                <a:lnTo>
                  <a:pt x="5133975" y="0"/>
                </a:lnTo>
                <a:cubicBezTo>
                  <a:pt x="5176059" y="0"/>
                  <a:pt x="5210175" y="34116"/>
                  <a:pt x="5210175" y="76200"/>
                </a:cubicBezTo>
                <a:lnTo>
                  <a:pt x="5210175" y="1190625"/>
                </a:lnTo>
                <a:cubicBezTo>
                  <a:pt x="5210175" y="1232709"/>
                  <a:pt x="5176059" y="1266825"/>
                  <a:pt x="5133975" y="1266825"/>
                </a:cubicBezTo>
                <a:lnTo>
                  <a:pt x="76200" y="1266825"/>
                </a:lnTo>
                <a:cubicBezTo>
                  <a:pt x="34116" y="1266825"/>
                  <a:pt x="0" y="1232709"/>
                  <a:pt x="0" y="1190625"/>
                </a:cubicBezTo>
                <a:lnTo>
                  <a:pt x="0" y="76200"/>
                </a:lnTo>
                <a:cubicBezTo>
                  <a:pt x="0" y="34144"/>
                  <a:pt x="34144" y="0"/>
                  <a:pt x="76200" y="0"/>
                </a:cubicBezTo>
                <a:close/>
              </a:path>
            </a:pathLst>
          </a:custGeom>
          <a:solidFill>
            <a:srgbClr val="0F172A"/>
          </a:solidFill>
          <a:ln w="12700">
            <a:solidFill>
              <a:srgbClr val="EF4444">
                <a:alpha val="30196"/>
              </a:srgbClr>
            </a:solidFill>
            <a:prstDash val="solid"/>
          </a:ln>
        </p:spPr>
      </p:sp>
      <p:sp>
        <p:nvSpPr>
          <p:cNvPr id="15" name="Text 13"/>
          <p:cNvSpPr/>
          <p:nvPr/>
        </p:nvSpPr>
        <p:spPr>
          <a:xfrm>
            <a:off x="704850" y="3714750"/>
            <a:ext cx="5048250" cy="228600"/>
          </a:xfrm>
          <a:prstGeom prst="rect">
            <a:avLst/>
          </a:prstGeom>
          <a:noFill/>
          <a:ln/>
        </p:spPr>
        <p:txBody>
          <a:bodyPr wrap="square" lIns="0" tIns="0" rIns="0" bIns="0" rtlCol="0" anchor="ctr"/>
          <a:lstStyle/>
          <a:p>
            <a:pPr>
              <a:lnSpc>
                <a:spcPct val="130000"/>
              </a:lnSpc>
            </a:pPr>
            <a:r>
              <a:rPr lang="en-US" sz="1200" b="1" dirty="0">
                <a:solidFill>
                  <a:srgbClr val="EF4444"/>
                </a:solidFill>
                <a:latin typeface="MiSans" pitchFamily="34" charset="0"/>
                <a:ea typeface="MiSans" pitchFamily="34" charset="-122"/>
                <a:cs typeface="MiSans" pitchFamily="34" charset="-120"/>
              </a:rPr>
              <a:t>Các lỗi phổ biến:</a:t>
            </a:r>
            <a:endParaRPr lang="en-US" sz="1600" dirty="0"/>
          </a:p>
        </p:txBody>
      </p:sp>
      <p:sp>
        <p:nvSpPr>
          <p:cNvPr id="16" name="Shape 14"/>
          <p:cNvSpPr/>
          <p:nvPr/>
        </p:nvSpPr>
        <p:spPr>
          <a:xfrm>
            <a:off x="723900" y="40576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43495" y="43495"/>
                </a:moveTo>
                <a:cubicBezTo>
                  <a:pt x="45943" y="41047"/>
                  <a:pt x="49902" y="41047"/>
                  <a:pt x="52324" y="43495"/>
                </a:cubicBezTo>
                <a:lnTo>
                  <a:pt x="66649" y="57820"/>
                </a:lnTo>
                <a:lnTo>
                  <a:pt x="80974" y="43495"/>
                </a:lnTo>
                <a:cubicBezTo>
                  <a:pt x="83422" y="41047"/>
                  <a:pt x="87381" y="41047"/>
                  <a:pt x="89803" y="43495"/>
                </a:cubicBezTo>
                <a:cubicBezTo>
                  <a:pt x="92225" y="45943"/>
                  <a:pt x="92251" y="49902"/>
                  <a:pt x="89803" y="52324"/>
                </a:cubicBezTo>
                <a:lnTo>
                  <a:pt x="75478" y="66649"/>
                </a:lnTo>
                <a:lnTo>
                  <a:pt x="89803" y="80974"/>
                </a:lnTo>
                <a:cubicBezTo>
                  <a:pt x="92251" y="83422"/>
                  <a:pt x="92251" y="87381"/>
                  <a:pt x="89803" y="89803"/>
                </a:cubicBezTo>
                <a:cubicBezTo>
                  <a:pt x="87355" y="92225"/>
                  <a:pt x="83396" y="92251"/>
                  <a:pt x="80974" y="89803"/>
                </a:cubicBezTo>
                <a:lnTo>
                  <a:pt x="66649" y="75478"/>
                </a:lnTo>
                <a:lnTo>
                  <a:pt x="52324" y="89803"/>
                </a:lnTo>
                <a:cubicBezTo>
                  <a:pt x="49876" y="92251"/>
                  <a:pt x="45917" y="92251"/>
                  <a:pt x="43495" y="89803"/>
                </a:cubicBezTo>
                <a:cubicBezTo>
                  <a:pt x="41073" y="87355"/>
                  <a:pt x="41047" y="83396"/>
                  <a:pt x="43495" y="80974"/>
                </a:cubicBezTo>
                <a:lnTo>
                  <a:pt x="57820" y="66649"/>
                </a:lnTo>
                <a:lnTo>
                  <a:pt x="43495" y="52324"/>
                </a:lnTo>
                <a:cubicBezTo>
                  <a:pt x="41047" y="49876"/>
                  <a:pt x="41047" y="45917"/>
                  <a:pt x="43495" y="43495"/>
                </a:cubicBezTo>
                <a:close/>
              </a:path>
            </a:pathLst>
          </a:custGeom>
          <a:solidFill>
            <a:srgbClr val="EF4444"/>
          </a:solidFill>
          <a:ln/>
        </p:spPr>
      </p:sp>
      <p:sp>
        <p:nvSpPr>
          <p:cNvPr id="17" name="Text 15"/>
          <p:cNvSpPr/>
          <p:nvPr/>
        </p:nvSpPr>
        <p:spPr>
          <a:xfrm>
            <a:off x="947737" y="4019550"/>
            <a:ext cx="26860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Mất metadata của hàm gốc (quên @wraps)</a:t>
            </a:r>
            <a:endParaRPr lang="en-US" sz="1600" dirty="0"/>
          </a:p>
        </p:txBody>
      </p:sp>
      <p:sp>
        <p:nvSpPr>
          <p:cNvPr id="18" name="Shape 16"/>
          <p:cNvSpPr/>
          <p:nvPr/>
        </p:nvSpPr>
        <p:spPr>
          <a:xfrm>
            <a:off x="723900" y="43243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43495" y="43495"/>
                </a:moveTo>
                <a:cubicBezTo>
                  <a:pt x="45943" y="41047"/>
                  <a:pt x="49902" y="41047"/>
                  <a:pt x="52324" y="43495"/>
                </a:cubicBezTo>
                <a:lnTo>
                  <a:pt x="66649" y="57820"/>
                </a:lnTo>
                <a:lnTo>
                  <a:pt x="80974" y="43495"/>
                </a:lnTo>
                <a:cubicBezTo>
                  <a:pt x="83422" y="41047"/>
                  <a:pt x="87381" y="41047"/>
                  <a:pt x="89803" y="43495"/>
                </a:cubicBezTo>
                <a:cubicBezTo>
                  <a:pt x="92225" y="45943"/>
                  <a:pt x="92251" y="49902"/>
                  <a:pt x="89803" y="52324"/>
                </a:cubicBezTo>
                <a:lnTo>
                  <a:pt x="75478" y="66649"/>
                </a:lnTo>
                <a:lnTo>
                  <a:pt x="89803" y="80974"/>
                </a:lnTo>
                <a:cubicBezTo>
                  <a:pt x="92251" y="83422"/>
                  <a:pt x="92251" y="87381"/>
                  <a:pt x="89803" y="89803"/>
                </a:cubicBezTo>
                <a:cubicBezTo>
                  <a:pt x="87355" y="92225"/>
                  <a:pt x="83396" y="92251"/>
                  <a:pt x="80974" y="89803"/>
                </a:cubicBezTo>
                <a:lnTo>
                  <a:pt x="66649" y="75478"/>
                </a:lnTo>
                <a:lnTo>
                  <a:pt x="52324" y="89803"/>
                </a:lnTo>
                <a:cubicBezTo>
                  <a:pt x="49876" y="92251"/>
                  <a:pt x="45917" y="92251"/>
                  <a:pt x="43495" y="89803"/>
                </a:cubicBezTo>
                <a:cubicBezTo>
                  <a:pt x="41073" y="87355"/>
                  <a:pt x="41047" y="83396"/>
                  <a:pt x="43495" y="80974"/>
                </a:cubicBezTo>
                <a:lnTo>
                  <a:pt x="57820" y="66649"/>
                </a:lnTo>
                <a:lnTo>
                  <a:pt x="43495" y="52324"/>
                </a:lnTo>
                <a:cubicBezTo>
                  <a:pt x="41047" y="49876"/>
                  <a:pt x="41047" y="45917"/>
                  <a:pt x="43495" y="43495"/>
                </a:cubicBezTo>
                <a:close/>
              </a:path>
            </a:pathLst>
          </a:custGeom>
          <a:solidFill>
            <a:srgbClr val="EF4444"/>
          </a:solidFill>
          <a:ln/>
        </p:spPr>
      </p:sp>
      <p:sp>
        <p:nvSpPr>
          <p:cNvPr id="19" name="Text 17"/>
          <p:cNvSpPr/>
          <p:nvPr/>
        </p:nvSpPr>
        <p:spPr>
          <a:xfrm>
            <a:off x="947737" y="4286250"/>
            <a:ext cx="26670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Sai thứ tự trong chuỗi decorator (chaining)</a:t>
            </a:r>
            <a:endParaRPr lang="en-US" sz="1600" dirty="0"/>
          </a:p>
        </p:txBody>
      </p:sp>
      <p:sp>
        <p:nvSpPr>
          <p:cNvPr id="20" name="Shape 18"/>
          <p:cNvSpPr/>
          <p:nvPr/>
        </p:nvSpPr>
        <p:spPr>
          <a:xfrm>
            <a:off x="723900" y="45910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43495" y="43495"/>
                </a:moveTo>
                <a:cubicBezTo>
                  <a:pt x="45943" y="41047"/>
                  <a:pt x="49902" y="41047"/>
                  <a:pt x="52324" y="43495"/>
                </a:cubicBezTo>
                <a:lnTo>
                  <a:pt x="66649" y="57820"/>
                </a:lnTo>
                <a:lnTo>
                  <a:pt x="80974" y="43495"/>
                </a:lnTo>
                <a:cubicBezTo>
                  <a:pt x="83422" y="41047"/>
                  <a:pt x="87381" y="41047"/>
                  <a:pt x="89803" y="43495"/>
                </a:cubicBezTo>
                <a:cubicBezTo>
                  <a:pt x="92225" y="45943"/>
                  <a:pt x="92251" y="49902"/>
                  <a:pt x="89803" y="52324"/>
                </a:cubicBezTo>
                <a:lnTo>
                  <a:pt x="75478" y="66649"/>
                </a:lnTo>
                <a:lnTo>
                  <a:pt x="89803" y="80974"/>
                </a:lnTo>
                <a:cubicBezTo>
                  <a:pt x="92251" y="83422"/>
                  <a:pt x="92251" y="87381"/>
                  <a:pt x="89803" y="89803"/>
                </a:cubicBezTo>
                <a:cubicBezTo>
                  <a:pt x="87355" y="92225"/>
                  <a:pt x="83396" y="92251"/>
                  <a:pt x="80974" y="89803"/>
                </a:cubicBezTo>
                <a:lnTo>
                  <a:pt x="66649" y="75478"/>
                </a:lnTo>
                <a:lnTo>
                  <a:pt x="52324" y="89803"/>
                </a:lnTo>
                <a:cubicBezTo>
                  <a:pt x="49876" y="92251"/>
                  <a:pt x="45917" y="92251"/>
                  <a:pt x="43495" y="89803"/>
                </a:cubicBezTo>
                <a:cubicBezTo>
                  <a:pt x="41073" y="87355"/>
                  <a:pt x="41047" y="83396"/>
                  <a:pt x="43495" y="80974"/>
                </a:cubicBezTo>
                <a:lnTo>
                  <a:pt x="57820" y="66649"/>
                </a:lnTo>
                <a:lnTo>
                  <a:pt x="43495" y="52324"/>
                </a:lnTo>
                <a:cubicBezTo>
                  <a:pt x="41047" y="49876"/>
                  <a:pt x="41047" y="45917"/>
                  <a:pt x="43495" y="43495"/>
                </a:cubicBezTo>
                <a:close/>
              </a:path>
            </a:pathLst>
          </a:custGeom>
          <a:solidFill>
            <a:srgbClr val="EF4444"/>
          </a:solidFill>
          <a:ln/>
        </p:spPr>
      </p:sp>
      <p:sp>
        <p:nvSpPr>
          <p:cNvPr id="21" name="Text 19"/>
          <p:cNvSpPr/>
          <p:nvPr/>
        </p:nvSpPr>
        <p:spPr>
          <a:xfrm>
            <a:off x="947737" y="4552950"/>
            <a:ext cx="28860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Thiếu tính đồng bộ trong logging và validation</a:t>
            </a:r>
            <a:endParaRPr lang="en-US" sz="1600" dirty="0"/>
          </a:p>
        </p:txBody>
      </p:sp>
      <p:sp>
        <p:nvSpPr>
          <p:cNvPr id="22" name="Shape 20"/>
          <p:cNvSpPr/>
          <p:nvPr/>
        </p:nvSpPr>
        <p:spPr>
          <a:xfrm>
            <a:off x="6196013" y="1147763"/>
            <a:ext cx="5610225" cy="4162425"/>
          </a:xfrm>
          <a:custGeom>
            <a:avLst/>
            <a:gdLst/>
            <a:ahLst/>
            <a:cxnLst/>
            <a:rect l="l" t="t" r="r" b="b"/>
            <a:pathLst>
              <a:path w="5610225" h="4162425">
                <a:moveTo>
                  <a:pt x="114300" y="0"/>
                </a:moveTo>
                <a:lnTo>
                  <a:pt x="5495925" y="0"/>
                </a:lnTo>
                <a:cubicBezTo>
                  <a:pt x="5559051" y="0"/>
                  <a:pt x="5610225" y="51174"/>
                  <a:pt x="5610225" y="114300"/>
                </a:cubicBezTo>
                <a:lnTo>
                  <a:pt x="5610225" y="4048125"/>
                </a:lnTo>
                <a:cubicBezTo>
                  <a:pt x="5610225" y="4111251"/>
                  <a:pt x="5559051" y="4162425"/>
                  <a:pt x="5495925" y="4162425"/>
                </a:cubicBezTo>
                <a:lnTo>
                  <a:pt x="114300" y="4162425"/>
                </a:lnTo>
                <a:cubicBezTo>
                  <a:pt x="51174" y="4162425"/>
                  <a:pt x="0" y="4111251"/>
                  <a:pt x="0" y="4048125"/>
                </a:cubicBezTo>
                <a:lnTo>
                  <a:pt x="0" y="114300"/>
                </a:lnTo>
                <a:cubicBezTo>
                  <a:pt x="0" y="51216"/>
                  <a:pt x="51216" y="0"/>
                  <a:pt x="114300"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3" name="Shape 21"/>
          <p:cNvSpPr/>
          <p:nvPr/>
        </p:nvSpPr>
        <p:spPr>
          <a:xfrm>
            <a:off x="6415088" y="1381125"/>
            <a:ext cx="190500" cy="190500"/>
          </a:xfrm>
          <a:custGeom>
            <a:avLst/>
            <a:gdLst/>
            <a:ahLst/>
            <a:cxnLst/>
            <a:rect l="l" t="t" r="r" b="b"/>
            <a:pathLst>
              <a:path w="190500" h="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10B981"/>
          </a:solidFill>
          <a:ln/>
        </p:spPr>
      </p:sp>
      <p:sp>
        <p:nvSpPr>
          <p:cNvPr id="24" name="Text 22"/>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Mục tiêu nghiên cứu</a:t>
            </a:r>
            <a:endParaRPr lang="en-US" sz="1600" dirty="0"/>
          </a:p>
        </p:txBody>
      </p:sp>
      <p:sp>
        <p:nvSpPr>
          <p:cNvPr id="25" name="Shape 23"/>
          <p:cNvSpPr/>
          <p:nvPr/>
        </p:nvSpPr>
        <p:spPr>
          <a:xfrm>
            <a:off x="6391275" y="1762125"/>
            <a:ext cx="5219700" cy="914400"/>
          </a:xfrm>
          <a:custGeom>
            <a:avLst/>
            <a:gdLst/>
            <a:ahLst/>
            <a:cxnLst/>
            <a:rect l="l" t="t" r="r" b="b"/>
            <a:pathLst>
              <a:path w="5219700" h="914400">
                <a:moveTo>
                  <a:pt x="76197" y="0"/>
                </a:moveTo>
                <a:lnTo>
                  <a:pt x="5143503" y="0"/>
                </a:lnTo>
                <a:cubicBezTo>
                  <a:pt x="5185585" y="0"/>
                  <a:pt x="5219700" y="34115"/>
                  <a:pt x="5219700" y="76197"/>
                </a:cubicBezTo>
                <a:lnTo>
                  <a:pt x="5219700" y="838203"/>
                </a:lnTo>
                <a:cubicBezTo>
                  <a:pt x="5219700" y="880285"/>
                  <a:pt x="5185585" y="914400"/>
                  <a:pt x="5143503" y="914400"/>
                </a:cubicBezTo>
                <a:lnTo>
                  <a:pt x="76197" y="914400"/>
                </a:lnTo>
                <a:cubicBezTo>
                  <a:pt x="34115" y="914400"/>
                  <a:pt x="0" y="880285"/>
                  <a:pt x="0" y="838203"/>
                </a:cubicBezTo>
                <a:lnTo>
                  <a:pt x="0" y="76197"/>
                </a:lnTo>
                <a:cubicBezTo>
                  <a:pt x="0" y="34143"/>
                  <a:pt x="34143" y="0"/>
                  <a:pt x="76197" y="0"/>
                </a:cubicBezTo>
                <a:close/>
              </a:path>
            </a:pathLst>
          </a:custGeom>
          <a:solidFill>
            <a:srgbClr val="0F172A"/>
          </a:solidFill>
          <a:ln/>
        </p:spPr>
      </p:sp>
      <p:sp>
        <p:nvSpPr>
          <p:cNvPr id="26" name="Text 24"/>
          <p:cNvSpPr/>
          <p:nvPr/>
        </p:nvSpPr>
        <p:spPr>
          <a:xfrm>
            <a:off x="650557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1. Nghiên cứu phương pháp luận</a:t>
            </a:r>
            <a:endParaRPr lang="en-US" sz="1600" dirty="0"/>
          </a:p>
        </p:txBody>
      </p:sp>
      <p:sp>
        <p:nvSpPr>
          <p:cNvPr id="27" name="Text 25"/>
          <p:cNvSpPr/>
          <p:nvPr/>
        </p:nvSpPr>
        <p:spPr>
          <a:xfrm>
            <a:off x="6505575" y="2181225"/>
            <a:ext cx="505777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Xây dựng kiến trúc tích hợp Generative AI để tự động hoàn thiện các đoạn mã decorator phức tạp</a:t>
            </a:r>
            <a:endParaRPr lang="en-US" sz="1600" dirty="0"/>
          </a:p>
        </p:txBody>
      </p:sp>
      <p:sp>
        <p:nvSpPr>
          <p:cNvPr id="28" name="Shape 26"/>
          <p:cNvSpPr/>
          <p:nvPr/>
        </p:nvSpPr>
        <p:spPr>
          <a:xfrm>
            <a:off x="6391275" y="2790825"/>
            <a:ext cx="5219700" cy="914400"/>
          </a:xfrm>
          <a:custGeom>
            <a:avLst/>
            <a:gdLst/>
            <a:ahLst/>
            <a:cxnLst/>
            <a:rect l="l" t="t" r="r" b="b"/>
            <a:pathLst>
              <a:path w="5219700" h="914400">
                <a:moveTo>
                  <a:pt x="76197" y="0"/>
                </a:moveTo>
                <a:lnTo>
                  <a:pt x="5143503" y="0"/>
                </a:lnTo>
                <a:cubicBezTo>
                  <a:pt x="5185585" y="0"/>
                  <a:pt x="5219700" y="34115"/>
                  <a:pt x="5219700" y="76197"/>
                </a:cubicBezTo>
                <a:lnTo>
                  <a:pt x="5219700" y="838203"/>
                </a:lnTo>
                <a:cubicBezTo>
                  <a:pt x="5219700" y="880285"/>
                  <a:pt x="5185585" y="914400"/>
                  <a:pt x="5143503" y="914400"/>
                </a:cubicBezTo>
                <a:lnTo>
                  <a:pt x="76197" y="914400"/>
                </a:lnTo>
                <a:cubicBezTo>
                  <a:pt x="34115" y="914400"/>
                  <a:pt x="0" y="880285"/>
                  <a:pt x="0" y="838203"/>
                </a:cubicBezTo>
                <a:lnTo>
                  <a:pt x="0" y="76197"/>
                </a:lnTo>
                <a:cubicBezTo>
                  <a:pt x="0" y="34143"/>
                  <a:pt x="34143" y="0"/>
                  <a:pt x="76197" y="0"/>
                </a:cubicBezTo>
                <a:close/>
              </a:path>
            </a:pathLst>
          </a:custGeom>
          <a:solidFill>
            <a:srgbClr val="0F172A"/>
          </a:solidFill>
          <a:ln/>
        </p:spPr>
      </p:sp>
      <p:sp>
        <p:nvSpPr>
          <p:cNvPr id="29" name="Text 27"/>
          <p:cNvSpPr/>
          <p:nvPr/>
        </p:nvSpPr>
        <p:spPr>
          <a:xfrm>
            <a:off x="6505575" y="29051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2. Bài toán thực nghiệm</a:t>
            </a:r>
            <a:endParaRPr lang="en-US" sz="1600" dirty="0"/>
          </a:p>
        </p:txBody>
      </p:sp>
      <p:sp>
        <p:nvSpPr>
          <p:cNvPr id="30" name="Text 28"/>
          <p:cNvSpPr/>
          <p:nvPr/>
        </p:nvSpPr>
        <p:spPr>
          <a:xfrm>
            <a:off x="6505575" y="3209925"/>
            <a:ext cx="505777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Lấy bài toán </a:t>
            </a:r>
            <a:pPr>
              <a:lnSpc>
                <a:spcPct val="120000"/>
              </a:lnSpc>
            </a:pPr>
            <a:r>
              <a:rPr lang="en-US" sz="1050" b="1" dirty="0">
                <a:solidFill>
                  <a:srgbClr val="10B981"/>
                </a:solidFill>
                <a:latin typeface="MiSans" pitchFamily="34" charset="0"/>
                <a:ea typeface="MiSans" pitchFamily="34" charset="-122"/>
                <a:cs typeface="MiSans" pitchFamily="34" charset="-120"/>
              </a:rPr>
              <a:t>FizzBuzz</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làm cơ sở, hệ thống tự động sinh code cho các decorator: kiểm tra kiểu dữ liệu, giới hạn tham số, đếm số lần gọi hàm, ghi log hệ thống</a:t>
            </a:r>
            <a:endParaRPr lang="en-US" sz="1600" dirty="0"/>
          </a:p>
        </p:txBody>
      </p:sp>
      <p:sp>
        <p:nvSpPr>
          <p:cNvPr id="31" name="Shape 29"/>
          <p:cNvSpPr/>
          <p:nvPr/>
        </p:nvSpPr>
        <p:spPr>
          <a:xfrm>
            <a:off x="6391275" y="3819525"/>
            <a:ext cx="5219700" cy="1257300"/>
          </a:xfrm>
          <a:custGeom>
            <a:avLst/>
            <a:gdLst/>
            <a:ahLst/>
            <a:cxnLst/>
            <a:rect l="l" t="t" r="r" b="b"/>
            <a:pathLst>
              <a:path w="5219700" h="1257300">
                <a:moveTo>
                  <a:pt x="76205" y="0"/>
                </a:moveTo>
                <a:lnTo>
                  <a:pt x="5143495" y="0"/>
                </a:lnTo>
                <a:cubicBezTo>
                  <a:pt x="5185582" y="0"/>
                  <a:pt x="5219700" y="34118"/>
                  <a:pt x="5219700" y="76205"/>
                </a:cubicBezTo>
                <a:lnTo>
                  <a:pt x="5219700" y="1181095"/>
                </a:lnTo>
                <a:cubicBezTo>
                  <a:pt x="5219700" y="1223182"/>
                  <a:pt x="5185582" y="1257300"/>
                  <a:pt x="5143495" y="1257300"/>
                </a:cubicBezTo>
                <a:lnTo>
                  <a:pt x="76205" y="1257300"/>
                </a:lnTo>
                <a:cubicBezTo>
                  <a:pt x="34118" y="1257300"/>
                  <a:pt x="0" y="1223182"/>
                  <a:pt x="0" y="1181095"/>
                </a:cubicBezTo>
                <a:lnTo>
                  <a:pt x="0" y="76205"/>
                </a:lnTo>
                <a:cubicBezTo>
                  <a:pt x="0" y="34146"/>
                  <a:pt x="34146" y="0"/>
                  <a:pt x="76205" y="0"/>
                </a:cubicBezTo>
                <a:close/>
              </a:path>
            </a:pathLst>
          </a:custGeom>
          <a:solidFill>
            <a:srgbClr val="0F172A"/>
          </a:solidFill>
          <a:ln/>
        </p:spPr>
      </p:sp>
      <p:sp>
        <p:nvSpPr>
          <p:cNvPr id="32" name="Text 30"/>
          <p:cNvSpPr/>
          <p:nvPr/>
        </p:nvSpPr>
        <p:spPr>
          <a:xfrm>
            <a:off x="6505575" y="39338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3. Mục tiêu cốt lõi</a:t>
            </a:r>
            <a:endParaRPr lang="en-US" sz="1600" dirty="0"/>
          </a:p>
        </p:txBody>
      </p:sp>
      <p:sp>
        <p:nvSpPr>
          <p:cNvPr id="33" name="Shape 31"/>
          <p:cNvSpPr/>
          <p:nvPr/>
        </p:nvSpPr>
        <p:spPr>
          <a:xfrm>
            <a:off x="6532959" y="4276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4" name="Text 32"/>
          <p:cNvSpPr/>
          <p:nvPr/>
        </p:nvSpPr>
        <p:spPr>
          <a:xfrm>
            <a:off x="6748463" y="4238625"/>
            <a:ext cx="33813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Đánh giá mức độ tin cậy của AI trong code generation</a:t>
            </a:r>
            <a:endParaRPr lang="en-US" sz="1600" dirty="0"/>
          </a:p>
        </p:txBody>
      </p:sp>
      <p:sp>
        <p:nvSpPr>
          <p:cNvPr id="35" name="Shape 33"/>
          <p:cNvSpPr/>
          <p:nvPr/>
        </p:nvSpPr>
        <p:spPr>
          <a:xfrm>
            <a:off x="6532959" y="45434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6" name="Text 34"/>
          <p:cNvSpPr/>
          <p:nvPr/>
        </p:nvSpPr>
        <p:spPr>
          <a:xfrm>
            <a:off x="6748463" y="4505325"/>
            <a:ext cx="34956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So sánh các chiến lược Prompt (Zero-shot vs. Few-shot)</a:t>
            </a:r>
            <a:endParaRPr lang="en-US" sz="1600" dirty="0"/>
          </a:p>
        </p:txBody>
      </p:sp>
      <p:sp>
        <p:nvSpPr>
          <p:cNvPr id="37" name="Shape 35"/>
          <p:cNvSpPr/>
          <p:nvPr/>
        </p:nvSpPr>
        <p:spPr>
          <a:xfrm>
            <a:off x="6532959" y="48101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8" name="Text 36"/>
          <p:cNvSpPr/>
          <p:nvPr/>
        </p:nvSpPr>
        <p:spPr>
          <a:xfrm>
            <a:off x="6748463" y="4772025"/>
            <a:ext cx="40195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Xây dựng quy trình chuẩn hóa từ đầu vào đến mã nguồn thực thi</a:t>
            </a:r>
            <a:endParaRPr lang="en-US" sz="1600" dirty="0"/>
          </a:p>
        </p:txBody>
      </p:sp>
      <p:sp>
        <p:nvSpPr>
          <p:cNvPr id="39" name="Shape 37"/>
          <p:cNvSpPr/>
          <p:nvPr/>
        </p:nvSpPr>
        <p:spPr>
          <a:xfrm>
            <a:off x="6196013" y="5472113"/>
            <a:ext cx="5610225" cy="1000125"/>
          </a:xfrm>
          <a:custGeom>
            <a:avLst/>
            <a:gdLst/>
            <a:ahLst/>
            <a:cxnLst/>
            <a:rect l="l" t="t" r="r" b="b"/>
            <a:pathLst>
              <a:path w="5610225" h="1000125">
                <a:moveTo>
                  <a:pt x="114304" y="0"/>
                </a:moveTo>
                <a:lnTo>
                  <a:pt x="5495921" y="0"/>
                </a:lnTo>
                <a:cubicBezTo>
                  <a:pt x="5559049" y="0"/>
                  <a:pt x="5610225" y="51176"/>
                  <a:pt x="5610225" y="114304"/>
                </a:cubicBezTo>
                <a:lnTo>
                  <a:pt x="5610225" y="885821"/>
                </a:lnTo>
                <a:cubicBezTo>
                  <a:pt x="5610225" y="948949"/>
                  <a:pt x="5559049" y="1000125"/>
                  <a:pt x="5495921" y="1000125"/>
                </a:cubicBezTo>
                <a:lnTo>
                  <a:pt x="114304" y="1000125"/>
                </a:lnTo>
                <a:cubicBezTo>
                  <a:pt x="51176" y="1000125"/>
                  <a:pt x="0" y="948949"/>
                  <a:pt x="0" y="885821"/>
                </a:cubicBezTo>
                <a:lnTo>
                  <a:pt x="0" y="114304"/>
                </a:lnTo>
                <a:cubicBezTo>
                  <a:pt x="0" y="51176"/>
                  <a:pt x="51176" y="0"/>
                  <a:pt x="114304"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40" name="Shape 38"/>
          <p:cNvSpPr/>
          <p:nvPr/>
        </p:nvSpPr>
        <p:spPr>
          <a:xfrm>
            <a:off x="6391275" y="56769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59E0B"/>
          </a:solidFill>
          <a:ln/>
        </p:spPr>
      </p:sp>
      <p:sp>
        <p:nvSpPr>
          <p:cNvPr id="41" name="Text 39"/>
          <p:cNvSpPr/>
          <p:nvPr/>
        </p:nvSpPr>
        <p:spPr>
          <a:xfrm>
            <a:off x="6600825" y="5629275"/>
            <a:ext cx="5124450" cy="6858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Đề tài này</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được thực hiện nhằm nghiên cứu phương pháp luận và xây dựng kiến trúc tích hợp Generative AI để tự động hoàn thiện các đoạn mã decorator phức tạp.</a:t>
            </a:r>
            <a:endParaRPr lang="en-US" sz="1600" dirty="0"/>
          </a:p>
        </p:txBody>
      </p:sp>
    </p:spTree>
  </p:cSld>
  <p:clrMapOvr>
    <a:masterClrMapping/>
  </p:clrMapOvr>
  <p:transition>
    <p:fade/>
    <p:spd val="med"/>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488156" y="561975"/>
            <a:ext cx="171450" cy="171450"/>
          </a:xfrm>
          <a:custGeom>
            <a:avLst/>
            <a:gdLst/>
            <a:ahLst/>
            <a:cxnLst/>
            <a:rect l="l" t="t" r="r" b="b"/>
            <a:pathLst>
              <a:path w="171450" h="171450">
                <a:moveTo>
                  <a:pt x="58936" y="0"/>
                </a:moveTo>
                <a:cubicBezTo>
                  <a:pt x="50062" y="0"/>
                  <a:pt x="42863" y="7200"/>
                  <a:pt x="42863" y="16073"/>
                </a:cubicBezTo>
                <a:lnTo>
                  <a:pt x="42863" y="85725"/>
                </a:lnTo>
                <a:cubicBezTo>
                  <a:pt x="42863" y="94599"/>
                  <a:pt x="50062" y="101798"/>
                  <a:pt x="58936" y="101798"/>
                </a:cubicBezTo>
                <a:lnTo>
                  <a:pt x="80367" y="101798"/>
                </a:lnTo>
                <a:cubicBezTo>
                  <a:pt x="89241" y="101798"/>
                  <a:pt x="96441" y="94599"/>
                  <a:pt x="96441" y="85725"/>
                </a:cubicBezTo>
                <a:lnTo>
                  <a:pt x="96441" y="64294"/>
                </a:lnTo>
                <a:lnTo>
                  <a:pt x="107156" y="64294"/>
                </a:lnTo>
                <a:cubicBezTo>
                  <a:pt x="130831" y="64294"/>
                  <a:pt x="150019" y="83481"/>
                  <a:pt x="150019" y="107156"/>
                </a:cubicBezTo>
                <a:cubicBezTo>
                  <a:pt x="150019" y="130831"/>
                  <a:pt x="130831" y="150019"/>
                  <a:pt x="107156" y="150019"/>
                </a:cubicBezTo>
                <a:lnTo>
                  <a:pt x="10716" y="150019"/>
                </a:lnTo>
                <a:cubicBezTo>
                  <a:pt x="4789" y="150019"/>
                  <a:pt x="0" y="154807"/>
                  <a:pt x="0" y="160734"/>
                </a:cubicBezTo>
                <a:cubicBezTo>
                  <a:pt x="0" y="166661"/>
                  <a:pt x="4789" y="171450"/>
                  <a:pt x="10716" y="171450"/>
                </a:cubicBezTo>
                <a:lnTo>
                  <a:pt x="160734" y="171450"/>
                </a:lnTo>
                <a:cubicBezTo>
                  <a:pt x="166661" y="171450"/>
                  <a:pt x="171450" y="166661"/>
                  <a:pt x="171450" y="160734"/>
                </a:cubicBezTo>
                <a:cubicBezTo>
                  <a:pt x="171450" y="154807"/>
                  <a:pt x="166661" y="150019"/>
                  <a:pt x="160734" y="150019"/>
                </a:cubicBezTo>
                <a:lnTo>
                  <a:pt x="155075" y="150019"/>
                </a:lnTo>
                <a:cubicBezTo>
                  <a:pt x="165255" y="138633"/>
                  <a:pt x="171450" y="123632"/>
                  <a:pt x="171450" y="107156"/>
                </a:cubicBezTo>
                <a:cubicBezTo>
                  <a:pt x="171450" y="71661"/>
                  <a:pt x="142652" y="42863"/>
                  <a:pt x="107156" y="42863"/>
                </a:cubicBezTo>
                <a:lnTo>
                  <a:pt x="96441" y="42863"/>
                </a:lnTo>
                <a:lnTo>
                  <a:pt x="96441" y="16073"/>
                </a:lnTo>
                <a:cubicBezTo>
                  <a:pt x="96441" y="7200"/>
                  <a:pt x="89241" y="0"/>
                  <a:pt x="80367" y="0"/>
                </a:cubicBezTo>
                <a:lnTo>
                  <a:pt x="58936" y="0"/>
                </a:lnTo>
                <a:close/>
                <a:moveTo>
                  <a:pt x="40184" y="117872"/>
                </a:moveTo>
                <a:cubicBezTo>
                  <a:pt x="35730" y="117872"/>
                  <a:pt x="32147" y="121455"/>
                  <a:pt x="32147" y="125909"/>
                </a:cubicBezTo>
                <a:cubicBezTo>
                  <a:pt x="32147" y="130362"/>
                  <a:pt x="35730" y="133945"/>
                  <a:pt x="40184" y="133945"/>
                </a:cubicBezTo>
                <a:lnTo>
                  <a:pt x="99120" y="133945"/>
                </a:lnTo>
                <a:cubicBezTo>
                  <a:pt x="103573" y="133945"/>
                  <a:pt x="107156" y="130362"/>
                  <a:pt x="107156" y="125909"/>
                </a:cubicBezTo>
                <a:cubicBezTo>
                  <a:pt x="107156" y="121455"/>
                  <a:pt x="103573" y="117872"/>
                  <a:pt x="99120" y="117872"/>
                </a:cubicBezTo>
                <a:lnTo>
                  <a:pt x="40184" y="117872"/>
                </a:lnTo>
                <a:close/>
              </a:path>
            </a:pathLst>
          </a:custGeom>
          <a:solidFill>
            <a:srgbClr val="FFFFFF"/>
          </a:solidFill>
          <a:ln/>
        </p:spPr>
      </p:sp>
      <p:sp>
        <p:nvSpPr>
          <p:cNvPr id="4" name="Text 2"/>
          <p:cNvSpPr/>
          <p:nvPr/>
        </p:nvSpPr>
        <p:spPr>
          <a:xfrm>
            <a:off x="876300" y="381000"/>
            <a:ext cx="4010025"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15 | PHƯƠNG PHÁP LUẬN</a:t>
            </a:r>
            <a:endParaRPr lang="en-US" sz="1600" dirty="0"/>
          </a:p>
        </p:txBody>
      </p:sp>
      <p:sp>
        <p:nvSpPr>
          <p:cNvPr id="5" name="Text 3"/>
          <p:cNvSpPr/>
          <p:nvPr/>
        </p:nvSpPr>
        <p:spPr>
          <a:xfrm>
            <a:off x="876300" y="571500"/>
            <a:ext cx="40862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Phương pháp luận nghiên cứu</a:t>
            </a:r>
            <a:endParaRPr lang="en-US" sz="1600" dirty="0"/>
          </a:p>
        </p:txBody>
      </p:sp>
      <p:sp>
        <p:nvSpPr>
          <p:cNvPr id="6" name="Shape 4"/>
          <p:cNvSpPr/>
          <p:nvPr/>
        </p:nvSpPr>
        <p:spPr>
          <a:xfrm>
            <a:off x="385763" y="1147763"/>
            <a:ext cx="11420475" cy="771525"/>
          </a:xfrm>
          <a:custGeom>
            <a:avLst/>
            <a:gdLst/>
            <a:ahLst/>
            <a:cxnLst/>
            <a:rect l="l" t="t" r="r" b="b"/>
            <a:pathLst>
              <a:path w="11420475" h="771525">
                <a:moveTo>
                  <a:pt x="114301" y="0"/>
                </a:moveTo>
                <a:lnTo>
                  <a:pt x="11306174" y="0"/>
                </a:lnTo>
                <a:cubicBezTo>
                  <a:pt x="11369301" y="0"/>
                  <a:pt x="11420475" y="51174"/>
                  <a:pt x="11420475" y="114301"/>
                </a:cubicBezTo>
                <a:lnTo>
                  <a:pt x="11420475" y="657224"/>
                </a:lnTo>
                <a:cubicBezTo>
                  <a:pt x="11420475" y="720351"/>
                  <a:pt x="11369301" y="771525"/>
                  <a:pt x="1130617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3B82F6">
                  <a:alpha val="10000"/>
                </a:srgbClr>
              </a:gs>
              <a:gs pos="100000">
                <a:srgbClr val="3B82F6">
                  <a:alpha val="5000"/>
                </a:srgbClr>
              </a:gs>
            </a:gsLst>
            <a:lin ang="0" scaled="1"/>
          </a:gradFill>
          <a:ln w="12700">
            <a:solidFill>
              <a:srgbClr val="3B82F6">
                <a:alpha val="30196"/>
              </a:srgbClr>
            </a:solidFill>
            <a:prstDash val="solid"/>
          </a:ln>
        </p:spPr>
      </p:sp>
      <p:sp>
        <p:nvSpPr>
          <p:cNvPr id="7" name="Text 5"/>
          <p:cNvSpPr/>
          <p:nvPr/>
        </p:nvSpPr>
        <p:spPr>
          <a:xfrm>
            <a:off x="542925" y="1304925"/>
            <a:ext cx="11182350" cy="457200"/>
          </a:xfrm>
          <a:prstGeom prst="rect">
            <a:avLst/>
          </a:prstGeom>
          <a:noFill/>
          <a:ln/>
        </p:spPr>
        <p:txBody>
          <a:bodyPr wrap="square" lIns="0" tIns="0" rIns="0" bIns="0" rtlCol="0" anchor="ctr"/>
          <a:lstStyle/>
          <a:p>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Nghiên cứu được tiếp cận theo phương pháp </a:t>
            </a:r>
            <a:pPr>
              <a:lnSpc>
                <a:spcPct val="130000"/>
              </a:lnSpc>
            </a:pPr>
            <a:r>
              <a:rPr lang="en-US" sz="1200" b="1" dirty="0">
                <a:solidFill>
                  <a:srgbClr val="3B82F6"/>
                </a:solidFill>
                <a:latin typeface="MiSans" pitchFamily="34" charset="0"/>
                <a:ea typeface="MiSans" pitchFamily="34" charset="-122"/>
                <a:cs typeface="MiSans" pitchFamily="34" charset="-120"/>
              </a:rPr>
              <a:t>thực nghiệm định lượng kết hợp phân tích định tính</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Quy trình thực hiện được chia thành các pha rõ ràng nhằm đảm bảo tính tái lập (reproducibility) của hệ thống.</a:t>
            </a:r>
            <a:endParaRPr lang="en-US" sz="1600" dirty="0"/>
          </a:p>
        </p:txBody>
      </p:sp>
      <p:sp>
        <p:nvSpPr>
          <p:cNvPr id="8" name="Shape 6"/>
          <p:cNvSpPr/>
          <p:nvPr/>
        </p:nvSpPr>
        <p:spPr>
          <a:xfrm>
            <a:off x="385763" y="2081212"/>
            <a:ext cx="2733675" cy="3457575"/>
          </a:xfrm>
          <a:custGeom>
            <a:avLst/>
            <a:gdLst/>
            <a:ahLst/>
            <a:cxnLst/>
            <a:rect l="l" t="t" r="r" b="b"/>
            <a:pathLst>
              <a:path w="2733675" h="3457575">
                <a:moveTo>
                  <a:pt x="114295" y="0"/>
                </a:moveTo>
                <a:lnTo>
                  <a:pt x="2619380" y="0"/>
                </a:lnTo>
                <a:cubicBezTo>
                  <a:pt x="2682503" y="0"/>
                  <a:pt x="2733675" y="51172"/>
                  <a:pt x="2733675" y="114295"/>
                </a:cubicBezTo>
                <a:lnTo>
                  <a:pt x="2733675" y="3343280"/>
                </a:lnTo>
                <a:cubicBezTo>
                  <a:pt x="2733675" y="3406403"/>
                  <a:pt x="2682503" y="3457575"/>
                  <a:pt x="2619380" y="3457575"/>
                </a:cubicBezTo>
                <a:lnTo>
                  <a:pt x="114295" y="3457575"/>
                </a:lnTo>
                <a:cubicBezTo>
                  <a:pt x="51172" y="3457575"/>
                  <a:pt x="0" y="3406403"/>
                  <a:pt x="0" y="3343280"/>
                </a:cubicBezTo>
                <a:lnTo>
                  <a:pt x="0" y="114295"/>
                </a:lnTo>
                <a:cubicBezTo>
                  <a:pt x="0" y="51214"/>
                  <a:pt x="51214" y="0"/>
                  <a:pt x="114295"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9" name="Shape 7"/>
          <p:cNvSpPr/>
          <p:nvPr/>
        </p:nvSpPr>
        <p:spPr>
          <a:xfrm>
            <a:off x="542925" y="223837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10" name="Text 8"/>
          <p:cNvSpPr/>
          <p:nvPr/>
        </p:nvSpPr>
        <p:spPr>
          <a:xfrm>
            <a:off x="504825" y="2238375"/>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1038225" y="2295525"/>
            <a:ext cx="18288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Thiết lập khung chuẩn</a:t>
            </a:r>
            <a:endParaRPr lang="en-US" sz="1600" dirty="0"/>
          </a:p>
        </p:txBody>
      </p:sp>
      <p:sp>
        <p:nvSpPr>
          <p:cNvPr id="12" name="Text 10"/>
          <p:cNvSpPr/>
          <p:nvPr/>
        </p:nvSpPr>
        <p:spPr>
          <a:xfrm>
            <a:off x="542925" y="2733675"/>
            <a:ext cx="2486025" cy="2257425"/>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Xác định cấu trúc hàm Python chưa hoàn chỉnh cần bổ sung decorator</a:t>
            </a:r>
            <a:endParaRPr lang="en-US" sz="1600" dirty="0"/>
          </a:p>
        </p:txBody>
      </p:sp>
      <p:sp>
        <p:nvSpPr>
          <p:cNvPr id="13" name="Shape 11"/>
          <p:cNvSpPr/>
          <p:nvPr/>
        </p:nvSpPr>
        <p:spPr>
          <a:xfrm>
            <a:off x="542925" y="51101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14" name="Text 12"/>
          <p:cNvSpPr/>
          <p:nvPr/>
        </p:nvSpPr>
        <p:spPr>
          <a:xfrm>
            <a:off x="542925" y="5229225"/>
            <a:ext cx="24765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Baseline</a:t>
            </a:r>
            <a:endParaRPr lang="en-US" sz="1600" dirty="0"/>
          </a:p>
        </p:txBody>
      </p:sp>
      <p:sp>
        <p:nvSpPr>
          <p:cNvPr id="15" name="Shape 13"/>
          <p:cNvSpPr/>
          <p:nvPr/>
        </p:nvSpPr>
        <p:spPr>
          <a:xfrm>
            <a:off x="3281363" y="2081212"/>
            <a:ext cx="2733675" cy="3457575"/>
          </a:xfrm>
          <a:custGeom>
            <a:avLst/>
            <a:gdLst/>
            <a:ahLst/>
            <a:cxnLst/>
            <a:rect l="l" t="t" r="r" b="b"/>
            <a:pathLst>
              <a:path w="2733675" h="3457575">
                <a:moveTo>
                  <a:pt x="114295" y="0"/>
                </a:moveTo>
                <a:lnTo>
                  <a:pt x="2619380" y="0"/>
                </a:lnTo>
                <a:cubicBezTo>
                  <a:pt x="2682503" y="0"/>
                  <a:pt x="2733675" y="51172"/>
                  <a:pt x="2733675" y="114295"/>
                </a:cubicBezTo>
                <a:lnTo>
                  <a:pt x="2733675" y="3343280"/>
                </a:lnTo>
                <a:cubicBezTo>
                  <a:pt x="2733675" y="3406403"/>
                  <a:pt x="2682503" y="3457575"/>
                  <a:pt x="2619380" y="3457575"/>
                </a:cubicBezTo>
                <a:lnTo>
                  <a:pt x="114295" y="3457575"/>
                </a:lnTo>
                <a:cubicBezTo>
                  <a:pt x="51172" y="3457575"/>
                  <a:pt x="0" y="3406403"/>
                  <a:pt x="0" y="3343280"/>
                </a:cubicBezTo>
                <a:lnTo>
                  <a:pt x="0" y="114295"/>
                </a:lnTo>
                <a:cubicBezTo>
                  <a:pt x="0" y="51214"/>
                  <a:pt x="51214" y="0"/>
                  <a:pt x="114295"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16" name="Shape 14"/>
          <p:cNvSpPr/>
          <p:nvPr/>
        </p:nvSpPr>
        <p:spPr>
          <a:xfrm>
            <a:off x="3438525" y="2314575"/>
            <a:ext cx="361950" cy="381000"/>
          </a:xfrm>
          <a:custGeom>
            <a:avLst/>
            <a:gdLst/>
            <a:ahLst/>
            <a:cxnLst/>
            <a:rect l="l" t="t" r="r" b="b"/>
            <a:pathLst>
              <a:path w="361950" h="381000">
                <a:moveTo>
                  <a:pt x="76201" y="0"/>
                </a:moveTo>
                <a:lnTo>
                  <a:pt x="285749" y="0"/>
                </a:lnTo>
                <a:cubicBezTo>
                  <a:pt x="327834" y="0"/>
                  <a:pt x="361950" y="34116"/>
                  <a:pt x="361950" y="76201"/>
                </a:cubicBezTo>
                <a:lnTo>
                  <a:pt x="361950" y="304799"/>
                </a:lnTo>
                <a:cubicBezTo>
                  <a:pt x="361950" y="346884"/>
                  <a:pt x="327834" y="381000"/>
                  <a:pt x="285749" y="381000"/>
                </a:cubicBezTo>
                <a:lnTo>
                  <a:pt x="76201" y="381000"/>
                </a:lnTo>
                <a:cubicBezTo>
                  <a:pt x="34116" y="381000"/>
                  <a:pt x="0" y="346884"/>
                  <a:pt x="0" y="304799"/>
                </a:cubicBezTo>
                <a:lnTo>
                  <a:pt x="0" y="76201"/>
                </a:lnTo>
                <a:cubicBezTo>
                  <a:pt x="0" y="34145"/>
                  <a:pt x="34145" y="0"/>
                  <a:pt x="76201" y="0"/>
                </a:cubicBezTo>
                <a:close/>
              </a:path>
            </a:pathLst>
          </a:custGeom>
          <a:solidFill>
            <a:srgbClr val="8B5CF6"/>
          </a:solidFill>
          <a:ln/>
        </p:spPr>
      </p:sp>
      <p:sp>
        <p:nvSpPr>
          <p:cNvPr id="17" name="Text 15"/>
          <p:cNvSpPr/>
          <p:nvPr/>
        </p:nvSpPr>
        <p:spPr>
          <a:xfrm>
            <a:off x="3400425" y="2314575"/>
            <a:ext cx="43815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2</a:t>
            </a:r>
            <a:endParaRPr lang="en-US" sz="1600" dirty="0"/>
          </a:p>
        </p:txBody>
      </p:sp>
      <p:sp>
        <p:nvSpPr>
          <p:cNvPr id="18" name="Text 16"/>
          <p:cNvSpPr/>
          <p:nvPr/>
        </p:nvSpPr>
        <p:spPr>
          <a:xfrm>
            <a:off x="3912840" y="2238375"/>
            <a:ext cx="2028825" cy="5334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Thiết kế biến thực nghiệm</a:t>
            </a:r>
            <a:endParaRPr lang="en-US" sz="1600" dirty="0"/>
          </a:p>
        </p:txBody>
      </p:sp>
      <p:sp>
        <p:nvSpPr>
          <p:cNvPr id="19" name="Shape 17"/>
          <p:cNvSpPr/>
          <p:nvPr/>
        </p:nvSpPr>
        <p:spPr>
          <a:xfrm>
            <a:off x="3438525" y="2886075"/>
            <a:ext cx="2419350" cy="1104900"/>
          </a:xfrm>
          <a:custGeom>
            <a:avLst/>
            <a:gdLst/>
            <a:ahLst/>
            <a:cxnLst/>
            <a:rect l="l" t="t" r="r" b="b"/>
            <a:pathLst>
              <a:path w="2419350" h="1104900">
                <a:moveTo>
                  <a:pt x="76205" y="0"/>
                </a:moveTo>
                <a:lnTo>
                  <a:pt x="2343145" y="0"/>
                </a:lnTo>
                <a:cubicBezTo>
                  <a:pt x="2385232" y="0"/>
                  <a:pt x="2419350" y="34118"/>
                  <a:pt x="2419350" y="76205"/>
                </a:cubicBezTo>
                <a:lnTo>
                  <a:pt x="2419350" y="1028695"/>
                </a:lnTo>
                <a:cubicBezTo>
                  <a:pt x="2419350" y="1070782"/>
                  <a:pt x="2385232" y="1104900"/>
                  <a:pt x="2343145" y="1104900"/>
                </a:cubicBezTo>
                <a:lnTo>
                  <a:pt x="76205" y="1104900"/>
                </a:lnTo>
                <a:cubicBezTo>
                  <a:pt x="34118" y="1104900"/>
                  <a:pt x="0" y="1070782"/>
                  <a:pt x="0" y="1028695"/>
                </a:cubicBezTo>
                <a:lnTo>
                  <a:pt x="0" y="76205"/>
                </a:lnTo>
                <a:cubicBezTo>
                  <a:pt x="0" y="34146"/>
                  <a:pt x="34146" y="0"/>
                  <a:pt x="76205" y="0"/>
                </a:cubicBezTo>
                <a:close/>
              </a:path>
            </a:pathLst>
          </a:custGeom>
          <a:solidFill>
            <a:srgbClr val="0F172A"/>
          </a:solidFill>
          <a:ln/>
        </p:spPr>
      </p:sp>
      <p:sp>
        <p:nvSpPr>
          <p:cNvPr id="20" name="Text 18"/>
          <p:cNvSpPr/>
          <p:nvPr/>
        </p:nvSpPr>
        <p:spPr>
          <a:xfrm>
            <a:off x="3514725" y="2962275"/>
            <a:ext cx="2324100" cy="152400"/>
          </a:xfrm>
          <a:prstGeom prst="rect">
            <a:avLst/>
          </a:prstGeom>
          <a:noFill/>
          <a:ln/>
        </p:spPr>
        <p:txBody>
          <a:bodyPr wrap="square" lIns="0" tIns="0" rIns="0" bIns="0" rtlCol="0" anchor="ctr"/>
          <a:lstStyle/>
          <a:p>
            <a:pPr>
              <a:lnSpc>
                <a:spcPct val="110000"/>
              </a:lnSpc>
            </a:pPr>
            <a:r>
              <a:rPr lang="en-US" sz="900" b="1" dirty="0">
                <a:solidFill>
                  <a:srgbClr val="8B5CF6"/>
                </a:solidFill>
                <a:latin typeface="MiSans" pitchFamily="34" charset="0"/>
                <a:ea typeface="MiSans" pitchFamily="34" charset="-122"/>
                <a:cs typeface="MiSans" pitchFamily="34" charset="-120"/>
              </a:rPr>
              <a:t>Biến độc lập</a:t>
            </a:r>
            <a:endParaRPr lang="en-US" sz="1600" dirty="0"/>
          </a:p>
        </p:txBody>
      </p:sp>
      <p:sp>
        <p:nvSpPr>
          <p:cNvPr id="21" name="Text 19"/>
          <p:cNvSpPr/>
          <p:nvPr/>
        </p:nvSpPr>
        <p:spPr>
          <a:xfrm>
            <a:off x="3514725" y="3152775"/>
            <a:ext cx="23336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Chiến lược Prompting (Zero-shot, Few-shot)</a:t>
            </a:r>
            <a:endParaRPr lang="en-US" sz="1600" dirty="0"/>
          </a:p>
        </p:txBody>
      </p:sp>
      <p:sp>
        <p:nvSpPr>
          <p:cNvPr id="22" name="Text 20"/>
          <p:cNvSpPr/>
          <p:nvPr/>
        </p:nvSpPr>
        <p:spPr>
          <a:xfrm>
            <a:off x="3514725" y="3533775"/>
            <a:ext cx="23336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Dòng mô hình AI (gpt-4o-mini, gpt-4o, gpt-5-chat)</a:t>
            </a:r>
            <a:endParaRPr lang="en-US" sz="1600" dirty="0"/>
          </a:p>
        </p:txBody>
      </p:sp>
      <p:sp>
        <p:nvSpPr>
          <p:cNvPr id="23" name="Shape 21"/>
          <p:cNvSpPr/>
          <p:nvPr/>
        </p:nvSpPr>
        <p:spPr>
          <a:xfrm>
            <a:off x="3438525" y="4067175"/>
            <a:ext cx="2419350" cy="723900"/>
          </a:xfrm>
          <a:custGeom>
            <a:avLst/>
            <a:gdLst/>
            <a:ahLst/>
            <a:cxnLst/>
            <a:rect l="l" t="t" r="r" b="b"/>
            <a:pathLst>
              <a:path w="2419350" h="723900">
                <a:moveTo>
                  <a:pt x="76198" y="0"/>
                </a:moveTo>
                <a:lnTo>
                  <a:pt x="2343152" y="0"/>
                </a:lnTo>
                <a:cubicBezTo>
                  <a:pt x="2385207" y="0"/>
                  <a:pt x="2419350" y="34143"/>
                  <a:pt x="2419350" y="76198"/>
                </a:cubicBezTo>
                <a:lnTo>
                  <a:pt x="2419350" y="647702"/>
                </a:lnTo>
                <a:cubicBezTo>
                  <a:pt x="2419350" y="689757"/>
                  <a:pt x="2385207" y="723900"/>
                  <a:pt x="234315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24" name="Text 22"/>
          <p:cNvSpPr/>
          <p:nvPr/>
        </p:nvSpPr>
        <p:spPr>
          <a:xfrm>
            <a:off x="3514725" y="4143375"/>
            <a:ext cx="2324100" cy="152400"/>
          </a:xfrm>
          <a:prstGeom prst="rect">
            <a:avLst/>
          </a:prstGeom>
          <a:noFill/>
          <a:ln/>
        </p:spPr>
        <p:txBody>
          <a:bodyPr wrap="square" lIns="0" tIns="0" rIns="0" bIns="0" rtlCol="0" anchor="ctr"/>
          <a:lstStyle/>
          <a:p>
            <a:pPr>
              <a:lnSpc>
                <a:spcPct val="110000"/>
              </a:lnSpc>
            </a:pPr>
            <a:r>
              <a:rPr lang="en-US" sz="900" b="1" dirty="0">
                <a:solidFill>
                  <a:srgbClr val="10B981"/>
                </a:solidFill>
                <a:latin typeface="MiSans" pitchFamily="34" charset="0"/>
                <a:ea typeface="MiSans" pitchFamily="34" charset="-122"/>
                <a:cs typeface="MiSans" pitchFamily="34" charset="-120"/>
              </a:rPr>
              <a:t>Biến phụ thuộc</a:t>
            </a:r>
            <a:endParaRPr lang="en-US" sz="1600" dirty="0"/>
          </a:p>
        </p:txBody>
      </p:sp>
      <p:sp>
        <p:nvSpPr>
          <p:cNvPr id="25" name="Text 23"/>
          <p:cNvSpPr/>
          <p:nvPr/>
        </p:nvSpPr>
        <p:spPr>
          <a:xfrm>
            <a:off x="3514725" y="4333875"/>
            <a:ext cx="23336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Độ chính xác cú pháp, độ sạch output, tỷ lệ pass test</a:t>
            </a:r>
            <a:endParaRPr lang="en-US" sz="1600" dirty="0"/>
          </a:p>
        </p:txBody>
      </p:sp>
      <p:sp>
        <p:nvSpPr>
          <p:cNvPr id="26" name="Shape 24"/>
          <p:cNvSpPr/>
          <p:nvPr/>
        </p:nvSpPr>
        <p:spPr>
          <a:xfrm>
            <a:off x="6176963" y="2081212"/>
            <a:ext cx="2733675" cy="3457575"/>
          </a:xfrm>
          <a:custGeom>
            <a:avLst/>
            <a:gdLst/>
            <a:ahLst/>
            <a:cxnLst/>
            <a:rect l="l" t="t" r="r" b="b"/>
            <a:pathLst>
              <a:path w="2733675" h="3457575">
                <a:moveTo>
                  <a:pt x="114295" y="0"/>
                </a:moveTo>
                <a:lnTo>
                  <a:pt x="2619380" y="0"/>
                </a:lnTo>
                <a:cubicBezTo>
                  <a:pt x="2682503" y="0"/>
                  <a:pt x="2733675" y="51172"/>
                  <a:pt x="2733675" y="114295"/>
                </a:cubicBezTo>
                <a:lnTo>
                  <a:pt x="2733675" y="3343280"/>
                </a:lnTo>
                <a:cubicBezTo>
                  <a:pt x="2733675" y="3406403"/>
                  <a:pt x="2682503" y="3457575"/>
                  <a:pt x="2619380" y="3457575"/>
                </a:cubicBezTo>
                <a:lnTo>
                  <a:pt x="114295" y="3457575"/>
                </a:lnTo>
                <a:cubicBezTo>
                  <a:pt x="51172" y="3457575"/>
                  <a:pt x="0" y="3406403"/>
                  <a:pt x="0" y="3343280"/>
                </a:cubicBezTo>
                <a:lnTo>
                  <a:pt x="0" y="114295"/>
                </a:lnTo>
                <a:cubicBezTo>
                  <a:pt x="0" y="51214"/>
                  <a:pt x="51214" y="0"/>
                  <a:pt x="114295"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7" name="Shape 25"/>
          <p:cNvSpPr/>
          <p:nvPr/>
        </p:nvSpPr>
        <p:spPr>
          <a:xfrm>
            <a:off x="6334125" y="223837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28" name="Text 26"/>
          <p:cNvSpPr/>
          <p:nvPr/>
        </p:nvSpPr>
        <p:spPr>
          <a:xfrm>
            <a:off x="6296025" y="2238375"/>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3</a:t>
            </a:r>
            <a:endParaRPr lang="en-US" sz="1600" dirty="0"/>
          </a:p>
        </p:txBody>
      </p:sp>
      <p:sp>
        <p:nvSpPr>
          <p:cNvPr id="29" name="Text 27"/>
          <p:cNvSpPr/>
          <p:nvPr/>
        </p:nvSpPr>
        <p:spPr>
          <a:xfrm>
            <a:off x="6829425" y="2295525"/>
            <a:ext cx="173355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Thu thập &amp; Hậu xử lý</a:t>
            </a:r>
            <a:endParaRPr lang="en-US" sz="1600" dirty="0"/>
          </a:p>
        </p:txBody>
      </p:sp>
      <p:sp>
        <p:nvSpPr>
          <p:cNvPr id="30" name="Shape 28"/>
          <p:cNvSpPr/>
          <p:nvPr/>
        </p:nvSpPr>
        <p:spPr>
          <a:xfrm>
            <a:off x="6361509" y="27717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1" name="Text 29"/>
          <p:cNvSpPr/>
          <p:nvPr/>
        </p:nvSpPr>
        <p:spPr>
          <a:xfrm>
            <a:off x="6577013" y="2733675"/>
            <a:ext cx="10858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Gọi API đến LLM</a:t>
            </a:r>
            <a:endParaRPr lang="en-US" sz="1600" dirty="0"/>
          </a:p>
        </p:txBody>
      </p:sp>
      <p:sp>
        <p:nvSpPr>
          <p:cNvPr id="32" name="Shape 30"/>
          <p:cNvSpPr/>
          <p:nvPr/>
        </p:nvSpPr>
        <p:spPr>
          <a:xfrm>
            <a:off x="6361509" y="30384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3" name="Text 31"/>
          <p:cNvSpPr/>
          <p:nvPr/>
        </p:nvSpPr>
        <p:spPr>
          <a:xfrm>
            <a:off x="6577013" y="3000375"/>
            <a:ext cx="20574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Trích xuất mã nguồn từ phản hồi</a:t>
            </a:r>
            <a:endParaRPr lang="en-US" sz="1600" dirty="0"/>
          </a:p>
        </p:txBody>
      </p:sp>
      <p:sp>
        <p:nvSpPr>
          <p:cNvPr id="34" name="Shape 32"/>
          <p:cNvSpPr/>
          <p:nvPr/>
        </p:nvSpPr>
        <p:spPr>
          <a:xfrm>
            <a:off x="6351984" y="33051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5" name="Text 33"/>
          <p:cNvSpPr/>
          <p:nvPr/>
        </p:nvSpPr>
        <p:spPr>
          <a:xfrm>
            <a:off x="6561237" y="3267075"/>
            <a:ext cx="22574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Loại bỏ đoạn văn bản giải thích dư thừa</a:t>
            </a:r>
            <a:endParaRPr lang="en-US" sz="1600" dirty="0"/>
          </a:p>
        </p:txBody>
      </p:sp>
      <p:sp>
        <p:nvSpPr>
          <p:cNvPr id="36" name="Shape 34"/>
          <p:cNvSpPr/>
          <p:nvPr/>
        </p:nvSpPr>
        <p:spPr>
          <a:xfrm>
            <a:off x="6334125" y="51101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37" name="Text 35"/>
          <p:cNvSpPr/>
          <p:nvPr/>
        </p:nvSpPr>
        <p:spPr>
          <a:xfrm>
            <a:off x="6334125" y="5229225"/>
            <a:ext cx="24765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Post-processing</a:t>
            </a:r>
            <a:endParaRPr lang="en-US" sz="1600" dirty="0"/>
          </a:p>
        </p:txBody>
      </p:sp>
      <p:sp>
        <p:nvSpPr>
          <p:cNvPr id="38" name="Shape 36"/>
          <p:cNvSpPr/>
          <p:nvPr/>
        </p:nvSpPr>
        <p:spPr>
          <a:xfrm>
            <a:off x="9072563" y="2081212"/>
            <a:ext cx="2733675" cy="3457575"/>
          </a:xfrm>
          <a:custGeom>
            <a:avLst/>
            <a:gdLst/>
            <a:ahLst/>
            <a:cxnLst/>
            <a:rect l="l" t="t" r="r" b="b"/>
            <a:pathLst>
              <a:path w="2733675" h="3457575">
                <a:moveTo>
                  <a:pt x="114295" y="0"/>
                </a:moveTo>
                <a:lnTo>
                  <a:pt x="2619380" y="0"/>
                </a:lnTo>
                <a:cubicBezTo>
                  <a:pt x="2682503" y="0"/>
                  <a:pt x="2733675" y="51172"/>
                  <a:pt x="2733675" y="114295"/>
                </a:cubicBezTo>
                <a:lnTo>
                  <a:pt x="2733675" y="3343280"/>
                </a:lnTo>
                <a:cubicBezTo>
                  <a:pt x="2733675" y="3406403"/>
                  <a:pt x="2682503" y="3457575"/>
                  <a:pt x="2619380" y="3457575"/>
                </a:cubicBezTo>
                <a:lnTo>
                  <a:pt x="114295" y="3457575"/>
                </a:lnTo>
                <a:cubicBezTo>
                  <a:pt x="51172" y="3457575"/>
                  <a:pt x="0" y="3406403"/>
                  <a:pt x="0" y="3343280"/>
                </a:cubicBezTo>
                <a:lnTo>
                  <a:pt x="0" y="114295"/>
                </a:lnTo>
                <a:cubicBezTo>
                  <a:pt x="0" y="51214"/>
                  <a:pt x="51214" y="0"/>
                  <a:pt x="114295"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39" name="Shape 37"/>
          <p:cNvSpPr/>
          <p:nvPr/>
        </p:nvSpPr>
        <p:spPr>
          <a:xfrm>
            <a:off x="9229725" y="223837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59E0B"/>
          </a:solidFill>
          <a:ln/>
        </p:spPr>
      </p:sp>
      <p:sp>
        <p:nvSpPr>
          <p:cNvPr id="40" name="Text 38"/>
          <p:cNvSpPr/>
          <p:nvPr/>
        </p:nvSpPr>
        <p:spPr>
          <a:xfrm>
            <a:off x="9191625" y="2238375"/>
            <a:ext cx="457200" cy="381000"/>
          </a:xfrm>
          <a:prstGeom prst="rect">
            <a:avLst/>
          </a:prstGeom>
          <a:noFill/>
          <a:ln/>
        </p:spPr>
        <p:txBody>
          <a:bodyPr wrap="square" lIns="0" tIns="0" rIns="0" bIns="0" rtlCol="0" anchor="ctr"/>
          <a:lstStyle/>
          <a:p>
            <a:pPr algn="ctr">
              <a:lnSpc>
                <a:spcPct val="130000"/>
              </a:lnSpc>
            </a:pPr>
            <a:r>
              <a:rPr lang="en-US" sz="1200" b="1" dirty="0">
                <a:solidFill>
                  <a:srgbClr val="FFFFFF"/>
                </a:solidFill>
                <a:latin typeface="MiSans" pitchFamily="34" charset="0"/>
                <a:ea typeface="MiSans" pitchFamily="34" charset="-122"/>
                <a:cs typeface="MiSans" pitchFamily="34" charset="-120"/>
              </a:rPr>
              <a:t>4</a:t>
            </a:r>
            <a:endParaRPr lang="en-US" sz="1600" dirty="0"/>
          </a:p>
        </p:txBody>
      </p:sp>
      <p:sp>
        <p:nvSpPr>
          <p:cNvPr id="41" name="Text 39"/>
          <p:cNvSpPr/>
          <p:nvPr/>
        </p:nvSpPr>
        <p:spPr>
          <a:xfrm>
            <a:off x="9725025" y="2295525"/>
            <a:ext cx="17240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Kiểm thử &amp; Đánh giá</a:t>
            </a:r>
            <a:endParaRPr lang="en-US" sz="1600" dirty="0"/>
          </a:p>
        </p:txBody>
      </p:sp>
      <p:sp>
        <p:nvSpPr>
          <p:cNvPr id="42" name="Shape 40"/>
          <p:cNvSpPr/>
          <p:nvPr/>
        </p:nvSpPr>
        <p:spPr>
          <a:xfrm>
            <a:off x="9248775" y="27717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10B981"/>
          </a:solidFill>
          <a:ln/>
        </p:spPr>
      </p:sp>
      <p:sp>
        <p:nvSpPr>
          <p:cNvPr id="43" name="Text 41"/>
          <p:cNvSpPr/>
          <p:nvPr/>
        </p:nvSpPr>
        <p:spPr>
          <a:xfrm>
            <a:off x="9472613" y="2733675"/>
            <a:ext cx="1638300"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Happy path:</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Luồng chuẩn</a:t>
            </a:r>
            <a:endParaRPr lang="en-US" sz="1600" dirty="0"/>
          </a:p>
        </p:txBody>
      </p:sp>
      <p:sp>
        <p:nvSpPr>
          <p:cNvPr id="44" name="Shape 42"/>
          <p:cNvSpPr/>
          <p:nvPr/>
        </p:nvSpPr>
        <p:spPr>
          <a:xfrm>
            <a:off x="9248775" y="3038475"/>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F59E0B"/>
          </a:solidFill>
          <a:ln/>
        </p:spPr>
      </p:sp>
      <p:sp>
        <p:nvSpPr>
          <p:cNvPr id="45" name="Text 43"/>
          <p:cNvSpPr/>
          <p:nvPr/>
        </p:nvSpPr>
        <p:spPr>
          <a:xfrm>
            <a:off x="9472613" y="3000375"/>
            <a:ext cx="1638300"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Edge cases:</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Giới hạn biên</a:t>
            </a:r>
            <a:endParaRPr lang="en-US" sz="1600" dirty="0"/>
          </a:p>
        </p:txBody>
      </p:sp>
      <p:sp>
        <p:nvSpPr>
          <p:cNvPr id="46" name="Shape 44"/>
          <p:cNvSpPr/>
          <p:nvPr/>
        </p:nvSpPr>
        <p:spPr>
          <a:xfrm>
            <a:off x="9248775" y="33051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43495" y="43495"/>
                </a:moveTo>
                <a:cubicBezTo>
                  <a:pt x="45943" y="41047"/>
                  <a:pt x="49902" y="41047"/>
                  <a:pt x="52324" y="43495"/>
                </a:cubicBezTo>
                <a:lnTo>
                  <a:pt x="66649" y="57820"/>
                </a:lnTo>
                <a:lnTo>
                  <a:pt x="80974" y="43495"/>
                </a:lnTo>
                <a:cubicBezTo>
                  <a:pt x="83422" y="41047"/>
                  <a:pt x="87381" y="41047"/>
                  <a:pt x="89803" y="43495"/>
                </a:cubicBezTo>
                <a:cubicBezTo>
                  <a:pt x="92225" y="45943"/>
                  <a:pt x="92251" y="49902"/>
                  <a:pt x="89803" y="52324"/>
                </a:cubicBezTo>
                <a:lnTo>
                  <a:pt x="75478" y="66649"/>
                </a:lnTo>
                <a:lnTo>
                  <a:pt x="89803" y="80974"/>
                </a:lnTo>
                <a:cubicBezTo>
                  <a:pt x="92251" y="83422"/>
                  <a:pt x="92251" y="87381"/>
                  <a:pt x="89803" y="89803"/>
                </a:cubicBezTo>
                <a:cubicBezTo>
                  <a:pt x="87355" y="92225"/>
                  <a:pt x="83396" y="92251"/>
                  <a:pt x="80974" y="89803"/>
                </a:cubicBezTo>
                <a:lnTo>
                  <a:pt x="66649" y="75478"/>
                </a:lnTo>
                <a:lnTo>
                  <a:pt x="52324" y="89803"/>
                </a:lnTo>
                <a:cubicBezTo>
                  <a:pt x="49876" y="92251"/>
                  <a:pt x="45917" y="92251"/>
                  <a:pt x="43495" y="89803"/>
                </a:cubicBezTo>
                <a:cubicBezTo>
                  <a:pt x="41073" y="87355"/>
                  <a:pt x="41047" y="83396"/>
                  <a:pt x="43495" y="80974"/>
                </a:cubicBezTo>
                <a:lnTo>
                  <a:pt x="57820" y="66649"/>
                </a:lnTo>
                <a:lnTo>
                  <a:pt x="43495" y="52324"/>
                </a:lnTo>
                <a:cubicBezTo>
                  <a:pt x="41047" y="49876"/>
                  <a:pt x="41047" y="45917"/>
                  <a:pt x="43495" y="43495"/>
                </a:cubicBezTo>
                <a:close/>
              </a:path>
            </a:pathLst>
          </a:custGeom>
          <a:solidFill>
            <a:srgbClr val="EF4444"/>
          </a:solidFill>
          <a:ln/>
        </p:spPr>
      </p:sp>
      <p:sp>
        <p:nvSpPr>
          <p:cNvPr id="47" name="Text 45"/>
          <p:cNvSpPr/>
          <p:nvPr/>
        </p:nvSpPr>
        <p:spPr>
          <a:xfrm>
            <a:off x="9472613" y="3267075"/>
            <a:ext cx="1562100"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Exception:</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Xử lý ngoại lệ</a:t>
            </a:r>
            <a:endParaRPr lang="en-US" sz="1600" dirty="0"/>
          </a:p>
        </p:txBody>
      </p:sp>
      <p:sp>
        <p:nvSpPr>
          <p:cNvPr id="48" name="Shape 46"/>
          <p:cNvSpPr/>
          <p:nvPr/>
        </p:nvSpPr>
        <p:spPr>
          <a:xfrm>
            <a:off x="9229725" y="51101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49" name="Text 47"/>
          <p:cNvSpPr/>
          <p:nvPr/>
        </p:nvSpPr>
        <p:spPr>
          <a:xfrm>
            <a:off x="9229725" y="5229225"/>
            <a:ext cx="24765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Verification</a:t>
            </a:r>
            <a:endParaRPr lang="en-US" sz="1600" dirty="0"/>
          </a:p>
        </p:txBody>
      </p:sp>
      <p:sp>
        <p:nvSpPr>
          <p:cNvPr id="50" name="Shape 48"/>
          <p:cNvSpPr/>
          <p:nvPr/>
        </p:nvSpPr>
        <p:spPr>
          <a:xfrm>
            <a:off x="385763" y="5700713"/>
            <a:ext cx="11420475" cy="771525"/>
          </a:xfrm>
          <a:custGeom>
            <a:avLst/>
            <a:gdLst/>
            <a:ahLst/>
            <a:cxnLst/>
            <a:rect l="l" t="t" r="r" b="b"/>
            <a:pathLst>
              <a:path w="11420475" h="771525">
                <a:moveTo>
                  <a:pt x="114301" y="0"/>
                </a:moveTo>
                <a:lnTo>
                  <a:pt x="11306174" y="0"/>
                </a:lnTo>
                <a:cubicBezTo>
                  <a:pt x="11369301" y="0"/>
                  <a:pt x="11420475" y="51174"/>
                  <a:pt x="11420475" y="114301"/>
                </a:cubicBezTo>
                <a:lnTo>
                  <a:pt x="11420475" y="657224"/>
                </a:lnTo>
                <a:cubicBezTo>
                  <a:pt x="11420475" y="720351"/>
                  <a:pt x="11369301" y="771525"/>
                  <a:pt x="11306174" y="771525"/>
                </a:cubicBezTo>
                <a:lnTo>
                  <a:pt x="114301" y="771525"/>
                </a:lnTo>
                <a:cubicBezTo>
                  <a:pt x="51174" y="771525"/>
                  <a:pt x="0" y="720351"/>
                  <a:pt x="0" y="657224"/>
                </a:cubicBezTo>
                <a:lnTo>
                  <a:pt x="0" y="114301"/>
                </a:lnTo>
                <a:cubicBezTo>
                  <a:pt x="0" y="51174"/>
                  <a:pt x="51174" y="0"/>
                  <a:pt x="114301" y="0"/>
                </a:cubicBezTo>
                <a:close/>
              </a:path>
            </a:pathLst>
          </a:custGeom>
          <a:solidFill>
            <a:srgbClr val="0F172A"/>
          </a:solidFill>
          <a:ln w="12700">
            <a:solidFill>
              <a:srgbClr val="8B5CF6">
                <a:alpha val="30196"/>
              </a:srgbClr>
            </a:solidFill>
            <a:prstDash val="solid"/>
          </a:ln>
        </p:spPr>
      </p:sp>
      <p:sp>
        <p:nvSpPr>
          <p:cNvPr id="51" name="Shape 49"/>
          <p:cNvSpPr/>
          <p:nvPr/>
        </p:nvSpPr>
        <p:spPr>
          <a:xfrm>
            <a:off x="561975" y="59055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8B5CF6"/>
          </a:solidFill>
          <a:ln/>
        </p:spPr>
      </p:sp>
      <p:sp>
        <p:nvSpPr>
          <p:cNvPr id="52" name="Text 50"/>
          <p:cNvSpPr/>
          <p:nvPr/>
        </p:nvSpPr>
        <p:spPr>
          <a:xfrm>
            <a:off x="790575" y="5857875"/>
            <a:ext cx="1093470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Quy trình 4 pha:</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Thiết lập baseline → Thiết kế biến số → Thu thập &amp; hậu xử lý → Kiểm thử &amp; đánh giá. Đảm bảo tính tái lập (reproducibility) của toàn bộ thực nghiệm.</a:t>
            </a:r>
            <a:endParaRPr lang="en-US" sz="1600" dirty="0"/>
          </a:p>
        </p:txBody>
      </p:sp>
    </p:spTree>
  </p:cSld>
  <p:clrMapOvr>
    <a:masterClrMapping/>
  </p:clrMapOvr>
  <p:transition>
    <p:fade/>
    <p:spd val="med"/>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88156" y="561975"/>
            <a:ext cx="171450" cy="171450"/>
          </a:xfrm>
          <a:custGeom>
            <a:avLst/>
            <a:gdLst/>
            <a:ahLst/>
            <a:cxnLst/>
            <a:rect l="l" t="t" r="r" b="b"/>
            <a:pathLst>
              <a:path w="171450" h="171450">
                <a:moveTo>
                  <a:pt x="64294" y="21431"/>
                </a:moveTo>
                <a:cubicBezTo>
                  <a:pt x="64294" y="15504"/>
                  <a:pt x="69082" y="10716"/>
                  <a:pt x="75009" y="10716"/>
                </a:cubicBezTo>
                <a:lnTo>
                  <a:pt x="96441" y="10716"/>
                </a:lnTo>
                <a:cubicBezTo>
                  <a:pt x="102368" y="10716"/>
                  <a:pt x="107156" y="15504"/>
                  <a:pt x="107156" y="21431"/>
                </a:cubicBezTo>
                <a:lnTo>
                  <a:pt x="107156" y="42863"/>
                </a:lnTo>
                <a:cubicBezTo>
                  <a:pt x="107156" y="48790"/>
                  <a:pt x="102368" y="53578"/>
                  <a:pt x="96441" y="53578"/>
                </a:cubicBezTo>
                <a:lnTo>
                  <a:pt x="93762" y="53578"/>
                </a:lnTo>
                <a:lnTo>
                  <a:pt x="93762" y="75009"/>
                </a:lnTo>
                <a:lnTo>
                  <a:pt x="133945" y="75009"/>
                </a:lnTo>
                <a:cubicBezTo>
                  <a:pt x="147273" y="75009"/>
                  <a:pt x="158055" y="85792"/>
                  <a:pt x="158055" y="99120"/>
                </a:cubicBezTo>
                <a:lnTo>
                  <a:pt x="158055" y="117872"/>
                </a:lnTo>
                <a:lnTo>
                  <a:pt x="160734" y="117872"/>
                </a:lnTo>
                <a:cubicBezTo>
                  <a:pt x="166661" y="117872"/>
                  <a:pt x="171450" y="122660"/>
                  <a:pt x="171450" y="128588"/>
                </a:cubicBezTo>
                <a:lnTo>
                  <a:pt x="171450" y="150019"/>
                </a:lnTo>
                <a:cubicBezTo>
                  <a:pt x="171450" y="155946"/>
                  <a:pt x="166661" y="160734"/>
                  <a:pt x="160734" y="160734"/>
                </a:cubicBezTo>
                <a:lnTo>
                  <a:pt x="139303" y="160734"/>
                </a:lnTo>
                <a:cubicBezTo>
                  <a:pt x="133376" y="160734"/>
                  <a:pt x="128588" y="155946"/>
                  <a:pt x="128588" y="150019"/>
                </a:cubicBezTo>
                <a:lnTo>
                  <a:pt x="128588" y="128588"/>
                </a:lnTo>
                <a:cubicBezTo>
                  <a:pt x="128588" y="122660"/>
                  <a:pt x="133376" y="117872"/>
                  <a:pt x="139303" y="117872"/>
                </a:cubicBezTo>
                <a:lnTo>
                  <a:pt x="141982" y="117872"/>
                </a:lnTo>
                <a:lnTo>
                  <a:pt x="141982" y="99120"/>
                </a:lnTo>
                <a:cubicBezTo>
                  <a:pt x="141982" y="94666"/>
                  <a:pt x="138399" y="91083"/>
                  <a:pt x="133945" y="91083"/>
                </a:cubicBezTo>
                <a:lnTo>
                  <a:pt x="93762" y="91083"/>
                </a:lnTo>
                <a:lnTo>
                  <a:pt x="93762" y="117872"/>
                </a:lnTo>
                <a:lnTo>
                  <a:pt x="96441" y="117872"/>
                </a:lnTo>
                <a:cubicBezTo>
                  <a:pt x="102368" y="117872"/>
                  <a:pt x="107156" y="122660"/>
                  <a:pt x="107156" y="128588"/>
                </a:cubicBezTo>
                <a:lnTo>
                  <a:pt x="107156" y="150019"/>
                </a:lnTo>
                <a:cubicBezTo>
                  <a:pt x="107156" y="155946"/>
                  <a:pt x="102368" y="160734"/>
                  <a:pt x="96441" y="160734"/>
                </a:cubicBezTo>
                <a:lnTo>
                  <a:pt x="75009" y="160734"/>
                </a:lnTo>
                <a:cubicBezTo>
                  <a:pt x="69082" y="160734"/>
                  <a:pt x="64294" y="155946"/>
                  <a:pt x="64294" y="150019"/>
                </a:cubicBezTo>
                <a:lnTo>
                  <a:pt x="64294" y="128588"/>
                </a:lnTo>
                <a:cubicBezTo>
                  <a:pt x="64294" y="122660"/>
                  <a:pt x="69082" y="117872"/>
                  <a:pt x="75009" y="117872"/>
                </a:cubicBezTo>
                <a:lnTo>
                  <a:pt x="77688" y="117872"/>
                </a:lnTo>
                <a:lnTo>
                  <a:pt x="77688" y="91083"/>
                </a:lnTo>
                <a:lnTo>
                  <a:pt x="37505" y="91083"/>
                </a:lnTo>
                <a:cubicBezTo>
                  <a:pt x="33051" y="91083"/>
                  <a:pt x="29468" y="94666"/>
                  <a:pt x="29468" y="99120"/>
                </a:cubicBezTo>
                <a:lnTo>
                  <a:pt x="29468" y="117872"/>
                </a:lnTo>
                <a:lnTo>
                  <a:pt x="32147" y="117872"/>
                </a:lnTo>
                <a:cubicBezTo>
                  <a:pt x="38074" y="117872"/>
                  <a:pt x="42863" y="122660"/>
                  <a:pt x="42863" y="128588"/>
                </a:cubicBezTo>
                <a:lnTo>
                  <a:pt x="42863" y="150019"/>
                </a:lnTo>
                <a:cubicBezTo>
                  <a:pt x="42863" y="155946"/>
                  <a:pt x="38074" y="160734"/>
                  <a:pt x="32147" y="160734"/>
                </a:cubicBezTo>
                <a:lnTo>
                  <a:pt x="10716" y="160734"/>
                </a:lnTo>
                <a:cubicBezTo>
                  <a:pt x="4789" y="160734"/>
                  <a:pt x="0" y="155946"/>
                  <a:pt x="0" y="150019"/>
                </a:cubicBezTo>
                <a:lnTo>
                  <a:pt x="0" y="128588"/>
                </a:lnTo>
                <a:cubicBezTo>
                  <a:pt x="0" y="122660"/>
                  <a:pt x="4789" y="117872"/>
                  <a:pt x="10716" y="117872"/>
                </a:cubicBezTo>
                <a:lnTo>
                  <a:pt x="13395" y="117872"/>
                </a:lnTo>
                <a:lnTo>
                  <a:pt x="13395" y="99120"/>
                </a:lnTo>
                <a:cubicBezTo>
                  <a:pt x="13395" y="85792"/>
                  <a:pt x="24177" y="75009"/>
                  <a:pt x="37505" y="75009"/>
                </a:cubicBezTo>
                <a:lnTo>
                  <a:pt x="77688" y="75009"/>
                </a:lnTo>
                <a:lnTo>
                  <a:pt x="77688" y="53578"/>
                </a:lnTo>
                <a:lnTo>
                  <a:pt x="75009" y="53578"/>
                </a:lnTo>
                <a:cubicBezTo>
                  <a:pt x="69082" y="53578"/>
                  <a:pt x="64294" y="48790"/>
                  <a:pt x="64294" y="42863"/>
                </a:cubicBezTo>
                <a:lnTo>
                  <a:pt x="64294" y="21431"/>
                </a:lnTo>
                <a:close/>
              </a:path>
            </a:pathLst>
          </a:custGeom>
          <a:solidFill>
            <a:srgbClr val="FFFFFF"/>
          </a:solidFill>
          <a:ln/>
        </p:spPr>
      </p:sp>
      <p:sp>
        <p:nvSpPr>
          <p:cNvPr id="4" name="Text 2"/>
          <p:cNvSpPr/>
          <p:nvPr/>
        </p:nvSpPr>
        <p:spPr>
          <a:xfrm>
            <a:off x="876300" y="381000"/>
            <a:ext cx="4924425"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15 | KIẾN TRÚC</a:t>
            </a:r>
            <a:endParaRPr lang="en-US" sz="1600" dirty="0"/>
          </a:p>
        </p:txBody>
      </p:sp>
      <p:sp>
        <p:nvSpPr>
          <p:cNvPr id="5" name="Text 3"/>
          <p:cNvSpPr/>
          <p:nvPr/>
        </p:nvSpPr>
        <p:spPr>
          <a:xfrm>
            <a:off x="876300" y="571500"/>
            <a:ext cx="50006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Kiến trúc hệ thống - 3 mức phân tích</a:t>
            </a:r>
            <a:endParaRPr lang="en-US" sz="1600" dirty="0"/>
          </a:p>
        </p:txBody>
      </p:sp>
      <p:sp>
        <p:nvSpPr>
          <p:cNvPr id="6" name="Shape 4"/>
          <p:cNvSpPr/>
          <p:nvPr/>
        </p:nvSpPr>
        <p:spPr>
          <a:xfrm>
            <a:off x="385763" y="1147763"/>
            <a:ext cx="3695700" cy="5324475"/>
          </a:xfrm>
          <a:custGeom>
            <a:avLst/>
            <a:gdLst/>
            <a:ahLst/>
            <a:cxnLst/>
            <a:rect l="l" t="t" r="r" b="b"/>
            <a:pathLst>
              <a:path w="3695700" h="5324475">
                <a:moveTo>
                  <a:pt x="114308" y="0"/>
                </a:moveTo>
                <a:lnTo>
                  <a:pt x="3581392" y="0"/>
                </a:lnTo>
                <a:cubicBezTo>
                  <a:pt x="3644523" y="0"/>
                  <a:pt x="3695700" y="51177"/>
                  <a:pt x="3695700" y="114308"/>
                </a:cubicBezTo>
                <a:lnTo>
                  <a:pt x="3695700" y="5210167"/>
                </a:lnTo>
                <a:cubicBezTo>
                  <a:pt x="3695700" y="5273298"/>
                  <a:pt x="3644523" y="5324475"/>
                  <a:pt x="3581392" y="5324475"/>
                </a:cubicBezTo>
                <a:lnTo>
                  <a:pt x="114308" y="5324475"/>
                </a:lnTo>
                <a:cubicBezTo>
                  <a:pt x="51177" y="5324475"/>
                  <a:pt x="0" y="5273298"/>
                  <a:pt x="0" y="5210167"/>
                </a:cubicBezTo>
                <a:lnTo>
                  <a:pt x="0" y="114308"/>
                </a:lnTo>
                <a:cubicBezTo>
                  <a:pt x="0" y="51220"/>
                  <a:pt x="51220" y="0"/>
                  <a:pt x="114308"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102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8" name="Shape 6"/>
          <p:cNvSpPr/>
          <p:nvPr/>
        </p:nvSpPr>
        <p:spPr>
          <a:xfrm>
            <a:off x="738188" y="1476375"/>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FFFFF"/>
          </a:solidFill>
          <a:ln/>
        </p:spPr>
      </p:sp>
      <p:sp>
        <p:nvSpPr>
          <p:cNvPr id="9" name="Text 7"/>
          <p:cNvSpPr/>
          <p:nvPr/>
        </p:nvSpPr>
        <p:spPr>
          <a:xfrm>
            <a:off x="1152525" y="1438275"/>
            <a:ext cx="12192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Mức Ý tưởng</a:t>
            </a:r>
            <a:endParaRPr lang="en-US" sz="1600" dirty="0"/>
          </a:p>
        </p:txBody>
      </p:sp>
      <p:sp>
        <p:nvSpPr>
          <p:cNvPr id="10" name="Shape 8"/>
          <p:cNvSpPr/>
          <p:nvPr/>
        </p:nvSpPr>
        <p:spPr>
          <a:xfrm>
            <a:off x="581025" y="1952625"/>
            <a:ext cx="3305175" cy="685800"/>
          </a:xfrm>
          <a:custGeom>
            <a:avLst/>
            <a:gdLst/>
            <a:ahLst/>
            <a:cxnLst/>
            <a:rect l="l" t="t" r="r" b="b"/>
            <a:pathLst>
              <a:path w="3305175" h="685800">
                <a:moveTo>
                  <a:pt x="76199" y="0"/>
                </a:moveTo>
                <a:lnTo>
                  <a:pt x="3228976" y="0"/>
                </a:lnTo>
                <a:cubicBezTo>
                  <a:pt x="3271059" y="0"/>
                  <a:pt x="3305175" y="34116"/>
                  <a:pt x="3305175" y="76199"/>
                </a:cubicBezTo>
                <a:lnTo>
                  <a:pt x="3305175" y="609601"/>
                </a:lnTo>
                <a:cubicBezTo>
                  <a:pt x="3305175" y="651684"/>
                  <a:pt x="3271059" y="685800"/>
                  <a:pt x="3228976"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solidFill>
          <a:ln/>
        </p:spPr>
      </p:sp>
      <p:sp>
        <p:nvSpPr>
          <p:cNvPr id="11" name="Text 9"/>
          <p:cNvSpPr/>
          <p:nvPr/>
        </p:nvSpPr>
        <p:spPr>
          <a:xfrm>
            <a:off x="695325" y="2066925"/>
            <a:ext cx="3152775"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Hệ thống đóng vai trò như một </a:t>
            </a:r>
            <a:pPr>
              <a:lnSpc>
                <a:spcPct val="130000"/>
              </a:lnSpc>
            </a:pPr>
            <a:r>
              <a:rPr lang="en-US" sz="1200" b="1" dirty="0">
                <a:solidFill>
                  <a:srgbClr val="3B82F6"/>
                </a:solidFill>
                <a:latin typeface="MiSans" pitchFamily="34" charset="0"/>
                <a:ea typeface="MiSans" pitchFamily="34" charset="-122"/>
                <a:cs typeface="MiSans" pitchFamily="34" charset="-120"/>
              </a:rPr>
              <a:t>trợ lý lập trình thông minh (AI Coding Assistant)</a:t>
            </a:r>
            <a:endParaRPr lang="en-US" sz="1600" dirty="0"/>
          </a:p>
        </p:txBody>
      </p:sp>
      <p:sp>
        <p:nvSpPr>
          <p:cNvPr id="12" name="Shape 10"/>
          <p:cNvSpPr/>
          <p:nvPr/>
        </p:nvSpPr>
        <p:spPr>
          <a:xfrm>
            <a:off x="581025" y="2752725"/>
            <a:ext cx="3305175" cy="685800"/>
          </a:xfrm>
          <a:custGeom>
            <a:avLst/>
            <a:gdLst/>
            <a:ahLst/>
            <a:cxnLst/>
            <a:rect l="l" t="t" r="r" b="b"/>
            <a:pathLst>
              <a:path w="3305175" h="685800">
                <a:moveTo>
                  <a:pt x="76199" y="0"/>
                </a:moveTo>
                <a:lnTo>
                  <a:pt x="3228976" y="0"/>
                </a:lnTo>
                <a:cubicBezTo>
                  <a:pt x="3271059" y="0"/>
                  <a:pt x="3305175" y="34116"/>
                  <a:pt x="3305175" y="76199"/>
                </a:cubicBezTo>
                <a:lnTo>
                  <a:pt x="3305175" y="609601"/>
                </a:lnTo>
                <a:cubicBezTo>
                  <a:pt x="3305175" y="651684"/>
                  <a:pt x="3271059" y="685800"/>
                  <a:pt x="3228976" y="685800"/>
                </a:cubicBezTo>
                <a:lnTo>
                  <a:pt x="76199" y="685800"/>
                </a:lnTo>
                <a:cubicBezTo>
                  <a:pt x="34116" y="685800"/>
                  <a:pt x="0" y="651684"/>
                  <a:pt x="0" y="609601"/>
                </a:cubicBezTo>
                <a:lnTo>
                  <a:pt x="0" y="76199"/>
                </a:lnTo>
                <a:cubicBezTo>
                  <a:pt x="0" y="34144"/>
                  <a:pt x="34144" y="0"/>
                  <a:pt x="76199" y="0"/>
                </a:cubicBezTo>
                <a:close/>
              </a:path>
            </a:pathLst>
          </a:custGeom>
          <a:solidFill>
            <a:srgbClr val="0F172A"/>
          </a:solidFill>
          <a:ln/>
        </p:spPr>
      </p:sp>
      <p:sp>
        <p:nvSpPr>
          <p:cNvPr id="13" name="Text 11"/>
          <p:cNvSpPr/>
          <p:nvPr/>
        </p:nvSpPr>
        <p:spPr>
          <a:xfrm>
            <a:off x="695325" y="2867025"/>
            <a:ext cx="31432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Lập trình viên chỉ cần phác thảo </a:t>
            </a:r>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"ý định"</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thông qua các khai báo hàm trống</a:t>
            </a:r>
            <a:endParaRPr lang="en-US" sz="1600" dirty="0"/>
          </a:p>
        </p:txBody>
      </p:sp>
      <p:sp>
        <p:nvSpPr>
          <p:cNvPr id="14" name="Shape 12"/>
          <p:cNvSpPr/>
          <p:nvPr/>
        </p:nvSpPr>
        <p:spPr>
          <a:xfrm>
            <a:off x="581025" y="355282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15" name="Text 13"/>
          <p:cNvSpPr/>
          <p:nvPr/>
        </p:nvSpPr>
        <p:spPr>
          <a:xfrm>
            <a:off x="695325" y="3667125"/>
            <a:ext cx="31432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Hệ thống AI sẽ đọc hiểu bối cảnh, đối chiếu với </a:t>
            </a:r>
            <a:pPr>
              <a:lnSpc>
                <a:spcPct val="120000"/>
              </a:lnSpc>
            </a:pPr>
            <a:r>
              <a:rPr lang="en-US" sz="1050" b="1" dirty="0">
                <a:solidFill>
                  <a:srgbClr val="3B82F6"/>
                </a:solidFill>
                <a:latin typeface="MiSans" pitchFamily="34" charset="0"/>
                <a:ea typeface="MiSans" pitchFamily="34" charset="-122"/>
                <a:cs typeface="MiSans" pitchFamily="34" charset="-120"/>
              </a:rPr>
              <a:t>best practices</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và "điền vào chỗ trống"</a:t>
            </a:r>
            <a:endParaRPr lang="en-US" sz="1600" dirty="0"/>
          </a:p>
        </p:txBody>
      </p:sp>
      <p:sp>
        <p:nvSpPr>
          <p:cNvPr id="16" name="Shape 14"/>
          <p:cNvSpPr/>
          <p:nvPr/>
        </p:nvSpPr>
        <p:spPr>
          <a:xfrm>
            <a:off x="581025" y="56673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17" name="Shape 15"/>
          <p:cNvSpPr/>
          <p:nvPr/>
        </p:nvSpPr>
        <p:spPr>
          <a:xfrm>
            <a:off x="714375" y="581977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3B82F6"/>
          </a:solidFill>
          <a:ln/>
        </p:spPr>
      </p:sp>
      <p:sp>
        <p:nvSpPr>
          <p:cNvPr id="18" name="Text 16"/>
          <p:cNvSpPr/>
          <p:nvPr/>
        </p:nvSpPr>
        <p:spPr>
          <a:xfrm>
            <a:off x="923925" y="5781675"/>
            <a:ext cx="2914650" cy="3810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File Code thiếu → AI Code Generator → File Code Hoàn chỉnh</a:t>
            </a:r>
            <a:endParaRPr lang="en-US" sz="1600" dirty="0"/>
          </a:p>
        </p:txBody>
      </p:sp>
      <p:sp>
        <p:nvSpPr>
          <p:cNvPr id="19" name="Shape 17"/>
          <p:cNvSpPr/>
          <p:nvPr/>
        </p:nvSpPr>
        <p:spPr>
          <a:xfrm>
            <a:off x="4246513" y="1147763"/>
            <a:ext cx="3695700" cy="5324475"/>
          </a:xfrm>
          <a:custGeom>
            <a:avLst/>
            <a:gdLst/>
            <a:ahLst/>
            <a:cxnLst/>
            <a:rect l="l" t="t" r="r" b="b"/>
            <a:pathLst>
              <a:path w="3695700" h="5324475">
                <a:moveTo>
                  <a:pt x="114308" y="0"/>
                </a:moveTo>
                <a:lnTo>
                  <a:pt x="3581392" y="0"/>
                </a:lnTo>
                <a:cubicBezTo>
                  <a:pt x="3644523" y="0"/>
                  <a:pt x="3695700" y="51177"/>
                  <a:pt x="3695700" y="114308"/>
                </a:cubicBezTo>
                <a:lnTo>
                  <a:pt x="3695700" y="5210167"/>
                </a:lnTo>
                <a:cubicBezTo>
                  <a:pt x="3695700" y="5273298"/>
                  <a:pt x="3644523" y="5324475"/>
                  <a:pt x="3581392" y="5324475"/>
                </a:cubicBezTo>
                <a:lnTo>
                  <a:pt x="114308" y="5324475"/>
                </a:lnTo>
                <a:cubicBezTo>
                  <a:pt x="51177" y="5324475"/>
                  <a:pt x="0" y="5273298"/>
                  <a:pt x="0" y="5210167"/>
                </a:cubicBezTo>
                <a:lnTo>
                  <a:pt x="0" y="114308"/>
                </a:lnTo>
                <a:cubicBezTo>
                  <a:pt x="0" y="51220"/>
                  <a:pt x="51220" y="0"/>
                  <a:pt x="11430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0" name="Shape 18"/>
          <p:cNvSpPr/>
          <p:nvPr/>
        </p:nvSpPr>
        <p:spPr>
          <a:xfrm>
            <a:off x="444177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21" name="Shape 19"/>
          <p:cNvSpPr/>
          <p:nvPr/>
        </p:nvSpPr>
        <p:spPr>
          <a:xfrm>
            <a:off x="4575125" y="1476375"/>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FFFFFF"/>
          </a:solidFill>
          <a:ln/>
        </p:spPr>
      </p:sp>
      <p:sp>
        <p:nvSpPr>
          <p:cNvPr id="22" name="Text 20"/>
          <p:cNvSpPr/>
          <p:nvPr/>
        </p:nvSpPr>
        <p:spPr>
          <a:xfrm>
            <a:off x="5013275" y="1438275"/>
            <a:ext cx="11620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Mức Luận lý</a:t>
            </a:r>
            <a:endParaRPr lang="en-US" sz="1600" dirty="0"/>
          </a:p>
        </p:txBody>
      </p:sp>
      <p:sp>
        <p:nvSpPr>
          <p:cNvPr id="23" name="Shape 21"/>
          <p:cNvSpPr/>
          <p:nvPr/>
        </p:nvSpPr>
        <p:spPr>
          <a:xfrm>
            <a:off x="4460825" y="19526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24" name="Shape 22"/>
          <p:cNvSpPr/>
          <p:nvPr/>
        </p:nvSpPr>
        <p:spPr>
          <a:xfrm>
            <a:off x="4460825" y="19526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3B82F6"/>
          </a:solidFill>
          <a:ln/>
        </p:spPr>
      </p:sp>
      <p:sp>
        <p:nvSpPr>
          <p:cNvPr id="25" name="Text 23"/>
          <p:cNvSpPr/>
          <p:nvPr/>
        </p:nvSpPr>
        <p:spPr>
          <a:xfrm>
            <a:off x="4594175" y="2066925"/>
            <a:ext cx="3114675"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1. Input Module</a:t>
            </a:r>
            <a:endParaRPr lang="en-US" sz="1600" dirty="0"/>
          </a:p>
        </p:txBody>
      </p:sp>
      <p:sp>
        <p:nvSpPr>
          <p:cNvPr id="26" name="Text 24"/>
          <p:cNvSpPr/>
          <p:nvPr/>
        </p:nvSpPr>
        <p:spPr>
          <a:xfrm>
            <a:off x="4594175" y="2333625"/>
            <a:ext cx="31051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Đọc mã nguồn từ tệp .py bị khuyết</a:t>
            </a:r>
            <a:endParaRPr lang="en-US" sz="1600" dirty="0"/>
          </a:p>
        </p:txBody>
      </p:sp>
      <p:sp>
        <p:nvSpPr>
          <p:cNvPr id="27" name="Shape 25"/>
          <p:cNvSpPr/>
          <p:nvPr/>
        </p:nvSpPr>
        <p:spPr>
          <a:xfrm>
            <a:off x="4460825" y="27146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28" name="Shape 26"/>
          <p:cNvSpPr/>
          <p:nvPr/>
        </p:nvSpPr>
        <p:spPr>
          <a:xfrm>
            <a:off x="4460825" y="27146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8B5CF6"/>
          </a:solidFill>
          <a:ln/>
        </p:spPr>
      </p:sp>
      <p:sp>
        <p:nvSpPr>
          <p:cNvPr id="29" name="Text 27"/>
          <p:cNvSpPr/>
          <p:nvPr/>
        </p:nvSpPr>
        <p:spPr>
          <a:xfrm>
            <a:off x="4594175" y="2828925"/>
            <a:ext cx="3114675"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2. Prompt Builder</a:t>
            </a:r>
            <a:endParaRPr lang="en-US" sz="1600" dirty="0"/>
          </a:p>
        </p:txBody>
      </p:sp>
      <p:sp>
        <p:nvSpPr>
          <p:cNvPr id="30" name="Text 28"/>
          <p:cNvSpPr/>
          <p:nvPr/>
        </p:nvSpPr>
        <p:spPr>
          <a:xfrm>
            <a:off x="4594175" y="3095625"/>
            <a:ext cx="31051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Đóng gói mã nguồn với chỉ thị (Zero/Few-shot)</a:t>
            </a:r>
            <a:endParaRPr lang="en-US" sz="1600" dirty="0"/>
          </a:p>
        </p:txBody>
      </p:sp>
      <p:sp>
        <p:nvSpPr>
          <p:cNvPr id="31" name="Shape 29"/>
          <p:cNvSpPr/>
          <p:nvPr/>
        </p:nvSpPr>
        <p:spPr>
          <a:xfrm>
            <a:off x="4460825" y="34766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32" name="Shape 30"/>
          <p:cNvSpPr/>
          <p:nvPr/>
        </p:nvSpPr>
        <p:spPr>
          <a:xfrm>
            <a:off x="4460825" y="34766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10B981"/>
          </a:solidFill>
          <a:ln/>
        </p:spPr>
      </p:sp>
      <p:sp>
        <p:nvSpPr>
          <p:cNvPr id="33" name="Text 31"/>
          <p:cNvSpPr/>
          <p:nvPr/>
        </p:nvSpPr>
        <p:spPr>
          <a:xfrm>
            <a:off x="4594175" y="3590925"/>
            <a:ext cx="31146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3. AI Engine</a:t>
            </a:r>
            <a:endParaRPr lang="en-US" sz="1600" dirty="0"/>
          </a:p>
        </p:txBody>
      </p:sp>
      <p:sp>
        <p:nvSpPr>
          <p:cNvPr id="34" name="Text 32"/>
          <p:cNvSpPr/>
          <p:nvPr/>
        </p:nvSpPr>
        <p:spPr>
          <a:xfrm>
            <a:off x="4594175" y="3857625"/>
            <a:ext cx="31051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Gửi qua API tới LLM, nhận phản hồi thô</a:t>
            </a:r>
            <a:endParaRPr lang="en-US" sz="1600" dirty="0"/>
          </a:p>
        </p:txBody>
      </p:sp>
      <p:sp>
        <p:nvSpPr>
          <p:cNvPr id="35" name="Shape 33"/>
          <p:cNvSpPr/>
          <p:nvPr/>
        </p:nvSpPr>
        <p:spPr>
          <a:xfrm>
            <a:off x="4460825" y="4238625"/>
            <a:ext cx="3286125" cy="685800"/>
          </a:xfrm>
          <a:custGeom>
            <a:avLst/>
            <a:gdLst/>
            <a:ahLst/>
            <a:cxnLst/>
            <a:rect l="l" t="t" r="r" b="b"/>
            <a:pathLst>
              <a:path w="3286125" h="685800">
                <a:moveTo>
                  <a:pt x="38100" y="0"/>
                </a:moveTo>
                <a:lnTo>
                  <a:pt x="3209926" y="0"/>
                </a:lnTo>
                <a:cubicBezTo>
                  <a:pt x="3252009" y="0"/>
                  <a:pt x="3286125" y="34116"/>
                  <a:pt x="3286125" y="76199"/>
                </a:cubicBezTo>
                <a:lnTo>
                  <a:pt x="3286125" y="609601"/>
                </a:lnTo>
                <a:cubicBezTo>
                  <a:pt x="3286125" y="651684"/>
                  <a:pt x="3252009" y="685800"/>
                  <a:pt x="3209926" y="685800"/>
                </a:cubicBezTo>
                <a:lnTo>
                  <a:pt x="38100" y="685800"/>
                </a:lnTo>
                <a:cubicBezTo>
                  <a:pt x="17072" y="685800"/>
                  <a:pt x="0" y="668728"/>
                  <a:pt x="0" y="647700"/>
                </a:cubicBezTo>
                <a:lnTo>
                  <a:pt x="0" y="38100"/>
                </a:lnTo>
                <a:cubicBezTo>
                  <a:pt x="0" y="17072"/>
                  <a:pt x="17072" y="0"/>
                  <a:pt x="38100" y="0"/>
                </a:cubicBezTo>
                <a:close/>
              </a:path>
            </a:pathLst>
          </a:custGeom>
          <a:solidFill>
            <a:srgbClr val="0F172A"/>
          </a:solidFill>
          <a:ln/>
        </p:spPr>
      </p:sp>
      <p:sp>
        <p:nvSpPr>
          <p:cNvPr id="36" name="Shape 34"/>
          <p:cNvSpPr/>
          <p:nvPr/>
        </p:nvSpPr>
        <p:spPr>
          <a:xfrm>
            <a:off x="4460825" y="423862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F59E0B"/>
          </a:solidFill>
          <a:ln/>
        </p:spPr>
      </p:sp>
      <p:sp>
        <p:nvSpPr>
          <p:cNvPr id="37" name="Text 35"/>
          <p:cNvSpPr/>
          <p:nvPr/>
        </p:nvSpPr>
        <p:spPr>
          <a:xfrm>
            <a:off x="4594175" y="4352925"/>
            <a:ext cx="3114675" cy="228600"/>
          </a:xfrm>
          <a:prstGeom prst="rect">
            <a:avLst/>
          </a:prstGeom>
          <a:noFill/>
          <a:ln/>
        </p:spPr>
        <p:txBody>
          <a:bodyPr wrap="square" lIns="0" tIns="0" rIns="0" bIns="0" rtlCol="0" anchor="ctr"/>
          <a:lstStyle/>
          <a:p>
            <a:pPr>
              <a:lnSpc>
                <a:spcPct val="130000"/>
              </a:lnSpc>
            </a:pPr>
            <a:r>
              <a:rPr lang="en-US" sz="1200" b="1" dirty="0">
                <a:solidFill>
                  <a:srgbClr val="F59E0B"/>
                </a:solidFill>
                <a:latin typeface="MiSans" pitchFamily="34" charset="0"/>
                <a:ea typeface="MiSans" pitchFamily="34" charset="-122"/>
                <a:cs typeface="MiSans" pitchFamily="34" charset="-120"/>
              </a:rPr>
              <a:t>4. Post-processing</a:t>
            </a:r>
            <a:endParaRPr lang="en-US" sz="1600" dirty="0"/>
          </a:p>
        </p:txBody>
      </p:sp>
      <p:sp>
        <p:nvSpPr>
          <p:cNvPr id="38" name="Text 36"/>
          <p:cNvSpPr/>
          <p:nvPr/>
        </p:nvSpPr>
        <p:spPr>
          <a:xfrm>
            <a:off x="4594175" y="4619625"/>
            <a:ext cx="31051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Dùng Regex tách code, loại bỏ text thừa</a:t>
            </a:r>
            <a:endParaRPr lang="en-US" sz="1600" dirty="0"/>
          </a:p>
        </p:txBody>
      </p:sp>
      <p:sp>
        <p:nvSpPr>
          <p:cNvPr id="39" name="Shape 37"/>
          <p:cNvSpPr/>
          <p:nvPr/>
        </p:nvSpPr>
        <p:spPr>
          <a:xfrm>
            <a:off x="4441775" y="585787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40" name="Shape 38"/>
          <p:cNvSpPr/>
          <p:nvPr/>
        </p:nvSpPr>
        <p:spPr>
          <a:xfrm>
            <a:off x="4575125" y="6010275"/>
            <a:ext cx="133350" cy="133350"/>
          </a:xfrm>
          <a:custGeom>
            <a:avLst/>
            <a:gdLst/>
            <a:ahLst/>
            <a:cxnLst/>
            <a:rect l="l" t="t" r="r" b="b"/>
            <a:pathLst>
              <a:path w="133350" h="133350">
                <a:moveTo>
                  <a:pt x="125042" y="50006"/>
                </a:moveTo>
                <a:lnTo>
                  <a:pt x="127099" y="50006"/>
                </a:lnTo>
                <a:cubicBezTo>
                  <a:pt x="130563" y="50006"/>
                  <a:pt x="133350" y="47219"/>
                  <a:pt x="133350" y="43755"/>
                </a:cubicBezTo>
                <a:lnTo>
                  <a:pt x="133350" y="6251"/>
                </a:lnTo>
                <a:cubicBezTo>
                  <a:pt x="133350" y="3724"/>
                  <a:pt x="131839" y="1432"/>
                  <a:pt x="129495" y="469"/>
                </a:cubicBezTo>
                <a:cubicBezTo>
                  <a:pt x="127151" y="-495"/>
                  <a:pt x="124469" y="52"/>
                  <a:pt x="122672" y="1823"/>
                </a:cubicBezTo>
                <a:lnTo>
                  <a:pt x="109206" y="15314"/>
                </a:lnTo>
                <a:cubicBezTo>
                  <a:pt x="97668" y="5756"/>
                  <a:pt x="82823" y="0"/>
                  <a:pt x="66675" y="0"/>
                </a:cubicBezTo>
                <a:cubicBezTo>
                  <a:pt x="33077" y="0"/>
                  <a:pt x="5287" y="24847"/>
                  <a:pt x="677" y="57169"/>
                </a:cubicBezTo>
                <a:cubicBezTo>
                  <a:pt x="26" y="61726"/>
                  <a:pt x="3177" y="65946"/>
                  <a:pt x="7735" y="66597"/>
                </a:cubicBezTo>
                <a:cubicBezTo>
                  <a:pt x="12293" y="67248"/>
                  <a:pt x="16512" y="64071"/>
                  <a:pt x="17164" y="59539"/>
                </a:cubicBezTo>
                <a:cubicBezTo>
                  <a:pt x="20628" y="35291"/>
                  <a:pt x="41490" y="16669"/>
                  <a:pt x="66675" y="16669"/>
                </a:cubicBezTo>
                <a:cubicBezTo>
                  <a:pt x="78239" y="16669"/>
                  <a:pt x="88865" y="20575"/>
                  <a:pt x="97330" y="27165"/>
                </a:cubicBezTo>
                <a:lnTo>
                  <a:pt x="85167" y="39328"/>
                </a:lnTo>
                <a:cubicBezTo>
                  <a:pt x="83370" y="41125"/>
                  <a:pt x="82849" y="43808"/>
                  <a:pt x="83813" y="46152"/>
                </a:cubicBezTo>
                <a:cubicBezTo>
                  <a:pt x="84776" y="48496"/>
                  <a:pt x="87068" y="50006"/>
                  <a:pt x="89595" y="50006"/>
                </a:cubicBezTo>
                <a:lnTo>
                  <a:pt x="125042" y="50006"/>
                </a:lnTo>
                <a:close/>
                <a:moveTo>
                  <a:pt x="132699" y="76181"/>
                </a:moveTo>
                <a:cubicBezTo>
                  <a:pt x="133350" y="71624"/>
                  <a:pt x="130173" y="67404"/>
                  <a:pt x="125641" y="66753"/>
                </a:cubicBezTo>
                <a:cubicBezTo>
                  <a:pt x="121109" y="66102"/>
                  <a:pt x="116864" y="69279"/>
                  <a:pt x="116212" y="73811"/>
                </a:cubicBezTo>
                <a:cubicBezTo>
                  <a:pt x="112748" y="98033"/>
                  <a:pt x="91886" y="116655"/>
                  <a:pt x="66701" y="116655"/>
                </a:cubicBezTo>
                <a:cubicBezTo>
                  <a:pt x="55137" y="116655"/>
                  <a:pt x="44511" y="112748"/>
                  <a:pt x="36046" y="106159"/>
                </a:cubicBezTo>
                <a:lnTo>
                  <a:pt x="48183" y="94022"/>
                </a:lnTo>
                <a:cubicBezTo>
                  <a:pt x="49980" y="92225"/>
                  <a:pt x="50501" y="89542"/>
                  <a:pt x="49537" y="87198"/>
                </a:cubicBezTo>
                <a:cubicBezTo>
                  <a:pt x="48574" y="84854"/>
                  <a:pt x="46282" y="83344"/>
                  <a:pt x="43755" y="83344"/>
                </a:cubicBezTo>
                <a:lnTo>
                  <a:pt x="6251" y="83344"/>
                </a:lnTo>
                <a:cubicBezTo>
                  <a:pt x="2787" y="83344"/>
                  <a:pt x="0" y="86131"/>
                  <a:pt x="0" y="89595"/>
                </a:cubicBezTo>
                <a:lnTo>
                  <a:pt x="0" y="127099"/>
                </a:lnTo>
                <a:cubicBezTo>
                  <a:pt x="0" y="129626"/>
                  <a:pt x="1511" y="131918"/>
                  <a:pt x="3855" y="132881"/>
                </a:cubicBezTo>
                <a:cubicBezTo>
                  <a:pt x="6199" y="133845"/>
                  <a:pt x="8881" y="133298"/>
                  <a:pt x="10678" y="131527"/>
                </a:cubicBezTo>
                <a:lnTo>
                  <a:pt x="24170" y="118036"/>
                </a:lnTo>
                <a:cubicBezTo>
                  <a:pt x="35682" y="127594"/>
                  <a:pt x="50527" y="133350"/>
                  <a:pt x="66675" y="133350"/>
                </a:cubicBezTo>
                <a:cubicBezTo>
                  <a:pt x="100273" y="133350"/>
                  <a:pt x="128063" y="108503"/>
                  <a:pt x="132673" y="76181"/>
                </a:cubicBezTo>
                <a:close/>
              </a:path>
            </a:pathLst>
          </a:custGeom>
          <a:solidFill>
            <a:srgbClr val="8B5CF6"/>
          </a:solidFill>
          <a:ln/>
        </p:spPr>
      </p:sp>
      <p:sp>
        <p:nvSpPr>
          <p:cNvPr id="41" name="Text 39"/>
          <p:cNvSpPr/>
          <p:nvPr/>
        </p:nvSpPr>
        <p:spPr>
          <a:xfrm>
            <a:off x="4784675" y="5972175"/>
            <a:ext cx="2914650" cy="1905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Pipeline 4 bước khép kín với feedback loop</a:t>
            </a:r>
            <a:endParaRPr lang="en-US" sz="1600" dirty="0"/>
          </a:p>
        </p:txBody>
      </p:sp>
      <p:sp>
        <p:nvSpPr>
          <p:cNvPr id="42" name="Shape 40"/>
          <p:cNvSpPr/>
          <p:nvPr/>
        </p:nvSpPr>
        <p:spPr>
          <a:xfrm>
            <a:off x="8107263" y="1147763"/>
            <a:ext cx="3695700" cy="5324475"/>
          </a:xfrm>
          <a:custGeom>
            <a:avLst/>
            <a:gdLst/>
            <a:ahLst/>
            <a:cxnLst/>
            <a:rect l="l" t="t" r="r" b="b"/>
            <a:pathLst>
              <a:path w="3695700" h="5324475">
                <a:moveTo>
                  <a:pt x="114308" y="0"/>
                </a:moveTo>
                <a:lnTo>
                  <a:pt x="3581392" y="0"/>
                </a:lnTo>
                <a:cubicBezTo>
                  <a:pt x="3644523" y="0"/>
                  <a:pt x="3695700" y="51177"/>
                  <a:pt x="3695700" y="114308"/>
                </a:cubicBezTo>
                <a:lnTo>
                  <a:pt x="3695700" y="5210167"/>
                </a:lnTo>
                <a:cubicBezTo>
                  <a:pt x="3695700" y="5273298"/>
                  <a:pt x="3644523" y="5324475"/>
                  <a:pt x="3581392" y="5324475"/>
                </a:cubicBezTo>
                <a:lnTo>
                  <a:pt x="114308" y="5324475"/>
                </a:lnTo>
                <a:cubicBezTo>
                  <a:pt x="51177" y="5324475"/>
                  <a:pt x="0" y="5273298"/>
                  <a:pt x="0" y="5210167"/>
                </a:cubicBezTo>
                <a:lnTo>
                  <a:pt x="0" y="114308"/>
                </a:lnTo>
                <a:cubicBezTo>
                  <a:pt x="0" y="51220"/>
                  <a:pt x="51220" y="0"/>
                  <a:pt x="11430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43" name="Shape 41"/>
          <p:cNvSpPr/>
          <p:nvPr/>
        </p:nvSpPr>
        <p:spPr>
          <a:xfrm>
            <a:off x="8302526"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44" name="Shape 42"/>
          <p:cNvSpPr/>
          <p:nvPr/>
        </p:nvSpPr>
        <p:spPr>
          <a:xfrm>
            <a:off x="8447782" y="1476375"/>
            <a:ext cx="166688" cy="190500"/>
          </a:xfrm>
          <a:custGeom>
            <a:avLst/>
            <a:gdLst/>
            <a:ahLst/>
            <a:cxnLst/>
            <a:rect l="l" t="t" r="r" b="b"/>
            <a:pathLst>
              <a:path w="166688" h="190500">
                <a:moveTo>
                  <a:pt x="23812" y="11906"/>
                </a:moveTo>
                <a:cubicBezTo>
                  <a:pt x="10678" y="11906"/>
                  <a:pt x="0" y="22585"/>
                  <a:pt x="0" y="35719"/>
                </a:cubicBezTo>
                <a:lnTo>
                  <a:pt x="0" y="59531"/>
                </a:lnTo>
                <a:cubicBezTo>
                  <a:pt x="0" y="72665"/>
                  <a:pt x="10678" y="83344"/>
                  <a:pt x="23812" y="83344"/>
                </a:cubicBezTo>
                <a:lnTo>
                  <a:pt x="142875" y="83344"/>
                </a:lnTo>
                <a:cubicBezTo>
                  <a:pt x="156009" y="83344"/>
                  <a:pt x="166688" y="72665"/>
                  <a:pt x="166688" y="59531"/>
                </a:cubicBezTo>
                <a:lnTo>
                  <a:pt x="166688" y="35719"/>
                </a:lnTo>
                <a:cubicBezTo>
                  <a:pt x="166688" y="22585"/>
                  <a:pt x="156009" y="11906"/>
                  <a:pt x="142875" y="11906"/>
                </a:cubicBezTo>
                <a:lnTo>
                  <a:pt x="23812" y="11906"/>
                </a:lnTo>
                <a:close/>
                <a:moveTo>
                  <a:pt x="104180" y="38695"/>
                </a:moveTo>
                <a:cubicBezTo>
                  <a:pt x="109108" y="38695"/>
                  <a:pt x="113109" y="42697"/>
                  <a:pt x="113109" y="47625"/>
                </a:cubicBezTo>
                <a:cubicBezTo>
                  <a:pt x="113109" y="52553"/>
                  <a:pt x="109108" y="56555"/>
                  <a:pt x="104180" y="56555"/>
                </a:cubicBezTo>
                <a:cubicBezTo>
                  <a:pt x="99251" y="56555"/>
                  <a:pt x="95250" y="52553"/>
                  <a:pt x="95250" y="47625"/>
                </a:cubicBezTo>
                <a:cubicBezTo>
                  <a:pt x="95250" y="42697"/>
                  <a:pt x="99251" y="38695"/>
                  <a:pt x="104180" y="38695"/>
                </a:cubicBezTo>
                <a:close/>
                <a:moveTo>
                  <a:pt x="125016" y="47625"/>
                </a:moveTo>
                <a:cubicBezTo>
                  <a:pt x="125016" y="42697"/>
                  <a:pt x="129017" y="38695"/>
                  <a:pt x="133945" y="38695"/>
                </a:cubicBezTo>
                <a:cubicBezTo>
                  <a:pt x="138874" y="38695"/>
                  <a:pt x="142875" y="42697"/>
                  <a:pt x="142875" y="47625"/>
                </a:cubicBezTo>
                <a:cubicBezTo>
                  <a:pt x="142875" y="52553"/>
                  <a:pt x="138874" y="56555"/>
                  <a:pt x="133945" y="56555"/>
                </a:cubicBezTo>
                <a:cubicBezTo>
                  <a:pt x="129017" y="56555"/>
                  <a:pt x="125016" y="52553"/>
                  <a:pt x="125016" y="47625"/>
                </a:cubicBezTo>
                <a:close/>
                <a:moveTo>
                  <a:pt x="23812" y="107156"/>
                </a:move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ubicBezTo>
                  <a:pt x="166688" y="117835"/>
                  <a:pt x="156009" y="107156"/>
                  <a:pt x="142875" y="107156"/>
                </a:cubicBezTo>
                <a:lnTo>
                  <a:pt x="23812" y="107156"/>
                </a:lnTo>
                <a:close/>
                <a:moveTo>
                  <a:pt x="104180" y="133945"/>
                </a:moveTo>
                <a:cubicBezTo>
                  <a:pt x="109108" y="133945"/>
                  <a:pt x="113109" y="137947"/>
                  <a:pt x="113109" y="142875"/>
                </a:cubicBezTo>
                <a:cubicBezTo>
                  <a:pt x="113109" y="147803"/>
                  <a:pt x="109108" y="151805"/>
                  <a:pt x="104180" y="151805"/>
                </a:cubicBezTo>
                <a:cubicBezTo>
                  <a:pt x="99251" y="151805"/>
                  <a:pt x="95250" y="147803"/>
                  <a:pt x="95250" y="142875"/>
                </a:cubicBezTo>
                <a:cubicBezTo>
                  <a:pt x="95250" y="137947"/>
                  <a:pt x="99251" y="133945"/>
                  <a:pt x="104180" y="133945"/>
                </a:cubicBezTo>
                <a:close/>
                <a:moveTo>
                  <a:pt x="125016" y="142875"/>
                </a:moveTo>
                <a:cubicBezTo>
                  <a:pt x="125016" y="137947"/>
                  <a:pt x="129017" y="133945"/>
                  <a:pt x="133945" y="133945"/>
                </a:cubicBezTo>
                <a:cubicBezTo>
                  <a:pt x="138874" y="133945"/>
                  <a:pt x="142875" y="137947"/>
                  <a:pt x="142875" y="142875"/>
                </a:cubicBezTo>
                <a:cubicBezTo>
                  <a:pt x="142875" y="147803"/>
                  <a:pt x="138874" y="151805"/>
                  <a:pt x="133945" y="151805"/>
                </a:cubicBezTo>
                <a:cubicBezTo>
                  <a:pt x="129017" y="151805"/>
                  <a:pt x="125016" y="147803"/>
                  <a:pt x="125016" y="142875"/>
                </a:cubicBezTo>
                <a:close/>
              </a:path>
            </a:pathLst>
          </a:custGeom>
          <a:solidFill>
            <a:srgbClr val="FFFFFF"/>
          </a:solidFill>
          <a:ln/>
        </p:spPr>
      </p:sp>
      <p:sp>
        <p:nvSpPr>
          <p:cNvPr id="45" name="Text 43"/>
          <p:cNvSpPr/>
          <p:nvPr/>
        </p:nvSpPr>
        <p:spPr>
          <a:xfrm>
            <a:off x="8874026" y="1438275"/>
            <a:ext cx="10287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Mức Vật lý</a:t>
            </a:r>
            <a:endParaRPr lang="en-US" sz="1600" dirty="0"/>
          </a:p>
        </p:txBody>
      </p:sp>
      <p:sp>
        <p:nvSpPr>
          <p:cNvPr id="46" name="Shape 44"/>
          <p:cNvSpPr/>
          <p:nvPr/>
        </p:nvSpPr>
        <p:spPr>
          <a:xfrm>
            <a:off x="8302526" y="1952625"/>
            <a:ext cx="3305175" cy="723900"/>
          </a:xfrm>
          <a:custGeom>
            <a:avLst/>
            <a:gdLst/>
            <a:ahLst/>
            <a:cxnLst/>
            <a:rect l="l" t="t" r="r" b="b"/>
            <a:pathLst>
              <a:path w="3305175" h="723900">
                <a:moveTo>
                  <a:pt x="76198" y="0"/>
                </a:moveTo>
                <a:lnTo>
                  <a:pt x="3228977" y="0"/>
                </a:lnTo>
                <a:cubicBezTo>
                  <a:pt x="3271032" y="0"/>
                  <a:pt x="3305175" y="34143"/>
                  <a:pt x="3305175" y="76198"/>
                </a:cubicBezTo>
                <a:lnTo>
                  <a:pt x="3305175" y="647702"/>
                </a:lnTo>
                <a:cubicBezTo>
                  <a:pt x="3305175" y="689757"/>
                  <a:pt x="3271032" y="723900"/>
                  <a:pt x="3228977"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7" name="Text 45"/>
          <p:cNvSpPr/>
          <p:nvPr/>
        </p:nvSpPr>
        <p:spPr>
          <a:xfrm>
            <a:off x="8416826" y="2066925"/>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Môi trường thực thi</a:t>
            </a:r>
            <a:endParaRPr lang="en-US" sz="1600" dirty="0"/>
          </a:p>
        </p:txBody>
      </p:sp>
      <p:sp>
        <p:nvSpPr>
          <p:cNvPr id="48" name="Text 46"/>
          <p:cNvSpPr/>
          <p:nvPr/>
        </p:nvSpPr>
        <p:spPr>
          <a:xfrm>
            <a:off x="8416826" y="2371725"/>
            <a:ext cx="3143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Máy tính cấu hình tiêu chuẩn chạy Python 3.10+</a:t>
            </a:r>
            <a:endParaRPr lang="en-US" sz="1600" dirty="0"/>
          </a:p>
        </p:txBody>
      </p:sp>
      <p:sp>
        <p:nvSpPr>
          <p:cNvPr id="49" name="Shape 47"/>
          <p:cNvSpPr/>
          <p:nvPr/>
        </p:nvSpPr>
        <p:spPr>
          <a:xfrm>
            <a:off x="8302526" y="2790825"/>
            <a:ext cx="3305175" cy="1209675"/>
          </a:xfrm>
          <a:custGeom>
            <a:avLst/>
            <a:gdLst/>
            <a:ahLst/>
            <a:cxnLst/>
            <a:rect l="l" t="t" r="r" b="b"/>
            <a:pathLst>
              <a:path w="3305175" h="1209675">
                <a:moveTo>
                  <a:pt x="76197" y="0"/>
                </a:moveTo>
                <a:lnTo>
                  <a:pt x="3228978" y="0"/>
                </a:lnTo>
                <a:cubicBezTo>
                  <a:pt x="3271032" y="0"/>
                  <a:pt x="3305175" y="34143"/>
                  <a:pt x="3305175" y="76197"/>
                </a:cubicBezTo>
                <a:lnTo>
                  <a:pt x="3305175" y="1133478"/>
                </a:lnTo>
                <a:cubicBezTo>
                  <a:pt x="3305175" y="1175532"/>
                  <a:pt x="3271032" y="1209675"/>
                  <a:pt x="3228978" y="1209675"/>
                </a:cubicBezTo>
                <a:lnTo>
                  <a:pt x="76197" y="1209675"/>
                </a:lnTo>
                <a:cubicBezTo>
                  <a:pt x="34143" y="1209675"/>
                  <a:pt x="0" y="1175532"/>
                  <a:pt x="0" y="1133478"/>
                </a:cubicBezTo>
                <a:lnTo>
                  <a:pt x="0" y="76197"/>
                </a:lnTo>
                <a:cubicBezTo>
                  <a:pt x="0" y="34143"/>
                  <a:pt x="34143" y="0"/>
                  <a:pt x="76197" y="0"/>
                </a:cubicBezTo>
                <a:close/>
              </a:path>
            </a:pathLst>
          </a:custGeom>
          <a:solidFill>
            <a:srgbClr val="0F172A"/>
          </a:solidFill>
          <a:ln/>
        </p:spPr>
      </p:sp>
      <p:sp>
        <p:nvSpPr>
          <p:cNvPr id="50" name="Text 48"/>
          <p:cNvSpPr/>
          <p:nvPr/>
        </p:nvSpPr>
        <p:spPr>
          <a:xfrm>
            <a:off x="8416826" y="2905125"/>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Thành phần mã nguồn</a:t>
            </a:r>
            <a:endParaRPr lang="en-US" sz="1600" dirty="0"/>
          </a:p>
        </p:txBody>
      </p:sp>
      <p:sp>
        <p:nvSpPr>
          <p:cNvPr id="51" name="Text 49"/>
          <p:cNvSpPr/>
          <p:nvPr/>
        </p:nvSpPr>
        <p:spPr>
          <a:xfrm>
            <a:off x="8416826" y="3209925"/>
            <a:ext cx="3143250" cy="200025"/>
          </a:xfrm>
          <a:prstGeom prst="rect">
            <a:avLst/>
          </a:prstGeom>
          <a:noFill/>
          <a:ln/>
        </p:spPr>
        <p:txBody>
          <a:bodyPr wrap="square" lIns="0" tIns="0" rIns="0" bIns="0" rtlCol="0" anchor="ctr"/>
          <a:lstStyle/>
          <a:p>
            <a:pPr>
              <a:lnSpc>
                <a:spcPct val="120000"/>
              </a:lnSpc>
            </a:pPr>
            <a:r>
              <a:rPr lang="en-US" sz="1050" dirty="0">
                <a:solidFill>
                  <a:srgbClr val="3B82F6"/>
                </a:solidFill>
                <a:latin typeface="MiSans" pitchFamily="34" charset="0"/>
                <a:ea typeface="MiSans" pitchFamily="34" charset="-122"/>
                <a:cs typeface="MiSans" pitchFamily="34" charset="-120"/>
              </a:rPr>
              <a:t>decorators_openai.py</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Script điều khiển</a:t>
            </a:r>
            <a:endParaRPr lang="en-US" sz="1600" dirty="0"/>
          </a:p>
        </p:txBody>
      </p:sp>
      <p:sp>
        <p:nvSpPr>
          <p:cNvPr id="52" name="Text 50"/>
          <p:cNvSpPr/>
          <p:nvPr/>
        </p:nvSpPr>
        <p:spPr>
          <a:xfrm>
            <a:off x="8416826" y="3448050"/>
            <a:ext cx="3143250" cy="200025"/>
          </a:xfrm>
          <a:prstGeom prst="rect">
            <a:avLst/>
          </a:prstGeom>
          <a:noFill/>
          <a:ln/>
        </p:spPr>
        <p:txBody>
          <a:bodyPr wrap="square" lIns="0" tIns="0" rIns="0" bIns="0" rtlCol="0" anchor="ctr"/>
          <a:lstStyle/>
          <a:p>
            <a:pPr>
              <a:lnSpc>
                <a:spcPct val="120000"/>
              </a:lnSpc>
            </a:pPr>
            <a:r>
              <a:rPr lang="en-US" sz="1050" dirty="0">
                <a:solidFill>
                  <a:srgbClr val="8B5CF6"/>
                </a:solidFill>
                <a:latin typeface="MiSans" pitchFamily="34" charset="0"/>
                <a:ea typeface="MiSans" pitchFamily="34" charset="-122"/>
                <a:cs typeface="MiSans" pitchFamily="34" charset="-120"/>
              </a:rPr>
              <a:t>.env</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Lưu API Key</a:t>
            </a:r>
            <a:endParaRPr lang="en-US" sz="1600" dirty="0"/>
          </a:p>
        </p:txBody>
      </p:sp>
      <p:sp>
        <p:nvSpPr>
          <p:cNvPr id="53" name="Text 51"/>
          <p:cNvSpPr/>
          <p:nvPr/>
        </p:nvSpPr>
        <p:spPr>
          <a:xfrm>
            <a:off x="8416826" y="3686175"/>
            <a:ext cx="3143250" cy="200025"/>
          </a:xfrm>
          <a:prstGeom prst="rect">
            <a:avLst/>
          </a:prstGeom>
          <a:noFill/>
          <a:ln/>
        </p:spPr>
        <p:txBody>
          <a:bodyPr wrap="square" lIns="0" tIns="0" rIns="0" bIns="0" rtlCol="0" anchor="ctr"/>
          <a:lstStyle/>
          <a:p>
            <a:pPr>
              <a:lnSpc>
                <a:spcPct val="120000"/>
              </a:lnSpc>
            </a:pPr>
            <a:r>
              <a:rPr lang="en-US" sz="1050" dirty="0">
                <a:solidFill>
                  <a:srgbClr val="10B981"/>
                </a:solidFill>
                <a:latin typeface="MiSans" pitchFamily="34" charset="0"/>
                <a:ea typeface="MiSans" pitchFamily="34" charset="-122"/>
                <a:cs typeface="MiSans" pitchFamily="34" charset="-120"/>
              </a:rPr>
              <a:t>/ketqua</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Lưu file sinh ra</a:t>
            </a:r>
            <a:endParaRPr lang="en-US" sz="1600" dirty="0"/>
          </a:p>
        </p:txBody>
      </p:sp>
      <p:sp>
        <p:nvSpPr>
          <p:cNvPr id="54" name="Shape 52"/>
          <p:cNvSpPr/>
          <p:nvPr/>
        </p:nvSpPr>
        <p:spPr>
          <a:xfrm>
            <a:off x="8302526" y="4114800"/>
            <a:ext cx="3305175" cy="914400"/>
          </a:xfrm>
          <a:custGeom>
            <a:avLst/>
            <a:gdLst/>
            <a:ahLst/>
            <a:cxnLst/>
            <a:rect l="l" t="t" r="r" b="b"/>
            <a:pathLst>
              <a:path w="3305175" h="914400">
                <a:moveTo>
                  <a:pt x="76197" y="0"/>
                </a:moveTo>
                <a:lnTo>
                  <a:pt x="3228978" y="0"/>
                </a:lnTo>
                <a:cubicBezTo>
                  <a:pt x="3271060" y="0"/>
                  <a:pt x="3305175" y="34115"/>
                  <a:pt x="3305175" y="76197"/>
                </a:cubicBezTo>
                <a:lnTo>
                  <a:pt x="3305175" y="838203"/>
                </a:lnTo>
                <a:cubicBezTo>
                  <a:pt x="3305175" y="880285"/>
                  <a:pt x="3271060" y="914400"/>
                  <a:pt x="3228978" y="914400"/>
                </a:cubicBezTo>
                <a:lnTo>
                  <a:pt x="76197" y="914400"/>
                </a:lnTo>
                <a:cubicBezTo>
                  <a:pt x="34115" y="914400"/>
                  <a:pt x="0" y="880285"/>
                  <a:pt x="0" y="838203"/>
                </a:cubicBezTo>
                <a:lnTo>
                  <a:pt x="0" y="76197"/>
                </a:lnTo>
                <a:cubicBezTo>
                  <a:pt x="0" y="34143"/>
                  <a:pt x="34143" y="0"/>
                  <a:pt x="76197" y="0"/>
                </a:cubicBezTo>
                <a:close/>
              </a:path>
            </a:pathLst>
          </a:custGeom>
          <a:solidFill>
            <a:srgbClr val="0F172A"/>
          </a:solidFill>
          <a:ln/>
        </p:spPr>
      </p:sp>
      <p:sp>
        <p:nvSpPr>
          <p:cNvPr id="55" name="Text 53"/>
          <p:cNvSpPr/>
          <p:nvPr/>
        </p:nvSpPr>
        <p:spPr>
          <a:xfrm>
            <a:off x="8416826" y="4229100"/>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Giao tiếp mạng</a:t>
            </a:r>
            <a:endParaRPr lang="en-US" sz="1600" dirty="0"/>
          </a:p>
        </p:txBody>
      </p:sp>
      <p:sp>
        <p:nvSpPr>
          <p:cNvPr id="56" name="Text 54"/>
          <p:cNvSpPr/>
          <p:nvPr/>
        </p:nvSpPr>
        <p:spPr>
          <a:xfrm>
            <a:off x="8416826" y="4533900"/>
            <a:ext cx="31432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HTTPS kết nối từ Client đến Cloud AI (OpenAI-Compatible API)</a:t>
            </a:r>
            <a:endParaRPr lang="en-US" sz="1600" dirty="0"/>
          </a:p>
        </p:txBody>
      </p:sp>
      <p:sp>
        <p:nvSpPr>
          <p:cNvPr id="57" name="Shape 55"/>
          <p:cNvSpPr/>
          <p:nvPr/>
        </p:nvSpPr>
        <p:spPr>
          <a:xfrm>
            <a:off x="8302526" y="56673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58" name="Shape 56"/>
          <p:cNvSpPr/>
          <p:nvPr/>
        </p:nvSpPr>
        <p:spPr>
          <a:xfrm>
            <a:off x="8427541" y="5819775"/>
            <a:ext cx="150019" cy="133350"/>
          </a:xfrm>
          <a:custGeom>
            <a:avLst/>
            <a:gdLst/>
            <a:ahLst/>
            <a:cxnLst/>
            <a:rect l="l" t="t" r="r" b="b"/>
            <a:pathLst>
              <a:path w="150019" h="133350">
                <a:moveTo>
                  <a:pt x="64591" y="22920"/>
                </a:moveTo>
                <a:lnTo>
                  <a:pt x="85427" y="22920"/>
                </a:lnTo>
                <a:lnTo>
                  <a:pt x="85427" y="35421"/>
                </a:lnTo>
                <a:lnTo>
                  <a:pt x="64591" y="35421"/>
                </a:lnTo>
                <a:lnTo>
                  <a:pt x="64591" y="22920"/>
                </a:lnTo>
                <a:close/>
                <a:moveTo>
                  <a:pt x="62508" y="8334"/>
                </a:moveTo>
                <a:cubicBezTo>
                  <a:pt x="55606" y="8334"/>
                  <a:pt x="50006" y="13934"/>
                  <a:pt x="50006" y="20836"/>
                </a:cubicBezTo>
                <a:lnTo>
                  <a:pt x="50006" y="37505"/>
                </a:lnTo>
                <a:cubicBezTo>
                  <a:pt x="50006" y="44407"/>
                  <a:pt x="55606" y="50006"/>
                  <a:pt x="62508" y="50006"/>
                </a:cubicBezTo>
                <a:lnTo>
                  <a:pt x="66675" y="50006"/>
                </a:lnTo>
                <a:lnTo>
                  <a:pt x="66675" y="58341"/>
                </a:lnTo>
                <a:lnTo>
                  <a:pt x="8334" y="58341"/>
                </a:lnTo>
                <a:cubicBezTo>
                  <a:pt x="3724" y="58341"/>
                  <a:pt x="0" y="62065"/>
                  <a:pt x="0" y="66675"/>
                </a:cubicBezTo>
                <a:cubicBezTo>
                  <a:pt x="0" y="71285"/>
                  <a:pt x="3724" y="75009"/>
                  <a:pt x="8334" y="75009"/>
                </a:cubicBezTo>
                <a:lnTo>
                  <a:pt x="33337" y="75009"/>
                </a:lnTo>
                <a:lnTo>
                  <a:pt x="33337" y="83344"/>
                </a:lnTo>
                <a:lnTo>
                  <a:pt x="29170" y="83344"/>
                </a:lnTo>
                <a:cubicBezTo>
                  <a:pt x="22268" y="83344"/>
                  <a:pt x="16669" y="88943"/>
                  <a:pt x="16669" y="95845"/>
                </a:cubicBezTo>
                <a:lnTo>
                  <a:pt x="16669" y="112514"/>
                </a:lnTo>
                <a:cubicBezTo>
                  <a:pt x="16669" y="119416"/>
                  <a:pt x="22268" y="125016"/>
                  <a:pt x="29170" y="125016"/>
                </a:cubicBezTo>
                <a:lnTo>
                  <a:pt x="54173" y="125016"/>
                </a:lnTo>
                <a:cubicBezTo>
                  <a:pt x="61075" y="125016"/>
                  <a:pt x="66675" y="119416"/>
                  <a:pt x="66675" y="112514"/>
                </a:cubicBezTo>
                <a:lnTo>
                  <a:pt x="66675" y="95845"/>
                </a:lnTo>
                <a:cubicBezTo>
                  <a:pt x="66675" y="88943"/>
                  <a:pt x="61075" y="83344"/>
                  <a:pt x="54173" y="83344"/>
                </a:cubicBezTo>
                <a:lnTo>
                  <a:pt x="50006" y="83344"/>
                </a:lnTo>
                <a:lnTo>
                  <a:pt x="50006" y="75009"/>
                </a:lnTo>
                <a:lnTo>
                  <a:pt x="100013" y="75009"/>
                </a:lnTo>
                <a:lnTo>
                  <a:pt x="100013" y="83344"/>
                </a:lnTo>
                <a:lnTo>
                  <a:pt x="95845" y="83344"/>
                </a:lnTo>
                <a:cubicBezTo>
                  <a:pt x="88943" y="83344"/>
                  <a:pt x="83344" y="88943"/>
                  <a:pt x="83344" y="95845"/>
                </a:cubicBezTo>
                <a:lnTo>
                  <a:pt x="83344" y="112514"/>
                </a:lnTo>
                <a:cubicBezTo>
                  <a:pt x="83344" y="119416"/>
                  <a:pt x="88943" y="125016"/>
                  <a:pt x="95845" y="125016"/>
                </a:cubicBezTo>
                <a:lnTo>
                  <a:pt x="120848" y="125016"/>
                </a:lnTo>
                <a:cubicBezTo>
                  <a:pt x="127750" y="125016"/>
                  <a:pt x="133350" y="119416"/>
                  <a:pt x="133350" y="112514"/>
                </a:cubicBezTo>
                <a:lnTo>
                  <a:pt x="133350" y="95845"/>
                </a:lnTo>
                <a:cubicBezTo>
                  <a:pt x="133350" y="88943"/>
                  <a:pt x="127750" y="83344"/>
                  <a:pt x="120848" y="83344"/>
                </a:cubicBezTo>
                <a:lnTo>
                  <a:pt x="116681" y="83344"/>
                </a:lnTo>
                <a:lnTo>
                  <a:pt x="116681" y="75009"/>
                </a:lnTo>
                <a:lnTo>
                  <a:pt x="141684" y="75009"/>
                </a:lnTo>
                <a:cubicBezTo>
                  <a:pt x="146294" y="75009"/>
                  <a:pt x="150019" y="71285"/>
                  <a:pt x="150019" y="66675"/>
                </a:cubicBezTo>
                <a:cubicBezTo>
                  <a:pt x="150019" y="62065"/>
                  <a:pt x="146294" y="58341"/>
                  <a:pt x="141684" y="58341"/>
                </a:cubicBezTo>
                <a:lnTo>
                  <a:pt x="83344" y="58341"/>
                </a:lnTo>
                <a:lnTo>
                  <a:pt x="83344" y="50006"/>
                </a:lnTo>
                <a:lnTo>
                  <a:pt x="87511" y="50006"/>
                </a:lnTo>
                <a:cubicBezTo>
                  <a:pt x="94413" y="50006"/>
                  <a:pt x="100013" y="44407"/>
                  <a:pt x="100013" y="37505"/>
                </a:cubicBezTo>
                <a:lnTo>
                  <a:pt x="100013" y="20836"/>
                </a:lnTo>
                <a:cubicBezTo>
                  <a:pt x="100013" y="13934"/>
                  <a:pt x="94413" y="8334"/>
                  <a:pt x="87511" y="8334"/>
                </a:cubicBezTo>
                <a:lnTo>
                  <a:pt x="62508" y="8334"/>
                </a:lnTo>
                <a:close/>
                <a:moveTo>
                  <a:pt x="116681" y="97929"/>
                </a:moveTo>
                <a:lnTo>
                  <a:pt x="118765" y="97929"/>
                </a:lnTo>
                <a:lnTo>
                  <a:pt x="118765" y="110430"/>
                </a:lnTo>
                <a:lnTo>
                  <a:pt x="97929" y="110430"/>
                </a:lnTo>
                <a:lnTo>
                  <a:pt x="97929" y="97929"/>
                </a:lnTo>
                <a:lnTo>
                  <a:pt x="116681" y="97929"/>
                </a:lnTo>
                <a:close/>
                <a:moveTo>
                  <a:pt x="50006" y="97929"/>
                </a:moveTo>
                <a:lnTo>
                  <a:pt x="52090" y="97929"/>
                </a:lnTo>
                <a:lnTo>
                  <a:pt x="52090" y="110430"/>
                </a:lnTo>
                <a:lnTo>
                  <a:pt x="31254" y="110430"/>
                </a:lnTo>
                <a:lnTo>
                  <a:pt x="31254" y="97929"/>
                </a:lnTo>
                <a:lnTo>
                  <a:pt x="50006" y="97929"/>
                </a:lnTo>
                <a:close/>
              </a:path>
            </a:pathLst>
          </a:custGeom>
          <a:solidFill>
            <a:srgbClr val="10B981"/>
          </a:solidFill>
          <a:ln/>
        </p:spPr>
      </p:sp>
      <p:sp>
        <p:nvSpPr>
          <p:cNvPr id="59" name="Text 57"/>
          <p:cNvSpPr/>
          <p:nvPr/>
        </p:nvSpPr>
        <p:spPr>
          <a:xfrm>
            <a:off x="8645426" y="5781675"/>
            <a:ext cx="2914650" cy="3810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Local Machine ↔ HTTPS/REST API ↔ Cloud AI</a:t>
            </a:r>
            <a:endParaRPr lang="en-US" sz="1600" dirty="0"/>
          </a:p>
        </p:txBody>
      </p:sp>
    </p:spTree>
  </p:cSld>
  <p:clrMapOvr>
    <a:masterClrMapping/>
  </p:clrMapOvr>
  <p:transition>
    <p:fade/>
    <p:spd val="med"/>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59E0B"/>
          </a:solidFill>
          <a:ln/>
        </p:spPr>
      </p:sp>
      <p:sp>
        <p:nvSpPr>
          <p:cNvPr id="3" name="Shape 1"/>
          <p:cNvSpPr/>
          <p:nvPr/>
        </p:nvSpPr>
        <p:spPr>
          <a:xfrm>
            <a:off x="498872" y="561975"/>
            <a:ext cx="150019" cy="171450"/>
          </a:xfrm>
          <a:custGeom>
            <a:avLst/>
            <a:gdLst/>
            <a:ahLst/>
            <a:cxnLst/>
            <a:rect l="l" t="t" r="r" b="b"/>
            <a:pathLst>
              <a:path w="150019" h="171450">
                <a:moveTo>
                  <a:pt x="96441" y="0"/>
                </a:moveTo>
                <a:lnTo>
                  <a:pt x="42863" y="0"/>
                </a:lnTo>
                <a:cubicBezTo>
                  <a:pt x="36935" y="0"/>
                  <a:pt x="32147" y="4789"/>
                  <a:pt x="32147" y="10716"/>
                </a:cubicBezTo>
                <a:cubicBezTo>
                  <a:pt x="32147" y="16643"/>
                  <a:pt x="36935" y="21431"/>
                  <a:pt x="42863" y="21431"/>
                </a:cubicBezTo>
                <a:lnTo>
                  <a:pt x="42863" y="72163"/>
                </a:lnTo>
                <a:lnTo>
                  <a:pt x="2511" y="142752"/>
                </a:lnTo>
                <a:cubicBezTo>
                  <a:pt x="871" y="145666"/>
                  <a:pt x="0" y="148914"/>
                  <a:pt x="0" y="152262"/>
                </a:cubicBezTo>
                <a:cubicBezTo>
                  <a:pt x="0" y="162878"/>
                  <a:pt x="8573" y="171450"/>
                  <a:pt x="19188" y="171450"/>
                </a:cubicBezTo>
                <a:lnTo>
                  <a:pt x="130831" y="171450"/>
                </a:lnTo>
                <a:cubicBezTo>
                  <a:pt x="141413" y="171450"/>
                  <a:pt x="150019" y="162878"/>
                  <a:pt x="150019" y="152262"/>
                </a:cubicBezTo>
                <a:cubicBezTo>
                  <a:pt x="150019" y="148914"/>
                  <a:pt x="149148" y="145632"/>
                  <a:pt x="147507" y="142752"/>
                </a:cubicBezTo>
                <a:lnTo>
                  <a:pt x="107156" y="72163"/>
                </a:lnTo>
                <a:lnTo>
                  <a:pt x="107156" y="21431"/>
                </a:lnTo>
                <a:cubicBezTo>
                  <a:pt x="113083" y="21431"/>
                  <a:pt x="117872" y="16643"/>
                  <a:pt x="117872" y="10716"/>
                </a:cubicBezTo>
                <a:cubicBezTo>
                  <a:pt x="117872" y="4789"/>
                  <a:pt x="113083" y="0"/>
                  <a:pt x="107156" y="0"/>
                </a:cubicBezTo>
                <a:lnTo>
                  <a:pt x="96441" y="0"/>
                </a:lnTo>
                <a:close/>
                <a:moveTo>
                  <a:pt x="64294" y="72163"/>
                </a:moveTo>
                <a:lnTo>
                  <a:pt x="64294" y="21431"/>
                </a:lnTo>
                <a:lnTo>
                  <a:pt x="85725" y="21431"/>
                </a:lnTo>
                <a:lnTo>
                  <a:pt x="85725" y="72163"/>
                </a:lnTo>
                <a:cubicBezTo>
                  <a:pt x="85725" y="75880"/>
                  <a:pt x="86696" y="79564"/>
                  <a:pt x="88538" y="82812"/>
                </a:cubicBezTo>
                <a:lnTo>
                  <a:pt x="102468" y="107156"/>
                </a:lnTo>
                <a:lnTo>
                  <a:pt x="47551" y="107156"/>
                </a:lnTo>
                <a:lnTo>
                  <a:pt x="61481" y="82812"/>
                </a:lnTo>
                <a:cubicBezTo>
                  <a:pt x="63323" y="79564"/>
                  <a:pt x="64294" y="75914"/>
                  <a:pt x="64294" y="72163"/>
                </a:cubicBezTo>
                <a:close/>
              </a:path>
            </a:pathLst>
          </a:custGeom>
          <a:solidFill>
            <a:srgbClr val="FFFFFF"/>
          </a:solidFill>
          <a:ln/>
        </p:spPr>
      </p:sp>
      <p:sp>
        <p:nvSpPr>
          <p:cNvPr id="4" name="Text 2"/>
          <p:cNvSpPr/>
          <p:nvPr/>
        </p:nvSpPr>
        <p:spPr>
          <a:xfrm>
            <a:off x="876300" y="381000"/>
            <a:ext cx="5153025" cy="190500"/>
          </a:xfrm>
          <a:prstGeom prst="rect">
            <a:avLst/>
          </a:prstGeom>
          <a:noFill/>
          <a:ln/>
        </p:spPr>
        <p:txBody>
          <a:bodyPr wrap="square" lIns="0" tIns="0" rIns="0" bIns="0" rtlCol="0" anchor="ctr"/>
          <a:lstStyle/>
          <a:p>
            <a:pPr>
              <a:lnSpc>
                <a:spcPct val="120000"/>
              </a:lnSpc>
            </a:pPr>
            <a:r>
              <a:rPr lang="en-US" sz="1050" b="1" spc="53" kern="0" dirty="0">
                <a:solidFill>
                  <a:srgbClr val="F59E0B"/>
                </a:solidFill>
                <a:latin typeface="MiSans" pitchFamily="34" charset="0"/>
                <a:ea typeface="MiSans" pitchFamily="34" charset="-122"/>
                <a:cs typeface="MiSans" pitchFamily="34" charset="-120"/>
              </a:rPr>
              <a:t>CHƯƠNG 15 | THỰC NGHIỆM</a:t>
            </a:r>
            <a:endParaRPr lang="en-US" sz="1600" dirty="0"/>
          </a:p>
        </p:txBody>
      </p:sp>
      <p:sp>
        <p:nvSpPr>
          <p:cNvPr id="5" name="Text 3"/>
          <p:cNvSpPr/>
          <p:nvPr/>
        </p:nvSpPr>
        <p:spPr>
          <a:xfrm>
            <a:off x="876300" y="571500"/>
            <a:ext cx="52292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Thiết kế thực nghiệm: Decorator Chain</a:t>
            </a:r>
            <a:endParaRPr lang="en-US" sz="1600" dirty="0"/>
          </a:p>
        </p:txBody>
      </p:sp>
      <p:sp>
        <p:nvSpPr>
          <p:cNvPr id="6" name="Shape 4"/>
          <p:cNvSpPr/>
          <p:nvPr/>
        </p:nvSpPr>
        <p:spPr>
          <a:xfrm>
            <a:off x="385763" y="1147763"/>
            <a:ext cx="5610225" cy="3667125"/>
          </a:xfrm>
          <a:custGeom>
            <a:avLst/>
            <a:gdLst/>
            <a:ahLst/>
            <a:cxnLst/>
            <a:rect l="l" t="t" r="r" b="b"/>
            <a:pathLst>
              <a:path w="5610225" h="3667125">
                <a:moveTo>
                  <a:pt x="114304" y="0"/>
                </a:moveTo>
                <a:lnTo>
                  <a:pt x="5495921" y="0"/>
                </a:lnTo>
                <a:cubicBezTo>
                  <a:pt x="5559049" y="0"/>
                  <a:pt x="5610225" y="51176"/>
                  <a:pt x="5610225" y="114304"/>
                </a:cubicBezTo>
                <a:lnTo>
                  <a:pt x="5610225" y="3552821"/>
                </a:lnTo>
                <a:cubicBezTo>
                  <a:pt x="5610225" y="3615949"/>
                  <a:pt x="5559049" y="3667125"/>
                  <a:pt x="5495921" y="3667125"/>
                </a:cubicBezTo>
                <a:lnTo>
                  <a:pt x="114304" y="3667125"/>
                </a:lnTo>
                <a:cubicBezTo>
                  <a:pt x="51176" y="3667125"/>
                  <a:pt x="0" y="3615949"/>
                  <a:pt x="0" y="3552821"/>
                </a:cubicBezTo>
                <a:lnTo>
                  <a:pt x="0" y="114304"/>
                </a:lnTo>
                <a:cubicBezTo>
                  <a:pt x="0" y="51176"/>
                  <a:pt x="51176" y="0"/>
                  <a:pt x="114304"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92931" y="1381125"/>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Bài toán cơ sở: FizzBuzz</a:t>
            </a:r>
            <a:endParaRPr lang="en-US" sz="1600" dirty="0"/>
          </a:p>
        </p:txBody>
      </p:sp>
      <p:sp>
        <p:nvSpPr>
          <p:cNvPr id="9" name="Shape 7"/>
          <p:cNvSpPr/>
          <p:nvPr/>
        </p:nvSpPr>
        <p:spPr>
          <a:xfrm>
            <a:off x="581025" y="1762125"/>
            <a:ext cx="5219700" cy="1028700"/>
          </a:xfrm>
          <a:custGeom>
            <a:avLst/>
            <a:gdLst/>
            <a:ahLst/>
            <a:cxnLst/>
            <a:rect l="l" t="t" r="r" b="b"/>
            <a:pathLst>
              <a:path w="5219700" h="1028700">
                <a:moveTo>
                  <a:pt x="76196" y="0"/>
                </a:moveTo>
                <a:lnTo>
                  <a:pt x="5143504" y="0"/>
                </a:lnTo>
                <a:cubicBezTo>
                  <a:pt x="5185586" y="0"/>
                  <a:pt x="5219700" y="34114"/>
                  <a:pt x="5219700" y="76196"/>
                </a:cubicBezTo>
                <a:lnTo>
                  <a:pt x="5219700" y="952504"/>
                </a:lnTo>
                <a:cubicBezTo>
                  <a:pt x="5219700" y="994586"/>
                  <a:pt x="5185586" y="1028700"/>
                  <a:pt x="5143504" y="1028700"/>
                </a:cubicBezTo>
                <a:lnTo>
                  <a:pt x="76196" y="1028700"/>
                </a:lnTo>
                <a:cubicBezTo>
                  <a:pt x="34114" y="1028700"/>
                  <a:pt x="0" y="994586"/>
                  <a:pt x="0" y="952504"/>
                </a:cubicBezTo>
                <a:lnTo>
                  <a:pt x="0" y="76196"/>
                </a:lnTo>
                <a:cubicBezTo>
                  <a:pt x="0" y="34142"/>
                  <a:pt x="34142" y="0"/>
                  <a:pt x="76196" y="0"/>
                </a:cubicBezTo>
                <a:close/>
              </a:path>
            </a:pathLst>
          </a:custGeom>
          <a:solidFill>
            <a:srgbClr val="0F172A"/>
          </a:solidFill>
          <a:ln/>
        </p:spPr>
      </p:sp>
      <p:sp>
        <p:nvSpPr>
          <p:cNvPr id="10" name="Text 8"/>
          <p:cNvSpPr/>
          <p:nvPr/>
        </p:nvSpPr>
        <p:spPr>
          <a:xfrm>
            <a:off x="69532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Hàm print_fizzbuzz(limit):</a:t>
            </a:r>
            <a:endParaRPr lang="en-US" sz="1600" dirty="0"/>
          </a:p>
        </p:txBody>
      </p:sp>
      <p:sp>
        <p:nvSpPr>
          <p:cNvPr id="11" name="Text 9"/>
          <p:cNvSpPr/>
          <p:nvPr/>
        </p:nvSpPr>
        <p:spPr>
          <a:xfrm>
            <a:off x="695325" y="2181225"/>
            <a:ext cx="505777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In các số từ 1 đến limit, thay số chia hết cho 3 bằng "Fizz", cho 5 bằng "Buzz", cho cả 3 và 5 bằng "FizzBuzz"</a:t>
            </a:r>
            <a:endParaRPr lang="en-US" sz="1600" dirty="0"/>
          </a:p>
        </p:txBody>
      </p:sp>
      <p:sp>
        <p:nvSpPr>
          <p:cNvPr id="12" name="Shape 10"/>
          <p:cNvSpPr/>
          <p:nvPr/>
        </p:nvSpPr>
        <p:spPr>
          <a:xfrm>
            <a:off x="581025" y="2905125"/>
            <a:ext cx="5219700" cy="1714500"/>
          </a:xfrm>
          <a:custGeom>
            <a:avLst/>
            <a:gdLst/>
            <a:ahLst/>
            <a:cxnLst/>
            <a:rect l="l" t="t" r="r" b="b"/>
            <a:pathLst>
              <a:path w="5219700" h="1714500">
                <a:moveTo>
                  <a:pt x="76192" y="0"/>
                </a:moveTo>
                <a:lnTo>
                  <a:pt x="5143508" y="0"/>
                </a:lnTo>
                <a:cubicBezTo>
                  <a:pt x="5185588" y="0"/>
                  <a:pt x="5219700" y="34112"/>
                  <a:pt x="5219700" y="76192"/>
                </a:cubicBezTo>
                <a:lnTo>
                  <a:pt x="5219700" y="1638308"/>
                </a:lnTo>
                <a:cubicBezTo>
                  <a:pt x="5219700" y="1680388"/>
                  <a:pt x="5185588" y="1714500"/>
                  <a:pt x="5143508" y="1714500"/>
                </a:cubicBezTo>
                <a:lnTo>
                  <a:pt x="76192" y="1714500"/>
                </a:lnTo>
                <a:cubicBezTo>
                  <a:pt x="34112" y="1714500"/>
                  <a:pt x="0" y="1680388"/>
                  <a:pt x="0" y="1638308"/>
                </a:cubicBezTo>
                <a:lnTo>
                  <a:pt x="0" y="76192"/>
                </a:lnTo>
                <a:cubicBezTo>
                  <a:pt x="0" y="34141"/>
                  <a:pt x="34141" y="0"/>
                  <a:pt x="76192" y="0"/>
                </a:cubicBezTo>
                <a:close/>
              </a:path>
            </a:pathLst>
          </a:custGeom>
          <a:solidFill>
            <a:srgbClr val="0F172A"/>
          </a:solidFill>
          <a:ln/>
        </p:spPr>
      </p:sp>
      <p:sp>
        <p:nvSpPr>
          <p:cNvPr id="13" name="Text 11"/>
          <p:cNvSpPr/>
          <p:nvPr/>
        </p:nvSpPr>
        <p:spPr>
          <a:xfrm>
            <a:off x="695325" y="3019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Chuỗi decorator phức tạp:</a:t>
            </a:r>
            <a:endParaRPr lang="en-US" sz="1600" dirty="0"/>
          </a:p>
        </p:txBody>
      </p:sp>
      <p:sp>
        <p:nvSpPr>
          <p:cNvPr id="14" name="Shape 12"/>
          <p:cNvSpPr/>
          <p:nvPr/>
        </p:nvSpPr>
        <p:spPr>
          <a:xfrm>
            <a:off x="695325" y="3324225"/>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EF4444"/>
          </a:solidFill>
          <a:ln/>
        </p:spPr>
      </p:sp>
      <p:sp>
        <p:nvSpPr>
          <p:cNvPr id="15" name="Text 13"/>
          <p:cNvSpPr/>
          <p:nvPr/>
        </p:nvSpPr>
        <p:spPr>
          <a:xfrm>
            <a:off x="666750" y="3324225"/>
            <a:ext cx="285750" cy="228600"/>
          </a:xfrm>
          <a:prstGeom prst="rect">
            <a:avLst/>
          </a:prstGeom>
          <a:noFill/>
          <a:ln/>
        </p:spPr>
        <p:txBody>
          <a:bodyPr wrap="square" lIns="0" tIns="0" rIns="0" bIns="0" rtlCol="0" anchor="ctr"/>
          <a:lstStyle/>
          <a:p>
            <a:pPr algn="ctr">
              <a:lnSpc>
                <a:spcPct val="110000"/>
              </a:lnSpc>
            </a:pPr>
            <a:r>
              <a:rPr lang="en-US" sz="900" b="1" dirty="0">
                <a:solidFill>
                  <a:srgbClr val="FFFFFF"/>
                </a:solidFill>
                <a:latin typeface="MiSans" pitchFamily="34" charset="0"/>
                <a:ea typeface="MiSans" pitchFamily="34" charset="-122"/>
                <a:cs typeface="MiSans" pitchFamily="34" charset="-120"/>
              </a:rPr>
              <a:t>1</a:t>
            </a:r>
            <a:endParaRPr lang="en-US" sz="1600" dirty="0"/>
          </a:p>
        </p:txBody>
      </p:sp>
      <p:sp>
        <p:nvSpPr>
          <p:cNvPr id="16" name="Text 14"/>
          <p:cNvSpPr/>
          <p:nvPr/>
        </p:nvSpPr>
        <p:spPr>
          <a:xfrm>
            <a:off x="1000125" y="3324225"/>
            <a:ext cx="2038350"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@validate_args_types_and_limits</a:t>
            </a:r>
            <a:endParaRPr lang="en-US" sz="1600" dirty="0"/>
          </a:p>
        </p:txBody>
      </p:sp>
      <p:sp>
        <p:nvSpPr>
          <p:cNvPr id="17" name="Text 15"/>
          <p:cNvSpPr/>
          <p:nvPr/>
        </p:nvSpPr>
        <p:spPr>
          <a:xfrm>
            <a:off x="1000125" y="3514725"/>
            <a:ext cx="2028825"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Kiểm tra giới hạn biên và kiểu dữ liệu</a:t>
            </a:r>
            <a:endParaRPr lang="en-US" sz="1600" dirty="0"/>
          </a:p>
        </p:txBody>
      </p:sp>
      <p:sp>
        <p:nvSpPr>
          <p:cNvPr id="18" name="Shape 16"/>
          <p:cNvSpPr/>
          <p:nvPr/>
        </p:nvSpPr>
        <p:spPr>
          <a:xfrm>
            <a:off x="695325" y="3743325"/>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F59E0B"/>
          </a:solidFill>
          <a:ln/>
        </p:spPr>
      </p:sp>
      <p:sp>
        <p:nvSpPr>
          <p:cNvPr id="19" name="Text 17"/>
          <p:cNvSpPr/>
          <p:nvPr/>
        </p:nvSpPr>
        <p:spPr>
          <a:xfrm>
            <a:off x="666750" y="3743325"/>
            <a:ext cx="285750" cy="228600"/>
          </a:xfrm>
          <a:prstGeom prst="rect">
            <a:avLst/>
          </a:prstGeom>
          <a:noFill/>
          <a:ln/>
        </p:spPr>
        <p:txBody>
          <a:bodyPr wrap="square" lIns="0" tIns="0" rIns="0" bIns="0" rtlCol="0" anchor="ctr"/>
          <a:lstStyle/>
          <a:p>
            <a:pPr algn="ctr">
              <a:lnSpc>
                <a:spcPct val="110000"/>
              </a:lnSpc>
            </a:pPr>
            <a:r>
              <a:rPr lang="en-US" sz="900" b="1" dirty="0">
                <a:solidFill>
                  <a:srgbClr val="FFFFFF"/>
                </a:solidFill>
                <a:latin typeface="MiSans" pitchFamily="34" charset="0"/>
                <a:ea typeface="MiSans" pitchFamily="34" charset="-122"/>
                <a:cs typeface="MiSans" pitchFamily="34" charset="-120"/>
              </a:rPr>
              <a:t>2</a:t>
            </a:r>
            <a:endParaRPr lang="en-US" sz="1600" dirty="0"/>
          </a:p>
        </p:txBody>
      </p:sp>
      <p:sp>
        <p:nvSpPr>
          <p:cNvPr id="20" name="Text 18"/>
          <p:cNvSpPr/>
          <p:nvPr/>
        </p:nvSpPr>
        <p:spPr>
          <a:xfrm>
            <a:off x="1000125" y="3743325"/>
            <a:ext cx="2152650"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@increment_counter</a:t>
            </a:r>
            <a:endParaRPr lang="en-US" sz="1600" dirty="0"/>
          </a:p>
        </p:txBody>
      </p:sp>
      <p:sp>
        <p:nvSpPr>
          <p:cNvPr id="21" name="Text 19"/>
          <p:cNvSpPr/>
          <p:nvPr/>
        </p:nvSpPr>
        <p:spPr>
          <a:xfrm>
            <a:off x="1000125" y="3933825"/>
            <a:ext cx="2143125"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Tăng biến đếm số lần gọi hàm hệ thống</a:t>
            </a:r>
            <a:endParaRPr lang="en-US" sz="1600" dirty="0"/>
          </a:p>
        </p:txBody>
      </p:sp>
      <p:sp>
        <p:nvSpPr>
          <p:cNvPr id="22" name="Shape 20"/>
          <p:cNvSpPr/>
          <p:nvPr/>
        </p:nvSpPr>
        <p:spPr>
          <a:xfrm>
            <a:off x="695325" y="4162425"/>
            <a:ext cx="228600" cy="228600"/>
          </a:xfrm>
          <a:custGeom>
            <a:avLst/>
            <a:gdLst/>
            <a:ahLst/>
            <a:cxnLst/>
            <a:rect l="l" t="t" r="r" b="b"/>
            <a:pathLst>
              <a:path w="228600" h="228600">
                <a:moveTo>
                  <a:pt x="114300" y="0"/>
                </a:moveTo>
                <a:lnTo>
                  <a:pt x="114300" y="0"/>
                </a:lnTo>
                <a:cubicBezTo>
                  <a:pt x="177384" y="0"/>
                  <a:pt x="228600" y="51216"/>
                  <a:pt x="228600" y="114300"/>
                </a:cubicBezTo>
                <a:lnTo>
                  <a:pt x="228600" y="114300"/>
                </a:lnTo>
                <a:cubicBezTo>
                  <a:pt x="228600" y="177384"/>
                  <a:pt x="177384" y="228600"/>
                  <a:pt x="114300" y="228600"/>
                </a:cubicBezTo>
                <a:lnTo>
                  <a:pt x="114300" y="228600"/>
                </a:lnTo>
                <a:cubicBezTo>
                  <a:pt x="51216" y="228600"/>
                  <a:pt x="0" y="177384"/>
                  <a:pt x="0" y="114300"/>
                </a:cubicBezTo>
                <a:lnTo>
                  <a:pt x="0" y="114300"/>
                </a:lnTo>
                <a:cubicBezTo>
                  <a:pt x="0" y="51216"/>
                  <a:pt x="51216" y="0"/>
                  <a:pt x="114300" y="0"/>
                </a:cubicBezTo>
                <a:close/>
              </a:path>
            </a:pathLst>
          </a:custGeom>
          <a:solidFill>
            <a:srgbClr val="10B981"/>
          </a:solidFill>
          <a:ln/>
        </p:spPr>
      </p:sp>
      <p:sp>
        <p:nvSpPr>
          <p:cNvPr id="23" name="Text 21"/>
          <p:cNvSpPr/>
          <p:nvPr/>
        </p:nvSpPr>
        <p:spPr>
          <a:xfrm>
            <a:off x="666750" y="4162425"/>
            <a:ext cx="285750" cy="228600"/>
          </a:xfrm>
          <a:prstGeom prst="rect">
            <a:avLst/>
          </a:prstGeom>
          <a:noFill/>
          <a:ln/>
        </p:spPr>
        <p:txBody>
          <a:bodyPr wrap="square" lIns="0" tIns="0" rIns="0" bIns="0" rtlCol="0" anchor="ctr"/>
          <a:lstStyle/>
          <a:p>
            <a:pPr algn="ctr">
              <a:lnSpc>
                <a:spcPct val="110000"/>
              </a:lnSpc>
            </a:pPr>
            <a:r>
              <a:rPr lang="en-US" sz="900" b="1" dirty="0">
                <a:solidFill>
                  <a:srgbClr val="FFFFFF"/>
                </a:solidFill>
                <a:latin typeface="MiSans" pitchFamily="34" charset="0"/>
                <a:ea typeface="MiSans" pitchFamily="34" charset="-122"/>
                <a:cs typeface="MiSans" pitchFamily="34" charset="-120"/>
              </a:rPr>
              <a:t>3</a:t>
            </a:r>
            <a:endParaRPr lang="en-US" sz="1600" dirty="0"/>
          </a:p>
        </p:txBody>
      </p:sp>
      <p:sp>
        <p:nvSpPr>
          <p:cNvPr id="24" name="Text 22"/>
          <p:cNvSpPr/>
          <p:nvPr/>
        </p:nvSpPr>
        <p:spPr>
          <a:xfrm>
            <a:off x="1000125" y="4162425"/>
            <a:ext cx="1571625" cy="190500"/>
          </a:xfrm>
          <a:prstGeom prst="rect">
            <a:avLst/>
          </a:prstGeom>
          <a:noFill/>
          <a:ln/>
        </p:spPr>
        <p:txBody>
          <a:bodyPr wrap="square" lIns="0" tIns="0" rIns="0" bIns="0" rtlCol="0" anchor="ctr"/>
          <a:lstStyle/>
          <a:p>
            <a:pPr>
              <a:lnSpc>
                <a:spcPct val="120000"/>
              </a:lnSpc>
            </a:pPr>
            <a:r>
              <a:rPr lang="en-US" sz="1050" b="1" dirty="0">
                <a:solidFill>
                  <a:srgbClr val="F1F5F9"/>
                </a:solidFill>
                <a:latin typeface="MiSans" pitchFamily="34" charset="0"/>
                <a:ea typeface="MiSans" pitchFamily="34" charset="-122"/>
                <a:cs typeface="MiSans" pitchFamily="34" charset="-120"/>
              </a:rPr>
              <a:t>@log_function_args</a:t>
            </a:r>
            <a:endParaRPr lang="en-US" sz="1600" dirty="0"/>
          </a:p>
        </p:txBody>
      </p:sp>
      <p:sp>
        <p:nvSpPr>
          <p:cNvPr id="25" name="Text 23"/>
          <p:cNvSpPr/>
          <p:nvPr/>
        </p:nvSpPr>
        <p:spPr>
          <a:xfrm>
            <a:off x="1000125" y="4352925"/>
            <a:ext cx="15621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Ghi nhận tham số truyền vào</a:t>
            </a:r>
            <a:endParaRPr lang="en-US" sz="1600" dirty="0"/>
          </a:p>
        </p:txBody>
      </p:sp>
      <p:sp>
        <p:nvSpPr>
          <p:cNvPr id="26" name="Shape 24"/>
          <p:cNvSpPr/>
          <p:nvPr/>
        </p:nvSpPr>
        <p:spPr>
          <a:xfrm>
            <a:off x="385763" y="4976813"/>
            <a:ext cx="5610225" cy="542925"/>
          </a:xfrm>
          <a:custGeom>
            <a:avLst/>
            <a:gdLst/>
            <a:ahLst/>
            <a:cxnLst/>
            <a:rect l="l" t="t" r="r" b="b"/>
            <a:pathLst>
              <a:path w="5610225" h="542925">
                <a:moveTo>
                  <a:pt x="114302" y="0"/>
                </a:moveTo>
                <a:lnTo>
                  <a:pt x="5495923" y="0"/>
                </a:lnTo>
                <a:cubicBezTo>
                  <a:pt x="5559050" y="0"/>
                  <a:pt x="5610225" y="51175"/>
                  <a:pt x="5610225" y="114302"/>
                </a:cubicBezTo>
                <a:lnTo>
                  <a:pt x="5610225" y="428623"/>
                </a:lnTo>
                <a:cubicBezTo>
                  <a:pt x="5610225" y="491750"/>
                  <a:pt x="5559050" y="542925"/>
                  <a:pt x="5495923" y="542925"/>
                </a:cubicBezTo>
                <a:lnTo>
                  <a:pt x="114302" y="542925"/>
                </a:lnTo>
                <a:cubicBezTo>
                  <a:pt x="51175" y="542925"/>
                  <a:pt x="0" y="491750"/>
                  <a:pt x="0" y="428623"/>
                </a:cubicBezTo>
                <a:lnTo>
                  <a:pt x="0" y="114302"/>
                </a:lnTo>
                <a:cubicBezTo>
                  <a:pt x="0" y="51175"/>
                  <a:pt x="51175" y="0"/>
                  <a:pt x="114302" y="0"/>
                </a:cubicBezTo>
                <a:close/>
              </a:path>
            </a:pathLst>
          </a:custGeom>
          <a:solidFill>
            <a:srgbClr val="0F172A"/>
          </a:solidFill>
          <a:ln w="12700">
            <a:solidFill>
              <a:srgbClr val="EF4444">
                <a:alpha val="30196"/>
              </a:srgbClr>
            </a:solidFill>
            <a:prstDash val="solid"/>
          </a:ln>
        </p:spPr>
      </p:sp>
      <p:sp>
        <p:nvSpPr>
          <p:cNvPr id="27" name="Shape 25"/>
          <p:cNvSpPr/>
          <p:nvPr/>
        </p:nvSpPr>
        <p:spPr>
          <a:xfrm>
            <a:off x="561975" y="5181600"/>
            <a:ext cx="152400" cy="152400"/>
          </a:xfrm>
          <a:custGeom>
            <a:avLst/>
            <a:gdLst/>
            <a:ahLst/>
            <a:cxnLst/>
            <a:rect l="l" t="t" r="r" b="b"/>
            <a:pathLst>
              <a:path w="152400" h="152400">
                <a:moveTo>
                  <a:pt x="76200" y="0"/>
                </a:moveTo>
                <a:cubicBezTo>
                  <a:pt x="80576" y="0"/>
                  <a:pt x="84594" y="2411"/>
                  <a:pt x="86678" y="6251"/>
                </a:cubicBezTo>
                <a:lnTo>
                  <a:pt x="150971" y="125313"/>
                </a:lnTo>
                <a:cubicBezTo>
                  <a:pt x="152966" y="129004"/>
                  <a:pt x="152876" y="133469"/>
                  <a:pt x="150733" y="137071"/>
                </a:cubicBezTo>
                <a:cubicBezTo>
                  <a:pt x="148590" y="140672"/>
                  <a:pt x="144691" y="142875"/>
                  <a:pt x="140494" y="142875"/>
                </a:cubicBezTo>
                <a:lnTo>
                  <a:pt x="11906" y="142875"/>
                </a:lnTo>
                <a:cubicBezTo>
                  <a:pt x="7709" y="142875"/>
                  <a:pt x="3840" y="140672"/>
                  <a:pt x="1667" y="137071"/>
                </a:cubicBezTo>
                <a:cubicBezTo>
                  <a:pt x="-506" y="133469"/>
                  <a:pt x="-566" y="129004"/>
                  <a:pt x="1429" y="125313"/>
                </a:cubicBezTo>
                <a:lnTo>
                  <a:pt x="65723" y="6251"/>
                </a:lnTo>
                <a:cubicBezTo>
                  <a:pt x="67806" y="2411"/>
                  <a:pt x="71824" y="0"/>
                  <a:pt x="76200" y="0"/>
                </a:cubicBezTo>
                <a:close/>
                <a:moveTo>
                  <a:pt x="76200" y="50006"/>
                </a:moveTo>
                <a:cubicBezTo>
                  <a:pt x="72241" y="50006"/>
                  <a:pt x="69056" y="53191"/>
                  <a:pt x="69056" y="57150"/>
                </a:cubicBezTo>
                <a:lnTo>
                  <a:pt x="69056" y="90488"/>
                </a:lnTo>
                <a:cubicBezTo>
                  <a:pt x="69056" y="94446"/>
                  <a:pt x="72241" y="97631"/>
                  <a:pt x="76200" y="97631"/>
                </a:cubicBezTo>
                <a:cubicBezTo>
                  <a:pt x="80159" y="97631"/>
                  <a:pt x="83344" y="94446"/>
                  <a:pt x="83344" y="90488"/>
                </a:cubicBezTo>
                <a:lnTo>
                  <a:pt x="83344" y="57150"/>
                </a:lnTo>
                <a:cubicBezTo>
                  <a:pt x="83344" y="53191"/>
                  <a:pt x="80159" y="50006"/>
                  <a:pt x="76200" y="50006"/>
                </a:cubicBezTo>
                <a:close/>
                <a:moveTo>
                  <a:pt x="84147" y="114300"/>
                </a:moveTo>
                <a:cubicBezTo>
                  <a:pt x="84328" y="111350"/>
                  <a:pt x="82857" y="108543"/>
                  <a:pt x="80328" y="107014"/>
                </a:cubicBezTo>
                <a:cubicBezTo>
                  <a:pt x="77799" y="105484"/>
                  <a:pt x="74630" y="105484"/>
                  <a:pt x="72102" y="107014"/>
                </a:cubicBezTo>
                <a:cubicBezTo>
                  <a:pt x="69573" y="108543"/>
                  <a:pt x="68102" y="111350"/>
                  <a:pt x="68282" y="114300"/>
                </a:cubicBezTo>
                <a:cubicBezTo>
                  <a:pt x="68102" y="117250"/>
                  <a:pt x="69573" y="120057"/>
                  <a:pt x="72102" y="121586"/>
                </a:cubicBezTo>
                <a:cubicBezTo>
                  <a:pt x="74630" y="123116"/>
                  <a:pt x="77799" y="123116"/>
                  <a:pt x="80328" y="121586"/>
                </a:cubicBezTo>
                <a:cubicBezTo>
                  <a:pt x="82857" y="120057"/>
                  <a:pt x="84328" y="117250"/>
                  <a:pt x="84147" y="114300"/>
                </a:cubicBezTo>
                <a:close/>
              </a:path>
            </a:pathLst>
          </a:custGeom>
          <a:solidFill>
            <a:srgbClr val="EF4444"/>
          </a:solidFill>
          <a:ln/>
        </p:spPr>
      </p:sp>
      <p:sp>
        <p:nvSpPr>
          <p:cNvPr id="28" name="Text 26"/>
          <p:cNvSpPr/>
          <p:nvPr/>
        </p:nvSpPr>
        <p:spPr>
          <a:xfrm>
            <a:off x="790575" y="5133975"/>
            <a:ext cx="5124450" cy="2286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Thứ tự thực thi:</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Từ dưới lên trên (validate → increment → log)</a:t>
            </a:r>
            <a:endParaRPr lang="en-US" sz="1600" dirty="0"/>
          </a:p>
        </p:txBody>
      </p:sp>
      <p:sp>
        <p:nvSpPr>
          <p:cNvPr id="29" name="Shape 27"/>
          <p:cNvSpPr/>
          <p:nvPr/>
        </p:nvSpPr>
        <p:spPr>
          <a:xfrm>
            <a:off x="6196013" y="1147763"/>
            <a:ext cx="5610225" cy="4267200"/>
          </a:xfrm>
          <a:custGeom>
            <a:avLst/>
            <a:gdLst/>
            <a:ahLst/>
            <a:cxnLst/>
            <a:rect l="l" t="t" r="r" b="b"/>
            <a:pathLst>
              <a:path w="5610225" h="4267200">
                <a:moveTo>
                  <a:pt x="114318" y="0"/>
                </a:moveTo>
                <a:lnTo>
                  <a:pt x="5495907" y="0"/>
                </a:lnTo>
                <a:cubicBezTo>
                  <a:pt x="5559043" y="0"/>
                  <a:pt x="5610225" y="51182"/>
                  <a:pt x="5610225" y="114318"/>
                </a:cubicBezTo>
                <a:lnTo>
                  <a:pt x="5610225" y="4152882"/>
                </a:lnTo>
                <a:cubicBezTo>
                  <a:pt x="5610225" y="4216018"/>
                  <a:pt x="5559043" y="4267200"/>
                  <a:pt x="5495907" y="4267200"/>
                </a:cubicBezTo>
                <a:lnTo>
                  <a:pt x="114318" y="4267200"/>
                </a:lnTo>
                <a:cubicBezTo>
                  <a:pt x="51182" y="4267200"/>
                  <a:pt x="0" y="4216018"/>
                  <a:pt x="0" y="4152882"/>
                </a:cubicBezTo>
                <a:lnTo>
                  <a:pt x="0" y="114318"/>
                </a:lnTo>
                <a:cubicBezTo>
                  <a:pt x="0" y="51224"/>
                  <a:pt x="51224" y="0"/>
                  <a:pt x="11431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0" name="Shape 28"/>
          <p:cNvSpPr/>
          <p:nvPr/>
        </p:nvSpPr>
        <p:spPr>
          <a:xfrm>
            <a:off x="6415088" y="138112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10B981"/>
          </a:solidFill>
          <a:ln/>
        </p:spPr>
      </p:sp>
      <p:sp>
        <p:nvSpPr>
          <p:cNvPr id="31" name="Text 29"/>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Yêu cầu kỹ thuật</a:t>
            </a:r>
            <a:endParaRPr lang="en-US" sz="1600" dirty="0"/>
          </a:p>
        </p:txBody>
      </p:sp>
      <p:sp>
        <p:nvSpPr>
          <p:cNvPr id="32" name="Shape 30"/>
          <p:cNvSpPr/>
          <p:nvPr/>
        </p:nvSpPr>
        <p:spPr>
          <a:xfrm>
            <a:off x="6396038" y="1766888"/>
            <a:ext cx="5210175" cy="2076450"/>
          </a:xfrm>
          <a:custGeom>
            <a:avLst/>
            <a:gdLst/>
            <a:ahLst/>
            <a:cxnLst/>
            <a:rect l="l" t="t" r="r" b="b"/>
            <a:pathLst>
              <a:path w="5210175" h="2076450">
                <a:moveTo>
                  <a:pt x="76206" y="0"/>
                </a:moveTo>
                <a:lnTo>
                  <a:pt x="5133969" y="0"/>
                </a:lnTo>
                <a:cubicBezTo>
                  <a:pt x="5176028" y="0"/>
                  <a:pt x="5210175" y="34147"/>
                  <a:pt x="5210175" y="76206"/>
                </a:cubicBezTo>
                <a:lnTo>
                  <a:pt x="5210175" y="2000244"/>
                </a:lnTo>
                <a:cubicBezTo>
                  <a:pt x="5210175" y="2042332"/>
                  <a:pt x="5176057" y="2076450"/>
                  <a:pt x="5133969" y="2076450"/>
                </a:cubicBezTo>
                <a:lnTo>
                  <a:pt x="76206" y="2076450"/>
                </a:lnTo>
                <a:cubicBezTo>
                  <a:pt x="34118" y="2076450"/>
                  <a:pt x="0" y="2042332"/>
                  <a:pt x="0" y="2000244"/>
                </a:cubicBezTo>
                <a:lnTo>
                  <a:pt x="0" y="76206"/>
                </a:lnTo>
                <a:cubicBezTo>
                  <a:pt x="0" y="34147"/>
                  <a:pt x="34147" y="0"/>
                  <a:pt x="76206" y="0"/>
                </a:cubicBezTo>
                <a:close/>
              </a:path>
            </a:pathLst>
          </a:custGeom>
          <a:solidFill>
            <a:srgbClr val="0F172A"/>
          </a:solidFill>
          <a:ln w="12700">
            <a:solidFill>
              <a:srgbClr val="10B981">
                <a:alpha val="30196"/>
              </a:srgbClr>
            </a:solidFill>
            <a:prstDash val="solid"/>
          </a:ln>
        </p:spPr>
      </p:sp>
      <p:sp>
        <p:nvSpPr>
          <p:cNvPr id="33" name="Text 31"/>
          <p:cNvSpPr/>
          <p:nvPr/>
        </p:nvSpPr>
        <p:spPr>
          <a:xfrm>
            <a:off x="6515100" y="1885950"/>
            <a:ext cx="504825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Bắt buộc phải có:</a:t>
            </a:r>
            <a:endParaRPr lang="en-US" sz="1600" dirty="0"/>
          </a:p>
        </p:txBody>
      </p:sp>
      <p:sp>
        <p:nvSpPr>
          <p:cNvPr id="34" name="Shape 32"/>
          <p:cNvSpPr/>
          <p:nvPr/>
        </p:nvSpPr>
        <p:spPr>
          <a:xfrm>
            <a:off x="6515100" y="2190750"/>
            <a:ext cx="4972050" cy="1533525"/>
          </a:xfrm>
          <a:custGeom>
            <a:avLst/>
            <a:gdLst/>
            <a:ahLst/>
            <a:cxnLst/>
            <a:rect l="l" t="t" r="r" b="b"/>
            <a:pathLst>
              <a:path w="4972050" h="1533525">
                <a:moveTo>
                  <a:pt x="76201" y="0"/>
                </a:moveTo>
                <a:lnTo>
                  <a:pt x="4895849" y="0"/>
                </a:lnTo>
                <a:cubicBezTo>
                  <a:pt x="4937906" y="0"/>
                  <a:pt x="4972050" y="34144"/>
                  <a:pt x="4972050" y="76201"/>
                </a:cubicBezTo>
                <a:lnTo>
                  <a:pt x="4972050" y="1457324"/>
                </a:lnTo>
                <a:cubicBezTo>
                  <a:pt x="4972050" y="1499381"/>
                  <a:pt x="4937906" y="1533525"/>
                  <a:pt x="4895849" y="1533525"/>
                </a:cubicBezTo>
                <a:lnTo>
                  <a:pt x="76201" y="1533525"/>
                </a:lnTo>
                <a:cubicBezTo>
                  <a:pt x="34144" y="1533525"/>
                  <a:pt x="0" y="1499381"/>
                  <a:pt x="0" y="1457324"/>
                </a:cubicBezTo>
                <a:lnTo>
                  <a:pt x="0" y="76201"/>
                </a:lnTo>
                <a:cubicBezTo>
                  <a:pt x="0" y="34144"/>
                  <a:pt x="34144" y="0"/>
                  <a:pt x="76201" y="0"/>
                </a:cubicBezTo>
                <a:close/>
              </a:path>
            </a:pathLst>
          </a:custGeom>
          <a:solidFill>
            <a:srgbClr val="1E293B"/>
          </a:solidFill>
          <a:ln/>
        </p:spPr>
      </p:sp>
      <p:sp>
        <p:nvSpPr>
          <p:cNvPr id="35" name="Text 33"/>
          <p:cNvSpPr/>
          <p:nvPr/>
        </p:nvSpPr>
        <p:spPr>
          <a:xfrm>
            <a:off x="6515100" y="2190750"/>
            <a:ext cx="5033963" cy="1533525"/>
          </a:xfrm>
          <a:prstGeom prst="rect">
            <a:avLst/>
          </a:prstGeom>
          <a:noFill/>
          <a:ln/>
        </p:spPr>
        <p:txBody>
          <a:bodyPr wrap="square" lIns="114300" tIns="114300" rIns="114300" bIns="114300" rtlCol="0" anchor="ctr"/>
          <a:lstStyle/>
          <a:p>
            <a:pPr>
              <a:lnSpc>
                <a:spcPct val="130000"/>
              </a:lnSpc>
            </a:pPr>
            <a:r>
              <a:rPr lang="en-US" sz="975" dirty="0">
                <a:solidFill>
                  <a:srgbClr val="8B5CF6"/>
                </a:solidFill>
                <a:latin typeface="MiSans" pitchFamily="34" charset="0"/>
                <a:ea typeface="MiSans" pitchFamily="34" charset="-122"/>
                <a:cs typeface="MiSans" pitchFamily="34" charset="-120"/>
              </a:rPr>
              <a:t>from</a:t>
            </a:r>
            <a:pPr>
              <a:lnSpc>
                <a:spcPct val="130000"/>
              </a:lnSpc>
            </a:pPr>
            <a:r>
              <a:rPr lang="en-US" sz="975" dirty="0">
                <a:solidFill>
                  <a:srgbClr val="F1F5F9"/>
                </a:solidFill>
                <a:latin typeface="MiSans" pitchFamily="34" charset="0"/>
                <a:ea typeface="MiSans" pitchFamily="34" charset="-122"/>
                <a:cs typeface="MiSans" pitchFamily="34" charset="-120"/>
              </a:rPr>
              <a:t> functools </a:t>
            </a:r>
            <a:pPr>
              <a:lnSpc>
                <a:spcPct val="130000"/>
              </a:lnSpc>
            </a:pPr>
            <a:r>
              <a:rPr lang="en-US" sz="975" dirty="0">
                <a:solidFill>
                  <a:srgbClr val="8B5CF6"/>
                </a:solidFill>
                <a:latin typeface="MiSans" pitchFamily="34" charset="0"/>
                <a:ea typeface="MiSans" pitchFamily="34" charset="-122"/>
                <a:cs typeface="MiSans" pitchFamily="34" charset="-120"/>
              </a:rPr>
              <a:t>import</a:t>
            </a:r>
            <a:pPr>
              <a:lnSpc>
                <a:spcPct val="130000"/>
              </a:lnSpc>
            </a:pPr>
            <a:r>
              <a:rPr lang="en-US" sz="975" dirty="0">
                <a:solidFill>
                  <a:srgbClr val="F1F5F9"/>
                </a:solidFill>
                <a:latin typeface="MiSans" pitchFamily="34" charset="0"/>
                <a:ea typeface="MiSans" pitchFamily="34" charset="-122"/>
                <a:cs typeface="MiSans" pitchFamily="34" charset="-120"/>
              </a:rPr>
              <a:t> wraps</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decorator</a:t>
            </a:r>
            <a:pPr>
              <a:lnSpc>
                <a:spcPct val="130000"/>
              </a:lnSpc>
            </a:pPr>
            <a:r>
              <a:rPr lang="en-US" sz="975" dirty="0">
                <a:solidFill>
                  <a:srgbClr val="F1F5F9"/>
                </a:solidFill>
                <a:latin typeface="MiSans" pitchFamily="34" charset="0"/>
                <a:ea typeface="MiSans" pitchFamily="34" charset="-122"/>
                <a:cs typeface="MiSans" pitchFamily="34" charset="-120"/>
              </a:rPr>
              <a:t>(func):</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@wraps(func) # BẮT BUỘC!</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def</a:t>
            </a:r>
            <a:pPr>
              <a:lnSpc>
                <a:spcPct val="130000"/>
              </a:lnSpc>
            </a:pPr>
            <a:r>
              <a:rPr lang="en-US" sz="975" dirty="0">
                <a:solidFill>
                  <a:srgbClr val="3B82F6"/>
                </a:solidFill>
                <a:latin typeface="MiSans" pitchFamily="34" charset="0"/>
                <a:ea typeface="MiSans" pitchFamily="34" charset="-122"/>
                <a:cs typeface="MiSans" pitchFamily="34" charset="-120"/>
              </a:rPr>
              <a:t>wrapper</a:t>
            </a:r>
            <a:pPr>
              <a:lnSpc>
                <a:spcPct val="130000"/>
              </a:lnSpc>
            </a:pPr>
            <a:r>
              <a:rPr lang="en-US" sz="975" dirty="0">
                <a:solidFill>
                  <a:srgbClr val="F1F5F9"/>
                </a:solidFill>
                <a:latin typeface="MiSans" pitchFamily="34" charset="0"/>
                <a:ea typeface="MiSans" pitchFamily="34" charset="-122"/>
                <a:cs typeface="MiSans" pitchFamily="34" charset="-120"/>
              </a:rPr>
              <a:t>(*args, **kwargs):</a:t>
            </a:r>
            <a:endParaRPr lang="en-US" sz="1600" dirty="0"/>
          </a:p>
          <a:p>
            <a:pPr>
              <a:lnSpc>
                <a:spcPct val="130000"/>
              </a:lnSpc>
            </a:pPr>
            <a:r>
              <a:rPr lang="en-US" sz="975" dirty="0">
                <a:solidFill>
                  <a:srgbClr val="F1F5F9"/>
                </a:solidFill>
                <a:latin typeface="MiSans" pitchFamily="34" charset="0"/>
                <a:ea typeface="MiSans" pitchFamily="34" charset="-122"/>
                <a:cs typeface="MiSans" pitchFamily="34" charset="-120"/>
              </a:rPr>
              <a:t>...</a:t>
            </a:r>
            <a:endParaRPr lang="en-US" sz="1600" dirty="0"/>
          </a:p>
          <a:p>
            <a:pPr>
              <a:lnSpc>
                <a:spcPct val="130000"/>
              </a:lnSpc>
            </a:pPr>
            <a:r>
              <a:rPr lang="en-US" sz="975" dirty="0">
                <a:solidFill>
                  <a:srgbClr val="8B5CF6"/>
                </a:solidFill>
                <a:latin typeface="MiSans" pitchFamily="34" charset="0"/>
                <a:ea typeface="MiSans" pitchFamily="34" charset="-122"/>
                <a:cs typeface="MiSans" pitchFamily="34" charset="-120"/>
              </a:rPr>
              <a:t>return</a:t>
            </a:r>
            <a:pPr>
              <a:lnSpc>
                <a:spcPct val="130000"/>
              </a:lnSpc>
            </a:pPr>
            <a:r>
              <a:rPr lang="en-US" sz="975" dirty="0">
                <a:solidFill>
                  <a:srgbClr val="F1F5F9"/>
                </a:solidFill>
                <a:latin typeface="MiSans" pitchFamily="34" charset="0"/>
                <a:ea typeface="MiSans" pitchFamily="34" charset="-122"/>
                <a:cs typeface="MiSans" pitchFamily="34" charset="-120"/>
              </a:rPr>
              <a:t> wrapper</a:t>
            </a:r>
            <a:endParaRPr lang="en-US" sz="1600" dirty="0"/>
          </a:p>
        </p:txBody>
      </p:sp>
      <p:sp>
        <p:nvSpPr>
          <p:cNvPr id="36" name="Shape 34"/>
          <p:cNvSpPr/>
          <p:nvPr/>
        </p:nvSpPr>
        <p:spPr>
          <a:xfrm>
            <a:off x="6391275" y="3957638"/>
            <a:ext cx="5219700" cy="1257300"/>
          </a:xfrm>
          <a:custGeom>
            <a:avLst/>
            <a:gdLst/>
            <a:ahLst/>
            <a:cxnLst/>
            <a:rect l="l" t="t" r="r" b="b"/>
            <a:pathLst>
              <a:path w="5219700" h="1257300">
                <a:moveTo>
                  <a:pt x="76205" y="0"/>
                </a:moveTo>
                <a:lnTo>
                  <a:pt x="5143495" y="0"/>
                </a:lnTo>
                <a:cubicBezTo>
                  <a:pt x="5185582" y="0"/>
                  <a:pt x="5219700" y="34118"/>
                  <a:pt x="5219700" y="76205"/>
                </a:cubicBezTo>
                <a:lnTo>
                  <a:pt x="5219700" y="1181095"/>
                </a:lnTo>
                <a:cubicBezTo>
                  <a:pt x="5219700" y="1223182"/>
                  <a:pt x="5185582" y="1257300"/>
                  <a:pt x="5143495" y="1257300"/>
                </a:cubicBezTo>
                <a:lnTo>
                  <a:pt x="76205" y="1257300"/>
                </a:lnTo>
                <a:cubicBezTo>
                  <a:pt x="34118" y="1257300"/>
                  <a:pt x="0" y="1223182"/>
                  <a:pt x="0" y="1181095"/>
                </a:cubicBezTo>
                <a:lnTo>
                  <a:pt x="0" y="76205"/>
                </a:lnTo>
                <a:cubicBezTo>
                  <a:pt x="0" y="34146"/>
                  <a:pt x="34146" y="0"/>
                  <a:pt x="76205" y="0"/>
                </a:cubicBezTo>
                <a:close/>
              </a:path>
            </a:pathLst>
          </a:custGeom>
          <a:solidFill>
            <a:srgbClr val="0F172A"/>
          </a:solidFill>
          <a:ln/>
        </p:spPr>
      </p:sp>
      <p:sp>
        <p:nvSpPr>
          <p:cNvPr id="37" name="Text 35"/>
          <p:cNvSpPr/>
          <p:nvPr/>
        </p:nvSpPr>
        <p:spPr>
          <a:xfrm>
            <a:off x="6505575" y="4071938"/>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Mục đích của @wraps:</a:t>
            </a:r>
            <a:endParaRPr lang="en-US" sz="1600" dirty="0"/>
          </a:p>
        </p:txBody>
      </p:sp>
      <p:sp>
        <p:nvSpPr>
          <p:cNvPr id="38" name="Shape 36"/>
          <p:cNvSpPr/>
          <p:nvPr/>
        </p:nvSpPr>
        <p:spPr>
          <a:xfrm>
            <a:off x="6532959" y="441483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39" name="Text 37"/>
          <p:cNvSpPr/>
          <p:nvPr/>
        </p:nvSpPr>
        <p:spPr>
          <a:xfrm>
            <a:off x="6748463" y="4376738"/>
            <a:ext cx="30384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Bảo toàn metadata hàm gốc (__name__, __doc__)</a:t>
            </a:r>
            <a:endParaRPr lang="en-US" sz="1600" dirty="0"/>
          </a:p>
        </p:txBody>
      </p:sp>
      <p:sp>
        <p:nvSpPr>
          <p:cNvPr id="40" name="Shape 38"/>
          <p:cNvSpPr/>
          <p:nvPr/>
        </p:nvSpPr>
        <p:spPr>
          <a:xfrm>
            <a:off x="6532959" y="468153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41" name="Text 39"/>
          <p:cNvSpPr/>
          <p:nvPr/>
        </p:nvSpPr>
        <p:spPr>
          <a:xfrm>
            <a:off x="6748463" y="4643438"/>
            <a:ext cx="22098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Giúp introspection hoạt động đúng</a:t>
            </a:r>
            <a:endParaRPr lang="en-US" sz="1600" dirty="0"/>
          </a:p>
        </p:txBody>
      </p:sp>
      <p:sp>
        <p:nvSpPr>
          <p:cNvPr id="42" name="Shape 40"/>
          <p:cNvSpPr/>
          <p:nvPr/>
        </p:nvSpPr>
        <p:spPr>
          <a:xfrm>
            <a:off x="6532959" y="4948238"/>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43" name="Text 41"/>
          <p:cNvSpPr/>
          <p:nvPr/>
        </p:nvSpPr>
        <p:spPr>
          <a:xfrm>
            <a:off x="6748463" y="4910138"/>
            <a:ext cx="28575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Profiler và debugger nhận diện đúng tên hàm</a:t>
            </a:r>
            <a:endParaRPr lang="en-US" sz="1600" dirty="0"/>
          </a:p>
        </p:txBody>
      </p:sp>
      <p:sp>
        <p:nvSpPr>
          <p:cNvPr id="44" name="Shape 42"/>
          <p:cNvSpPr/>
          <p:nvPr/>
        </p:nvSpPr>
        <p:spPr>
          <a:xfrm>
            <a:off x="6196013" y="5572125"/>
            <a:ext cx="5610225" cy="1009650"/>
          </a:xfrm>
          <a:custGeom>
            <a:avLst/>
            <a:gdLst/>
            <a:ahLst/>
            <a:cxnLst/>
            <a:rect l="l" t="t" r="r" b="b"/>
            <a:pathLst>
              <a:path w="5610225" h="1009650">
                <a:moveTo>
                  <a:pt x="114302" y="0"/>
                </a:moveTo>
                <a:lnTo>
                  <a:pt x="5495923" y="0"/>
                </a:lnTo>
                <a:cubicBezTo>
                  <a:pt x="5559050" y="0"/>
                  <a:pt x="5610225" y="51175"/>
                  <a:pt x="5610225" y="114302"/>
                </a:cubicBezTo>
                <a:lnTo>
                  <a:pt x="5610225" y="895348"/>
                </a:lnTo>
                <a:cubicBezTo>
                  <a:pt x="5610225" y="958475"/>
                  <a:pt x="5559050" y="1009650"/>
                  <a:pt x="5495923" y="1009650"/>
                </a:cubicBezTo>
                <a:lnTo>
                  <a:pt x="114302" y="1009650"/>
                </a:lnTo>
                <a:cubicBezTo>
                  <a:pt x="51175" y="1009650"/>
                  <a:pt x="0" y="958475"/>
                  <a:pt x="0" y="895348"/>
                </a:cubicBezTo>
                <a:lnTo>
                  <a:pt x="0" y="114302"/>
                </a:lnTo>
                <a:cubicBezTo>
                  <a:pt x="0" y="51175"/>
                  <a:pt x="51175" y="0"/>
                  <a:pt x="114302" y="0"/>
                </a:cubicBezTo>
                <a:close/>
              </a:path>
            </a:pathLst>
          </a:custGeom>
          <a:gradFill rotWithShape="1" flip="none">
            <a:gsLst>
              <a:gs pos="0">
                <a:srgbClr val="3B82F6">
                  <a:alpha val="10000"/>
                </a:srgbClr>
              </a:gs>
              <a:gs pos="100000">
                <a:srgbClr val="10B981">
                  <a:alpha val="10000"/>
                </a:srgbClr>
              </a:gs>
            </a:gsLst>
            <a:lin ang="0" scaled="1"/>
          </a:gradFill>
          <a:ln w="12700">
            <a:solidFill>
              <a:srgbClr val="3B82F6">
                <a:alpha val="30196"/>
              </a:srgbClr>
            </a:solidFill>
            <a:prstDash val="solid"/>
          </a:ln>
        </p:spPr>
      </p:sp>
      <p:sp>
        <p:nvSpPr>
          <p:cNvPr id="45" name="Shape 43"/>
          <p:cNvSpPr/>
          <p:nvPr/>
        </p:nvSpPr>
        <p:spPr>
          <a:xfrm>
            <a:off x="6372225" y="577691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3B82F6"/>
          </a:solidFill>
          <a:ln/>
        </p:spPr>
      </p:sp>
      <p:sp>
        <p:nvSpPr>
          <p:cNvPr id="46" name="Text 44"/>
          <p:cNvSpPr/>
          <p:nvPr/>
        </p:nvSpPr>
        <p:spPr>
          <a:xfrm>
            <a:off x="6600825" y="5729288"/>
            <a:ext cx="5124450" cy="695325"/>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Implementation tiêu chuẩn: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Hệ thống bắt buộc phải sinh ra các dòng </a:t>
            </a:r>
            <a:pPr>
              <a:lnSpc>
                <a:spcPct val="130000"/>
              </a:lnSpc>
            </a:pPr>
            <a:r>
              <a:rPr lang="en-US" sz="1200" dirty="0">
                <a:solidFill>
                  <a:srgbClr val="10B981"/>
                </a:solidFill>
                <a:latin typeface="MiSans" pitchFamily="34" charset="0"/>
                <a:ea typeface="MiSans" pitchFamily="34" charset="-122"/>
                <a:cs typeface="MiSans" pitchFamily="34" charset="-120"/>
              </a:rPr>
              <a:t>from functools import wraps</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và áp dụng </a:t>
            </a:r>
            <a:pPr>
              <a:lnSpc>
                <a:spcPct val="130000"/>
              </a:lnSpc>
            </a:pPr>
            <a:r>
              <a:rPr lang="en-US" sz="1200" dirty="0">
                <a:solidFill>
                  <a:srgbClr val="10B981"/>
                </a:solidFill>
                <a:latin typeface="MiSans" pitchFamily="34" charset="0"/>
                <a:ea typeface="MiSans" pitchFamily="34" charset="-122"/>
                <a:cs typeface="MiSans" pitchFamily="34" charset="-120"/>
              </a:rPr>
              <a:t>@wraps(func)</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cho mọi wrapper function.</a:t>
            </a:r>
            <a:endParaRPr lang="en-US" sz="1600" dirty="0"/>
          </a:p>
        </p:txBody>
      </p:sp>
    </p:spTree>
  </p:cSld>
  <p:clrMapOvr>
    <a:masterClrMapping/>
  </p:clrMapOvr>
  <p:transition>
    <p:fade/>
    <p:spd val="med"/>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51608" y="421929"/>
            <a:ext cx="351608" cy="351608"/>
          </a:xfrm>
          <a:custGeom>
            <a:avLst/>
            <a:gdLst/>
            <a:ahLst/>
            <a:cxnLst/>
            <a:rect l="l" t="t" r="r" b="b"/>
            <a:pathLst>
              <a:path w="351608" h="351608">
                <a:moveTo>
                  <a:pt x="70322" y="0"/>
                </a:moveTo>
                <a:lnTo>
                  <a:pt x="281286" y="0"/>
                </a:lnTo>
                <a:cubicBezTo>
                  <a:pt x="320098" y="0"/>
                  <a:pt x="351608" y="31510"/>
                  <a:pt x="351608" y="70322"/>
                </a:cubicBezTo>
                <a:lnTo>
                  <a:pt x="351608" y="281286"/>
                </a:lnTo>
                <a:cubicBezTo>
                  <a:pt x="351608" y="320098"/>
                  <a:pt x="320098" y="351608"/>
                  <a:pt x="281286" y="351608"/>
                </a:cubicBezTo>
                <a:lnTo>
                  <a:pt x="70322" y="351608"/>
                </a:lnTo>
                <a:cubicBezTo>
                  <a:pt x="31510" y="351608"/>
                  <a:pt x="0" y="320098"/>
                  <a:pt x="0" y="281286"/>
                </a:cubicBezTo>
                <a:lnTo>
                  <a:pt x="0" y="70322"/>
                </a:lnTo>
                <a:cubicBezTo>
                  <a:pt x="0" y="31510"/>
                  <a:pt x="31510" y="0"/>
                  <a:pt x="70322" y="0"/>
                </a:cubicBezTo>
                <a:close/>
              </a:path>
            </a:pathLst>
          </a:custGeom>
          <a:solidFill>
            <a:srgbClr val="8B5CF6"/>
          </a:solidFill>
          <a:ln/>
        </p:spPr>
      </p:sp>
      <p:sp>
        <p:nvSpPr>
          <p:cNvPr id="3" name="Shape 1"/>
          <p:cNvSpPr/>
          <p:nvPr/>
        </p:nvSpPr>
        <p:spPr>
          <a:xfrm>
            <a:off x="450497" y="518621"/>
            <a:ext cx="158224" cy="158224"/>
          </a:xfrm>
          <a:custGeom>
            <a:avLst/>
            <a:gdLst/>
            <a:ahLst/>
            <a:cxnLst/>
            <a:rect l="l" t="t" r="r" b="b"/>
            <a:pathLst>
              <a:path w="158224" h="158224">
                <a:moveTo>
                  <a:pt x="79112" y="148335"/>
                </a:moveTo>
                <a:cubicBezTo>
                  <a:pt x="122809" y="148335"/>
                  <a:pt x="158224" y="115114"/>
                  <a:pt x="158224" y="74167"/>
                </a:cubicBezTo>
                <a:cubicBezTo>
                  <a:pt x="158224" y="33221"/>
                  <a:pt x="122809" y="0"/>
                  <a:pt x="79112" y="0"/>
                </a:cubicBezTo>
                <a:cubicBezTo>
                  <a:pt x="35415" y="0"/>
                  <a:pt x="0" y="33221"/>
                  <a:pt x="0" y="74167"/>
                </a:cubicBezTo>
                <a:cubicBezTo>
                  <a:pt x="0" y="90948"/>
                  <a:pt x="5933" y="106399"/>
                  <a:pt x="15946" y="118822"/>
                </a:cubicBezTo>
                <a:lnTo>
                  <a:pt x="865" y="147346"/>
                </a:lnTo>
                <a:cubicBezTo>
                  <a:pt x="-618" y="150127"/>
                  <a:pt x="-155" y="153526"/>
                  <a:pt x="1978" y="155844"/>
                </a:cubicBezTo>
                <a:cubicBezTo>
                  <a:pt x="4110" y="158162"/>
                  <a:pt x="7479" y="158872"/>
                  <a:pt x="10353" y="157636"/>
                </a:cubicBezTo>
                <a:lnTo>
                  <a:pt x="46942" y="141969"/>
                </a:lnTo>
                <a:cubicBezTo>
                  <a:pt x="56769" y="146048"/>
                  <a:pt x="67647" y="148335"/>
                  <a:pt x="79112" y="148335"/>
                </a:cubicBezTo>
                <a:close/>
                <a:moveTo>
                  <a:pt x="39556" y="64278"/>
                </a:moveTo>
                <a:cubicBezTo>
                  <a:pt x="45014" y="64278"/>
                  <a:pt x="49445" y="68709"/>
                  <a:pt x="49445" y="74167"/>
                </a:cubicBezTo>
                <a:cubicBezTo>
                  <a:pt x="49445" y="79625"/>
                  <a:pt x="45014" y="84056"/>
                  <a:pt x="39556" y="84056"/>
                </a:cubicBezTo>
                <a:cubicBezTo>
                  <a:pt x="34098" y="84056"/>
                  <a:pt x="29667" y="79625"/>
                  <a:pt x="29667" y="74167"/>
                </a:cubicBezTo>
                <a:cubicBezTo>
                  <a:pt x="29667" y="68709"/>
                  <a:pt x="34098" y="64278"/>
                  <a:pt x="39556" y="64278"/>
                </a:cubicBezTo>
                <a:close/>
                <a:moveTo>
                  <a:pt x="79112" y="64278"/>
                </a:moveTo>
                <a:cubicBezTo>
                  <a:pt x="84570" y="64278"/>
                  <a:pt x="89001" y="68709"/>
                  <a:pt x="89001" y="74167"/>
                </a:cubicBezTo>
                <a:cubicBezTo>
                  <a:pt x="89001" y="79625"/>
                  <a:pt x="84570" y="84056"/>
                  <a:pt x="79112" y="84056"/>
                </a:cubicBezTo>
                <a:cubicBezTo>
                  <a:pt x="73654" y="84056"/>
                  <a:pt x="69223" y="79625"/>
                  <a:pt x="69223" y="74167"/>
                </a:cubicBezTo>
                <a:cubicBezTo>
                  <a:pt x="69223" y="68709"/>
                  <a:pt x="73654" y="64278"/>
                  <a:pt x="79112" y="64278"/>
                </a:cubicBezTo>
                <a:close/>
                <a:moveTo>
                  <a:pt x="108779" y="74167"/>
                </a:moveTo>
                <a:cubicBezTo>
                  <a:pt x="108779" y="68709"/>
                  <a:pt x="113210" y="64278"/>
                  <a:pt x="118668" y="64278"/>
                </a:cubicBezTo>
                <a:cubicBezTo>
                  <a:pt x="124125" y="64278"/>
                  <a:pt x="128557" y="68709"/>
                  <a:pt x="128557" y="74167"/>
                </a:cubicBezTo>
                <a:cubicBezTo>
                  <a:pt x="128557" y="79625"/>
                  <a:pt x="124125" y="84056"/>
                  <a:pt x="118668" y="84056"/>
                </a:cubicBezTo>
                <a:cubicBezTo>
                  <a:pt x="113210" y="84056"/>
                  <a:pt x="108779" y="79625"/>
                  <a:pt x="108779" y="74167"/>
                </a:cubicBezTo>
                <a:close/>
              </a:path>
            </a:pathLst>
          </a:custGeom>
          <a:solidFill>
            <a:srgbClr val="FFFFFF"/>
          </a:solidFill>
          <a:ln/>
        </p:spPr>
      </p:sp>
      <p:sp>
        <p:nvSpPr>
          <p:cNvPr id="4" name="Text 2"/>
          <p:cNvSpPr/>
          <p:nvPr/>
        </p:nvSpPr>
        <p:spPr>
          <a:xfrm>
            <a:off x="808698" y="351608"/>
            <a:ext cx="5203795" cy="175804"/>
          </a:xfrm>
          <a:prstGeom prst="rect">
            <a:avLst/>
          </a:prstGeom>
          <a:noFill/>
          <a:ln/>
        </p:spPr>
        <p:txBody>
          <a:bodyPr wrap="square" lIns="0" tIns="0" rIns="0" bIns="0" rtlCol="0" anchor="ctr"/>
          <a:lstStyle/>
          <a:p>
            <a:pPr>
              <a:lnSpc>
                <a:spcPct val="120000"/>
              </a:lnSpc>
            </a:pPr>
            <a:r>
              <a:rPr lang="en-US" sz="969" b="1" spc="48" kern="0" dirty="0">
                <a:solidFill>
                  <a:srgbClr val="8B5CF6"/>
                </a:solidFill>
                <a:latin typeface="MiSans" pitchFamily="34" charset="0"/>
                <a:ea typeface="MiSans" pitchFamily="34" charset="-122"/>
                <a:cs typeface="MiSans" pitchFamily="34" charset="-120"/>
              </a:rPr>
              <a:t>CHƯƠNG 15 | CHIẾN LƯỢC PROMPT</a:t>
            </a:r>
            <a:endParaRPr lang="en-US" sz="1600" dirty="0"/>
          </a:p>
        </p:txBody>
      </p:sp>
      <p:sp>
        <p:nvSpPr>
          <p:cNvPr id="5" name="Text 3"/>
          <p:cNvSpPr/>
          <p:nvPr/>
        </p:nvSpPr>
        <p:spPr>
          <a:xfrm>
            <a:off x="808698" y="527412"/>
            <a:ext cx="5274117" cy="316447"/>
          </a:xfrm>
          <a:prstGeom prst="rect">
            <a:avLst/>
          </a:prstGeom>
          <a:noFill/>
          <a:ln/>
        </p:spPr>
        <p:txBody>
          <a:bodyPr wrap="square" lIns="0" tIns="0" rIns="0" bIns="0" rtlCol="0" anchor="ctr"/>
          <a:lstStyle/>
          <a:p>
            <a:pPr>
              <a:lnSpc>
                <a:spcPct val="100000"/>
              </a:lnSpc>
            </a:pPr>
            <a:r>
              <a:rPr lang="en-US" sz="2076" b="1" dirty="0">
                <a:solidFill>
                  <a:srgbClr val="F1F5F9"/>
                </a:solidFill>
                <a:latin typeface="MiSans" pitchFamily="34" charset="0"/>
                <a:ea typeface="MiSans" pitchFamily="34" charset="-122"/>
                <a:cs typeface="MiSans" pitchFamily="34" charset="-120"/>
              </a:rPr>
              <a:t>Chiến lược Prompt: Zero-shot vs Few-shot</a:t>
            </a:r>
            <a:endParaRPr lang="en-US" sz="1600" dirty="0"/>
          </a:p>
        </p:txBody>
      </p:sp>
      <p:sp>
        <p:nvSpPr>
          <p:cNvPr id="6" name="Shape 4"/>
          <p:cNvSpPr/>
          <p:nvPr/>
        </p:nvSpPr>
        <p:spPr>
          <a:xfrm>
            <a:off x="356003" y="1059218"/>
            <a:ext cx="5643305" cy="5265327"/>
          </a:xfrm>
          <a:custGeom>
            <a:avLst/>
            <a:gdLst/>
            <a:ahLst/>
            <a:cxnLst/>
            <a:rect l="l" t="t" r="r" b="b"/>
            <a:pathLst>
              <a:path w="5643305" h="5265327">
                <a:moveTo>
                  <a:pt x="105464" y="0"/>
                </a:moveTo>
                <a:lnTo>
                  <a:pt x="5537840" y="0"/>
                </a:lnTo>
                <a:cubicBezTo>
                  <a:pt x="5596087" y="0"/>
                  <a:pt x="5643305" y="47218"/>
                  <a:pt x="5643305" y="105464"/>
                </a:cubicBezTo>
                <a:lnTo>
                  <a:pt x="5643305" y="5159862"/>
                </a:lnTo>
                <a:cubicBezTo>
                  <a:pt x="5643305" y="5218109"/>
                  <a:pt x="5596087" y="5265327"/>
                  <a:pt x="5537840" y="5265327"/>
                </a:cubicBezTo>
                <a:lnTo>
                  <a:pt x="105464" y="5265327"/>
                </a:lnTo>
                <a:cubicBezTo>
                  <a:pt x="47218" y="5265327"/>
                  <a:pt x="0" y="5218109"/>
                  <a:pt x="0" y="5159862"/>
                </a:cubicBezTo>
                <a:lnTo>
                  <a:pt x="0" y="105464"/>
                </a:lnTo>
                <a:cubicBezTo>
                  <a:pt x="0" y="47257"/>
                  <a:pt x="47257" y="0"/>
                  <a:pt x="105464"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69165" y="1274578"/>
            <a:ext cx="153828" cy="175804"/>
          </a:xfrm>
          <a:custGeom>
            <a:avLst/>
            <a:gdLst/>
            <a:ahLst/>
            <a:cxnLst/>
            <a:rect l="l" t="t" r="r" b="b"/>
            <a:pathLst>
              <a:path w="153828" h="175804">
                <a:moveTo>
                  <a:pt x="116333" y="-3399"/>
                </a:moveTo>
                <a:cubicBezTo>
                  <a:pt x="120419" y="-446"/>
                  <a:pt x="121930" y="4910"/>
                  <a:pt x="120075" y="9580"/>
                </a:cubicBezTo>
                <a:lnTo>
                  <a:pt x="93155" y="76914"/>
                </a:lnTo>
                <a:lnTo>
                  <a:pt x="142841" y="76914"/>
                </a:lnTo>
                <a:cubicBezTo>
                  <a:pt x="147476" y="76914"/>
                  <a:pt x="151597" y="79798"/>
                  <a:pt x="153176" y="84159"/>
                </a:cubicBezTo>
                <a:cubicBezTo>
                  <a:pt x="154755" y="88520"/>
                  <a:pt x="153416" y="93396"/>
                  <a:pt x="149880" y="96349"/>
                </a:cubicBezTo>
                <a:lnTo>
                  <a:pt x="50990" y="178757"/>
                </a:lnTo>
                <a:cubicBezTo>
                  <a:pt x="47110" y="181984"/>
                  <a:pt x="41582" y="182156"/>
                  <a:pt x="37496" y="179203"/>
                </a:cubicBezTo>
                <a:cubicBezTo>
                  <a:pt x="33410" y="176250"/>
                  <a:pt x="31899" y="170894"/>
                  <a:pt x="33753" y="166224"/>
                </a:cubicBezTo>
                <a:lnTo>
                  <a:pt x="60673" y="98890"/>
                </a:lnTo>
                <a:lnTo>
                  <a:pt x="10988" y="98890"/>
                </a:lnTo>
                <a:cubicBezTo>
                  <a:pt x="6352" y="98890"/>
                  <a:pt x="2232" y="96005"/>
                  <a:pt x="652" y="91645"/>
                </a:cubicBezTo>
                <a:cubicBezTo>
                  <a:pt x="-927" y="87284"/>
                  <a:pt x="412" y="82408"/>
                  <a:pt x="3949" y="79455"/>
                </a:cubicBezTo>
                <a:lnTo>
                  <a:pt x="102838" y="-2953"/>
                </a:lnTo>
                <a:cubicBezTo>
                  <a:pt x="106718" y="-6181"/>
                  <a:pt x="112247" y="-6352"/>
                  <a:pt x="116333" y="-3399"/>
                </a:cubicBezTo>
                <a:close/>
              </a:path>
            </a:pathLst>
          </a:custGeom>
          <a:solidFill>
            <a:srgbClr val="3B82F6"/>
          </a:solidFill>
          <a:ln/>
        </p:spPr>
      </p:sp>
      <p:sp>
        <p:nvSpPr>
          <p:cNvPr id="8" name="Text 6"/>
          <p:cNvSpPr/>
          <p:nvPr/>
        </p:nvSpPr>
        <p:spPr>
          <a:xfrm>
            <a:off x="755957" y="1239417"/>
            <a:ext cx="5151054" cy="246125"/>
          </a:xfrm>
          <a:prstGeom prst="rect">
            <a:avLst/>
          </a:prstGeom>
          <a:noFill/>
          <a:ln/>
        </p:spPr>
        <p:txBody>
          <a:bodyPr wrap="square" lIns="0" tIns="0" rIns="0" bIns="0" rtlCol="0" anchor="ctr"/>
          <a:lstStyle/>
          <a:p>
            <a:pPr>
              <a:lnSpc>
                <a:spcPct val="120000"/>
              </a:lnSpc>
            </a:pPr>
            <a:r>
              <a:rPr lang="en-US" sz="1384" b="1" dirty="0">
                <a:solidFill>
                  <a:srgbClr val="3B82F6"/>
                </a:solidFill>
                <a:latin typeface="MiSans" pitchFamily="34" charset="0"/>
                <a:ea typeface="MiSans" pitchFamily="34" charset="-122"/>
                <a:cs typeface="MiSans" pitchFamily="34" charset="-120"/>
              </a:rPr>
              <a:t>Zero-shot Prompting</a:t>
            </a:r>
            <a:endParaRPr lang="en-US" sz="1600" dirty="0"/>
          </a:p>
        </p:txBody>
      </p:sp>
      <p:sp>
        <p:nvSpPr>
          <p:cNvPr id="9" name="Shape 7"/>
          <p:cNvSpPr/>
          <p:nvPr/>
        </p:nvSpPr>
        <p:spPr>
          <a:xfrm>
            <a:off x="536202" y="1626186"/>
            <a:ext cx="5282907" cy="843859"/>
          </a:xfrm>
          <a:custGeom>
            <a:avLst/>
            <a:gdLst/>
            <a:ahLst/>
            <a:cxnLst/>
            <a:rect l="l" t="t" r="r" b="b"/>
            <a:pathLst>
              <a:path w="5282907" h="843859">
                <a:moveTo>
                  <a:pt x="70319" y="0"/>
                </a:moveTo>
                <a:lnTo>
                  <a:pt x="5212588" y="0"/>
                </a:lnTo>
                <a:cubicBezTo>
                  <a:pt x="5251424" y="0"/>
                  <a:pt x="5282907" y="31483"/>
                  <a:pt x="5282907" y="70319"/>
                </a:cubicBezTo>
                <a:lnTo>
                  <a:pt x="5282907" y="773540"/>
                </a:lnTo>
                <a:cubicBezTo>
                  <a:pt x="5282907" y="812376"/>
                  <a:pt x="5251424" y="843859"/>
                  <a:pt x="5212588" y="843859"/>
                </a:cubicBezTo>
                <a:lnTo>
                  <a:pt x="70319" y="843859"/>
                </a:lnTo>
                <a:cubicBezTo>
                  <a:pt x="31483" y="843859"/>
                  <a:pt x="0" y="812376"/>
                  <a:pt x="0" y="773540"/>
                </a:cubicBezTo>
                <a:lnTo>
                  <a:pt x="0" y="70319"/>
                </a:lnTo>
                <a:cubicBezTo>
                  <a:pt x="0" y="31509"/>
                  <a:pt x="31509" y="0"/>
                  <a:pt x="70319" y="0"/>
                </a:cubicBezTo>
                <a:close/>
              </a:path>
            </a:pathLst>
          </a:custGeom>
          <a:solidFill>
            <a:srgbClr val="0F172A"/>
          </a:solidFill>
          <a:ln/>
        </p:spPr>
      </p:sp>
      <p:sp>
        <p:nvSpPr>
          <p:cNvPr id="10" name="Text 8"/>
          <p:cNvSpPr/>
          <p:nvPr/>
        </p:nvSpPr>
        <p:spPr>
          <a:xfrm>
            <a:off x="641684" y="1731668"/>
            <a:ext cx="5142264" cy="210965"/>
          </a:xfrm>
          <a:prstGeom prst="rect">
            <a:avLst/>
          </a:prstGeom>
          <a:noFill/>
          <a:ln/>
        </p:spPr>
        <p:txBody>
          <a:bodyPr wrap="square" lIns="0" tIns="0" rIns="0" bIns="0" rtlCol="0" anchor="ctr"/>
          <a:lstStyle/>
          <a:p>
            <a:pPr>
              <a:lnSpc>
                <a:spcPct val="130000"/>
              </a:lnSpc>
            </a:pPr>
            <a:r>
              <a:rPr lang="en-US" sz="1107" b="1" dirty="0">
                <a:solidFill>
                  <a:srgbClr val="F1F5F9"/>
                </a:solidFill>
                <a:latin typeface="MiSans" pitchFamily="34" charset="0"/>
                <a:ea typeface="MiSans" pitchFamily="34" charset="-122"/>
                <a:cs typeface="MiSans" pitchFamily="34" charset="-120"/>
              </a:rPr>
              <a:t>Định nghĩa:</a:t>
            </a:r>
            <a:endParaRPr lang="en-US" sz="1600" dirty="0"/>
          </a:p>
        </p:txBody>
      </p:sp>
      <p:sp>
        <p:nvSpPr>
          <p:cNvPr id="11" name="Text 9"/>
          <p:cNvSpPr/>
          <p:nvPr/>
        </p:nvSpPr>
        <p:spPr>
          <a:xfrm>
            <a:off x="641684" y="2012955"/>
            <a:ext cx="5133474" cy="351608"/>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Yêu cầu mô hình </a:t>
            </a:r>
            <a:pPr>
              <a:lnSpc>
                <a:spcPct val="120000"/>
              </a:lnSpc>
            </a:pPr>
            <a:r>
              <a:rPr lang="en-US" sz="969" b="1" dirty="0">
                <a:solidFill>
                  <a:srgbClr val="3B82F6"/>
                </a:solidFill>
                <a:latin typeface="MiSans" pitchFamily="34" charset="0"/>
                <a:ea typeface="MiSans" pitchFamily="34" charset="-122"/>
                <a:cs typeface="MiSans" pitchFamily="34" charset="-120"/>
              </a:rPr>
              <a:t>tự suy luận</a:t>
            </a:r>
            <a:pPr>
              <a:lnSpc>
                <a:spcPct val="120000"/>
              </a:lnSpc>
            </a:pPr>
            <a:r>
              <a:rPr lang="en-US" sz="969" dirty="0">
                <a:solidFill>
                  <a:srgbClr val="F1F5F9">
                    <a:alpha val="80000"/>
                  </a:srgbClr>
                </a:solidFill>
                <a:latin typeface="MiSans" pitchFamily="34" charset="0"/>
                <a:ea typeface="MiSans" pitchFamily="34" charset="-122"/>
                <a:cs typeface="MiSans" pitchFamily="34" charset="-120"/>
              </a:rPr>
              <a:t> cấu trúc decorator chỉ từ mô tả bài toán bằng ngôn ngữ tự nhiên.</a:t>
            </a:r>
            <a:endParaRPr lang="en-US" sz="1600" dirty="0"/>
          </a:p>
        </p:txBody>
      </p:sp>
      <p:sp>
        <p:nvSpPr>
          <p:cNvPr id="12" name="Shape 10"/>
          <p:cNvSpPr/>
          <p:nvPr/>
        </p:nvSpPr>
        <p:spPr>
          <a:xfrm>
            <a:off x="536202" y="2575527"/>
            <a:ext cx="5282907" cy="1564655"/>
          </a:xfrm>
          <a:custGeom>
            <a:avLst/>
            <a:gdLst/>
            <a:ahLst/>
            <a:cxnLst/>
            <a:rect l="l" t="t" r="r" b="b"/>
            <a:pathLst>
              <a:path w="5282907" h="1564655">
                <a:moveTo>
                  <a:pt x="70316" y="0"/>
                </a:moveTo>
                <a:lnTo>
                  <a:pt x="5212591" y="0"/>
                </a:lnTo>
                <a:cubicBezTo>
                  <a:pt x="5251426" y="0"/>
                  <a:pt x="5282907" y="31481"/>
                  <a:pt x="5282907" y="70316"/>
                </a:cubicBezTo>
                <a:lnTo>
                  <a:pt x="5282907" y="1494339"/>
                </a:lnTo>
                <a:cubicBezTo>
                  <a:pt x="5282907" y="1533173"/>
                  <a:pt x="5251426" y="1564655"/>
                  <a:pt x="5212591" y="1564655"/>
                </a:cubicBezTo>
                <a:lnTo>
                  <a:pt x="70316" y="1564655"/>
                </a:lnTo>
                <a:cubicBezTo>
                  <a:pt x="31481" y="1564655"/>
                  <a:pt x="0" y="1533173"/>
                  <a:pt x="0" y="1494339"/>
                </a:cubicBezTo>
                <a:lnTo>
                  <a:pt x="0" y="70316"/>
                </a:lnTo>
                <a:cubicBezTo>
                  <a:pt x="0" y="31507"/>
                  <a:pt x="31507" y="0"/>
                  <a:pt x="70316" y="0"/>
                </a:cubicBezTo>
                <a:close/>
              </a:path>
            </a:pathLst>
          </a:custGeom>
          <a:solidFill>
            <a:srgbClr val="0F172A"/>
          </a:solidFill>
          <a:ln/>
        </p:spPr>
      </p:sp>
      <p:sp>
        <p:nvSpPr>
          <p:cNvPr id="13" name="Text 11"/>
          <p:cNvSpPr/>
          <p:nvPr/>
        </p:nvSpPr>
        <p:spPr>
          <a:xfrm>
            <a:off x="641684" y="2681009"/>
            <a:ext cx="5142264" cy="210965"/>
          </a:xfrm>
          <a:prstGeom prst="rect">
            <a:avLst/>
          </a:prstGeom>
          <a:noFill/>
          <a:ln/>
        </p:spPr>
        <p:txBody>
          <a:bodyPr wrap="square" lIns="0" tIns="0" rIns="0" bIns="0" rtlCol="0" anchor="ctr"/>
          <a:lstStyle/>
          <a:p>
            <a:pPr>
              <a:lnSpc>
                <a:spcPct val="130000"/>
              </a:lnSpc>
            </a:pPr>
            <a:r>
              <a:rPr lang="en-US" sz="1107" b="1" dirty="0">
                <a:solidFill>
                  <a:srgbClr val="F1F5F9"/>
                </a:solidFill>
                <a:latin typeface="MiSans" pitchFamily="34" charset="0"/>
                <a:ea typeface="MiSans" pitchFamily="34" charset="-122"/>
                <a:cs typeface="MiSans" pitchFamily="34" charset="-120"/>
              </a:rPr>
              <a:t>Ví dụ prompt:</a:t>
            </a:r>
            <a:endParaRPr lang="en-US" sz="1600" dirty="0"/>
          </a:p>
        </p:txBody>
      </p:sp>
      <p:sp>
        <p:nvSpPr>
          <p:cNvPr id="14" name="Shape 12"/>
          <p:cNvSpPr/>
          <p:nvPr/>
        </p:nvSpPr>
        <p:spPr>
          <a:xfrm>
            <a:off x="641684" y="2962296"/>
            <a:ext cx="5071942" cy="1072404"/>
          </a:xfrm>
          <a:custGeom>
            <a:avLst/>
            <a:gdLst/>
            <a:ahLst/>
            <a:cxnLst/>
            <a:rect l="l" t="t" r="r" b="b"/>
            <a:pathLst>
              <a:path w="5071942" h="1072404">
                <a:moveTo>
                  <a:pt x="70318" y="0"/>
                </a:moveTo>
                <a:lnTo>
                  <a:pt x="5001625" y="0"/>
                </a:lnTo>
                <a:cubicBezTo>
                  <a:pt x="5040460" y="0"/>
                  <a:pt x="5071942" y="31482"/>
                  <a:pt x="5071942" y="70318"/>
                </a:cubicBezTo>
                <a:lnTo>
                  <a:pt x="5071942" y="1002086"/>
                </a:lnTo>
                <a:cubicBezTo>
                  <a:pt x="5071942" y="1040922"/>
                  <a:pt x="5040460" y="1072404"/>
                  <a:pt x="5001625" y="1072404"/>
                </a:cubicBezTo>
                <a:lnTo>
                  <a:pt x="70318" y="1072404"/>
                </a:lnTo>
                <a:cubicBezTo>
                  <a:pt x="31482" y="1072404"/>
                  <a:pt x="0" y="1040922"/>
                  <a:pt x="0" y="1002086"/>
                </a:cubicBezTo>
                <a:lnTo>
                  <a:pt x="0" y="70318"/>
                </a:lnTo>
                <a:cubicBezTo>
                  <a:pt x="0" y="31508"/>
                  <a:pt x="31508" y="0"/>
                  <a:pt x="70318" y="0"/>
                </a:cubicBezTo>
                <a:close/>
              </a:path>
            </a:pathLst>
          </a:custGeom>
          <a:solidFill>
            <a:srgbClr val="1E293B"/>
          </a:solidFill>
          <a:ln/>
        </p:spPr>
      </p:sp>
      <p:sp>
        <p:nvSpPr>
          <p:cNvPr id="15" name="Text 13"/>
          <p:cNvSpPr/>
          <p:nvPr/>
        </p:nvSpPr>
        <p:spPr>
          <a:xfrm>
            <a:off x="747167" y="3085358"/>
            <a:ext cx="2130523" cy="131853"/>
          </a:xfrm>
          <a:prstGeom prst="rect">
            <a:avLst/>
          </a:prstGeom>
          <a:noFill/>
          <a:ln/>
        </p:spPr>
        <p:txBody>
          <a:bodyPr wrap="square" lIns="0" tIns="0" rIns="0" bIns="0" rtlCol="0" anchor="ctr"/>
          <a:lstStyle/>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"Write a decorator that validates</a:t>
            </a:r>
            <a:endParaRPr lang="en-US" sz="1600" dirty="0"/>
          </a:p>
        </p:txBody>
      </p:sp>
      <p:sp>
        <p:nvSpPr>
          <p:cNvPr id="16" name="Text 14"/>
          <p:cNvSpPr/>
          <p:nvPr/>
        </p:nvSpPr>
        <p:spPr>
          <a:xfrm>
            <a:off x="747167" y="3256767"/>
            <a:ext cx="1816411" cy="131853"/>
          </a:xfrm>
          <a:prstGeom prst="rect">
            <a:avLst/>
          </a:prstGeom>
          <a:noFill/>
          <a:ln/>
        </p:spPr>
        <p:txBody>
          <a:bodyPr wrap="square" lIns="0" tIns="0" rIns="0" bIns="0" rtlCol="0" anchor="ctr"/>
          <a:lstStyle/>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input types and limits for a</a:t>
            </a:r>
            <a:endParaRPr lang="en-US" sz="1600" dirty="0"/>
          </a:p>
        </p:txBody>
      </p:sp>
      <p:sp>
        <p:nvSpPr>
          <p:cNvPr id="17" name="Text 15"/>
          <p:cNvSpPr/>
          <p:nvPr/>
        </p:nvSpPr>
        <p:spPr>
          <a:xfrm>
            <a:off x="747167" y="3428176"/>
            <a:ext cx="1942084" cy="131853"/>
          </a:xfrm>
          <a:prstGeom prst="rect">
            <a:avLst/>
          </a:prstGeom>
          <a:noFill/>
          <a:ln/>
        </p:spPr>
        <p:txBody>
          <a:bodyPr wrap="square" lIns="0" tIns="0" rIns="0" bIns="0" rtlCol="0" anchor="ctr"/>
          <a:lstStyle/>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function. The decorator should</a:t>
            </a:r>
            <a:endParaRPr lang="en-US" sz="1600" dirty="0"/>
          </a:p>
        </p:txBody>
      </p:sp>
      <p:sp>
        <p:nvSpPr>
          <p:cNvPr id="18" name="Text 16"/>
          <p:cNvSpPr/>
          <p:nvPr/>
        </p:nvSpPr>
        <p:spPr>
          <a:xfrm>
            <a:off x="747167" y="3599585"/>
            <a:ext cx="2067619" cy="131853"/>
          </a:xfrm>
          <a:prstGeom prst="rect">
            <a:avLst/>
          </a:prstGeom>
          <a:noFill/>
          <a:ln/>
        </p:spPr>
        <p:txBody>
          <a:bodyPr wrap="square" lIns="0" tIns="0" rIns="0" bIns="0" rtlCol="0" anchor="ctr"/>
          <a:lstStyle/>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check if the input is an integer</a:t>
            </a:r>
            <a:endParaRPr lang="en-US" sz="1600" dirty="0"/>
          </a:p>
        </p:txBody>
      </p:sp>
      <p:sp>
        <p:nvSpPr>
          <p:cNvPr id="19" name="Text 17"/>
          <p:cNvSpPr/>
          <p:nvPr/>
        </p:nvSpPr>
        <p:spPr>
          <a:xfrm>
            <a:off x="747167" y="3770994"/>
            <a:ext cx="2004851" cy="131853"/>
          </a:xfrm>
          <a:prstGeom prst="rect">
            <a:avLst/>
          </a:prstGeom>
          <a:noFill/>
          <a:ln/>
        </p:spPr>
        <p:txBody>
          <a:bodyPr wrap="square" lIns="0" tIns="0" rIns="0" bIns="0" rtlCol="0" anchor="ctr"/>
          <a:lstStyle/>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and within the range [1, 100]."</a:t>
            </a:r>
            <a:endParaRPr lang="en-US" sz="1600" dirty="0"/>
          </a:p>
        </p:txBody>
      </p:sp>
      <p:sp>
        <p:nvSpPr>
          <p:cNvPr id="20" name="Shape 18"/>
          <p:cNvSpPr/>
          <p:nvPr/>
        </p:nvSpPr>
        <p:spPr>
          <a:xfrm>
            <a:off x="540597" y="4245664"/>
            <a:ext cx="5274117" cy="887810"/>
          </a:xfrm>
          <a:custGeom>
            <a:avLst/>
            <a:gdLst/>
            <a:ahLst/>
            <a:cxnLst/>
            <a:rect l="l" t="t" r="r" b="b"/>
            <a:pathLst>
              <a:path w="5274117" h="887810">
                <a:moveTo>
                  <a:pt x="70323" y="0"/>
                </a:moveTo>
                <a:lnTo>
                  <a:pt x="5203793" y="0"/>
                </a:lnTo>
                <a:cubicBezTo>
                  <a:pt x="5242632" y="0"/>
                  <a:pt x="5274117" y="31485"/>
                  <a:pt x="5274117" y="70323"/>
                </a:cubicBezTo>
                <a:lnTo>
                  <a:pt x="5274117" y="817486"/>
                </a:lnTo>
                <a:cubicBezTo>
                  <a:pt x="5274117" y="856325"/>
                  <a:pt x="5242632" y="887810"/>
                  <a:pt x="5203793" y="887810"/>
                </a:cubicBezTo>
                <a:lnTo>
                  <a:pt x="70323" y="887810"/>
                </a:lnTo>
                <a:cubicBezTo>
                  <a:pt x="31485" y="887810"/>
                  <a:pt x="0" y="856325"/>
                  <a:pt x="0" y="817486"/>
                </a:cubicBezTo>
                <a:lnTo>
                  <a:pt x="0" y="70323"/>
                </a:lnTo>
                <a:cubicBezTo>
                  <a:pt x="0" y="31511"/>
                  <a:pt x="31511" y="0"/>
                  <a:pt x="70323" y="0"/>
                </a:cubicBezTo>
                <a:close/>
              </a:path>
            </a:pathLst>
          </a:custGeom>
          <a:solidFill>
            <a:srgbClr val="0F172A"/>
          </a:solidFill>
          <a:ln w="12700">
            <a:solidFill>
              <a:srgbClr val="F59E0B">
                <a:alpha val="30196"/>
              </a:srgbClr>
            </a:solidFill>
            <a:prstDash val="solid"/>
          </a:ln>
        </p:spPr>
      </p:sp>
      <p:sp>
        <p:nvSpPr>
          <p:cNvPr id="21" name="Text 19"/>
          <p:cNvSpPr/>
          <p:nvPr/>
        </p:nvSpPr>
        <p:spPr>
          <a:xfrm>
            <a:off x="650474" y="4355541"/>
            <a:ext cx="5124683" cy="210965"/>
          </a:xfrm>
          <a:prstGeom prst="rect">
            <a:avLst/>
          </a:prstGeom>
          <a:noFill/>
          <a:ln/>
        </p:spPr>
        <p:txBody>
          <a:bodyPr wrap="square" lIns="0" tIns="0" rIns="0" bIns="0" rtlCol="0" anchor="ctr"/>
          <a:lstStyle/>
          <a:p>
            <a:pPr>
              <a:lnSpc>
                <a:spcPct val="130000"/>
              </a:lnSpc>
            </a:pPr>
            <a:r>
              <a:rPr lang="en-US" sz="1107" b="1" dirty="0">
                <a:solidFill>
                  <a:srgbClr val="F59E0B"/>
                </a:solidFill>
                <a:latin typeface="MiSans" pitchFamily="34" charset="0"/>
                <a:ea typeface="MiSans" pitchFamily="34" charset="-122"/>
                <a:cs typeface="MiSans" pitchFamily="34" charset="-120"/>
              </a:rPr>
              <a:t>Ưu điểm:</a:t>
            </a:r>
            <a:endParaRPr lang="en-US" sz="1600" dirty="0"/>
          </a:p>
        </p:txBody>
      </p:sp>
      <p:sp>
        <p:nvSpPr>
          <p:cNvPr id="22" name="Shape 20"/>
          <p:cNvSpPr/>
          <p:nvPr/>
        </p:nvSpPr>
        <p:spPr>
          <a:xfrm>
            <a:off x="675746" y="4671988"/>
            <a:ext cx="107680" cy="123063"/>
          </a:xfrm>
          <a:custGeom>
            <a:avLst/>
            <a:gdLst/>
            <a:ahLst/>
            <a:cxnLst/>
            <a:rect l="l" t="t" r="r" b="b"/>
            <a:pathLst>
              <a:path w="107680" h="123063">
                <a:moveTo>
                  <a:pt x="104507" y="16849"/>
                </a:moveTo>
                <a:cubicBezTo>
                  <a:pt x="107944" y="19349"/>
                  <a:pt x="108713" y="24156"/>
                  <a:pt x="106214" y="27593"/>
                </a:cubicBezTo>
                <a:lnTo>
                  <a:pt x="44682" y="112199"/>
                </a:lnTo>
                <a:cubicBezTo>
                  <a:pt x="43360" y="114025"/>
                  <a:pt x="41317" y="115155"/>
                  <a:pt x="39058" y="115347"/>
                </a:cubicBezTo>
                <a:cubicBezTo>
                  <a:pt x="36799" y="115540"/>
                  <a:pt x="34611" y="114698"/>
                  <a:pt x="33025" y="113112"/>
                </a:cubicBezTo>
                <a:lnTo>
                  <a:pt x="2259" y="82346"/>
                </a:lnTo>
                <a:cubicBezTo>
                  <a:pt x="-745" y="79342"/>
                  <a:pt x="-745" y="74463"/>
                  <a:pt x="2259" y="71458"/>
                </a:cubicBezTo>
                <a:cubicBezTo>
                  <a:pt x="5264" y="68454"/>
                  <a:pt x="10143" y="68454"/>
                  <a:pt x="13148" y="71458"/>
                </a:cubicBezTo>
                <a:lnTo>
                  <a:pt x="37544" y="95854"/>
                </a:lnTo>
                <a:lnTo>
                  <a:pt x="93787" y="18532"/>
                </a:lnTo>
                <a:cubicBezTo>
                  <a:pt x="96287" y="15094"/>
                  <a:pt x="101094" y="14325"/>
                  <a:pt x="104531" y="16825"/>
                </a:cubicBezTo>
                <a:close/>
              </a:path>
            </a:pathLst>
          </a:custGeom>
          <a:solidFill>
            <a:srgbClr val="10B981"/>
          </a:solidFill>
          <a:ln/>
        </p:spPr>
      </p:sp>
      <p:sp>
        <p:nvSpPr>
          <p:cNvPr id="23" name="Text 21"/>
          <p:cNvSpPr/>
          <p:nvPr/>
        </p:nvSpPr>
        <p:spPr>
          <a:xfrm>
            <a:off x="874624" y="4636828"/>
            <a:ext cx="1617396"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Thực thi nhanh, tốn ít token</a:t>
            </a:r>
            <a:endParaRPr lang="en-US" sz="1600" dirty="0"/>
          </a:p>
        </p:txBody>
      </p:sp>
      <p:sp>
        <p:nvSpPr>
          <p:cNvPr id="24" name="Shape 22"/>
          <p:cNvSpPr/>
          <p:nvPr/>
        </p:nvSpPr>
        <p:spPr>
          <a:xfrm>
            <a:off x="675746" y="4882953"/>
            <a:ext cx="107680" cy="123063"/>
          </a:xfrm>
          <a:custGeom>
            <a:avLst/>
            <a:gdLst/>
            <a:ahLst/>
            <a:cxnLst/>
            <a:rect l="l" t="t" r="r" b="b"/>
            <a:pathLst>
              <a:path w="107680" h="123063">
                <a:moveTo>
                  <a:pt x="104507" y="16849"/>
                </a:moveTo>
                <a:cubicBezTo>
                  <a:pt x="107944" y="19349"/>
                  <a:pt x="108713" y="24156"/>
                  <a:pt x="106214" y="27593"/>
                </a:cubicBezTo>
                <a:lnTo>
                  <a:pt x="44682" y="112199"/>
                </a:lnTo>
                <a:cubicBezTo>
                  <a:pt x="43360" y="114025"/>
                  <a:pt x="41317" y="115155"/>
                  <a:pt x="39058" y="115347"/>
                </a:cubicBezTo>
                <a:cubicBezTo>
                  <a:pt x="36799" y="115540"/>
                  <a:pt x="34611" y="114698"/>
                  <a:pt x="33025" y="113112"/>
                </a:cubicBezTo>
                <a:lnTo>
                  <a:pt x="2259" y="82346"/>
                </a:lnTo>
                <a:cubicBezTo>
                  <a:pt x="-745" y="79342"/>
                  <a:pt x="-745" y="74463"/>
                  <a:pt x="2259" y="71458"/>
                </a:cubicBezTo>
                <a:cubicBezTo>
                  <a:pt x="5264" y="68454"/>
                  <a:pt x="10143" y="68454"/>
                  <a:pt x="13148" y="71458"/>
                </a:cubicBezTo>
                <a:lnTo>
                  <a:pt x="37544" y="95854"/>
                </a:lnTo>
                <a:lnTo>
                  <a:pt x="93787" y="18532"/>
                </a:lnTo>
                <a:cubicBezTo>
                  <a:pt x="96287" y="15094"/>
                  <a:pt x="101094" y="14325"/>
                  <a:pt x="104531" y="16825"/>
                </a:cubicBezTo>
                <a:close/>
              </a:path>
            </a:pathLst>
          </a:custGeom>
          <a:solidFill>
            <a:srgbClr val="10B981"/>
          </a:solidFill>
          <a:ln/>
        </p:spPr>
      </p:sp>
      <p:sp>
        <p:nvSpPr>
          <p:cNvPr id="25" name="Text 23"/>
          <p:cNvSpPr/>
          <p:nvPr/>
        </p:nvSpPr>
        <p:spPr>
          <a:xfrm>
            <a:off x="874624" y="4847792"/>
            <a:ext cx="1274578"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Đơn giản, dễ sử dụng</a:t>
            </a:r>
            <a:endParaRPr lang="en-US" sz="1600" dirty="0"/>
          </a:p>
        </p:txBody>
      </p:sp>
      <p:sp>
        <p:nvSpPr>
          <p:cNvPr id="26" name="Shape 24"/>
          <p:cNvSpPr/>
          <p:nvPr/>
        </p:nvSpPr>
        <p:spPr>
          <a:xfrm>
            <a:off x="540597" y="5247746"/>
            <a:ext cx="5274117" cy="887810"/>
          </a:xfrm>
          <a:custGeom>
            <a:avLst/>
            <a:gdLst/>
            <a:ahLst/>
            <a:cxnLst/>
            <a:rect l="l" t="t" r="r" b="b"/>
            <a:pathLst>
              <a:path w="5274117" h="887810">
                <a:moveTo>
                  <a:pt x="70323" y="0"/>
                </a:moveTo>
                <a:lnTo>
                  <a:pt x="5203793" y="0"/>
                </a:lnTo>
                <a:cubicBezTo>
                  <a:pt x="5242632" y="0"/>
                  <a:pt x="5274117" y="31485"/>
                  <a:pt x="5274117" y="70323"/>
                </a:cubicBezTo>
                <a:lnTo>
                  <a:pt x="5274117" y="817486"/>
                </a:lnTo>
                <a:cubicBezTo>
                  <a:pt x="5274117" y="856325"/>
                  <a:pt x="5242632" y="887810"/>
                  <a:pt x="5203793" y="887810"/>
                </a:cubicBezTo>
                <a:lnTo>
                  <a:pt x="70323" y="887810"/>
                </a:lnTo>
                <a:cubicBezTo>
                  <a:pt x="31485" y="887810"/>
                  <a:pt x="0" y="856325"/>
                  <a:pt x="0" y="817486"/>
                </a:cubicBezTo>
                <a:lnTo>
                  <a:pt x="0" y="70323"/>
                </a:lnTo>
                <a:cubicBezTo>
                  <a:pt x="0" y="31511"/>
                  <a:pt x="31511" y="0"/>
                  <a:pt x="70323" y="0"/>
                </a:cubicBezTo>
                <a:close/>
              </a:path>
            </a:pathLst>
          </a:custGeom>
          <a:solidFill>
            <a:srgbClr val="0F172A"/>
          </a:solidFill>
          <a:ln w="12700">
            <a:solidFill>
              <a:srgbClr val="EF4444">
                <a:alpha val="30196"/>
              </a:srgbClr>
            </a:solidFill>
            <a:prstDash val="solid"/>
          </a:ln>
        </p:spPr>
      </p:sp>
      <p:sp>
        <p:nvSpPr>
          <p:cNvPr id="27" name="Text 25"/>
          <p:cNvSpPr/>
          <p:nvPr/>
        </p:nvSpPr>
        <p:spPr>
          <a:xfrm>
            <a:off x="650474" y="5357624"/>
            <a:ext cx="5124683" cy="210965"/>
          </a:xfrm>
          <a:prstGeom prst="rect">
            <a:avLst/>
          </a:prstGeom>
          <a:noFill/>
          <a:ln/>
        </p:spPr>
        <p:txBody>
          <a:bodyPr wrap="square" lIns="0" tIns="0" rIns="0" bIns="0" rtlCol="0" anchor="ctr"/>
          <a:lstStyle/>
          <a:p>
            <a:pPr>
              <a:lnSpc>
                <a:spcPct val="130000"/>
              </a:lnSpc>
            </a:pPr>
            <a:r>
              <a:rPr lang="en-US" sz="1107" b="1" dirty="0">
                <a:solidFill>
                  <a:srgbClr val="EF4444"/>
                </a:solidFill>
                <a:latin typeface="MiSans" pitchFamily="34" charset="0"/>
                <a:ea typeface="MiSans" pitchFamily="34" charset="-122"/>
                <a:cs typeface="MiSans" pitchFamily="34" charset="-120"/>
              </a:rPr>
              <a:t>Nhược điểm:</a:t>
            </a:r>
            <a:endParaRPr lang="en-US" sz="1600" dirty="0"/>
          </a:p>
        </p:txBody>
      </p:sp>
      <p:sp>
        <p:nvSpPr>
          <p:cNvPr id="28" name="Shape 26"/>
          <p:cNvSpPr/>
          <p:nvPr/>
        </p:nvSpPr>
        <p:spPr>
          <a:xfrm>
            <a:off x="683438" y="5674071"/>
            <a:ext cx="92297" cy="123063"/>
          </a:xfrm>
          <a:custGeom>
            <a:avLst/>
            <a:gdLst/>
            <a:ahLst/>
            <a:cxnLst/>
            <a:rect l="l" t="t" r="r" b="b"/>
            <a:pathLst>
              <a:path w="92297" h="123063">
                <a:moveTo>
                  <a:pt x="13244" y="17642"/>
                </a:moveTo>
                <a:cubicBezTo>
                  <a:pt x="10239" y="14638"/>
                  <a:pt x="5360" y="14638"/>
                  <a:pt x="2355" y="17642"/>
                </a:cubicBezTo>
                <a:cubicBezTo>
                  <a:pt x="-649" y="20647"/>
                  <a:pt x="-649" y="25526"/>
                  <a:pt x="2355" y="28530"/>
                </a:cubicBezTo>
                <a:lnTo>
                  <a:pt x="35381" y="61531"/>
                </a:lnTo>
                <a:lnTo>
                  <a:pt x="2380" y="94556"/>
                </a:lnTo>
                <a:cubicBezTo>
                  <a:pt x="-625" y="97561"/>
                  <a:pt x="-625" y="102440"/>
                  <a:pt x="2380" y="105445"/>
                </a:cubicBezTo>
                <a:cubicBezTo>
                  <a:pt x="5384" y="108449"/>
                  <a:pt x="10263" y="108449"/>
                  <a:pt x="13268" y="105445"/>
                </a:cubicBezTo>
                <a:lnTo>
                  <a:pt x="46269" y="72420"/>
                </a:lnTo>
                <a:lnTo>
                  <a:pt x="79294" y="105421"/>
                </a:lnTo>
                <a:cubicBezTo>
                  <a:pt x="82298" y="108425"/>
                  <a:pt x="87177" y="108425"/>
                  <a:pt x="90182" y="105421"/>
                </a:cubicBezTo>
                <a:cubicBezTo>
                  <a:pt x="93186" y="102416"/>
                  <a:pt x="93186" y="97537"/>
                  <a:pt x="90182" y="94532"/>
                </a:cubicBezTo>
                <a:lnTo>
                  <a:pt x="57157" y="61531"/>
                </a:lnTo>
                <a:lnTo>
                  <a:pt x="90158" y="28506"/>
                </a:lnTo>
                <a:cubicBezTo>
                  <a:pt x="93162" y="25502"/>
                  <a:pt x="93162" y="20623"/>
                  <a:pt x="90158" y="17618"/>
                </a:cubicBezTo>
                <a:cubicBezTo>
                  <a:pt x="87153" y="14614"/>
                  <a:pt x="82274" y="14614"/>
                  <a:pt x="79270" y="17618"/>
                </a:cubicBezTo>
                <a:lnTo>
                  <a:pt x="46269" y="50643"/>
                </a:lnTo>
                <a:lnTo>
                  <a:pt x="13244" y="17642"/>
                </a:lnTo>
                <a:close/>
              </a:path>
            </a:pathLst>
          </a:custGeom>
          <a:solidFill>
            <a:srgbClr val="EF4444"/>
          </a:solidFill>
          <a:ln/>
        </p:spPr>
      </p:sp>
      <p:sp>
        <p:nvSpPr>
          <p:cNvPr id="29" name="Text 27"/>
          <p:cNvSpPr/>
          <p:nvPr/>
        </p:nvSpPr>
        <p:spPr>
          <a:xfrm>
            <a:off x="874624" y="5638910"/>
            <a:ext cx="3023827"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Rủi ro over-generation (AI thêm code ngoài phạm vi)</a:t>
            </a:r>
            <a:endParaRPr lang="en-US" sz="1600" dirty="0"/>
          </a:p>
        </p:txBody>
      </p:sp>
      <p:sp>
        <p:nvSpPr>
          <p:cNvPr id="30" name="Shape 28"/>
          <p:cNvSpPr/>
          <p:nvPr/>
        </p:nvSpPr>
        <p:spPr>
          <a:xfrm>
            <a:off x="683438" y="5885035"/>
            <a:ext cx="92297" cy="123063"/>
          </a:xfrm>
          <a:custGeom>
            <a:avLst/>
            <a:gdLst/>
            <a:ahLst/>
            <a:cxnLst/>
            <a:rect l="l" t="t" r="r" b="b"/>
            <a:pathLst>
              <a:path w="92297" h="123063">
                <a:moveTo>
                  <a:pt x="13244" y="17642"/>
                </a:moveTo>
                <a:cubicBezTo>
                  <a:pt x="10239" y="14638"/>
                  <a:pt x="5360" y="14638"/>
                  <a:pt x="2355" y="17642"/>
                </a:cubicBezTo>
                <a:cubicBezTo>
                  <a:pt x="-649" y="20647"/>
                  <a:pt x="-649" y="25526"/>
                  <a:pt x="2355" y="28530"/>
                </a:cubicBezTo>
                <a:lnTo>
                  <a:pt x="35381" y="61531"/>
                </a:lnTo>
                <a:lnTo>
                  <a:pt x="2380" y="94556"/>
                </a:lnTo>
                <a:cubicBezTo>
                  <a:pt x="-625" y="97561"/>
                  <a:pt x="-625" y="102440"/>
                  <a:pt x="2380" y="105445"/>
                </a:cubicBezTo>
                <a:cubicBezTo>
                  <a:pt x="5384" y="108449"/>
                  <a:pt x="10263" y="108449"/>
                  <a:pt x="13268" y="105445"/>
                </a:cubicBezTo>
                <a:lnTo>
                  <a:pt x="46269" y="72420"/>
                </a:lnTo>
                <a:lnTo>
                  <a:pt x="79294" y="105421"/>
                </a:lnTo>
                <a:cubicBezTo>
                  <a:pt x="82298" y="108425"/>
                  <a:pt x="87177" y="108425"/>
                  <a:pt x="90182" y="105421"/>
                </a:cubicBezTo>
                <a:cubicBezTo>
                  <a:pt x="93186" y="102416"/>
                  <a:pt x="93186" y="97537"/>
                  <a:pt x="90182" y="94532"/>
                </a:cubicBezTo>
                <a:lnTo>
                  <a:pt x="57157" y="61531"/>
                </a:lnTo>
                <a:lnTo>
                  <a:pt x="90158" y="28506"/>
                </a:lnTo>
                <a:cubicBezTo>
                  <a:pt x="93162" y="25502"/>
                  <a:pt x="93162" y="20623"/>
                  <a:pt x="90158" y="17618"/>
                </a:cubicBezTo>
                <a:cubicBezTo>
                  <a:pt x="87153" y="14614"/>
                  <a:pt x="82274" y="14614"/>
                  <a:pt x="79270" y="17618"/>
                </a:cubicBezTo>
                <a:lnTo>
                  <a:pt x="46269" y="50643"/>
                </a:lnTo>
                <a:lnTo>
                  <a:pt x="13244" y="17642"/>
                </a:lnTo>
                <a:close/>
              </a:path>
            </a:pathLst>
          </a:custGeom>
          <a:solidFill>
            <a:srgbClr val="EF4444"/>
          </a:solidFill>
          <a:ln/>
        </p:spPr>
      </p:sp>
      <p:sp>
        <p:nvSpPr>
          <p:cNvPr id="31" name="Text 29"/>
          <p:cNvSpPr/>
          <p:nvPr/>
        </p:nvSpPr>
        <p:spPr>
          <a:xfrm>
            <a:off x="874624" y="5849875"/>
            <a:ext cx="1916262"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Không nhất quán về coding style</a:t>
            </a:r>
            <a:endParaRPr lang="en-US" sz="1600" dirty="0"/>
          </a:p>
        </p:txBody>
      </p:sp>
      <p:sp>
        <p:nvSpPr>
          <p:cNvPr id="32" name="Shape 30"/>
          <p:cNvSpPr/>
          <p:nvPr/>
        </p:nvSpPr>
        <p:spPr>
          <a:xfrm>
            <a:off x="6186786" y="1059218"/>
            <a:ext cx="5643305" cy="4720335"/>
          </a:xfrm>
          <a:custGeom>
            <a:avLst/>
            <a:gdLst/>
            <a:ahLst/>
            <a:cxnLst/>
            <a:rect l="l" t="t" r="r" b="b"/>
            <a:pathLst>
              <a:path w="5643305" h="4720335">
                <a:moveTo>
                  <a:pt x="105499" y="0"/>
                </a:moveTo>
                <a:lnTo>
                  <a:pt x="5537805" y="0"/>
                </a:lnTo>
                <a:cubicBezTo>
                  <a:pt x="5596071" y="0"/>
                  <a:pt x="5643305" y="47234"/>
                  <a:pt x="5643305" y="105499"/>
                </a:cubicBezTo>
                <a:lnTo>
                  <a:pt x="5643305" y="4614835"/>
                </a:lnTo>
                <a:cubicBezTo>
                  <a:pt x="5643305" y="4673101"/>
                  <a:pt x="5596071" y="4720335"/>
                  <a:pt x="5537805" y="4720335"/>
                </a:cubicBezTo>
                <a:lnTo>
                  <a:pt x="105499" y="4720335"/>
                </a:lnTo>
                <a:cubicBezTo>
                  <a:pt x="47234" y="4720335"/>
                  <a:pt x="0" y="4673101"/>
                  <a:pt x="0" y="4614835"/>
                </a:cubicBezTo>
                <a:lnTo>
                  <a:pt x="0" y="105499"/>
                </a:lnTo>
                <a:cubicBezTo>
                  <a:pt x="0" y="47273"/>
                  <a:pt x="47273" y="0"/>
                  <a:pt x="105499"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3" name="Shape 31"/>
          <p:cNvSpPr/>
          <p:nvPr/>
        </p:nvSpPr>
        <p:spPr>
          <a:xfrm>
            <a:off x="6377973" y="1274578"/>
            <a:ext cx="197779" cy="175804"/>
          </a:xfrm>
          <a:custGeom>
            <a:avLst/>
            <a:gdLst/>
            <a:ahLst/>
            <a:cxnLst/>
            <a:rect l="l" t="t" r="r" b="b"/>
            <a:pathLst>
              <a:path w="197779" h="175804">
                <a:moveTo>
                  <a:pt x="16482" y="67231"/>
                </a:moveTo>
                <a:lnTo>
                  <a:pt x="88314" y="96795"/>
                </a:lnTo>
                <a:cubicBezTo>
                  <a:pt x="91679" y="98169"/>
                  <a:pt x="95250" y="98890"/>
                  <a:pt x="98890" y="98890"/>
                </a:cubicBezTo>
                <a:cubicBezTo>
                  <a:pt x="102529" y="98890"/>
                  <a:pt x="106100" y="98169"/>
                  <a:pt x="109465" y="96795"/>
                </a:cubicBezTo>
                <a:lnTo>
                  <a:pt x="192698" y="62527"/>
                </a:lnTo>
                <a:cubicBezTo>
                  <a:pt x="195788" y="61257"/>
                  <a:pt x="197779" y="58269"/>
                  <a:pt x="197779" y="54939"/>
                </a:cubicBezTo>
                <a:cubicBezTo>
                  <a:pt x="197779" y="51608"/>
                  <a:pt x="195788" y="48621"/>
                  <a:pt x="192698" y="47350"/>
                </a:cubicBezTo>
                <a:lnTo>
                  <a:pt x="109465" y="13082"/>
                </a:lnTo>
                <a:cubicBezTo>
                  <a:pt x="106100" y="11709"/>
                  <a:pt x="102529" y="10988"/>
                  <a:pt x="98890" y="10988"/>
                </a:cubicBezTo>
                <a:cubicBezTo>
                  <a:pt x="95250" y="10988"/>
                  <a:pt x="91679" y="11709"/>
                  <a:pt x="88314" y="13082"/>
                </a:cubicBezTo>
                <a:lnTo>
                  <a:pt x="5082" y="47350"/>
                </a:lnTo>
                <a:cubicBezTo>
                  <a:pt x="1992" y="48621"/>
                  <a:pt x="0" y="51608"/>
                  <a:pt x="0" y="54939"/>
                </a:cubicBezTo>
                <a:lnTo>
                  <a:pt x="0" y="156575"/>
                </a:lnTo>
                <a:cubicBezTo>
                  <a:pt x="0" y="161142"/>
                  <a:pt x="3674" y="164816"/>
                  <a:pt x="8241" y="164816"/>
                </a:cubicBezTo>
                <a:cubicBezTo>
                  <a:pt x="12808" y="164816"/>
                  <a:pt x="16482" y="161142"/>
                  <a:pt x="16482" y="156575"/>
                </a:cubicBezTo>
                <a:lnTo>
                  <a:pt x="16482" y="67231"/>
                </a:lnTo>
                <a:close/>
                <a:moveTo>
                  <a:pt x="32963" y="91851"/>
                </a:moveTo>
                <a:lnTo>
                  <a:pt x="32963" y="131853"/>
                </a:lnTo>
                <a:cubicBezTo>
                  <a:pt x="32963" y="150051"/>
                  <a:pt x="62493" y="164816"/>
                  <a:pt x="98890" y="164816"/>
                </a:cubicBezTo>
                <a:cubicBezTo>
                  <a:pt x="135287" y="164816"/>
                  <a:pt x="164816" y="150051"/>
                  <a:pt x="164816" y="131853"/>
                </a:cubicBezTo>
                <a:lnTo>
                  <a:pt x="164816" y="91816"/>
                </a:lnTo>
                <a:lnTo>
                  <a:pt x="115749" y="112041"/>
                </a:lnTo>
                <a:cubicBezTo>
                  <a:pt x="110392" y="114238"/>
                  <a:pt x="104693" y="115371"/>
                  <a:pt x="98890" y="115371"/>
                </a:cubicBezTo>
                <a:cubicBezTo>
                  <a:pt x="93087" y="115371"/>
                  <a:pt x="87387" y="114238"/>
                  <a:pt x="82030" y="112041"/>
                </a:cubicBezTo>
                <a:lnTo>
                  <a:pt x="32963" y="91816"/>
                </a:lnTo>
                <a:close/>
              </a:path>
            </a:pathLst>
          </a:custGeom>
          <a:solidFill>
            <a:srgbClr val="10B981"/>
          </a:solidFill>
          <a:ln/>
        </p:spPr>
      </p:sp>
      <p:sp>
        <p:nvSpPr>
          <p:cNvPr id="34" name="Text 32"/>
          <p:cNvSpPr/>
          <p:nvPr/>
        </p:nvSpPr>
        <p:spPr>
          <a:xfrm>
            <a:off x="6586740" y="1239417"/>
            <a:ext cx="5151054" cy="246125"/>
          </a:xfrm>
          <a:prstGeom prst="rect">
            <a:avLst/>
          </a:prstGeom>
          <a:noFill/>
          <a:ln/>
        </p:spPr>
        <p:txBody>
          <a:bodyPr wrap="square" lIns="0" tIns="0" rIns="0" bIns="0" rtlCol="0" anchor="ctr"/>
          <a:lstStyle/>
          <a:p>
            <a:pPr>
              <a:lnSpc>
                <a:spcPct val="120000"/>
              </a:lnSpc>
            </a:pPr>
            <a:r>
              <a:rPr lang="en-US" sz="1384" b="1" dirty="0">
                <a:solidFill>
                  <a:srgbClr val="10B981"/>
                </a:solidFill>
                <a:latin typeface="MiSans" pitchFamily="34" charset="0"/>
                <a:ea typeface="MiSans" pitchFamily="34" charset="-122"/>
                <a:cs typeface="MiSans" pitchFamily="34" charset="-120"/>
              </a:rPr>
              <a:t>Few-shot Prompting</a:t>
            </a:r>
            <a:endParaRPr lang="en-US" sz="1600" dirty="0"/>
          </a:p>
        </p:txBody>
      </p:sp>
      <p:sp>
        <p:nvSpPr>
          <p:cNvPr id="35" name="Shape 33"/>
          <p:cNvSpPr/>
          <p:nvPr/>
        </p:nvSpPr>
        <p:spPr>
          <a:xfrm>
            <a:off x="6366985" y="1626186"/>
            <a:ext cx="5282907" cy="843859"/>
          </a:xfrm>
          <a:custGeom>
            <a:avLst/>
            <a:gdLst/>
            <a:ahLst/>
            <a:cxnLst/>
            <a:rect l="l" t="t" r="r" b="b"/>
            <a:pathLst>
              <a:path w="5282907" h="843859">
                <a:moveTo>
                  <a:pt x="70319" y="0"/>
                </a:moveTo>
                <a:lnTo>
                  <a:pt x="5212588" y="0"/>
                </a:lnTo>
                <a:cubicBezTo>
                  <a:pt x="5251424" y="0"/>
                  <a:pt x="5282907" y="31483"/>
                  <a:pt x="5282907" y="70319"/>
                </a:cubicBezTo>
                <a:lnTo>
                  <a:pt x="5282907" y="773540"/>
                </a:lnTo>
                <a:cubicBezTo>
                  <a:pt x="5282907" y="812376"/>
                  <a:pt x="5251424" y="843859"/>
                  <a:pt x="5212588" y="843859"/>
                </a:cubicBezTo>
                <a:lnTo>
                  <a:pt x="70319" y="843859"/>
                </a:lnTo>
                <a:cubicBezTo>
                  <a:pt x="31483" y="843859"/>
                  <a:pt x="0" y="812376"/>
                  <a:pt x="0" y="773540"/>
                </a:cubicBezTo>
                <a:lnTo>
                  <a:pt x="0" y="70319"/>
                </a:lnTo>
                <a:cubicBezTo>
                  <a:pt x="0" y="31509"/>
                  <a:pt x="31509" y="0"/>
                  <a:pt x="70319" y="0"/>
                </a:cubicBezTo>
                <a:close/>
              </a:path>
            </a:pathLst>
          </a:custGeom>
          <a:solidFill>
            <a:srgbClr val="0F172A"/>
          </a:solidFill>
          <a:ln/>
        </p:spPr>
      </p:sp>
      <p:sp>
        <p:nvSpPr>
          <p:cNvPr id="36" name="Text 34"/>
          <p:cNvSpPr/>
          <p:nvPr/>
        </p:nvSpPr>
        <p:spPr>
          <a:xfrm>
            <a:off x="6472468" y="1731668"/>
            <a:ext cx="5142264" cy="210965"/>
          </a:xfrm>
          <a:prstGeom prst="rect">
            <a:avLst/>
          </a:prstGeom>
          <a:noFill/>
          <a:ln/>
        </p:spPr>
        <p:txBody>
          <a:bodyPr wrap="square" lIns="0" tIns="0" rIns="0" bIns="0" rtlCol="0" anchor="ctr"/>
          <a:lstStyle/>
          <a:p>
            <a:pPr>
              <a:lnSpc>
                <a:spcPct val="130000"/>
              </a:lnSpc>
            </a:pPr>
            <a:r>
              <a:rPr lang="en-US" sz="1107" b="1" dirty="0">
                <a:solidFill>
                  <a:srgbClr val="F1F5F9"/>
                </a:solidFill>
                <a:latin typeface="MiSans" pitchFamily="34" charset="0"/>
                <a:ea typeface="MiSans" pitchFamily="34" charset="-122"/>
                <a:cs typeface="MiSans" pitchFamily="34" charset="-120"/>
              </a:rPr>
              <a:t>Định nghĩa:</a:t>
            </a:r>
            <a:endParaRPr lang="en-US" sz="1600" dirty="0"/>
          </a:p>
        </p:txBody>
      </p:sp>
      <p:sp>
        <p:nvSpPr>
          <p:cNvPr id="37" name="Text 35"/>
          <p:cNvSpPr/>
          <p:nvPr/>
        </p:nvSpPr>
        <p:spPr>
          <a:xfrm>
            <a:off x="6472468" y="2012955"/>
            <a:ext cx="5133474" cy="351608"/>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Truyền vào </a:t>
            </a:r>
            <a:pPr>
              <a:lnSpc>
                <a:spcPct val="120000"/>
              </a:lnSpc>
            </a:pPr>
            <a:r>
              <a:rPr lang="en-US" sz="969" b="1" dirty="0">
                <a:solidFill>
                  <a:srgbClr val="10B981"/>
                </a:solidFill>
                <a:latin typeface="MiSans" pitchFamily="34" charset="0"/>
                <a:ea typeface="MiSans" pitchFamily="34" charset="-122"/>
                <a:cs typeface="MiSans" pitchFamily="34" charset="-120"/>
              </a:rPr>
              <a:t>ví dụ mẫu</a:t>
            </a:r>
            <a:pPr>
              <a:lnSpc>
                <a:spcPct val="120000"/>
              </a:lnSpc>
            </a:pPr>
            <a:r>
              <a:rPr lang="en-US" sz="969" dirty="0">
                <a:solidFill>
                  <a:srgbClr val="F1F5F9">
                    <a:alpha val="80000"/>
                  </a:srgbClr>
                </a:solidFill>
                <a:latin typeface="MiSans" pitchFamily="34" charset="0"/>
                <a:ea typeface="MiSans" pitchFamily="34" charset="-122"/>
                <a:cs typeface="MiSans" pitchFamily="34" charset="-120"/>
              </a:rPr>
              <a:t> về cách viết decorator chuẩn mực trong Python có type hints, giúp mô hình gióng hàng (align) coding style.</a:t>
            </a:r>
            <a:endParaRPr lang="en-US" sz="1600" dirty="0"/>
          </a:p>
        </p:txBody>
      </p:sp>
      <p:sp>
        <p:nvSpPr>
          <p:cNvPr id="38" name="Shape 36"/>
          <p:cNvSpPr/>
          <p:nvPr/>
        </p:nvSpPr>
        <p:spPr>
          <a:xfrm>
            <a:off x="6366985" y="2575527"/>
            <a:ext cx="5282907" cy="1810780"/>
          </a:xfrm>
          <a:custGeom>
            <a:avLst/>
            <a:gdLst/>
            <a:ahLst/>
            <a:cxnLst/>
            <a:rect l="l" t="t" r="r" b="b"/>
            <a:pathLst>
              <a:path w="5282907" h="1810780">
                <a:moveTo>
                  <a:pt x="70313" y="0"/>
                </a:moveTo>
                <a:lnTo>
                  <a:pt x="5212594" y="0"/>
                </a:lnTo>
                <a:cubicBezTo>
                  <a:pt x="5251427" y="0"/>
                  <a:pt x="5282907" y="31480"/>
                  <a:pt x="5282907" y="70313"/>
                </a:cubicBezTo>
                <a:lnTo>
                  <a:pt x="5282907" y="1740468"/>
                </a:lnTo>
                <a:cubicBezTo>
                  <a:pt x="5282907" y="1779300"/>
                  <a:pt x="5251427" y="1810780"/>
                  <a:pt x="5212594" y="1810780"/>
                </a:cubicBezTo>
                <a:lnTo>
                  <a:pt x="70313" y="1810780"/>
                </a:lnTo>
                <a:cubicBezTo>
                  <a:pt x="31480" y="1810780"/>
                  <a:pt x="0" y="1779300"/>
                  <a:pt x="0" y="1740468"/>
                </a:cubicBezTo>
                <a:lnTo>
                  <a:pt x="0" y="70313"/>
                </a:lnTo>
                <a:cubicBezTo>
                  <a:pt x="0" y="31506"/>
                  <a:pt x="31506" y="0"/>
                  <a:pt x="70313" y="0"/>
                </a:cubicBezTo>
                <a:close/>
              </a:path>
            </a:pathLst>
          </a:custGeom>
          <a:solidFill>
            <a:srgbClr val="0F172A"/>
          </a:solidFill>
          <a:ln/>
        </p:spPr>
      </p:sp>
      <p:sp>
        <p:nvSpPr>
          <p:cNvPr id="39" name="Text 37"/>
          <p:cNvSpPr/>
          <p:nvPr/>
        </p:nvSpPr>
        <p:spPr>
          <a:xfrm>
            <a:off x="6472468" y="2681009"/>
            <a:ext cx="5142264" cy="210965"/>
          </a:xfrm>
          <a:prstGeom prst="rect">
            <a:avLst/>
          </a:prstGeom>
          <a:noFill/>
          <a:ln/>
        </p:spPr>
        <p:txBody>
          <a:bodyPr wrap="square" lIns="0" tIns="0" rIns="0" bIns="0" rtlCol="0" anchor="ctr"/>
          <a:lstStyle/>
          <a:p>
            <a:pPr>
              <a:lnSpc>
                <a:spcPct val="130000"/>
              </a:lnSpc>
            </a:pPr>
            <a:r>
              <a:rPr lang="en-US" sz="1107" b="1" dirty="0">
                <a:solidFill>
                  <a:srgbClr val="F1F5F9"/>
                </a:solidFill>
                <a:latin typeface="MiSans" pitchFamily="34" charset="0"/>
                <a:ea typeface="MiSans" pitchFamily="34" charset="-122"/>
                <a:cs typeface="MiSans" pitchFamily="34" charset="-120"/>
              </a:rPr>
              <a:t>Ví dụ prompt:</a:t>
            </a:r>
            <a:endParaRPr lang="en-US" sz="1600" dirty="0"/>
          </a:p>
        </p:txBody>
      </p:sp>
      <p:sp>
        <p:nvSpPr>
          <p:cNvPr id="40" name="Shape 38"/>
          <p:cNvSpPr/>
          <p:nvPr/>
        </p:nvSpPr>
        <p:spPr>
          <a:xfrm>
            <a:off x="6472468" y="2962296"/>
            <a:ext cx="4940089" cy="1318529"/>
          </a:xfrm>
          <a:custGeom>
            <a:avLst/>
            <a:gdLst/>
            <a:ahLst/>
            <a:cxnLst/>
            <a:rect l="l" t="t" r="r" b="b"/>
            <a:pathLst>
              <a:path w="4940089" h="1318529">
                <a:moveTo>
                  <a:pt x="70317" y="0"/>
                </a:moveTo>
                <a:lnTo>
                  <a:pt x="4869772" y="0"/>
                </a:lnTo>
                <a:cubicBezTo>
                  <a:pt x="4908581" y="0"/>
                  <a:pt x="4940089" y="31508"/>
                  <a:pt x="4940089" y="70317"/>
                </a:cubicBezTo>
                <a:lnTo>
                  <a:pt x="4940089" y="1248212"/>
                </a:lnTo>
                <a:cubicBezTo>
                  <a:pt x="4940089" y="1287021"/>
                  <a:pt x="4908581" y="1318529"/>
                  <a:pt x="4869772" y="1318529"/>
                </a:cubicBezTo>
                <a:lnTo>
                  <a:pt x="70317" y="1318529"/>
                </a:lnTo>
                <a:cubicBezTo>
                  <a:pt x="31508" y="1318529"/>
                  <a:pt x="0" y="1287021"/>
                  <a:pt x="0" y="1248212"/>
                </a:cubicBezTo>
                <a:lnTo>
                  <a:pt x="0" y="70317"/>
                </a:lnTo>
                <a:cubicBezTo>
                  <a:pt x="0" y="31482"/>
                  <a:pt x="31482" y="0"/>
                  <a:pt x="70317" y="0"/>
                </a:cubicBezTo>
                <a:close/>
              </a:path>
            </a:pathLst>
          </a:custGeom>
          <a:solidFill>
            <a:srgbClr val="1E293B"/>
          </a:solidFill>
          <a:ln/>
        </p:spPr>
      </p:sp>
      <p:sp>
        <p:nvSpPr>
          <p:cNvPr id="41" name="Text 39"/>
          <p:cNvSpPr/>
          <p:nvPr/>
        </p:nvSpPr>
        <p:spPr>
          <a:xfrm>
            <a:off x="6472468" y="2962296"/>
            <a:ext cx="4997226" cy="1318529"/>
          </a:xfrm>
          <a:prstGeom prst="rect">
            <a:avLst/>
          </a:prstGeom>
          <a:noFill/>
          <a:ln/>
        </p:spPr>
        <p:txBody>
          <a:bodyPr wrap="square" lIns="105482" tIns="105482" rIns="105482" bIns="105482" rtlCol="0" anchor="ctr"/>
          <a:lstStyle/>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"Here is an example of a well-written</a:t>
            </a:r>
            <a:endParaRPr lang="en-US" sz="1600" dirty="0"/>
          </a:p>
          <a:p>
            <a:pPr>
              <a:lnSpc>
                <a:spcPct val="130000"/>
              </a:lnSpc>
            </a:pPr>
            <a:r>
              <a:rPr lang="en-US" sz="900" dirty="0">
                <a:solidFill>
                  <a:srgbClr val="F1F5F9">
                    <a:alpha val="50000"/>
                  </a:srgbClr>
                </a:solidFill>
                <a:latin typeface="MiSans" pitchFamily="34" charset="0"/>
                <a:ea typeface="MiSans" pitchFamily="34" charset="-122"/>
                <a:cs typeface="MiSans" pitchFamily="34" charset="-120"/>
              </a:rPr>
              <a:t>decorator in Python:</a:t>
            </a:r>
            <a:endParaRPr lang="en-US" sz="1600" dirty="0"/>
          </a:p>
          <a:p>
            <a:pPr>
              <a:lnSpc>
                <a:spcPct val="130000"/>
              </a:lnSpc>
            </a:pPr>
            <a:r>
              <a:rPr lang="en-US" sz="900" dirty="0">
                <a:solidFill>
                  <a:srgbClr val="8B5CF6"/>
                </a:solidFill>
                <a:latin typeface="MiSans" pitchFamily="34" charset="0"/>
                <a:ea typeface="MiSans" pitchFamily="34" charset="-122"/>
                <a:cs typeface="MiSans" pitchFamily="34" charset="-120"/>
              </a:rPr>
              <a:t>from</a:t>
            </a:r>
            <a:pPr>
              <a:lnSpc>
                <a:spcPct val="130000"/>
              </a:lnSpc>
            </a:pPr>
            <a:r>
              <a:rPr lang="en-US" sz="900" dirty="0">
                <a:solidFill>
                  <a:srgbClr val="F1F5F9"/>
                </a:solidFill>
                <a:latin typeface="MiSans" pitchFamily="34" charset="0"/>
                <a:ea typeface="MiSans" pitchFamily="34" charset="-122"/>
                <a:cs typeface="MiSans" pitchFamily="34" charset="-120"/>
              </a:rPr>
              <a:t> functools </a:t>
            </a:r>
            <a:pPr>
              <a:lnSpc>
                <a:spcPct val="130000"/>
              </a:lnSpc>
            </a:pPr>
            <a:r>
              <a:rPr lang="en-US" sz="900" dirty="0">
                <a:solidFill>
                  <a:srgbClr val="8B5CF6"/>
                </a:solidFill>
                <a:latin typeface="MiSans" pitchFamily="34" charset="0"/>
                <a:ea typeface="MiSans" pitchFamily="34" charset="-122"/>
                <a:cs typeface="MiSans" pitchFamily="34" charset="-120"/>
              </a:rPr>
              <a:t>import</a:t>
            </a:r>
            <a:pPr>
              <a:lnSpc>
                <a:spcPct val="130000"/>
              </a:lnSpc>
            </a:pPr>
            <a:r>
              <a:rPr lang="en-US" sz="900" dirty="0">
                <a:solidFill>
                  <a:srgbClr val="F1F5F9"/>
                </a:solidFill>
                <a:latin typeface="MiSans" pitchFamily="34" charset="0"/>
                <a:ea typeface="MiSans" pitchFamily="34" charset="-122"/>
                <a:cs typeface="MiSans" pitchFamily="34" charset="-120"/>
              </a:rPr>
              <a:t> wraps</a:t>
            </a:r>
            <a:endParaRPr lang="en-US" sz="1600" dirty="0"/>
          </a:p>
          <a:p>
            <a:pPr>
              <a:lnSpc>
                <a:spcPct val="130000"/>
              </a:lnSpc>
            </a:pPr>
            <a:r>
              <a:rPr lang="en-US" sz="900" dirty="0">
                <a:solidFill>
                  <a:srgbClr val="8B5CF6"/>
                </a:solidFill>
                <a:latin typeface="MiSans" pitchFamily="34" charset="0"/>
                <a:ea typeface="MiSans" pitchFamily="34" charset="-122"/>
                <a:cs typeface="MiSans" pitchFamily="34" charset="-120"/>
              </a:rPr>
              <a:t>from</a:t>
            </a:r>
            <a:pPr>
              <a:lnSpc>
                <a:spcPct val="130000"/>
              </a:lnSpc>
            </a:pPr>
            <a:r>
              <a:rPr lang="en-US" sz="900" dirty="0">
                <a:solidFill>
                  <a:srgbClr val="F1F5F9"/>
                </a:solidFill>
                <a:latin typeface="MiSans" pitchFamily="34" charset="0"/>
                <a:ea typeface="MiSans" pitchFamily="34" charset="-122"/>
                <a:cs typeface="MiSans" pitchFamily="34" charset="-120"/>
              </a:rPr>
              <a:t> typing </a:t>
            </a:r>
            <a:pPr>
              <a:lnSpc>
                <a:spcPct val="130000"/>
              </a:lnSpc>
            </a:pPr>
            <a:r>
              <a:rPr lang="en-US" sz="900" dirty="0">
                <a:solidFill>
                  <a:srgbClr val="8B5CF6"/>
                </a:solidFill>
                <a:latin typeface="MiSans" pitchFamily="34" charset="0"/>
                <a:ea typeface="MiSans" pitchFamily="34" charset="-122"/>
                <a:cs typeface="MiSans" pitchFamily="34" charset="-120"/>
              </a:rPr>
              <a:t>import</a:t>
            </a:r>
            <a:pPr>
              <a:lnSpc>
                <a:spcPct val="130000"/>
              </a:lnSpc>
            </a:pPr>
            <a:r>
              <a:rPr lang="en-US" sz="900" dirty="0">
                <a:solidFill>
                  <a:srgbClr val="F1F5F9"/>
                </a:solidFill>
                <a:latin typeface="MiSans" pitchFamily="34" charset="0"/>
                <a:ea typeface="MiSans" pitchFamily="34" charset="-122"/>
                <a:cs typeface="MiSans" pitchFamily="34" charset="-120"/>
              </a:rPr>
              <a:t> Callable, Any</a:t>
            </a:r>
            <a:endParaRPr lang="en-US" sz="1600" dirty="0"/>
          </a:p>
          <a:p>
            <a:pPr>
              <a:lnSpc>
                <a:spcPct val="130000"/>
              </a:lnSpc>
            </a:pPr>
            <a:r>
              <a:rPr lang="en-US" sz="900" dirty="0">
                <a:solidFill>
                  <a:srgbClr val="8B5CF6"/>
                </a:solidFill>
                <a:latin typeface="MiSans" pitchFamily="34" charset="0"/>
                <a:ea typeface="MiSans" pitchFamily="34" charset="-122"/>
                <a:cs typeface="MiSans" pitchFamily="34" charset="-120"/>
              </a:rPr>
              <a:t>def</a:t>
            </a:r>
            <a:pPr>
              <a:lnSpc>
                <a:spcPct val="130000"/>
              </a:lnSpc>
            </a:pPr>
            <a:r>
              <a:rPr lang="en-US" sz="900" dirty="0">
                <a:solidFill>
                  <a:srgbClr val="3B82F6"/>
                </a:solidFill>
                <a:latin typeface="MiSans" pitchFamily="34" charset="0"/>
                <a:ea typeface="MiSans" pitchFamily="34" charset="-122"/>
                <a:cs typeface="MiSans" pitchFamily="34" charset="-120"/>
              </a:rPr>
              <a:t>example_decorator</a:t>
            </a:r>
            <a:pPr>
              <a:lnSpc>
                <a:spcPct val="130000"/>
              </a:lnSpc>
            </a:pPr>
            <a:r>
              <a:rPr lang="en-US" sz="900" dirty="0">
                <a:solidFill>
                  <a:srgbClr val="F1F5F9"/>
                </a:solidFill>
                <a:latin typeface="MiSans" pitchFamily="34" charset="0"/>
                <a:ea typeface="MiSans" pitchFamily="34" charset="-122"/>
                <a:cs typeface="MiSans" pitchFamily="34" charset="-120"/>
              </a:rPr>
              <a:t>(func: Callable) -&gt; Callable:</a:t>
            </a:r>
            <a:endParaRPr lang="en-US" sz="1600" dirty="0"/>
          </a:p>
          <a:p>
            <a:pPr>
              <a:lnSpc>
                <a:spcPct val="130000"/>
              </a:lnSpc>
            </a:pPr>
            <a:r>
              <a:rPr lang="en-US" sz="900" dirty="0">
                <a:solidFill>
                  <a:srgbClr val="F1F5F9"/>
                </a:solidFill>
                <a:latin typeface="MiSans" pitchFamily="34" charset="0"/>
                <a:ea typeface="MiSans" pitchFamily="34" charset="-122"/>
                <a:cs typeface="MiSans" pitchFamily="34" charset="-120"/>
              </a:rPr>
              <a:t>@wraps(func)</a:t>
            </a:r>
            <a:endParaRPr lang="en-US" sz="1600" dirty="0"/>
          </a:p>
          <a:p>
            <a:pPr>
              <a:lnSpc>
                <a:spcPct val="130000"/>
              </a:lnSpc>
            </a:pPr>
            <a:r>
              <a:rPr lang="en-US" sz="900" dirty="0">
                <a:solidFill>
                  <a:srgbClr val="8B5CF6"/>
                </a:solidFill>
                <a:latin typeface="MiSans" pitchFamily="34" charset="0"/>
                <a:ea typeface="MiSans" pitchFamily="34" charset="-122"/>
                <a:cs typeface="MiSans" pitchFamily="34" charset="-120"/>
              </a:rPr>
              <a:t>def</a:t>
            </a:r>
            <a:pPr>
              <a:lnSpc>
                <a:spcPct val="130000"/>
              </a:lnSpc>
            </a:pPr>
            <a:r>
              <a:rPr lang="en-US" sz="900" dirty="0">
                <a:solidFill>
                  <a:srgbClr val="3B82F6"/>
                </a:solidFill>
                <a:latin typeface="MiSans" pitchFamily="34" charset="0"/>
                <a:ea typeface="MiSans" pitchFamily="34" charset="-122"/>
                <a:cs typeface="MiSans" pitchFamily="34" charset="-120"/>
              </a:rPr>
              <a:t>wrapper</a:t>
            </a:r>
            <a:pPr>
              <a:lnSpc>
                <a:spcPct val="130000"/>
              </a:lnSpc>
            </a:pPr>
            <a:r>
              <a:rPr lang="en-US" sz="900" dirty="0">
                <a:solidFill>
                  <a:srgbClr val="F1F5F9"/>
                </a:solidFill>
                <a:latin typeface="MiSans" pitchFamily="34" charset="0"/>
                <a:ea typeface="MiSans" pitchFamily="34" charset="-122"/>
                <a:cs typeface="MiSans" pitchFamily="34" charset="-120"/>
              </a:rPr>
              <a:t>(*args: Any, **kwargs: Any) -&gt; Any:</a:t>
            </a:r>
            <a:endParaRPr lang="en-US" sz="1600" dirty="0"/>
          </a:p>
          <a:p>
            <a:pPr>
              <a:lnSpc>
                <a:spcPct val="130000"/>
              </a:lnSpc>
            </a:pPr>
            <a:r>
              <a:rPr lang="en-US" sz="900" dirty="0">
                <a:solidFill>
                  <a:srgbClr val="F1F5F9"/>
                </a:solidFill>
                <a:latin typeface="MiSans" pitchFamily="34" charset="0"/>
                <a:ea typeface="MiSans" pitchFamily="34" charset="-122"/>
                <a:cs typeface="MiSans" pitchFamily="34" charset="-120"/>
              </a:rPr>
              <a:t># Implementation here</a:t>
            </a:r>
            <a:endParaRPr lang="en-US" sz="1600" dirty="0"/>
          </a:p>
          <a:p>
            <a:pPr>
              <a:lnSpc>
                <a:spcPct val="130000"/>
              </a:lnSpc>
            </a:pPr>
            <a:r>
              <a:rPr lang="en-US" sz="900" dirty="0">
                <a:solidFill>
                  <a:srgbClr val="8B5CF6"/>
                </a:solidFill>
                <a:latin typeface="MiSans" pitchFamily="34" charset="0"/>
                <a:ea typeface="MiSans" pitchFamily="34" charset="-122"/>
                <a:cs typeface="MiSans" pitchFamily="34" charset="-120"/>
              </a:rPr>
              <a:t>return</a:t>
            </a:r>
            <a:pPr>
              <a:lnSpc>
                <a:spcPct val="130000"/>
              </a:lnSpc>
            </a:pPr>
            <a:r>
              <a:rPr lang="en-US" sz="900" dirty="0">
                <a:solidFill>
                  <a:srgbClr val="F1F5F9"/>
                </a:solidFill>
                <a:latin typeface="MiSans" pitchFamily="34" charset="0"/>
                <a:ea typeface="MiSans" pitchFamily="34" charset="-122"/>
                <a:cs typeface="MiSans" pitchFamily="34" charset="-120"/>
              </a:rPr>
              <a:t> func(*args, **kwargs)</a:t>
            </a:r>
            <a:endParaRPr lang="en-US" sz="1600" dirty="0"/>
          </a:p>
          <a:p>
            <a:pPr>
              <a:lnSpc>
                <a:spcPct val="130000"/>
              </a:lnSpc>
            </a:pPr>
            <a:r>
              <a:rPr lang="en-US" sz="900" dirty="0">
                <a:solidFill>
                  <a:srgbClr val="8B5CF6"/>
                </a:solidFill>
                <a:latin typeface="MiSans" pitchFamily="34" charset="0"/>
                <a:ea typeface="MiSans" pitchFamily="34" charset="-122"/>
                <a:cs typeface="MiSans" pitchFamily="34" charset="-120"/>
              </a:rPr>
              <a:t>return</a:t>
            </a:r>
            <a:pPr>
              <a:lnSpc>
                <a:spcPct val="130000"/>
              </a:lnSpc>
            </a:pPr>
            <a:r>
              <a:rPr lang="en-US" sz="900" dirty="0">
                <a:solidFill>
                  <a:srgbClr val="F1F5F9"/>
                </a:solidFill>
                <a:latin typeface="MiSans" pitchFamily="34" charset="0"/>
                <a:ea typeface="MiSans" pitchFamily="34" charset="-122"/>
                <a:cs typeface="MiSans" pitchFamily="34" charset="-120"/>
              </a:rPr>
              <a:t> wrapper"</a:t>
            </a:r>
            <a:endParaRPr lang="en-US" sz="1600" dirty="0"/>
          </a:p>
        </p:txBody>
      </p:sp>
      <p:sp>
        <p:nvSpPr>
          <p:cNvPr id="42" name="Shape 40"/>
          <p:cNvSpPr/>
          <p:nvPr/>
        </p:nvSpPr>
        <p:spPr>
          <a:xfrm>
            <a:off x="6371380" y="4496185"/>
            <a:ext cx="5274117" cy="1098774"/>
          </a:xfrm>
          <a:custGeom>
            <a:avLst/>
            <a:gdLst/>
            <a:ahLst/>
            <a:cxnLst/>
            <a:rect l="l" t="t" r="r" b="b"/>
            <a:pathLst>
              <a:path w="5274117" h="1098774">
                <a:moveTo>
                  <a:pt x="70322" y="0"/>
                </a:moveTo>
                <a:lnTo>
                  <a:pt x="5203795" y="0"/>
                </a:lnTo>
                <a:cubicBezTo>
                  <a:pt x="5242633" y="0"/>
                  <a:pt x="5274117" y="31484"/>
                  <a:pt x="5274117" y="70322"/>
                </a:cubicBezTo>
                <a:lnTo>
                  <a:pt x="5274117" y="1028453"/>
                </a:lnTo>
                <a:cubicBezTo>
                  <a:pt x="5274117" y="1067290"/>
                  <a:pt x="5242633" y="1098774"/>
                  <a:pt x="5203795" y="1098774"/>
                </a:cubicBezTo>
                <a:lnTo>
                  <a:pt x="70322" y="1098774"/>
                </a:lnTo>
                <a:cubicBezTo>
                  <a:pt x="31510" y="1098774"/>
                  <a:pt x="0" y="1067264"/>
                  <a:pt x="0" y="1028453"/>
                </a:cubicBezTo>
                <a:lnTo>
                  <a:pt x="0" y="70322"/>
                </a:lnTo>
                <a:cubicBezTo>
                  <a:pt x="0" y="31510"/>
                  <a:pt x="31510" y="0"/>
                  <a:pt x="70322" y="0"/>
                </a:cubicBezTo>
                <a:close/>
              </a:path>
            </a:pathLst>
          </a:custGeom>
          <a:solidFill>
            <a:srgbClr val="0F172A"/>
          </a:solidFill>
          <a:ln w="12700">
            <a:solidFill>
              <a:srgbClr val="10B981">
                <a:alpha val="30196"/>
              </a:srgbClr>
            </a:solidFill>
            <a:prstDash val="solid"/>
          </a:ln>
        </p:spPr>
      </p:sp>
      <p:sp>
        <p:nvSpPr>
          <p:cNvPr id="43" name="Text 41"/>
          <p:cNvSpPr/>
          <p:nvPr/>
        </p:nvSpPr>
        <p:spPr>
          <a:xfrm>
            <a:off x="6481258" y="4606062"/>
            <a:ext cx="5124683" cy="210965"/>
          </a:xfrm>
          <a:prstGeom prst="rect">
            <a:avLst/>
          </a:prstGeom>
          <a:noFill/>
          <a:ln/>
        </p:spPr>
        <p:txBody>
          <a:bodyPr wrap="square" lIns="0" tIns="0" rIns="0" bIns="0" rtlCol="0" anchor="ctr"/>
          <a:lstStyle/>
          <a:p>
            <a:pPr>
              <a:lnSpc>
                <a:spcPct val="130000"/>
              </a:lnSpc>
            </a:pPr>
            <a:r>
              <a:rPr lang="en-US" sz="1107" b="1" dirty="0">
                <a:solidFill>
                  <a:srgbClr val="10B981"/>
                </a:solidFill>
                <a:latin typeface="MiSans" pitchFamily="34" charset="0"/>
                <a:ea typeface="MiSans" pitchFamily="34" charset="-122"/>
                <a:cs typeface="MiSans" pitchFamily="34" charset="-120"/>
              </a:rPr>
              <a:t>Ưu điểm:</a:t>
            </a:r>
            <a:endParaRPr lang="en-US" sz="1600" dirty="0"/>
          </a:p>
        </p:txBody>
      </p:sp>
      <p:sp>
        <p:nvSpPr>
          <p:cNvPr id="44" name="Shape 42"/>
          <p:cNvSpPr/>
          <p:nvPr/>
        </p:nvSpPr>
        <p:spPr>
          <a:xfrm>
            <a:off x="6506530" y="4922509"/>
            <a:ext cx="107680" cy="123063"/>
          </a:xfrm>
          <a:custGeom>
            <a:avLst/>
            <a:gdLst/>
            <a:ahLst/>
            <a:cxnLst/>
            <a:rect l="l" t="t" r="r" b="b"/>
            <a:pathLst>
              <a:path w="107680" h="123063">
                <a:moveTo>
                  <a:pt x="104507" y="16849"/>
                </a:moveTo>
                <a:cubicBezTo>
                  <a:pt x="107944" y="19349"/>
                  <a:pt x="108713" y="24156"/>
                  <a:pt x="106214" y="27593"/>
                </a:cubicBezTo>
                <a:lnTo>
                  <a:pt x="44682" y="112199"/>
                </a:lnTo>
                <a:cubicBezTo>
                  <a:pt x="43360" y="114025"/>
                  <a:pt x="41317" y="115155"/>
                  <a:pt x="39058" y="115347"/>
                </a:cubicBezTo>
                <a:cubicBezTo>
                  <a:pt x="36799" y="115540"/>
                  <a:pt x="34611" y="114698"/>
                  <a:pt x="33025" y="113112"/>
                </a:cubicBezTo>
                <a:lnTo>
                  <a:pt x="2259" y="82346"/>
                </a:lnTo>
                <a:cubicBezTo>
                  <a:pt x="-745" y="79342"/>
                  <a:pt x="-745" y="74463"/>
                  <a:pt x="2259" y="71458"/>
                </a:cubicBezTo>
                <a:cubicBezTo>
                  <a:pt x="5264" y="68454"/>
                  <a:pt x="10143" y="68454"/>
                  <a:pt x="13148" y="71458"/>
                </a:cubicBezTo>
                <a:lnTo>
                  <a:pt x="37544" y="95854"/>
                </a:lnTo>
                <a:lnTo>
                  <a:pt x="93787" y="18532"/>
                </a:lnTo>
                <a:cubicBezTo>
                  <a:pt x="96287" y="15094"/>
                  <a:pt x="101094" y="14325"/>
                  <a:pt x="104531" y="16825"/>
                </a:cubicBezTo>
                <a:close/>
              </a:path>
            </a:pathLst>
          </a:custGeom>
          <a:solidFill>
            <a:srgbClr val="10B981"/>
          </a:solidFill>
          <a:ln/>
        </p:spPr>
      </p:sp>
      <p:sp>
        <p:nvSpPr>
          <p:cNvPr id="45" name="Text 43"/>
          <p:cNvSpPr/>
          <p:nvPr/>
        </p:nvSpPr>
        <p:spPr>
          <a:xfrm>
            <a:off x="6705408" y="4887348"/>
            <a:ext cx="2004164"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Tạo sự khác biệt lớn về độ ổn định</a:t>
            </a:r>
            <a:endParaRPr lang="en-US" sz="1600" dirty="0"/>
          </a:p>
        </p:txBody>
      </p:sp>
      <p:sp>
        <p:nvSpPr>
          <p:cNvPr id="46" name="Shape 44"/>
          <p:cNvSpPr/>
          <p:nvPr/>
        </p:nvSpPr>
        <p:spPr>
          <a:xfrm>
            <a:off x="6506530" y="5133474"/>
            <a:ext cx="107680" cy="123063"/>
          </a:xfrm>
          <a:custGeom>
            <a:avLst/>
            <a:gdLst/>
            <a:ahLst/>
            <a:cxnLst/>
            <a:rect l="l" t="t" r="r" b="b"/>
            <a:pathLst>
              <a:path w="107680" h="123063">
                <a:moveTo>
                  <a:pt x="104507" y="16849"/>
                </a:moveTo>
                <a:cubicBezTo>
                  <a:pt x="107944" y="19349"/>
                  <a:pt x="108713" y="24156"/>
                  <a:pt x="106214" y="27593"/>
                </a:cubicBezTo>
                <a:lnTo>
                  <a:pt x="44682" y="112199"/>
                </a:lnTo>
                <a:cubicBezTo>
                  <a:pt x="43360" y="114025"/>
                  <a:pt x="41317" y="115155"/>
                  <a:pt x="39058" y="115347"/>
                </a:cubicBezTo>
                <a:cubicBezTo>
                  <a:pt x="36799" y="115540"/>
                  <a:pt x="34611" y="114698"/>
                  <a:pt x="33025" y="113112"/>
                </a:cubicBezTo>
                <a:lnTo>
                  <a:pt x="2259" y="82346"/>
                </a:lnTo>
                <a:cubicBezTo>
                  <a:pt x="-745" y="79342"/>
                  <a:pt x="-745" y="74463"/>
                  <a:pt x="2259" y="71458"/>
                </a:cubicBezTo>
                <a:cubicBezTo>
                  <a:pt x="5264" y="68454"/>
                  <a:pt x="10143" y="68454"/>
                  <a:pt x="13148" y="71458"/>
                </a:cubicBezTo>
                <a:lnTo>
                  <a:pt x="37544" y="95854"/>
                </a:lnTo>
                <a:lnTo>
                  <a:pt x="93787" y="18532"/>
                </a:lnTo>
                <a:cubicBezTo>
                  <a:pt x="96287" y="15094"/>
                  <a:pt x="101094" y="14325"/>
                  <a:pt x="104531" y="16825"/>
                </a:cubicBezTo>
                <a:close/>
              </a:path>
            </a:pathLst>
          </a:custGeom>
          <a:solidFill>
            <a:srgbClr val="10B981"/>
          </a:solidFill>
          <a:ln/>
        </p:spPr>
      </p:sp>
      <p:sp>
        <p:nvSpPr>
          <p:cNvPr id="47" name="Text 45"/>
          <p:cNvSpPr/>
          <p:nvPr/>
        </p:nvSpPr>
        <p:spPr>
          <a:xfrm>
            <a:off x="6705408" y="5098313"/>
            <a:ext cx="2522786"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Đóng vai trò "hàng rào" giới hạn sáng tạo AI</a:t>
            </a:r>
            <a:endParaRPr lang="en-US" sz="1600" dirty="0"/>
          </a:p>
        </p:txBody>
      </p:sp>
      <p:sp>
        <p:nvSpPr>
          <p:cNvPr id="48" name="Shape 46"/>
          <p:cNvSpPr/>
          <p:nvPr/>
        </p:nvSpPr>
        <p:spPr>
          <a:xfrm>
            <a:off x="6506530" y="5344438"/>
            <a:ext cx="107680" cy="123063"/>
          </a:xfrm>
          <a:custGeom>
            <a:avLst/>
            <a:gdLst/>
            <a:ahLst/>
            <a:cxnLst/>
            <a:rect l="l" t="t" r="r" b="b"/>
            <a:pathLst>
              <a:path w="107680" h="123063">
                <a:moveTo>
                  <a:pt x="104507" y="16849"/>
                </a:moveTo>
                <a:cubicBezTo>
                  <a:pt x="107944" y="19349"/>
                  <a:pt x="108713" y="24156"/>
                  <a:pt x="106214" y="27593"/>
                </a:cubicBezTo>
                <a:lnTo>
                  <a:pt x="44682" y="112199"/>
                </a:lnTo>
                <a:cubicBezTo>
                  <a:pt x="43360" y="114025"/>
                  <a:pt x="41317" y="115155"/>
                  <a:pt x="39058" y="115347"/>
                </a:cubicBezTo>
                <a:cubicBezTo>
                  <a:pt x="36799" y="115540"/>
                  <a:pt x="34611" y="114698"/>
                  <a:pt x="33025" y="113112"/>
                </a:cubicBezTo>
                <a:lnTo>
                  <a:pt x="2259" y="82346"/>
                </a:lnTo>
                <a:cubicBezTo>
                  <a:pt x="-745" y="79342"/>
                  <a:pt x="-745" y="74463"/>
                  <a:pt x="2259" y="71458"/>
                </a:cubicBezTo>
                <a:cubicBezTo>
                  <a:pt x="5264" y="68454"/>
                  <a:pt x="10143" y="68454"/>
                  <a:pt x="13148" y="71458"/>
                </a:cubicBezTo>
                <a:lnTo>
                  <a:pt x="37544" y="95854"/>
                </a:lnTo>
                <a:lnTo>
                  <a:pt x="93787" y="18532"/>
                </a:lnTo>
                <a:cubicBezTo>
                  <a:pt x="96287" y="15094"/>
                  <a:pt x="101094" y="14325"/>
                  <a:pt x="104531" y="16825"/>
                </a:cubicBezTo>
                <a:close/>
              </a:path>
            </a:pathLst>
          </a:custGeom>
          <a:solidFill>
            <a:srgbClr val="10B981"/>
          </a:solidFill>
          <a:ln/>
        </p:spPr>
      </p:sp>
      <p:sp>
        <p:nvSpPr>
          <p:cNvPr id="49" name="Text 47"/>
          <p:cNvSpPr/>
          <p:nvPr/>
        </p:nvSpPr>
        <p:spPr>
          <a:xfrm>
            <a:off x="6705408" y="5309278"/>
            <a:ext cx="2109647" cy="175804"/>
          </a:xfrm>
          <a:prstGeom prst="rect">
            <a:avLst/>
          </a:prstGeom>
          <a:noFill/>
          <a:ln/>
        </p:spPr>
        <p:txBody>
          <a:bodyPr wrap="square" lIns="0" tIns="0" rIns="0" bIns="0" rtlCol="0" anchor="ctr"/>
          <a:lstStyle/>
          <a:p>
            <a:pPr>
              <a:lnSpc>
                <a:spcPct val="120000"/>
              </a:lnSpc>
            </a:pPr>
            <a:r>
              <a:rPr lang="en-US" sz="969" dirty="0">
                <a:solidFill>
                  <a:srgbClr val="F1F5F9">
                    <a:alpha val="80000"/>
                  </a:srgbClr>
                </a:solidFill>
                <a:latin typeface="MiSans" pitchFamily="34" charset="0"/>
                <a:ea typeface="MiSans" pitchFamily="34" charset="-122"/>
                <a:cs typeface="MiSans" pitchFamily="34" charset="-120"/>
              </a:rPr>
              <a:t>Ép buộc tuân thủ coding convention</a:t>
            </a:r>
            <a:endParaRPr lang="en-US" sz="1600" dirty="0"/>
          </a:p>
        </p:txBody>
      </p:sp>
      <p:sp>
        <p:nvSpPr>
          <p:cNvPr id="50" name="Shape 48"/>
          <p:cNvSpPr/>
          <p:nvPr/>
        </p:nvSpPr>
        <p:spPr>
          <a:xfrm>
            <a:off x="6186786" y="5928986"/>
            <a:ext cx="5643305" cy="922970"/>
          </a:xfrm>
          <a:custGeom>
            <a:avLst/>
            <a:gdLst/>
            <a:ahLst/>
            <a:cxnLst/>
            <a:rect l="l" t="t" r="r" b="b"/>
            <a:pathLst>
              <a:path w="5643305" h="922970">
                <a:moveTo>
                  <a:pt x="105486" y="0"/>
                </a:moveTo>
                <a:lnTo>
                  <a:pt x="5537819" y="0"/>
                </a:lnTo>
                <a:cubicBezTo>
                  <a:pt x="5596077" y="0"/>
                  <a:pt x="5643305" y="47228"/>
                  <a:pt x="5643305" y="105486"/>
                </a:cubicBezTo>
                <a:lnTo>
                  <a:pt x="5643305" y="817484"/>
                </a:lnTo>
                <a:cubicBezTo>
                  <a:pt x="5643305" y="875743"/>
                  <a:pt x="5596077" y="922970"/>
                  <a:pt x="5537819" y="922970"/>
                </a:cubicBezTo>
                <a:lnTo>
                  <a:pt x="105486" y="922970"/>
                </a:lnTo>
                <a:cubicBezTo>
                  <a:pt x="47228" y="922970"/>
                  <a:pt x="0" y="875743"/>
                  <a:pt x="0" y="817484"/>
                </a:cubicBezTo>
                <a:lnTo>
                  <a:pt x="0" y="105486"/>
                </a:lnTo>
                <a:cubicBezTo>
                  <a:pt x="0" y="47267"/>
                  <a:pt x="47267" y="0"/>
                  <a:pt x="105486" y="0"/>
                </a:cubicBezTo>
                <a:close/>
              </a:path>
            </a:pathLst>
          </a:custGeom>
          <a:gradFill rotWithShape="1" flip="none">
            <a:gsLst>
              <a:gs pos="0">
                <a:srgbClr val="8B5CF6">
                  <a:alpha val="10000"/>
                </a:srgbClr>
              </a:gs>
              <a:gs pos="100000">
                <a:srgbClr val="10B981">
                  <a:alpha val="10000"/>
                </a:srgbClr>
              </a:gs>
            </a:gsLst>
            <a:lin ang="0" scaled="1"/>
          </a:gradFill>
          <a:ln w="12700">
            <a:solidFill>
              <a:srgbClr val="8B5CF6">
                <a:alpha val="30196"/>
              </a:srgbClr>
            </a:solidFill>
            <a:prstDash val="solid"/>
          </a:ln>
        </p:spPr>
      </p:sp>
      <p:sp>
        <p:nvSpPr>
          <p:cNvPr id="51" name="Shape 49"/>
          <p:cNvSpPr/>
          <p:nvPr/>
        </p:nvSpPr>
        <p:spPr>
          <a:xfrm>
            <a:off x="6366985" y="6117975"/>
            <a:ext cx="105482" cy="140643"/>
          </a:xfrm>
          <a:custGeom>
            <a:avLst/>
            <a:gdLst/>
            <a:ahLst/>
            <a:cxnLst/>
            <a:rect l="l" t="t" r="r" b="b"/>
            <a:pathLst>
              <a:path w="105482" h="140643">
                <a:moveTo>
                  <a:pt x="80458" y="105482"/>
                </a:moveTo>
                <a:cubicBezTo>
                  <a:pt x="82463" y="99357"/>
                  <a:pt x="86474" y="93808"/>
                  <a:pt x="91006" y="89028"/>
                </a:cubicBezTo>
                <a:cubicBezTo>
                  <a:pt x="99988" y="79579"/>
                  <a:pt x="105482" y="66805"/>
                  <a:pt x="105482" y="52741"/>
                </a:cubicBezTo>
                <a:cubicBezTo>
                  <a:pt x="105482" y="23624"/>
                  <a:pt x="81859" y="0"/>
                  <a:pt x="52741" y="0"/>
                </a:cubicBezTo>
                <a:cubicBezTo>
                  <a:pt x="23624" y="0"/>
                  <a:pt x="0" y="23624"/>
                  <a:pt x="0" y="52741"/>
                </a:cubicBezTo>
                <a:cubicBezTo>
                  <a:pt x="0" y="66805"/>
                  <a:pt x="5494" y="79579"/>
                  <a:pt x="14476" y="89028"/>
                </a:cubicBezTo>
                <a:cubicBezTo>
                  <a:pt x="19009" y="93808"/>
                  <a:pt x="23047" y="99357"/>
                  <a:pt x="25025" y="105482"/>
                </a:cubicBezTo>
                <a:lnTo>
                  <a:pt x="80430" y="105482"/>
                </a:lnTo>
                <a:close/>
                <a:moveTo>
                  <a:pt x="79112" y="118668"/>
                </a:moveTo>
                <a:lnTo>
                  <a:pt x="26371" y="118668"/>
                </a:lnTo>
                <a:lnTo>
                  <a:pt x="26371" y="123063"/>
                </a:lnTo>
                <a:cubicBezTo>
                  <a:pt x="26371" y="135204"/>
                  <a:pt x="36205" y="145038"/>
                  <a:pt x="48346" y="145038"/>
                </a:cubicBezTo>
                <a:lnTo>
                  <a:pt x="57136" y="145038"/>
                </a:lnTo>
                <a:cubicBezTo>
                  <a:pt x="69278" y="145038"/>
                  <a:pt x="79112" y="135204"/>
                  <a:pt x="79112" y="123063"/>
                </a:cubicBezTo>
                <a:lnTo>
                  <a:pt x="79112" y="118668"/>
                </a:lnTo>
                <a:close/>
                <a:moveTo>
                  <a:pt x="50544" y="30766"/>
                </a:moveTo>
                <a:cubicBezTo>
                  <a:pt x="39611" y="30766"/>
                  <a:pt x="30766" y="39611"/>
                  <a:pt x="30766" y="50544"/>
                </a:cubicBezTo>
                <a:cubicBezTo>
                  <a:pt x="30766" y="54197"/>
                  <a:pt x="27826" y="57136"/>
                  <a:pt x="24173" y="57136"/>
                </a:cubicBezTo>
                <a:cubicBezTo>
                  <a:pt x="20520" y="57136"/>
                  <a:pt x="17580" y="54197"/>
                  <a:pt x="17580" y="50544"/>
                </a:cubicBezTo>
                <a:cubicBezTo>
                  <a:pt x="17580" y="32331"/>
                  <a:pt x="32331" y="17580"/>
                  <a:pt x="50544" y="17580"/>
                </a:cubicBezTo>
                <a:cubicBezTo>
                  <a:pt x="54197" y="17580"/>
                  <a:pt x="57136" y="20520"/>
                  <a:pt x="57136" y="24173"/>
                </a:cubicBezTo>
                <a:cubicBezTo>
                  <a:pt x="57136" y="27826"/>
                  <a:pt x="54197" y="30766"/>
                  <a:pt x="50544" y="30766"/>
                </a:cubicBezTo>
                <a:close/>
              </a:path>
            </a:pathLst>
          </a:custGeom>
          <a:solidFill>
            <a:srgbClr val="F59E0B"/>
          </a:solidFill>
          <a:ln/>
        </p:spPr>
      </p:sp>
      <p:sp>
        <p:nvSpPr>
          <p:cNvPr id="52" name="Text 50"/>
          <p:cNvSpPr/>
          <p:nvPr/>
        </p:nvSpPr>
        <p:spPr>
          <a:xfrm>
            <a:off x="6556301" y="6074025"/>
            <a:ext cx="5199074" cy="632894"/>
          </a:xfrm>
          <a:prstGeom prst="rect">
            <a:avLst/>
          </a:prstGeom>
          <a:noFill/>
          <a:ln/>
        </p:spPr>
        <p:txBody>
          <a:bodyPr wrap="square" lIns="0" tIns="0" rIns="0" bIns="0" rtlCol="0" anchor="ctr"/>
          <a:lstStyle/>
          <a:p>
            <a:pPr>
              <a:lnSpc>
                <a:spcPct val="130000"/>
              </a:lnSpc>
            </a:pPr>
            <a:r>
              <a:rPr lang="en-US" sz="1107" b="1" dirty="0">
                <a:solidFill>
                  <a:srgbClr val="F1F5F9">
                    <a:alpha val="90000"/>
                  </a:srgbClr>
                </a:solidFill>
                <a:latin typeface="MiSans" pitchFamily="34" charset="0"/>
                <a:ea typeface="MiSans" pitchFamily="34" charset="-122"/>
                <a:cs typeface="MiSans" pitchFamily="34" charset="-120"/>
              </a:rPr>
              <a:t>Phân tích:</a:t>
            </a:r>
            <a:pPr>
              <a:lnSpc>
                <a:spcPct val="130000"/>
              </a:lnSpc>
            </a:pPr>
            <a:r>
              <a:rPr lang="en-US" sz="1107" dirty="0">
                <a:solidFill>
                  <a:srgbClr val="F1F5F9">
                    <a:alpha val="90000"/>
                  </a:srgbClr>
                </a:solidFill>
                <a:latin typeface="MiSans" pitchFamily="34" charset="0"/>
                <a:ea typeface="MiSans" pitchFamily="34" charset="-122"/>
                <a:cs typeface="MiSans" pitchFamily="34" charset="-120"/>
              </a:rPr>
              <a:t> Few-shot prompting tạo ra sự khác biệt lớn về độ ổn định. Mặc dù Zero-shot thực thi nhanh, nhưng Few-shot đóng vai trò như một "hàng rào" giới hạn sự sáng tạo của AI.</a:t>
            </a:r>
            <a:endParaRPr lang="en-US" sz="1600" dirty="0"/>
          </a:p>
        </p:txBody>
      </p:sp>
    </p:spTree>
  </p:cSld>
  <p:clrMapOvr>
    <a:masterClrMapping/>
  </p:clrMapOvr>
  <p:transition>
    <p:fade/>
    <p:spd val="med"/>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88156" y="561975"/>
            <a:ext cx="171450" cy="171450"/>
          </a:xfrm>
          <a:custGeom>
            <a:avLst/>
            <a:gdLst/>
            <a:ahLst/>
            <a:cxnLst/>
            <a:rect l="l" t="t" r="r" b="b"/>
            <a:pathLst>
              <a:path w="171450" h="171450">
                <a:moveTo>
                  <a:pt x="10716" y="10716"/>
                </a:moveTo>
                <a:cubicBezTo>
                  <a:pt x="16643" y="10716"/>
                  <a:pt x="21431" y="15504"/>
                  <a:pt x="21431" y="21431"/>
                </a:cubicBezTo>
                <a:lnTo>
                  <a:pt x="21431" y="133945"/>
                </a:lnTo>
                <a:cubicBezTo>
                  <a:pt x="21431" y="136892"/>
                  <a:pt x="23842" y="139303"/>
                  <a:pt x="26789" y="139303"/>
                </a:cubicBezTo>
                <a:lnTo>
                  <a:pt x="160734" y="139303"/>
                </a:lnTo>
                <a:cubicBezTo>
                  <a:pt x="166661" y="139303"/>
                  <a:pt x="171450" y="144092"/>
                  <a:pt x="171450" y="150019"/>
                </a:cubicBezTo>
                <a:cubicBezTo>
                  <a:pt x="171450" y="155946"/>
                  <a:pt x="166661" y="160734"/>
                  <a:pt x="160734" y="160734"/>
                </a:cubicBezTo>
                <a:lnTo>
                  <a:pt x="26789" y="160734"/>
                </a:lnTo>
                <a:cubicBezTo>
                  <a:pt x="11988" y="160734"/>
                  <a:pt x="0" y="148746"/>
                  <a:pt x="0" y="133945"/>
                </a:cubicBezTo>
                <a:lnTo>
                  <a:pt x="0" y="21431"/>
                </a:lnTo>
                <a:cubicBezTo>
                  <a:pt x="0" y="15504"/>
                  <a:pt x="4789" y="10716"/>
                  <a:pt x="10716" y="10716"/>
                </a:cubicBezTo>
                <a:close/>
                <a:moveTo>
                  <a:pt x="42863" y="32147"/>
                </a:moveTo>
                <a:cubicBezTo>
                  <a:pt x="42863" y="26220"/>
                  <a:pt x="47651" y="21431"/>
                  <a:pt x="53578" y="21431"/>
                </a:cubicBezTo>
                <a:lnTo>
                  <a:pt x="117872" y="21431"/>
                </a:lnTo>
                <a:cubicBezTo>
                  <a:pt x="123799" y="21431"/>
                  <a:pt x="128588" y="26220"/>
                  <a:pt x="128588" y="32147"/>
                </a:cubicBezTo>
                <a:cubicBezTo>
                  <a:pt x="128588" y="38074"/>
                  <a:pt x="123799" y="42863"/>
                  <a:pt x="117872" y="42863"/>
                </a:cubicBezTo>
                <a:lnTo>
                  <a:pt x="53578" y="42863"/>
                </a:lnTo>
                <a:cubicBezTo>
                  <a:pt x="47651" y="42863"/>
                  <a:pt x="42863" y="38074"/>
                  <a:pt x="42863" y="32147"/>
                </a:cubicBezTo>
                <a:close/>
                <a:moveTo>
                  <a:pt x="53578" y="58936"/>
                </a:moveTo>
                <a:lnTo>
                  <a:pt x="96441" y="58936"/>
                </a:lnTo>
                <a:cubicBezTo>
                  <a:pt x="102368" y="58936"/>
                  <a:pt x="107156" y="63724"/>
                  <a:pt x="107156" y="69652"/>
                </a:cubicBezTo>
                <a:cubicBezTo>
                  <a:pt x="107156" y="75579"/>
                  <a:pt x="102368" y="80367"/>
                  <a:pt x="96441" y="80367"/>
                </a:cubicBezTo>
                <a:lnTo>
                  <a:pt x="53578" y="80367"/>
                </a:lnTo>
                <a:cubicBezTo>
                  <a:pt x="47651" y="80367"/>
                  <a:pt x="42863" y="75579"/>
                  <a:pt x="42863" y="69652"/>
                </a:cubicBezTo>
                <a:cubicBezTo>
                  <a:pt x="42863" y="63724"/>
                  <a:pt x="47651" y="58936"/>
                  <a:pt x="53578" y="58936"/>
                </a:cubicBezTo>
                <a:close/>
                <a:moveTo>
                  <a:pt x="53578" y="96441"/>
                </a:moveTo>
                <a:lnTo>
                  <a:pt x="139303" y="96441"/>
                </a:lnTo>
                <a:cubicBezTo>
                  <a:pt x="145230" y="96441"/>
                  <a:pt x="150019" y="101229"/>
                  <a:pt x="150019" y="107156"/>
                </a:cubicBezTo>
                <a:cubicBezTo>
                  <a:pt x="150019" y="113083"/>
                  <a:pt x="145230" y="117872"/>
                  <a:pt x="139303" y="117872"/>
                </a:cubicBezTo>
                <a:lnTo>
                  <a:pt x="53578" y="117872"/>
                </a:lnTo>
                <a:cubicBezTo>
                  <a:pt x="47651" y="117872"/>
                  <a:pt x="42863" y="113083"/>
                  <a:pt x="42863" y="107156"/>
                </a:cubicBezTo>
                <a:cubicBezTo>
                  <a:pt x="42863" y="101229"/>
                  <a:pt x="47651" y="96441"/>
                  <a:pt x="53578" y="96441"/>
                </a:cubicBezTo>
                <a:close/>
              </a:path>
            </a:pathLst>
          </a:custGeom>
          <a:solidFill>
            <a:srgbClr val="FFFFFF"/>
          </a:solidFill>
          <a:ln/>
        </p:spPr>
      </p:sp>
      <p:sp>
        <p:nvSpPr>
          <p:cNvPr id="4" name="Text 2"/>
          <p:cNvSpPr/>
          <p:nvPr/>
        </p:nvSpPr>
        <p:spPr>
          <a:xfrm>
            <a:off x="876300" y="381000"/>
            <a:ext cx="3981450"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15 | ĐÁNH GIÁ</a:t>
            </a:r>
            <a:endParaRPr lang="en-US" sz="1600" dirty="0"/>
          </a:p>
        </p:txBody>
      </p:sp>
      <p:sp>
        <p:nvSpPr>
          <p:cNvPr id="5" name="Text 3"/>
          <p:cNvSpPr/>
          <p:nvPr/>
        </p:nvSpPr>
        <p:spPr>
          <a:xfrm>
            <a:off x="876300" y="571500"/>
            <a:ext cx="40576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Đánh giá chéo các mô hình AI</a:t>
            </a:r>
            <a:endParaRPr lang="en-US" sz="1600" dirty="0"/>
          </a:p>
        </p:txBody>
      </p:sp>
      <p:sp>
        <p:nvSpPr>
          <p:cNvPr id="6" name="Shape 4"/>
          <p:cNvSpPr/>
          <p:nvPr/>
        </p:nvSpPr>
        <p:spPr>
          <a:xfrm>
            <a:off x="385763" y="1147763"/>
            <a:ext cx="11420475" cy="771525"/>
          </a:xfrm>
          <a:custGeom>
            <a:avLst/>
            <a:gdLst/>
            <a:ahLst/>
            <a:cxnLst/>
            <a:rect l="l" t="t" r="r" b="b"/>
            <a:pathLst>
              <a:path w="11420475" h="771525">
                <a:moveTo>
                  <a:pt x="114301" y="0"/>
                </a:moveTo>
                <a:lnTo>
                  <a:pt x="11306174" y="0"/>
                </a:lnTo>
                <a:cubicBezTo>
                  <a:pt x="11369301" y="0"/>
                  <a:pt x="11420475" y="51174"/>
                  <a:pt x="11420475" y="114301"/>
                </a:cubicBezTo>
                <a:lnTo>
                  <a:pt x="11420475" y="657224"/>
                </a:lnTo>
                <a:cubicBezTo>
                  <a:pt x="11420475" y="720351"/>
                  <a:pt x="11369301" y="771525"/>
                  <a:pt x="1130617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3B82F6">
                  <a:alpha val="10000"/>
                </a:srgbClr>
              </a:gs>
              <a:gs pos="100000">
                <a:srgbClr val="3B82F6">
                  <a:alpha val="5000"/>
                </a:srgbClr>
              </a:gs>
            </a:gsLst>
            <a:lin ang="0" scaled="1"/>
          </a:gradFill>
          <a:ln w="12700">
            <a:solidFill>
              <a:srgbClr val="3B82F6">
                <a:alpha val="30196"/>
              </a:srgbClr>
            </a:solidFill>
            <a:prstDash val="solid"/>
          </a:ln>
        </p:spPr>
      </p:sp>
      <p:sp>
        <p:nvSpPr>
          <p:cNvPr id="7" name="Text 5"/>
          <p:cNvSpPr/>
          <p:nvPr/>
        </p:nvSpPr>
        <p:spPr>
          <a:xfrm>
            <a:off x="542925" y="1304925"/>
            <a:ext cx="11182350" cy="457200"/>
          </a:xfrm>
          <a:prstGeom prst="rect">
            <a:avLst/>
          </a:prstGeom>
          <a:noFill/>
          <a:ln/>
        </p:spPr>
        <p:txBody>
          <a:bodyPr wrap="square" lIns="0" tIns="0" rIns="0" bIns="0" rtlCol="0" anchor="ctr"/>
          <a:lstStyle/>
          <a:p>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Dựa trên quá trình thực nghiệm, kết quả sinh mã được chấm điểm theo bộ tiêu chí: </a:t>
            </a:r>
            <a:pPr>
              <a:lnSpc>
                <a:spcPct val="130000"/>
              </a:lnSpc>
            </a:pPr>
            <a:r>
              <a:rPr lang="en-US" sz="1200" b="1" dirty="0">
                <a:solidFill>
                  <a:srgbClr val="3B82F6"/>
                </a:solidFill>
                <a:latin typeface="MiSans" pitchFamily="34" charset="0"/>
                <a:ea typeface="MiSans" pitchFamily="34" charset="-122"/>
                <a:cs typeface="MiSans" pitchFamily="34" charset="-120"/>
              </a:rPr>
              <a:t>Độ đúng cú pháp</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a:t>
            </a:r>
            <a:pPr>
              <a:lnSpc>
                <a:spcPct val="130000"/>
              </a:lnSpc>
            </a:pPr>
            <a:r>
              <a:rPr lang="en-US" sz="1200" b="1" dirty="0">
                <a:solidFill>
                  <a:srgbClr val="8B5CF6"/>
                </a:solidFill>
                <a:latin typeface="MiSans" pitchFamily="34" charset="0"/>
                <a:ea typeface="MiSans" pitchFamily="34" charset="-122"/>
                <a:cs typeface="MiSans" pitchFamily="34" charset="-120"/>
              </a:rPr>
              <a:t>Mức độ chuẩn decorator</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a:t>
            </a:r>
            <a:pPr>
              <a:lnSpc>
                <a:spcPct val="130000"/>
              </a:lnSpc>
            </a:pPr>
            <a:r>
              <a:rPr lang="en-US" sz="1200" b="1" dirty="0">
                <a:solidFill>
                  <a:srgbClr val="10B981"/>
                </a:solidFill>
                <a:latin typeface="MiSans" pitchFamily="34" charset="0"/>
                <a:ea typeface="MiSans" pitchFamily="34" charset="-122"/>
                <a:cs typeface="MiSans" pitchFamily="34" charset="-120"/>
              </a:rPr>
              <a:t>Validation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a:t>
            </a:r>
            <a:pPr>
              <a:lnSpc>
                <a:spcPct val="130000"/>
              </a:lnSpc>
            </a:pPr>
            <a:r>
              <a:rPr lang="en-US" sz="1200" b="1" dirty="0">
                <a:solidFill>
                  <a:srgbClr val="F59E0B"/>
                </a:solidFill>
                <a:latin typeface="MiSans" pitchFamily="34" charset="0"/>
                <a:ea typeface="MiSans" pitchFamily="34" charset="-122"/>
                <a:cs typeface="MiSans" pitchFamily="34" charset="-120"/>
              </a:rPr>
              <a:t>Logging</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và </a:t>
            </a:r>
            <a:pPr>
              <a:lnSpc>
                <a:spcPct val="130000"/>
              </a:lnSpc>
            </a:pPr>
            <a:r>
              <a:rPr lang="en-US" sz="1200" b="1" dirty="0">
                <a:solidFill>
                  <a:srgbClr val="EF4444"/>
                </a:solidFill>
                <a:latin typeface="MiSans" pitchFamily="34" charset="0"/>
                <a:ea typeface="MiSans" pitchFamily="34" charset="-122"/>
                <a:cs typeface="MiSans" pitchFamily="34" charset="-120"/>
              </a:rPr>
              <a:t>Độ sạch của text</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a:t>
            </a:r>
            <a:endParaRPr lang="en-US" sz="1600" dirty="0"/>
          </a:p>
        </p:txBody>
      </p:sp>
      <p:sp>
        <p:nvSpPr>
          <p:cNvPr id="8" name="Shape 6"/>
          <p:cNvSpPr/>
          <p:nvPr/>
        </p:nvSpPr>
        <p:spPr>
          <a:xfrm>
            <a:off x="385763" y="2081212"/>
            <a:ext cx="11420475" cy="3190875"/>
          </a:xfrm>
          <a:custGeom>
            <a:avLst/>
            <a:gdLst/>
            <a:ahLst/>
            <a:cxnLst/>
            <a:rect l="l" t="t" r="r" b="b"/>
            <a:pathLst>
              <a:path w="11420475" h="3190875">
                <a:moveTo>
                  <a:pt x="114297" y="0"/>
                </a:moveTo>
                <a:lnTo>
                  <a:pt x="11306178" y="0"/>
                </a:lnTo>
                <a:cubicBezTo>
                  <a:pt x="11369260" y="0"/>
                  <a:pt x="11420475" y="51215"/>
                  <a:pt x="11420475" y="114297"/>
                </a:cubicBezTo>
                <a:lnTo>
                  <a:pt x="11420475" y="3076578"/>
                </a:lnTo>
                <a:cubicBezTo>
                  <a:pt x="11420475" y="3139660"/>
                  <a:pt x="11369260" y="3190875"/>
                  <a:pt x="11306178" y="3190875"/>
                </a:cubicBezTo>
                <a:lnTo>
                  <a:pt x="114297" y="3190875"/>
                </a:lnTo>
                <a:cubicBezTo>
                  <a:pt x="51215" y="3190875"/>
                  <a:pt x="0" y="3139660"/>
                  <a:pt x="0" y="3076578"/>
                </a:cubicBezTo>
                <a:lnTo>
                  <a:pt x="0" y="114297"/>
                </a:lnTo>
                <a:cubicBezTo>
                  <a:pt x="0" y="51215"/>
                  <a:pt x="51215" y="0"/>
                  <a:pt x="114297" y="0"/>
                </a:cubicBezTo>
                <a:close/>
              </a:path>
            </a:pathLst>
          </a:custGeom>
          <a:solidFill>
            <a:srgbClr val="0F172A"/>
          </a:solidFill>
          <a:ln w="12700">
            <a:solidFill>
              <a:srgbClr val="3B82F6">
                <a:alpha val="30196"/>
              </a:srgbClr>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2925" y="2238375"/>
          <a:ext cx="11106150" cy="2333625"/>
        </p:xfrm>
        <a:graphic>
          <a:graphicData uri="http://schemas.openxmlformats.org/drawingml/2006/table">
            <a:tbl>
              <a:tblPr/>
              <a:tblGrid>
                <a:gridCol w="2078232"/>
                <a:gridCol w="3012484"/>
                <a:gridCol w="2955285"/>
                <a:gridCol w="3060149"/>
              </a:tblGrid>
              <a:tr h="466725">
                <a:tc>
                  <a:txBody>
                    <a:bodyPr/>
                    <a:lstStyle/>
                    <a:p>
                      <a:pPr algn="l"/>
                      <a:r>
                        <a:rPr lang="en-US" sz="1200" b="1" u="none" dirty="0">
                          <a:solidFill>
                            <a:srgbClr val="3B82F6"/>
                          </a:solidFill>
                          <a:latin typeface="微软雅黑" pitchFamily="34" charset="0"/>
                          <a:ea typeface="微软雅黑" pitchFamily="34" charset="-122"/>
                          <a:cs typeface="微软雅黑" pitchFamily="34" charset="-120"/>
                        </a:rPr>
                        <a:t>Tiêu chí</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B82F6"/>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EF4444"/>
                          </a:solidFill>
                          <a:latin typeface="微软雅黑" pitchFamily="34" charset="0"/>
                          <a:ea typeface="微软雅黑" pitchFamily="34" charset="-122"/>
                          <a:cs typeface="微软雅黑" pitchFamily="34" charset="-120"/>
                        </a:rPr>
                        <a:t>gpt-4o-mini</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B82F6"/>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F59E0B"/>
                          </a:solidFill>
                          <a:latin typeface="微软雅黑" pitchFamily="34" charset="0"/>
                          <a:ea typeface="微软雅黑" pitchFamily="34" charset="-122"/>
                          <a:cs typeface="微软雅黑" pitchFamily="34" charset="-120"/>
                        </a:rPr>
                        <a:t>gpt-4o</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B82F6"/>
                      </a:solidFill>
                      <a:prstDash val="solid"/>
                      <a:round/>
                      <a:headEnd type="none" w="med" len="med"/>
                      <a:tailEnd type="none" w="med" len="med"/>
                    </a:lnB>
                    <a:solidFill>
                      <a:srgbClr val="FFFFFF">
                        <a:alpha val="0"/>
                      </a:srgbClr>
                    </a:solidFill>
                  </a:tcPr>
                </a:tc>
                <a:tc>
                  <a:txBody>
                    <a:bodyPr/>
                    <a:lstStyle/>
                    <a:p>
                      <a:pPr algn="ctr"/>
                      <a:r>
                        <a:rPr lang="en-US" sz="1200" b="1" u="none" dirty="0">
                          <a:solidFill>
                            <a:srgbClr val="10B981"/>
                          </a:solidFill>
                          <a:latin typeface="微软雅黑" pitchFamily="34" charset="0"/>
                          <a:ea typeface="微软雅黑" pitchFamily="34" charset="-122"/>
                          <a:cs typeface="微软雅黑" pitchFamily="34" charset="-120"/>
                        </a:rPr>
                        <a:t>gpt-5-chat</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25400" cap="flat" cmpd="sng" algn="ctr">
                      <a:solidFill>
                        <a:srgbClr val="3B82F6"/>
                      </a:solidFill>
                      <a:prstDash val="solid"/>
                      <a:round/>
                      <a:headEnd type="none" w="med" len="med"/>
                      <a:tailEnd type="none" w="med" len="med"/>
                    </a:lnB>
                    <a:solidFill>
                      <a:srgbClr val="FFFFFF">
                        <a:alpha val="0"/>
                      </a:srgbClr>
                    </a:solidFill>
                  </a:tcPr>
                </a:tc>
              </a:tr>
              <a:tr h="466725">
                <a:tc>
                  <a:txBody>
                    <a:bodyPr/>
                    <a:lstStyle/>
                    <a:p>
                      <a:r>
                        <a:rPr lang="en-US" sz="1200" b="1" u="none" dirty="0">
                          <a:solidFill>
                            <a:srgbClr val="F1F5F9"/>
                          </a:solidFill>
                          <a:latin typeface="微软雅黑" pitchFamily="34" charset="0"/>
                          <a:ea typeface="微软雅黑" pitchFamily="34" charset="-122"/>
                          <a:cs typeface="微软雅黑" pitchFamily="34" charset="-120"/>
                        </a:rPr>
                        <a:t>Logic &amp; Cú pháp</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Trung bình (3/5)</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Khá (4/5)</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Xuất sắc (5/5)</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466725">
                <a:tc>
                  <a:txBody>
                    <a:bodyPr/>
                    <a:lstStyle/>
                    <a:p>
                      <a:r>
                        <a:rPr lang="en-US" sz="1200" b="1" u="none" dirty="0">
                          <a:solidFill>
                            <a:srgbClr val="F1F5F9"/>
                          </a:solidFill>
                          <a:latin typeface="微软雅黑" pitchFamily="34" charset="0"/>
                          <a:ea typeface="微软雅黑" pitchFamily="34" charset="-122"/>
                          <a:cs typeface="微软雅黑" pitchFamily="34" charset="-120"/>
                        </a:rPr>
                        <a:t>Độ sạch output</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Kém (Markdown)</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Trung bình</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Tốt (Sạch)</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466725">
                <a:tc>
                  <a:txBody>
                    <a:bodyPr/>
                    <a:lstStyle/>
                    <a:p>
                      <a:r>
                        <a:rPr lang="en-US" sz="1200" b="1" u="none" dirty="0">
                          <a:solidFill>
                            <a:srgbClr val="F1F5F9"/>
                          </a:solidFill>
                          <a:latin typeface="微软雅黑" pitchFamily="34" charset="0"/>
                          <a:ea typeface="微软雅黑" pitchFamily="34" charset="-122"/>
                          <a:cs typeface="微软雅黑" pitchFamily="34" charset="-120"/>
                        </a:rPr>
                        <a:t>Chi phí Hậu xử lý</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Rất cao</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Vừa phải</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200" u="none" dirty="0">
                          <a:solidFill>
                            <a:srgbClr val="F1F5F9"/>
                          </a:solidFill>
                          <a:latin typeface="微软雅黑" pitchFamily="34" charset="0"/>
                          <a:ea typeface="微软雅黑" pitchFamily="34" charset="-122"/>
                          <a:cs typeface="微软雅黑" pitchFamily="34" charset="-120"/>
                        </a:rPr>
                        <a:t>Gần như không</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alpha val="0"/>
                      </a:srgbClr>
                    </a:solidFill>
                  </a:tcPr>
                </a:tc>
              </a:tr>
              <a:tr h="466725">
                <a:tc>
                  <a:txBody>
                    <a:bodyPr/>
                    <a:lstStyle/>
                    <a:p>
                      <a:r>
                        <a:rPr lang="en-US" sz="1200" b="1" u="none" dirty="0">
                          <a:solidFill>
                            <a:srgbClr val="F1F5F9"/>
                          </a:solidFill>
                          <a:latin typeface="微软雅黑" pitchFamily="34" charset="0"/>
                          <a:ea typeface="微软雅黑" pitchFamily="34" charset="-122"/>
                          <a:cs typeface="微软雅黑" pitchFamily="34" charset="-120"/>
                        </a:rPr>
                        <a:t>Đánh giá chung</a:t>
                      </a:r>
                      <a:endParaRPr lang="en-US" sz="12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F1F5F9"/>
                          </a:solidFill>
                          <a:latin typeface="微软雅黑" pitchFamily="34" charset="0"/>
                          <a:ea typeface="微软雅黑" pitchFamily="34" charset="-122"/>
                          <a:cs typeface="微软雅黑" pitchFamily="34" charset="-120"/>
                        </a:rPr>
                        <a:t>Thường bỏ sót import @wraps</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F1F5F9"/>
                          </a:solidFill>
                          <a:latin typeface="微软雅黑" pitchFamily="34" charset="0"/>
                          <a:ea typeface="微软雅黑" pitchFamily="34" charset="-122"/>
                          <a:cs typeface="微软雅黑" pitchFamily="34" charset="-120"/>
                        </a:rPr>
                        <a:t>Đạt chuẩn nhưng cần lọc text</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F1F5F9"/>
                          </a:solidFill>
                          <a:latin typeface="微软雅黑" pitchFamily="34" charset="0"/>
                          <a:ea typeface="微软雅黑" pitchFamily="34" charset="-122"/>
                          <a:cs typeface="微软雅黑" pitchFamily="34" charset="-120"/>
                        </a:rPr>
                        <a:t>Đầu ra ổn định, tích hợp CI/CD</a:t>
                      </a:r>
                      <a:endParaRPr lang="en-US" sz="1000" dirty="0">
                        <a:latin typeface="微软雅黑" charset="0"/>
                        <a:ea typeface="微软雅黑" charset="0"/>
                        <a:cs typeface="微软雅黑" charset="0"/>
                      </a:endParaRPr>
                    </a:p>
                  </a:txBody>
                  <a:tcPr marL="152400" marR="152400" marT="114300" marB="1143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10" name="Shape 7"/>
          <p:cNvSpPr/>
          <p:nvPr/>
        </p:nvSpPr>
        <p:spPr>
          <a:xfrm>
            <a:off x="385763" y="5434013"/>
            <a:ext cx="3695700" cy="1038225"/>
          </a:xfrm>
          <a:custGeom>
            <a:avLst/>
            <a:gdLst/>
            <a:ahLst/>
            <a:cxnLst/>
            <a:rect l="l" t="t" r="r" b="b"/>
            <a:pathLst>
              <a:path w="3695700" h="1038225">
                <a:moveTo>
                  <a:pt x="114298" y="0"/>
                </a:moveTo>
                <a:lnTo>
                  <a:pt x="3581402" y="0"/>
                </a:lnTo>
                <a:cubicBezTo>
                  <a:pt x="3644527" y="0"/>
                  <a:pt x="3695700" y="51173"/>
                  <a:pt x="3695700" y="114298"/>
                </a:cubicBezTo>
                <a:lnTo>
                  <a:pt x="3695700" y="923927"/>
                </a:lnTo>
                <a:cubicBezTo>
                  <a:pt x="3695700" y="987052"/>
                  <a:pt x="3644527" y="1038225"/>
                  <a:pt x="3581402" y="1038225"/>
                </a:cubicBezTo>
                <a:lnTo>
                  <a:pt x="114298" y="1038225"/>
                </a:lnTo>
                <a:cubicBezTo>
                  <a:pt x="51173" y="1038225"/>
                  <a:pt x="0" y="987052"/>
                  <a:pt x="0" y="923927"/>
                </a:cubicBezTo>
                <a:lnTo>
                  <a:pt x="0" y="114298"/>
                </a:lnTo>
                <a:cubicBezTo>
                  <a:pt x="0" y="51215"/>
                  <a:pt x="51215" y="0"/>
                  <a:pt x="114298"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11" name="Shape 8"/>
          <p:cNvSpPr/>
          <p:nvPr/>
        </p:nvSpPr>
        <p:spPr>
          <a:xfrm>
            <a:off x="571500" y="5610225"/>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74563" y="74563"/>
                </a:moveTo>
                <a:cubicBezTo>
                  <a:pt x="78760" y="70366"/>
                  <a:pt x="85546" y="70366"/>
                  <a:pt x="89699" y="74563"/>
                </a:cubicBezTo>
                <a:lnTo>
                  <a:pt x="114255" y="99120"/>
                </a:lnTo>
                <a:lnTo>
                  <a:pt x="138812" y="74563"/>
                </a:lnTo>
                <a:cubicBezTo>
                  <a:pt x="143009" y="70366"/>
                  <a:pt x="149796" y="70366"/>
                  <a:pt x="153948" y="74563"/>
                </a:cubicBezTo>
                <a:cubicBezTo>
                  <a:pt x="158100" y="78760"/>
                  <a:pt x="158145" y="85546"/>
                  <a:pt x="153948" y="89699"/>
                </a:cubicBezTo>
                <a:lnTo>
                  <a:pt x="129391" y="114255"/>
                </a:lnTo>
                <a:lnTo>
                  <a:pt x="153948" y="138812"/>
                </a:lnTo>
                <a:cubicBezTo>
                  <a:pt x="158145" y="143009"/>
                  <a:pt x="158145" y="149796"/>
                  <a:pt x="153948" y="153948"/>
                </a:cubicBezTo>
                <a:cubicBezTo>
                  <a:pt x="149751" y="158100"/>
                  <a:pt x="142964" y="158145"/>
                  <a:pt x="138812" y="153948"/>
                </a:cubicBezTo>
                <a:lnTo>
                  <a:pt x="114255" y="129391"/>
                </a:lnTo>
                <a:lnTo>
                  <a:pt x="89699" y="153948"/>
                </a:lnTo>
                <a:cubicBezTo>
                  <a:pt x="85502" y="158145"/>
                  <a:pt x="78715" y="158145"/>
                  <a:pt x="74563" y="153948"/>
                </a:cubicBezTo>
                <a:cubicBezTo>
                  <a:pt x="70411" y="149751"/>
                  <a:pt x="70366" y="142964"/>
                  <a:pt x="74563" y="138812"/>
                </a:cubicBezTo>
                <a:lnTo>
                  <a:pt x="99120" y="114255"/>
                </a:lnTo>
                <a:lnTo>
                  <a:pt x="74563" y="89699"/>
                </a:lnTo>
                <a:cubicBezTo>
                  <a:pt x="70366" y="85502"/>
                  <a:pt x="70366" y="78715"/>
                  <a:pt x="74563" y="74563"/>
                </a:cubicBezTo>
                <a:close/>
              </a:path>
            </a:pathLst>
          </a:custGeom>
          <a:solidFill>
            <a:srgbClr val="EF4444"/>
          </a:solidFill>
          <a:ln/>
        </p:spPr>
      </p:sp>
      <p:sp>
        <p:nvSpPr>
          <p:cNvPr id="12" name="Text 9"/>
          <p:cNvSpPr/>
          <p:nvPr/>
        </p:nvSpPr>
        <p:spPr>
          <a:xfrm>
            <a:off x="942975" y="5591175"/>
            <a:ext cx="103822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gpt-4o-mini</a:t>
            </a:r>
            <a:endParaRPr lang="en-US" sz="1600" dirty="0"/>
          </a:p>
        </p:txBody>
      </p:sp>
      <p:sp>
        <p:nvSpPr>
          <p:cNvPr id="13" name="Text 10"/>
          <p:cNvSpPr/>
          <p:nvPr/>
        </p:nvSpPr>
        <p:spPr>
          <a:xfrm>
            <a:off x="542925" y="5934075"/>
            <a:ext cx="34480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Phù hợp cho prototyping nhanh, chi phí thấp nhưng cần nhiều hậu xử lý.</a:t>
            </a:r>
            <a:endParaRPr lang="en-US" sz="1600" dirty="0"/>
          </a:p>
        </p:txBody>
      </p:sp>
      <p:sp>
        <p:nvSpPr>
          <p:cNvPr id="14" name="Shape 11"/>
          <p:cNvSpPr/>
          <p:nvPr/>
        </p:nvSpPr>
        <p:spPr>
          <a:xfrm>
            <a:off x="4246513" y="5434013"/>
            <a:ext cx="3695700" cy="1038225"/>
          </a:xfrm>
          <a:custGeom>
            <a:avLst/>
            <a:gdLst/>
            <a:ahLst/>
            <a:cxnLst/>
            <a:rect l="l" t="t" r="r" b="b"/>
            <a:pathLst>
              <a:path w="3695700" h="1038225">
                <a:moveTo>
                  <a:pt x="114298" y="0"/>
                </a:moveTo>
                <a:lnTo>
                  <a:pt x="3581402" y="0"/>
                </a:lnTo>
                <a:cubicBezTo>
                  <a:pt x="3644527" y="0"/>
                  <a:pt x="3695700" y="51173"/>
                  <a:pt x="3695700" y="114298"/>
                </a:cubicBezTo>
                <a:lnTo>
                  <a:pt x="3695700" y="923927"/>
                </a:lnTo>
                <a:cubicBezTo>
                  <a:pt x="3695700" y="987052"/>
                  <a:pt x="3644527" y="1038225"/>
                  <a:pt x="3581402" y="1038225"/>
                </a:cubicBezTo>
                <a:lnTo>
                  <a:pt x="114298" y="1038225"/>
                </a:lnTo>
                <a:cubicBezTo>
                  <a:pt x="51173" y="1038225"/>
                  <a:pt x="0" y="987052"/>
                  <a:pt x="0" y="923927"/>
                </a:cubicBezTo>
                <a:lnTo>
                  <a:pt x="0" y="114298"/>
                </a:lnTo>
                <a:cubicBezTo>
                  <a:pt x="0" y="51215"/>
                  <a:pt x="51215" y="0"/>
                  <a:pt x="114298"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15" name="Shape 12"/>
          <p:cNvSpPr/>
          <p:nvPr/>
        </p:nvSpPr>
        <p:spPr>
          <a:xfrm>
            <a:off x="4432250" y="5610225"/>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F59E0B"/>
          </a:solidFill>
          <a:ln/>
        </p:spPr>
      </p:sp>
      <p:sp>
        <p:nvSpPr>
          <p:cNvPr id="16" name="Text 13"/>
          <p:cNvSpPr/>
          <p:nvPr/>
        </p:nvSpPr>
        <p:spPr>
          <a:xfrm>
            <a:off x="4803725" y="5591175"/>
            <a:ext cx="62865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gpt-4o</a:t>
            </a:r>
            <a:endParaRPr lang="en-US" sz="1600" dirty="0"/>
          </a:p>
        </p:txBody>
      </p:sp>
      <p:sp>
        <p:nvSpPr>
          <p:cNvPr id="17" name="Text 14"/>
          <p:cNvSpPr/>
          <p:nvPr/>
        </p:nvSpPr>
        <p:spPr>
          <a:xfrm>
            <a:off x="4403675" y="5934075"/>
            <a:ext cx="34480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Cân bằng giữa chất lượng và chi phí, phù hợp cho hầu hết use cases.</a:t>
            </a:r>
            <a:endParaRPr lang="en-US" sz="1600" dirty="0"/>
          </a:p>
        </p:txBody>
      </p:sp>
      <p:sp>
        <p:nvSpPr>
          <p:cNvPr id="18" name="Shape 15"/>
          <p:cNvSpPr/>
          <p:nvPr/>
        </p:nvSpPr>
        <p:spPr>
          <a:xfrm>
            <a:off x="8107263" y="5434013"/>
            <a:ext cx="3695700" cy="1038225"/>
          </a:xfrm>
          <a:custGeom>
            <a:avLst/>
            <a:gdLst/>
            <a:ahLst/>
            <a:cxnLst/>
            <a:rect l="l" t="t" r="r" b="b"/>
            <a:pathLst>
              <a:path w="3695700" h="1038225">
                <a:moveTo>
                  <a:pt x="114298" y="0"/>
                </a:moveTo>
                <a:lnTo>
                  <a:pt x="3581402" y="0"/>
                </a:lnTo>
                <a:cubicBezTo>
                  <a:pt x="3644527" y="0"/>
                  <a:pt x="3695700" y="51173"/>
                  <a:pt x="3695700" y="114298"/>
                </a:cubicBezTo>
                <a:lnTo>
                  <a:pt x="3695700" y="923927"/>
                </a:lnTo>
                <a:cubicBezTo>
                  <a:pt x="3695700" y="987052"/>
                  <a:pt x="3644527" y="1038225"/>
                  <a:pt x="3581402" y="1038225"/>
                </a:cubicBezTo>
                <a:lnTo>
                  <a:pt x="114298" y="1038225"/>
                </a:lnTo>
                <a:cubicBezTo>
                  <a:pt x="51173" y="1038225"/>
                  <a:pt x="0" y="987052"/>
                  <a:pt x="0" y="923927"/>
                </a:cubicBezTo>
                <a:lnTo>
                  <a:pt x="0" y="114298"/>
                </a:lnTo>
                <a:cubicBezTo>
                  <a:pt x="0" y="51215"/>
                  <a:pt x="51215" y="0"/>
                  <a:pt x="11429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19" name="Shape 16"/>
          <p:cNvSpPr/>
          <p:nvPr/>
        </p:nvSpPr>
        <p:spPr>
          <a:xfrm>
            <a:off x="8278713" y="5610225"/>
            <a:ext cx="257175" cy="228600"/>
          </a:xfrm>
          <a:custGeom>
            <a:avLst/>
            <a:gdLst/>
            <a:ahLst/>
            <a:cxnLst/>
            <a:rect l="l" t="t" r="r" b="b"/>
            <a:pathLst>
              <a:path w="257175" h="228600">
                <a:moveTo>
                  <a:pt x="138187" y="-8439"/>
                </a:moveTo>
                <a:cubicBezTo>
                  <a:pt x="136356" y="-12010"/>
                  <a:pt x="132651" y="-14287"/>
                  <a:pt x="128632" y="-14287"/>
                </a:cubicBezTo>
                <a:cubicBezTo>
                  <a:pt x="124614" y="-14287"/>
                  <a:pt x="120908" y="-12010"/>
                  <a:pt x="119077" y="-8439"/>
                </a:cubicBezTo>
                <a:lnTo>
                  <a:pt x="86216" y="55944"/>
                </a:lnTo>
                <a:lnTo>
                  <a:pt x="14823" y="67285"/>
                </a:lnTo>
                <a:cubicBezTo>
                  <a:pt x="10850" y="67910"/>
                  <a:pt x="7546" y="70723"/>
                  <a:pt x="6295" y="74563"/>
                </a:cubicBezTo>
                <a:cubicBezTo>
                  <a:pt x="5045" y="78403"/>
                  <a:pt x="6072" y="82600"/>
                  <a:pt x="8885" y="85457"/>
                </a:cubicBezTo>
                <a:lnTo>
                  <a:pt x="59963" y="136580"/>
                </a:lnTo>
                <a:lnTo>
                  <a:pt x="48711" y="207972"/>
                </a:lnTo>
                <a:cubicBezTo>
                  <a:pt x="48086" y="211946"/>
                  <a:pt x="49738" y="215964"/>
                  <a:pt x="52998" y="218331"/>
                </a:cubicBezTo>
                <a:cubicBezTo>
                  <a:pt x="56257" y="220697"/>
                  <a:pt x="60543" y="221054"/>
                  <a:pt x="64160" y="219224"/>
                </a:cubicBezTo>
                <a:lnTo>
                  <a:pt x="128632" y="186452"/>
                </a:lnTo>
                <a:lnTo>
                  <a:pt x="193060" y="219224"/>
                </a:lnTo>
                <a:cubicBezTo>
                  <a:pt x="196632" y="221054"/>
                  <a:pt x="200963" y="220697"/>
                  <a:pt x="204222" y="218331"/>
                </a:cubicBezTo>
                <a:cubicBezTo>
                  <a:pt x="207481" y="215964"/>
                  <a:pt x="209133" y="211991"/>
                  <a:pt x="208508" y="207972"/>
                </a:cubicBezTo>
                <a:lnTo>
                  <a:pt x="197212" y="136580"/>
                </a:lnTo>
                <a:lnTo>
                  <a:pt x="248290" y="85457"/>
                </a:lnTo>
                <a:cubicBezTo>
                  <a:pt x="251147" y="82600"/>
                  <a:pt x="252130" y="78403"/>
                  <a:pt x="250880" y="74563"/>
                </a:cubicBezTo>
                <a:cubicBezTo>
                  <a:pt x="249629" y="70723"/>
                  <a:pt x="246370" y="67910"/>
                  <a:pt x="242352" y="67285"/>
                </a:cubicBezTo>
                <a:lnTo>
                  <a:pt x="171004" y="55944"/>
                </a:lnTo>
                <a:lnTo>
                  <a:pt x="138187" y="-8439"/>
                </a:lnTo>
                <a:close/>
              </a:path>
            </a:pathLst>
          </a:custGeom>
          <a:solidFill>
            <a:srgbClr val="10B981"/>
          </a:solidFill>
          <a:ln/>
        </p:spPr>
      </p:sp>
      <p:sp>
        <p:nvSpPr>
          <p:cNvPr id="20" name="Text 17"/>
          <p:cNvSpPr/>
          <p:nvPr/>
        </p:nvSpPr>
        <p:spPr>
          <a:xfrm>
            <a:off x="8664476" y="5591175"/>
            <a:ext cx="9525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gpt-5-chat</a:t>
            </a:r>
            <a:endParaRPr lang="en-US" sz="1600" dirty="0"/>
          </a:p>
        </p:txBody>
      </p:sp>
      <p:sp>
        <p:nvSpPr>
          <p:cNvPr id="21" name="Text 18"/>
          <p:cNvSpPr/>
          <p:nvPr/>
        </p:nvSpPr>
        <p:spPr>
          <a:xfrm>
            <a:off x="8264426" y="5934075"/>
            <a:ext cx="34480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Xuất sắc nhất, đầu ra sạch, có thể ghép trực tiếp vào CI/CD pipeline.</a:t>
            </a:r>
            <a:endParaRPr lang="en-US" sz="1600" dirty="0"/>
          </a:p>
        </p:txBody>
      </p:sp>
    </p:spTree>
  </p:cSld>
  <p:clrMapOvr>
    <a:masterClrMapping/>
  </p:clrMapOvr>
  <p:transition>
    <p:fade/>
    <p:spd val="med"/>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85725" y="0"/>
                </a:moveTo>
                <a:cubicBezTo>
                  <a:pt x="87265" y="0"/>
                  <a:pt x="88806" y="335"/>
                  <a:pt x="90212" y="971"/>
                </a:cubicBezTo>
                <a:lnTo>
                  <a:pt x="153300" y="27727"/>
                </a:lnTo>
                <a:cubicBezTo>
                  <a:pt x="160667" y="30841"/>
                  <a:pt x="166159" y="38107"/>
                  <a:pt x="166126" y="46881"/>
                </a:cubicBezTo>
                <a:cubicBezTo>
                  <a:pt x="165958" y="80099"/>
                  <a:pt x="152296" y="140877"/>
                  <a:pt x="94599" y="168503"/>
                </a:cubicBezTo>
                <a:cubicBezTo>
                  <a:pt x="89007" y="171182"/>
                  <a:pt x="82510" y="171182"/>
                  <a:pt x="76918" y="168503"/>
                </a:cubicBezTo>
                <a:cubicBezTo>
                  <a:pt x="19188" y="140877"/>
                  <a:pt x="5559" y="80099"/>
                  <a:pt x="5391" y="46881"/>
                </a:cubicBezTo>
                <a:cubicBezTo>
                  <a:pt x="5358" y="38107"/>
                  <a:pt x="10850" y="30841"/>
                  <a:pt x="18217" y="27727"/>
                </a:cubicBezTo>
                <a:lnTo>
                  <a:pt x="81271" y="971"/>
                </a:lnTo>
                <a:cubicBezTo>
                  <a:pt x="82678" y="335"/>
                  <a:pt x="84185" y="0"/>
                  <a:pt x="85725" y="0"/>
                </a:cubicBezTo>
                <a:close/>
                <a:moveTo>
                  <a:pt x="85725" y="22369"/>
                </a:moveTo>
                <a:lnTo>
                  <a:pt x="85725" y="148981"/>
                </a:lnTo>
                <a:cubicBezTo>
                  <a:pt x="131936" y="126612"/>
                  <a:pt x="144360" y="77052"/>
                  <a:pt x="144661" y="47383"/>
                </a:cubicBezTo>
                <a:lnTo>
                  <a:pt x="85725" y="22402"/>
                </a:lnTo>
                <a:lnTo>
                  <a:pt x="85725" y="22402"/>
                </a:lnTo>
                <a:close/>
              </a:path>
            </a:pathLst>
          </a:custGeom>
          <a:solidFill>
            <a:srgbClr val="FFFFFF"/>
          </a:solidFill>
          <a:ln/>
        </p:spPr>
      </p:sp>
      <p:sp>
        <p:nvSpPr>
          <p:cNvPr id="4" name="Text 2"/>
          <p:cNvSpPr/>
          <p:nvPr/>
        </p:nvSpPr>
        <p:spPr>
          <a:xfrm>
            <a:off x="876300" y="381000"/>
            <a:ext cx="4467225"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15 | VALIDATION</a:t>
            </a:r>
            <a:endParaRPr lang="en-US" sz="1600" dirty="0"/>
          </a:p>
        </p:txBody>
      </p:sp>
      <p:sp>
        <p:nvSpPr>
          <p:cNvPr id="5" name="Text 3"/>
          <p:cNvSpPr/>
          <p:nvPr/>
        </p:nvSpPr>
        <p:spPr>
          <a:xfrm>
            <a:off x="876300" y="571500"/>
            <a:ext cx="45434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Xác thực độ tin cậy - Khung 3 lớp</a:t>
            </a:r>
            <a:endParaRPr lang="en-US" sz="1600" dirty="0"/>
          </a:p>
        </p:txBody>
      </p:sp>
      <p:sp>
        <p:nvSpPr>
          <p:cNvPr id="6" name="Shape 4"/>
          <p:cNvSpPr/>
          <p:nvPr/>
        </p:nvSpPr>
        <p:spPr>
          <a:xfrm>
            <a:off x="385763" y="1147763"/>
            <a:ext cx="11420475" cy="542925"/>
          </a:xfrm>
          <a:custGeom>
            <a:avLst/>
            <a:gdLst/>
            <a:ahLst/>
            <a:cxnLst/>
            <a:rect l="l" t="t" r="r" b="b"/>
            <a:pathLst>
              <a:path w="11420475" h="542925">
                <a:moveTo>
                  <a:pt x="114302" y="0"/>
                </a:moveTo>
                <a:lnTo>
                  <a:pt x="11306173" y="0"/>
                </a:lnTo>
                <a:cubicBezTo>
                  <a:pt x="11369300" y="0"/>
                  <a:pt x="11420475" y="51175"/>
                  <a:pt x="11420475" y="114302"/>
                </a:cubicBezTo>
                <a:lnTo>
                  <a:pt x="11420475" y="428623"/>
                </a:lnTo>
                <a:cubicBezTo>
                  <a:pt x="11420475" y="491750"/>
                  <a:pt x="11369300" y="542925"/>
                  <a:pt x="11306173" y="542925"/>
                </a:cubicBezTo>
                <a:lnTo>
                  <a:pt x="114302" y="542925"/>
                </a:lnTo>
                <a:cubicBezTo>
                  <a:pt x="51175" y="542925"/>
                  <a:pt x="0" y="491750"/>
                  <a:pt x="0" y="428623"/>
                </a:cubicBezTo>
                <a:lnTo>
                  <a:pt x="0" y="114302"/>
                </a:lnTo>
                <a:cubicBezTo>
                  <a:pt x="0" y="51175"/>
                  <a:pt x="51175" y="0"/>
                  <a:pt x="114302" y="0"/>
                </a:cubicBezTo>
                <a:close/>
              </a:path>
            </a:pathLst>
          </a:custGeom>
          <a:gradFill rotWithShape="1" flip="none">
            <a:gsLst>
              <a:gs pos="0">
                <a:srgbClr val="3B82F6">
                  <a:alpha val="10000"/>
                </a:srgbClr>
              </a:gs>
              <a:gs pos="100000">
                <a:srgbClr val="3B82F6">
                  <a:alpha val="5000"/>
                </a:srgbClr>
              </a:gs>
            </a:gsLst>
            <a:lin ang="0" scaled="1"/>
          </a:gradFill>
          <a:ln w="12700">
            <a:solidFill>
              <a:srgbClr val="3B82F6">
                <a:alpha val="30196"/>
              </a:srgbClr>
            </a:solidFill>
            <a:prstDash val="solid"/>
          </a:ln>
        </p:spPr>
      </p:sp>
      <p:sp>
        <p:nvSpPr>
          <p:cNvPr id="7" name="Text 5"/>
          <p:cNvSpPr/>
          <p:nvPr/>
        </p:nvSpPr>
        <p:spPr>
          <a:xfrm>
            <a:off x="542925" y="1304925"/>
            <a:ext cx="11182350" cy="228600"/>
          </a:xfrm>
          <a:prstGeom prst="rect">
            <a:avLst/>
          </a:prstGeom>
          <a:noFill/>
          <a:ln/>
        </p:spPr>
        <p:txBody>
          <a:bodyPr wrap="square" lIns="0" tIns="0" rIns="0" bIns="0" rtlCol="0" anchor="ctr"/>
          <a:lstStyle/>
          <a:p>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Một hệ thống AI sinh mã chỉ thực sự có giá trị khi mã đó vượt qua được các kịch bản kiểm thử ngặt nghèo. Đề tài áp dụng </a:t>
            </a:r>
            <a:pPr>
              <a:lnSpc>
                <a:spcPct val="130000"/>
              </a:lnSpc>
            </a:pPr>
            <a:r>
              <a:rPr lang="en-US" sz="1200" b="1" dirty="0">
                <a:solidFill>
                  <a:srgbClr val="3B82F6"/>
                </a:solidFill>
                <a:latin typeface="MiSans" pitchFamily="34" charset="0"/>
                <a:ea typeface="MiSans" pitchFamily="34" charset="-122"/>
                <a:cs typeface="MiSans" pitchFamily="34" charset="-120"/>
              </a:rPr>
              <a:t>Khung 3 lớp xác thực</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a:t>
            </a:r>
            <a:endParaRPr lang="en-US" sz="1600" dirty="0"/>
          </a:p>
        </p:txBody>
      </p:sp>
      <p:sp>
        <p:nvSpPr>
          <p:cNvPr id="8" name="Shape 6"/>
          <p:cNvSpPr/>
          <p:nvPr/>
        </p:nvSpPr>
        <p:spPr>
          <a:xfrm>
            <a:off x="385763" y="1852612"/>
            <a:ext cx="3695700" cy="3686175"/>
          </a:xfrm>
          <a:custGeom>
            <a:avLst/>
            <a:gdLst/>
            <a:ahLst/>
            <a:cxnLst/>
            <a:rect l="l" t="t" r="r" b="b"/>
            <a:pathLst>
              <a:path w="3695700" h="3686175">
                <a:moveTo>
                  <a:pt x="114308" y="0"/>
                </a:moveTo>
                <a:lnTo>
                  <a:pt x="3581392" y="0"/>
                </a:lnTo>
                <a:cubicBezTo>
                  <a:pt x="3644522" y="0"/>
                  <a:pt x="3695700" y="51178"/>
                  <a:pt x="3695700" y="114308"/>
                </a:cubicBezTo>
                <a:lnTo>
                  <a:pt x="3695700" y="3571867"/>
                </a:lnTo>
                <a:cubicBezTo>
                  <a:pt x="3695700" y="3634997"/>
                  <a:pt x="3644522" y="3686175"/>
                  <a:pt x="3581392" y="3686175"/>
                </a:cubicBezTo>
                <a:lnTo>
                  <a:pt x="114308" y="3686175"/>
                </a:lnTo>
                <a:cubicBezTo>
                  <a:pt x="51178" y="3686175"/>
                  <a:pt x="0" y="3634997"/>
                  <a:pt x="0" y="3571867"/>
                </a:cubicBezTo>
                <a:lnTo>
                  <a:pt x="0" y="114308"/>
                </a:lnTo>
                <a:cubicBezTo>
                  <a:pt x="0" y="51220"/>
                  <a:pt x="51220" y="0"/>
                  <a:pt x="114308"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9" name="Shape 7"/>
          <p:cNvSpPr/>
          <p:nvPr/>
        </p:nvSpPr>
        <p:spPr>
          <a:xfrm>
            <a:off x="581025" y="20478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10" name="Shape 8"/>
          <p:cNvSpPr/>
          <p:nvPr/>
        </p:nvSpPr>
        <p:spPr>
          <a:xfrm>
            <a:off x="702469" y="2181225"/>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FFFFFF"/>
          </a:solidFill>
          <a:ln/>
        </p:spPr>
      </p:sp>
      <p:sp>
        <p:nvSpPr>
          <p:cNvPr id="11" name="Text 9"/>
          <p:cNvSpPr/>
          <p:nvPr/>
        </p:nvSpPr>
        <p:spPr>
          <a:xfrm>
            <a:off x="1152525" y="2143125"/>
            <a:ext cx="185737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Lớp 1: Xác thực Tĩnh</a:t>
            </a:r>
            <a:endParaRPr lang="en-US" sz="1600" dirty="0"/>
          </a:p>
        </p:txBody>
      </p:sp>
      <p:sp>
        <p:nvSpPr>
          <p:cNvPr id="12" name="Text 10"/>
          <p:cNvSpPr/>
          <p:nvPr/>
        </p:nvSpPr>
        <p:spPr>
          <a:xfrm>
            <a:off x="581025" y="2657475"/>
            <a:ext cx="3381375"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Static Check - Trình phân tích từ vựng (Parser) của Python</a:t>
            </a:r>
            <a:endParaRPr lang="en-US" sz="1600" dirty="0"/>
          </a:p>
        </p:txBody>
      </p:sp>
      <p:sp>
        <p:nvSpPr>
          <p:cNvPr id="13" name="Shape 11"/>
          <p:cNvSpPr/>
          <p:nvPr/>
        </p:nvSpPr>
        <p:spPr>
          <a:xfrm>
            <a:off x="581025" y="32289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14" name="Text 12"/>
          <p:cNvSpPr/>
          <p:nvPr/>
        </p:nvSpPr>
        <p:spPr>
          <a:xfrm>
            <a:off x="695325" y="3343275"/>
            <a:ext cx="3143250" cy="190500"/>
          </a:xfrm>
          <a:prstGeom prst="rect">
            <a:avLst/>
          </a:prstGeom>
          <a:noFill/>
          <a:ln/>
        </p:spPr>
        <p:txBody>
          <a:bodyPr wrap="square" lIns="0" tIns="0" rIns="0" bIns="0" rtlCol="0" anchor="ctr"/>
          <a:lstStyle/>
          <a:p>
            <a:pPr>
              <a:lnSpc>
                <a:spcPct val="120000"/>
              </a:lnSpc>
            </a:pPr>
            <a:r>
              <a:rPr lang="en-US" sz="1050" b="1" dirty="0">
                <a:solidFill>
                  <a:srgbClr val="3B82F6"/>
                </a:solidFill>
                <a:latin typeface="MiSans" pitchFamily="34" charset="0"/>
                <a:ea typeface="MiSans" pitchFamily="34" charset="-122"/>
                <a:cs typeface="MiSans" pitchFamily="34" charset="-120"/>
              </a:rPr>
              <a:t>Kiểm tra lỗi cú pháp</a:t>
            </a:r>
            <a:endParaRPr lang="en-US" sz="1600" dirty="0"/>
          </a:p>
        </p:txBody>
      </p:sp>
      <p:sp>
        <p:nvSpPr>
          <p:cNvPr id="15" name="Text 13"/>
          <p:cNvSpPr/>
          <p:nvPr/>
        </p:nvSpPr>
        <p:spPr>
          <a:xfrm>
            <a:off x="695325" y="35718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SyntaxError, IndentationError</a:t>
            </a:r>
            <a:endParaRPr lang="en-US" sz="1600" dirty="0"/>
          </a:p>
        </p:txBody>
      </p:sp>
      <p:sp>
        <p:nvSpPr>
          <p:cNvPr id="16" name="Shape 14"/>
          <p:cNvSpPr/>
          <p:nvPr/>
        </p:nvSpPr>
        <p:spPr>
          <a:xfrm>
            <a:off x="581025" y="39147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17" name="Text 15"/>
          <p:cNvSpPr/>
          <p:nvPr/>
        </p:nvSpPr>
        <p:spPr>
          <a:xfrm>
            <a:off x="695325" y="4029075"/>
            <a:ext cx="3143250" cy="190500"/>
          </a:xfrm>
          <a:prstGeom prst="rect">
            <a:avLst/>
          </a:prstGeom>
          <a:noFill/>
          <a:ln/>
        </p:spPr>
        <p:txBody>
          <a:bodyPr wrap="square" lIns="0" tIns="0" rIns="0" bIns="0" rtlCol="0" anchor="ctr"/>
          <a:lstStyle/>
          <a:p>
            <a:pPr>
              <a:lnSpc>
                <a:spcPct val="120000"/>
              </a:lnSpc>
            </a:pPr>
            <a:r>
              <a:rPr lang="en-US" sz="1050" b="1" dirty="0">
                <a:solidFill>
                  <a:srgbClr val="3B82F6"/>
                </a:solidFill>
                <a:latin typeface="MiSans" pitchFamily="34" charset="0"/>
                <a:ea typeface="MiSans" pitchFamily="34" charset="-122"/>
                <a:cs typeface="MiSans" pitchFamily="34" charset="-120"/>
              </a:rPr>
              <a:t>Phát hiện thiếu import</a:t>
            </a:r>
            <a:endParaRPr lang="en-US" sz="1600" dirty="0"/>
          </a:p>
        </p:txBody>
      </p:sp>
      <p:sp>
        <p:nvSpPr>
          <p:cNvPr id="18" name="Text 16"/>
          <p:cNvSpPr/>
          <p:nvPr/>
        </p:nvSpPr>
        <p:spPr>
          <a:xfrm>
            <a:off x="695325" y="42576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ModuleNotFoundError</a:t>
            </a:r>
            <a:endParaRPr lang="en-US" sz="1600" dirty="0"/>
          </a:p>
        </p:txBody>
      </p:sp>
      <p:sp>
        <p:nvSpPr>
          <p:cNvPr id="19" name="Shape 17"/>
          <p:cNvSpPr/>
          <p:nvPr/>
        </p:nvSpPr>
        <p:spPr>
          <a:xfrm>
            <a:off x="581025" y="46005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20" name="Text 18"/>
          <p:cNvSpPr/>
          <p:nvPr/>
        </p:nvSpPr>
        <p:spPr>
          <a:xfrm>
            <a:off x="695325" y="4714875"/>
            <a:ext cx="3143250" cy="190500"/>
          </a:xfrm>
          <a:prstGeom prst="rect">
            <a:avLst/>
          </a:prstGeom>
          <a:noFill/>
          <a:ln/>
        </p:spPr>
        <p:txBody>
          <a:bodyPr wrap="square" lIns="0" tIns="0" rIns="0" bIns="0" rtlCol="0" anchor="ctr"/>
          <a:lstStyle/>
          <a:p>
            <a:pPr>
              <a:lnSpc>
                <a:spcPct val="120000"/>
              </a:lnSpc>
            </a:pPr>
            <a:r>
              <a:rPr lang="en-US" sz="1050" b="1" dirty="0">
                <a:solidFill>
                  <a:srgbClr val="3B82F6"/>
                </a:solidFill>
                <a:latin typeface="MiSans" pitchFamily="34" charset="0"/>
                <a:ea typeface="MiSans" pitchFamily="34" charset="-122"/>
                <a:cs typeface="MiSans" pitchFamily="34" charset="-120"/>
              </a:rPr>
              <a:t>Kiểm tra type hints</a:t>
            </a:r>
            <a:endParaRPr lang="en-US" sz="1600" dirty="0"/>
          </a:p>
        </p:txBody>
      </p:sp>
      <p:sp>
        <p:nvSpPr>
          <p:cNvPr id="21" name="Text 19"/>
          <p:cNvSpPr/>
          <p:nvPr/>
        </p:nvSpPr>
        <p:spPr>
          <a:xfrm>
            <a:off x="695325" y="49434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mypy, pyright</a:t>
            </a:r>
            <a:endParaRPr lang="en-US" sz="1600" dirty="0"/>
          </a:p>
        </p:txBody>
      </p:sp>
      <p:sp>
        <p:nvSpPr>
          <p:cNvPr id="22" name="Shape 20"/>
          <p:cNvSpPr/>
          <p:nvPr/>
        </p:nvSpPr>
        <p:spPr>
          <a:xfrm>
            <a:off x="4246513" y="1852612"/>
            <a:ext cx="3695700" cy="3686175"/>
          </a:xfrm>
          <a:custGeom>
            <a:avLst/>
            <a:gdLst/>
            <a:ahLst/>
            <a:cxnLst/>
            <a:rect l="l" t="t" r="r" b="b"/>
            <a:pathLst>
              <a:path w="3695700" h="3686175">
                <a:moveTo>
                  <a:pt x="114308" y="0"/>
                </a:moveTo>
                <a:lnTo>
                  <a:pt x="3581392" y="0"/>
                </a:lnTo>
                <a:cubicBezTo>
                  <a:pt x="3644522" y="0"/>
                  <a:pt x="3695700" y="51178"/>
                  <a:pt x="3695700" y="114308"/>
                </a:cubicBezTo>
                <a:lnTo>
                  <a:pt x="3695700" y="3571867"/>
                </a:lnTo>
                <a:cubicBezTo>
                  <a:pt x="3695700" y="3634997"/>
                  <a:pt x="3644522" y="3686175"/>
                  <a:pt x="3581392" y="3686175"/>
                </a:cubicBezTo>
                <a:lnTo>
                  <a:pt x="114308" y="3686175"/>
                </a:lnTo>
                <a:cubicBezTo>
                  <a:pt x="51178" y="3686175"/>
                  <a:pt x="0" y="3634997"/>
                  <a:pt x="0" y="3571867"/>
                </a:cubicBezTo>
                <a:lnTo>
                  <a:pt x="0" y="114308"/>
                </a:lnTo>
                <a:cubicBezTo>
                  <a:pt x="0" y="51220"/>
                  <a:pt x="51220" y="0"/>
                  <a:pt x="11430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3" name="Shape 21"/>
          <p:cNvSpPr/>
          <p:nvPr/>
        </p:nvSpPr>
        <p:spPr>
          <a:xfrm>
            <a:off x="4441775" y="20478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24" name="Shape 22"/>
          <p:cNvSpPr/>
          <p:nvPr/>
        </p:nvSpPr>
        <p:spPr>
          <a:xfrm>
            <a:off x="4575125" y="2181225"/>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70061" y="54732"/>
                </a:moveTo>
                <a:cubicBezTo>
                  <a:pt x="67233" y="56294"/>
                  <a:pt x="65484" y="59308"/>
                  <a:pt x="65484" y="62508"/>
                </a:cubicBezTo>
                <a:lnTo>
                  <a:pt x="65484" y="127992"/>
                </a:lnTo>
                <a:cubicBezTo>
                  <a:pt x="65484" y="131229"/>
                  <a:pt x="67233" y="134206"/>
                  <a:pt x="70061" y="135768"/>
                </a:cubicBezTo>
                <a:cubicBezTo>
                  <a:pt x="72889" y="137331"/>
                  <a:pt x="76312" y="137294"/>
                  <a:pt x="79102" y="135582"/>
                </a:cubicBezTo>
                <a:lnTo>
                  <a:pt x="132680" y="102840"/>
                </a:lnTo>
                <a:cubicBezTo>
                  <a:pt x="135322" y="101203"/>
                  <a:pt x="136959" y="98338"/>
                  <a:pt x="136959" y="95213"/>
                </a:cubicBezTo>
                <a:cubicBezTo>
                  <a:pt x="136959" y="92087"/>
                  <a:pt x="135322" y="89222"/>
                  <a:pt x="132680" y="87585"/>
                </a:cubicBezTo>
                <a:lnTo>
                  <a:pt x="79102" y="54843"/>
                </a:lnTo>
                <a:cubicBezTo>
                  <a:pt x="76349" y="53169"/>
                  <a:pt x="72889" y="53094"/>
                  <a:pt x="70061" y="54657"/>
                </a:cubicBezTo>
                <a:close/>
              </a:path>
            </a:pathLst>
          </a:custGeom>
          <a:solidFill>
            <a:srgbClr val="FFFFFF"/>
          </a:solidFill>
          <a:ln/>
        </p:spPr>
      </p:sp>
      <p:sp>
        <p:nvSpPr>
          <p:cNvPr id="25" name="Text 23"/>
          <p:cNvSpPr/>
          <p:nvPr/>
        </p:nvSpPr>
        <p:spPr>
          <a:xfrm>
            <a:off x="5013275" y="2143125"/>
            <a:ext cx="1990725"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Lớp 2: Xác thực Động</a:t>
            </a:r>
            <a:endParaRPr lang="en-US" sz="1600" dirty="0"/>
          </a:p>
        </p:txBody>
      </p:sp>
      <p:sp>
        <p:nvSpPr>
          <p:cNvPr id="26" name="Text 24"/>
          <p:cNvSpPr/>
          <p:nvPr/>
        </p:nvSpPr>
        <p:spPr>
          <a:xfrm>
            <a:off x="4441775" y="2657475"/>
            <a:ext cx="3381375"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Dynamic Check - Chạy thực thi mã nguồn qua bộ test case</a:t>
            </a:r>
            <a:endParaRPr lang="en-US" sz="1600" dirty="0"/>
          </a:p>
        </p:txBody>
      </p:sp>
      <p:sp>
        <p:nvSpPr>
          <p:cNvPr id="27" name="Shape 25"/>
          <p:cNvSpPr/>
          <p:nvPr/>
        </p:nvSpPr>
        <p:spPr>
          <a:xfrm>
            <a:off x="4441775" y="32289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28" name="Text 26"/>
          <p:cNvSpPr/>
          <p:nvPr/>
        </p:nvSpPr>
        <p:spPr>
          <a:xfrm>
            <a:off x="4556075" y="3343275"/>
            <a:ext cx="314325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 Happy path</a:t>
            </a:r>
            <a:endParaRPr lang="en-US" sz="1600" dirty="0"/>
          </a:p>
        </p:txBody>
      </p:sp>
      <p:sp>
        <p:nvSpPr>
          <p:cNvPr id="29" name="Text 27"/>
          <p:cNvSpPr/>
          <p:nvPr/>
        </p:nvSpPr>
        <p:spPr>
          <a:xfrm>
            <a:off x="4556075" y="35718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Gọi hàm với limit = 50, in chính xác chuỗi FizzBuzz</a:t>
            </a:r>
            <a:endParaRPr lang="en-US" sz="1600" dirty="0"/>
          </a:p>
        </p:txBody>
      </p:sp>
      <p:sp>
        <p:nvSpPr>
          <p:cNvPr id="30" name="Shape 28"/>
          <p:cNvSpPr/>
          <p:nvPr/>
        </p:nvSpPr>
        <p:spPr>
          <a:xfrm>
            <a:off x="4441775" y="39147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31" name="Text 29"/>
          <p:cNvSpPr/>
          <p:nvPr/>
        </p:nvSpPr>
        <p:spPr>
          <a:xfrm>
            <a:off x="4556075" y="4029075"/>
            <a:ext cx="3143250" cy="190500"/>
          </a:xfrm>
          <a:prstGeom prst="rect">
            <a:avLst/>
          </a:prstGeom>
          <a:noFill/>
          <a:ln/>
        </p:spPr>
        <p:txBody>
          <a:bodyPr wrap="square" lIns="0" tIns="0" rIns="0" bIns="0" rtlCol="0" anchor="ctr"/>
          <a:lstStyle/>
          <a:p>
            <a:pPr>
              <a:lnSpc>
                <a:spcPct val="120000"/>
              </a:lnSpc>
            </a:pPr>
            <a:r>
              <a:rPr lang="en-US" sz="1050" b="1" dirty="0">
                <a:solidFill>
                  <a:srgbClr val="F59E0B"/>
                </a:solidFill>
                <a:latin typeface="MiSans" pitchFamily="34" charset="0"/>
                <a:ea typeface="MiSans" pitchFamily="34" charset="-122"/>
                <a:cs typeface="MiSans" pitchFamily="34" charset="-120"/>
              </a:rPr>
              <a:t>⚠ Edge cases</a:t>
            </a:r>
            <a:endParaRPr lang="en-US" sz="1600" dirty="0"/>
          </a:p>
        </p:txBody>
      </p:sp>
      <p:sp>
        <p:nvSpPr>
          <p:cNvPr id="32" name="Text 30"/>
          <p:cNvSpPr/>
          <p:nvPr/>
        </p:nvSpPr>
        <p:spPr>
          <a:xfrm>
            <a:off x="4556075" y="42576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Input ngoài biên (limit = -1) → ValueError</a:t>
            </a:r>
            <a:endParaRPr lang="en-US" sz="1600" dirty="0"/>
          </a:p>
        </p:txBody>
      </p:sp>
      <p:sp>
        <p:nvSpPr>
          <p:cNvPr id="33" name="Shape 31"/>
          <p:cNvSpPr/>
          <p:nvPr/>
        </p:nvSpPr>
        <p:spPr>
          <a:xfrm>
            <a:off x="4441775" y="46005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34" name="Text 32"/>
          <p:cNvSpPr/>
          <p:nvPr/>
        </p:nvSpPr>
        <p:spPr>
          <a:xfrm>
            <a:off x="4556075" y="4714875"/>
            <a:ext cx="3143250" cy="190500"/>
          </a:xfrm>
          <a:prstGeom prst="rect">
            <a:avLst/>
          </a:prstGeom>
          <a:noFill/>
          <a:ln/>
        </p:spPr>
        <p:txBody>
          <a:bodyPr wrap="square" lIns="0" tIns="0" rIns="0" bIns="0" rtlCol="0" anchor="ctr"/>
          <a:lstStyle/>
          <a:p>
            <a:pPr>
              <a:lnSpc>
                <a:spcPct val="120000"/>
              </a:lnSpc>
            </a:pPr>
            <a:r>
              <a:rPr lang="en-US" sz="1050" b="1" dirty="0">
                <a:solidFill>
                  <a:srgbClr val="EF4444"/>
                </a:solidFill>
                <a:latin typeface="MiSans" pitchFamily="34" charset="0"/>
                <a:ea typeface="MiSans" pitchFamily="34" charset="-122"/>
                <a:cs typeface="MiSans" pitchFamily="34" charset="-120"/>
              </a:rPr>
              <a:t>✗ Exception handling</a:t>
            </a:r>
            <a:endParaRPr lang="en-US" sz="1600" dirty="0"/>
          </a:p>
        </p:txBody>
      </p:sp>
      <p:sp>
        <p:nvSpPr>
          <p:cNvPr id="35" name="Text 33"/>
          <p:cNvSpPr/>
          <p:nvPr/>
        </p:nvSpPr>
        <p:spPr>
          <a:xfrm>
            <a:off x="4556075" y="49434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Input sai kiểu (limit = "5") → TypeError</a:t>
            </a:r>
            <a:endParaRPr lang="en-US" sz="1600" dirty="0"/>
          </a:p>
        </p:txBody>
      </p:sp>
      <p:sp>
        <p:nvSpPr>
          <p:cNvPr id="36" name="Shape 34"/>
          <p:cNvSpPr/>
          <p:nvPr/>
        </p:nvSpPr>
        <p:spPr>
          <a:xfrm>
            <a:off x="8107263" y="1852612"/>
            <a:ext cx="3695700" cy="3686175"/>
          </a:xfrm>
          <a:custGeom>
            <a:avLst/>
            <a:gdLst/>
            <a:ahLst/>
            <a:cxnLst/>
            <a:rect l="l" t="t" r="r" b="b"/>
            <a:pathLst>
              <a:path w="3695700" h="3686175">
                <a:moveTo>
                  <a:pt x="114308" y="0"/>
                </a:moveTo>
                <a:lnTo>
                  <a:pt x="3581392" y="0"/>
                </a:lnTo>
                <a:cubicBezTo>
                  <a:pt x="3644522" y="0"/>
                  <a:pt x="3695700" y="51178"/>
                  <a:pt x="3695700" y="114308"/>
                </a:cubicBezTo>
                <a:lnTo>
                  <a:pt x="3695700" y="3571867"/>
                </a:lnTo>
                <a:cubicBezTo>
                  <a:pt x="3695700" y="3634997"/>
                  <a:pt x="3644522" y="3686175"/>
                  <a:pt x="3581392" y="3686175"/>
                </a:cubicBezTo>
                <a:lnTo>
                  <a:pt x="114308" y="3686175"/>
                </a:lnTo>
                <a:cubicBezTo>
                  <a:pt x="51178" y="3686175"/>
                  <a:pt x="0" y="3634997"/>
                  <a:pt x="0" y="3571867"/>
                </a:cubicBezTo>
                <a:lnTo>
                  <a:pt x="0" y="114308"/>
                </a:lnTo>
                <a:cubicBezTo>
                  <a:pt x="0" y="51220"/>
                  <a:pt x="51220" y="0"/>
                  <a:pt x="11430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37" name="Shape 35"/>
          <p:cNvSpPr/>
          <p:nvPr/>
        </p:nvSpPr>
        <p:spPr>
          <a:xfrm>
            <a:off x="8302526" y="204787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38" name="Shape 36"/>
          <p:cNvSpPr/>
          <p:nvPr/>
        </p:nvSpPr>
        <p:spPr>
          <a:xfrm>
            <a:off x="8435876" y="2181225"/>
            <a:ext cx="190500" cy="190500"/>
          </a:xfrm>
          <a:custGeom>
            <a:avLst/>
            <a:gdLst/>
            <a:ahLst/>
            <a:cxnLst/>
            <a:rect l="l" t="t" r="r" b="b"/>
            <a:pathLst>
              <a:path w="190500" h="190500">
                <a:moveTo>
                  <a:pt x="65484" y="0"/>
                </a:moveTo>
                <a:cubicBezTo>
                  <a:pt x="55625" y="0"/>
                  <a:pt x="47625" y="8000"/>
                  <a:pt x="47625" y="17859"/>
                </a:cubicBezTo>
                <a:lnTo>
                  <a:pt x="47625" y="95250"/>
                </a:lnTo>
                <a:cubicBezTo>
                  <a:pt x="47625" y="105110"/>
                  <a:pt x="55625" y="113109"/>
                  <a:pt x="65484" y="113109"/>
                </a:cubicBezTo>
                <a:lnTo>
                  <a:pt x="89297" y="113109"/>
                </a:lnTo>
                <a:cubicBezTo>
                  <a:pt x="99157" y="113109"/>
                  <a:pt x="107156" y="105110"/>
                  <a:pt x="107156" y="95250"/>
                </a:cubicBezTo>
                <a:lnTo>
                  <a:pt x="107156" y="71438"/>
                </a:lnTo>
                <a:lnTo>
                  <a:pt x="119063" y="71438"/>
                </a:lnTo>
                <a:cubicBezTo>
                  <a:pt x="145368" y="71438"/>
                  <a:pt x="166688" y="92757"/>
                  <a:pt x="166688" y="119063"/>
                </a:cubicBezTo>
                <a:cubicBezTo>
                  <a:pt x="166688" y="145368"/>
                  <a:pt x="145368" y="166688"/>
                  <a:pt x="119063" y="166688"/>
                </a:cubicBezTo>
                <a:lnTo>
                  <a:pt x="11906" y="166688"/>
                </a:lnTo>
                <a:cubicBezTo>
                  <a:pt x="5321" y="166688"/>
                  <a:pt x="0" y="172008"/>
                  <a:pt x="0" y="178594"/>
                </a:cubicBezTo>
                <a:cubicBezTo>
                  <a:pt x="0" y="185179"/>
                  <a:pt x="5321" y="190500"/>
                  <a:pt x="11906" y="190500"/>
                </a:cubicBezTo>
                <a:lnTo>
                  <a:pt x="178594" y="190500"/>
                </a:lnTo>
                <a:cubicBezTo>
                  <a:pt x="185179" y="190500"/>
                  <a:pt x="190500" y="185179"/>
                  <a:pt x="190500" y="178594"/>
                </a:cubicBezTo>
                <a:cubicBezTo>
                  <a:pt x="190500" y="172008"/>
                  <a:pt x="185179" y="166688"/>
                  <a:pt x="178594" y="166688"/>
                </a:cubicBezTo>
                <a:lnTo>
                  <a:pt x="172306" y="166688"/>
                </a:lnTo>
                <a:cubicBezTo>
                  <a:pt x="183617" y="154037"/>
                  <a:pt x="190500" y="137368"/>
                  <a:pt x="190500" y="119063"/>
                </a:cubicBezTo>
                <a:cubicBezTo>
                  <a:pt x="190500" y="79623"/>
                  <a:pt x="158502" y="47625"/>
                  <a:pt x="119063" y="47625"/>
                </a:cubicBezTo>
                <a:lnTo>
                  <a:pt x="107156" y="47625"/>
                </a:lnTo>
                <a:lnTo>
                  <a:pt x="107156" y="17859"/>
                </a:lnTo>
                <a:cubicBezTo>
                  <a:pt x="107156" y="8000"/>
                  <a:pt x="99157" y="0"/>
                  <a:pt x="89297" y="0"/>
                </a:cubicBezTo>
                <a:lnTo>
                  <a:pt x="65484" y="0"/>
                </a:lnTo>
                <a:close/>
                <a:moveTo>
                  <a:pt x="44648" y="130969"/>
                </a:moveTo>
                <a:cubicBezTo>
                  <a:pt x="39700" y="130969"/>
                  <a:pt x="35719" y="134950"/>
                  <a:pt x="35719" y="139898"/>
                </a:cubicBezTo>
                <a:cubicBezTo>
                  <a:pt x="35719" y="144847"/>
                  <a:pt x="39700" y="148828"/>
                  <a:pt x="44648" y="148828"/>
                </a:cubicBezTo>
                <a:lnTo>
                  <a:pt x="110133" y="148828"/>
                </a:lnTo>
                <a:cubicBezTo>
                  <a:pt x="115081" y="148828"/>
                  <a:pt x="119063" y="144847"/>
                  <a:pt x="119063" y="139898"/>
                </a:cubicBezTo>
                <a:cubicBezTo>
                  <a:pt x="119063" y="134950"/>
                  <a:pt x="115081" y="130969"/>
                  <a:pt x="110133" y="130969"/>
                </a:cubicBezTo>
                <a:lnTo>
                  <a:pt x="44648" y="130969"/>
                </a:lnTo>
                <a:close/>
              </a:path>
            </a:pathLst>
          </a:custGeom>
          <a:solidFill>
            <a:srgbClr val="FFFFFF"/>
          </a:solidFill>
          <a:ln/>
        </p:spPr>
      </p:sp>
      <p:sp>
        <p:nvSpPr>
          <p:cNvPr id="39" name="Text 37"/>
          <p:cNvSpPr/>
          <p:nvPr/>
        </p:nvSpPr>
        <p:spPr>
          <a:xfrm>
            <a:off x="8874026" y="2143125"/>
            <a:ext cx="21717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Lớp 3: Xác thực Hành vi</a:t>
            </a:r>
            <a:endParaRPr lang="en-US" sz="1600" dirty="0"/>
          </a:p>
        </p:txBody>
      </p:sp>
      <p:sp>
        <p:nvSpPr>
          <p:cNvPr id="40" name="Text 38"/>
          <p:cNvSpPr/>
          <p:nvPr/>
        </p:nvSpPr>
        <p:spPr>
          <a:xfrm>
            <a:off x="8302526" y="2657475"/>
            <a:ext cx="3381375" cy="4572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Behavioral Validation - Kiểm tra các tính năng phụ trợ</a:t>
            </a:r>
            <a:endParaRPr lang="en-US" sz="1600" dirty="0"/>
          </a:p>
        </p:txBody>
      </p:sp>
      <p:sp>
        <p:nvSpPr>
          <p:cNvPr id="41" name="Shape 39"/>
          <p:cNvSpPr/>
          <p:nvPr/>
        </p:nvSpPr>
        <p:spPr>
          <a:xfrm>
            <a:off x="8302526" y="32289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42" name="Text 40"/>
          <p:cNvSpPr/>
          <p:nvPr/>
        </p:nvSpPr>
        <p:spPr>
          <a:xfrm>
            <a:off x="8416826" y="3343275"/>
            <a:ext cx="314325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 Introspection</a:t>
            </a:r>
            <a:endParaRPr lang="en-US" sz="1600" dirty="0"/>
          </a:p>
        </p:txBody>
      </p:sp>
      <p:sp>
        <p:nvSpPr>
          <p:cNvPr id="43" name="Text 41"/>
          <p:cNvSpPr/>
          <p:nvPr/>
        </p:nvSpPr>
        <p:spPr>
          <a:xfrm>
            <a:off x="8416826" y="35718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Profiler, debug nhận diện đúng tên hàm gốc nhờ @wraps</a:t>
            </a:r>
            <a:endParaRPr lang="en-US" sz="1600" dirty="0"/>
          </a:p>
        </p:txBody>
      </p:sp>
      <p:sp>
        <p:nvSpPr>
          <p:cNvPr id="44" name="Shape 42"/>
          <p:cNvSpPr/>
          <p:nvPr/>
        </p:nvSpPr>
        <p:spPr>
          <a:xfrm>
            <a:off x="8302526" y="39147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45" name="Text 43"/>
          <p:cNvSpPr/>
          <p:nvPr/>
        </p:nvSpPr>
        <p:spPr>
          <a:xfrm>
            <a:off x="8416826" y="4029075"/>
            <a:ext cx="314325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 Logging</a:t>
            </a:r>
            <a:endParaRPr lang="en-US" sz="1600" dirty="0"/>
          </a:p>
        </p:txBody>
      </p:sp>
      <p:sp>
        <p:nvSpPr>
          <p:cNvPr id="46" name="Text 44"/>
          <p:cNvSpPr/>
          <p:nvPr/>
        </p:nvSpPr>
        <p:spPr>
          <a:xfrm>
            <a:off x="8416826" y="42576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Log file ghi nhận chính xác giá trị tham số</a:t>
            </a:r>
            <a:endParaRPr lang="en-US" sz="1600" dirty="0"/>
          </a:p>
        </p:txBody>
      </p:sp>
      <p:sp>
        <p:nvSpPr>
          <p:cNvPr id="47" name="Shape 45"/>
          <p:cNvSpPr/>
          <p:nvPr/>
        </p:nvSpPr>
        <p:spPr>
          <a:xfrm>
            <a:off x="8302526" y="460057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48" name="Text 46"/>
          <p:cNvSpPr/>
          <p:nvPr/>
        </p:nvSpPr>
        <p:spPr>
          <a:xfrm>
            <a:off x="8416826" y="4714875"/>
            <a:ext cx="314325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 Counter</a:t>
            </a:r>
            <a:endParaRPr lang="en-US" sz="1600" dirty="0"/>
          </a:p>
        </p:txBody>
      </p:sp>
      <p:sp>
        <p:nvSpPr>
          <p:cNvPr id="49" name="Text 47"/>
          <p:cNvSpPr/>
          <p:nvPr/>
        </p:nvSpPr>
        <p:spPr>
          <a:xfrm>
            <a:off x="8416826" y="4943475"/>
            <a:ext cx="31337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Bộ đếm tăng tuyến tính qua mỗi lần gọi</a:t>
            </a:r>
            <a:endParaRPr lang="en-US" sz="1600" dirty="0"/>
          </a:p>
        </p:txBody>
      </p:sp>
      <p:sp>
        <p:nvSpPr>
          <p:cNvPr id="50" name="Shape 48"/>
          <p:cNvSpPr/>
          <p:nvPr/>
        </p:nvSpPr>
        <p:spPr>
          <a:xfrm>
            <a:off x="385763" y="5700713"/>
            <a:ext cx="11420475" cy="771525"/>
          </a:xfrm>
          <a:custGeom>
            <a:avLst/>
            <a:gdLst/>
            <a:ahLst/>
            <a:cxnLst/>
            <a:rect l="l" t="t" r="r" b="b"/>
            <a:pathLst>
              <a:path w="11420475" h="771525">
                <a:moveTo>
                  <a:pt x="114301" y="0"/>
                </a:moveTo>
                <a:lnTo>
                  <a:pt x="11306174" y="0"/>
                </a:lnTo>
                <a:cubicBezTo>
                  <a:pt x="11369301" y="0"/>
                  <a:pt x="11420475" y="51174"/>
                  <a:pt x="11420475" y="114301"/>
                </a:cubicBezTo>
                <a:lnTo>
                  <a:pt x="11420475" y="657224"/>
                </a:lnTo>
                <a:cubicBezTo>
                  <a:pt x="11420475" y="720351"/>
                  <a:pt x="11369301" y="771525"/>
                  <a:pt x="11306174" y="771525"/>
                </a:cubicBezTo>
                <a:lnTo>
                  <a:pt x="114301" y="771525"/>
                </a:lnTo>
                <a:cubicBezTo>
                  <a:pt x="51174" y="771525"/>
                  <a:pt x="0" y="720351"/>
                  <a:pt x="0" y="657224"/>
                </a:cubicBezTo>
                <a:lnTo>
                  <a:pt x="0" y="114301"/>
                </a:lnTo>
                <a:cubicBezTo>
                  <a:pt x="0" y="51174"/>
                  <a:pt x="51174" y="0"/>
                  <a:pt x="114301" y="0"/>
                </a:cubicBezTo>
                <a:close/>
              </a:path>
            </a:pathLst>
          </a:custGeom>
          <a:solidFill>
            <a:srgbClr val="0F172A"/>
          </a:solidFill>
          <a:ln w="12700">
            <a:solidFill>
              <a:srgbClr val="10B981">
                <a:alpha val="30196"/>
              </a:srgbClr>
            </a:solidFill>
            <a:prstDash val="solid"/>
          </a:ln>
        </p:spPr>
      </p:sp>
      <p:sp>
        <p:nvSpPr>
          <p:cNvPr id="51" name="Shape 49"/>
          <p:cNvSpPr/>
          <p:nvPr/>
        </p:nvSpPr>
        <p:spPr>
          <a:xfrm>
            <a:off x="581025" y="5905500"/>
            <a:ext cx="114300" cy="152400"/>
          </a:xfrm>
          <a:custGeom>
            <a:avLst/>
            <a:gdLst/>
            <a:ahLst/>
            <a:cxnLst/>
            <a:rect l="l" t="t" r="r" b="b"/>
            <a:pathLst>
              <a:path w="114300" h="152400">
                <a:moveTo>
                  <a:pt x="74384" y="19883"/>
                </a:moveTo>
                <a:cubicBezTo>
                  <a:pt x="77480" y="15627"/>
                  <a:pt x="76527" y="9674"/>
                  <a:pt x="72271" y="6578"/>
                </a:cubicBezTo>
                <a:cubicBezTo>
                  <a:pt x="68014" y="3483"/>
                  <a:pt x="62061" y="4435"/>
                  <a:pt x="58966" y="8692"/>
                </a:cubicBezTo>
                <a:lnTo>
                  <a:pt x="27414" y="52060"/>
                </a:lnTo>
                <a:lnTo>
                  <a:pt x="16252" y="40898"/>
                </a:lnTo>
                <a:cubicBezTo>
                  <a:pt x="12531" y="37177"/>
                  <a:pt x="6489" y="37177"/>
                  <a:pt x="2768" y="40898"/>
                </a:cubicBezTo>
                <a:cubicBezTo>
                  <a:pt x="-952" y="44619"/>
                  <a:pt x="-952" y="50661"/>
                  <a:pt x="2768" y="54382"/>
                </a:cubicBezTo>
                <a:lnTo>
                  <a:pt x="21818" y="73432"/>
                </a:lnTo>
                <a:cubicBezTo>
                  <a:pt x="23783" y="75396"/>
                  <a:pt x="26521" y="76408"/>
                  <a:pt x="29289" y="76200"/>
                </a:cubicBezTo>
                <a:cubicBezTo>
                  <a:pt x="32058" y="75992"/>
                  <a:pt x="34617" y="74563"/>
                  <a:pt x="36255" y="72301"/>
                </a:cubicBezTo>
                <a:lnTo>
                  <a:pt x="74355" y="19913"/>
                </a:lnTo>
                <a:close/>
                <a:moveTo>
                  <a:pt x="112484" y="60365"/>
                </a:moveTo>
                <a:cubicBezTo>
                  <a:pt x="115580" y="56108"/>
                  <a:pt x="114627" y="50155"/>
                  <a:pt x="110371" y="47059"/>
                </a:cubicBezTo>
                <a:cubicBezTo>
                  <a:pt x="106114" y="43964"/>
                  <a:pt x="100161" y="44916"/>
                  <a:pt x="97066" y="49173"/>
                </a:cubicBezTo>
                <a:lnTo>
                  <a:pt x="46464" y="118735"/>
                </a:lnTo>
                <a:lnTo>
                  <a:pt x="25777" y="98048"/>
                </a:lnTo>
                <a:cubicBezTo>
                  <a:pt x="22056" y="94327"/>
                  <a:pt x="16014" y="94327"/>
                  <a:pt x="12293" y="98048"/>
                </a:cubicBezTo>
                <a:cubicBezTo>
                  <a:pt x="8572" y="101769"/>
                  <a:pt x="8572" y="107811"/>
                  <a:pt x="12293" y="111532"/>
                </a:cubicBezTo>
                <a:lnTo>
                  <a:pt x="40868" y="140107"/>
                </a:lnTo>
                <a:cubicBezTo>
                  <a:pt x="42833" y="142071"/>
                  <a:pt x="45571" y="143083"/>
                  <a:pt x="48339" y="142875"/>
                </a:cubicBezTo>
                <a:cubicBezTo>
                  <a:pt x="51108" y="142667"/>
                  <a:pt x="53667" y="141238"/>
                  <a:pt x="55305" y="138976"/>
                </a:cubicBezTo>
                <a:lnTo>
                  <a:pt x="112455" y="60394"/>
                </a:lnTo>
                <a:close/>
              </a:path>
            </a:pathLst>
          </a:custGeom>
          <a:solidFill>
            <a:srgbClr val="10B981"/>
          </a:solidFill>
          <a:ln/>
        </p:spPr>
      </p:sp>
      <p:sp>
        <p:nvSpPr>
          <p:cNvPr id="52" name="Text 50"/>
          <p:cNvSpPr/>
          <p:nvPr/>
        </p:nvSpPr>
        <p:spPr>
          <a:xfrm>
            <a:off x="790575" y="5857875"/>
            <a:ext cx="1093470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Kết luận validation: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Các hàm do AI sinh ra vẫn duy trì được introspection, logging chính xác, và counter tăng tuyến tính - đảm bảo tính tin cậy cho production.</a:t>
            </a:r>
            <a:endParaRPr lang="en-US" sz="1600" dirty="0"/>
          </a:p>
        </p:txBody>
      </p:sp>
    </p:spTree>
  </p:cSld>
  <p:clrMapOvr>
    <a:masterClrMapping/>
  </p:clrMapOvr>
  <p:transition>
    <p:fade/>
    <p:spd val="med"/>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56752" y="428102"/>
            <a:ext cx="356752" cy="356752"/>
          </a:xfrm>
          <a:custGeom>
            <a:avLst/>
            <a:gdLst/>
            <a:ahLst/>
            <a:cxnLst/>
            <a:rect l="l" t="t" r="r" b="b"/>
            <a:pathLst>
              <a:path w="356752" h="356752">
                <a:moveTo>
                  <a:pt x="71350" y="0"/>
                </a:moveTo>
                <a:lnTo>
                  <a:pt x="285402" y="0"/>
                </a:lnTo>
                <a:cubicBezTo>
                  <a:pt x="324781" y="0"/>
                  <a:pt x="356752" y="31971"/>
                  <a:pt x="356752" y="71350"/>
                </a:cubicBezTo>
                <a:lnTo>
                  <a:pt x="356752" y="285402"/>
                </a:lnTo>
                <a:cubicBezTo>
                  <a:pt x="356752" y="324781"/>
                  <a:pt x="324781" y="356752"/>
                  <a:pt x="285402" y="356752"/>
                </a:cubicBezTo>
                <a:lnTo>
                  <a:pt x="71350" y="356752"/>
                </a:lnTo>
                <a:cubicBezTo>
                  <a:pt x="31971" y="356752"/>
                  <a:pt x="0" y="324781"/>
                  <a:pt x="0" y="285402"/>
                </a:cubicBezTo>
                <a:lnTo>
                  <a:pt x="0" y="71350"/>
                </a:lnTo>
                <a:cubicBezTo>
                  <a:pt x="0" y="31971"/>
                  <a:pt x="31971" y="0"/>
                  <a:pt x="71350" y="0"/>
                </a:cubicBezTo>
                <a:close/>
              </a:path>
            </a:pathLst>
          </a:custGeom>
          <a:solidFill>
            <a:srgbClr val="EF4444"/>
          </a:solidFill>
          <a:ln/>
        </p:spPr>
      </p:sp>
      <p:sp>
        <p:nvSpPr>
          <p:cNvPr id="3" name="Shape 1"/>
          <p:cNvSpPr/>
          <p:nvPr/>
        </p:nvSpPr>
        <p:spPr>
          <a:xfrm>
            <a:off x="457089" y="526209"/>
            <a:ext cx="160538" cy="160538"/>
          </a:xfrm>
          <a:custGeom>
            <a:avLst/>
            <a:gdLst/>
            <a:ahLst/>
            <a:cxnLst/>
            <a:rect l="l" t="t" r="r" b="b"/>
            <a:pathLst>
              <a:path w="160538" h="160538">
                <a:moveTo>
                  <a:pt x="80269" y="0"/>
                </a:moveTo>
                <a:cubicBezTo>
                  <a:pt x="84878" y="0"/>
                  <a:pt x="89111" y="2540"/>
                  <a:pt x="91306" y="6585"/>
                </a:cubicBezTo>
                <a:lnTo>
                  <a:pt x="159033" y="132005"/>
                </a:lnTo>
                <a:cubicBezTo>
                  <a:pt x="161134" y="135893"/>
                  <a:pt x="161040" y="140597"/>
                  <a:pt x="158783" y="144390"/>
                </a:cubicBezTo>
                <a:cubicBezTo>
                  <a:pt x="156525" y="148184"/>
                  <a:pt x="152417" y="150505"/>
                  <a:pt x="147996" y="150505"/>
                </a:cubicBezTo>
                <a:lnTo>
                  <a:pt x="12542" y="150505"/>
                </a:lnTo>
                <a:cubicBezTo>
                  <a:pt x="8121" y="150505"/>
                  <a:pt x="4045" y="148184"/>
                  <a:pt x="1756" y="144390"/>
                </a:cubicBezTo>
                <a:cubicBezTo>
                  <a:pt x="-533" y="140597"/>
                  <a:pt x="-596" y="135893"/>
                  <a:pt x="1505" y="132005"/>
                </a:cubicBezTo>
                <a:lnTo>
                  <a:pt x="69232" y="6585"/>
                </a:lnTo>
                <a:cubicBezTo>
                  <a:pt x="71427" y="2540"/>
                  <a:pt x="75660" y="0"/>
                  <a:pt x="80269" y="0"/>
                </a:cubicBezTo>
                <a:close/>
                <a:moveTo>
                  <a:pt x="80269" y="52677"/>
                </a:moveTo>
                <a:cubicBezTo>
                  <a:pt x="76099" y="52677"/>
                  <a:pt x="72744" y="56032"/>
                  <a:pt x="72744" y="60202"/>
                </a:cubicBezTo>
                <a:lnTo>
                  <a:pt x="72744" y="95320"/>
                </a:lnTo>
                <a:cubicBezTo>
                  <a:pt x="72744" y="99490"/>
                  <a:pt x="76099" y="102845"/>
                  <a:pt x="80269" y="102845"/>
                </a:cubicBezTo>
                <a:cubicBezTo>
                  <a:pt x="84439" y="102845"/>
                  <a:pt x="87794" y="99490"/>
                  <a:pt x="87794" y="95320"/>
                </a:cubicBezTo>
                <a:lnTo>
                  <a:pt x="87794" y="60202"/>
                </a:lnTo>
                <a:cubicBezTo>
                  <a:pt x="87794" y="56032"/>
                  <a:pt x="84439" y="52677"/>
                  <a:pt x="80269" y="52677"/>
                </a:cubicBezTo>
                <a:close/>
                <a:moveTo>
                  <a:pt x="88641" y="120404"/>
                </a:moveTo>
                <a:cubicBezTo>
                  <a:pt x="88831" y="117296"/>
                  <a:pt x="87282" y="114340"/>
                  <a:pt x="84618" y="112728"/>
                </a:cubicBezTo>
                <a:cubicBezTo>
                  <a:pt x="81954" y="111117"/>
                  <a:pt x="78616" y="111117"/>
                  <a:pt x="75952" y="112728"/>
                </a:cubicBezTo>
                <a:cubicBezTo>
                  <a:pt x="73288" y="114340"/>
                  <a:pt x="71738" y="117296"/>
                  <a:pt x="71929" y="120404"/>
                </a:cubicBezTo>
                <a:cubicBezTo>
                  <a:pt x="71738" y="123511"/>
                  <a:pt x="73288" y="126468"/>
                  <a:pt x="75952" y="128079"/>
                </a:cubicBezTo>
                <a:cubicBezTo>
                  <a:pt x="78616" y="129691"/>
                  <a:pt x="81954" y="129691"/>
                  <a:pt x="84618" y="128079"/>
                </a:cubicBezTo>
                <a:cubicBezTo>
                  <a:pt x="87282" y="126468"/>
                  <a:pt x="88831" y="123511"/>
                  <a:pt x="88641" y="120404"/>
                </a:cubicBezTo>
                <a:close/>
              </a:path>
            </a:pathLst>
          </a:custGeom>
          <a:solidFill>
            <a:srgbClr val="FFFFFF"/>
          </a:solidFill>
          <a:ln/>
        </p:spPr>
      </p:sp>
      <p:sp>
        <p:nvSpPr>
          <p:cNvPr id="4" name="Text 2"/>
          <p:cNvSpPr/>
          <p:nvPr/>
        </p:nvSpPr>
        <p:spPr>
          <a:xfrm>
            <a:off x="820530" y="356752"/>
            <a:ext cx="3692383" cy="178376"/>
          </a:xfrm>
          <a:prstGeom prst="rect">
            <a:avLst/>
          </a:prstGeom>
          <a:noFill/>
          <a:ln/>
        </p:spPr>
        <p:txBody>
          <a:bodyPr wrap="square" lIns="0" tIns="0" rIns="0" bIns="0" rtlCol="0" anchor="ctr"/>
          <a:lstStyle/>
          <a:p>
            <a:pPr>
              <a:lnSpc>
                <a:spcPct val="120000"/>
              </a:lnSpc>
            </a:pPr>
            <a:r>
              <a:rPr lang="en-US" sz="983" b="1" spc="49" kern="0" dirty="0">
                <a:solidFill>
                  <a:srgbClr val="EF4444"/>
                </a:solidFill>
                <a:latin typeface="MiSans" pitchFamily="34" charset="0"/>
                <a:ea typeface="MiSans" pitchFamily="34" charset="-122"/>
                <a:cs typeface="MiSans" pitchFamily="34" charset="-120"/>
              </a:rPr>
              <a:t>CHƯƠNG 15 | GOVERNANCE</a:t>
            </a:r>
            <a:endParaRPr lang="en-US" sz="1600" dirty="0"/>
          </a:p>
        </p:txBody>
      </p:sp>
      <p:sp>
        <p:nvSpPr>
          <p:cNvPr id="5" name="Text 3"/>
          <p:cNvSpPr/>
          <p:nvPr/>
        </p:nvSpPr>
        <p:spPr>
          <a:xfrm>
            <a:off x="820530" y="535128"/>
            <a:ext cx="3763734" cy="321077"/>
          </a:xfrm>
          <a:prstGeom prst="rect">
            <a:avLst/>
          </a:prstGeom>
          <a:noFill/>
          <a:ln/>
        </p:spPr>
        <p:txBody>
          <a:bodyPr wrap="square" lIns="0" tIns="0" rIns="0" bIns="0" rtlCol="0" anchor="ctr"/>
          <a:lstStyle/>
          <a:p>
            <a:pPr>
              <a:lnSpc>
                <a:spcPct val="100000"/>
              </a:lnSpc>
            </a:pPr>
            <a:r>
              <a:rPr lang="en-US" sz="2107" b="1" dirty="0">
                <a:solidFill>
                  <a:srgbClr val="F1F5F9"/>
                </a:solidFill>
                <a:latin typeface="MiSans" pitchFamily="34" charset="0"/>
                <a:ea typeface="MiSans" pitchFamily="34" charset="-122"/>
                <a:cs typeface="MiSans" pitchFamily="34" charset="-120"/>
              </a:rPr>
              <a:t>Quản trị rủi ro và Governance</a:t>
            </a:r>
            <a:endParaRPr lang="en-US" sz="1600" dirty="0"/>
          </a:p>
        </p:txBody>
      </p:sp>
      <p:sp>
        <p:nvSpPr>
          <p:cNvPr id="6" name="Shape 4"/>
          <p:cNvSpPr/>
          <p:nvPr/>
        </p:nvSpPr>
        <p:spPr>
          <a:xfrm>
            <a:off x="361211" y="1074715"/>
            <a:ext cx="5645601" cy="2916448"/>
          </a:xfrm>
          <a:custGeom>
            <a:avLst/>
            <a:gdLst/>
            <a:ahLst/>
            <a:cxnLst/>
            <a:rect l="l" t="t" r="r" b="b"/>
            <a:pathLst>
              <a:path w="5645601" h="2916448">
                <a:moveTo>
                  <a:pt x="107034" y="0"/>
                </a:moveTo>
                <a:lnTo>
                  <a:pt x="5538567" y="0"/>
                </a:lnTo>
                <a:cubicBezTo>
                  <a:pt x="5597680" y="0"/>
                  <a:pt x="5645601" y="47921"/>
                  <a:pt x="5645601" y="107034"/>
                </a:cubicBezTo>
                <a:lnTo>
                  <a:pt x="5645601" y="2809414"/>
                </a:lnTo>
                <a:cubicBezTo>
                  <a:pt x="5645601" y="2868527"/>
                  <a:pt x="5597680" y="2916448"/>
                  <a:pt x="5538567" y="2916448"/>
                </a:cubicBezTo>
                <a:lnTo>
                  <a:pt x="107034" y="2916448"/>
                </a:lnTo>
                <a:cubicBezTo>
                  <a:pt x="47921" y="2916448"/>
                  <a:pt x="0" y="2868527"/>
                  <a:pt x="0" y="2809414"/>
                </a:cubicBezTo>
                <a:lnTo>
                  <a:pt x="0" y="107034"/>
                </a:lnTo>
                <a:cubicBezTo>
                  <a:pt x="0" y="47960"/>
                  <a:pt x="47960" y="0"/>
                  <a:pt x="107034"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7" name="Shape 5"/>
          <p:cNvSpPr/>
          <p:nvPr/>
        </p:nvSpPr>
        <p:spPr>
          <a:xfrm>
            <a:off x="555195" y="1293226"/>
            <a:ext cx="200673" cy="178376"/>
          </a:xfrm>
          <a:custGeom>
            <a:avLst/>
            <a:gdLst/>
            <a:ahLst/>
            <a:cxnLst/>
            <a:rect l="l" t="t" r="r" b="b"/>
            <a:pathLst>
              <a:path w="200673" h="178376">
                <a:moveTo>
                  <a:pt x="66891" y="33446"/>
                </a:moveTo>
                <a:cubicBezTo>
                  <a:pt x="66891" y="14981"/>
                  <a:pt x="81872" y="0"/>
                  <a:pt x="100337" y="0"/>
                </a:cubicBezTo>
                <a:cubicBezTo>
                  <a:pt x="118801" y="0"/>
                  <a:pt x="133782" y="14981"/>
                  <a:pt x="133782" y="33446"/>
                </a:cubicBezTo>
                <a:lnTo>
                  <a:pt x="133782" y="34700"/>
                </a:lnTo>
                <a:cubicBezTo>
                  <a:pt x="133782" y="40169"/>
                  <a:pt x="129357" y="44594"/>
                  <a:pt x="123888" y="44594"/>
                </a:cubicBezTo>
                <a:lnTo>
                  <a:pt x="76820" y="44594"/>
                </a:lnTo>
                <a:cubicBezTo>
                  <a:pt x="71350" y="44594"/>
                  <a:pt x="66926" y="40169"/>
                  <a:pt x="66926" y="34700"/>
                </a:cubicBezTo>
                <a:lnTo>
                  <a:pt x="66926" y="33446"/>
                </a:lnTo>
                <a:close/>
                <a:moveTo>
                  <a:pt x="187295" y="37905"/>
                </a:moveTo>
                <a:cubicBezTo>
                  <a:pt x="190988" y="42817"/>
                  <a:pt x="189977" y="49820"/>
                  <a:pt x="185065" y="53513"/>
                </a:cubicBezTo>
                <a:lnTo>
                  <a:pt x="150993" y="79050"/>
                </a:lnTo>
                <a:cubicBezTo>
                  <a:pt x="152839" y="82151"/>
                  <a:pt x="154233" y="85565"/>
                  <a:pt x="155104" y="89188"/>
                </a:cubicBezTo>
                <a:lnTo>
                  <a:pt x="189525" y="89188"/>
                </a:lnTo>
                <a:cubicBezTo>
                  <a:pt x="195691" y="89188"/>
                  <a:pt x="200673" y="94170"/>
                  <a:pt x="200673" y="100337"/>
                </a:cubicBezTo>
                <a:cubicBezTo>
                  <a:pt x="200673" y="106503"/>
                  <a:pt x="195691" y="111485"/>
                  <a:pt x="189525" y="111485"/>
                </a:cubicBezTo>
                <a:lnTo>
                  <a:pt x="156079" y="111485"/>
                </a:lnTo>
                <a:lnTo>
                  <a:pt x="156079" y="122634"/>
                </a:lnTo>
                <a:cubicBezTo>
                  <a:pt x="156079" y="123539"/>
                  <a:pt x="156044" y="124480"/>
                  <a:pt x="156009" y="125386"/>
                </a:cubicBezTo>
                <a:lnTo>
                  <a:pt x="185065" y="147160"/>
                </a:lnTo>
                <a:cubicBezTo>
                  <a:pt x="189977" y="150853"/>
                  <a:pt x="190988" y="157856"/>
                  <a:pt x="187295" y="162768"/>
                </a:cubicBezTo>
                <a:cubicBezTo>
                  <a:pt x="183602" y="167680"/>
                  <a:pt x="176599" y="168691"/>
                  <a:pt x="171687" y="164998"/>
                </a:cubicBezTo>
                <a:lnTo>
                  <a:pt x="149703" y="148519"/>
                </a:lnTo>
                <a:cubicBezTo>
                  <a:pt x="141621" y="163918"/>
                  <a:pt x="126535" y="175066"/>
                  <a:pt x="108698" y="177749"/>
                </a:cubicBezTo>
                <a:lnTo>
                  <a:pt x="108698" y="97549"/>
                </a:lnTo>
                <a:cubicBezTo>
                  <a:pt x="108698" y="92916"/>
                  <a:pt x="104970" y="89188"/>
                  <a:pt x="100337" y="89188"/>
                </a:cubicBezTo>
                <a:cubicBezTo>
                  <a:pt x="95703" y="89188"/>
                  <a:pt x="91975" y="92916"/>
                  <a:pt x="91975" y="97549"/>
                </a:cubicBezTo>
                <a:lnTo>
                  <a:pt x="91975" y="177749"/>
                </a:lnTo>
                <a:cubicBezTo>
                  <a:pt x="74138" y="175066"/>
                  <a:pt x="59052" y="163918"/>
                  <a:pt x="50970" y="148519"/>
                </a:cubicBezTo>
                <a:lnTo>
                  <a:pt x="28986" y="164998"/>
                </a:lnTo>
                <a:cubicBezTo>
                  <a:pt x="24074" y="168691"/>
                  <a:pt x="17071" y="167680"/>
                  <a:pt x="13378" y="162768"/>
                </a:cubicBezTo>
                <a:cubicBezTo>
                  <a:pt x="9685" y="157856"/>
                  <a:pt x="10696" y="150853"/>
                  <a:pt x="15608" y="147160"/>
                </a:cubicBezTo>
                <a:lnTo>
                  <a:pt x="44664" y="125386"/>
                </a:lnTo>
                <a:cubicBezTo>
                  <a:pt x="44629" y="124480"/>
                  <a:pt x="44594" y="123574"/>
                  <a:pt x="44594" y="122634"/>
                </a:cubicBezTo>
                <a:lnTo>
                  <a:pt x="44594" y="111485"/>
                </a:lnTo>
                <a:lnTo>
                  <a:pt x="11149" y="111485"/>
                </a:lnTo>
                <a:cubicBezTo>
                  <a:pt x="4982" y="111485"/>
                  <a:pt x="0" y="106503"/>
                  <a:pt x="0" y="100337"/>
                </a:cubicBezTo>
                <a:cubicBezTo>
                  <a:pt x="0" y="94170"/>
                  <a:pt x="4982" y="89188"/>
                  <a:pt x="11149" y="89188"/>
                </a:cubicBezTo>
                <a:lnTo>
                  <a:pt x="45569" y="89188"/>
                </a:lnTo>
                <a:cubicBezTo>
                  <a:pt x="46440" y="85565"/>
                  <a:pt x="47834" y="82151"/>
                  <a:pt x="49681" y="79050"/>
                </a:cubicBezTo>
                <a:lnTo>
                  <a:pt x="15608" y="53513"/>
                </a:lnTo>
                <a:cubicBezTo>
                  <a:pt x="10696" y="49820"/>
                  <a:pt x="9685" y="42817"/>
                  <a:pt x="13378" y="37905"/>
                </a:cubicBezTo>
                <a:cubicBezTo>
                  <a:pt x="17071" y="32993"/>
                  <a:pt x="24074" y="31982"/>
                  <a:pt x="28986" y="35675"/>
                </a:cubicBezTo>
                <a:lnTo>
                  <a:pt x="66891" y="64104"/>
                </a:lnTo>
                <a:cubicBezTo>
                  <a:pt x="71176" y="62327"/>
                  <a:pt x="75879" y="61317"/>
                  <a:pt x="80827" y="61317"/>
                </a:cubicBezTo>
                <a:lnTo>
                  <a:pt x="119846" y="61317"/>
                </a:lnTo>
                <a:cubicBezTo>
                  <a:pt x="124794" y="61317"/>
                  <a:pt x="129497" y="62292"/>
                  <a:pt x="133782" y="64104"/>
                </a:cubicBezTo>
                <a:lnTo>
                  <a:pt x="171687" y="35675"/>
                </a:lnTo>
                <a:cubicBezTo>
                  <a:pt x="176599" y="31982"/>
                  <a:pt x="183602" y="32993"/>
                  <a:pt x="187295" y="37905"/>
                </a:cubicBezTo>
                <a:close/>
              </a:path>
            </a:pathLst>
          </a:custGeom>
          <a:solidFill>
            <a:srgbClr val="EF4444"/>
          </a:solidFill>
          <a:ln/>
        </p:spPr>
      </p:sp>
      <p:sp>
        <p:nvSpPr>
          <p:cNvPr id="8" name="Text 6"/>
          <p:cNvSpPr/>
          <p:nvPr/>
        </p:nvSpPr>
        <p:spPr>
          <a:xfrm>
            <a:off x="767017" y="1257551"/>
            <a:ext cx="5146148" cy="249726"/>
          </a:xfrm>
          <a:prstGeom prst="rect">
            <a:avLst/>
          </a:prstGeom>
          <a:noFill/>
          <a:ln/>
        </p:spPr>
        <p:txBody>
          <a:bodyPr wrap="square" lIns="0" tIns="0" rIns="0" bIns="0" rtlCol="0" anchor="ctr"/>
          <a:lstStyle/>
          <a:p>
            <a:pPr>
              <a:lnSpc>
                <a:spcPct val="120000"/>
              </a:lnSpc>
            </a:pPr>
            <a:r>
              <a:rPr lang="en-US" sz="1405" b="1" dirty="0">
                <a:solidFill>
                  <a:srgbClr val="EF4444"/>
                </a:solidFill>
                <a:latin typeface="MiSans" pitchFamily="34" charset="0"/>
                <a:ea typeface="MiSans" pitchFamily="34" charset="-122"/>
                <a:cs typeface="MiSans" pitchFamily="34" charset="-120"/>
              </a:rPr>
              <a:t>Rủi ro kỹ thuật</a:t>
            </a:r>
            <a:endParaRPr lang="en-US" sz="1600" dirty="0"/>
          </a:p>
        </p:txBody>
      </p:sp>
      <p:sp>
        <p:nvSpPr>
          <p:cNvPr id="9" name="Shape 7"/>
          <p:cNvSpPr/>
          <p:nvPr/>
        </p:nvSpPr>
        <p:spPr>
          <a:xfrm>
            <a:off x="544047" y="1649978"/>
            <a:ext cx="5279930" cy="856205"/>
          </a:xfrm>
          <a:custGeom>
            <a:avLst/>
            <a:gdLst/>
            <a:ahLst/>
            <a:cxnLst/>
            <a:rect l="l" t="t" r="r" b="b"/>
            <a:pathLst>
              <a:path w="5279930" h="856205">
                <a:moveTo>
                  <a:pt x="71348" y="0"/>
                </a:moveTo>
                <a:lnTo>
                  <a:pt x="5208582" y="0"/>
                </a:lnTo>
                <a:cubicBezTo>
                  <a:pt x="5247986" y="0"/>
                  <a:pt x="5279930" y="31943"/>
                  <a:pt x="5279930" y="71348"/>
                </a:cubicBezTo>
                <a:lnTo>
                  <a:pt x="5279930" y="784857"/>
                </a:lnTo>
                <a:cubicBezTo>
                  <a:pt x="5279930" y="824261"/>
                  <a:pt x="5247986" y="856205"/>
                  <a:pt x="5208582" y="856205"/>
                </a:cubicBezTo>
                <a:lnTo>
                  <a:pt x="71348" y="856205"/>
                </a:lnTo>
                <a:cubicBezTo>
                  <a:pt x="31943" y="856205"/>
                  <a:pt x="0" y="824261"/>
                  <a:pt x="0" y="784857"/>
                </a:cubicBezTo>
                <a:lnTo>
                  <a:pt x="0" y="71348"/>
                </a:lnTo>
                <a:cubicBezTo>
                  <a:pt x="0" y="31970"/>
                  <a:pt x="31970" y="0"/>
                  <a:pt x="71348" y="0"/>
                </a:cubicBezTo>
                <a:close/>
              </a:path>
            </a:pathLst>
          </a:custGeom>
          <a:solidFill>
            <a:srgbClr val="0F172A"/>
          </a:solidFill>
          <a:ln/>
        </p:spPr>
      </p:sp>
      <p:sp>
        <p:nvSpPr>
          <p:cNvPr id="10" name="Text 8"/>
          <p:cNvSpPr/>
          <p:nvPr/>
        </p:nvSpPr>
        <p:spPr>
          <a:xfrm>
            <a:off x="651072" y="1757004"/>
            <a:ext cx="5137229" cy="214051"/>
          </a:xfrm>
          <a:prstGeom prst="rect">
            <a:avLst/>
          </a:prstGeom>
          <a:noFill/>
          <a:ln/>
        </p:spPr>
        <p:txBody>
          <a:bodyPr wrap="square" lIns="0" tIns="0" rIns="0" bIns="0" rtlCol="0" anchor="ctr"/>
          <a:lstStyle/>
          <a:p>
            <a:pPr>
              <a:lnSpc>
                <a:spcPct val="130000"/>
              </a:lnSpc>
            </a:pPr>
            <a:r>
              <a:rPr lang="en-US" sz="1124" b="1" dirty="0">
                <a:solidFill>
                  <a:srgbClr val="F1F5F9"/>
                </a:solidFill>
                <a:latin typeface="MiSans" pitchFamily="34" charset="0"/>
                <a:ea typeface="MiSans" pitchFamily="34" charset="-122"/>
                <a:cs typeface="MiSans" pitchFamily="34" charset="-120"/>
              </a:rPr>
              <a:t>Vấn đề:</a:t>
            </a:r>
            <a:endParaRPr lang="en-US" sz="1600" dirty="0"/>
          </a:p>
        </p:txBody>
      </p:sp>
      <p:sp>
        <p:nvSpPr>
          <p:cNvPr id="11" name="Text 9"/>
          <p:cNvSpPr/>
          <p:nvPr/>
        </p:nvSpPr>
        <p:spPr>
          <a:xfrm>
            <a:off x="651072" y="2042405"/>
            <a:ext cx="5128310" cy="356752"/>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Mã do AI sinh ra nếu không được hậu xử lý tốt sẽ gây </a:t>
            </a:r>
            <a:pPr>
              <a:lnSpc>
                <a:spcPct val="120000"/>
              </a:lnSpc>
            </a:pPr>
            <a:r>
              <a:rPr lang="en-US" sz="983" b="1" dirty="0">
                <a:solidFill>
                  <a:srgbClr val="EF4444"/>
                </a:solidFill>
                <a:latin typeface="MiSans" pitchFamily="34" charset="0"/>
                <a:ea typeface="MiSans" pitchFamily="34" charset="-122"/>
                <a:cs typeface="MiSans" pitchFamily="34" charset="-120"/>
              </a:rPr>
              <a:t>lỗi biên dịch</a:t>
            </a:r>
            <a:pPr>
              <a:lnSpc>
                <a:spcPct val="120000"/>
              </a:lnSpc>
            </a:pPr>
            <a:r>
              <a:rPr lang="en-US" sz="983" dirty="0">
                <a:solidFill>
                  <a:srgbClr val="F1F5F9">
                    <a:alpha val="80000"/>
                  </a:srgbClr>
                </a:solidFill>
                <a:latin typeface="MiSans" pitchFamily="34" charset="0"/>
                <a:ea typeface="MiSans" pitchFamily="34" charset="-122"/>
                <a:cs typeface="MiSans" pitchFamily="34" charset="-120"/>
              </a:rPr>
              <a:t> hệ thống do lẫn ký tự markdown.</a:t>
            </a:r>
            <a:endParaRPr lang="en-US" sz="1600" dirty="0"/>
          </a:p>
        </p:txBody>
      </p:sp>
      <p:sp>
        <p:nvSpPr>
          <p:cNvPr id="12" name="Shape 10"/>
          <p:cNvSpPr/>
          <p:nvPr/>
        </p:nvSpPr>
        <p:spPr>
          <a:xfrm>
            <a:off x="548506" y="2617668"/>
            <a:ext cx="5271011" cy="1186200"/>
          </a:xfrm>
          <a:custGeom>
            <a:avLst/>
            <a:gdLst/>
            <a:ahLst/>
            <a:cxnLst/>
            <a:rect l="l" t="t" r="r" b="b"/>
            <a:pathLst>
              <a:path w="5271011" h="1186200">
                <a:moveTo>
                  <a:pt x="71350" y="0"/>
                </a:moveTo>
                <a:lnTo>
                  <a:pt x="5199661" y="0"/>
                </a:lnTo>
                <a:cubicBezTo>
                  <a:pt x="5239067" y="0"/>
                  <a:pt x="5271011" y="31944"/>
                  <a:pt x="5271011" y="71350"/>
                </a:cubicBezTo>
                <a:lnTo>
                  <a:pt x="5271011" y="1114850"/>
                </a:lnTo>
                <a:cubicBezTo>
                  <a:pt x="5271011" y="1154256"/>
                  <a:pt x="5239067" y="1186200"/>
                  <a:pt x="5199661" y="1186200"/>
                </a:cubicBezTo>
                <a:lnTo>
                  <a:pt x="71350" y="1186200"/>
                </a:lnTo>
                <a:cubicBezTo>
                  <a:pt x="31944" y="1186200"/>
                  <a:pt x="0" y="1154256"/>
                  <a:pt x="0" y="1114850"/>
                </a:cubicBezTo>
                <a:lnTo>
                  <a:pt x="0" y="71350"/>
                </a:lnTo>
                <a:cubicBezTo>
                  <a:pt x="0" y="31944"/>
                  <a:pt x="31944" y="0"/>
                  <a:pt x="71350" y="0"/>
                </a:cubicBezTo>
                <a:close/>
              </a:path>
            </a:pathLst>
          </a:custGeom>
          <a:solidFill>
            <a:srgbClr val="0F172A"/>
          </a:solidFill>
          <a:ln w="12700">
            <a:solidFill>
              <a:srgbClr val="10B981">
                <a:alpha val="30196"/>
              </a:srgbClr>
            </a:solidFill>
            <a:prstDash val="solid"/>
          </a:ln>
        </p:spPr>
      </p:sp>
      <p:sp>
        <p:nvSpPr>
          <p:cNvPr id="13" name="Text 11"/>
          <p:cNvSpPr/>
          <p:nvPr/>
        </p:nvSpPr>
        <p:spPr>
          <a:xfrm>
            <a:off x="659991" y="2729153"/>
            <a:ext cx="5119391" cy="214051"/>
          </a:xfrm>
          <a:prstGeom prst="rect">
            <a:avLst/>
          </a:prstGeom>
          <a:noFill/>
          <a:ln/>
        </p:spPr>
        <p:txBody>
          <a:bodyPr wrap="square" lIns="0" tIns="0" rIns="0" bIns="0" rtlCol="0" anchor="ctr"/>
          <a:lstStyle/>
          <a:p>
            <a:pPr>
              <a:lnSpc>
                <a:spcPct val="130000"/>
              </a:lnSpc>
            </a:pPr>
            <a:r>
              <a:rPr lang="en-US" sz="1124" b="1" dirty="0">
                <a:solidFill>
                  <a:srgbClr val="10B981"/>
                </a:solidFill>
                <a:latin typeface="MiSans" pitchFamily="34" charset="0"/>
                <a:ea typeface="MiSans" pitchFamily="34" charset="-122"/>
                <a:cs typeface="MiSans" pitchFamily="34" charset="-120"/>
              </a:rPr>
              <a:t>Biện pháp khắc phục:</a:t>
            </a:r>
            <a:endParaRPr lang="en-US" sz="1600" dirty="0"/>
          </a:p>
        </p:txBody>
      </p:sp>
      <p:sp>
        <p:nvSpPr>
          <p:cNvPr id="14" name="Shape 12"/>
          <p:cNvSpPr/>
          <p:nvPr/>
        </p:nvSpPr>
        <p:spPr>
          <a:xfrm>
            <a:off x="685633" y="3050230"/>
            <a:ext cx="109255" cy="124863"/>
          </a:xfrm>
          <a:custGeom>
            <a:avLst/>
            <a:gdLst/>
            <a:ahLst/>
            <a:cxnLst/>
            <a:rect l="l" t="t" r="r" b="b"/>
            <a:pathLst>
              <a:path w="109255" h="124863">
                <a:moveTo>
                  <a:pt x="106036" y="17096"/>
                </a:moveTo>
                <a:cubicBezTo>
                  <a:pt x="109524" y="19632"/>
                  <a:pt x="110304" y="24509"/>
                  <a:pt x="107768" y="27997"/>
                </a:cubicBezTo>
                <a:lnTo>
                  <a:pt x="45336" y="113840"/>
                </a:lnTo>
                <a:cubicBezTo>
                  <a:pt x="43995" y="115694"/>
                  <a:pt x="41922" y="116840"/>
                  <a:pt x="39629" y="117035"/>
                </a:cubicBezTo>
                <a:cubicBezTo>
                  <a:pt x="37337" y="117230"/>
                  <a:pt x="35118" y="116376"/>
                  <a:pt x="33508" y="114767"/>
                </a:cubicBezTo>
                <a:lnTo>
                  <a:pt x="2292" y="83551"/>
                </a:lnTo>
                <a:cubicBezTo>
                  <a:pt x="-756" y="80503"/>
                  <a:pt x="-756" y="75552"/>
                  <a:pt x="2292" y="72504"/>
                </a:cubicBezTo>
                <a:cubicBezTo>
                  <a:pt x="5341" y="69455"/>
                  <a:pt x="10291" y="69455"/>
                  <a:pt x="13340" y="72504"/>
                </a:cubicBezTo>
                <a:lnTo>
                  <a:pt x="38093" y="97257"/>
                </a:lnTo>
                <a:lnTo>
                  <a:pt x="95159" y="18803"/>
                </a:lnTo>
                <a:cubicBezTo>
                  <a:pt x="97696" y="15315"/>
                  <a:pt x="102573" y="14535"/>
                  <a:pt x="106061" y="17071"/>
                </a:cubicBezTo>
                <a:close/>
              </a:path>
            </a:pathLst>
          </a:custGeom>
          <a:solidFill>
            <a:srgbClr val="10B981"/>
          </a:solidFill>
          <a:ln/>
        </p:spPr>
      </p:sp>
      <p:sp>
        <p:nvSpPr>
          <p:cNvPr id="15" name="Text 13"/>
          <p:cNvSpPr/>
          <p:nvPr/>
        </p:nvSpPr>
        <p:spPr>
          <a:xfrm>
            <a:off x="887421" y="3014554"/>
            <a:ext cx="2836178"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Xây dựng pipeline chuẩn hóa đầu ra bằng RegEx</a:t>
            </a:r>
            <a:endParaRPr lang="en-US" sz="1600" dirty="0"/>
          </a:p>
        </p:txBody>
      </p:sp>
      <p:sp>
        <p:nvSpPr>
          <p:cNvPr id="16" name="Shape 14"/>
          <p:cNvSpPr/>
          <p:nvPr/>
        </p:nvSpPr>
        <p:spPr>
          <a:xfrm>
            <a:off x="685633" y="3299956"/>
            <a:ext cx="109255" cy="124863"/>
          </a:xfrm>
          <a:custGeom>
            <a:avLst/>
            <a:gdLst/>
            <a:ahLst/>
            <a:cxnLst/>
            <a:rect l="l" t="t" r="r" b="b"/>
            <a:pathLst>
              <a:path w="109255" h="124863">
                <a:moveTo>
                  <a:pt x="106036" y="17096"/>
                </a:moveTo>
                <a:cubicBezTo>
                  <a:pt x="109524" y="19632"/>
                  <a:pt x="110304" y="24509"/>
                  <a:pt x="107768" y="27997"/>
                </a:cubicBezTo>
                <a:lnTo>
                  <a:pt x="45336" y="113840"/>
                </a:lnTo>
                <a:cubicBezTo>
                  <a:pt x="43995" y="115694"/>
                  <a:pt x="41922" y="116840"/>
                  <a:pt x="39629" y="117035"/>
                </a:cubicBezTo>
                <a:cubicBezTo>
                  <a:pt x="37337" y="117230"/>
                  <a:pt x="35118" y="116376"/>
                  <a:pt x="33508" y="114767"/>
                </a:cubicBezTo>
                <a:lnTo>
                  <a:pt x="2292" y="83551"/>
                </a:lnTo>
                <a:cubicBezTo>
                  <a:pt x="-756" y="80503"/>
                  <a:pt x="-756" y="75552"/>
                  <a:pt x="2292" y="72504"/>
                </a:cubicBezTo>
                <a:cubicBezTo>
                  <a:pt x="5341" y="69455"/>
                  <a:pt x="10291" y="69455"/>
                  <a:pt x="13340" y="72504"/>
                </a:cubicBezTo>
                <a:lnTo>
                  <a:pt x="38093" y="97257"/>
                </a:lnTo>
                <a:lnTo>
                  <a:pt x="95159" y="18803"/>
                </a:lnTo>
                <a:cubicBezTo>
                  <a:pt x="97696" y="15315"/>
                  <a:pt x="102573" y="14535"/>
                  <a:pt x="106061" y="17071"/>
                </a:cubicBezTo>
                <a:close/>
              </a:path>
            </a:pathLst>
          </a:custGeom>
          <a:solidFill>
            <a:srgbClr val="10B981"/>
          </a:solidFill>
          <a:ln/>
        </p:spPr>
      </p:sp>
      <p:sp>
        <p:nvSpPr>
          <p:cNvPr id="17" name="Text 15"/>
          <p:cNvSpPr/>
          <p:nvPr/>
        </p:nvSpPr>
        <p:spPr>
          <a:xfrm>
            <a:off x="887421" y="3264281"/>
            <a:ext cx="2113756"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Sử dụng công cụ linting (ruff, black)</a:t>
            </a:r>
            <a:endParaRPr lang="en-US" sz="1600" dirty="0"/>
          </a:p>
        </p:txBody>
      </p:sp>
      <p:sp>
        <p:nvSpPr>
          <p:cNvPr id="18" name="Shape 16"/>
          <p:cNvSpPr/>
          <p:nvPr/>
        </p:nvSpPr>
        <p:spPr>
          <a:xfrm>
            <a:off x="685633" y="3549683"/>
            <a:ext cx="109255" cy="124863"/>
          </a:xfrm>
          <a:custGeom>
            <a:avLst/>
            <a:gdLst/>
            <a:ahLst/>
            <a:cxnLst/>
            <a:rect l="l" t="t" r="r" b="b"/>
            <a:pathLst>
              <a:path w="109255" h="124863">
                <a:moveTo>
                  <a:pt x="106036" y="17096"/>
                </a:moveTo>
                <a:cubicBezTo>
                  <a:pt x="109524" y="19632"/>
                  <a:pt x="110304" y="24509"/>
                  <a:pt x="107768" y="27997"/>
                </a:cubicBezTo>
                <a:lnTo>
                  <a:pt x="45336" y="113840"/>
                </a:lnTo>
                <a:cubicBezTo>
                  <a:pt x="43995" y="115694"/>
                  <a:pt x="41922" y="116840"/>
                  <a:pt x="39629" y="117035"/>
                </a:cubicBezTo>
                <a:cubicBezTo>
                  <a:pt x="37337" y="117230"/>
                  <a:pt x="35118" y="116376"/>
                  <a:pt x="33508" y="114767"/>
                </a:cubicBezTo>
                <a:lnTo>
                  <a:pt x="2292" y="83551"/>
                </a:lnTo>
                <a:cubicBezTo>
                  <a:pt x="-756" y="80503"/>
                  <a:pt x="-756" y="75552"/>
                  <a:pt x="2292" y="72504"/>
                </a:cubicBezTo>
                <a:cubicBezTo>
                  <a:pt x="5341" y="69455"/>
                  <a:pt x="10291" y="69455"/>
                  <a:pt x="13340" y="72504"/>
                </a:cubicBezTo>
                <a:lnTo>
                  <a:pt x="38093" y="97257"/>
                </a:lnTo>
                <a:lnTo>
                  <a:pt x="95159" y="18803"/>
                </a:lnTo>
                <a:cubicBezTo>
                  <a:pt x="97696" y="15315"/>
                  <a:pt x="102573" y="14535"/>
                  <a:pt x="106061" y="17071"/>
                </a:cubicBezTo>
                <a:close/>
              </a:path>
            </a:pathLst>
          </a:custGeom>
          <a:solidFill>
            <a:srgbClr val="10B981"/>
          </a:solidFill>
          <a:ln/>
        </p:spPr>
      </p:sp>
      <p:sp>
        <p:nvSpPr>
          <p:cNvPr id="19" name="Text 17"/>
          <p:cNvSpPr/>
          <p:nvPr/>
        </p:nvSpPr>
        <p:spPr>
          <a:xfrm>
            <a:off x="887421" y="3514007"/>
            <a:ext cx="2122674"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Automated post-processing module</a:t>
            </a:r>
            <a:endParaRPr lang="en-US" sz="1600" dirty="0"/>
          </a:p>
        </p:txBody>
      </p:sp>
      <p:sp>
        <p:nvSpPr>
          <p:cNvPr id="20" name="Shape 18"/>
          <p:cNvSpPr/>
          <p:nvPr/>
        </p:nvSpPr>
        <p:spPr>
          <a:xfrm>
            <a:off x="361211" y="4142783"/>
            <a:ext cx="5645601" cy="2086999"/>
          </a:xfrm>
          <a:custGeom>
            <a:avLst/>
            <a:gdLst/>
            <a:ahLst/>
            <a:cxnLst/>
            <a:rect l="l" t="t" r="r" b="b"/>
            <a:pathLst>
              <a:path w="5645601" h="2086999">
                <a:moveTo>
                  <a:pt x="107021" y="0"/>
                </a:moveTo>
                <a:lnTo>
                  <a:pt x="5538579" y="0"/>
                </a:lnTo>
                <a:cubicBezTo>
                  <a:pt x="5597686" y="0"/>
                  <a:pt x="5645601" y="47915"/>
                  <a:pt x="5645601" y="107021"/>
                </a:cubicBezTo>
                <a:lnTo>
                  <a:pt x="5645601" y="1979978"/>
                </a:lnTo>
                <a:cubicBezTo>
                  <a:pt x="5645601" y="2039084"/>
                  <a:pt x="5597686" y="2086999"/>
                  <a:pt x="5538579" y="2086999"/>
                </a:cubicBezTo>
                <a:lnTo>
                  <a:pt x="107021" y="2086999"/>
                </a:lnTo>
                <a:cubicBezTo>
                  <a:pt x="47915" y="2086999"/>
                  <a:pt x="0" y="2039084"/>
                  <a:pt x="0" y="1979978"/>
                </a:cubicBezTo>
                <a:lnTo>
                  <a:pt x="0" y="107021"/>
                </a:lnTo>
                <a:cubicBezTo>
                  <a:pt x="0" y="47955"/>
                  <a:pt x="47955" y="0"/>
                  <a:pt x="107021" y="0"/>
                </a:cubicBezTo>
                <a:close/>
              </a:path>
            </a:pathLst>
          </a:custGeom>
          <a:solidFill>
            <a:srgbClr val="0F172A"/>
          </a:solidFill>
          <a:ln w="12700">
            <a:solidFill>
              <a:srgbClr val="EF4444">
                <a:alpha val="30196"/>
              </a:srgbClr>
            </a:solidFill>
            <a:prstDash val="solid"/>
          </a:ln>
        </p:spPr>
      </p:sp>
      <p:sp>
        <p:nvSpPr>
          <p:cNvPr id="21" name="Text 19"/>
          <p:cNvSpPr/>
          <p:nvPr/>
        </p:nvSpPr>
        <p:spPr>
          <a:xfrm>
            <a:off x="508372" y="4289943"/>
            <a:ext cx="5431549" cy="249726"/>
          </a:xfrm>
          <a:prstGeom prst="rect">
            <a:avLst/>
          </a:prstGeom>
          <a:noFill/>
          <a:ln/>
        </p:spPr>
        <p:txBody>
          <a:bodyPr wrap="square" lIns="0" tIns="0" rIns="0" bIns="0" rtlCol="0" anchor="ctr"/>
          <a:lstStyle/>
          <a:p>
            <a:pPr>
              <a:lnSpc>
                <a:spcPct val="130000"/>
              </a:lnSpc>
            </a:pPr>
            <a:r>
              <a:rPr lang="en-US" sz="1264" b="1" dirty="0">
                <a:solidFill>
                  <a:srgbClr val="EF4444"/>
                </a:solidFill>
                <a:latin typeface="MiSans" pitchFamily="34" charset="0"/>
                <a:ea typeface="MiSans" pitchFamily="34" charset="-122"/>
                <a:cs typeface="MiSans" pitchFamily="34" charset="-120"/>
              </a:rPr>
              <a:t>Ví dụ lỗi thường gặp</a:t>
            </a:r>
            <a:endParaRPr lang="en-US" sz="1600" dirty="0"/>
          </a:p>
        </p:txBody>
      </p:sp>
      <p:sp>
        <p:nvSpPr>
          <p:cNvPr id="22" name="Shape 20"/>
          <p:cNvSpPr/>
          <p:nvPr/>
        </p:nvSpPr>
        <p:spPr>
          <a:xfrm>
            <a:off x="508372" y="4646695"/>
            <a:ext cx="5351280" cy="1435927"/>
          </a:xfrm>
          <a:custGeom>
            <a:avLst/>
            <a:gdLst/>
            <a:ahLst/>
            <a:cxnLst/>
            <a:rect l="l" t="t" r="r" b="b"/>
            <a:pathLst>
              <a:path w="5351280" h="1435927">
                <a:moveTo>
                  <a:pt x="71351" y="0"/>
                </a:moveTo>
                <a:lnTo>
                  <a:pt x="5279929" y="0"/>
                </a:lnTo>
                <a:cubicBezTo>
                  <a:pt x="5319335" y="0"/>
                  <a:pt x="5351280" y="31945"/>
                  <a:pt x="5351280" y="71351"/>
                </a:cubicBezTo>
                <a:lnTo>
                  <a:pt x="5351280" y="1364576"/>
                </a:lnTo>
                <a:cubicBezTo>
                  <a:pt x="5351280" y="1403982"/>
                  <a:pt x="5319335" y="1435927"/>
                  <a:pt x="5279929" y="1435927"/>
                </a:cubicBezTo>
                <a:lnTo>
                  <a:pt x="71351" y="1435927"/>
                </a:lnTo>
                <a:cubicBezTo>
                  <a:pt x="31945" y="1435927"/>
                  <a:pt x="0" y="1403982"/>
                  <a:pt x="0" y="1364576"/>
                </a:cubicBezTo>
                <a:lnTo>
                  <a:pt x="0" y="71351"/>
                </a:lnTo>
                <a:cubicBezTo>
                  <a:pt x="0" y="31945"/>
                  <a:pt x="31945" y="0"/>
                  <a:pt x="71351" y="0"/>
                </a:cubicBezTo>
                <a:close/>
              </a:path>
            </a:pathLst>
          </a:custGeom>
          <a:solidFill>
            <a:srgbClr val="1E293B"/>
          </a:solidFill>
          <a:ln/>
        </p:spPr>
      </p:sp>
      <p:sp>
        <p:nvSpPr>
          <p:cNvPr id="23" name="Text 21"/>
          <p:cNvSpPr/>
          <p:nvPr/>
        </p:nvSpPr>
        <p:spPr>
          <a:xfrm>
            <a:off x="508372" y="4646695"/>
            <a:ext cx="5409252" cy="1435927"/>
          </a:xfrm>
          <a:prstGeom prst="rect">
            <a:avLst/>
          </a:prstGeom>
          <a:noFill/>
          <a:ln/>
        </p:spPr>
        <p:txBody>
          <a:bodyPr wrap="square" lIns="107026" tIns="107026" rIns="107026" bIns="107026" rtlCol="0" anchor="ctr"/>
          <a:lstStyle/>
          <a:p>
            <a:pPr>
              <a:lnSpc>
                <a:spcPct val="130000"/>
              </a:lnSpc>
            </a:pPr>
            <a:r>
              <a:rPr lang="en-US" sz="913" dirty="0">
                <a:solidFill>
                  <a:srgbClr val="F1F5F9">
                    <a:alpha val="50000"/>
                  </a:srgbClr>
                </a:solidFill>
                <a:latin typeface="MiSans" pitchFamily="34" charset="0"/>
                <a:ea typeface="MiSans" pitchFamily="34" charset="-122"/>
                <a:cs typeface="MiSans" pitchFamily="34" charset="-120"/>
              </a:rPr>
              <a:t># Output từ AI (KHÔNG HỢP LỆ)</a:t>
            </a:r>
            <a:endParaRPr lang="en-US" sz="1600" dirty="0"/>
          </a:p>
          <a:p>
            <a:pPr>
              <a:lnSpc>
                <a:spcPct val="130000"/>
              </a:lnSpc>
            </a:pPr>
            <a:r>
              <a:rPr lang="en-US" sz="913" dirty="0">
                <a:solidFill>
                  <a:srgbClr val="F1F5F9"/>
                </a:solidFill>
                <a:latin typeface="MiSans" pitchFamily="34" charset="0"/>
                <a:ea typeface="MiSans" pitchFamily="34" charset="-122"/>
                <a:cs typeface="MiSans" pitchFamily="34" charset="-120"/>
              </a:rPr>
              <a:t>```python</a:t>
            </a:r>
            <a:endParaRPr lang="en-US" sz="1600" dirty="0"/>
          </a:p>
          <a:p>
            <a:pPr>
              <a:lnSpc>
                <a:spcPct val="130000"/>
              </a:lnSpc>
            </a:pPr>
            <a:r>
              <a:rPr lang="en-US" sz="913" dirty="0">
                <a:solidFill>
                  <a:srgbClr val="8B5CF6"/>
                </a:solidFill>
                <a:latin typeface="MiSans" pitchFamily="34" charset="0"/>
                <a:ea typeface="MiSans" pitchFamily="34" charset="-122"/>
                <a:cs typeface="MiSans" pitchFamily="34" charset="-120"/>
              </a:rPr>
              <a:t>def</a:t>
            </a:r>
            <a:pPr>
              <a:lnSpc>
                <a:spcPct val="130000"/>
              </a:lnSpc>
            </a:pPr>
            <a:r>
              <a:rPr lang="en-US" sz="913" dirty="0">
                <a:solidFill>
                  <a:srgbClr val="3B82F6"/>
                </a:solidFill>
                <a:latin typeface="MiSans" pitchFamily="34" charset="0"/>
                <a:ea typeface="MiSans" pitchFamily="34" charset="-122"/>
                <a:cs typeface="MiSans" pitchFamily="34" charset="-120"/>
              </a:rPr>
              <a:t>decorator</a:t>
            </a:r>
            <a:pPr>
              <a:lnSpc>
                <a:spcPct val="130000"/>
              </a:lnSpc>
            </a:pPr>
            <a:r>
              <a:rPr lang="en-US" sz="913" dirty="0">
                <a:solidFill>
                  <a:srgbClr val="F1F5F9"/>
                </a:solidFill>
                <a:latin typeface="MiSans" pitchFamily="34" charset="0"/>
                <a:ea typeface="MiSans" pitchFamily="34" charset="-122"/>
                <a:cs typeface="MiSans" pitchFamily="34" charset="-120"/>
              </a:rPr>
              <a:t>(func): ...</a:t>
            </a:r>
            <a:endParaRPr lang="en-US" sz="1600" dirty="0"/>
          </a:p>
          <a:p>
            <a:pPr>
              <a:lnSpc>
                <a:spcPct val="130000"/>
              </a:lnSpc>
            </a:pPr>
            <a:r>
              <a:rPr lang="en-US" sz="913" dirty="0">
                <a:solidFill>
                  <a:srgbClr val="F1F5F9"/>
                </a:solidFill>
                <a:latin typeface="MiSans" pitchFamily="34" charset="0"/>
                <a:ea typeface="MiSans" pitchFamily="34" charset="-122"/>
                <a:cs typeface="MiSans" pitchFamily="34" charset="-120"/>
              </a:rPr>
              <a:t>```</a:t>
            </a:r>
            <a:endParaRPr lang="en-US" sz="1600" dirty="0"/>
          </a:p>
          <a:p>
            <a:pPr>
              <a:lnSpc>
                <a:spcPct val="130000"/>
              </a:lnSpc>
            </a:pPr>
            <a:r>
              <a:rPr lang="en-US" sz="913" dirty="0">
                <a:solidFill>
                  <a:srgbClr val="F1F5F9">
                    <a:alpha val="50000"/>
                  </a:srgbClr>
                </a:solidFill>
                <a:latin typeface="MiSans" pitchFamily="34" charset="0"/>
                <a:ea typeface="MiSans" pitchFamily="34" charset="-122"/>
                <a:cs typeface="MiSans" pitchFamily="34" charset="-120"/>
              </a:rPr>
              <a:t># Sau hậu xử lý (HỢP LỆ)</a:t>
            </a:r>
            <a:endParaRPr lang="en-US" sz="1600" dirty="0"/>
          </a:p>
          <a:p>
            <a:pPr>
              <a:lnSpc>
                <a:spcPct val="130000"/>
              </a:lnSpc>
            </a:pPr>
            <a:r>
              <a:rPr lang="en-US" sz="913" dirty="0">
                <a:solidFill>
                  <a:srgbClr val="8B5CF6"/>
                </a:solidFill>
                <a:latin typeface="MiSans" pitchFamily="34" charset="0"/>
                <a:ea typeface="MiSans" pitchFamily="34" charset="-122"/>
                <a:cs typeface="MiSans" pitchFamily="34" charset="-120"/>
              </a:rPr>
              <a:t>def</a:t>
            </a:r>
            <a:pPr>
              <a:lnSpc>
                <a:spcPct val="130000"/>
              </a:lnSpc>
            </a:pPr>
            <a:r>
              <a:rPr lang="en-US" sz="913" dirty="0">
                <a:solidFill>
                  <a:srgbClr val="3B82F6"/>
                </a:solidFill>
                <a:latin typeface="MiSans" pitchFamily="34" charset="0"/>
                <a:ea typeface="MiSans" pitchFamily="34" charset="-122"/>
                <a:cs typeface="MiSans" pitchFamily="34" charset="-120"/>
              </a:rPr>
              <a:t>decorator</a:t>
            </a:r>
            <a:pPr>
              <a:lnSpc>
                <a:spcPct val="130000"/>
              </a:lnSpc>
            </a:pPr>
            <a:r>
              <a:rPr lang="en-US" sz="913" dirty="0">
                <a:solidFill>
                  <a:srgbClr val="F1F5F9"/>
                </a:solidFill>
                <a:latin typeface="MiSans" pitchFamily="34" charset="0"/>
                <a:ea typeface="MiSans" pitchFamily="34" charset="-122"/>
                <a:cs typeface="MiSans" pitchFamily="34" charset="-120"/>
              </a:rPr>
              <a:t>(func): ...</a:t>
            </a:r>
            <a:endParaRPr lang="en-US" sz="1600" dirty="0"/>
          </a:p>
        </p:txBody>
      </p:sp>
      <p:sp>
        <p:nvSpPr>
          <p:cNvPr id="24" name="Shape 22"/>
          <p:cNvSpPr/>
          <p:nvPr/>
        </p:nvSpPr>
        <p:spPr>
          <a:xfrm>
            <a:off x="6190065" y="1074715"/>
            <a:ext cx="5645601" cy="4548588"/>
          </a:xfrm>
          <a:custGeom>
            <a:avLst/>
            <a:gdLst/>
            <a:ahLst/>
            <a:cxnLst/>
            <a:rect l="l" t="t" r="r" b="b"/>
            <a:pathLst>
              <a:path w="5645601" h="4548588">
                <a:moveTo>
                  <a:pt x="107028" y="0"/>
                </a:moveTo>
                <a:lnTo>
                  <a:pt x="5538572" y="0"/>
                </a:lnTo>
                <a:cubicBezTo>
                  <a:pt x="5597682" y="0"/>
                  <a:pt x="5645601" y="47918"/>
                  <a:pt x="5645601" y="107028"/>
                </a:cubicBezTo>
                <a:lnTo>
                  <a:pt x="5645601" y="4441560"/>
                </a:lnTo>
                <a:cubicBezTo>
                  <a:pt x="5645601" y="4500670"/>
                  <a:pt x="5597682" y="4548588"/>
                  <a:pt x="5538572" y="4548588"/>
                </a:cubicBezTo>
                <a:lnTo>
                  <a:pt x="107028" y="4548588"/>
                </a:lnTo>
                <a:cubicBezTo>
                  <a:pt x="47918" y="4548588"/>
                  <a:pt x="0" y="4500670"/>
                  <a:pt x="0" y="4441560"/>
                </a:cubicBezTo>
                <a:lnTo>
                  <a:pt x="0" y="107028"/>
                </a:lnTo>
                <a:cubicBezTo>
                  <a:pt x="0" y="47918"/>
                  <a:pt x="47918" y="0"/>
                  <a:pt x="10702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5" name="Shape 23"/>
          <p:cNvSpPr/>
          <p:nvPr/>
        </p:nvSpPr>
        <p:spPr>
          <a:xfrm>
            <a:off x="6384049" y="1293226"/>
            <a:ext cx="200673" cy="178376"/>
          </a:xfrm>
          <a:custGeom>
            <a:avLst/>
            <a:gdLst/>
            <a:ahLst/>
            <a:cxnLst/>
            <a:rect l="l" t="t" r="r" b="b"/>
            <a:pathLst>
              <a:path w="200673" h="178376">
                <a:moveTo>
                  <a:pt x="59087" y="53443"/>
                </a:moveTo>
                <a:lnTo>
                  <a:pt x="52572" y="46928"/>
                </a:lnTo>
                <a:cubicBezTo>
                  <a:pt x="48217" y="42573"/>
                  <a:pt x="48217" y="35501"/>
                  <a:pt x="52572" y="31146"/>
                </a:cubicBezTo>
                <a:lnTo>
                  <a:pt x="92533" y="-8849"/>
                </a:lnTo>
                <a:cubicBezTo>
                  <a:pt x="96887" y="-13204"/>
                  <a:pt x="103960" y="-13204"/>
                  <a:pt x="108315" y="-8849"/>
                </a:cubicBezTo>
                <a:lnTo>
                  <a:pt x="114830" y="-2299"/>
                </a:lnTo>
                <a:cubicBezTo>
                  <a:pt x="119184" y="2056"/>
                  <a:pt x="119184" y="9128"/>
                  <a:pt x="114830" y="13483"/>
                </a:cubicBezTo>
                <a:lnTo>
                  <a:pt x="74869" y="53443"/>
                </a:lnTo>
                <a:cubicBezTo>
                  <a:pt x="70514" y="57798"/>
                  <a:pt x="63442" y="57798"/>
                  <a:pt x="59087" y="53443"/>
                </a:cubicBezTo>
                <a:close/>
                <a:moveTo>
                  <a:pt x="96156" y="73754"/>
                </a:moveTo>
                <a:lnTo>
                  <a:pt x="85216" y="62815"/>
                </a:lnTo>
                <a:lnTo>
                  <a:pt x="124236" y="23795"/>
                </a:lnTo>
                <a:lnTo>
                  <a:pt x="165834" y="65393"/>
                </a:lnTo>
                <a:lnTo>
                  <a:pt x="126814" y="104413"/>
                </a:lnTo>
                <a:lnTo>
                  <a:pt x="115875" y="93473"/>
                </a:lnTo>
                <a:lnTo>
                  <a:pt x="35048" y="174300"/>
                </a:lnTo>
                <a:cubicBezTo>
                  <a:pt x="29613" y="179735"/>
                  <a:pt x="20799" y="179735"/>
                  <a:pt x="15329" y="174300"/>
                </a:cubicBezTo>
                <a:cubicBezTo>
                  <a:pt x="9859" y="168865"/>
                  <a:pt x="9894" y="160051"/>
                  <a:pt x="15329" y="154581"/>
                </a:cubicBezTo>
                <a:lnTo>
                  <a:pt x="96156" y="73754"/>
                </a:lnTo>
                <a:close/>
                <a:moveTo>
                  <a:pt x="136186" y="130507"/>
                </a:moveTo>
                <a:cubicBezTo>
                  <a:pt x="131831" y="126152"/>
                  <a:pt x="131831" y="119080"/>
                  <a:pt x="136186" y="114725"/>
                </a:cubicBezTo>
                <a:lnTo>
                  <a:pt x="176146" y="74765"/>
                </a:lnTo>
                <a:cubicBezTo>
                  <a:pt x="180501" y="70410"/>
                  <a:pt x="187574" y="70410"/>
                  <a:pt x="191928" y="74765"/>
                </a:cubicBezTo>
                <a:lnTo>
                  <a:pt x="198443" y="81280"/>
                </a:lnTo>
                <a:cubicBezTo>
                  <a:pt x="202798" y="85634"/>
                  <a:pt x="202798" y="92707"/>
                  <a:pt x="198443" y="97062"/>
                </a:cubicBezTo>
                <a:lnTo>
                  <a:pt x="158483" y="137057"/>
                </a:lnTo>
                <a:cubicBezTo>
                  <a:pt x="154128" y="141412"/>
                  <a:pt x="147056" y="141412"/>
                  <a:pt x="142701" y="137057"/>
                </a:cubicBezTo>
                <a:lnTo>
                  <a:pt x="136186" y="130542"/>
                </a:lnTo>
                <a:close/>
              </a:path>
            </a:pathLst>
          </a:custGeom>
          <a:solidFill>
            <a:srgbClr val="8B5CF6"/>
          </a:solidFill>
          <a:ln/>
        </p:spPr>
      </p:sp>
      <p:sp>
        <p:nvSpPr>
          <p:cNvPr id="26" name="Text 24"/>
          <p:cNvSpPr/>
          <p:nvPr/>
        </p:nvSpPr>
        <p:spPr>
          <a:xfrm>
            <a:off x="6595871" y="1257551"/>
            <a:ext cx="5146148" cy="249726"/>
          </a:xfrm>
          <a:prstGeom prst="rect">
            <a:avLst/>
          </a:prstGeom>
          <a:noFill/>
          <a:ln/>
        </p:spPr>
        <p:txBody>
          <a:bodyPr wrap="square" lIns="0" tIns="0" rIns="0" bIns="0" rtlCol="0" anchor="ctr"/>
          <a:lstStyle/>
          <a:p>
            <a:pPr>
              <a:lnSpc>
                <a:spcPct val="120000"/>
              </a:lnSpc>
            </a:pPr>
            <a:r>
              <a:rPr lang="en-US" sz="1405" b="1" dirty="0">
                <a:solidFill>
                  <a:srgbClr val="8B5CF6"/>
                </a:solidFill>
                <a:latin typeface="MiSans" pitchFamily="34" charset="0"/>
                <a:ea typeface="MiSans" pitchFamily="34" charset="-122"/>
                <a:cs typeface="MiSans" pitchFamily="34" charset="-120"/>
              </a:rPr>
              <a:t>Rủi ro quy trình (Governance)</a:t>
            </a:r>
            <a:endParaRPr lang="en-US" sz="1600" dirty="0"/>
          </a:p>
        </p:txBody>
      </p:sp>
      <p:sp>
        <p:nvSpPr>
          <p:cNvPr id="27" name="Shape 25"/>
          <p:cNvSpPr/>
          <p:nvPr/>
        </p:nvSpPr>
        <p:spPr>
          <a:xfrm>
            <a:off x="6377360" y="1654437"/>
            <a:ext cx="5271011" cy="686748"/>
          </a:xfrm>
          <a:custGeom>
            <a:avLst/>
            <a:gdLst/>
            <a:ahLst/>
            <a:cxnLst/>
            <a:rect l="l" t="t" r="r" b="b"/>
            <a:pathLst>
              <a:path w="5271011" h="686748">
                <a:moveTo>
                  <a:pt x="71353" y="0"/>
                </a:moveTo>
                <a:lnTo>
                  <a:pt x="5199658" y="0"/>
                </a:lnTo>
                <a:cubicBezTo>
                  <a:pt x="5239065" y="0"/>
                  <a:pt x="5271011" y="31946"/>
                  <a:pt x="5271011" y="71353"/>
                </a:cubicBezTo>
                <a:lnTo>
                  <a:pt x="5271011" y="615395"/>
                </a:lnTo>
                <a:cubicBezTo>
                  <a:pt x="5271011" y="654802"/>
                  <a:pt x="5239065" y="686748"/>
                  <a:pt x="5199658" y="686748"/>
                </a:cubicBezTo>
                <a:lnTo>
                  <a:pt x="71353" y="686748"/>
                </a:lnTo>
                <a:cubicBezTo>
                  <a:pt x="31946" y="686748"/>
                  <a:pt x="0" y="654802"/>
                  <a:pt x="0" y="615395"/>
                </a:cubicBezTo>
                <a:lnTo>
                  <a:pt x="0" y="71353"/>
                </a:lnTo>
                <a:cubicBezTo>
                  <a:pt x="0" y="31946"/>
                  <a:pt x="31946" y="0"/>
                  <a:pt x="71353" y="0"/>
                </a:cubicBezTo>
                <a:close/>
              </a:path>
            </a:pathLst>
          </a:custGeom>
          <a:solidFill>
            <a:srgbClr val="0F172A"/>
          </a:solidFill>
          <a:ln w="12700">
            <a:solidFill>
              <a:srgbClr val="EF4444">
                <a:alpha val="30196"/>
              </a:srgbClr>
            </a:solidFill>
            <a:prstDash val="solid"/>
          </a:ln>
        </p:spPr>
      </p:sp>
      <p:sp>
        <p:nvSpPr>
          <p:cNvPr id="28" name="Text 26"/>
          <p:cNvSpPr/>
          <p:nvPr/>
        </p:nvSpPr>
        <p:spPr>
          <a:xfrm>
            <a:off x="6488845" y="1765922"/>
            <a:ext cx="5119391" cy="214051"/>
          </a:xfrm>
          <a:prstGeom prst="rect">
            <a:avLst/>
          </a:prstGeom>
          <a:noFill/>
          <a:ln/>
        </p:spPr>
        <p:txBody>
          <a:bodyPr wrap="square" lIns="0" tIns="0" rIns="0" bIns="0" rtlCol="0" anchor="ctr"/>
          <a:lstStyle/>
          <a:p>
            <a:pPr>
              <a:lnSpc>
                <a:spcPct val="130000"/>
              </a:lnSpc>
            </a:pPr>
            <a:r>
              <a:rPr lang="en-US" sz="1124" b="1" dirty="0">
                <a:solidFill>
                  <a:srgbClr val="EF4444"/>
                </a:solidFill>
                <a:latin typeface="MiSans" pitchFamily="34" charset="0"/>
                <a:ea typeface="MiSans" pitchFamily="34" charset="-122"/>
                <a:cs typeface="MiSans" pitchFamily="34" charset="-120"/>
              </a:rPr>
              <a:t>Nguyên tắc vàng:</a:t>
            </a:r>
            <a:endParaRPr lang="en-US" sz="1600" dirty="0"/>
          </a:p>
        </p:txBody>
      </p:sp>
      <p:sp>
        <p:nvSpPr>
          <p:cNvPr id="29" name="Text 27"/>
          <p:cNvSpPr/>
          <p:nvPr/>
        </p:nvSpPr>
        <p:spPr>
          <a:xfrm>
            <a:off x="6488845" y="2051324"/>
            <a:ext cx="5110473"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Không sao chép trực tiếp mã AI vào </a:t>
            </a:r>
            <a:pPr>
              <a:lnSpc>
                <a:spcPct val="120000"/>
              </a:lnSpc>
            </a:pPr>
            <a:r>
              <a:rPr lang="en-US" sz="983" b="1" dirty="0">
                <a:solidFill>
                  <a:srgbClr val="EF4444"/>
                </a:solidFill>
                <a:latin typeface="MiSans" pitchFamily="34" charset="0"/>
                <a:ea typeface="MiSans" pitchFamily="34" charset="-122"/>
                <a:cs typeface="MiSans" pitchFamily="34" charset="-120"/>
              </a:rPr>
              <a:t>production</a:t>
            </a:r>
            <a:pPr>
              <a:lnSpc>
                <a:spcPct val="120000"/>
              </a:lnSpc>
            </a:pPr>
            <a:r>
              <a:rPr lang="en-US" sz="983" dirty="0">
                <a:solidFill>
                  <a:srgbClr val="F1F5F9">
                    <a:alpha val="80000"/>
                  </a:srgbClr>
                </a:solidFill>
                <a:latin typeface="MiSans" pitchFamily="34" charset="0"/>
                <a:ea typeface="MiSans" pitchFamily="34" charset="-122"/>
                <a:cs typeface="MiSans" pitchFamily="34" charset="-120"/>
              </a:rPr>
              <a:t> khi chưa qua unit test và human-review.</a:t>
            </a:r>
            <a:endParaRPr lang="en-US" sz="1600" dirty="0"/>
          </a:p>
        </p:txBody>
      </p:sp>
      <p:sp>
        <p:nvSpPr>
          <p:cNvPr id="30" name="Shape 28"/>
          <p:cNvSpPr/>
          <p:nvPr/>
        </p:nvSpPr>
        <p:spPr>
          <a:xfrm>
            <a:off x="6372901" y="2452670"/>
            <a:ext cx="5279930" cy="1667816"/>
          </a:xfrm>
          <a:custGeom>
            <a:avLst/>
            <a:gdLst/>
            <a:ahLst/>
            <a:cxnLst/>
            <a:rect l="l" t="t" r="r" b="b"/>
            <a:pathLst>
              <a:path w="5279930" h="1667816">
                <a:moveTo>
                  <a:pt x="71349" y="0"/>
                </a:moveTo>
                <a:lnTo>
                  <a:pt x="5208581" y="0"/>
                </a:lnTo>
                <a:cubicBezTo>
                  <a:pt x="5247986" y="0"/>
                  <a:pt x="5279930" y="31944"/>
                  <a:pt x="5279930" y="71349"/>
                </a:cubicBezTo>
                <a:lnTo>
                  <a:pt x="5279930" y="1596467"/>
                </a:lnTo>
                <a:cubicBezTo>
                  <a:pt x="5279930" y="1635872"/>
                  <a:pt x="5247986" y="1667816"/>
                  <a:pt x="5208581" y="1667816"/>
                </a:cubicBezTo>
                <a:lnTo>
                  <a:pt x="71349" y="1667816"/>
                </a:lnTo>
                <a:cubicBezTo>
                  <a:pt x="31944" y="1667816"/>
                  <a:pt x="0" y="1635872"/>
                  <a:pt x="0" y="1596467"/>
                </a:cubicBezTo>
                <a:lnTo>
                  <a:pt x="0" y="71349"/>
                </a:lnTo>
                <a:cubicBezTo>
                  <a:pt x="0" y="31970"/>
                  <a:pt x="31970" y="0"/>
                  <a:pt x="71349" y="0"/>
                </a:cubicBezTo>
                <a:close/>
              </a:path>
            </a:pathLst>
          </a:custGeom>
          <a:solidFill>
            <a:srgbClr val="0F172A"/>
          </a:solidFill>
          <a:ln/>
        </p:spPr>
      </p:sp>
      <p:sp>
        <p:nvSpPr>
          <p:cNvPr id="31" name="Text 29"/>
          <p:cNvSpPr/>
          <p:nvPr/>
        </p:nvSpPr>
        <p:spPr>
          <a:xfrm>
            <a:off x="6479926" y="2559696"/>
            <a:ext cx="5137229" cy="214051"/>
          </a:xfrm>
          <a:prstGeom prst="rect">
            <a:avLst/>
          </a:prstGeom>
          <a:noFill/>
          <a:ln/>
        </p:spPr>
        <p:txBody>
          <a:bodyPr wrap="square" lIns="0" tIns="0" rIns="0" bIns="0" rtlCol="0" anchor="ctr"/>
          <a:lstStyle/>
          <a:p>
            <a:pPr>
              <a:lnSpc>
                <a:spcPct val="130000"/>
              </a:lnSpc>
            </a:pPr>
            <a:r>
              <a:rPr lang="en-US" sz="1124" b="1" dirty="0">
                <a:solidFill>
                  <a:srgbClr val="8B5CF6"/>
                </a:solidFill>
                <a:latin typeface="MiSans" pitchFamily="34" charset="0"/>
                <a:ea typeface="MiSans" pitchFamily="34" charset="-122"/>
                <a:cs typeface="MiSans" pitchFamily="34" charset="-120"/>
              </a:rPr>
              <a:t>Quản lý phiên bản Prompt:</a:t>
            </a:r>
            <a:endParaRPr lang="en-US" sz="1600" dirty="0"/>
          </a:p>
        </p:txBody>
      </p:sp>
      <p:sp>
        <p:nvSpPr>
          <p:cNvPr id="32" name="Text 30"/>
          <p:cNvSpPr/>
          <p:nvPr/>
        </p:nvSpPr>
        <p:spPr>
          <a:xfrm>
            <a:off x="6479926" y="2845097"/>
            <a:ext cx="5128310" cy="356752"/>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Thực hiện </a:t>
            </a:r>
            <a:pPr>
              <a:lnSpc>
                <a:spcPct val="120000"/>
              </a:lnSpc>
            </a:pPr>
            <a:r>
              <a:rPr lang="en-US" sz="983" b="1" dirty="0">
                <a:solidFill>
                  <a:srgbClr val="8B5CF6"/>
                </a:solidFill>
                <a:latin typeface="MiSans" pitchFamily="34" charset="0"/>
                <a:ea typeface="MiSans" pitchFamily="34" charset="-122"/>
                <a:cs typeface="MiSans" pitchFamily="34" charset="-120"/>
              </a:rPr>
              <a:t>Prompt Versioning</a:t>
            </a:r>
            <a:pPr>
              <a:lnSpc>
                <a:spcPct val="120000"/>
              </a:lnSpc>
            </a:pPr>
            <a:r>
              <a:rPr lang="en-US" sz="983" dirty="0">
                <a:solidFill>
                  <a:srgbClr val="F1F5F9">
                    <a:alpha val="80000"/>
                  </a:srgbClr>
                </a:solidFill>
                <a:latin typeface="MiSans" pitchFamily="34" charset="0"/>
                <a:ea typeface="MiSans" pitchFamily="34" charset="-122"/>
                <a:cs typeface="MiSans" pitchFamily="34" charset="-120"/>
              </a:rPr>
              <a:t> tương tự như mã nguồn để đảm bảo tính tái lập (reproducibility).</a:t>
            </a:r>
            <a:endParaRPr lang="en-US" sz="1600" dirty="0"/>
          </a:p>
        </p:txBody>
      </p:sp>
      <p:sp>
        <p:nvSpPr>
          <p:cNvPr id="33" name="Shape 31"/>
          <p:cNvSpPr/>
          <p:nvPr/>
        </p:nvSpPr>
        <p:spPr>
          <a:xfrm>
            <a:off x="6479926" y="3273200"/>
            <a:ext cx="5065879" cy="740260"/>
          </a:xfrm>
          <a:custGeom>
            <a:avLst/>
            <a:gdLst/>
            <a:ahLst/>
            <a:cxnLst/>
            <a:rect l="l" t="t" r="r" b="b"/>
            <a:pathLst>
              <a:path w="5065879" h="740260">
                <a:moveTo>
                  <a:pt x="71354" y="0"/>
                </a:moveTo>
                <a:lnTo>
                  <a:pt x="4994525" y="0"/>
                </a:lnTo>
                <a:cubicBezTo>
                  <a:pt x="5033932" y="0"/>
                  <a:pt x="5065879" y="31946"/>
                  <a:pt x="5065879" y="71354"/>
                </a:cubicBezTo>
                <a:lnTo>
                  <a:pt x="5065879" y="668907"/>
                </a:lnTo>
                <a:cubicBezTo>
                  <a:pt x="5065879" y="708314"/>
                  <a:pt x="5033932" y="740260"/>
                  <a:pt x="4994525" y="740260"/>
                </a:cubicBezTo>
                <a:lnTo>
                  <a:pt x="71354" y="740260"/>
                </a:lnTo>
                <a:cubicBezTo>
                  <a:pt x="31946" y="740260"/>
                  <a:pt x="0" y="708314"/>
                  <a:pt x="0" y="668907"/>
                </a:cubicBezTo>
                <a:lnTo>
                  <a:pt x="0" y="71354"/>
                </a:lnTo>
                <a:cubicBezTo>
                  <a:pt x="0" y="31946"/>
                  <a:pt x="31946" y="0"/>
                  <a:pt x="71354" y="0"/>
                </a:cubicBezTo>
                <a:close/>
              </a:path>
            </a:pathLst>
          </a:custGeom>
          <a:solidFill>
            <a:srgbClr val="1E293B"/>
          </a:solidFill>
          <a:ln/>
        </p:spPr>
      </p:sp>
      <p:sp>
        <p:nvSpPr>
          <p:cNvPr id="34" name="Text 32"/>
          <p:cNvSpPr/>
          <p:nvPr/>
        </p:nvSpPr>
        <p:spPr>
          <a:xfrm>
            <a:off x="6586952" y="3398063"/>
            <a:ext cx="1141746" cy="133782"/>
          </a:xfrm>
          <a:prstGeom prst="rect">
            <a:avLst/>
          </a:prstGeom>
          <a:noFill/>
          <a:ln/>
        </p:spPr>
        <p:txBody>
          <a:bodyPr wrap="square" lIns="0" tIns="0" rIns="0" bIns="0" rtlCol="0" anchor="ctr"/>
          <a:lstStyle/>
          <a:p>
            <a:pPr>
              <a:lnSpc>
                <a:spcPct val="130000"/>
              </a:lnSpc>
            </a:pPr>
            <a:r>
              <a:rPr lang="en-US" sz="913" dirty="0">
                <a:solidFill>
                  <a:srgbClr val="F1F5F9">
                    <a:alpha val="50000"/>
                  </a:srgbClr>
                </a:solidFill>
                <a:latin typeface="MiSans" pitchFamily="34" charset="0"/>
                <a:ea typeface="MiSans" pitchFamily="34" charset="-122"/>
                <a:cs typeface="MiSans" pitchFamily="34" charset="-120"/>
              </a:rPr>
              <a:t># prompt_v1.0.txt</a:t>
            </a:r>
            <a:endParaRPr lang="en-US" sz="1600" dirty="0"/>
          </a:p>
        </p:txBody>
      </p:sp>
      <p:sp>
        <p:nvSpPr>
          <p:cNvPr id="35" name="Text 33"/>
          <p:cNvSpPr/>
          <p:nvPr/>
        </p:nvSpPr>
        <p:spPr>
          <a:xfrm>
            <a:off x="6586952" y="3571980"/>
            <a:ext cx="1141746" cy="133782"/>
          </a:xfrm>
          <a:prstGeom prst="rect">
            <a:avLst/>
          </a:prstGeom>
          <a:noFill/>
          <a:ln/>
        </p:spPr>
        <p:txBody>
          <a:bodyPr wrap="square" lIns="0" tIns="0" rIns="0" bIns="0" rtlCol="0" anchor="ctr"/>
          <a:lstStyle/>
          <a:p>
            <a:pPr>
              <a:lnSpc>
                <a:spcPct val="130000"/>
              </a:lnSpc>
            </a:pPr>
            <a:r>
              <a:rPr lang="en-US" sz="913" dirty="0">
                <a:solidFill>
                  <a:srgbClr val="F1F5F9">
                    <a:alpha val="50000"/>
                  </a:srgbClr>
                </a:solidFill>
                <a:latin typeface="MiSans" pitchFamily="34" charset="0"/>
                <a:ea typeface="MiSans" pitchFamily="34" charset="-122"/>
                <a:cs typeface="MiSans" pitchFamily="34" charset="-120"/>
              </a:rPr>
              <a:t># prompt_v1.1.txt</a:t>
            </a:r>
            <a:endParaRPr lang="en-US" sz="1600" dirty="0"/>
          </a:p>
        </p:txBody>
      </p:sp>
      <p:sp>
        <p:nvSpPr>
          <p:cNvPr id="36" name="Text 34"/>
          <p:cNvSpPr/>
          <p:nvPr/>
        </p:nvSpPr>
        <p:spPr>
          <a:xfrm>
            <a:off x="6586952" y="3745896"/>
            <a:ext cx="1141746" cy="133782"/>
          </a:xfrm>
          <a:prstGeom prst="rect">
            <a:avLst/>
          </a:prstGeom>
          <a:noFill/>
          <a:ln/>
        </p:spPr>
        <p:txBody>
          <a:bodyPr wrap="square" lIns="0" tIns="0" rIns="0" bIns="0" rtlCol="0" anchor="ctr"/>
          <a:lstStyle/>
          <a:p>
            <a:pPr>
              <a:lnSpc>
                <a:spcPct val="130000"/>
              </a:lnSpc>
            </a:pPr>
            <a:r>
              <a:rPr lang="en-US" sz="913" dirty="0">
                <a:solidFill>
                  <a:srgbClr val="F1F5F9">
                    <a:alpha val="50000"/>
                  </a:srgbClr>
                </a:solidFill>
                <a:latin typeface="MiSans" pitchFamily="34" charset="0"/>
                <a:ea typeface="MiSans" pitchFamily="34" charset="-122"/>
                <a:cs typeface="MiSans" pitchFamily="34" charset="-120"/>
              </a:rPr>
              <a:t># prompt_v2.0.txt</a:t>
            </a:r>
            <a:endParaRPr lang="en-US" sz="1600" dirty="0"/>
          </a:p>
        </p:txBody>
      </p:sp>
      <p:sp>
        <p:nvSpPr>
          <p:cNvPr id="37" name="Shape 35"/>
          <p:cNvSpPr/>
          <p:nvPr/>
        </p:nvSpPr>
        <p:spPr>
          <a:xfrm>
            <a:off x="6372901" y="4223052"/>
            <a:ext cx="5279930" cy="1177282"/>
          </a:xfrm>
          <a:custGeom>
            <a:avLst/>
            <a:gdLst/>
            <a:ahLst/>
            <a:cxnLst/>
            <a:rect l="l" t="t" r="r" b="b"/>
            <a:pathLst>
              <a:path w="5279930" h="1177282">
                <a:moveTo>
                  <a:pt x="71355" y="0"/>
                </a:moveTo>
                <a:lnTo>
                  <a:pt x="5208575" y="0"/>
                </a:lnTo>
                <a:cubicBezTo>
                  <a:pt x="5247983" y="0"/>
                  <a:pt x="5279930" y="31947"/>
                  <a:pt x="5279930" y="71355"/>
                </a:cubicBezTo>
                <a:lnTo>
                  <a:pt x="5279930" y="1105927"/>
                </a:lnTo>
                <a:cubicBezTo>
                  <a:pt x="5279930" y="1145335"/>
                  <a:pt x="5247983" y="1177282"/>
                  <a:pt x="5208575" y="1177282"/>
                </a:cubicBezTo>
                <a:lnTo>
                  <a:pt x="71355" y="1177282"/>
                </a:lnTo>
                <a:cubicBezTo>
                  <a:pt x="31947" y="1177282"/>
                  <a:pt x="0" y="1145335"/>
                  <a:pt x="0" y="1105927"/>
                </a:cubicBezTo>
                <a:lnTo>
                  <a:pt x="0" y="71355"/>
                </a:lnTo>
                <a:cubicBezTo>
                  <a:pt x="0" y="31947"/>
                  <a:pt x="31947" y="0"/>
                  <a:pt x="71355" y="0"/>
                </a:cubicBezTo>
                <a:close/>
              </a:path>
            </a:pathLst>
          </a:custGeom>
          <a:solidFill>
            <a:srgbClr val="0F172A"/>
          </a:solidFill>
          <a:ln/>
        </p:spPr>
      </p:sp>
      <p:sp>
        <p:nvSpPr>
          <p:cNvPr id="38" name="Text 36"/>
          <p:cNvSpPr/>
          <p:nvPr/>
        </p:nvSpPr>
        <p:spPr>
          <a:xfrm>
            <a:off x="6479926" y="4330078"/>
            <a:ext cx="5137229" cy="214051"/>
          </a:xfrm>
          <a:prstGeom prst="rect">
            <a:avLst/>
          </a:prstGeom>
          <a:noFill/>
          <a:ln/>
        </p:spPr>
        <p:txBody>
          <a:bodyPr wrap="square" lIns="0" tIns="0" rIns="0" bIns="0" rtlCol="0" anchor="ctr"/>
          <a:lstStyle/>
          <a:p>
            <a:pPr>
              <a:lnSpc>
                <a:spcPct val="130000"/>
              </a:lnSpc>
            </a:pPr>
            <a:r>
              <a:rPr lang="en-US" sz="1124" b="1" dirty="0">
                <a:solidFill>
                  <a:srgbClr val="10B981"/>
                </a:solidFill>
                <a:latin typeface="MiSans" pitchFamily="34" charset="0"/>
                <a:ea typeface="MiSans" pitchFamily="34" charset="-122"/>
                <a:cs typeface="MiSans" pitchFamily="34" charset="-120"/>
              </a:rPr>
              <a:t>Các biện pháp bắt buộc:</a:t>
            </a:r>
            <a:endParaRPr lang="en-US" sz="1600" dirty="0"/>
          </a:p>
        </p:txBody>
      </p:sp>
      <p:sp>
        <p:nvSpPr>
          <p:cNvPr id="39" name="Shape 37"/>
          <p:cNvSpPr/>
          <p:nvPr/>
        </p:nvSpPr>
        <p:spPr>
          <a:xfrm>
            <a:off x="6497764" y="4651154"/>
            <a:ext cx="124863" cy="124863"/>
          </a:xfrm>
          <a:custGeom>
            <a:avLst/>
            <a:gdLst/>
            <a:ahLst/>
            <a:cxnLst/>
            <a:rect l="l" t="t" r="r" b="b"/>
            <a:pathLst>
              <a:path w="124863" h="124863">
                <a:moveTo>
                  <a:pt x="62432" y="124863"/>
                </a:moveTo>
                <a:cubicBezTo>
                  <a:pt x="96889" y="124863"/>
                  <a:pt x="124863" y="96889"/>
                  <a:pt x="124863" y="62432"/>
                </a:cubicBezTo>
                <a:cubicBezTo>
                  <a:pt x="124863" y="27975"/>
                  <a:pt x="96889" y="0"/>
                  <a:pt x="62432" y="0"/>
                </a:cubicBezTo>
                <a:cubicBezTo>
                  <a:pt x="27975" y="0"/>
                  <a:pt x="0" y="27975"/>
                  <a:pt x="0" y="62432"/>
                </a:cubicBezTo>
                <a:cubicBezTo>
                  <a:pt x="0" y="96889"/>
                  <a:pt x="27975" y="124863"/>
                  <a:pt x="62432" y="124863"/>
                </a:cubicBezTo>
                <a:close/>
                <a:moveTo>
                  <a:pt x="83015" y="51872"/>
                </a:moveTo>
                <a:lnTo>
                  <a:pt x="63505" y="83088"/>
                </a:lnTo>
                <a:cubicBezTo>
                  <a:pt x="62480" y="84722"/>
                  <a:pt x="60724" y="85746"/>
                  <a:pt x="58798" y="85843"/>
                </a:cubicBezTo>
                <a:cubicBezTo>
                  <a:pt x="56871" y="85941"/>
                  <a:pt x="55018" y="85063"/>
                  <a:pt x="53872" y="83502"/>
                </a:cubicBezTo>
                <a:lnTo>
                  <a:pt x="42166" y="67894"/>
                </a:lnTo>
                <a:cubicBezTo>
                  <a:pt x="40215" y="65309"/>
                  <a:pt x="40751" y="61651"/>
                  <a:pt x="43336" y="59700"/>
                </a:cubicBezTo>
                <a:cubicBezTo>
                  <a:pt x="45921" y="57749"/>
                  <a:pt x="49579" y="58286"/>
                  <a:pt x="51530" y="60871"/>
                </a:cubicBezTo>
                <a:lnTo>
                  <a:pt x="58115" y="69650"/>
                </a:lnTo>
                <a:lnTo>
                  <a:pt x="73089" y="45677"/>
                </a:lnTo>
                <a:cubicBezTo>
                  <a:pt x="74796" y="42946"/>
                  <a:pt x="78405" y="42093"/>
                  <a:pt x="81161" y="43824"/>
                </a:cubicBezTo>
                <a:cubicBezTo>
                  <a:pt x="83917" y="45556"/>
                  <a:pt x="84746" y="49140"/>
                  <a:pt x="83015" y="51896"/>
                </a:cubicBezTo>
                <a:close/>
              </a:path>
            </a:pathLst>
          </a:custGeom>
          <a:solidFill>
            <a:srgbClr val="10B981"/>
          </a:solidFill>
          <a:ln/>
        </p:spPr>
      </p:sp>
      <p:sp>
        <p:nvSpPr>
          <p:cNvPr id="40" name="Text 38"/>
          <p:cNvSpPr/>
          <p:nvPr/>
        </p:nvSpPr>
        <p:spPr>
          <a:xfrm>
            <a:off x="6707356" y="4615479"/>
            <a:ext cx="1792679"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Unit test pass trước khi merge</a:t>
            </a:r>
            <a:endParaRPr lang="en-US" sz="1600" dirty="0"/>
          </a:p>
        </p:txBody>
      </p:sp>
      <p:sp>
        <p:nvSpPr>
          <p:cNvPr id="41" name="Shape 39"/>
          <p:cNvSpPr/>
          <p:nvPr/>
        </p:nvSpPr>
        <p:spPr>
          <a:xfrm>
            <a:off x="6497764" y="4900881"/>
            <a:ext cx="124863" cy="124863"/>
          </a:xfrm>
          <a:custGeom>
            <a:avLst/>
            <a:gdLst/>
            <a:ahLst/>
            <a:cxnLst/>
            <a:rect l="l" t="t" r="r" b="b"/>
            <a:pathLst>
              <a:path w="124863" h="124863">
                <a:moveTo>
                  <a:pt x="62432" y="124863"/>
                </a:moveTo>
                <a:cubicBezTo>
                  <a:pt x="96889" y="124863"/>
                  <a:pt x="124863" y="96889"/>
                  <a:pt x="124863" y="62432"/>
                </a:cubicBezTo>
                <a:cubicBezTo>
                  <a:pt x="124863" y="27975"/>
                  <a:pt x="96889" y="0"/>
                  <a:pt x="62432" y="0"/>
                </a:cubicBezTo>
                <a:cubicBezTo>
                  <a:pt x="27975" y="0"/>
                  <a:pt x="0" y="27975"/>
                  <a:pt x="0" y="62432"/>
                </a:cubicBezTo>
                <a:cubicBezTo>
                  <a:pt x="0" y="96889"/>
                  <a:pt x="27975" y="124863"/>
                  <a:pt x="62432" y="124863"/>
                </a:cubicBezTo>
                <a:close/>
                <a:moveTo>
                  <a:pt x="83015" y="51872"/>
                </a:moveTo>
                <a:lnTo>
                  <a:pt x="63505" y="83088"/>
                </a:lnTo>
                <a:cubicBezTo>
                  <a:pt x="62480" y="84722"/>
                  <a:pt x="60724" y="85746"/>
                  <a:pt x="58798" y="85843"/>
                </a:cubicBezTo>
                <a:cubicBezTo>
                  <a:pt x="56871" y="85941"/>
                  <a:pt x="55018" y="85063"/>
                  <a:pt x="53872" y="83502"/>
                </a:cubicBezTo>
                <a:lnTo>
                  <a:pt x="42166" y="67894"/>
                </a:lnTo>
                <a:cubicBezTo>
                  <a:pt x="40215" y="65309"/>
                  <a:pt x="40751" y="61651"/>
                  <a:pt x="43336" y="59700"/>
                </a:cubicBezTo>
                <a:cubicBezTo>
                  <a:pt x="45921" y="57749"/>
                  <a:pt x="49579" y="58286"/>
                  <a:pt x="51530" y="60871"/>
                </a:cubicBezTo>
                <a:lnTo>
                  <a:pt x="58115" y="69650"/>
                </a:lnTo>
                <a:lnTo>
                  <a:pt x="73089" y="45677"/>
                </a:lnTo>
                <a:cubicBezTo>
                  <a:pt x="74796" y="42946"/>
                  <a:pt x="78405" y="42093"/>
                  <a:pt x="81161" y="43824"/>
                </a:cubicBezTo>
                <a:cubicBezTo>
                  <a:pt x="83917" y="45556"/>
                  <a:pt x="84746" y="49140"/>
                  <a:pt x="83015" y="51896"/>
                </a:cubicBezTo>
                <a:close/>
              </a:path>
            </a:pathLst>
          </a:custGeom>
          <a:solidFill>
            <a:srgbClr val="10B981"/>
          </a:solidFill>
          <a:ln/>
        </p:spPr>
      </p:sp>
      <p:sp>
        <p:nvSpPr>
          <p:cNvPr id="42" name="Text 40"/>
          <p:cNvSpPr/>
          <p:nvPr/>
        </p:nvSpPr>
        <p:spPr>
          <a:xfrm>
            <a:off x="6707356" y="4865206"/>
            <a:ext cx="2238619"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Human review cho AI-generated code</a:t>
            </a:r>
            <a:endParaRPr lang="en-US" sz="1600" dirty="0"/>
          </a:p>
        </p:txBody>
      </p:sp>
      <p:sp>
        <p:nvSpPr>
          <p:cNvPr id="43" name="Shape 41"/>
          <p:cNvSpPr/>
          <p:nvPr/>
        </p:nvSpPr>
        <p:spPr>
          <a:xfrm>
            <a:off x="6497764" y="5150607"/>
            <a:ext cx="124863" cy="124863"/>
          </a:xfrm>
          <a:custGeom>
            <a:avLst/>
            <a:gdLst/>
            <a:ahLst/>
            <a:cxnLst/>
            <a:rect l="l" t="t" r="r" b="b"/>
            <a:pathLst>
              <a:path w="124863" h="124863">
                <a:moveTo>
                  <a:pt x="62432" y="124863"/>
                </a:moveTo>
                <a:cubicBezTo>
                  <a:pt x="96889" y="124863"/>
                  <a:pt x="124863" y="96889"/>
                  <a:pt x="124863" y="62432"/>
                </a:cubicBezTo>
                <a:cubicBezTo>
                  <a:pt x="124863" y="27975"/>
                  <a:pt x="96889" y="0"/>
                  <a:pt x="62432" y="0"/>
                </a:cubicBezTo>
                <a:cubicBezTo>
                  <a:pt x="27975" y="0"/>
                  <a:pt x="0" y="27975"/>
                  <a:pt x="0" y="62432"/>
                </a:cubicBezTo>
                <a:cubicBezTo>
                  <a:pt x="0" y="96889"/>
                  <a:pt x="27975" y="124863"/>
                  <a:pt x="62432" y="124863"/>
                </a:cubicBezTo>
                <a:close/>
                <a:moveTo>
                  <a:pt x="83015" y="51872"/>
                </a:moveTo>
                <a:lnTo>
                  <a:pt x="63505" y="83088"/>
                </a:lnTo>
                <a:cubicBezTo>
                  <a:pt x="62480" y="84722"/>
                  <a:pt x="60724" y="85746"/>
                  <a:pt x="58798" y="85843"/>
                </a:cubicBezTo>
                <a:cubicBezTo>
                  <a:pt x="56871" y="85941"/>
                  <a:pt x="55018" y="85063"/>
                  <a:pt x="53872" y="83502"/>
                </a:cubicBezTo>
                <a:lnTo>
                  <a:pt x="42166" y="67894"/>
                </a:lnTo>
                <a:cubicBezTo>
                  <a:pt x="40215" y="65309"/>
                  <a:pt x="40751" y="61651"/>
                  <a:pt x="43336" y="59700"/>
                </a:cubicBezTo>
                <a:cubicBezTo>
                  <a:pt x="45921" y="57749"/>
                  <a:pt x="49579" y="58286"/>
                  <a:pt x="51530" y="60871"/>
                </a:cubicBezTo>
                <a:lnTo>
                  <a:pt x="58115" y="69650"/>
                </a:lnTo>
                <a:lnTo>
                  <a:pt x="73089" y="45677"/>
                </a:lnTo>
                <a:cubicBezTo>
                  <a:pt x="74796" y="42946"/>
                  <a:pt x="78405" y="42093"/>
                  <a:pt x="81161" y="43824"/>
                </a:cubicBezTo>
                <a:cubicBezTo>
                  <a:pt x="83917" y="45556"/>
                  <a:pt x="84746" y="49140"/>
                  <a:pt x="83015" y="51896"/>
                </a:cubicBezTo>
                <a:close/>
              </a:path>
            </a:pathLst>
          </a:custGeom>
          <a:solidFill>
            <a:srgbClr val="10B981"/>
          </a:solidFill>
          <a:ln/>
        </p:spPr>
      </p:sp>
      <p:sp>
        <p:nvSpPr>
          <p:cNvPr id="44" name="Text 42"/>
          <p:cNvSpPr/>
          <p:nvPr/>
        </p:nvSpPr>
        <p:spPr>
          <a:xfrm>
            <a:off x="6707356" y="5114932"/>
            <a:ext cx="1971055" cy="178376"/>
          </a:xfrm>
          <a:prstGeom prst="rect">
            <a:avLst/>
          </a:prstGeom>
          <a:noFill/>
          <a:ln/>
        </p:spPr>
        <p:txBody>
          <a:bodyPr wrap="square" lIns="0" tIns="0" rIns="0" bIns="0" rtlCol="0" anchor="ctr"/>
          <a:lstStyle/>
          <a:p>
            <a:pPr>
              <a:lnSpc>
                <a:spcPct val="120000"/>
              </a:lnSpc>
            </a:pPr>
            <a:r>
              <a:rPr lang="en-US" sz="983" dirty="0">
                <a:solidFill>
                  <a:srgbClr val="F1F5F9">
                    <a:alpha val="80000"/>
                  </a:srgbClr>
                </a:solidFill>
                <a:latin typeface="MiSans" pitchFamily="34" charset="0"/>
                <a:ea typeface="MiSans" pitchFamily="34" charset="-122"/>
                <a:cs typeface="MiSans" pitchFamily="34" charset="-120"/>
              </a:rPr>
              <a:t>Audit trail trong commit message</a:t>
            </a:r>
            <a:endParaRPr lang="en-US" sz="1600" dirty="0"/>
          </a:p>
        </p:txBody>
      </p:sp>
      <p:sp>
        <p:nvSpPr>
          <p:cNvPr id="45" name="Shape 43"/>
          <p:cNvSpPr/>
          <p:nvPr/>
        </p:nvSpPr>
        <p:spPr>
          <a:xfrm>
            <a:off x="6190065" y="5774923"/>
            <a:ext cx="5645601" cy="722423"/>
          </a:xfrm>
          <a:custGeom>
            <a:avLst/>
            <a:gdLst/>
            <a:ahLst/>
            <a:cxnLst/>
            <a:rect l="l" t="t" r="r" b="b"/>
            <a:pathLst>
              <a:path w="5645601" h="722423">
                <a:moveTo>
                  <a:pt x="107027" y="0"/>
                </a:moveTo>
                <a:lnTo>
                  <a:pt x="5538574" y="0"/>
                </a:lnTo>
                <a:cubicBezTo>
                  <a:pt x="5597683" y="0"/>
                  <a:pt x="5645601" y="47918"/>
                  <a:pt x="5645601" y="107027"/>
                </a:cubicBezTo>
                <a:lnTo>
                  <a:pt x="5645601" y="615396"/>
                </a:lnTo>
                <a:cubicBezTo>
                  <a:pt x="5645601" y="674505"/>
                  <a:pt x="5597683" y="722423"/>
                  <a:pt x="5538574" y="722423"/>
                </a:cubicBezTo>
                <a:lnTo>
                  <a:pt x="107027" y="722423"/>
                </a:lnTo>
                <a:cubicBezTo>
                  <a:pt x="47918" y="722423"/>
                  <a:pt x="0" y="674505"/>
                  <a:pt x="0" y="615396"/>
                </a:cubicBezTo>
                <a:lnTo>
                  <a:pt x="0" y="107027"/>
                </a:lnTo>
                <a:cubicBezTo>
                  <a:pt x="0" y="47918"/>
                  <a:pt x="47918" y="0"/>
                  <a:pt x="107027" y="0"/>
                </a:cubicBezTo>
                <a:close/>
              </a:path>
            </a:pathLst>
          </a:custGeom>
          <a:gradFill rotWithShape="1" flip="none">
            <a:gsLst>
              <a:gs pos="0">
                <a:srgbClr val="EF4444">
                  <a:alpha val="10000"/>
                </a:srgbClr>
              </a:gs>
              <a:gs pos="100000">
                <a:srgbClr val="8B5CF6">
                  <a:alpha val="10000"/>
                </a:srgbClr>
              </a:gs>
            </a:gsLst>
            <a:lin ang="0" scaled="1"/>
          </a:gradFill>
          <a:ln w="12700">
            <a:solidFill>
              <a:srgbClr val="EF4444">
                <a:alpha val="30196"/>
              </a:srgbClr>
            </a:solidFill>
            <a:prstDash val="solid"/>
          </a:ln>
        </p:spPr>
      </p:sp>
      <p:sp>
        <p:nvSpPr>
          <p:cNvPr id="46" name="Shape 44"/>
          <p:cNvSpPr/>
          <p:nvPr/>
        </p:nvSpPr>
        <p:spPr>
          <a:xfrm>
            <a:off x="6355063" y="5966677"/>
            <a:ext cx="142701" cy="142701"/>
          </a:xfrm>
          <a:custGeom>
            <a:avLst/>
            <a:gdLst/>
            <a:ahLst/>
            <a:cxnLst/>
            <a:rect l="l" t="t" r="r" b="b"/>
            <a:pathLst>
              <a:path w="142701" h="142701">
                <a:moveTo>
                  <a:pt x="71350" y="142701"/>
                </a:moveTo>
                <a:cubicBezTo>
                  <a:pt x="110730" y="142701"/>
                  <a:pt x="142701" y="110730"/>
                  <a:pt x="142701" y="71350"/>
                </a:cubicBezTo>
                <a:cubicBezTo>
                  <a:pt x="142701" y="31971"/>
                  <a:pt x="110730" y="0"/>
                  <a:pt x="71350" y="0"/>
                </a:cubicBezTo>
                <a:cubicBezTo>
                  <a:pt x="31971" y="0"/>
                  <a:pt x="0" y="31971"/>
                  <a:pt x="0" y="71350"/>
                </a:cubicBezTo>
                <a:cubicBezTo>
                  <a:pt x="0" y="110730"/>
                  <a:pt x="31971" y="142701"/>
                  <a:pt x="71350" y="142701"/>
                </a:cubicBezTo>
                <a:close/>
                <a:moveTo>
                  <a:pt x="71350" y="37905"/>
                </a:moveTo>
                <a:cubicBezTo>
                  <a:pt x="75057" y="37905"/>
                  <a:pt x="78040" y="40887"/>
                  <a:pt x="78040" y="44594"/>
                </a:cubicBezTo>
                <a:lnTo>
                  <a:pt x="78040" y="75810"/>
                </a:lnTo>
                <a:cubicBezTo>
                  <a:pt x="78040" y="79517"/>
                  <a:pt x="75057" y="82499"/>
                  <a:pt x="71350" y="82499"/>
                </a:cubicBezTo>
                <a:cubicBezTo>
                  <a:pt x="67644" y="82499"/>
                  <a:pt x="64661" y="79517"/>
                  <a:pt x="64661" y="75810"/>
                </a:cubicBezTo>
                <a:lnTo>
                  <a:pt x="64661" y="44594"/>
                </a:lnTo>
                <a:cubicBezTo>
                  <a:pt x="64661" y="40887"/>
                  <a:pt x="67644" y="37905"/>
                  <a:pt x="71350" y="37905"/>
                </a:cubicBezTo>
                <a:close/>
                <a:moveTo>
                  <a:pt x="63909" y="98107"/>
                </a:moveTo>
                <a:cubicBezTo>
                  <a:pt x="63739" y="95345"/>
                  <a:pt x="65117" y="92717"/>
                  <a:pt x="67485" y="91284"/>
                </a:cubicBezTo>
                <a:cubicBezTo>
                  <a:pt x="69853" y="89852"/>
                  <a:pt x="72820" y="89852"/>
                  <a:pt x="75188" y="91284"/>
                </a:cubicBezTo>
                <a:cubicBezTo>
                  <a:pt x="77556" y="92717"/>
                  <a:pt x="78933" y="95345"/>
                  <a:pt x="78764" y="98107"/>
                </a:cubicBezTo>
                <a:cubicBezTo>
                  <a:pt x="78933" y="100869"/>
                  <a:pt x="77556" y="103497"/>
                  <a:pt x="75188" y="104929"/>
                </a:cubicBezTo>
                <a:cubicBezTo>
                  <a:pt x="72820" y="106362"/>
                  <a:pt x="69853" y="106362"/>
                  <a:pt x="67485" y="104929"/>
                </a:cubicBezTo>
                <a:cubicBezTo>
                  <a:pt x="65117" y="103497"/>
                  <a:pt x="63739" y="100869"/>
                  <a:pt x="63909" y="98107"/>
                </a:cubicBezTo>
                <a:close/>
              </a:path>
            </a:pathLst>
          </a:custGeom>
          <a:solidFill>
            <a:srgbClr val="EF4444"/>
          </a:solidFill>
          <a:ln/>
        </p:spPr>
      </p:sp>
      <p:sp>
        <p:nvSpPr>
          <p:cNvPr id="47" name="Text 45"/>
          <p:cNvSpPr/>
          <p:nvPr/>
        </p:nvSpPr>
        <p:spPr>
          <a:xfrm>
            <a:off x="6565709" y="5922083"/>
            <a:ext cx="5194147" cy="428102"/>
          </a:xfrm>
          <a:prstGeom prst="rect">
            <a:avLst/>
          </a:prstGeom>
          <a:noFill/>
          <a:ln/>
        </p:spPr>
        <p:txBody>
          <a:bodyPr wrap="square" lIns="0" tIns="0" rIns="0" bIns="0" rtlCol="0" anchor="ctr"/>
          <a:lstStyle/>
          <a:p>
            <a:pPr>
              <a:lnSpc>
                <a:spcPct val="130000"/>
              </a:lnSpc>
            </a:pPr>
            <a:r>
              <a:rPr lang="en-US" sz="1124" b="1" dirty="0">
                <a:solidFill>
                  <a:srgbClr val="F1F5F9">
                    <a:alpha val="90000"/>
                  </a:srgbClr>
                </a:solidFill>
                <a:latin typeface="MiSans" pitchFamily="34" charset="0"/>
                <a:ea typeface="MiSans" pitchFamily="34" charset="-122"/>
                <a:cs typeface="MiSans" pitchFamily="34" charset="-120"/>
              </a:rPr>
              <a:t>Quan trọng:</a:t>
            </a:r>
            <a:pPr>
              <a:lnSpc>
                <a:spcPct val="130000"/>
              </a:lnSpc>
            </a:pPr>
            <a:r>
              <a:rPr lang="en-US" sz="1124" dirty="0">
                <a:solidFill>
                  <a:srgbClr val="F1F5F9">
                    <a:alpha val="90000"/>
                  </a:srgbClr>
                </a:solidFill>
                <a:latin typeface="MiSans" pitchFamily="34" charset="0"/>
                <a:ea typeface="MiSans" pitchFamily="34" charset="-122"/>
                <a:cs typeface="MiSans" pitchFamily="34" charset="-120"/>
              </a:rPr>
              <a:t> Việc tích hợp GenAI vào luồng phát triển phần mềm mang lại rủi ro về mặt an toàn và bảo trì. Cần có governance rõ ràng để kiểm soát.</a:t>
            </a:r>
            <a:endParaRPr lang="en-US" sz="1600" dirty="0"/>
          </a:p>
        </p:txBody>
      </p:sp>
    </p:spTree>
  </p:cSld>
  <p:clrMapOvr>
    <a:masterClrMapping/>
  </p:clrMapOvr>
  <p:transition>
    <p:fade/>
    <p:spd val="med"/>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69735" y="443682"/>
            <a:ext cx="369735" cy="369735"/>
          </a:xfrm>
          <a:custGeom>
            <a:avLst/>
            <a:gdLst/>
            <a:ahLst/>
            <a:cxnLst/>
            <a:rect l="l" t="t" r="r" b="b"/>
            <a:pathLst>
              <a:path w="369735" h="369735">
                <a:moveTo>
                  <a:pt x="73947" y="0"/>
                </a:moveTo>
                <a:lnTo>
                  <a:pt x="295788" y="0"/>
                </a:lnTo>
                <a:cubicBezTo>
                  <a:pt x="336600" y="0"/>
                  <a:pt x="369735" y="33135"/>
                  <a:pt x="369735" y="73947"/>
                </a:cubicBezTo>
                <a:lnTo>
                  <a:pt x="369735" y="295788"/>
                </a:lnTo>
                <a:cubicBezTo>
                  <a:pt x="369735" y="336627"/>
                  <a:pt x="336627" y="369735"/>
                  <a:pt x="295788" y="369735"/>
                </a:cubicBezTo>
                <a:lnTo>
                  <a:pt x="73947" y="369735"/>
                </a:lnTo>
                <a:cubicBezTo>
                  <a:pt x="33135" y="369735"/>
                  <a:pt x="0" y="336600"/>
                  <a:pt x="0" y="295788"/>
                </a:cubicBezTo>
                <a:lnTo>
                  <a:pt x="0" y="73947"/>
                </a:lnTo>
                <a:cubicBezTo>
                  <a:pt x="0" y="33135"/>
                  <a:pt x="33135" y="0"/>
                  <a:pt x="73947" y="0"/>
                </a:cubicBezTo>
                <a:close/>
              </a:path>
            </a:pathLst>
          </a:custGeom>
          <a:solidFill>
            <a:srgbClr val="10B981"/>
          </a:solidFill>
          <a:ln/>
        </p:spPr>
      </p:sp>
      <p:sp>
        <p:nvSpPr>
          <p:cNvPr id="3" name="Shape 1"/>
          <p:cNvSpPr/>
          <p:nvPr/>
        </p:nvSpPr>
        <p:spPr>
          <a:xfrm>
            <a:off x="484121" y="545359"/>
            <a:ext cx="145583" cy="166381"/>
          </a:xfrm>
          <a:custGeom>
            <a:avLst/>
            <a:gdLst/>
            <a:ahLst/>
            <a:cxnLst/>
            <a:rect l="l" t="t" r="r" b="b"/>
            <a:pathLst>
              <a:path w="145583" h="166381">
                <a:moveTo>
                  <a:pt x="10399" y="0"/>
                </a:moveTo>
                <a:cubicBezTo>
                  <a:pt x="16151" y="0"/>
                  <a:pt x="20798" y="4647"/>
                  <a:pt x="20798" y="10399"/>
                </a:cubicBezTo>
                <a:lnTo>
                  <a:pt x="20798" y="15598"/>
                </a:lnTo>
                <a:lnTo>
                  <a:pt x="43220" y="10009"/>
                </a:lnTo>
                <a:cubicBezTo>
                  <a:pt x="55601" y="6922"/>
                  <a:pt x="68664" y="8352"/>
                  <a:pt x="80103" y="14071"/>
                </a:cubicBezTo>
                <a:cubicBezTo>
                  <a:pt x="95149" y="21610"/>
                  <a:pt x="112859" y="21610"/>
                  <a:pt x="127905" y="14071"/>
                </a:cubicBezTo>
                <a:lnTo>
                  <a:pt x="131025" y="12511"/>
                </a:lnTo>
                <a:cubicBezTo>
                  <a:pt x="137719" y="9131"/>
                  <a:pt x="145583" y="14006"/>
                  <a:pt x="145583" y="21480"/>
                </a:cubicBezTo>
                <a:lnTo>
                  <a:pt x="145583" y="112372"/>
                </a:lnTo>
                <a:cubicBezTo>
                  <a:pt x="145583" y="116694"/>
                  <a:pt x="142886" y="120593"/>
                  <a:pt x="138824" y="122121"/>
                </a:cubicBezTo>
                <a:lnTo>
                  <a:pt x="127548" y="126345"/>
                </a:lnTo>
                <a:cubicBezTo>
                  <a:pt x="112534" y="131967"/>
                  <a:pt x="95831" y="131090"/>
                  <a:pt x="81500" y="123941"/>
                </a:cubicBezTo>
                <a:cubicBezTo>
                  <a:pt x="69184" y="117766"/>
                  <a:pt x="55049" y="116239"/>
                  <a:pt x="41693" y="119586"/>
                </a:cubicBezTo>
                <a:lnTo>
                  <a:pt x="20798" y="124785"/>
                </a:lnTo>
                <a:lnTo>
                  <a:pt x="20798" y="155982"/>
                </a:lnTo>
                <a:cubicBezTo>
                  <a:pt x="20798" y="161734"/>
                  <a:pt x="16151" y="166381"/>
                  <a:pt x="10399" y="166381"/>
                </a:cubicBezTo>
                <a:cubicBezTo>
                  <a:pt x="4647" y="166381"/>
                  <a:pt x="0" y="161734"/>
                  <a:pt x="0" y="155982"/>
                </a:cubicBezTo>
                <a:lnTo>
                  <a:pt x="0" y="10399"/>
                </a:lnTo>
                <a:cubicBezTo>
                  <a:pt x="0" y="4647"/>
                  <a:pt x="4647" y="0"/>
                  <a:pt x="10399" y="0"/>
                </a:cubicBezTo>
                <a:close/>
                <a:moveTo>
                  <a:pt x="20798" y="60800"/>
                </a:moveTo>
                <a:lnTo>
                  <a:pt x="41595" y="56283"/>
                </a:lnTo>
                <a:lnTo>
                  <a:pt x="41595" y="77568"/>
                </a:lnTo>
                <a:lnTo>
                  <a:pt x="20798" y="82085"/>
                </a:lnTo>
                <a:lnTo>
                  <a:pt x="20798" y="103370"/>
                </a:lnTo>
                <a:lnTo>
                  <a:pt x="36656" y="99406"/>
                </a:lnTo>
                <a:cubicBezTo>
                  <a:pt x="38313" y="98983"/>
                  <a:pt x="39938" y="98626"/>
                  <a:pt x="41595" y="98334"/>
                </a:cubicBezTo>
                <a:lnTo>
                  <a:pt x="41595" y="77568"/>
                </a:lnTo>
                <a:lnTo>
                  <a:pt x="54236" y="74839"/>
                </a:lnTo>
                <a:cubicBezTo>
                  <a:pt x="56933" y="74254"/>
                  <a:pt x="59663" y="74026"/>
                  <a:pt x="62393" y="74156"/>
                </a:cubicBezTo>
                <a:lnTo>
                  <a:pt x="62393" y="53359"/>
                </a:lnTo>
                <a:cubicBezTo>
                  <a:pt x="66812" y="53489"/>
                  <a:pt x="71232" y="54204"/>
                  <a:pt x="75521" y="55439"/>
                </a:cubicBezTo>
                <a:lnTo>
                  <a:pt x="83190" y="57681"/>
                </a:lnTo>
                <a:lnTo>
                  <a:pt x="83190" y="79356"/>
                </a:lnTo>
                <a:lnTo>
                  <a:pt x="69639" y="75359"/>
                </a:lnTo>
                <a:cubicBezTo>
                  <a:pt x="67267" y="74676"/>
                  <a:pt x="64830" y="74254"/>
                  <a:pt x="62393" y="74124"/>
                </a:cubicBezTo>
                <a:lnTo>
                  <a:pt x="62393" y="97326"/>
                </a:lnTo>
                <a:cubicBezTo>
                  <a:pt x="69477" y="97944"/>
                  <a:pt x="76464" y="99503"/>
                  <a:pt x="83190" y="102006"/>
                </a:cubicBezTo>
                <a:lnTo>
                  <a:pt x="83190" y="79323"/>
                </a:lnTo>
                <a:lnTo>
                  <a:pt x="90567" y="81500"/>
                </a:lnTo>
                <a:cubicBezTo>
                  <a:pt x="94954" y="82800"/>
                  <a:pt x="99438" y="83580"/>
                  <a:pt x="103988" y="83905"/>
                </a:cubicBezTo>
                <a:lnTo>
                  <a:pt x="103988" y="63043"/>
                </a:lnTo>
                <a:cubicBezTo>
                  <a:pt x="101453" y="62783"/>
                  <a:pt x="98918" y="62295"/>
                  <a:pt x="96449" y="61580"/>
                </a:cubicBezTo>
                <a:lnTo>
                  <a:pt x="83190" y="57681"/>
                </a:lnTo>
                <a:lnTo>
                  <a:pt x="83190" y="37533"/>
                </a:lnTo>
                <a:cubicBezTo>
                  <a:pt x="78966" y="36298"/>
                  <a:pt x="74806" y="34673"/>
                  <a:pt x="70777" y="32659"/>
                </a:cubicBezTo>
                <a:cubicBezTo>
                  <a:pt x="68112" y="31326"/>
                  <a:pt x="65285" y="30384"/>
                  <a:pt x="62393" y="29799"/>
                </a:cubicBezTo>
                <a:lnTo>
                  <a:pt x="62393" y="53326"/>
                </a:lnTo>
                <a:cubicBezTo>
                  <a:pt x="58168" y="53196"/>
                  <a:pt x="53944" y="53586"/>
                  <a:pt x="49817" y="54496"/>
                </a:cubicBezTo>
                <a:lnTo>
                  <a:pt x="41595" y="56283"/>
                </a:lnTo>
                <a:lnTo>
                  <a:pt x="41595" y="31846"/>
                </a:lnTo>
                <a:lnTo>
                  <a:pt x="20798" y="37046"/>
                </a:lnTo>
                <a:lnTo>
                  <a:pt x="20798" y="60800"/>
                </a:lnTo>
                <a:close/>
                <a:moveTo>
                  <a:pt x="103988" y="109090"/>
                </a:moveTo>
                <a:cubicBezTo>
                  <a:pt x="109447" y="109577"/>
                  <a:pt x="115004" y="108862"/>
                  <a:pt x="120236" y="106880"/>
                </a:cubicBezTo>
                <a:lnTo>
                  <a:pt x="124785" y="105190"/>
                </a:lnTo>
                <a:lnTo>
                  <a:pt x="124785" y="81890"/>
                </a:lnTo>
                <a:lnTo>
                  <a:pt x="122218" y="82475"/>
                </a:lnTo>
                <a:cubicBezTo>
                  <a:pt x="116239" y="83873"/>
                  <a:pt x="110097" y="84328"/>
                  <a:pt x="103988" y="83938"/>
                </a:cubicBezTo>
                <a:lnTo>
                  <a:pt x="103988" y="109090"/>
                </a:lnTo>
                <a:close/>
                <a:moveTo>
                  <a:pt x="124785" y="60540"/>
                </a:moveTo>
                <a:lnTo>
                  <a:pt x="124785" y="37533"/>
                </a:lnTo>
                <a:cubicBezTo>
                  <a:pt x="117994" y="39515"/>
                  <a:pt x="111007" y="40490"/>
                  <a:pt x="103988" y="40490"/>
                </a:cubicBezTo>
                <a:lnTo>
                  <a:pt x="103988" y="63043"/>
                </a:lnTo>
                <a:cubicBezTo>
                  <a:pt x="108505" y="63498"/>
                  <a:pt x="113087" y="63205"/>
                  <a:pt x="117539" y="62198"/>
                </a:cubicBezTo>
                <a:lnTo>
                  <a:pt x="124785" y="60508"/>
                </a:lnTo>
                <a:close/>
              </a:path>
            </a:pathLst>
          </a:custGeom>
          <a:solidFill>
            <a:srgbClr val="FFFFFF"/>
          </a:solidFill>
          <a:ln/>
        </p:spPr>
      </p:sp>
      <p:sp>
        <p:nvSpPr>
          <p:cNvPr id="4" name="Text 2"/>
          <p:cNvSpPr/>
          <p:nvPr/>
        </p:nvSpPr>
        <p:spPr>
          <a:xfrm>
            <a:off x="850390" y="369735"/>
            <a:ext cx="3919187" cy="184867"/>
          </a:xfrm>
          <a:prstGeom prst="rect">
            <a:avLst/>
          </a:prstGeom>
          <a:noFill/>
          <a:ln/>
        </p:spPr>
        <p:txBody>
          <a:bodyPr wrap="square" lIns="0" tIns="0" rIns="0" bIns="0" rtlCol="0" anchor="ctr"/>
          <a:lstStyle/>
          <a:p>
            <a:pPr>
              <a:lnSpc>
                <a:spcPct val="120000"/>
              </a:lnSpc>
            </a:pPr>
            <a:r>
              <a:rPr lang="en-US" sz="1019" b="1" spc="51" kern="0" dirty="0">
                <a:solidFill>
                  <a:srgbClr val="10B981"/>
                </a:solidFill>
                <a:latin typeface="MiSans" pitchFamily="34" charset="0"/>
                <a:ea typeface="MiSans" pitchFamily="34" charset="-122"/>
                <a:cs typeface="MiSans" pitchFamily="34" charset="-120"/>
              </a:rPr>
              <a:t>CHƯƠNG 15 | KẾT LUẬN</a:t>
            </a:r>
            <a:endParaRPr lang="en-US" sz="1600" dirty="0"/>
          </a:p>
        </p:txBody>
      </p:sp>
      <p:sp>
        <p:nvSpPr>
          <p:cNvPr id="5" name="Text 3"/>
          <p:cNvSpPr/>
          <p:nvPr/>
        </p:nvSpPr>
        <p:spPr>
          <a:xfrm>
            <a:off x="850390" y="554602"/>
            <a:ext cx="3993134" cy="332761"/>
          </a:xfrm>
          <a:prstGeom prst="rect">
            <a:avLst/>
          </a:prstGeom>
          <a:noFill/>
          <a:ln/>
        </p:spPr>
        <p:txBody>
          <a:bodyPr wrap="square" lIns="0" tIns="0" rIns="0" bIns="0" rtlCol="0" anchor="ctr"/>
          <a:lstStyle/>
          <a:p>
            <a:pPr>
              <a:lnSpc>
                <a:spcPct val="100000"/>
              </a:lnSpc>
            </a:pPr>
            <a:r>
              <a:rPr lang="en-US" sz="2183" b="1" dirty="0">
                <a:solidFill>
                  <a:srgbClr val="F1F5F9"/>
                </a:solidFill>
                <a:latin typeface="MiSans" pitchFamily="34" charset="0"/>
                <a:ea typeface="MiSans" pitchFamily="34" charset="-122"/>
                <a:cs typeface="MiSans" pitchFamily="34" charset="-120"/>
              </a:rPr>
              <a:t>Kết luận: Giá trị thực sự của AI</a:t>
            </a:r>
            <a:endParaRPr lang="en-US" sz="1600" dirty="0"/>
          </a:p>
        </p:txBody>
      </p:sp>
      <p:sp>
        <p:nvSpPr>
          <p:cNvPr id="6" name="Shape 4"/>
          <p:cNvSpPr/>
          <p:nvPr/>
        </p:nvSpPr>
        <p:spPr>
          <a:xfrm>
            <a:off x="374356" y="1113826"/>
            <a:ext cx="5647697" cy="2375545"/>
          </a:xfrm>
          <a:custGeom>
            <a:avLst/>
            <a:gdLst/>
            <a:ahLst/>
            <a:cxnLst/>
            <a:rect l="l" t="t" r="r" b="b"/>
            <a:pathLst>
              <a:path w="5647697" h="2375545">
                <a:moveTo>
                  <a:pt x="110914" y="0"/>
                </a:moveTo>
                <a:lnTo>
                  <a:pt x="5536783" y="0"/>
                </a:lnTo>
                <a:cubicBezTo>
                  <a:pt x="5598039" y="0"/>
                  <a:pt x="5647697" y="49658"/>
                  <a:pt x="5647697" y="110914"/>
                </a:cubicBezTo>
                <a:lnTo>
                  <a:pt x="5647697" y="2264631"/>
                </a:lnTo>
                <a:cubicBezTo>
                  <a:pt x="5647697" y="2325887"/>
                  <a:pt x="5598039" y="2375545"/>
                  <a:pt x="5536783" y="2375545"/>
                </a:cubicBezTo>
                <a:lnTo>
                  <a:pt x="110914" y="2375545"/>
                </a:lnTo>
                <a:cubicBezTo>
                  <a:pt x="49658" y="2375545"/>
                  <a:pt x="0" y="2325887"/>
                  <a:pt x="0" y="2264631"/>
                </a:cubicBezTo>
                <a:lnTo>
                  <a:pt x="0" y="110914"/>
                </a:lnTo>
                <a:cubicBezTo>
                  <a:pt x="0" y="49699"/>
                  <a:pt x="49699" y="0"/>
                  <a:pt x="110914"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7" name="Shape 5"/>
          <p:cNvSpPr/>
          <p:nvPr/>
        </p:nvSpPr>
        <p:spPr>
          <a:xfrm>
            <a:off x="563845" y="1303315"/>
            <a:ext cx="443682" cy="443682"/>
          </a:xfrm>
          <a:custGeom>
            <a:avLst/>
            <a:gdLst/>
            <a:ahLst/>
            <a:cxnLst/>
            <a:rect l="l" t="t" r="r" b="b"/>
            <a:pathLst>
              <a:path w="443682" h="443682">
                <a:moveTo>
                  <a:pt x="110920" y="0"/>
                </a:moveTo>
                <a:lnTo>
                  <a:pt x="332761" y="0"/>
                </a:lnTo>
                <a:cubicBezTo>
                  <a:pt x="394021" y="0"/>
                  <a:pt x="443682" y="49661"/>
                  <a:pt x="443682" y="110920"/>
                </a:cubicBezTo>
                <a:lnTo>
                  <a:pt x="443682" y="332761"/>
                </a:lnTo>
                <a:cubicBezTo>
                  <a:pt x="443682" y="394021"/>
                  <a:pt x="394021" y="443682"/>
                  <a:pt x="332761" y="443682"/>
                </a:cubicBezTo>
                <a:lnTo>
                  <a:pt x="110920" y="443682"/>
                </a:lnTo>
                <a:cubicBezTo>
                  <a:pt x="49661" y="443682"/>
                  <a:pt x="0" y="394021"/>
                  <a:pt x="0" y="332761"/>
                </a:cubicBezTo>
                <a:lnTo>
                  <a:pt x="0" y="110920"/>
                </a:lnTo>
                <a:cubicBezTo>
                  <a:pt x="0" y="49661"/>
                  <a:pt x="49661" y="0"/>
                  <a:pt x="110920" y="0"/>
                </a:cubicBezTo>
                <a:close/>
              </a:path>
            </a:pathLst>
          </a:custGeom>
          <a:solidFill>
            <a:srgbClr val="10B981"/>
          </a:solidFill>
          <a:ln/>
        </p:spPr>
      </p:sp>
      <p:sp>
        <p:nvSpPr>
          <p:cNvPr id="8" name="Shape 6"/>
          <p:cNvSpPr/>
          <p:nvPr/>
        </p:nvSpPr>
        <p:spPr>
          <a:xfrm>
            <a:off x="693252" y="1432722"/>
            <a:ext cx="184867" cy="184867"/>
          </a:xfrm>
          <a:custGeom>
            <a:avLst/>
            <a:gdLst/>
            <a:ahLst/>
            <a:cxnLst/>
            <a:rect l="l" t="t" r="r" b="b"/>
            <a:pathLst>
              <a:path w="184867" h="184867">
                <a:moveTo>
                  <a:pt x="92434" y="184867"/>
                </a:moveTo>
                <a:cubicBezTo>
                  <a:pt x="143449" y="184867"/>
                  <a:pt x="184867" y="143449"/>
                  <a:pt x="184867" y="92434"/>
                </a:cubicBezTo>
                <a:cubicBezTo>
                  <a:pt x="184867" y="41418"/>
                  <a:pt x="143449" y="0"/>
                  <a:pt x="92434" y="0"/>
                </a:cubicBezTo>
                <a:cubicBezTo>
                  <a:pt x="41418" y="0"/>
                  <a:pt x="0" y="41418"/>
                  <a:pt x="0" y="92434"/>
                </a:cubicBezTo>
                <a:cubicBezTo>
                  <a:pt x="0" y="143449"/>
                  <a:pt x="41418" y="184867"/>
                  <a:pt x="92434" y="184867"/>
                </a:cubicBezTo>
                <a:close/>
                <a:moveTo>
                  <a:pt x="122908" y="76799"/>
                </a:moveTo>
                <a:lnTo>
                  <a:pt x="94022" y="123016"/>
                </a:lnTo>
                <a:cubicBezTo>
                  <a:pt x="92506" y="125435"/>
                  <a:pt x="89906" y="126952"/>
                  <a:pt x="87054" y="127096"/>
                </a:cubicBezTo>
                <a:cubicBezTo>
                  <a:pt x="84201" y="127241"/>
                  <a:pt x="81457" y="125941"/>
                  <a:pt x="79760" y="123630"/>
                </a:cubicBezTo>
                <a:lnTo>
                  <a:pt x="62429" y="100522"/>
                </a:lnTo>
                <a:cubicBezTo>
                  <a:pt x="59540" y="96694"/>
                  <a:pt x="60335" y="91278"/>
                  <a:pt x="64162" y="88390"/>
                </a:cubicBezTo>
                <a:cubicBezTo>
                  <a:pt x="67989" y="85501"/>
                  <a:pt x="73405" y="86295"/>
                  <a:pt x="76294" y="90123"/>
                </a:cubicBezTo>
                <a:lnTo>
                  <a:pt x="86043" y="103121"/>
                </a:lnTo>
                <a:lnTo>
                  <a:pt x="108212" y="67628"/>
                </a:lnTo>
                <a:cubicBezTo>
                  <a:pt x="110740" y="63584"/>
                  <a:pt x="116084" y="62321"/>
                  <a:pt x="120164" y="64884"/>
                </a:cubicBezTo>
                <a:cubicBezTo>
                  <a:pt x="124244" y="67448"/>
                  <a:pt x="125471" y="72755"/>
                  <a:pt x="122908" y="76835"/>
                </a:cubicBezTo>
                <a:close/>
              </a:path>
            </a:pathLst>
          </a:custGeom>
          <a:solidFill>
            <a:srgbClr val="FFFFFF"/>
          </a:solidFill>
          <a:ln/>
        </p:spPr>
      </p:sp>
      <p:sp>
        <p:nvSpPr>
          <p:cNvPr id="9" name="Text 7"/>
          <p:cNvSpPr/>
          <p:nvPr/>
        </p:nvSpPr>
        <p:spPr>
          <a:xfrm>
            <a:off x="1118447" y="1395748"/>
            <a:ext cx="1571372" cy="258814"/>
          </a:xfrm>
          <a:prstGeom prst="rect">
            <a:avLst/>
          </a:prstGeom>
          <a:noFill/>
          <a:ln/>
        </p:spPr>
        <p:txBody>
          <a:bodyPr wrap="square" lIns="0" tIns="0" rIns="0" bIns="0" rtlCol="0" anchor="ctr"/>
          <a:lstStyle/>
          <a:p>
            <a:pPr>
              <a:lnSpc>
                <a:spcPct val="120000"/>
              </a:lnSpc>
            </a:pPr>
            <a:r>
              <a:rPr lang="en-US" sz="1456" b="1" dirty="0">
                <a:solidFill>
                  <a:srgbClr val="F1F5F9"/>
                </a:solidFill>
                <a:latin typeface="MiSans" pitchFamily="34" charset="0"/>
                <a:ea typeface="MiSans" pitchFamily="34" charset="-122"/>
                <a:cs typeface="MiSans" pitchFamily="34" charset="-120"/>
              </a:rPr>
              <a:t>Khẳng định chính</a:t>
            </a:r>
            <a:endParaRPr lang="en-US" sz="1600" dirty="0"/>
          </a:p>
        </p:txBody>
      </p:sp>
      <p:sp>
        <p:nvSpPr>
          <p:cNvPr id="10" name="Text 8"/>
          <p:cNvSpPr/>
          <p:nvPr/>
        </p:nvSpPr>
        <p:spPr>
          <a:xfrm>
            <a:off x="563845" y="1857917"/>
            <a:ext cx="5342666" cy="665522"/>
          </a:xfrm>
          <a:prstGeom prst="rect">
            <a:avLst/>
          </a:prstGeom>
          <a:noFill/>
          <a:ln/>
        </p:spPr>
        <p:txBody>
          <a:bodyPr wrap="square" lIns="0" tIns="0" rIns="0" bIns="0" rtlCol="0" anchor="ctr"/>
          <a:lstStyle/>
          <a:p>
            <a:pPr>
              <a:lnSpc>
                <a:spcPct val="130000"/>
              </a:lnSpc>
            </a:pPr>
            <a:r>
              <a:rPr lang="en-US" sz="1165" dirty="0">
                <a:solidFill>
                  <a:srgbClr val="F1F5F9">
                    <a:alpha val="80000"/>
                  </a:srgbClr>
                </a:solidFill>
                <a:latin typeface="MiSans" pitchFamily="34" charset="0"/>
                <a:ea typeface="MiSans" pitchFamily="34" charset="-122"/>
                <a:cs typeface="MiSans" pitchFamily="34" charset="-120"/>
              </a:rPr>
              <a:t>Việc ứng dụng </a:t>
            </a:r>
            <a:pPr>
              <a:lnSpc>
                <a:spcPct val="130000"/>
              </a:lnSpc>
            </a:pPr>
            <a:r>
              <a:rPr lang="en-US" sz="1165" b="1" dirty="0">
                <a:solidFill>
                  <a:srgbClr val="10B981"/>
                </a:solidFill>
                <a:latin typeface="MiSans" pitchFamily="34" charset="0"/>
                <a:ea typeface="MiSans" pitchFamily="34" charset="-122"/>
                <a:cs typeface="MiSans" pitchFamily="34" charset="-120"/>
              </a:rPr>
              <a:t>Generative AI</a:t>
            </a:r>
            <a:pPr>
              <a:lnSpc>
                <a:spcPct val="130000"/>
              </a:lnSpc>
            </a:pPr>
            <a:r>
              <a:rPr lang="en-US" sz="1165" dirty="0">
                <a:solidFill>
                  <a:srgbClr val="F1F5F9">
                    <a:alpha val="80000"/>
                  </a:srgbClr>
                </a:solidFill>
                <a:latin typeface="MiSans" pitchFamily="34" charset="0"/>
                <a:ea typeface="MiSans" pitchFamily="34" charset="-122"/>
                <a:cs typeface="MiSans" pitchFamily="34" charset="-120"/>
              </a:rPr>
              <a:t>, kết hợp cùng chiến lược thiết kế Prompt có phương pháp </a:t>
            </a:r>
            <a:pPr>
              <a:lnSpc>
                <a:spcPct val="130000"/>
              </a:lnSpc>
            </a:pPr>
            <a:r>
              <a:rPr lang="en-US" sz="1165" b="1" dirty="0">
                <a:solidFill>
                  <a:srgbClr val="10B981"/>
                </a:solidFill>
                <a:latin typeface="MiSans" pitchFamily="34" charset="0"/>
                <a:ea typeface="MiSans" pitchFamily="34" charset="-122"/>
                <a:cs typeface="MiSans" pitchFamily="34" charset="-120"/>
              </a:rPr>
              <a:t>(Few-shot)</a:t>
            </a:r>
            <a:pPr>
              <a:lnSpc>
                <a:spcPct val="130000"/>
              </a:lnSpc>
            </a:pPr>
            <a:r>
              <a:rPr lang="en-US" sz="1165" dirty="0">
                <a:solidFill>
                  <a:srgbClr val="F1F5F9">
                    <a:alpha val="80000"/>
                  </a:srgbClr>
                </a:solidFill>
                <a:latin typeface="MiSans" pitchFamily="34" charset="0"/>
                <a:ea typeface="MiSans" pitchFamily="34" charset="-122"/>
                <a:cs typeface="MiSans" pitchFamily="34" charset="-120"/>
              </a:rPr>
              <a:t>, giải quyết xuất sắc bài toán sinh boilerplate code cho Decorator Pattern trong Python.</a:t>
            </a:r>
            <a:endParaRPr lang="en-US" sz="1600" dirty="0"/>
          </a:p>
        </p:txBody>
      </p:sp>
      <p:sp>
        <p:nvSpPr>
          <p:cNvPr id="11" name="Shape 9"/>
          <p:cNvSpPr/>
          <p:nvPr/>
        </p:nvSpPr>
        <p:spPr>
          <a:xfrm>
            <a:off x="563845" y="2634359"/>
            <a:ext cx="5268719" cy="591575"/>
          </a:xfrm>
          <a:custGeom>
            <a:avLst/>
            <a:gdLst/>
            <a:ahLst/>
            <a:cxnLst/>
            <a:rect l="l" t="t" r="r" b="b"/>
            <a:pathLst>
              <a:path w="5268719" h="591575">
                <a:moveTo>
                  <a:pt x="73947" y="0"/>
                </a:moveTo>
                <a:lnTo>
                  <a:pt x="5194772" y="0"/>
                </a:lnTo>
                <a:cubicBezTo>
                  <a:pt x="5235612" y="0"/>
                  <a:pt x="5268719" y="33107"/>
                  <a:pt x="5268719" y="73947"/>
                </a:cubicBezTo>
                <a:lnTo>
                  <a:pt x="5268719" y="517629"/>
                </a:lnTo>
                <a:cubicBezTo>
                  <a:pt x="5268719" y="558468"/>
                  <a:pt x="5235612" y="591575"/>
                  <a:pt x="5194772" y="591575"/>
                </a:cubicBezTo>
                <a:lnTo>
                  <a:pt x="73947" y="591575"/>
                </a:lnTo>
                <a:cubicBezTo>
                  <a:pt x="33107" y="591575"/>
                  <a:pt x="0" y="558468"/>
                  <a:pt x="0" y="517629"/>
                </a:cubicBezTo>
                <a:lnTo>
                  <a:pt x="0" y="73947"/>
                </a:lnTo>
                <a:cubicBezTo>
                  <a:pt x="0" y="33135"/>
                  <a:pt x="33135" y="0"/>
                  <a:pt x="73947" y="0"/>
                </a:cubicBezTo>
                <a:close/>
              </a:path>
            </a:pathLst>
          </a:custGeom>
          <a:solidFill>
            <a:srgbClr val="0F172A"/>
          </a:solidFill>
          <a:ln/>
        </p:spPr>
      </p:sp>
      <p:sp>
        <p:nvSpPr>
          <p:cNvPr id="12" name="Shape 10"/>
          <p:cNvSpPr/>
          <p:nvPr/>
        </p:nvSpPr>
        <p:spPr>
          <a:xfrm>
            <a:off x="709428" y="2782253"/>
            <a:ext cx="97055" cy="129407"/>
          </a:xfrm>
          <a:custGeom>
            <a:avLst/>
            <a:gdLst/>
            <a:ahLst/>
            <a:cxnLst/>
            <a:rect l="l" t="t" r="r" b="b"/>
            <a:pathLst>
              <a:path w="97055" h="129407">
                <a:moveTo>
                  <a:pt x="74030" y="97055"/>
                </a:moveTo>
                <a:cubicBezTo>
                  <a:pt x="75875" y="91419"/>
                  <a:pt x="79565" y="86314"/>
                  <a:pt x="83736" y="81916"/>
                </a:cubicBezTo>
                <a:cubicBezTo>
                  <a:pt x="92000" y="73221"/>
                  <a:pt x="97055" y="61468"/>
                  <a:pt x="97055" y="48528"/>
                </a:cubicBezTo>
                <a:cubicBezTo>
                  <a:pt x="97055" y="21736"/>
                  <a:pt x="75319" y="0"/>
                  <a:pt x="48528" y="0"/>
                </a:cubicBezTo>
                <a:cubicBezTo>
                  <a:pt x="21736" y="0"/>
                  <a:pt x="0" y="21736"/>
                  <a:pt x="0" y="48528"/>
                </a:cubicBezTo>
                <a:cubicBezTo>
                  <a:pt x="0" y="61468"/>
                  <a:pt x="5055" y="73221"/>
                  <a:pt x="13320" y="81916"/>
                </a:cubicBezTo>
                <a:cubicBezTo>
                  <a:pt x="17490" y="86314"/>
                  <a:pt x="21206" y="91419"/>
                  <a:pt x="23025" y="97055"/>
                </a:cubicBezTo>
                <a:lnTo>
                  <a:pt x="74005" y="97055"/>
                </a:lnTo>
                <a:close/>
                <a:moveTo>
                  <a:pt x="72792" y="109187"/>
                </a:moveTo>
                <a:lnTo>
                  <a:pt x="24264" y="109187"/>
                </a:lnTo>
                <a:lnTo>
                  <a:pt x="24264" y="113231"/>
                </a:lnTo>
                <a:cubicBezTo>
                  <a:pt x="24264" y="124403"/>
                  <a:pt x="33312" y="133451"/>
                  <a:pt x="44484" y="133451"/>
                </a:cubicBezTo>
                <a:lnTo>
                  <a:pt x="52572" y="133451"/>
                </a:lnTo>
                <a:cubicBezTo>
                  <a:pt x="63743" y="133451"/>
                  <a:pt x="72792" y="124403"/>
                  <a:pt x="72792" y="113231"/>
                </a:cubicBezTo>
                <a:lnTo>
                  <a:pt x="72792" y="109187"/>
                </a:lnTo>
                <a:close/>
                <a:moveTo>
                  <a:pt x="46506" y="28308"/>
                </a:moveTo>
                <a:cubicBezTo>
                  <a:pt x="36446" y="28308"/>
                  <a:pt x="28308" y="36446"/>
                  <a:pt x="28308" y="46506"/>
                </a:cubicBezTo>
                <a:cubicBezTo>
                  <a:pt x="28308" y="49867"/>
                  <a:pt x="25603" y="52572"/>
                  <a:pt x="22242" y="52572"/>
                </a:cubicBezTo>
                <a:cubicBezTo>
                  <a:pt x="18880" y="52572"/>
                  <a:pt x="16176" y="49867"/>
                  <a:pt x="16176" y="46506"/>
                </a:cubicBezTo>
                <a:cubicBezTo>
                  <a:pt x="16176" y="29748"/>
                  <a:pt x="29748" y="16176"/>
                  <a:pt x="46506" y="16176"/>
                </a:cubicBezTo>
                <a:cubicBezTo>
                  <a:pt x="49867" y="16176"/>
                  <a:pt x="52572" y="18880"/>
                  <a:pt x="52572" y="22242"/>
                </a:cubicBezTo>
                <a:cubicBezTo>
                  <a:pt x="52572" y="25603"/>
                  <a:pt x="49867" y="28308"/>
                  <a:pt x="46506" y="28308"/>
                </a:cubicBezTo>
                <a:close/>
              </a:path>
            </a:pathLst>
          </a:custGeom>
          <a:solidFill>
            <a:srgbClr val="F59E0B"/>
          </a:solidFill>
          <a:ln/>
        </p:spPr>
      </p:sp>
      <p:sp>
        <p:nvSpPr>
          <p:cNvPr id="13" name="Text 11"/>
          <p:cNvSpPr/>
          <p:nvPr/>
        </p:nvSpPr>
        <p:spPr>
          <a:xfrm>
            <a:off x="894967" y="2745280"/>
            <a:ext cx="4891381" cy="369735"/>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Phân tích hệ thống qua 3 mức Ý tưởng, Luận lý và Vật lý giúp mô hình hóa rõ ràng giới hạn và luồng dữ liệu của AI.</a:t>
            </a:r>
            <a:endParaRPr lang="en-US" sz="1600" dirty="0"/>
          </a:p>
        </p:txBody>
      </p:sp>
      <p:sp>
        <p:nvSpPr>
          <p:cNvPr id="14" name="Shape 12"/>
          <p:cNvSpPr/>
          <p:nvPr/>
        </p:nvSpPr>
        <p:spPr>
          <a:xfrm>
            <a:off x="6175002" y="1113826"/>
            <a:ext cx="5647697" cy="2375545"/>
          </a:xfrm>
          <a:custGeom>
            <a:avLst/>
            <a:gdLst/>
            <a:ahLst/>
            <a:cxnLst/>
            <a:rect l="l" t="t" r="r" b="b"/>
            <a:pathLst>
              <a:path w="5647697" h="2375545">
                <a:moveTo>
                  <a:pt x="110914" y="0"/>
                </a:moveTo>
                <a:lnTo>
                  <a:pt x="5536783" y="0"/>
                </a:lnTo>
                <a:cubicBezTo>
                  <a:pt x="5598039" y="0"/>
                  <a:pt x="5647697" y="49658"/>
                  <a:pt x="5647697" y="110914"/>
                </a:cubicBezTo>
                <a:lnTo>
                  <a:pt x="5647697" y="2264631"/>
                </a:lnTo>
                <a:cubicBezTo>
                  <a:pt x="5647697" y="2325887"/>
                  <a:pt x="5598039" y="2375545"/>
                  <a:pt x="5536783" y="2375545"/>
                </a:cubicBezTo>
                <a:lnTo>
                  <a:pt x="110914" y="2375545"/>
                </a:lnTo>
                <a:cubicBezTo>
                  <a:pt x="49658" y="2375545"/>
                  <a:pt x="0" y="2325887"/>
                  <a:pt x="0" y="2264631"/>
                </a:cubicBezTo>
                <a:lnTo>
                  <a:pt x="0" y="110914"/>
                </a:lnTo>
                <a:cubicBezTo>
                  <a:pt x="0" y="49699"/>
                  <a:pt x="49699" y="0"/>
                  <a:pt x="110914"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15" name="Shape 13"/>
          <p:cNvSpPr/>
          <p:nvPr/>
        </p:nvSpPr>
        <p:spPr>
          <a:xfrm>
            <a:off x="6364491" y="1303315"/>
            <a:ext cx="443682" cy="443682"/>
          </a:xfrm>
          <a:custGeom>
            <a:avLst/>
            <a:gdLst/>
            <a:ahLst/>
            <a:cxnLst/>
            <a:rect l="l" t="t" r="r" b="b"/>
            <a:pathLst>
              <a:path w="443682" h="443682">
                <a:moveTo>
                  <a:pt x="110920" y="0"/>
                </a:moveTo>
                <a:lnTo>
                  <a:pt x="332761" y="0"/>
                </a:lnTo>
                <a:cubicBezTo>
                  <a:pt x="394021" y="0"/>
                  <a:pt x="443682" y="49661"/>
                  <a:pt x="443682" y="110920"/>
                </a:cubicBezTo>
                <a:lnTo>
                  <a:pt x="443682" y="332761"/>
                </a:lnTo>
                <a:cubicBezTo>
                  <a:pt x="443682" y="394021"/>
                  <a:pt x="394021" y="443682"/>
                  <a:pt x="332761" y="443682"/>
                </a:cubicBezTo>
                <a:lnTo>
                  <a:pt x="110920" y="443682"/>
                </a:lnTo>
                <a:cubicBezTo>
                  <a:pt x="49661" y="443682"/>
                  <a:pt x="0" y="394021"/>
                  <a:pt x="0" y="332761"/>
                </a:cubicBezTo>
                <a:lnTo>
                  <a:pt x="0" y="110920"/>
                </a:lnTo>
                <a:cubicBezTo>
                  <a:pt x="0" y="49661"/>
                  <a:pt x="49661" y="0"/>
                  <a:pt x="110920" y="0"/>
                </a:cubicBezTo>
                <a:close/>
              </a:path>
            </a:pathLst>
          </a:custGeom>
          <a:solidFill>
            <a:srgbClr val="3B82F6"/>
          </a:solidFill>
          <a:ln/>
        </p:spPr>
      </p:sp>
      <p:sp>
        <p:nvSpPr>
          <p:cNvPr id="16" name="Shape 14"/>
          <p:cNvSpPr/>
          <p:nvPr/>
        </p:nvSpPr>
        <p:spPr>
          <a:xfrm>
            <a:off x="6493898" y="1432722"/>
            <a:ext cx="184867" cy="184867"/>
          </a:xfrm>
          <a:custGeom>
            <a:avLst/>
            <a:gdLst/>
            <a:ahLst/>
            <a:cxnLst/>
            <a:rect l="l" t="t" r="r" b="b"/>
            <a:pathLst>
              <a:path w="184867" h="184867">
                <a:moveTo>
                  <a:pt x="92434" y="184867"/>
                </a:moveTo>
                <a:cubicBezTo>
                  <a:pt x="143449" y="184867"/>
                  <a:pt x="184867" y="143449"/>
                  <a:pt x="184867" y="92434"/>
                </a:cubicBezTo>
                <a:cubicBezTo>
                  <a:pt x="184867" y="41418"/>
                  <a:pt x="143449" y="0"/>
                  <a:pt x="92434" y="0"/>
                </a:cubicBezTo>
                <a:cubicBezTo>
                  <a:pt x="41418" y="0"/>
                  <a:pt x="0" y="41418"/>
                  <a:pt x="0" y="92434"/>
                </a:cubicBezTo>
                <a:cubicBezTo>
                  <a:pt x="0" y="143449"/>
                  <a:pt x="41418" y="184867"/>
                  <a:pt x="92434" y="184867"/>
                </a:cubicBezTo>
                <a:close/>
                <a:moveTo>
                  <a:pt x="92434" y="49105"/>
                </a:moveTo>
                <a:cubicBezTo>
                  <a:pt x="97236" y="49105"/>
                  <a:pt x="101099" y="52969"/>
                  <a:pt x="101099" y="57771"/>
                </a:cubicBezTo>
                <a:lnTo>
                  <a:pt x="101099" y="98211"/>
                </a:lnTo>
                <a:cubicBezTo>
                  <a:pt x="101099" y="103013"/>
                  <a:pt x="97236" y="106876"/>
                  <a:pt x="92434" y="106876"/>
                </a:cubicBezTo>
                <a:cubicBezTo>
                  <a:pt x="87631" y="106876"/>
                  <a:pt x="83768" y="103013"/>
                  <a:pt x="83768" y="98211"/>
                </a:cubicBezTo>
                <a:lnTo>
                  <a:pt x="83768" y="57771"/>
                </a:lnTo>
                <a:cubicBezTo>
                  <a:pt x="83768" y="52969"/>
                  <a:pt x="87631" y="49105"/>
                  <a:pt x="92434" y="49105"/>
                </a:cubicBezTo>
                <a:close/>
                <a:moveTo>
                  <a:pt x="82793" y="127096"/>
                </a:moveTo>
                <a:cubicBezTo>
                  <a:pt x="82574" y="123518"/>
                  <a:pt x="84358" y="120113"/>
                  <a:pt x="87426" y="118258"/>
                </a:cubicBezTo>
                <a:cubicBezTo>
                  <a:pt x="90494" y="116402"/>
                  <a:pt x="94338" y="116402"/>
                  <a:pt x="97405" y="118258"/>
                </a:cubicBezTo>
                <a:cubicBezTo>
                  <a:pt x="100473" y="120113"/>
                  <a:pt x="102257" y="123518"/>
                  <a:pt x="102038" y="127096"/>
                </a:cubicBezTo>
                <a:cubicBezTo>
                  <a:pt x="102257" y="130675"/>
                  <a:pt x="100473" y="134079"/>
                  <a:pt x="97405" y="135935"/>
                </a:cubicBezTo>
                <a:cubicBezTo>
                  <a:pt x="94338" y="137790"/>
                  <a:pt x="90494" y="137790"/>
                  <a:pt x="87426" y="135935"/>
                </a:cubicBezTo>
                <a:cubicBezTo>
                  <a:pt x="84358" y="134079"/>
                  <a:pt x="82574" y="130675"/>
                  <a:pt x="82793" y="127096"/>
                </a:cubicBezTo>
                <a:close/>
              </a:path>
            </a:pathLst>
          </a:custGeom>
          <a:solidFill>
            <a:srgbClr val="FFFFFF"/>
          </a:solidFill>
          <a:ln/>
        </p:spPr>
      </p:sp>
      <p:sp>
        <p:nvSpPr>
          <p:cNvPr id="17" name="Text 15"/>
          <p:cNvSpPr/>
          <p:nvPr/>
        </p:nvSpPr>
        <p:spPr>
          <a:xfrm>
            <a:off x="6919093" y="1395748"/>
            <a:ext cx="1774726" cy="258814"/>
          </a:xfrm>
          <a:prstGeom prst="rect">
            <a:avLst/>
          </a:prstGeom>
          <a:noFill/>
          <a:ln/>
        </p:spPr>
        <p:txBody>
          <a:bodyPr wrap="square" lIns="0" tIns="0" rIns="0" bIns="0" rtlCol="0" anchor="ctr"/>
          <a:lstStyle/>
          <a:p>
            <a:pPr>
              <a:lnSpc>
                <a:spcPct val="120000"/>
              </a:lnSpc>
            </a:pPr>
            <a:r>
              <a:rPr lang="en-US" sz="1456" b="1" dirty="0">
                <a:solidFill>
                  <a:srgbClr val="F1F5F9"/>
                </a:solidFill>
                <a:latin typeface="MiSans" pitchFamily="34" charset="0"/>
                <a:ea typeface="MiSans" pitchFamily="34" charset="-122"/>
                <a:cs typeface="MiSans" pitchFamily="34" charset="-120"/>
              </a:rPr>
              <a:t>Hạn chế quan trọng</a:t>
            </a:r>
            <a:endParaRPr lang="en-US" sz="1600" dirty="0"/>
          </a:p>
        </p:txBody>
      </p:sp>
      <p:sp>
        <p:nvSpPr>
          <p:cNvPr id="18" name="Text 16"/>
          <p:cNvSpPr/>
          <p:nvPr/>
        </p:nvSpPr>
        <p:spPr>
          <a:xfrm>
            <a:off x="6364491" y="1867160"/>
            <a:ext cx="2793374" cy="203354"/>
          </a:xfrm>
          <a:prstGeom prst="rect">
            <a:avLst/>
          </a:prstGeom>
          <a:noFill/>
          <a:ln/>
        </p:spPr>
        <p:txBody>
          <a:bodyPr wrap="square" lIns="0" tIns="0" rIns="0" bIns="0" rtlCol="0" anchor="ctr"/>
          <a:lstStyle/>
          <a:p>
            <a:pPr>
              <a:lnSpc>
                <a:spcPct val="130000"/>
              </a:lnSpc>
            </a:pPr>
            <a:r>
              <a:rPr lang="en-US" sz="1165" b="1" dirty="0">
                <a:solidFill>
                  <a:srgbClr val="EF4444"/>
                </a:solidFill>
                <a:latin typeface="MiSans" pitchFamily="34" charset="0"/>
                <a:ea typeface="MiSans" pitchFamily="34" charset="-122"/>
                <a:cs typeface="MiSans" pitchFamily="34" charset="-120"/>
              </a:rPr>
              <a:t>AI không thay thế được tư duy kiến trúc.</a:t>
            </a:r>
            <a:endParaRPr lang="en-US" sz="1600" dirty="0"/>
          </a:p>
        </p:txBody>
      </p:sp>
      <p:sp>
        <p:nvSpPr>
          <p:cNvPr id="19" name="Shape 17"/>
          <p:cNvSpPr/>
          <p:nvPr/>
        </p:nvSpPr>
        <p:spPr>
          <a:xfrm>
            <a:off x="6364491" y="2190678"/>
            <a:ext cx="5268719" cy="1109204"/>
          </a:xfrm>
          <a:custGeom>
            <a:avLst/>
            <a:gdLst/>
            <a:ahLst/>
            <a:cxnLst/>
            <a:rect l="l" t="t" r="r" b="b"/>
            <a:pathLst>
              <a:path w="5268719" h="1109204">
                <a:moveTo>
                  <a:pt x="73951" y="0"/>
                </a:moveTo>
                <a:lnTo>
                  <a:pt x="5194768" y="0"/>
                </a:lnTo>
                <a:cubicBezTo>
                  <a:pt x="5235610" y="0"/>
                  <a:pt x="5268719" y="33109"/>
                  <a:pt x="5268719" y="73951"/>
                </a:cubicBezTo>
                <a:lnTo>
                  <a:pt x="5268719" y="1035253"/>
                </a:lnTo>
                <a:cubicBezTo>
                  <a:pt x="5268719" y="1076095"/>
                  <a:pt x="5235610" y="1109204"/>
                  <a:pt x="5194768" y="1109204"/>
                </a:cubicBezTo>
                <a:lnTo>
                  <a:pt x="73951" y="1109204"/>
                </a:lnTo>
                <a:cubicBezTo>
                  <a:pt x="33109" y="1109204"/>
                  <a:pt x="0" y="1076095"/>
                  <a:pt x="0" y="1035253"/>
                </a:cubicBezTo>
                <a:lnTo>
                  <a:pt x="0" y="73951"/>
                </a:lnTo>
                <a:cubicBezTo>
                  <a:pt x="0" y="33136"/>
                  <a:pt x="33136" y="0"/>
                  <a:pt x="73951" y="0"/>
                </a:cubicBezTo>
                <a:close/>
              </a:path>
            </a:pathLst>
          </a:custGeom>
          <a:solidFill>
            <a:srgbClr val="0F172A"/>
          </a:solidFill>
          <a:ln/>
        </p:spPr>
      </p:sp>
      <p:sp>
        <p:nvSpPr>
          <p:cNvPr id="20" name="Text 18"/>
          <p:cNvSpPr/>
          <p:nvPr/>
        </p:nvSpPr>
        <p:spPr>
          <a:xfrm>
            <a:off x="6475411" y="2301598"/>
            <a:ext cx="5111582"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Giá trị thực sự của AI nằm ở:</a:t>
            </a:r>
            <a:endParaRPr lang="en-US" sz="1600" dirty="0"/>
          </a:p>
        </p:txBody>
      </p:sp>
      <p:sp>
        <p:nvSpPr>
          <p:cNvPr id="21" name="Shape 19"/>
          <p:cNvSpPr/>
          <p:nvPr/>
        </p:nvSpPr>
        <p:spPr>
          <a:xfrm>
            <a:off x="6501986" y="2597386"/>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3B82F6"/>
          </a:solidFill>
          <a:ln/>
        </p:spPr>
      </p:sp>
      <p:sp>
        <p:nvSpPr>
          <p:cNvPr id="22" name="Text 20"/>
          <p:cNvSpPr/>
          <p:nvPr/>
        </p:nvSpPr>
        <p:spPr>
          <a:xfrm>
            <a:off x="6711117" y="2560412"/>
            <a:ext cx="3133501" cy="184867"/>
          </a:xfrm>
          <a:prstGeom prst="rect">
            <a:avLst/>
          </a:prstGeom>
          <a:noFill/>
          <a:ln/>
        </p:spPr>
        <p:txBody>
          <a:bodyPr wrap="square" lIns="0" tIns="0" rIns="0" bIns="0" rtlCol="0" anchor="ctr"/>
          <a:lstStyle/>
          <a:p>
            <a:pPr>
              <a:lnSpc>
                <a:spcPct val="120000"/>
              </a:lnSpc>
            </a:pPr>
            <a:r>
              <a:rPr lang="en-US" sz="1019" dirty="0">
                <a:solidFill>
                  <a:srgbClr val="F1F5F9">
                    <a:alpha val="80000"/>
                  </a:srgbClr>
                </a:solidFill>
                <a:latin typeface="MiSans" pitchFamily="34" charset="0"/>
                <a:ea typeface="MiSans" pitchFamily="34" charset="-122"/>
                <a:cs typeface="MiSans" pitchFamily="34" charset="-120"/>
              </a:rPr>
              <a:t>Giảm thiểu chi phí sức lao động ở tầng mã cấp thấp</a:t>
            </a:r>
            <a:endParaRPr lang="en-US" sz="1600" dirty="0"/>
          </a:p>
        </p:txBody>
      </p:sp>
      <p:sp>
        <p:nvSpPr>
          <p:cNvPr id="23" name="Shape 21"/>
          <p:cNvSpPr/>
          <p:nvPr/>
        </p:nvSpPr>
        <p:spPr>
          <a:xfrm>
            <a:off x="6501986" y="2819227"/>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3B82F6"/>
          </a:solidFill>
          <a:ln/>
        </p:spPr>
      </p:sp>
      <p:sp>
        <p:nvSpPr>
          <p:cNvPr id="24" name="Text 22"/>
          <p:cNvSpPr/>
          <p:nvPr/>
        </p:nvSpPr>
        <p:spPr>
          <a:xfrm>
            <a:off x="6711117" y="2782253"/>
            <a:ext cx="3327612" cy="184867"/>
          </a:xfrm>
          <a:prstGeom prst="rect">
            <a:avLst/>
          </a:prstGeom>
          <a:noFill/>
          <a:ln/>
        </p:spPr>
        <p:txBody>
          <a:bodyPr wrap="square" lIns="0" tIns="0" rIns="0" bIns="0" rtlCol="0" anchor="ctr"/>
          <a:lstStyle/>
          <a:p>
            <a:pPr>
              <a:lnSpc>
                <a:spcPct val="120000"/>
              </a:lnSpc>
            </a:pPr>
            <a:r>
              <a:rPr lang="en-US" sz="1019" dirty="0">
                <a:solidFill>
                  <a:srgbClr val="F1F5F9">
                    <a:alpha val="80000"/>
                  </a:srgbClr>
                </a:solidFill>
                <a:latin typeface="MiSans" pitchFamily="34" charset="0"/>
                <a:ea typeface="MiSans" pitchFamily="34" charset="-122"/>
                <a:cs typeface="MiSans" pitchFamily="34" charset="-120"/>
              </a:rPr>
              <a:t>Cho phép lập trình viên tập trung vào thiết kế hệ thống</a:t>
            </a:r>
            <a:endParaRPr lang="en-US" sz="1600" dirty="0"/>
          </a:p>
        </p:txBody>
      </p:sp>
      <p:sp>
        <p:nvSpPr>
          <p:cNvPr id="25" name="Shape 23"/>
          <p:cNvSpPr/>
          <p:nvPr/>
        </p:nvSpPr>
        <p:spPr>
          <a:xfrm>
            <a:off x="6501986" y="3041067"/>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3B82F6"/>
          </a:solidFill>
          <a:ln/>
        </p:spPr>
      </p:sp>
      <p:sp>
        <p:nvSpPr>
          <p:cNvPr id="26" name="Text 24"/>
          <p:cNvSpPr/>
          <p:nvPr/>
        </p:nvSpPr>
        <p:spPr>
          <a:xfrm>
            <a:off x="6711117" y="3004094"/>
            <a:ext cx="2061271" cy="184867"/>
          </a:xfrm>
          <a:prstGeom prst="rect">
            <a:avLst/>
          </a:prstGeom>
          <a:noFill/>
          <a:ln/>
        </p:spPr>
        <p:txBody>
          <a:bodyPr wrap="square" lIns="0" tIns="0" rIns="0" bIns="0" rtlCol="0" anchor="ctr"/>
          <a:lstStyle/>
          <a:p>
            <a:pPr>
              <a:lnSpc>
                <a:spcPct val="120000"/>
              </a:lnSpc>
            </a:pPr>
            <a:r>
              <a:rPr lang="en-US" sz="1019" dirty="0">
                <a:solidFill>
                  <a:srgbClr val="F1F5F9">
                    <a:alpha val="80000"/>
                  </a:srgbClr>
                </a:solidFill>
                <a:latin typeface="MiSans" pitchFamily="34" charset="0"/>
                <a:ea typeface="MiSans" pitchFamily="34" charset="-122"/>
                <a:cs typeface="MiSans" pitchFamily="34" charset="-120"/>
              </a:rPr>
              <a:t>Review chất lượng và governance</a:t>
            </a:r>
            <a:endParaRPr lang="en-US" sz="1600" dirty="0"/>
          </a:p>
        </p:txBody>
      </p:sp>
      <p:sp>
        <p:nvSpPr>
          <p:cNvPr id="27" name="Shape 25"/>
          <p:cNvSpPr/>
          <p:nvPr/>
        </p:nvSpPr>
        <p:spPr>
          <a:xfrm>
            <a:off x="374356" y="3646508"/>
            <a:ext cx="11443287" cy="2227651"/>
          </a:xfrm>
          <a:custGeom>
            <a:avLst/>
            <a:gdLst/>
            <a:ahLst/>
            <a:cxnLst/>
            <a:rect l="l" t="t" r="r" b="b"/>
            <a:pathLst>
              <a:path w="11443287" h="2227651">
                <a:moveTo>
                  <a:pt x="110915" y="0"/>
                </a:moveTo>
                <a:lnTo>
                  <a:pt x="11332373" y="0"/>
                </a:lnTo>
                <a:cubicBezTo>
                  <a:pt x="11393629" y="0"/>
                  <a:pt x="11443287" y="49658"/>
                  <a:pt x="11443287" y="110915"/>
                </a:cubicBezTo>
                <a:lnTo>
                  <a:pt x="11443287" y="2116736"/>
                </a:lnTo>
                <a:cubicBezTo>
                  <a:pt x="11443287" y="2177993"/>
                  <a:pt x="11393629" y="2227651"/>
                  <a:pt x="11332373" y="2227651"/>
                </a:cubicBezTo>
                <a:lnTo>
                  <a:pt x="110915" y="2227651"/>
                </a:lnTo>
                <a:cubicBezTo>
                  <a:pt x="49658" y="2227651"/>
                  <a:pt x="0" y="2177993"/>
                  <a:pt x="0" y="2116736"/>
                </a:cubicBezTo>
                <a:lnTo>
                  <a:pt x="0" y="110915"/>
                </a:lnTo>
                <a:cubicBezTo>
                  <a:pt x="0" y="49699"/>
                  <a:pt x="49699" y="0"/>
                  <a:pt x="110915"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28" name="Shape 26"/>
          <p:cNvSpPr/>
          <p:nvPr/>
        </p:nvSpPr>
        <p:spPr>
          <a:xfrm>
            <a:off x="586954" y="3872970"/>
            <a:ext cx="184867" cy="184867"/>
          </a:xfrm>
          <a:custGeom>
            <a:avLst/>
            <a:gdLst/>
            <a:ahLst/>
            <a:cxnLst/>
            <a:rect l="l" t="t" r="r" b="b"/>
            <a:pathLst>
              <a:path w="184867" h="184867">
                <a:moveTo>
                  <a:pt x="48311" y="13107"/>
                </a:moveTo>
                <a:cubicBezTo>
                  <a:pt x="52247" y="15851"/>
                  <a:pt x="53185" y="21267"/>
                  <a:pt x="50441" y="25167"/>
                </a:cubicBezTo>
                <a:lnTo>
                  <a:pt x="30221" y="54052"/>
                </a:lnTo>
                <a:cubicBezTo>
                  <a:pt x="28741" y="56146"/>
                  <a:pt x="26430" y="57482"/>
                  <a:pt x="23867" y="57699"/>
                </a:cubicBezTo>
                <a:cubicBezTo>
                  <a:pt x="21303" y="57915"/>
                  <a:pt x="18776" y="57049"/>
                  <a:pt x="16970" y="55244"/>
                </a:cubicBezTo>
                <a:lnTo>
                  <a:pt x="2527" y="40801"/>
                </a:lnTo>
                <a:cubicBezTo>
                  <a:pt x="-830" y="37407"/>
                  <a:pt x="-830" y="31918"/>
                  <a:pt x="2527" y="28524"/>
                </a:cubicBezTo>
                <a:cubicBezTo>
                  <a:pt x="5885" y="25130"/>
                  <a:pt x="11410" y="25167"/>
                  <a:pt x="14804" y="28524"/>
                </a:cubicBezTo>
                <a:lnTo>
                  <a:pt x="21953" y="35674"/>
                </a:lnTo>
                <a:lnTo>
                  <a:pt x="36251" y="15237"/>
                </a:lnTo>
                <a:cubicBezTo>
                  <a:pt x="38995" y="11301"/>
                  <a:pt x="44411" y="10363"/>
                  <a:pt x="48311" y="13107"/>
                </a:cubicBezTo>
                <a:close/>
                <a:moveTo>
                  <a:pt x="48311" y="70878"/>
                </a:moveTo>
                <a:cubicBezTo>
                  <a:pt x="52247" y="73622"/>
                  <a:pt x="53185" y="79038"/>
                  <a:pt x="50441" y="82938"/>
                </a:cubicBezTo>
                <a:lnTo>
                  <a:pt x="30221" y="111823"/>
                </a:lnTo>
                <a:cubicBezTo>
                  <a:pt x="28741" y="113917"/>
                  <a:pt x="26430" y="115253"/>
                  <a:pt x="23867" y="115470"/>
                </a:cubicBezTo>
                <a:cubicBezTo>
                  <a:pt x="21303" y="115687"/>
                  <a:pt x="18776" y="114820"/>
                  <a:pt x="16970" y="113015"/>
                </a:cubicBezTo>
                <a:lnTo>
                  <a:pt x="2527" y="98572"/>
                </a:lnTo>
                <a:cubicBezTo>
                  <a:pt x="-867" y="95178"/>
                  <a:pt x="-867" y="89690"/>
                  <a:pt x="2527" y="86332"/>
                </a:cubicBezTo>
                <a:cubicBezTo>
                  <a:pt x="5922" y="82974"/>
                  <a:pt x="11410" y="82938"/>
                  <a:pt x="14768" y="86332"/>
                </a:cubicBezTo>
                <a:lnTo>
                  <a:pt x="21917" y="93481"/>
                </a:lnTo>
                <a:lnTo>
                  <a:pt x="36215" y="73044"/>
                </a:lnTo>
                <a:cubicBezTo>
                  <a:pt x="38959" y="69109"/>
                  <a:pt x="44375" y="68170"/>
                  <a:pt x="48275" y="70914"/>
                </a:cubicBezTo>
                <a:close/>
                <a:moveTo>
                  <a:pt x="80879" y="34663"/>
                </a:moveTo>
                <a:cubicBezTo>
                  <a:pt x="80879" y="28272"/>
                  <a:pt x="86043" y="23108"/>
                  <a:pt x="92434" y="23108"/>
                </a:cubicBezTo>
                <a:lnTo>
                  <a:pt x="173313" y="23108"/>
                </a:lnTo>
                <a:cubicBezTo>
                  <a:pt x="179704" y="23108"/>
                  <a:pt x="184867" y="28272"/>
                  <a:pt x="184867" y="34663"/>
                </a:cubicBezTo>
                <a:cubicBezTo>
                  <a:pt x="184867" y="41054"/>
                  <a:pt x="179704" y="46217"/>
                  <a:pt x="173313" y="46217"/>
                </a:cubicBezTo>
                <a:lnTo>
                  <a:pt x="92434" y="46217"/>
                </a:lnTo>
                <a:cubicBezTo>
                  <a:pt x="86043" y="46217"/>
                  <a:pt x="80879" y="41054"/>
                  <a:pt x="80879" y="34663"/>
                </a:cubicBezTo>
                <a:close/>
                <a:moveTo>
                  <a:pt x="80879" y="92434"/>
                </a:moveTo>
                <a:cubicBezTo>
                  <a:pt x="80879" y="86043"/>
                  <a:pt x="86043" y="80879"/>
                  <a:pt x="92434" y="80879"/>
                </a:cubicBezTo>
                <a:lnTo>
                  <a:pt x="173313" y="80879"/>
                </a:lnTo>
                <a:cubicBezTo>
                  <a:pt x="179704" y="80879"/>
                  <a:pt x="184867" y="86043"/>
                  <a:pt x="184867" y="92434"/>
                </a:cubicBezTo>
                <a:cubicBezTo>
                  <a:pt x="184867" y="98825"/>
                  <a:pt x="179704" y="103988"/>
                  <a:pt x="173313" y="103988"/>
                </a:cubicBezTo>
                <a:lnTo>
                  <a:pt x="92434" y="103988"/>
                </a:lnTo>
                <a:cubicBezTo>
                  <a:pt x="86043" y="103988"/>
                  <a:pt x="80879" y="98825"/>
                  <a:pt x="80879" y="92434"/>
                </a:cubicBezTo>
                <a:close/>
                <a:moveTo>
                  <a:pt x="57771" y="150205"/>
                </a:moveTo>
                <a:cubicBezTo>
                  <a:pt x="57771" y="143814"/>
                  <a:pt x="62934" y="138650"/>
                  <a:pt x="69325" y="138650"/>
                </a:cubicBezTo>
                <a:lnTo>
                  <a:pt x="173313" y="138650"/>
                </a:lnTo>
                <a:cubicBezTo>
                  <a:pt x="179704" y="138650"/>
                  <a:pt x="184867" y="143814"/>
                  <a:pt x="184867" y="150205"/>
                </a:cubicBezTo>
                <a:cubicBezTo>
                  <a:pt x="184867" y="156596"/>
                  <a:pt x="179704" y="161759"/>
                  <a:pt x="173313" y="161759"/>
                </a:cubicBezTo>
                <a:lnTo>
                  <a:pt x="69325" y="161759"/>
                </a:lnTo>
                <a:cubicBezTo>
                  <a:pt x="62934" y="161759"/>
                  <a:pt x="57771" y="156596"/>
                  <a:pt x="57771" y="150205"/>
                </a:cubicBezTo>
                <a:close/>
                <a:moveTo>
                  <a:pt x="23108" y="135762"/>
                </a:moveTo>
                <a:cubicBezTo>
                  <a:pt x="31080" y="135762"/>
                  <a:pt x="37551" y="142234"/>
                  <a:pt x="37551" y="150205"/>
                </a:cubicBezTo>
                <a:cubicBezTo>
                  <a:pt x="37551" y="158176"/>
                  <a:pt x="31080" y="164647"/>
                  <a:pt x="23108" y="164647"/>
                </a:cubicBezTo>
                <a:cubicBezTo>
                  <a:pt x="15137" y="164647"/>
                  <a:pt x="8666" y="158176"/>
                  <a:pt x="8666" y="150205"/>
                </a:cubicBezTo>
                <a:cubicBezTo>
                  <a:pt x="8666" y="142234"/>
                  <a:pt x="15137" y="135762"/>
                  <a:pt x="23108" y="135762"/>
                </a:cubicBezTo>
                <a:close/>
              </a:path>
            </a:pathLst>
          </a:custGeom>
          <a:solidFill>
            <a:srgbClr val="3B82F6"/>
          </a:solidFill>
          <a:ln/>
        </p:spPr>
      </p:sp>
      <p:sp>
        <p:nvSpPr>
          <p:cNvPr id="29" name="Text 27"/>
          <p:cNvSpPr/>
          <p:nvPr/>
        </p:nvSpPr>
        <p:spPr>
          <a:xfrm>
            <a:off x="794929" y="3835997"/>
            <a:ext cx="10925659" cy="258814"/>
          </a:xfrm>
          <a:prstGeom prst="rect">
            <a:avLst/>
          </a:prstGeom>
          <a:noFill/>
          <a:ln/>
        </p:spPr>
        <p:txBody>
          <a:bodyPr wrap="square" lIns="0" tIns="0" rIns="0" bIns="0" rtlCol="0" anchor="ctr"/>
          <a:lstStyle/>
          <a:p>
            <a:pPr>
              <a:lnSpc>
                <a:spcPct val="120000"/>
              </a:lnSpc>
            </a:pPr>
            <a:r>
              <a:rPr lang="en-US" sz="1456" b="1" dirty="0">
                <a:solidFill>
                  <a:srgbClr val="F1F5F9"/>
                </a:solidFill>
                <a:latin typeface="MiSans" pitchFamily="34" charset="0"/>
                <a:ea typeface="MiSans" pitchFamily="34" charset="-122"/>
                <a:cs typeface="MiSans" pitchFamily="34" charset="-120"/>
              </a:rPr>
              <a:t>Tóm tắt các điểm chính</a:t>
            </a:r>
            <a:endParaRPr lang="en-US" sz="1600" dirty="0"/>
          </a:p>
        </p:txBody>
      </p:sp>
      <p:sp>
        <p:nvSpPr>
          <p:cNvPr id="30" name="Shape 28"/>
          <p:cNvSpPr/>
          <p:nvPr/>
        </p:nvSpPr>
        <p:spPr>
          <a:xfrm>
            <a:off x="563845" y="4242705"/>
            <a:ext cx="295788" cy="295788"/>
          </a:xfrm>
          <a:custGeom>
            <a:avLst/>
            <a:gdLst/>
            <a:ahLst/>
            <a:cxnLst/>
            <a:rect l="l" t="t" r="r" b="b"/>
            <a:pathLst>
              <a:path w="295788" h="295788">
                <a:moveTo>
                  <a:pt x="147894" y="0"/>
                </a:moveTo>
                <a:lnTo>
                  <a:pt x="147894" y="0"/>
                </a:lnTo>
                <a:cubicBezTo>
                  <a:pt x="229519" y="0"/>
                  <a:pt x="295788" y="66269"/>
                  <a:pt x="295788" y="147894"/>
                </a:cubicBezTo>
                <a:lnTo>
                  <a:pt x="295788" y="147894"/>
                </a:lnTo>
                <a:cubicBezTo>
                  <a:pt x="295788" y="229519"/>
                  <a:pt x="229519" y="295788"/>
                  <a:pt x="147894" y="295788"/>
                </a:cubicBezTo>
                <a:lnTo>
                  <a:pt x="147894" y="295788"/>
                </a:lnTo>
                <a:cubicBezTo>
                  <a:pt x="66269" y="295788"/>
                  <a:pt x="0" y="229519"/>
                  <a:pt x="0" y="147894"/>
                </a:cubicBezTo>
                <a:lnTo>
                  <a:pt x="0" y="147894"/>
                </a:lnTo>
                <a:cubicBezTo>
                  <a:pt x="0" y="66269"/>
                  <a:pt x="66269" y="0"/>
                  <a:pt x="147894" y="0"/>
                </a:cubicBezTo>
                <a:close/>
              </a:path>
            </a:pathLst>
          </a:custGeom>
          <a:solidFill>
            <a:srgbClr val="3B82F6">
              <a:alpha val="20000"/>
            </a:srgbClr>
          </a:solidFill>
          <a:ln/>
        </p:spPr>
      </p:sp>
      <p:sp>
        <p:nvSpPr>
          <p:cNvPr id="31" name="Shape 29"/>
          <p:cNvSpPr/>
          <p:nvPr/>
        </p:nvSpPr>
        <p:spPr>
          <a:xfrm>
            <a:off x="657434" y="4325895"/>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3B82F6"/>
          </a:solidFill>
          <a:ln/>
        </p:spPr>
      </p:sp>
      <p:sp>
        <p:nvSpPr>
          <p:cNvPr id="32" name="Text 30"/>
          <p:cNvSpPr/>
          <p:nvPr/>
        </p:nvSpPr>
        <p:spPr>
          <a:xfrm>
            <a:off x="970553" y="4242705"/>
            <a:ext cx="2116731" cy="221841"/>
          </a:xfrm>
          <a:prstGeom prst="rect">
            <a:avLst/>
          </a:prstGeom>
          <a:noFill/>
          <a:ln/>
        </p:spPr>
        <p:txBody>
          <a:bodyPr wrap="square" lIns="0" tIns="0" rIns="0" bIns="0" rtlCol="0" anchor="ctr"/>
          <a:lstStyle/>
          <a:p>
            <a:pPr>
              <a:lnSpc>
                <a:spcPct val="130000"/>
              </a:lnSpc>
            </a:pPr>
            <a:r>
              <a:rPr lang="en-US" sz="1165" b="1" dirty="0">
                <a:solidFill>
                  <a:srgbClr val="F1F5F9"/>
                </a:solidFill>
                <a:latin typeface="MiSans" pitchFamily="34" charset="0"/>
                <a:ea typeface="MiSans" pitchFamily="34" charset="-122"/>
                <a:cs typeface="MiSans" pitchFamily="34" charset="-120"/>
              </a:rPr>
              <a:t>Few-shot &gt; Zero-shot</a:t>
            </a:r>
            <a:endParaRPr lang="en-US" sz="1600" dirty="0"/>
          </a:p>
        </p:txBody>
      </p:sp>
      <p:sp>
        <p:nvSpPr>
          <p:cNvPr id="33" name="Text 31"/>
          <p:cNvSpPr/>
          <p:nvPr/>
        </p:nvSpPr>
        <p:spPr>
          <a:xfrm>
            <a:off x="970553" y="4464546"/>
            <a:ext cx="2107487"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Tạo sự khác biệt lớn về độ ổn định</a:t>
            </a:r>
            <a:endParaRPr lang="en-US" sz="1600" dirty="0"/>
          </a:p>
        </p:txBody>
      </p:sp>
      <p:sp>
        <p:nvSpPr>
          <p:cNvPr id="34" name="Shape 32"/>
          <p:cNvSpPr/>
          <p:nvPr/>
        </p:nvSpPr>
        <p:spPr>
          <a:xfrm>
            <a:off x="563845" y="4760334"/>
            <a:ext cx="295788" cy="295788"/>
          </a:xfrm>
          <a:custGeom>
            <a:avLst/>
            <a:gdLst/>
            <a:ahLst/>
            <a:cxnLst/>
            <a:rect l="l" t="t" r="r" b="b"/>
            <a:pathLst>
              <a:path w="295788" h="295788">
                <a:moveTo>
                  <a:pt x="147894" y="0"/>
                </a:moveTo>
                <a:lnTo>
                  <a:pt x="147894" y="0"/>
                </a:lnTo>
                <a:cubicBezTo>
                  <a:pt x="229519" y="0"/>
                  <a:pt x="295788" y="66269"/>
                  <a:pt x="295788" y="147894"/>
                </a:cubicBezTo>
                <a:lnTo>
                  <a:pt x="295788" y="147894"/>
                </a:lnTo>
                <a:cubicBezTo>
                  <a:pt x="295788" y="229519"/>
                  <a:pt x="229519" y="295788"/>
                  <a:pt x="147894" y="295788"/>
                </a:cubicBezTo>
                <a:lnTo>
                  <a:pt x="147894" y="295788"/>
                </a:lnTo>
                <a:cubicBezTo>
                  <a:pt x="66269" y="295788"/>
                  <a:pt x="0" y="229519"/>
                  <a:pt x="0" y="147894"/>
                </a:cubicBezTo>
                <a:lnTo>
                  <a:pt x="0" y="147894"/>
                </a:lnTo>
                <a:cubicBezTo>
                  <a:pt x="0" y="66269"/>
                  <a:pt x="66269" y="0"/>
                  <a:pt x="147894" y="0"/>
                </a:cubicBezTo>
                <a:close/>
              </a:path>
            </a:pathLst>
          </a:custGeom>
          <a:solidFill>
            <a:srgbClr val="8B5CF6">
              <a:alpha val="20000"/>
            </a:srgbClr>
          </a:solidFill>
          <a:ln/>
        </p:spPr>
      </p:sp>
      <p:sp>
        <p:nvSpPr>
          <p:cNvPr id="35" name="Shape 33"/>
          <p:cNvSpPr/>
          <p:nvPr/>
        </p:nvSpPr>
        <p:spPr>
          <a:xfrm>
            <a:off x="657434" y="4843524"/>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8B5CF6"/>
          </a:solidFill>
          <a:ln/>
        </p:spPr>
      </p:sp>
      <p:sp>
        <p:nvSpPr>
          <p:cNvPr id="36" name="Text 34"/>
          <p:cNvSpPr/>
          <p:nvPr/>
        </p:nvSpPr>
        <p:spPr>
          <a:xfrm>
            <a:off x="970553" y="4760334"/>
            <a:ext cx="1765483" cy="221841"/>
          </a:xfrm>
          <a:prstGeom prst="rect">
            <a:avLst/>
          </a:prstGeom>
          <a:noFill/>
          <a:ln/>
        </p:spPr>
        <p:txBody>
          <a:bodyPr wrap="square" lIns="0" tIns="0" rIns="0" bIns="0" rtlCol="0" anchor="ctr"/>
          <a:lstStyle/>
          <a:p>
            <a:pPr>
              <a:lnSpc>
                <a:spcPct val="130000"/>
              </a:lnSpc>
            </a:pPr>
            <a:r>
              <a:rPr lang="en-US" sz="1165" b="1" dirty="0">
                <a:solidFill>
                  <a:srgbClr val="F1F5F9"/>
                </a:solidFill>
                <a:latin typeface="MiSans" pitchFamily="34" charset="0"/>
                <a:ea typeface="MiSans" pitchFamily="34" charset="-122"/>
                <a:cs typeface="MiSans" pitchFamily="34" charset="-120"/>
              </a:rPr>
              <a:t>gpt-5-chat xuất sắc nhất</a:t>
            </a:r>
            <a:endParaRPr lang="en-US" sz="1600" dirty="0"/>
          </a:p>
        </p:txBody>
      </p:sp>
      <p:sp>
        <p:nvSpPr>
          <p:cNvPr id="37" name="Text 35"/>
          <p:cNvSpPr/>
          <p:nvPr/>
        </p:nvSpPr>
        <p:spPr>
          <a:xfrm>
            <a:off x="970553" y="4982174"/>
            <a:ext cx="1756240"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Đầu ra sạch, tích hợp CI/CD</a:t>
            </a:r>
            <a:endParaRPr lang="en-US" sz="1600" dirty="0"/>
          </a:p>
        </p:txBody>
      </p:sp>
      <p:sp>
        <p:nvSpPr>
          <p:cNvPr id="38" name="Shape 36"/>
          <p:cNvSpPr/>
          <p:nvPr/>
        </p:nvSpPr>
        <p:spPr>
          <a:xfrm>
            <a:off x="563845" y="5277962"/>
            <a:ext cx="295788" cy="295788"/>
          </a:xfrm>
          <a:custGeom>
            <a:avLst/>
            <a:gdLst/>
            <a:ahLst/>
            <a:cxnLst/>
            <a:rect l="l" t="t" r="r" b="b"/>
            <a:pathLst>
              <a:path w="295788" h="295788">
                <a:moveTo>
                  <a:pt x="147894" y="0"/>
                </a:moveTo>
                <a:lnTo>
                  <a:pt x="147894" y="0"/>
                </a:lnTo>
                <a:cubicBezTo>
                  <a:pt x="229519" y="0"/>
                  <a:pt x="295788" y="66269"/>
                  <a:pt x="295788" y="147894"/>
                </a:cubicBezTo>
                <a:lnTo>
                  <a:pt x="295788" y="147894"/>
                </a:lnTo>
                <a:cubicBezTo>
                  <a:pt x="295788" y="229519"/>
                  <a:pt x="229519" y="295788"/>
                  <a:pt x="147894" y="295788"/>
                </a:cubicBezTo>
                <a:lnTo>
                  <a:pt x="147894" y="295788"/>
                </a:lnTo>
                <a:cubicBezTo>
                  <a:pt x="66269" y="295788"/>
                  <a:pt x="0" y="229519"/>
                  <a:pt x="0" y="147894"/>
                </a:cubicBezTo>
                <a:lnTo>
                  <a:pt x="0" y="147894"/>
                </a:lnTo>
                <a:cubicBezTo>
                  <a:pt x="0" y="66269"/>
                  <a:pt x="66269" y="0"/>
                  <a:pt x="147894" y="0"/>
                </a:cubicBezTo>
                <a:close/>
              </a:path>
            </a:pathLst>
          </a:custGeom>
          <a:solidFill>
            <a:srgbClr val="10B981">
              <a:alpha val="20000"/>
            </a:srgbClr>
          </a:solidFill>
          <a:ln/>
        </p:spPr>
      </p:sp>
      <p:sp>
        <p:nvSpPr>
          <p:cNvPr id="39" name="Shape 37"/>
          <p:cNvSpPr/>
          <p:nvPr/>
        </p:nvSpPr>
        <p:spPr>
          <a:xfrm>
            <a:off x="657434" y="5361152"/>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10B981"/>
          </a:solidFill>
          <a:ln/>
        </p:spPr>
      </p:sp>
      <p:sp>
        <p:nvSpPr>
          <p:cNvPr id="40" name="Text 38"/>
          <p:cNvSpPr/>
          <p:nvPr/>
        </p:nvSpPr>
        <p:spPr>
          <a:xfrm>
            <a:off x="970553" y="5277962"/>
            <a:ext cx="2172191" cy="221841"/>
          </a:xfrm>
          <a:prstGeom prst="rect">
            <a:avLst/>
          </a:prstGeom>
          <a:noFill/>
          <a:ln/>
        </p:spPr>
        <p:txBody>
          <a:bodyPr wrap="square" lIns="0" tIns="0" rIns="0" bIns="0" rtlCol="0" anchor="ctr"/>
          <a:lstStyle/>
          <a:p>
            <a:pPr>
              <a:lnSpc>
                <a:spcPct val="130000"/>
              </a:lnSpc>
            </a:pPr>
            <a:r>
              <a:rPr lang="en-US" sz="1165" b="1" dirty="0">
                <a:solidFill>
                  <a:srgbClr val="F1F5F9"/>
                </a:solidFill>
                <a:latin typeface="MiSans" pitchFamily="34" charset="0"/>
                <a:ea typeface="MiSans" pitchFamily="34" charset="-122"/>
                <a:cs typeface="MiSans" pitchFamily="34" charset="-120"/>
              </a:rPr>
              <a:t>Validation 3 lớp</a:t>
            </a:r>
            <a:endParaRPr lang="en-US" sz="1600" dirty="0"/>
          </a:p>
        </p:txBody>
      </p:sp>
      <p:sp>
        <p:nvSpPr>
          <p:cNvPr id="41" name="Text 39"/>
          <p:cNvSpPr/>
          <p:nvPr/>
        </p:nvSpPr>
        <p:spPr>
          <a:xfrm>
            <a:off x="970553" y="5499803"/>
            <a:ext cx="2162948"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Đảm bảo độ tin cậy cho production</a:t>
            </a:r>
            <a:endParaRPr lang="en-US" sz="1600" dirty="0"/>
          </a:p>
        </p:txBody>
      </p:sp>
      <p:sp>
        <p:nvSpPr>
          <p:cNvPr id="42" name="Shape 40"/>
          <p:cNvSpPr/>
          <p:nvPr/>
        </p:nvSpPr>
        <p:spPr>
          <a:xfrm>
            <a:off x="6170380" y="4242705"/>
            <a:ext cx="295788" cy="295788"/>
          </a:xfrm>
          <a:custGeom>
            <a:avLst/>
            <a:gdLst/>
            <a:ahLst/>
            <a:cxnLst/>
            <a:rect l="l" t="t" r="r" b="b"/>
            <a:pathLst>
              <a:path w="295788" h="295788">
                <a:moveTo>
                  <a:pt x="147894" y="0"/>
                </a:moveTo>
                <a:lnTo>
                  <a:pt x="147894" y="0"/>
                </a:lnTo>
                <a:cubicBezTo>
                  <a:pt x="229519" y="0"/>
                  <a:pt x="295788" y="66269"/>
                  <a:pt x="295788" y="147894"/>
                </a:cubicBezTo>
                <a:lnTo>
                  <a:pt x="295788" y="147894"/>
                </a:lnTo>
                <a:cubicBezTo>
                  <a:pt x="295788" y="229519"/>
                  <a:pt x="229519" y="295788"/>
                  <a:pt x="147894" y="295788"/>
                </a:cubicBezTo>
                <a:lnTo>
                  <a:pt x="147894" y="295788"/>
                </a:lnTo>
                <a:cubicBezTo>
                  <a:pt x="66269" y="295788"/>
                  <a:pt x="0" y="229519"/>
                  <a:pt x="0" y="147894"/>
                </a:cubicBezTo>
                <a:lnTo>
                  <a:pt x="0" y="147894"/>
                </a:lnTo>
                <a:cubicBezTo>
                  <a:pt x="0" y="66269"/>
                  <a:pt x="66269" y="0"/>
                  <a:pt x="147894" y="0"/>
                </a:cubicBezTo>
                <a:close/>
              </a:path>
            </a:pathLst>
          </a:custGeom>
          <a:solidFill>
            <a:srgbClr val="F59E0B">
              <a:alpha val="20000"/>
            </a:srgbClr>
          </a:solidFill>
          <a:ln/>
        </p:spPr>
      </p:sp>
      <p:sp>
        <p:nvSpPr>
          <p:cNvPr id="43" name="Shape 41"/>
          <p:cNvSpPr/>
          <p:nvPr/>
        </p:nvSpPr>
        <p:spPr>
          <a:xfrm>
            <a:off x="6263969" y="4325895"/>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F59E0B"/>
          </a:solidFill>
          <a:ln/>
        </p:spPr>
      </p:sp>
      <p:sp>
        <p:nvSpPr>
          <p:cNvPr id="44" name="Text 42"/>
          <p:cNvSpPr/>
          <p:nvPr/>
        </p:nvSpPr>
        <p:spPr>
          <a:xfrm>
            <a:off x="6577088" y="4242705"/>
            <a:ext cx="2061271" cy="221841"/>
          </a:xfrm>
          <a:prstGeom prst="rect">
            <a:avLst/>
          </a:prstGeom>
          <a:noFill/>
          <a:ln/>
        </p:spPr>
        <p:txBody>
          <a:bodyPr wrap="square" lIns="0" tIns="0" rIns="0" bIns="0" rtlCol="0" anchor="ctr"/>
          <a:lstStyle/>
          <a:p>
            <a:pPr>
              <a:lnSpc>
                <a:spcPct val="130000"/>
              </a:lnSpc>
            </a:pPr>
            <a:r>
              <a:rPr lang="en-US" sz="1165" b="1" dirty="0">
                <a:solidFill>
                  <a:srgbClr val="F1F5F9"/>
                </a:solidFill>
                <a:latin typeface="MiSans" pitchFamily="34" charset="0"/>
                <a:ea typeface="MiSans" pitchFamily="34" charset="-122"/>
                <a:cs typeface="MiSans" pitchFamily="34" charset="-120"/>
              </a:rPr>
              <a:t>Governance là bắt buộc</a:t>
            </a:r>
            <a:endParaRPr lang="en-US" sz="1600" dirty="0"/>
          </a:p>
        </p:txBody>
      </p:sp>
      <p:sp>
        <p:nvSpPr>
          <p:cNvPr id="45" name="Text 43"/>
          <p:cNvSpPr/>
          <p:nvPr/>
        </p:nvSpPr>
        <p:spPr>
          <a:xfrm>
            <a:off x="6577088" y="4464546"/>
            <a:ext cx="2052027"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Prompt versioning, human review</a:t>
            </a:r>
            <a:endParaRPr lang="en-US" sz="1600" dirty="0"/>
          </a:p>
        </p:txBody>
      </p:sp>
      <p:sp>
        <p:nvSpPr>
          <p:cNvPr id="46" name="Shape 44"/>
          <p:cNvSpPr/>
          <p:nvPr/>
        </p:nvSpPr>
        <p:spPr>
          <a:xfrm>
            <a:off x="6170380" y="4760334"/>
            <a:ext cx="295788" cy="295788"/>
          </a:xfrm>
          <a:custGeom>
            <a:avLst/>
            <a:gdLst/>
            <a:ahLst/>
            <a:cxnLst/>
            <a:rect l="l" t="t" r="r" b="b"/>
            <a:pathLst>
              <a:path w="295788" h="295788">
                <a:moveTo>
                  <a:pt x="147894" y="0"/>
                </a:moveTo>
                <a:lnTo>
                  <a:pt x="147894" y="0"/>
                </a:lnTo>
                <a:cubicBezTo>
                  <a:pt x="229519" y="0"/>
                  <a:pt x="295788" y="66269"/>
                  <a:pt x="295788" y="147894"/>
                </a:cubicBezTo>
                <a:lnTo>
                  <a:pt x="295788" y="147894"/>
                </a:lnTo>
                <a:cubicBezTo>
                  <a:pt x="295788" y="229519"/>
                  <a:pt x="229519" y="295788"/>
                  <a:pt x="147894" y="295788"/>
                </a:cubicBezTo>
                <a:lnTo>
                  <a:pt x="147894" y="295788"/>
                </a:lnTo>
                <a:cubicBezTo>
                  <a:pt x="66269" y="295788"/>
                  <a:pt x="0" y="229519"/>
                  <a:pt x="0" y="147894"/>
                </a:cubicBezTo>
                <a:lnTo>
                  <a:pt x="0" y="147894"/>
                </a:lnTo>
                <a:cubicBezTo>
                  <a:pt x="0" y="66269"/>
                  <a:pt x="66269" y="0"/>
                  <a:pt x="147894" y="0"/>
                </a:cubicBezTo>
                <a:close/>
              </a:path>
            </a:pathLst>
          </a:custGeom>
          <a:solidFill>
            <a:srgbClr val="EF4444">
              <a:alpha val="20000"/>
            </a:srgbClr>
          </a:solidFill>
          <a:ln/>
        </p:spPr>
      </p:sp>
      <p:sp>
        <p:nvSpPr>
          <p:cNvPr id="47" name="Shape 45"/>
          <p:cNvSpPr/>
          <p:nvPr/>
        </p:nvSpPr>
        <p:spPr>
          <a:xfrm>
            <a:off x="6263969" y="4843524"/>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EF4444"/>
          </a:solidFill>
          <a:ln/>
        </p:spPr>
      </p:sp>
      <p:sp>
        <p:nvSpPr>
          <p:cNvPr id="48" name="Text 46"/>
          <p:cNvSpPr/>
          <p:nvPr/>
        </p:nvSpPr>
        <p:spPr>
          <a:xfrm>
            <a:off x="6577088" y="4760334"/>
            <a:ext cx="2218408" cy="221841"/>
          </a:xfrm>
          <a:prstGeom prst="rect">
            <a:avLst/>
          </a:prstGeom>
          <a:noFill/>
          <a:ln/>
        </p:spPr>
        <p:txBody>
          <a:bodyPr wrap="square" lIns="0" tIns="0" rIns="0" bIns="0" rtlCol="0" anchor="ctr"/>
          <a:lstStyle/>
          <a:p>
            <a:pPr>
              <a:lnSpc>
                <a:spcPct val="130000"/>
              </a:lnSpc>
            </a:pPr>
            <a:r>
              <a:rPr lang="en-US" sz="1165" b="1" dirty="0">
                <a:solidFill>
                  <a:srgbClr val="F1F5F9"/>
                </a:solidFill>
                <a:latin typeface="MiSans" pitchFamily="34" charset="0"/>
                <a:ea typeface="MiSans" pitchFamily="34" charset="-122"/>
                <a:cs typeface="MiSans" pitchFamily="34" charset="-120"/>
              </a:rPr>
              <a:t>AI không thay thế architect</a:t>
            </a:r>
            <a:endParaRPr lang="en-US" sz="1600" dirty="0"/>
          </a:p>
        </p:txBody>
      </p:sp>
      <p:sp>
        <p:nvSpPr>
          <p:cNvPr id="49" name="Text 47"/>
          <p:cNvSpPr/>
          <p:nvPr/>
        </p:nvSpPr>
        <p:spPr>
          <a:xfrm>
            <a:off x="6577088" y="4982174"/>
            <a:ext cx="2209165"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Chỉ giảm chi phí ở tầng mã cấp thấp</a:t>
            </a:r>
            <a:endParaRPr lang="en-US" sz="1600" dirty="0"/>
          </a:p>
        </p:txBody>
      </p:sp>
      <p:sp>
        <p:nvSpPr>
          <p:cNvPr id="50" name="Shape 48"/>
          <p:cNvSpPr/>
          <p:nvPr/>
        </p:nvSpPr>
        <p:spPr>
          <a:xfrm>
            <a:off x="6170380" y="5277962"/>
            <a:ext cx="295788" cy="295788"/>
          </a:xfrm>
          <a:custGeom>
            <a:avLst/>
            <a:gdLst/>
            <a:ahLst/>
            <a:cxnLst/>
            <a:rect l="l" t="t" r="r" b="b"/>
            <a:pathLst>
              <a:path w="295788" h="295788">
                <a:moveTo>
                  <a:pt x="147894" y="0"/>
                </a:moveTo>
                <a:lnTo>
                  <a:pt x="147894" y="0"/>
                </a:lnTo>
                <a:cubicBezTo>
                  <a:pt x="229519" y="0"/>
                  <a:pt x="295788" y="66269"/>
                  <a:pt x="295788" y="147894"/>
                </a:cubicBezTo>
                <a:lnTo>
                  <a:pt x="295788" y="147894"/>
                </a:lnTo>
                <a:cubicBezTo>
                  <a:pt x="295788" y="229519"/>
                  <a:pt x="229519" y="295788"/>
                  <a:pt x="147894" y="295788"/>
                </a:cubicBezTo>
                <a:lnTo>
                  <a:pt x="147894" y="295788"/>
                </a:lnTo>
                <a:cubicBezTo>
                  <a:pt x="66269" y="295788"/>
                  <a:pt x="0" y="229519"/>
                  <a:pt x="0" y="147894"/>
                </a:cubicBezTo>
                <a:lnTo>
                  <a:pt x="0" y="147894"/>
                </a:lnTo>
                <a:cubicBezTo>
                  <a:pt x="0" y="66269"/>
                  <a:pt x="66269" y="0"/>
                  <a:pt x="147894" y="0"/>
                </a:cubicBezTo>
                <a:close/>
              </a:path>
            </a:pathLst>
          </a:custGeom>
          <a:solidFill>
            <a:srgbClr val="3B82F6">
              <a:alpha val="20000"/>
            </a:srgbClr>
          </a:solidFill>
          <a:ln/>
        </p:spPr>
      </p:sp>
      <p:sp>
        <p:nvSpPr>
          <p:cNvPr id="51" name="Shape 49"/>
          <p:cNvSpPr/>
          <p:nvPr/>
        </p:nvSpPr>
        <p:spPr>
          <a:xfrm>
            <a:off x="6263969" y="5361152"/>
            <a:ext cx="113231" cy="129407"/>
          </a:xfrm>
          <a:custGeom>
            <a:avLst/>
            <a:gdLst/>
            <a:ahLst/>
            <a:cxnLst/>
            <a:rect l="l" t="t" r="r" b="b"/>
            <a:pathLst>
              <a:path w="113231" h="129407">
                <a:moveTo>
                  <a:pt x="109895" y="17718"/>
                </a:moveTo>
                <a:cubicBezTo>
                  <a:pt x="113509" y="20346"/>
                  <a:pt x="114318" y="25401"/>
                  <a:pt x="111689" y="29016"/>
                </a:cubicBezTo>
                <a:lnTo>
                  <a:pt x="46986" y="117983"/>
                </a:lnTo>
                <a:cubicBezTo>
                  <a:pt x="45596" y="119904"/>
                  <a:pt x="43447" y="121092"/>
                  <a:pt x="41072" y="121294"/>
                </a:cubicBezTo>
                <a:cubicBezTo>
                  <a:pt x="38696" y="121496"/>
                  <a:pt x="36396" y="120611"/>
                  <a:pt x="34728" y="118943"/>
                </a:cubicBezTo>
                <a:lnTo>
                  <a:pt x="2376" y="86592"/>
                </a:lnTo>
                <a:cubicBezTo>
                  <a:pt x="-784" y="83432"/>
                  <a:pt x="-784" y="78301"/>
                  <a:pt x="2376" y="75142"/>
                </a:cubicBezTo>
                <a:cubicBezTo>
                  <a:pt x="5535" y="71983"/>
                  <a:pt x="10666" y="71983"/>
                  <a:pt x="13825" y="75142"/>
                </a:cubicBezTo>
                <a:lnTo>
                  <a:pt x="39479" y="100796"/>
                </a:lnTo>
                <a:lnTo>
                  <a:pt x="98622" y="19487"/>
                </a:lnTo>
                <a:cubicBezTo>
                  <a:pt x="101251" y="15873"/>
                  <a:pt x="106306" y="15064"/>
                  <a:pt x="109920" y="17692"/>
                </a:cubicBezTo>
                <a:close/>
              </a:path>
            </a:pathLst>
          </a:custGeom>
          <a:solidFill>
            <a:srgbClr val="3B82F6"/>
          </a:solidFill>
          <a:ln/>
        </p:spPr>
      </p:sp>
      <p:sp>
        <p:nvSpPr>
          <p:cNvPr id="52" name="Text 50"/>
          <p:cNvSpPr/>
          <p:nvPr/>
        </p:nvSpPr>
        <p:spPr>
          <a:xfrm>
            <a:off x="6577088" y="5277962"/>
            <a:ext cx="1441965" cy="221841"/>
          </a:xfrm>
          <a:prstGeom prst="rect">
            <a:avLst/>
          </a:prstGeom>
          <a:noFill/>
          <a:ln/>
        </p:spPr>
        <p:txBody>
          <a:bodyPr wrap="square" lIns="0" tIns="0" rIns="0" bIns="0" rtlCol="0" anchor="ctr"/>
          <a:lstStyle/>
          <a:p>
            <a:pPr>
              <a:lnSpc>
                <a:spcPct val="130000"/>
              </a:lnSpc>
            </a:pPr>
            <a:r>
              <a:rPr lang="en-US" sz="1165" b="1" dirty="0">
                <a:solidFill>
                  <a:srgbClr val="F1F5F9"/>
                </a:solidFill>
                <a:latin typeface="MiSans" pitchFamily="34" charset="0"/>
                <a:ea typeface="MiSans" pitchFamily="34" charset="-122"/>
                <a:cs typeface="MiSans" pitchFamily="34" charset="-120"/>
              </a:rPr>
              <a:t>3 mức phân tích</a:t>
            </a:r>
            <a:endParaRPr lang="en-US" sz="1600" dirty="0"/>
          </a:p>
        </p:txBody>
      </p:sp>
      <p:sp>
        <p:nvSpPr>
          <p:cNvPr id="53" name="Text 51"/>
          <p:cNvSpPr/>
          <p:nvPr/>
        </p:nvSpPr>
        <p:spPr>
          <a:xfrm>
            <a:off x="6577088" y="5499803"/>
            <a:ext cx="1432722" cy="184867"/>
          </a:xfrm>
          <a:prstGeom prst="rect">
            <a:avLst/>
          </a:prstGeom>
          <a:noFill/>
          <a:ln/>
        </p:spPr>
        <p:txBody>
          <a:bodyPr wrap="square" lIns="0" tIns="0" rIns="0" bIns="0" rtlCol="0" anchor="ctr"/>
          <a:lstStyle/>
          <a:p>
            <a:pPr>
              <a:lnSpc>
                <a:spcPct val="120000"/>
              </a:lnSpc>
            </a:pPr>
            <a:r>
              <a:rPr lang="en-US" sz="1019" dirty="0">
                <a:solidFill>
                  <a:srgbClr val="F1F5F9">
                    <a:alpha val="70000"/>
                  </a:srgbClr>
                </a:solidFill>
                <a:latin typeface="MiSans" pitchFamily="34" charset="0"/>
                <a:ea typeface="MiSans" pitchFamily="34" charset="-122"/>
                <a:cs typeface="MiSans" pitchFamily="34" charset="-120"/>
              </a:rPr>
              <a:t>Ý tưởng, Luận lý, Vật lý</a:t>
            </a:r>
            <a:endParaRPr lang="en-US" sz="1600" dirty="0"/>
          </a:p>
        </p:txBody>
      </p:sp>
      <p:sp>
        <p:nvSpPr>
          <p:cNvPr id="54" name="Shape 52"/>
          <p:cNvSpPr/>
          <p:nvPr/>
        </p:nvSpPr>
        <p:spPr>
          <a:xfrm>
            <a:off x="374356" y="6031296"/>
            <a:ext cx="11443287" cy="822660"/>
          </a:xfrm>
          <a:custGeom>
            <a:avLst/>
            <a:gdLst/>
            <a:ahLst/>
            <a:cxnLst/>
            <a:rect l="l" t="t" r="r" b="b"/>
            <a:pathLst>
              <a:path w="11443287" h="822660">
                <a:moveTo>
                  <a:pt x="110919" y="0"/>
                </a:moveTo>
                <a:lnTo>
                  <a:pt x="11332368" y="0"/>
                </a:lnTo>
                <a:cubicBezTo>
                  <a:pt x="11393627" y="0"/>
                  <a:pt x="11443287" y="49660"/>
                  <a:pt x="11443287" y="110919"/>
                </a:cubicBezTo>
                <a:lnTo>
                  <a:pt x="11443287" y="711740"/>
                </a:lnTo>
                <a:cubicBezTo>
                  <a:pt x="11443287" y="772999"/>
                  <a:pt x="11393627" y="822660"/>
                  <a:pt x="11332368" y="822660"/>
                </a:cubicBezTo>
                <a:lnTo>
                  <a:pt x="110919" y="822660"/>
                </a:lnTo>
                <a:cubicBezTo>
                  <a:pt x="49660" y="822660"/>
                  <a:pt x="0" y="772999"/>
                  <a:pt x="0" y="711740"/>
                </a:cubicBezTo>
                <a:lnTo>
                  <a:pt x="0" y="110919"/>
                </a:lnTo>
                <a:cubicBezTo>
                  <a:pt x="0" y="49660"/>
                  <a:pt x="49660" y="0"/>
                  <a:pt x="110919" y="0"/>
                </a:cubicBezTo>
                <a:close/>
              </a:path>
            </a:pathLst>
          </a:custGeom>
          <a:solidFill>
            <a:srgbClr val="0F172A"/>
          </a:solidFill>
          <a:ln w="12700">
            <a:solidFill>
              <a:srgbClr val="10B981">
                <a:alpha val="30196"/>
              </a:srgbClr>
            </a:solidFill>
            <a:prstDash val="solid"/>
          </a:ln>
        </p:spPr>
      </p:sp>
      <p:sp>
        <p:nvSpPr>
          <p:cNvPr id="55" name="Shape 53"/>
          <p:cNvSpPr/>
          <p:nvPr/>
        </p:nvSpPr>
        <p:spPr>
          <a:xfrm>
            <a:off x="674332" y="6239272"/>
            <a:ext cx="145583" cy="166381"/>
          </a:xfrm>
          <a:custGeom>
            <a:avLst/>
            <a:gdLst/>
            <a:ahLst/>
            <a:cxnLst/>
            <a:rect l="l" t="t" r="r" b="b"/>
            <a:pathLst>
              <a:path w="145583" h="166381">
                <a:moveTo>
                  <a:pt x="0" y="70192"/>
                </a:moveTo>
                <a:cubicBezTo>
                  <a:pt x="0" y="48647"/>
                  <a:pt x="17450" y="31196"/>
                  <a:pt x="38995" y="31196"/>
                </a:cubicBezTo>
                <a:lnTo>
                  <a:pt x="41595" y="31196"/>
                </a:lnTo>
                <a:cubicBezTo>
                  <a:pt x="47347" y="31196"/>
                  <a:pt x="51994" y="35843"/>
                  <a:pt x="51994" y="41595"/>
                </a:cubicBezTo>
                <a:cubicBezTo>
                  <a:pt x="51994" y="47347"/>
                  <a:pt x="47347" y="51994"/>
                  <a:pt x="41595" y="51994"/>
                </a:cubicBezTo>
                <a:lnTo>
                  <a:pt x="38995" y="51994"/>
                </a:lnTo>
                <a:cubicBezTo>
                  <a:pt x="28954" y="51994"/>
                  <a:pt x="20798" y="60150"/>
                  <a:pt x="20798" y="70192"/>
                </a:cubicBezTo>
                <a:lnTo>
                  <a:pt x="20798" y="72792"/>
                </a:lnTo>
                <a:lnTo>
                  <a:pt x="41595" y="72792"/>
                </a:lnTo>
                <a:cubicBezTo>
                  <a:pt x="53066" y="72792"/>
                  <a:pt x="62393" y="82118"/>
                  <a:pt x="62393" y="93589"/>
                </a:cubicBezTo>
                <a:lnTo>
                  <a:pt x="62393" y="114387"/>
                </a:lnTo>
                <a:cubicBezTo>
                  <a:pt x="62393" y="125858"/>
                  <a:pt x="53066" y="135184"/>
                  <a:pt x="41595" y="135184"/>
                </a:cubicBezTo>
                <a:lnTo>
                  <a:pt x="20798" y="135184"/>
                </a:lnTo>
                <a:cubicBezTo>
                  <a:pt x="9326" y="135184"/>
                  <a:pt x="0" y="125858"/>
                  <a:pt x="0" y="114387"/>
                </a:cubicBezTo>
                <a:lnTo>
                  <a:pt x="0" y="70192"/>
                </a:lnTo>
                <a:close/>
                <a:moveTo>
                  <a:pt x="83190" y="70192"/>
                </a:moveTo>
                <a:cubicBezTo>
                  <a:pt x="83190" y="48647"/>
                  <a:pt x="100641" y="31196"/>
                  <a:pt x="122186" y="31196"/>
                </a:cubicBezTo>
                <a:lnTo>
                  <a:pt x="124785" y="31196"/>
                </a:lnTo>
                <a:cubicBezTo>
                  <a:pt x="130537" y="31196"/>
                  <a:pt x="135184" y="35843"/>
                  <a:pt x="135184" y="41595"/>
                </a:cubicBezTo>
                <a:cubicBezTo>
                  <a:pt x="135184" y="47347"/>
                  <a:pt x="130537" y="51994"/>
                  <a:pt x="124785" y="51994"/>
                </a:cubicBezTo>
                <a:lnTo>
                  <a:pt x="122186" y="51994"/>
                </a:lnTo>
                <a:cubicBezTo>
                  <a:pt x="112144" y="51994"/>
                  <a:pt x="103988" y="60150"/>
                  <a:pt x="103988" y="70192"/>
                </a:cubicBezTo>
                <a:lnTo>
                  <a:pt x="103988" y="72792"/>
                </a:lnTo>
                <a:lnTo>
                  <a:pt x="124785" y="72792"/>
                </a:lnTo>
                <a:cubicBezTo>
                  <a:pt x="136257" y="72792"/>
                  <a:pt x="145583" y="82118"/>
                  <a:pt x="145583" y="93589"/>
                </a:cubicBezTo>
                <a:lnTo>
                  <a:pt x="145583" y="114387"/>
                </a:lnTo>
                <a:cubicBezTo>
                  <a:pt x="145583" y="125858"/>
                  <a:pt x="136257" y="135184"/>
                  <a:pt x="124785" y="135184"/>
                </a:cubicBezTo>
                <a:lnTo>
                  <a:pt x="103988" y="135184"/>
                </a:lnTo>
                <a:cubicBezTo>
                  <a:pt x="92517" y="135184"/>
                  <a:pt x="83190" y="125858"/>
                  <a:pt x="83190" y="114387"/>
                </a:cubicBezTo>
                <a:lnTo>
                  <a:pt x="83190" y="70192"/>
                </a:lnTo>
                <a:close/>
              </a:path>
            </a:pathLst>
          </a:custGeom>
          <a:solidFill>
            <a:srgbClr val="10B981"/>
          </a:solidFill>
          <a:ln/>
        </p:spPr>
      </p:sp>
      <p:sp>
        <p:nvSpPr>
          <p:cNvPr id="56" name="Text 54"/>
          <p:cNvSpPr/>
          <p:nvPr/>
        </p:nvSpPr>
        <p:spPr>
          <a:xfrm>
            <a:off x="751695" y="6183812"/>
            <a:ext cx="10955029" cy="517629"/>
          </a:xfrm>
          <a:prstGeom prst="rect">
            <a:avLst/>
          </a:prstGeom>
          <a:noFill/>
          <a:ln/>
        </p:spPr>
        <p:txBody>
          <a:bodyPr wrap="square" lIns="0" tIns="0" rIns="0" bIns="0" rtlCol="0" anchor="ctr"/>
          <a:lstStyle/>
          <a:p>
            <a:pPr algn="ctr">
              <a:lnSpc>
                <a:spcPct val="130000"/>
              </a:lnSpc>
            </a:pPr>
            <a:r>
              <a:rPr lang="en-US" sz="1310" b="1" dirty="0">
                <a:solidFill>
                  <a:srgbClr val="10B981"/>
                </a:solidFill>
                <a:latin typeface="MiSans" pitchFamily="34" charset="0"/>
                <a:ea typeface="MiSans" pitchFamily="34" charset="-122"/>
                <a:cs typeface="MiSans" pitchFamily="34" charset="-120"/>
              </a:rPr>
              <a:t>Thông điệp cốt lõi:</a:t>
            </a:r>
            <a:pPr algn="ctr">
              <a:lnSpc>
                <a:spcPct val="130000"/>
              </a:lnSpc>
            </a:pPr>
            <a:r>
              <a:rPr lang="en-US" sz="1310" dirty="0">
                <a:solidFill>
                  <a:srgbClr val="F1F5F9">
                    <a:alpha val="90000"/>
                  </a:srgbClr>
                </a:solidFill>
                <a:latin typeface="MiSans" pitchFamily="34" charset="0"/>
                <a:ea typeface="MiSans" pitchFamily="34" charset="-122"/>
                <a:cs typeface="MiSans" pitchFamily="34" charset="-120"/>
              </a:rPr>
              <a:t> AI không thay thế được tư duy kiến trúc. Giá trị thực sự của AI nắm ở việc giảm thiểu chi phí sức lao động ở tầng mã cấp thấp, cho phép lập trình viên tập trung vào mức thiết kế hệ thống và review chất lượng.</a:t>
            </a:r>
            <a:endParaRPr lang="en-US" sz="1600" dirty="0"/>
          </a:p>
        </p:txBody>
      </p:sp>
    </p:spTree>
  </p:cSld>
  <p:clrMapOvr>
    <a:masterClrMapping/>
  </p:clrMapOvr>
  <p:transition>
    <p:fade/>
    <p:spd val="med"/>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72A"/>
        </a:solidFill>
      </p:bgPr>
    </p:bg>
    <p:spTree>
      <p:nvGrpSpPr>
        <p:cNvPr id="1" name=""/>
        <p:cNvGrpSpPr/>
        <p:nvPr/>
      </p:nvGrpSpPr>
      <p:grpSpPr>
        <a:xfrm>
          <a:off x="0" y="0"/>
          <a:ext cx="0" cy="0"/>
          <a:chOff x="0" y="0"/>
          <a:chExt cx="0" cy="0"/>
        </a:xfrm>
      </p:grpSpPr>
      <p:pic>
        <p:nvPicPr>
          <p:cNvPr id="2" name="Image 0" descr="https://kimi-web-img.moonshot.cn/img/static.vecteezy.com/29ec5b8daff165fc73114d34808ace030153aa08.jpg">    </p:cNvPr>
          <p:cNvPicPr>
            <a:picLocks noChangeAspect="1"/>
          </p:cNvPicPr>
          <p:nvPr/>
        </p:nvPicPr>
        <p:blipFill>
          <a:blip r:embed="rId1">
            <a:alphaModFix amt="30000"/>
          </a:blip>
          <a:srcRect l="0" r="0" t="5000" b="500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8B5CF6">
                  <a:alpha val="20000"/>
                </a:srgbClr>
              </a:gs>
            </a:gsLst>
            <a:lin ang="2700000" scaled="1"/>
          </a:gradFill>
          <a:ln/>
        </p:spPr>
      </p:sp>
      <p:sp>
        <p:nvSpPr>
          <p:cNvPr id="4" name="Shape 1"/>
          <p:cNvSpPr/>
          <p:nvPr/>
        </p:nvSpPr>
        <p:spPr>
          <a:xfrm>
            <a:off x="385763" y="1662113"/>
            <a:ext cx="1247775" cy="390525"/>
          </a:xfrm>
          <a:custGeom>
            <a:avLst/>
            <a:gdLst/>
            <a:ahLst/>
            <a:cxnLst/>
            <a:rect l="l" t="t" r="r" b="b"/>
            <a:pathLst>
              <a:path w="1247775" h="390525">
                <a:moveTo>
                  <a:pt x="76199" y="0"/>
                </a:moveTo>
                <a:lnTo>
                  <a:pt x="1171576" y="0"/>
                </a:lnTo>
                <a:cubicBezTo>
                  <a:pt x="1213659" y="0"/>
                  <a:pt x="1247775" y="34116"/>
                  <a:pt x="1247775" y="76199"/>
                </a:cubicBezTo>
                <a:lnTo>
                  <a:pt x="1247775" y="314326"/>
                </a:lnTo>
                <a:cubicBezTo>
                  <a:pt x="1247775" y="356409"/>
                  <a:pt x="1213659" y="390525"/>
                  <a:pt x="1171576" y="390525"/>
                </a:cubicBezTo>
                <a:lnTo>
                  <a:pt x="76199" y="390525"/>
                </a:lnTo>
                <a:cubicBezTo>
                  <a:pt x="34144" y="390525"/>
                  <a:pt x="0" y="356381"/>
                  <a:pt x="0" y="314326"/>
                </a:cubicBezTo>
                <a:lnTo>
                  <a:pt x="0" y="76199"/>
                </a:lnTo>
                <a:cubicBezTo>
                  <a:pt x="0" y="34144"/>
                  <a:pt x="34144" y="0"/>
                  <a:pt x="76199" y="0"/>
                </a:cubicBezTo>
                <a:close/>
              </a:path>
            </a:pathLst>
          </a:custGeom>
          <a:solidFill>
            <a:srgbClr val="8B5CF6">
              <a:alpha val="20000"/>
            </a:srgbClr>
          </a:solidFill>
          <a:ln w="12700">
            <a:solidFill>
              <a:srgbClr val="8B5CF6">
                <a:alpha val="50196"/>
              </a:srgbClr>
            </a:solidFill>
            <a:prstDash val="solid"/>
          </a:ln>
        </p:spPr>
      </p:sp>
      <p:sp>
        <p:nvSpPr>
          <p:cNvPr id="5" name="Text 2"/>
          <p:cNvSpPr/>
          <p:nvPr/>
        </p:nvSpPr>
        <p:spPr>
          <a:xfrm>
            <a:off x="542925" y="1752600"/>
            <a:ext cx="1006822" cy="209550"/>
          </a:xfrm>
          <a:prstGeom prst="rect">
            <a:avLst/>
          </a:prstGeom>
          <a:noFill/>
          <a:ln/>
        </p:spPr>
        <p:txBody>
          <a:bodyPr wrap="square" lIns="0" tIns="0" rIns="0" bIns="0" rtlCol="0" anchor="ctr"/>
          <a:lstStyle/>
          <a:p>
            <a:pPr>
              <a:lnSpc>
                <a:spcPct val="130000"/>
              </a:lnSpc>
            </a:pPr>
            <a:r>
              <a:rPr lang="en-US" sz="1200" b="1" spc="60" kern="0" dirty="0">
                <a:solidFill>
                  <a:srgbClr val="8B5CF6"/>
                </a:solidFill>
                <a:latin typeface="MiSans" pitchFamily="34" charset="0"/>
                <a:ea typeface="MiSans" pitchFamily="34" charset="-122"/>
                <a:cs typeface="MiSans" pitchFamily="34" charset="-120"/>
              </a:rPr>
              <a:t>CHƯƠNG 16</a:t>
            </a:r>
            <a:endParaRPr lang="en-US" sz="1600" dirty="0"/>
          </a:p>
        </p:txBody>
      </p:sp>
      <p:sp>
        <p:nvSpPr>
          <p:cNvPr id="6" name="Text 3"/>
          <p:cNvSpPr/>
          <p:nvPr/>
        </p:nvSpPr>
        <p:spPr>
          <a:xfrm>
            <a:off x="381000" y="2209800"/>
            <a:ext cx="11658600" cy="1143000"/>
          </a:xfrm>
          <a:prstGeom prst="rect">
            <a:avLst/>
          </a:prstGeom>
          <a:noFill/>
          <a:ln/>
        </p:spPr>
        <p:txBody>
          <a:bodyPr wrap="square" lIns="0" tIns="0" rIns="0" bIns="0" rtlCol="0" anchor="ctr"/>
          <a:lstStyle/>
          <a:p>
            <a:pPr>
              <a:lnSpc>
                <a:spcPct val="100000"/>
              </a:lnSpc>
            </a:pPr>
            <a:r>
              <a:rPr lang="en-US" sz="3600" b="1" dirty="0">
                <a:solidFill>
                  <a:srgbClr val="F1F5F9"/>
                </a:solidFill>
                <a:latin typeface="MiSans" pitchFamily="34" charset="0"/>
                <a:ea typeface="MiSans" pitchFamily="34" charset="-122"/>
                <a:cs typeface="MiSans" pitchFamily="34" charset="-120"/>
              </a:rPr>
              <a:t>Tổng quan và</a:t>
            </a:r>
            <a:endParaRPr lang="en-US" sz="1600" dirty="0"/>
          </a:p>
          <a:p>
            <a:pPr>
              <a:lnSpc>
                <a:spcPct val="100000"/>
              </a:lnSpc>
            </a:pPr>
            <a:r>
              <a:rPr lang="en-US" sz="3600" b="1" dirty="0">
                <a:solidFill>
                  <a:srgbClr val="F1F5F9"/>
                </a:solidFill>
                <a:latin typeface="MiSans" pitchFamily="34" charset="0"/>
                <a:ea typeface="MiSans" pitchFamily="34" charset="-122"/>
                <a:cs typeface="MiSans" pitchFamily="34" charset="-120"/>
              </a:rPr>
              <a:t>Triển vọng tương lai</a:t>
            </a:r>
            <a:endParaRPr lang="en-US" sz="1600" dirty="0"/>
          </a:p>
        </p:txBody>
      </p:sp>
      <p:sp>
        <p:nvSpPr>
          <p:cNvPr id="7" name="Text 4"/>
          <p:cNvSpPr/>
          <p:nvPr/>
        </p:nvSpPr>
        <p:spPr>
          <a:xfrm>
            <a:off x="381000" y="3505200"/>
            <a:ext cx="11544300" cy="304800"/>
          </a:xfrm>
          <a:prstGeom prst="rect">
            <a:avLst/>
          </a:prstGeom>
          <a:noFill/>
          <a:ln/>
        </p:spPr>
        <p:txBody>
          <a:bodyPr wrap="square" lIns="0" tIns="0" rIns="0" bIns="0" rtlCol="0" anchor="ctr"/>
          <a:lstStyle/>
          <a:p>
            <a:pPr>
              <a:lnSpc>
                <a:spcPct val="110000"/>
              </a:lnSpc>
            </a:pPr>
            <a:r>
              <a:rPr lang="en-US" sz="1800" dirty="0">
                <a:solidFill>
                  <a:srgbClr val="F1F5F9">
                    <a:alpha val="70000"/>
                  </a:srgbClr>
                </a:solidFill>
                <a:latin typeface="MiSans" pitchFamily="34" charset="0"/>
                <a:ea typeface="MiSans" pitchFamily="34" charset="-122"/>
                <a:cs typeface="MiSans" pitchFamily="34" charset="-120"/>
              </a:rPr>
              <a:t>Bức tranh tổng quan về sự thay đổi của kỹ nghệ phần mềm</a:t>
            </a:r>
            <a:endParaRPr lang="en-US" sz="1600" dirty="0"/>
          </a:p>
        </p:txBody>
      </p:sp>
      <p:sp>
        <p:nvSpPr>
          <p:cNvPr id="8" name="Shape 5"/>
          <p:cNvSpPr/>
          <p:nvPr/>
        </p:nvSpPr>
        <p:spPr>
          <a:xfrm>
            <a:off x="3857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3B82F6">
              <a:alpha val="10196"/>
            </a:srgbClr>
          </a:solidFill>
          <a:ln w="12700">
            <a:solidFill>
              <a:srgbClr val="3B82F6">
                <a:alpha val="30196"/>
              </a:srgbClr>
            </a:solidFill>
            <a:prstDash val="solid"/>
          </a:ln>
        </p:spPr>
      </p:sp>
      <p:sp>
        <p:nvSpPr>
          <p:cNvPr id="9" name="Shape 6"/>
          <p:cNvSpPr/>
          <p:nvPr/>
        </p:nvSpPr>
        <p:spPr>
          <a:xfrm>
            <a:off x="571500" y="4505325"/>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3B82F6"/>
          </a:solidFill>
          <a:ln/>
        </p:spPr>
      </p:sp>
      <p:sp>
        <p:nvSpPr>
          <p:cNvPr id="10" name="Text 7"/>
          <p:cNvSpPr/>
          <p:nvPr/>
        </p:nvSpPr>
        <p:spPr>
          <a:xfrm>
            <a:off x="5429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Sự trỗi dậy của GenAI</a:t>
            </a:r>
            <a:endParaRPr lang="en-US" sz="1600" dirty="0"/>
          </a:p>
        </p:txBody>
      </p:sp>
      <p:sp>
        <p:nvSpPr>
          <p:cNvPr id="11" name="Shape 8"/>
          <p:cNvSpPr/>
          <p:nvPr/>
        </p:nvSpPr>
        <p:spPr>
          <a:xfrm>
            <a:off x="28622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8B5CF6">
              <a:alpha val="10196"/>
            </a:srgbClr>
          </a:solidFill>
          <a:ln w="12700">
            <a:solidFill>
              <a:srgbClr val="8B5CF6">
                <a:alpha val="30196"/>
              </a:srgbClr>
            </a:solidFill>
            <a:prstDash val="solid"/>
          </a:ln>
        </p:spPr>
      </p:sp>
      <p:sp>
        <p:nvSpPr>
          <p:cNvPr id="12" name="Shape 9"/>
          <p:cNvSpPr/>
          <p:nvPr/>
        </p:nvSpPr>
        <p:spPr>
          <a:xfrm>
            <a:off x="3048000" y="4505325"/>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8B5CF6"/>
          </a:solidFill>
          <a:ln/>
        </p:spPr>
      </p:sp>
      <p:sp>
        <p:nvSpPr>
          <p:cNvPr id="13" name="Text 10"/>
          <p:cNvSpPr/>
          <p:nvPr/>
        </p:nvSpPr>
        <p:spPr>
          <a:xfrm>
            <a:off x="30194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Kinh tế học phần mềm</a:t>
            </a:r>
            <a:endParaRPr lang="en-US" sz="1600" dirty="0"/>
          </a:p>
        </p:txBody>
      </p:sp>
      <p:sp>
        <p:nvSpPr>
          <p:cNvPr id="14" name="Shape 11"/>
          <p:cNvSpPr/>
          <p:nvPr/>
        </p:nvSpPr>
        <p:spPr>
          <a:xfrm>
            <a:off x="53387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10B981">
              <a:alpha val="10196"/>
            </a:srgbClr>
          </a:solidFill>
          <a:ln w="12700">
            <a:solidFill>
              <a:srgbClr val="10B981">
                <a:alpha val="30196"/>
              </a:srgbClr>
            </a:solidFill>
            <a:prstDash val="solid"/>
          </a:ln>
        </p:spPr>
      </p:sp>
      <p:sp>
        <p:nvSpPr>
          <p:cNvPr id="15" name="Shape 12"/>
          <p:cNvSpPr/>
          <p:nvPr/>
        </p:nvSpPr>
        <p:spPr>
          <a:xfrm>
            <a:off x="5495925" y="4505325"/>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10B981"/>
          </a:solidFill>
          <a:ln/>
        </p:spPr>
      </p:sp>
      <p:sp>
        <p:nvSpPr>
          <p:cNvPr id="16" name="Text 13"/>
          <p:cNvSpPr/>
          <p:nvPr/>
        </p:nvSpPr>
        <p:spPr>
          <a:xfrm>
            <a:off x="54959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Dịch chuyển vai trò</a:t>
            </a:r>
            <a:endParaRPr lang="en-US" sz="1600" dirty="0"/>
          </a:p>
        </p:txBody>
      </p:sp>
      <p:sp>
        <p:nvSpPr>
          <p:cNvPr id="17" name="Shape 14"/>
          <p:cNvSpPr/>
          <p:nvPr/>
        </p:nvSpPr>
        <p:spPr>
          <a:xfrm>
            <a:off x="7815263" y="4348163"/>
            <a:ext cx="2314575" cy="847725"/>
          </a:xfrm>
          <a:custGeom>
            <a:avLst/>
            <a:gdLst/>
            <a:ahLst/>
            <a:cxnLst/>
            <a:rect l="l" t="t" r="r" b="b"/>
            <a:pathLst>
              <a:path w="2314575" h="847725">
                <a:moveTo>
                  <a:pt x="76202" y="0"/>
                </a:moveTo>
                <a:lnTo>
                  <a:pt x="2238373" y="0"/>
                </a:lnTo>
                <a:cubicBezTo>
                  <a:pt x="2280430" y="0"/>
                  <a:pt x="2314575" y="34145"/>
                  <a:pt x="2314575" y="76202"/>
                </a:cubicBezTo>
                <a:lnTo>
                  <a:pt x="2314575" y="771523"/>
                </a:lnTo>
                <a:cubicBezTo>
                  <a:pt x="2314575" y="813580"/>
                  <a:pt x="2280430" y="847725"/>
                  <a:pt x="2238373" y="847725"/>
                </a:cubicBezTo>
                <a:lnTo>
                  <a:pt x="76202" y="847725"/>
                </a:lnTo>
                <a:cubicBezTo>
                  <a:pt x="34145" y="847725"/>
                  <a:pt x="0" y="813580"/>
                  <a:pt x="0" y="771523"/>
                </a:cubicBezTo>
                <a:lnTo>
                  <a:pt x="0" y="76202"/>
                </a:lnTo>
                <a:cubicBezTo>
                  <a:pt x="0" y="34145"/>
                  <a:pt x="34145" y="0"/>
                  <a:pt x="76202" y="0"/>
                </a:cubicBezTo>
                <a:close/>
              </a:path>
            </a:pathLst>
          </a:custGeom>
          <a:solidFill>
            <a:srgbClr val="F59E0B">
              <a:alpha val="10196"/>
            </a:srgbClr>
          </a:solidFill>
          <a:ln w="12700">
            <a:solidFill>
              <a:srgbClr val="F59E0B">
                <a:alpha val="30196"/>
              </a:srgbClr>
            </a:solidFill>
            <a:prstDash val="solid"/>
          </a:ln>
        </p:spPr>
      </p:sp>
      <p:sp>
        <p:nvSpPr>
          <p:cNvPr id="18" name="Shape 15"/>
          <p:cNvSpPr/>
          <p:nvPr/>
        </p:nvSpPr>
        <p:spPr>
          <a:xfrm>
            <a:off x="8001000" y="4505325"/>
            <a:ext cx="228600" cy="228600"/>
          </a:xfrm>
          <a:custGeom>
            <a:avLst/>
            <a:gdLst/>
            <a:ahLst/>
            <a:cxnLst/>
            <a:rect l="l" t="t" r="r" b="b"/>
            <a:pathLst>
              <a:path w="228600" h="228600">
                <a:moveTo>
                  <a:pt x="99968" y="14288"/>
                </a:moveTo>
                <a:lnTo>
                  <a:pt x="65946" y="14288"/>
                </a:lnTo>
                <a:cubicBezTo>
                  <a:pt x="52819" y="14288"/>
                  <a:pt x="41344" y="23262"/>
                  <a:pt x="38219" y="35987"/>
                </a:cubicBezTo>
                <a:lnTo>
                  <a:pt x="625" y="187747"/>
                </a:lnTo>
                <a:cubicBezTo>
                  <a:pt x="-2724" y="201231"/>
                  <a:pt x="7501" y="214313"/>
                  <a:pt x="21431" y="214313"/>
                </a:cubicBezTo>
                <a:lnTo>
                  <a:pt x="99968" y="214313"/>
                </a:lnTo>
                <a:lnTo>
                  <a:pt x="99968" y="185738"/>
                </a:lnTo>
                <a:cubicBezTo>
                  <a:pt x="99968" y="177835"/>
                  <a:pt x="106353" y="171450"/>
                  <a:pt x="114255" y="171450"/>
                </a:cubicBezTo>
                <a:cubicBezTo>
                  <a:pt x="122158" y="171450"/>
                  <a:pt x="128543" y="177835"/>
                  <a:pt x="128543" y="185738"/>
                </a:cubicBezTo>
                <a:lnTo>
                  <a:pt x="128543" y="214313"/>
                </a:lnTo>
                <a:lnTo>
                  <a:pt x="207169" y="214313"/>
                </a:lnTo>
                <a:cubicBezTo>
                  <a:pt x="221099" y="214313"/>
                  <a:pt x="231324" y="201231"/>
                  <a:pt x="227975" y="187747"/>
                </a:cubicBezTo>
                <a:lnTo>
                  <a:pt x="190426" y="35987"/>
                </a:lnTo>
                <a:cubicBezTo>
                  <a:pt x="187256" y="23262"/>
                  <a:pt x="175826" y="14288"/>
                  <a:pt x="162654" y="14288"/>
                </a:cubicBezTo>
                <a:lnTo>
                  <a:pt x="128543" y="14288"/>
                </a:lnTo>
                <a:lnTo>
                  <a:pt x="128543" y="42863"/>
                </a:lnTo>
                <a:cubicBezTo>
                  <a:pt x="128543" y="50765"/>
                  <a:pt x="122158" y="57150"/>
                  <a:pt x="114255" y="57150"/>
                </a:cubicBezTo>
                <a:cubicBezTo>
                  <a:pt x="106353" y="57150"/>
                  <a:pt x="99968" y="50765"/>
                  <a:pt x="99968" y="42863"/>
                </a:cubicBezTo>
                <a:lnTo>
                  <a:pt x="99968" y="14288"/>
                </a:lnTo>
                <a:close/>
                <a:moveTo>
                  <a:pt x="128543" y="100013"/>
                </a:moveTo>
                <a:lnTo>
                  <a:pt x="128543" y="128588"/>
                </a:lnTo>
                <a:cubicBezTo>
                  <a:pt x="128543" y="136490"/>
                  <a:pt x="122158" y="142875"/>
                  <a:pt x="114255" y="142875"/>
                </a:cubicBezTo>
                <a:cubicBezTo>
                  <a:pt x="106353" y="142875"/>
                  <a:pt x="99968" y="136490"/>
                  <a:pt x="99968" y="128588"/>
                </a:cubicBezTo>
                <a:lnTo>
                  <a:pt x="99968" y="100013"/>
                </a:lnTo>
                <a:cubicBezTo>
                  <a:pt x="99968" y="92110"/>
                  <a:pt x="106353" y="85725"/>
                  <a:pt x="114255" y="85725"/>
                </a:cubicBezTo>
                <a:cubicBezTo>
                  <a:pt x="122158" y="85725"/>
                  <a:pt x="128543" y="92110"/>
                  <a:pt x="128543" y="100013"/>
                </a:cubicBezTo>
                <a:close/>
              </a:path>
            </a:pathLst>
          </a:custGeom>
          <a:solidFill>
            <a:srgbClr val="F59E0B"/>
          </a:solidFill>
          <a:ln/>
        </p:spPr>
      </p:sp>
      <p:sp>
        <p:nvSpPr>
          <p:cNvPr id="19" name="Text 16"/>
          <p:cNvSpPr/>
          <p:nvPr/>
        </p:nvSpPr>
        <p:spPr>
          <a:xfrm>
            <a:off x="7972425" y="4810125"/>
            <a:ext cx="2076450" cy="228600"/>
          </a:xfrm>
          <a:prstGeom prst="rect">
            <a:avLst/>
          </a:prstGeom>
          <a:noFill/>
          <a:ln/>
        </p:spPr>
        <p:txBody>
          <a:bodyPr wrap="square" lIns="0" tIns="0" rIns="0" bIns="0" rtlCol="0" anchor="ctr"/>
          <a:lstStyle/>
          <a:p>
            <a:pPr>
              <a:lnSpc>
                <a:spcPct val="130000"/>
              </a:lnSpc>
            </a:pPr>
            <a:r>
              <a:rPr lang="en-US" sz="1200" dirty="0">
                <a:solidFill>
                  <a:srgbClr val="F1F5F9">
                    <a:alpha val="80000"/>
                  </a:srgbClr>
                </a:solidFill>
                <a:latin typeface="MiSans" pitchFamily="34" charset="0"/>
                <a:ea typeface="MiSans" pitchFamily="34" charset="-122"/>
                <a:cs typeface="MiSans" pitchFamily="34" charset="-120"/>
              </a:rPr>
              <a:t>Roadmap triển khai</a:t>
            </a:r>
            <a:endParaRPr lang="en-US" sz="1600" dirty="0"/>
          </a:p>
        </p:txBody>
      </p:sp>
    </p:spTree>
  </p:cSld>
  <p:clrMapOvr>
    <a:masterClrMapping/>
  </p:clrMapOvr>
  <p:transition>
    <p:fade/>
    <p:spd val="med"/>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3" name="Shape 1"/>
          <p:cNvSpPr/>
          <p:nvPr/>
        </p:nvSpPr>
        <p:spPr>
          <a:xfrm>
            <a:off x="488156" y="561975"/>
            <a:ext cx="171450" cy="171450"/>
          </a:xfrm>
          <a:custGeom>
            <a:avLst/>
            <a:gdLst/>
            <a:ahLst/>
            <a:cxnLst/>
            <a:rect l="l" t="t" r="r" b="b"/>
            <a:pathLst>
              <a:path w="171450" h="171450">
                <a:moveTo>
                  <a:pt x="42863" y="107156"/>
                </a:moveTo>
                <a:lnTo>
                  <a:pt x="8204" y="107156"/>
                </a:lnTo>
                <a:cubicBezTo>
                  <a:pt x="-134" y="107156"/>
                  <a:pt x="-5257" y="98081"/>
                  <a:pt x="-971" y="90915"/>
                </a:cubicBezTo>
                <a:lnTo>
                  <a:pt x="16743" y="61380"/>
                </a:lnTo>
                <a:cubicBezTo>
                  <a:pt x="19656" y="56525"/>
                  <a:pt x="24880" y="53578"/>
                  <a:pt x="30540" y="53578"/>
                </a:cubicBezTo>
                <a:lnTo>
                  <a:pt x="62352" y="53578"/>
                </a:lnTo>
                <a:cubicBezTo>
                  <a:pt x="87835" y="10414"/>
                  <a:pt x="125842" y="8238"/>
                  <a:pt x="151258" y="11955"/>
                </a:cubicBezTo>
                <a:cubicBezTo>
                  <a:pt x="155544" y="12591"/>
                  <a:pt x="158893" y="15939"/>
                  <a:pt x="159495" y="20192"/>
                </a:cubicBezTo>
                <a:cubicBezTo>
                  <a:pt x="163212" y="45608"/>
                  <a:pt x="161036" y="83615"/>
                  <a:pt x="117872" y="109098"/>
                </a:cubicBezTo>
                <a:lnTo>
                  <a:pt x="117872" y="140910"/>
                </a:lnTo>
                <a:cubicBezTo>
                  <a:pt x="117872" y="146570"/>
                  <a:pt x="114925" y="151794"/>
                  <a:pt x="110070" y="154707"/>
                </a:cubicBezTo>
                <a:lnTo>
                  <a:pt x="80535" y="172421"/>
                </a:lnTo>
                <a:cubicBezTo>
                  <a:pt x="73402" y="176707"/>
                  <a:pt x="64294" y="171550"/>
                  <a:pt x="64294" y="163246"/>
                </a:cubicBezTo>
                <a:lnTo>
                  <a:pt x="64294" y="128588"/>
                </a:lnTo>
                <a:cubicBezTo>
                  <a:pt x="64294" y="116767"/>
                  <a:pt x="54683" y="107156"/>
                  <a:pt x="42863" y="107156"/>
                </a:cubicBezTo>
                <a:lnTo>
                  <a:pt x="42829" y="107156"/>
                </a:lnTo>
                <a:close/>
                <a:moveTo>
                  <a:pt x="133945" y="53578"/>
                </a:moveTo>
                <a:cubicBezTo>
                  <a:pt x="133945" y="44707"/>
                  <a:pt x="126743" y="37505"/>
                  <a:pt x="117872" y="37505"/>
                </a:cubicBezTo>
                <a:cubicBezTo>
                  <a:pt x="109001" y="37505"/>
                  <a:pt x="101798" y="44707"/>
                  <a:pt x="101798" y="53578"/>
                </a:cubicBezTo>
                <a:cubicBezTo>
                  <a:pt x="101798" y="62449"/>
                  <a:pt x="109001" y="69652"/>
                  <a:pt x="117872" y="69652"/>
                </a:cubicBezTo>
                <a:cubicBezTo>
                  <a:pt x="126743" y="69652"/>
                  <a:pt x="133945" y="62449"/>
                  <a:pt x="133945" y="53578"/>
                </a:cubicBezTo>
                <a:close/>
              </a:path>
            </a:pathLst>
          </a:custGeom>
          <a:solidFill>
            <a:srgbClr val="FFFFFF"/>
          </a:solidFill>
          <a:ln/>
        </p:spPr>
      </p:sp>
      <p:sp>
        <p:nvSpPr>
          <p:cNvPr id="4" name="Text 2"/>
          <p:cNvSpPr/>
          <p:nvPr/>
        </p:nvSpPr>
        <p:spPr>
          <a:xfrm>
            <a:off x="876300" y="381000"/>
            <a:ext cx="3810000" cy="190500"/>
          </a:xfrm>
          <a:prstGeom prst="rect">
            <a:avLst/>
          </a:prstGeom>
          <a:noFill/>
          <a:ln/>
        </p:spPr>
        <p:txBody>
          <a:bodyPr wrap="square" lIns="0" tIns="0" rIns="0" bIns="0" rtlCol="0" anchor="ctr"/>
          <a:lstStyle/>
          <a:p>
            <a:pPr>
              <a:lnSpc>
                <a:spcPct val="120000"/>
              </a:lnSpc>
            </a:pPr>
            <a:r>
              <a:rPr lang="en-US" sz="1050" b="1" spc="53" kern="0" dirty="0">
                <a:solidFill>
                  <a:srgbClr val="3B82F6"/>
                </a:solidFill>
                <a:latin typeface="MiSans" pitchFamily="34" charset="0"/>
                <a:ea typeface="MiSans" pitchFamily="34" charset="-122"/>
                <a:cs typeface="MiSans" pitchFamily="34" charset="-120"/>
              </a:rPr>
              <a:t>CHƯƠNG 16 | NỘI DUNG</a:t>
            </a:r>
            <a:endParaRPr lang="en-US" sz="1600" dirty="0"/>
          </a:p>
        </p:txBody>
      </p:sp>
      <p:sp>
        <p:nvSpPr>
          <p:cNvPr id="5" name="Text 3"/>
          <p:cNvSpPr/>
          <p:nvPr/>
        </p:nvSpPr>
        <p:spPr>
          <a:xfrm>
            <a:off x="876300" y="571500"/>
            <a:ext cx="38862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Sự trỗi dậy nhanh của GenAI</a:t>
            </a:r>
            <a:endParaRPr lang="en-US" sz="1600" dirty="0"/>
          </a:p>
        </p:txBody>
      </p:sp>
      <p:sp>
        <p:nvSpPr>
          <p:cNvPr id="6" name="Shape 4"/>
          <p:cNvSpPr/>
          <p:nvPr/>
        </p:nvSpPr>
        <p:spPr>
          <a:xfrm>
            <a:off x="385763" y="1147763"/>
            <a:ext cx="11420475" cy="542925"/>
          </a:xfrm>
          <a:custGeom>
            <a:avLst/>
            <a:gdLst/>
            <a:ahLst/>
            <a:cxnLst/>
            <a:rect l="l" t="t" r="r" b="b"/>
            <a:pathLst>
              <a:path w="11420475" h="542925">
                <a:moveTo>
                  <a:pt x="114302" y="0"/>
                </a:moveTo>
                <a:lnTo>
                  <a:pt x="11306173" y="0"/>
                </a:lnTo>
                <a:cubicBezTo>
                  <a:pt x="11369300" y="0"/>
                  <a:pt x="11420475" y="51175"/>
                  <a:pt x="11420475" y="114302"/>
                </a:cubicBezTo>
                <a:lnTo>
                  <a:pt x="11420475" y="428623"/>
                </a:lnTo>
                <a:cubicBezTo>
                  <a:pt x="11420475" y="491750"/>
                  <a:pt x="11369300" y="542925"/>
                  <a:pt x="11306173" y="542925"/>
                </a:cubicBezTo>
                <a:lnTo>
                  <a:pt x="114302" y="542925"/>
                </a:lnTo>
                <a:cubicBezTo>
                  <a:pt x="51175" y="542925"/>
                  <a:pt x="0" y="491750"/>
                  <a:pt x="0" y="428623"/>
                </a:cubicBezTo>
                <a:lnTo>
                  <a:pt x="0" y="114302"/>
                </a:lnTo>
                <a:cubicBezTo>
                  <a:pt x="0" y="51175"/>
                  <a:pt x="51175" y="0"/>
                  <a:pt x="114302" y="0"/>
                </a:cubicBezTo>
                <a:close/>
              </a:path>
            </a:pathLst>
          </a:custGeom>
          <a:gradFill rotWithShape="1" flip="none">
            <a:gsLst>
              <a:gs pos="0">
                <a:srgbClr val="3B82F6">
                  <a:alpha val="10000"/>
                </a:srgbClr>
              </a:gs>
              <a:gs pos="100000">
                <a:srgbClr val="3B82F6">
                  <a:alpha val="5000"/>
                </a:srgbClr>
              </a:gs>
            </a:gsLst>
            <a:lin ang="0" scaled="1"/>
          </a:gradFill>
          <a:ln w="12700">
            <a:solidFill>
              <a:srgbClr val="3B82F6">
                <a:alpha val="30196"/>
              </a:srgbClr>
            </a:solidFill>
            <a:prstDash val="solid"/>
          </a:ln>
        </p:spPr>
      </p:sp>
      <p:sp>
        <p:nvSpPr>
          <p:cNvPr id="7" name="Text 5"/>
          <p:cNvSpPr/>
          <p:nvPr/>
        </p:nvSpPr>
        <p:spPr>
          <a:xfrm>
            <a:off x="542925" y="1304925"/>
            <a:ext cx="11182350" cy="228600"/>
          </a:xfrm>
          <a:prstGeom prst="rect">
            <a:avLst/>
          </a:prstGeom>
          <a:noFill/>
          <a:ln/>
        </p:spPr>
        <p:txBody>
          <a:bodyPr wrap="square" lIns="0" tIns="0" rIns="0" bIns="0" rtlCol="0" anchor="ctr"/>
          <a:lstStyle/>
          <a:p>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Từ đột phá </a:t>
            </a:r>
            <a:pPr>
              <a:lnSpc>
                <a:spcPct val="130000"/>
              </a:lnSpc>
            </a:pPr>
            <a:r>
              <a:rPr lang="en-US" sz="1200" b="1" dirty="0">
                <a:solidFill>
                  <a:srgbClr val="3B82F6"/>
                </a:solidFill>
                <a:latin typeface="MiSans" pitchFamily="34" charset="0"/>
                <a:ea typeface="MiSans" pitchFamily="34" charset="-122"/>
                <a:cs typeface="MiSans" pitchFamily="34" charset="-120"/>
              </a:rPr>
              <a:t>AlexNet (2012)</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đến </a:t>
            </a:r>
            <a:pPr>
              <a:lnSpc>
                <a:spcPct val="130000"/>
              </a:lnSpc>
            </a:pPr>
            <a:r>
              <a:rPr lang="en-US" sz="1200" b="1" dirty="0">
                <a:solidFill>
                  <a:srgbClr val="8B5CF6"/>
                </a:solidFill>
                <a:latin typeface="MiSans" pitchFamily="34" charset="0"/>
                <a:ea typeface="MiSans" pitchFamily="34" charset="-122"/>
                <a:cs typeface="MiSans" pitchFamily="34" charset="-120"/>
              </a:rPr>
              <a:t>Transformer (2017)</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và </a:t>
            </a:r>
            <a:pPr>
              <a:lnSpc>
                <a:spcPct val="130000"/>
              </a:lnSpc>
            </a:pPr>
            <a:r>
              <a:rPr lang="en-US" sz="1200" b="1" dirty="0">
                <a:solidFill>
                  <a:srgbClr val="10B981"/>
                </a:solidFill>
                <a:latin typeface="MiSans" pitchFamily="34" charset="0"/>
                <a:ea typeface="MiSans" pitchFamily="34" charset="-122"/>
                <a:cs typeface="MiSans" pitchFamily="34" charset="-120"/>
              </a:rPr>
              <a:t>LLM (GPT-1 → GPT-4)</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AI đã chuyển từ nghiên cứu sang giá trị ứng dụng rộng rãi.</a:t>
            </a:r>
            <a:endParaRPr lang="en-US" sz="1600" dirty="0"/>
          </a:p>
        </p:txBody>
      </p:sp>
      <p:sp>
        <p:nvSpPr>
          <p:cNvPr id="8" name="Shape 6"/>
          <p:cNvSpPr/>
          <p:nvPr/>
        </p:nvSpPr>
        <p:spPr>
          <a:xfrm>
            <a:off x="385763" y="1852612"/>
            <a:ext cx="2733675" cy="3038475"/>
          </a:xfrm>
          <a:custGeom>
            <a:avLst/>
            <a:gdLst/>
            <a:ahLst/>
            <a:cxnLst/>
            <a:rect l="l" t="t" r="r" b="b"/>
            <a:pathLst>
              <a:path w="2733675" h="3038475">
                <a:moveTo>
                  <a:pt x="114295" y="0"/>
                </a:moveTo>
                <a:lnTo>
                  <a:pt x="2619380" y="0"/>
                </a:lnTo>
                <a:cubicBezTo>
                  <a:pt x="2682503" y="0"/>
                  <a:pt x="2733675" y="51172"/>
                  <a:pt x="2733675" y="114295"/>
                </a:cubicBezTo>
                <a:lnTo>
                  <a:pt x="2733675" y="2924180"/>
                </a:lnTo>
                <a:cubicBezTo>
                  <a:pt x="2733675" y="2987303"/>
                  <a:pt x="2682503" y="3038475"/>
                  <a:pt x="2619380" y="3038475"/>
                </a:cubicBezTo>
                <a:lnTo>
                  <a:pt x="114295" y="3038475"/>
                </a:lnTo>
                <a:cubicBezTo>
                  <a:pt x="51172" y="3038475"/>
                  <a:pt x="0" y="2987303"/>
                  <a:pt x="0" y="2924180"/>
                </a:cubicBezTo>
                <a:lnTo>
                  <a:pt x="0" y="114295"/>
                </a:lnTo>
                <a:cubicBezTo>
                  <a:pt x="0" y="51214"/>
                  <a:pt x="51214" y="0"/>
                  <a:pt x="114295" y="0"/>
                </a:cubicBezTo>
                <a:close/>
              </a:path>
            </a:pathLst>
          </a:custGeom>
          <a:solidFill>
            <a:srgbClr val="0F172A"/>
          </a:solidFill>
          <a:ln w="12700">
            <a:solidFill>
              <a:srgbClr val="3B82F6">
                <a:alpha val="30196"/>
              </a:srgbClr>
            </a:solidFill>
            <a:prstDash val="solid"/>
          </a:ln>
        </p:spPr>
      </p:sp>
      <p:sp>
        <p:nvSpPr>
          <p:cNvPr id="9" name="Shape 7"/>
          <p:cNvSpPr/>
          <p:nvPr/>
        </p:nvSpPr>
        <p:spPr>
          <a:xfrm>
            <a:off x="1355080" y="2009775"/>
            <a:ext cx="790575" cy="457200"/>
          </a:xfrm>
          <a:custGeom>
            <a:avLst/>
            <a:gdLst/>
            <a:ahLst/>
            <a:cxnLst/>
            <a:rect l="l" t="t" r="r" b="b"/>
            <a:pathLst>
              <a:path w="790575" h="457200">
                <a:moveTo>
                  <a:pt x="76202" y="0"/>
                </a:moveTo>
                <a:lnTo>
                  <a:pt x="714373" y="0"/>
                </a:lnTo>
                <a:cubicBezTo>
                  <a:pt x="756458" y="0"/>
                  <a:pt x="790575" y="34117"/>
                  <a:pt x="790575" y="76202"/>
                </a:cubicBezTo>
                <a:lnTo>
                  <a:pt x="790575" y="380998"/>
                </a:lnTo>
                <a:cubicBezTo>
                  <a:pt x="790575" y="423083"/>
                  <a:pt x="756458" y="457200"/>
                  <a:pt x="714373" y="457200"/>
                </a:cubicBezTo>
                <a:lnTo>
                  <a:pt x="76202" y="457200"/>
                </a:lnTo>
                <a:cubicBezTo>
                  <a:pt x="34145" y="457200"/>
                  <a:pt x="0" y="423055"/>
                  <a:pt x="0" y="380998"/>
                </a:cubicBezTo>
                <a:lnTo>
                  <a:pt x="0" y="76202"/>
                </a:lnTo>
                <a:cubicBezTo>
                  <a:pt x="0" y="34145"/>
                  <a:pt x="34145" y="0"/>
                  <a:pt x="76202" y="0"/>
                </a:cubicBezTo>
                <a:close/>
              </a:path>
            </a:pathLst>
          </a:custGeom>
          <a:solidFill>
            <a:srgbClr val="3B82F6">
              <a:alpha val="20000"/>
            </a:srgbClr>
          </a:solidFill>
          <a:ln/>
        </p:spPr>
      </p:sp>
      <p:sp>
        <p:nvSpPr>
          <p:cNvPr id="10" name="Text 8"/>
          <p:cNvSpPr/>
          <p:nvPr/>
        </p:nvSpPr>
        <p:spPr>
          <a:xfrm>
            <a:off x="1450330" y="2085975"/>
            <a:ext cx="600075" cy="304800"/>
          </a:xfrm>
          <a:prstGeom prst="rect">
            <a:avLst/>
          </a:prstGeom>
          <a:noFill/>
          <a:ln/>
        </p:spPr>
        <p:txBody>
          <a:bodyPr wrap="square" lIns="0" tIns="0" rIns="0" bIns="0" rtlCol="0" anchor="ctr"/>
          <a:lstStyle/>
          <a:p>
            <a:pPr algn="ctr">
              <a:lnSpc>
                <a:spcPct val="110000"/>
              </a:lnSpc>
            </a:pPr>
            <a:r>
              <a:rPr lang="en-US" sz="1800" b="1" dirty="0">
                <a:solidFill>
                  <a:srgbClr val="3B82F6"/>
                </a:solidFill>
                <a:latin typeface="MiSans" pitchFamily="34" charset="0"/>
                <a:ea typeface="MiSans" pitchFamily="34" charset="-122"/>
                <a:cs typeface="MiSans" pitchFamily="34" charset="-120"/>
              </a:rPr>
              <a:t>2012</a:t>
            </a:r>
            <a:endParaRPr lang="en-US" sz="1600" dirty="0"/>
          </a:p>
        </p:txBody>
      </p:sp>
      <p:sp>
        <p:nvSpPr>
          <p:cNvPr id="11" name="Text 9"/>
          <p:cNvSpPr/>
          <p:nvPr/>
        </p:nvSpPr>
        <p:spPr>
          <a:xfrm>
            <a:off x="500063" y="2543175"/>
            <a:ext cx="2505075"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AlexNet</a:t>
            </a:r>
            <a:endParaRPr lang="en-US" sz="1600" dirty="0"/>
          </a:p>
        </p:txBody>
      </p:sp>
      <p:sp>
        <p:nvSpPr>
          <p:cNvPr id="12" name="Text 10"/>
          <p:cNvSpPr/>
          <p:nvPr/>
        </p:nvSpPr>
        <p:spPr>
          <a:xfrm>
            <a:off x="509587" y="2924175"/>
            <a:ext cx="2486025" cy="1419225"/>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Đột phá trong Deep Learning, giành chiến thắng ImageNet</a:t>
            </a:r>
            <a:endParaRPr lang="en-US" sz="1600" dirty="0"/>
          </a:p>
        </p:txBody>
      </p:sp>
      <p:sp>
        <p:nvSpPr>
          <p:cNvPr id="13" name="Shape 11"/>
          <p:cNvSpPr/>
          <p:nvPr/>
        </p:nvSpPr>
        <p:spPr>
          <a:xfrm>
            <a:off x="542925" y="44624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14" name="Text 12"/>
          <p:cNvSpPr/>
          <p:nvPr/>
        </p:nvSpPr>
        <p:spPr>
          <a:xfrm>
            <a:off x="514350" y="4581525"/>
            <a:ext cx="247650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Bắt đầu kỷ nguyên Deep Learning</a:t>
            </a:r>
            <a:endParaRPr lang="en-US" sz="1600" dirty="0"/>
          </a:p>
        </p:txBody>
      </p:sp>
      <p:sp>
        <p:nvSpPr>
          <p:cNvPr id="15" name="Shape 13"/>
          <p:cNvSpPr/>
          <p:nvPr/>
        </p:nvSpPr>
        <p:spPr>
          <a:xfrm>
            <a:off x="3281363" y="1852612"/>
            <a:ext cx="2733675" cy="3038475"/>
          </a:xfrm>
          <a:custGeom>
            <a:avLst/>
            <a:gdLst/>
            <a:ahLst/>
            <a:cxnLst/>
            <a:rect l="l" t="t" r="r" b="b"/>
            <a:pathLst>
              <a:path w="2733675" h="3038475">
                <a:moveTo>
                  <a:pt x="114295" y="0"/>
                </a:moveTo>
                <a:lnTo>
                  <a:pt x="2619380" y="0"/>
                </a:lnTo>
                <a:cubicBezTo>
                  <a:pt x="2682503" y="0"/>
                  <a:pt x="2733675" y="51172"/>
                  <a:pt x="2733675" y="114295"/>
                </a:cubicBezTo>
                <a:lnTo>
                  <a:pt x="2733675" y="2924180"/>
                </a:lnTo>
                <a:cubicBezTo>
                  <a:pt x="2733675" y="2987303"/>
                  <a:pt x="2682503" y="3038475"/>
                  <a:pt x="2619380" y="3038475"/>
                </a:cubicBezTo>
                <a:lnTo>
                  <a:pt x="114295" y="3038475"/>
                </a:lnTo>
                <a:cubicBezTo>
                  <a:pt x="51172" y="3038475"/>
                  <a:pt x="0" y="2987303"/>
                  <a:pt x="0" y="2924180"/>
                </a:cubicBezTo>
                <a:lnTo>
                  <a:pt x="0" y="114295"/>
                </a:lnTo>
                <a:cubicBezTo>
                  <a:pt x="0" y="51214"/>
                  <a:pt x="51214" y="0"/>
                  <a:pt x="114295" y="0"/>
                </a:cubicBezTo>
                <a:close/>
              </a:path>
            </a:pathLst>
          </a:custGeom>
          <a:solidFill>
            <a:srgbClr val="0F172A"/>
          </a:solidFill>
          <a:ln w="12700">
            <a:solidFill>
              <a:srgbClr val="8B5CF6">
                <a:alpha val="30196"/>
              </a:srgbClr>
            </a:solidFill>
            <a:prstDash val="solid"/>
          </a:ln>
        </p:spPr>
      </p:sp>
      <p:sp>
        <p:nvSpPr>
          <p:cNvPr id="16" name="Shape 14"/>
          <p:cNvSpPr/>
          <p:nvPr/>
        </p:nvSpPr>
        <p:spPr>
          <a:xfrm>
            <a:off x="4255740" y="2009775"/>
            <a:ext cx="781050" cy="457200"/>
          </a:xfrm>
          <a:custGeom>
            <a:avLst/>
            <a:gdLst/>
            <a:ahLst/>
            <a:cxnLst/>
            <a:rect l="l" t="t" r="r" b="b"/>
            <a:pathLst>
              <a:path w="781050" h="457200">
                <a:moveTo>
                  <a:pt x="76202" y="0"/>
                </a:moveTo>
                <a:lnTo>
                  <a:pt x="704848" y="0"/>
                </a:lnTo>
                <a:cubicBezTo>
                  <a:pt x="746933" y="0"/>
                  <a:pt x="781050" y="34117"/>
                  <a:pt x="781050" y="76202"/>
                </a:cubicBezTo>
                <a:lnTo>
                  <a:pt x="781050" y="380998"/>
                </a:lnTo>
                <a:cubicBezTo>
                  <a:pt x="781050" y="423083"/>
                  <a:pt x="746933" y="457200"/>
                  <a:pt x="704848" y="457200"/>
                </a:cubicBezTo>
                <a:lnTo>
                  <a:pt x="76202" y="457200"/>
                </a:lnTo>
                <a:cubicBezTo>
                  <a:pt x="34145" y="457200"/>
                  <a:pt x="0" y="423055"/>
                  <a:pt x="0" y="380998"/>
                </a:cubicBezTo>
                <a:lnTo>
                  <a:pt x="0" y="76202"/>
                </a:lnTo>
                <a:cubicBezTo>
                  <a:pt x="0" y="34145"/>
                  <a:pt x="34145" y="0"/>
                  <a:pt x="76202" y="0"/>
                </a:cubicBezTo>
                <a:close/>
              </a:path>
            </a:pathLst>
          </a:custGeom>
          <a:solidFill>
            <a:srgbClr val="8B5CF6">
              <a:alpha val="20000"/>
            </a:srgbClr>
          </a:solidFill>
          <a:ln/>
        </p:spPr>
      </p:sp>
      <p:sp>
        <p:nvSpPr>
          <p:cNvPr id="17" name="Text 15"/>
          <p:cNvSpPr/>
          <p:nvPr/>
        </p:nvSpPr>
        <p:spPr>
          <a:xfrm>
            <a:off x="4350990" y="2085975"/>
            <a:ext cx="590550" cy="304800"/>
          </a:xfrm>
          <a:prstGeom prst="rect">
            <a:avLst/>
          </a:prstGeom>
          <a:noFill/>
          <a:ln/>
        </p:spPr>
        <p:txBody>
          <a:bodyPr wrap="square" lIns="0" tIns="0" rIns="0" bIns="0" rtlCol="0" anchor="ctr"/>
          <a:lstStyle/>
          <a:p>
            <a:pPr algn="ctr">
              <a:lnSpc>
                <a:spcPct val="110000"/>
              </a:lnSpc>
            </a:pPr>
            <a:r>
              <a:rPr lang="en-US" sz="1800" b="1" dirty="0">
                <a:solidFill>
                  <a:srgbClr val="8B5CF6"/>
                </a:solidFill>
                <a:latin typeface="MiSans" pitchFamily="34" charset="0"/>
                <a:ea typeface="MiSans" pitchFamily="34" charset="-122"/>
                <a:cs typeface="MiSans" pitchFamily="34" charset="-120"/>
              </a:rPr>
              <a:t>2017</a:t>
            </a:r>
            <a:endParaRPr lang="en-US" sz="1600" dirty="0"/>
          </a:p>
        </p:txBody>
      </p:sp>
      <p:sp>
        <p:nvSpPr>
          <p:cNvPr id="18" name="Text 16"/>
          <p:cNvSpPr/>
          <p:nvPr/>
        </p:nvSpPr>
        <p:spPr>
          <a:xfrm>
            <a:off x="3395663" y="2543175"/>
            <a:ext cx="2505075"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Transformer</a:t>
            </a:r>
            <a:endParaRPr lang="en-US" sz="1600" dirty="0"/>
          </a:p>
        </p:txBody>
      </p:sp>
      <p:sp>
        <p:nvSpPr>
          <p:cNvPr id="19" name="Text 17"/>
          <p:cNvSpPr/>
          <p:nvPr/>
        </p:nvSpPr>
        <p:spPr>
          <a:xfrm>
            <a:off x="3405188" y="2924175"/>
            <a:ext cx="2486025" cy="1419225"/>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Kiến trúc Attention is All You Need, nền tảng cho LLM</a:t>
            </a:r>
            <a:endParaRPr lang="en-US" sz="1600" dirty="0"/>
          </a:p>
        </p:txBody>
      </p:sp>
      <p:sp>
        <p:nvSpPr>
          <p:cNvPr id="20" name="Shape 18"/>
          <p:cNvSpPr/>
          <p:nvPr/>
        </p:nvSpPr>
        <p:spPr>
          <a:xfrm>
            <a:off x="3438525" y="44624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21" name="Text 19"/>
          <p:cNvSpPr/>
          <p:nvPr/>
        </p:nvSpPr>
        <p:spPr>
          <a:xfrm>
            <a:off x="3409950" y="4581525"/>
            <a:ext cx="247650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Cách mạng xử lý ngôn ngữ tự nhiên</a:t>
            </a:r>
            <a:endParaRPr lang="en-US" sz="1600" dirty="0"/>
          </a:p>
        </p:txBody>
      </p:sp>
      <p:sp>
        <p:nvSpPr>
          <p:cNvPr id="22" name="Shape 20"/>
          <p:cNvSpPr/>
          <p:nvPr/>
        </p:nvSpPr>
        <p:spPr>
          <a:xfrm>
            <a:off x="6176963" y="1852612"/>
            <a:ext cx="2733675" cy="3038475"/>
          </a:xfrm>
          <a:custGeom>
            <a:avLst/>
            <a:gdLst/>
            <a:ahLst/>
            <a:cxnLst/>
            <a:rect l="l" t="t" r="r" b="b"/>
            <a:pathLst>
              <a:path w="2733675" h="3038475">
                <a:moveTo>
                  <a:pt x="114295" y="0"/>
                </a:moveTo>
                <a:lnTo>
                  <a:pt x="2619380" y="0"/>
                </a:lnTo>
                <a:cubicBezTo>
                  <a:pt x="2682503" y="0"/>
                  <a:pt x="2733675" y="51172"/>
                  <a:pt x="2733675" y="114295"/>
                </a:cubicBezTo>
                <a:lnTo>
                  <a:pt x="2733675" y="2924180"/>
                </a:lnTo>
                <a:cubicBezTo>
                  <a:pt x="2733675" y="2987303"/>
                  <a:pt x="2682503" y="3038475"/>
                  <a:pt x="2619380" y="3038475"/>
                </a:cubicBezTo>
                <a:lnTo>
                  <a:pt x="114295" y="3038475"/>
                </a:lnTo>
                <a:cubicBezTo>
                  <a:pt x="51172" y="3038475"/>
                  <a:pt x="0" y="2987303"/>
                  <a:pt x="0" y="2924180"/>
                </a:cubicBezTo>
                <a:lnTo>
                  <a:pt x="0" y="114295"/>
                </a:lnTo>
                <a:cubicBezTo>
                  <a:pt x="0" y="51214"/>
                  <a:pt x="51214" y="0"/>
                  <a:pt x="114295" y="0"/>
                </a:cubicBezTo>
                <a:close/>
              </a:path>
            </a:pathLst>
          </a:custGeom>
          <a:solidFill>
            <a:srgbClr val="0F172A"/>
          </a:solidFill>
          <a:ln w="12700">
            <a:solidFill>
              <a:srgbClr val="10B981">
                <a:alpha val="30196"/>
              </a:srgbClr>
            </a:solidFill>
            <a:prstDash val="solid"/>
          </a:ln>
        </p:spPr>
      </p:sp>
      <p:sp>
        <p:nvSpPr>
          <p:cNvPr id="23" name="Shape 21"/>
          <p:cNvSpPr/>
          <p:nvPr/>
        </p:nvSpPr>
        <p:spPr>
          <a:xfrm>
            <a:off x="6959501" y="2009775"/>
            <a:ext cx="1171575" cy="457200"/>
          </a:xfrm>
          <a:custGeom>
            <a:avLst/>
            <a:gdLst/>
            <a:ahLst/>
            <a:cxnLst/>
            <a:rect l="l" t="t" r="r" b="b"/>
            <a:pathLst>
              <a:path w="1171575" h="457200">
                <a:moveTo>
                  <a:pt x="76202" y="0"/>
                </a:moveTo>
                <a:lnTo>
                  <a:pt x="1095373" y="0"/>
                </a:lnTo>
                <a:cubicBezTo>
                  <a:pt x="1137458" y="0"/>
                  <a:pt x="1171575" y="34117"/>
                  <a:pt x="1171575" y="76202"/>
                </a:cubicBezTo>
                <a:lnTo>
                  <a:pt x="1171575" y="380998"/>
                </a:lnTo>
                <a:cubicBezTo>
                  <a:pt x="1171575" y="423083"/>
                  <a:pt x="1137458" y="457200"/>
                  <a:pt x="1095373" y="457200"/>
                </a:cubicBezTo>
                <a:lnTo>
                  <a:pt x="76202" y="457200"/>
                </a:lnTo>
                <a:cubicBezTo>
                  <a:pt x="34145" y="457200"/>
                  <a:pt x="0" y="423055"/>
                  <a:pt x="0" y="380998"/>
                </a:cubicBezTo>
                <a:lnTo>
                  <a:pt x="0" y="76202"/>
                </a:lnTo>
                <a:cubicBezTo>
                  <a:pt x="0" y="34145"/>
                  <a:pt x="34145" y="0"/>
                  <a:pt x="76202" y="0"/>
                </a:cubicBezTo>
                <a:close/>
              </a:path>
            </a:pathLst>
          </a:custGeom>
          <a:solidFill>
            <a:srgbClr val="10B981">
              <a:alpha val="20000"/>
            </a:srgbClr>
          </a:solidFill>
          <a:ln/>
        </p:spPr>
      </p:sp>
      <p:sp>
        <p:nvSpPr>
          <p:cNvPr id="24" name="Text 22"/>
          <p:cNvSpPr/>
          <p:nvPr/>
        </p:nvSpPr>
        <p:spPr>
          <a:xfrm>
            <a:off x="7054751" y="2085975"/>
            <a:ext cx="981075" cy="304800"/>
          </a:xfrm>
          <a:prstGeom prst="rect">
            <a:avLst/>
          </a:prstGeom>
          <a:noFill/>
          <a:ln/>
        </p:spPr>
        <p:txBody>
          <a:bodyPr wrap="square" lIns="0" tIns="0" rIns="0" bIns="0" rtlCol="0" anchor="ctr"/>
          <a:lstStyle/>
          <a:p>
            <a:pPr algn="ctr">
              <a:lnSpc>
                <a:spcPct val="110000"/>
              </a:lnSpc>
            </a:pPr>
            <a:r>
              <a:rPr lang="en-US" sz="1800" b="1" dirty="0">
                <a:solidFill>
                  <a:srgbClr val="10B981"/>
                </a:solidFill>
                <a:latin typeface="MiSans" pitchFamily="34" charset="0"/>
                <a:ea typeface="MiSans" pitchFamily="34" charset="-122"/>
                <a:cs typeface="MiSans" pitchFamily="34" charset="-120"/>
              </a:rPr>
              <a:t>2018-22</a:t>
            </a:r>
            <a:endParaRPr lang="en-US" sz="1600" dirty="0"/>
          </a:p>
        </p:txBody>
      </p:sp>
      <p:sp>
        <p:nvSpPr>
          <p:cNvPr id="25" name="Text 23"/>
          <p:cNvSpPr/>
          <p:nvPr/>
        </p:nvSpPr>
        <p:spPr>
          <a:xfrm>
            <a:off x="6291263" y="2543175"/>
            <a:ext cx="2505075"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GPT Era</a:t>
            </a:r>
            <a:endParaRPr lang="en-US" sz="1600" dirty="0"/>
          </a:p>
        </p:txBody>
      </p:sp>
      <p:sp>
        <p:nvSpPr>
          <p:cNvPr id="26" name="Text 24"/>
          <p:cNvSpPr/>
          <p:nvPr/>
        </p:nvSpPr>
        <p:spPr>
          <a:xfrm>
            <a:off x="6300788" y="2924175"/>
            <a:ext cx="2486025" cy="1419225"/>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GPT-1 → GPT-4, khả năng sinh văn bản ngày càng mạnh</a:t>
            </a:r>
            <a:endParaRPr lang="en-US" sz="1600" dirty="0"/>
          </a:p>
        </p:txBody>
      </p:sp>
      <p:sp>
        <p:nvSpPr>
          <p:cNvPr id="27" name="Shape 25"/>
          <p:cNvSpPr/>
          <p:nvPr/>
        </p:nvSpPr>
        <p:spPr>
          <a:xfrm>
            <a:off x="6334125" y="44624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28" name="Text 26"/>
          <p:cNvSpPr/>
          <p:nvPr/>
        </p:nvSpPr>
        <p:spPr>
          <a:xfrm>
            <a:off x="6305550" y="4581525"/>
            <a:ext cx="247650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Large Language Models</a:t>
            </a:r>
            <a:endParaRPr lang="en-US" sz="1600" dirty="0"/>
          </a:p>
        </p:txBody>
      </p:sp>
      <p:sp>
        <p:nvSpPr>
          <p:cNvPr id="29" name="Shape 27"/>
          <p:cNvSpPr/>
          <p:nvPr/>
        </p:nvSpPr>
        <p:spPr>
          <a:xfrm>
            <a:off x="9072563" y="1852612"/>
            <a:ext cx="2733675" cy="3038475"/>
          </a:xfrm>
          <a:custGeom>
            <a:avLst/>
            <a:gdLst/>
            <a:ahLst/>
            <a:cxnLst/>
            <a:rect l="l" t="t" r="r" b="b"/>
            <a:pathLst>
              <a:path w="2733675" h="3038475">
                <a:moveTo>
                  <a:pt x="114295" y="0"/>
                </a:moveTo>
                <a:lnTo>
                  <a:pt x="2619380" y="0"/>
                </a:lnTo>
                <a:cubicBezTo>
                  <a:pt x="2682503" y="0"/>
                  <a:pt x="2733675" y="51172"/>
                  <a:pt x="2733675" y="114295"/>
                </a:cubicBezTo>
                <a:lnTo>
                  <a:pt x="2733675" y="2924180"/>
                </a:lnTo>
                <a:cubicBezTo>
                  <a:pt x="2733675" y="2987303"/>
                  <a:pt x="2682503" y="3038475"/>
                  <a:pt x="2619380" y="3038475"/>
                </a:cubicBezTo>
                <a:lnTo>
                  <a:pt x="114295" y="3038475"/>
                </a:lnTo>
                <a:cubicBezTo>
                  <a:pt x="51172" y="3038475"/>
                  <a:pt x="0" y="2987303"/>
                  <a:pt x="0" y="2924180"/>
                </a:cubicBezTo>
                <a:lnTo>
                  <a:pt x="0" y="114295"/>
                </a:lnTo>
                <a:cubicBezTo>
                  <a:pt x="0" y="51214"/>
                  <a:pt x="51214" y="0"/>
                  <a:pt x="114295" y="0"/>
                </a:cubicBezTo>
                <a:close/>
              </a:path>
            </a:pathLst>
          </a:custGeom>
          <a:solidFill>
            <a:srgbClr val="0F172A"/>
          </a:solidFill>
          <a:ln w="12700">
            <a:solidFill>
              <a:srgbClr val="F59E0B">
                <a:alpha val="30196"/>
              </a:srgbClr>
            </a:solidFill>
            <a:prstDash val="solid"/>
          </a:ln>
        </p:spPr>
      </p:sp>
      <p:sp>
        <p:nvSpPr>
          <p:cNvPr id="30" name="Shape 28"/>
          <p:cNvSpPr/>
          <p:nvPr/>
        </p:nvSpPr>
        <p:spPr>
          <a:xfrm>
            <a:off x="9953774" y="2009775"/>
            <a:ext cx="971550" cy="457200"/>
          </a:xfrm>
          <a:custGeom>
            <a:avLst/>
            <a:gdLst/>
            <a:ahLst/>
            <a:cxnLst/>
            <a:rect l="l" t="t" r="r" b="b"/>
            <a:pathLst>
              <a:path w="971550" h="457200">
                <a:moveTo>
                  <a:pt x="76202" y="0"/>
                </a:moveTo>
                <a:lnTo>
                  <a:pt x="895348" y="0"/>
                </a:lnTo>
                <a:cubicBezTo>
                  <a:pt x="937433" y="0"/>
                  <a:pt x="971550" y="34117"/>
                  <a:pt x="971550" y="76202"/>
                </a:cubicBezTo>
                <a:lnTo>
                  <a:pt x="971550" y="380998"/>
                </a:lnTo>
                <a:cubicBezTo>
                  <a:pt x="971550" y="423083"/>
                  <a:pt x="937433" y="457200"/>
                  <a:pt x="895348" y="457200"/>
                </a:cubicBezTo>
                <a:lnTo>
                  <a:pt x="76202" y="457200"/>
                </a:lnTo>
                <a:cubicBezTo>
                  <a:pt x="34145" y="457200"/>
                  <a:pt x="0" y="423055"/>
                  <a:pt x="0" y="380998"/>
                </a:cubicBezTo>
                <a:lnTo>
                  <a:pt x="0" y="76202"/>
                </a:lnTo>
                <a:cubicBezTo>
                  <a:pt x="0" y="34145"/>
                  <a:pt x="34145" y="0"/>
                  <a:pt x="76202" y="0"/>
                </a:cubicBezTo>
                <a:close/>
              </a:path>
            </a:pathLst>
          </a:custGeom>
          <a:solidFill>
            <a:srgbClr val="F59E0B">
              <a:alpha val="20000"/>
            </a:srgbClr>
          </a:solidFill>
          <a:ln/>
        </p:spPr>
      </p:sp>
      <p:sp>
        <p:nvSpPr>
          <p:cNvPr id="31" name="Text 29"/>
          <p:cNvSpPr/>
          <p:nvPr/>
        </p:nvSpPr>
        <p:spPr>
          <a:xfrm>
            <a:off x="10049024" y="2085975"/>
            <a:ext cx="781050" cy="304800"/>
          </a:xfrm>
          <a:prstGeom prst="rect">
            <a:avLst/>
          </a:prstGeom>
          <a:noFill/>
          <a:ln/>
        </p:spPr>
        <p:txBody>
          <a:bodyPr wrap="square" lIns="0" tIns="0" rIns="0" bIns="0" rtlCol="0" anchor="ctr"/>
          <a:lstStyle/>
          <a:p>
            <a:pPr algn="ctr">
              <a:lnSpc>
                <a:spcPct val="110000"/>
              </a:lnSpc>
            </a:pPr>
            <a:r>
              <a:rPr lang="en-US" sz="1800" b="1" dirty="0">
                <a:solidFill>
                  <a:srgbClr val="F59E0B"/>
                </a:solidFill>
                <a:latin typeface="MiSans" pitchFamily="34" charset="0"/>
                <a:ea typeface="MiSans" pitchFamily="34" charset="-122"/>
                <a:cs typeface="MiSans" pitchFamily="34" charset="-120"/>
              </a:rPr>
              <a:t>2022+</a:t>
            </a:r>
            <a:endParaRPr lang="en-US" sz="1600" dirty="0"/>
          </a:p>
        </p:txBody>
      </p:sp>
      <p:sp>
        <p:nvSpPr>
          <p:cNvPr id="32" name="Text 30"/>
          <p:cNvSpPr/>
          <p:nvPr/>
        </p:nvSpPr>
        <p:spPr>
          <a:xfrm>
            <a:off x="9186863" y="2543175"/>
            <a:ext cx="2505075" cy="266700"/>
          </a:xfrm>
          <a:prstGeom prst="rect">
            <a:avLst/>
          </a:prstGeom>
          <a:noFill/>
          <a:ln/>
        </p:spPr>
        <p:txBody>
          <a:bodyPr wrap="square" lIns="0" tIns="0" rIns="0" bIns="0" rtlCol="0" anchor="ctr"/>
          <a:lstStyle/>
          <a:p>
            <a:pPr algn="ctr">
              <a:lnSpc>
                <a:spcPct val="130000"/>
              </a:lnSpc>
            </a:pPr>
            <a:r>
              <a:rPr lang="en-US" sz="1350" b="1" dirty="0">
                <a:solidFill>
                  <a:srgbClr val="F1F5F9"/>
                </a:solidFill>
                <a:latin typeface="MiSans" pitchFamily="34" charset="0"/>
                <a:ea typeface="MiSans" pitchFamily="34" charset="-122"/>
                <a:cs typeface="MiSans" pitchFamily="34" charset="-120"/>
              </a:rPr>
              <a:t>ChatGPT/Copilot</a:t>
            </a:r>
            <a:endParaRPr lang="en-US" sz="1600" dirty="0"/>
          </a:p>
        </p:txBody>
      </p:sp>
      <p:sp>
        <p:nvSpPr>
          <p:cNvPr id="33" name="Text 31"/>
          <p:cNvSpPr/>
          <p:nvPr/>
        </p:nvSpPr>
        <p:spPr>
          <a:xfrm>
            <a:off x="9196388" y="2924175"/>
            <a:ext cx="2486025" cy="1419225"/>
          </a:xfrm>
          <a:prstGeom prst="rect">
            <a:avLst/>
          </a:prstGeom>
          <a:noFill/>
          <a:ln/>
        </p:spPr>
        <p:txBody>
          <a:bodyPr wrap="square" lIns="0" tIns="0" rIns="0" bIns="0" rtlCol="0" anchor="ctr"/>
          <a:lstStyle/>
          <a:p>
            <a:pPr algn="ctr">
              <a:lnSpc>
                <a:spcPct val="120000"/>
              </a:lnSpc>
            </a:pPr>
            <a:r>
              <a:rPr lang="en-US" sz="1050" dirty="0">
                <a:solidFill>
                  <a:srgbClr val="F1F5F9">
                    <a:alpha val="80000"/>
                  </a:srgbClr>
                </a:solidFill>
                <a:latin typeface="MiSans" pitchFamily="34" charset="0"/>
                <a:ea typeface="MiSans" pitchFamily="34" charset="-122"/>
                <a:cs typeface="MiSans" pitchFamily="34" charset="-120"/>
              </a:rPr>
              <a:t>Giao diện tương tác AI trở nên đại chúng, giảm rào cản kỹ thuật</a:t>
            </a:r>
            <a:endParaRPr lang="en-US" sz="1600" dirty="0"/>
          </a:p>
        </p:txBody>
      </p:sp>
      <p:sp>
        <p:nvSpPr>
          <p:cNvPr id="34" name="Shape 32"/>
          <p:cNvSpPr/>
          <p:nvPr/>
        </p:nvSpPr>
        <p:spPr>
          <a:xfrm>
            <a:off x="9229725" y="4462463"/>
            <a:ext cx="2419350" cy="9525"/>
          </a:xfrm>
          <a:custGeom>
            <a:avLst/>
            <a:gdLst/>
            <a:ahLst/>
            <a:cxnLst/>
            <a:rect l="l" t="t" r="r" b="b"/>
            <a:pathLst>
              <a:path w="2419350" h="9525">
                <a:moveTo>
                  <a:pt x="0" y="0"/>
                </a:moveTo>
                <a:lnTo>
                  <a:pt x="2419350" y="0"/>
                </a:lnTo>
                <a:lnTo>
                  <a:pt x="2419350" y="9525"/>
                </a:lnTo>
                <a:lnTo>
                  <a:pt x="0" y="9525"/>
                </a:lnTo>
                <a:lnTo>
                  <a:pt x="0" y="0"/>
                </a:lnTo>
                <a:close/>
              </a:path>
            </a:pathLst>
          </a:custGeom>
          <a:solidFill>
            <a:srgbClr val="F1F5F9">
              <a:alpha val="10196"/>
            </a:srgbClr>
          </a:solidFill>
          <a:ln/>
        </p:spPr>
      </p:sp>
      <p:sp>
        <p:nvSpPr>
          <p:cNvPr id="35" name="Text 33"/>
          <p:cNvSpPr/>
          <p:nvPr/>
        </p:nvSpPr>
        <p:spPr>
          <a:xfrm>
            <a:off x="9201150" y="4581525"/>
            <a:ext cx="2476500" cy="152400"/>
          </a:xfrm>
          <a:prstGeom prst="rect">
            <a:avLst/>
          </a:prstGeom>
          <a:noFill/>
          <a:ln/>
        </p:spPr>
        <p:txBody>
          <a:bodyPr wrap="square" lIns="0" tIns="0" rIns="0" bIns="0" rtlCol="0" anchor="ctr"/>
          <a:lstStyle/>
          <a:p>
            <a:pPr algn="ctr">
              <a:lnSpc>
                <a:spcPct val="110000"/>
              </a:lnSpc>
            </a:pPr>
            <a:r>
              <a:rPr lang="en-US" sz="900" dirty="0">
                <a:solidFill>
                  <a:srgbClr val="F1F5F9">
                    <a:alpha val="60000"/>
                  </a:srgbClr>
                </a:solidFill>
                <a:latin typeface="MiSans" pitchFamily="34" charset="0"/>
                <a:ea typeface="MiSans" pitchFamily="34" charset="-122"/>
                <a:cs typeface="MiSans" pitchFamily="34" charset="-120"/>
              </a:rPr>
              <a:t>AI cho mọi ngườ</a:t>
            </a:r>
            <a:endParaRPr lang="en-US" sz="1600" dirty="0"/>
          </a:p>
        </p:txBody>
      </p:sp>
      <p:sp>
        <p:nvSpPr>
          <p:cNvPr id="36" name="Shape 34"/>
          <p:cNvSpPr/>
          <p:nvPr/>
        </p:nvSpPr>
        <p:spPr>
          <a:xfrm>
            <a:off x="385763" y="5053013"/>
            <a:ext cx="5629275" cy="1419225"/>
          </a:xfrm>
          <a:custGeom>
            <a:avLst/>
            <a:gdLst/>
            <a:ahLst/>
            <a:cxnLst/>
            <a:rect l="l" t="t" r="r" b="b"/>
            <a:pathLst>
              <a:path w="5629275" h="1419225">
                <a:moveTo>
                  <a:pt x="114304" y="0"/>
                </a:moveTo>
                <a:lnTo>
                  <a:pt x="5514971" y="0"/>
                </a:lnTo>
                <a:cubicBezTo>
                  <a:pt x="5578099" y="0"/>
                  <a:pt x="5629275" y="51176"/>
                  <a:pt x="5629275" y="114304"/>
                </a:cubicBezTo>
                <a:lnTo>
                  <a:pt x="5629275" y="1304921"/>
                </a:lnTo>
                <a:cubicBezTo>
                  <a:pt x="5629275" y="1368049"/>
                  <a:pt x="5578099" y="1419225"/>
                  <a:pt x="5514971" y="1419225"/>
                </a:cubicBezTo>
                <a:lnTo>
                  <a:pt x="114304" y="1419225"/>
                </a:lnTo>
                <a:cubicBezTo>
                  <a:pt x="51176" y="1419225"/>
                  <a:pt x="0" y="1368049"/>
                  <a:pt x="0" y="1304921"/>
                </a:cubicBezTo>
                <a:lnTo>
                  <a:pt x="0" y="114304"/>
                </a:lnTo>
                <a:cubicBezTo>
                  <a:pt x="0" y="51218"/>
                  <a:pt x="51218" y="0"/>
                  <a:pt x="114304"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37" name="Shape 35"/>
          <p:cNvSpPr/>
          <p:nvPr/>
        </p:nvSpPr>
        <p:spPr>
          <a:xfrm>
            <a:off x="566738" y="5257800"/>
            <a:ext cx="171450" cy="171450"/>
          </a:xfrm>
          <a:custGeom>
            <a:avLst/>
            <a:gdLst/>
            <a:ahLst/>
            <a:cxnLst/>
            <a:rect l="l" t="t" r="r" b="b"/>
            <a:pathLst>
              <a:path w="171450" h="171450">
                <a:moveTo>
                  <a:pt x="21431" y="21431"/>
                </a:moveTo>
                <a:cubicBezTo>
                  <a:pt x="21431" y="15504"/>
                  <a:pt x="16643" y="10716"/>
                  <a:pt x="10716" y="10716"/>
                </a:cubicBezTo>
                <a:cubicBezTo>
                  <a:pt x="4789" y="10716"/>
                  <a:pt x="0" y="15504"/>
                  <a:pt x="0" y="21431"/>
                </a:cubicBezTo>
                <a:lnTo>
                  <a:pt x="0" y="133945"/>
                </a:lnTo>
                <a:cubicBezTo>
                  <a:pt x="0" y="148746"/>
                  <a:pt x="11988" y="160734"/>
                  <a:pt x="26789" y="160734"/>
                </a:cubicBezTo>
                <a:lnTo>
                  <a:pt x="160734" y="160734"/>
                </a:lnTo>
                <a:cubicBezTo>
                  <a:pt x="166661" y="160734"/>
                  <a:pt x="171450" y="155946"/>
                  <a:pt x="171450" y="150019"/>
                </a:cubicBezTo>
                <a:cubicBezTo>
                  <a:pt x="171450" y="144092"/>
                  <a:pt x="166661" y="139303"/>
                  <a:pt x="160734" y="139303"/>
                </a:cubicBezTo>
                <a:lnTo>
                  <a:pt x="26789" y="139303"/>
                </a:lnTo>
                <a:cubicBezTo>
                  <a:pt x="23842" y="139303"/>
                  <a:pt x="21431" y="136892"/>
                  <a:pt x="21431" y="133945"/>
                </a:cubicBezTo>
                <a:lnTo>
                  <a:pt x="21431" y="21431"/>
                </a:lnTo>
                <a:close/>
                <a:moveTo>
                  <a:pt x="157587" y="50430"/>
                </a:moveTo>
                <a:cubicBezTo>
                  <a:pt x="161772" y="46245"/>
                  <a:pt x="161772" y="39447"/>
                  <a:pt x="157587" y="35261"/>
                </a:cubicBezTo>
                <a:cubicBezTo>
                  <a:pt x="153401" y="31075"/>
                  <a:pt x="146603" y="31075"/>
                  <a:pt x="142417" y="35261"/>
                </a:cubicBezTo>
                <a:lnTo>
                  <a:pt x="107156" y="70556"/>
                </a:lnTo>
                <a:lnTo>
                  <a:pt x="87935" y="51368"/>
                </a:lnTo>
                <a:cubicBezTo>
                  <a:pt x="83749" y="47182"/>
                  <a:pt x="76952" y="47182"/>
                  <a:pt x="72766" y="51368"/>
                </a:cubicBezTo>
                <a:lnTo>
                  <a:pt x="40619" y="83515"/>
                </a:lnTo>
                <a:cubicBezTo>
                  <a:pt x="36433" y="87701"/>
                  <a:pt x="36433" y="94498"/>
                  <a:pt x="40619" y="98684"/>
                </a:cubicBezTo>
                <a:cubicBezTo>
                  <a:pt x="44805" y="102870"/>
                  <a:pt x="51602" y="102870"/>
                  <a:pt x="55788" y="98684"/>
                </a:cubicBezTo>
                <a:lnTo>
                  <a:pt x="80367" y="74105"/>
                </a:lnTo>
                <a:lnTo>
                  <a:pt x="99588" y="93326"/>
                </a:lnTo>
                <a:cubicBezTo>
                  <a:pt x="103774" y="97512"/>
                  <a:pt x="110572" y="97512"/>
                  <a:pt x="114758" y="93326"/>
                </a:cubicBezTo>
                <a:lnTo>
                  <a:pt x="157620" y="50464"/>
                </a:lnTo>
                <a:close/>
              </a:path>
            </a:pathLst>
          </a:custGeom>
          <a:solidFill>
            <a:srgbClr val="3B82F6"/>
          </a:solidFill>
          <a:ln/>
        </p:spPr>
      </p:sp>
      <p:sp>
        <p:nvSpPr>
          <p:cNvPr id="38" name="Text 36"/>
          <p:cNvSpPr/>
          <p:nvPr/>
        </p:nvSpPr>
        <p:spPr>
          <a:xfrm>
            <a:off x="762000" y="5210175"/>
            <a:ext cx="5181600" cy="266700"/>
          </a:xfrm>
          <a:prstGeom prst="rect">
            <a:avLst/>
          </a:prstGeom>
          <a:noFill/>
          <a:ln/>
        </p:spPr>
        <p:txBody>
          <a:bodyPr wrap="square" lIns="0" tIns="0" rIns="0" bIns="0" rtlCol="0" anchor="ctr"/>
          <a:lstStyle/>
          <a:p>
            <a:pPr>
              <a:lnSpc>
                <a:spcPct val="130000"/>
              </a:lnSpc>
            </a:pPr>
            <a:r>
              <a:rPr lang="en-US" sz="1350" b="1" dirty="0">
                <a:solidFill>
                  <a:srgbClr val="3B82F6"/>
                </a:solidFill>
                <a:latin typeface="MiSans" pitchFamily="34" charset="0"/>
                <a:ea typeface="MiSans" pitchFamily="34" charset="-122"/>
                <a:cs typeface="MiSans" pitchFamily="34" charset="-120"/>
              </a:rPr>
              <a:t>Hệ quả trực tiếp</a:t>
            </a:r>
            <a:endParaRPr lang="en-US" sz="1600" dirty="0"/>
          </a:p>
        </p:txBody>
      </p:sp>
      <p:sp>
        <p:nvSpPr>
          <p:cNvPr id="39" name="Shape 37"/>
          <p:cNvSpPr/>
          <p:nvPr/>
        </p:nvSpPr>
        <p:spPr>
          <a:xfrm>
            <a:off x="570309" y="56292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40" name="Text 38"/>
          <p:cNvSpPr/>
          <p:nvPr/>
        </p:nvSpPr>
        <p:spPr>
          <a:xfrm>
            <a:off x="785813" y="5591175"/>
            <a:ext cx="26479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Tốc độ phát triển phần mềm tăng đáng kể</a:t>
            </a:r>
            <a:endParaRPr lang="en-US" sz="1600" dirty="0"/>
          </a:p>
        </p:txBody>
      </p:sp>
      <p:sp>
        <p:nvSpPr>
          <p:cNvPr id="41" name="Shape 39"/>
          <p:cNvSpPr/>
          <p:nvPr/>
        </p:nvSpPr>
        <p:spPr>
          <a:xfrm>
            <a:off x="570309" y="58959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42" name="Text 40"/>
          <p:cNvSpPr/>
          <p:nvPr/>
        </p:nvSpPr>
        <p:spPr>
          <a:xfrm>
            <a:off x="785813" y="5857875"/>
            <a:ext cx="23050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Vai trò của kỹ sư phần mềm thay đổi</a:t>
            </a:r>
            <a:endParaRPr lang="en-US" sz="1600" dirty="0"/>
          </a:p>
        </p:txBody>
      </p:sp>
      <p:sp>
        <p:nvSpPr>
          <p:cNvPr id="43" name="Shape 41"/>
          <p:cNvSpPr/>
          <p:nvPr/>
        </p:nvSpPr>
        <p:spPr>
          <a:xfrm>
            <a:off x="570309" y="61626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44" name="Text 42"/>
          <p:cNvSpPr/>
          <p:nvPr/>
        </p:nvSpPr>
        <p:spPr>
          <a:xfrm>
            <a:off x="785813" y="6124575"/>
            <a:ext cx="16764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Chi phí tạo mã giảm mạnh</a:t>
            </a:r>
            <a:endParaRPr lang="en-US" sz="1600" dirty="0"/>
          </a:p>
        </p:txBody>
      </p:sp>
      <p:sp>
        <p:nvSpPr>
          <p:cNvPr id="45" name="Shape 43"/>
          <p:cNvSpPr/>
          <p:nvPr/>
        </p:nvSpPr>
        <p:spPr>
          <a:xfrm>
            <a:off x="6176963" y="5053013"/>
            <a:ext cx="5629275" cy="1419225"/>
          </a:xfrm>
          <a:custGeom>
            <a:avLst/>
            <a:gdLst/>
            <a:ahLst/>
            <a:cxnLst/>
            <a:rect l="l" t="t" r="r" b="b"/>
            <a:pathLst>
              <a:path w="5629275" h="1419225">
                <a:moveTo>
                  <a:pt x="114304" y="0"/>
                </a:moveTo>
                <a:lnTo>
                  <a:pt x="5514971" y="0"/>
                </a:lnTo>
                <a:cubicBezTo>
                  <a:pt x="5578099" y="0"/>
                  <a:pt x="5629275" y="51176"/>
                  <a:pt x="5629275" y="114304"/>
                </a:cubicBezTo>
                <a:lnTo>
                  <a:pt x="5629275" y="1304921"/>
                </a:lnTo>
                <a:cubicBezTo>
                  <a:pt x="5629275" y="1368049"/>
                  <a:pt x="5578099" y="1419225"/>
                  <a:pt x="5514971" y="1419225"/>
                </a:cubicBezTo>
                <a:lnTo>
                  <a:pt x="114304" y="1419225"/>
                </a:lnTo>
                <a:cubicBezTo>
                  <a:pt x="51176" y="1419225"/>
                  <a:pt x="0" y="1368049"/>
                  <a:pt x="0" y="1304921"/>
                </a:cubicBezTo>
                <a:lnTo>
                  <a:pt x="0" y="114304"/>
                </a:lnTo>
                <a:cubicBezTo>
                  <a:pt x="0" y="51218"/>
                  <a:pt x="51218" y="0"/>
                  <a:pt x="114304"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46" name="Shape 44"/>
          <p:cNvSpPr/>
          <p:nvPr/>
        </p:nvSpPr>
        <p:spPr>
          <a:xfrm>
            <a:off x="6336506" y="5257800"/>
            <a:ext cx="214313" cy="171450"/>
          </a:xfrm>
          <a:custGeom>
            <a:avLst/>
            <a:gdLst/>
            <a:ahLst/>
            <a:cxn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10B981"/>
          </a:solidFill>
          <a:ln/>
        </p:spPr>
      </p:sp>
      <p:sp>
        <p:nvSpPr>
          <p:cNvPr id="47" name="Text 45"/>
          <p:cNvSpPr/>
          <p:nvPr/>
        </p:nvSpPr>
        <p:spPr>
          <a:xfrm>
            <a:off x="6553200" y="5210175"/>
            <a:ext cx="5181600" cy="266700"/>
          </a:xfrm>
          <a:prstGeom prst="rect">
            <a:avLst/>
          </a:prstGeom>
          <a:noFill/>
          <a:ln/>
        </p:spPr>
        <p:txBody>
          <a:bodyPr wrap="square" lIns="0" tIns="0" rIns="0" bIns="0" rtlCol="0" anchor="ctr"/>
          <a:lstStyle/>
          <a:p>
            <a:pPr>
              <a:lnSpc>
                <a:spcPct val="130000"/>
              </a:lnSpc>
            </a:pPr>
            <a:r>
              <a:rPr lang="en-US" sz="1350" b="1" dirty="0">
                <a:solidFill>
                  <a:srgbClr val="10B981"/>
                </a:solidFill>
                <a:latin typeface="MiSans" pitchFamily="34" charset="0"/>
                <a:ea typeface="MiSans" pitchFamily="34" charset="-122"/>
                <a:cs typeface="MiSans" pitchFamily="34" charset="-120"/>
              </a:rPr>
              <a:t>Tác động đến ngành</a:t>
            </a:r>
            <a:endParaRPr lang="en-US" sz="1600" dirty="0"/>
          </a:p>
        </p:txBody>
      </p:sp>
      <p:sp>
        <p:nvSpPr>
          <p:cNvPr id="48" name="Shape 46"/>
          <p:cNvSpPr/>
          <p:nvPr/>
        </p:nvSpPr>
        <p:spPr>
          <a:xfrm>
            <a:off x="6361509" y="56292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49" name="Text 47"/>
          <p:cNvSpPr/>
          <p:nvPr/>
        </p:nvSpPr>
        <p:spPr>
          <a:xfrm>
            <a:off x="6577013" y="5591175"/>
            <a:ext cx="27622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ChatGPT/Copilot làm giao diện AI đại chúng</a:t>
            </a:r>
            <a:endParaRPr lang="en-US" sz="1600" dirty="0"/>
          </a:p>
        </p:txBody>
      </p:sp>
      <p:sp>
        <p:nvSpPr>
          <p:cNvPr id="50" name="Shape 48"/>
          <p:cNvSpPr/>
          <p:nvPr/>
        </p:nvSpPr>
        <p:spPr>
          <a:xfrm>
            <a:off x="6361509" y="58959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51" name="Text 49"/>
          <p:cNvSpPr/>
          <p:nvPr/>
        </p:nvSpPr>
        <p:spPr>
          <a:xfrm>
            <a:off x="6577013" y="5857875"/>
            <a:ext cx="27051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Giảm mạnh rào cản kỹ thuật cho developer</a:t>
            </a:r>
            <a:endParaRPr lang="en-US" sz="1600" dirty="0"/>
          </a:p>
        </p:txBody>
      </p:sp>
      <p:sp>
        <p:nvSpPr>
          <p:cNvPr id="52" name="Shape 50"/>
          <p:cNvSpPr/>
          <p:nvPr/>
        </p:nvSpPr>
        <p:spPr>
          <a:xfrm>
            <a:off x="6361509" y="616267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53" name="Text 51"/>
          <p:cNvSpPr/>
          <p:nvPr/>
        </p:nvSpPr>
        <p:spPr>
          <a:xfrm>
            <a:off x="6577013" y="6124575"/>
            <a:ext cx="25050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Mọi lập trình viên đều có thể tiếp cận AI</a:t>
            </a:r>
            <a:endParaRPr lang="en-US" sz="1600" dirty="0"/>
          </a:p>
        </p:txBody>
      </p:sp>
    </p:spTree>
  </p:cSld>
  <p:clrMapOvr>
    <a:masterClrMapping/>
  </p:clrMapOvr>
  <p:transition>
    <p:fade/>
    <p:spd val="med"/>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477441" y="561975"/>
            <a:ext cx="192881" cy="171450"/>
          </a:xfrm>
          <a:custGeom>
            <a:avLst/>
            <a:gdLst/>
            <a:ahLst/>
            <a:cxnLst/>
            <a:rect l="l" t="t" r="r" b="b"/>
            <a:pathLst>
              <a:path w="192881" h="171450">
                <a:moveTo>
                  <a:pt x="171584" y="80367"/>
                </a:moveTo>
                <a:lnTo>
                  <a:pt x="112648" y="80367"/>
                </a:lnTo>
                <a:cubicBezTo>
                  <a:pt x="106721" y="80367"/>
                  <a:pt x="101932" y="75579"/>
                  <a:pt x="101932" y="69652"/>
                </a:cubicBezTo>
                <a:lnTo>
                  <a:pt x="101932" y="10716"/>
                </a:lnTo>
                <a:cubicBezTo>
                  <a:pt x="101932" y="4789"/>
                  <a:pt x="106754" y="-67"/>
                  <a:pt x="112615" y="703"/>
                </a:cubicBezTo>
                <a:cubicBezTo>
                  <a:pt x="148445" y="5458"/>
                  <a:pt x="176841" y="33855"/>
                  <a:pt x="181596" y="69685"/>
                </a:cubicBezTo>
                <a:cubicBezTo>
                  <a:pt x="182367" y="75545"/>
                  <a:pt x="177511" y="80367"/>
                  <a:pt x="171584" y="80367"/>
                </a:cubicBezTo>
                <a:close/>
                <a:moveTo>
                  <a:pt x="74541" y="12457"/>
                </a:moveTo>
                <a:cubicBezTo>
                  <a:pt x="80602" y="11184"/>
                  <a:pt x="85859" y="16140"/>
                  <a:pt x="85859" y="22335"/>
                </a:cubicBezTo>
                <a:lnTo>
                  <a:pt x="85859" y="88404"/>
                </a:lnTo>
                <a:cubicBezTo>
                  <a:pt x="85859" y="90279"/>
                  <a:pt x="86529" y="92087"/>
                  <a:pt x="87701" y="93527"/>
                </a:cubicBezTo>
                <a:lnTo>
                  <a:pt x="131936" y="146905"/>
                </a:lnTo>
                <a:cubicBezTo>
                  <a:pt x="135854" y="151626"/>
                  <a:pt x="135017" y="158759"/>
                  <a:pt x="129626" y="161672"/>
                </a:cubicBezTo>
                <a:cubicBezTo>
                  <a:pt x="118207" y="167900"/>
                  <a:pt x="105114" y="171450"/>
                  <a:pt x="91217" y="171450"/>
                </a:cubicBezTo>
                <a:cubicBezTo>
                  <a:pt x="46847" y="171450"/>
                  <a:pt x="10850" y="135452"/>
                  <a:pt x="10850" y="91083"/>
                </a:cubicBezTo>
                <a:cubicBezTo>
                  <a:pt x="10850" y="52406"/>
                  <a:pt x="38141" y="20125"/>
                  <a:pt x="74541" y="12457"/>
                </a:cubicBezTo>
                <a:close/>
                <a:moveTo>
                  <a:pt x="159998" y="96441"/>
                </a:moveTo>
                <a:lnTo>
                  <a:pt x="181429" y="96441"/>
                </a:lnTo>
                <a:cubicBezTo>
                  <a:pt x="187624" y="96441"/>
                  <a:pt x="192580" y="101698"/>
                  <a:pt x="191307" y="107759"/>
                </a:cubicBezTo>
                <a:cubicBezTo>
                  <a:pt x="187892" y="123966"/>
                  <a:pt x="179587" y="138366"/>
                  <a:pt x="168001" y="149349"/>
                </a:cubicBezTo>
                <a:cubicBezTo>
                  <a:pt x="163882" y="153267"/>
                  <a:pt x="157419" y="152430"/>
                  <a:pt x="153803" y="148043"/>
                </a:cubicBezTo>
                <a:lnTo>
                  <a:pt x="125540" y="113987"/>
                </a:lnTo>
                <a:cubicBezTo>
                  <a:pt x="119747" y="106989"/>
                  <a:pt x="124737" y="96441"/>
                  <a:pt x="133778" y="96441"/>
                </a:cubicBezTo>
                <a:lnTo>
                  <a:pt x="159964" y="96441"/>
                </a:lnTo>
                <a:close/>
              </a:path>
            </a:pathLst>
          </a:custGeom>
          <a:solidFill>
            <a:srgbClr val="FFFFFF"/>
          </a:solidFill>
          <a:ln/>
        </p:spPr>
      </p:sp>
      <p:sp>
        <p:nvSpPr>
          <p:cNvPr id="4" name="Text 2"/>
          <p:cNvSpPr/>
          <p:nvPr/>
        </p:nvSpPr>
        <p:spPr>
          <a:xfrm>
            <a:off x="876300" y="381000"/>
            <a:ext cx="6286500"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16 | NỘI DUNG</a:t>
            </a:r>
            <a:endParaRPr lang="en-US" sz="1600" dirty="0"/>
          </a:p>
        </p:txBody>
      </p:sp>
      <p:sp>
        <p:nvSpPr>
          <p:cNvPr id="5" name="Text 3"/>
          <p:cNvSpPr/>
          <p:nvPr/>
        </p:nvSpPr>
        <p:spPr>
          <a:xfrm>
            <a:off x="876300" y="571500"/>
            <a:ext cx="636270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Kinh tế học và dịch chuyển vai trò lập trình viên</a:t>
            </a:r>
            <a:endParaRPr lang="en-US" sz="1600" dirty="0"/>
          </a:p>
        </p:txBody>
      </p:sp>
      <p:sp>
        <p:nvSpPr>
          <p:cNvPr id="6" name="Shape 4"/>
          <p:cNvSpPr/>
          <p:nvPr/>
        </p:nvSpPr>
        <p:spPr>
          <a:xfrm>
            <a:off x="385763" y="1147763"/>
            <a:ext cx="5610225" cy="3209925"/>
          </a:xfrm>
          <a:custGeom>
            <a:avLst/>
            <a:gdLst/>
            <a:ahLst/>
            <a:cxnLst/>
            <a:rect l="l" t="t" r="r" b="b"/>
            <a:pathLst>
              <a:path w="5610225" h="3209925">
                <a:moveTo>
                  <a:pt x="114305" y="0"/>
                </a:moveTo>
                <a:lnTo>
                  <a:pt x="5495920" y="0"/>
                </a:lnTo>
                <a:cubicBezTo>
                  <a:pt x="5559049" y="0"/>
                  <a:pt x="5610225" y="51176"/>
                  <a:pt x="5610225" y="114305"/>
                </a:cubicBezTo>
                <a:lnTo>
                  <a:pt x="5610225" y="3095620"/>
                </a:lnTo>
                <a:cubicBezTo>
                  <a:pt x="5610225" y="3158749"/>
                  <a:pt x="5559049" y="3209925"/>
                  <a:pt x="5495920" y="3209925"/>
                </a:cubicBezTo>
                <a:lnTo>
                  <a:pt x="114305" y="3209925"/>
                </a:lnTo>
                <a:cubicBezTo>
                  <a:pt x="51176" y="3209925"/>
                  <a:pt x="0" y="3158749"/>
                  <a:pt x="0" y="3095620"/>
                </a:cubicBezTo>
                <a:lnTo>
                  <a:pt x="0" y="114305"/>
                </a:lnTo>
                <a:cubicBezTo>
                  <a:pt x="0" y="51176"/>
                  <a:pt x="51176" y="0"/>
                  <a:pt x="114305"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40556" y="1381125"/>
            <a:ext cx="119063" cy="190500"/>
          </a:xfrm>
          <a:custGeom>
            <a:avLst/>
            <a:gdLst/>
            <a:ahLst/>
            <a:cxnLst/>
            <a:rect l="l" t="t" r="r" b="b"/>
            <a:pathLst>
              <a:path w="119063" h="190500">
                <a:moveTo>
                  <a:pt x="50602" y="8930"/>
                </a:moveTo>
                <a:cubicBezTo>
                  <a:pt x="50602" y="3981"/>
                  <a:pt x="54583" y="0"/>
                  <a:pt x="59531" y="0"/>
                </a:cubicBezTo>
                <a:cubicBezTo>
                  <a:pt x="64480" y="0"/>
                  <a:pt x="68461" y="3981"/>
                  <a:pt x="68461" y="8930"/>
                </a:cubicBezTo>
                <a:lnTo>
                  <a:pt x="68461" y="23812"/>
                </a:lnTo>
                <a:lnTo>
                  <a:pt x="89297" y="23812"/>
                </a:lnTo>
                <a:cubicBezTo>
                  <a:pt x="95883" y="23812"/>
                  <a:pt x="101203" y="29133"/>
                  <a:pt x="101203" y="35719"/>
                </a:cubicBezTo>
                <a:cubicBezTo>
                  <a:pt x="101203" y="42304"/>
                  <a:pt x="95883" y="47625"/>
                  <a:pt x="89297" y="47625"/>
                </a:cubicBezTo>
                <a:lnTo>
                  <a:pt x="46546" y="47625"/>
                </a:lnTo>
                <a:cubicBezTo>
                  <a:pt x="37281" y="47625"/>
                  <a:pt x="29766" y="55141"/>
                  <a:pt x="29766" y="64405"/>
                </a:cubicBezTo>
                <a:cubicBezTo>
                  <a:pt x="29766" y="72777"/>
                  <a:pt x="35905" y="79846"/>
                  <a:pt x="44165" y="81037"/>
                </a:cubicBezTo>
                <a:lnTo>
                  <a:pt x="78246" y="85911"/>
                </a:lnTo>
                <a:cubicBezTo>
                  <a:pt x="98264" y="88776"/>
                  <a:pt x="113109" y="105891"/>
                  <a:pt x="113109" y="126095"/>
                </a:cubicBezTo>
                <a:cubicBezTo>
                  <a:pt x="113109" y="148530"/>
                  <a:pt x="94915" y="166688"/>
                  <a:pt x="72517" y="166688"/>
                </a:cubicBezTo>
                <a:lnTo>
                  <a:pt x="68461" y="166688"/>
                </a:lnTo>
                <a:lnTo>
                  <a:pt x="68461" y="181570"/>
                </a:lnTo>
                <a:cubicBezTo>
                  <a:pt x="68461" y="186519"/>
                  <a:pt x="64480" y="190500"/>
                  <a:pt x="59531" y="190500"/>
                </a:cubicBezTo>
                <a:cubicBezTo>
                  <a:pt x="54583" y="190500"/>
                  <a:pt x="50602" y="186519"/>
                  <a:pt x="50602" y="181570"/>
                </a:cubicBezTo>
                <a:lnTo>
                  <a:pt x="50602" y="166688"/>
                </a:lnTo>
                <a:lnTo>
                  <a:pt x="23812" y="166688"/>
                </a:lnTo>
                <a:cubicBezTo>
                  <a:pt x="17227" y="166688"/>
                  <a:pt x="11906" y="161367"/>
                  <a:pt x="11906" y="154781"/>
                </a:cubicBezTo>
                <a:cubicBezTo>
                  <a:pt x="11906" y="148196"/>
                  <a:pt x="17227" y="142875"/>
                  <a:pt x="23812" y="142875"/>
                </a:cubicBezTo>
                <a:lnTo>
                  <a:pt x="72517" y="142875"/>
                </a:lnTo>
                <a:cubicBezTo>
                  <a:pt x="81781" y="142875"/>
                  <a:pt x="89297" y="135359"/>
                  <a:pt x="89297" y="126095"/>
                </a:cubicBezTo>
                <a:cubicBezTo>
                  <a:pt x="89297" y="117723"/>
                  <a:pt x="83158" y="110654"/>
                  <a:pt x="74898" y="109463"/>
                </a:cubicBezTo>
                <a:lnTo>
                  <a:pt x="40816" y="104589"/>
                </a:lnTo>
                <a:cubicBezTo>
                  <a:pt x="20799" y="101761"/>
                  <a:pt x="5953" y="84609"/>
                  <a:pt x="5953" y="64405"/>
                </a:cubicBezTo>
                <a:cubicBezTo>
                  <a:pt x="5953" y="42007"/>
                  <a:pt x="24147" y="23812"/>
                  <a:pt x="46546" y="23812"/>
                </a:cubicBezTo>
                <a:lnTo>
                  <a:pt x="50602" y="23812"/>
                </a:lnTo>
                <a:lnTo>
                  <a:pt x="50602" y="8930"/>
                </a:ln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Kinh tế học của việc viết phần mềm nhanh hơn</a:t>
            </a:r>
            <a:endParaRPr lang="en-US" sz="1600" dirty="0"/>
          </a:p>
        </p:txBody>
      </p:sp>
      <p:sp>
        <p:nvSpPr>
          <p:cNvPr id="9" name="Shape 7"/>
          <p:cNvSpPr/>
          <p:nvPr/>
        </p:nvSpPr>
        <p:spPr>
          <a:xfrm>
            <a:off x="581025" y="17621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0" name="Shape 8"/>
          <p:cNvSpPr/>
          <p:nvPr/>
        </p:nvSpPr>
        <p:spPr>
          <a:xfrm>
            <a:off x="742950" y="1895475"/>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10B981"/>
          </a:solidFill>
          <a:ln/>
        </p:spPr>
      </p:sp>
      <p:sp>
        <p:nvSpPr>
          <p:cNvPr id="11" name="Text 9"/>
          <p:cNvSpPr/>
          <p:nvPr/>
        </p:nvSpPr>
        <p:spPr>
          <a:xfrm>
            <a:off x="1047750" y="1876425"/>
            <a:ext cx="14763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Chi phí tạo mã giảm</a:t>
            </a:r>
            <a:endParaRPr lang="en-US" sz="1600" dirty="0"/>
          </a:p>
        </p:txBody>
      </p:sp>
      <p:sp>
        <p:nvSpPr>
          <p:cNvPr id="12" name="Text 10"/>
          <p:cNvSpPr/>
          <p:nvPr/>
        </p:nvSpPr>
        <p:spPr>
          <a:xfrm>
            <a:off x="695325" y="21812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Nguồn cung phần mềm tăng</a:t>
            </a:r>
            <a:endParaRPr lang="en-US" sz="1600" dirty="0"/>
          </a:p>
        </p:txBody>
      </p:sp>
      <p:sp>
        <p:nvSpPr>
          <p:cNvPr id="13" name="Shape 11"/>
          <p:cNvSpPr/>
          <p:nvPr/>
        </p:nvSpPr>
        <p:spPr>
          <a:xfrm>
            <a:off x="581025" y="26003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4" name="Shape 12"/>
          <p:cNvSpPr/>
          <p:nvPr/>
        </p:nvSpPr>
        <p:spPr>
          <a:xfrm>
            <a:off x="695325" y="2733675"/>
            <a:ext cx="238125" cy="190500"/>
          </a:xfrm>
          <a:custGeom>
            <a:avLst/>
            <a:gdLst/>
            <a:ahLst/>
            <a:cxnLst/>
            <a:rect l="l" t="t" r="r" b="b"/>
            <a:pathLst>
              <a:path w="238125" h="190500">
                <a:moveTo>
                  <a:pt x="130969" y="0"/>
                </a:moveTo>
                <a:cubicBezTo>
                  <a:pt x="130969" y="-6586"/>
                  <a:pt x="125648" y="-11906"/>
                  <a:pt x="119063" y="-11906"/>
                </a:cubicBezTo>
                <a:cubicBezTo>
                  <a:pt x="112477" y="-11906"/>
                  <a:pt x="107156" y="-6586"/>
                  <a:pt x="107156" y="0"/>
                </a:cubicBezTo>
                <a:lnTo>
                  <a:pt x="107156" y="23812"/>
                </a:lnTo>
                <a:lnTo>
                  <a:pt x="71438" y="23812"/>
                </a:lnTo>
                <a:cubicBezTo>
                  <a:pt x="51718" y="23812"/>
                  <a:pt x="35719" y="39812"/>
                  <a:pt x="35719" y="59531"/>
                </a:cubicBezTo>
                <a:lnTo>
                  <a:pt x="35719" y="142875"/>
                </a:lnTo>
                <a:cubicBezTo>
                  <a:pt x="35719" y="162595"/>
                  <a:pt x="51718" y="178594"/>
                  <a:pt x="71438" y="178594"/>
                </a:cubicBezTo>
                <a:lnTo>
                  <a:pt x="166688" y="178594"/>
                </a:lnTo>
                <a:cubicBezTo>
                  <a:pt x="186407" y="178594"/>
                  <a:pt x="202406" y="162595"/>
                  <a:pt x="202406" y="142875"/>
                </a:cubicBezTo>
                <a:lnTo>
                  <a:pt x="202406" y="59531"/>
                </a:lnTo>
                <a:cubicBezTo>
                  <a:pt x="202406" y="39812"/>
                  <a:pt x="186407" y="23812"/>
                  <a:pt x="166688" y="23812"/>
                </a:cubicBezTo>
                <a:lnTo>
                  <a:pt x="130969" y="23812"/>
                </a:lnTo>
                <a:lnTo>
                  <a:pt x="130969" y="0"/>
                </a:lnTo>
                <a:close/>
                <a:moveTo>
                  <a:pt x="59531" y="136922"/>
                </a:moveTo>
                <a:cubicBezTo>
                  <a:pt x="59531" y="131973"/>
                  <a:pt x="63512" y="127992"/>
                  <a:pt x="68461" y="127992"/>
                </a:cubicBezTo>
                <a:lnTo>
                  <a:pt x="80367" y="127992"/>
                </a:lnTo>
                <a:cubicBezTo>
                  <a:pt x="85316" y="127992"/>
                  <a:pt x="89297" y="131973"/>
                  <a:pt x="89297" y="136922"/>
                </a:cubicBezTo>
                <a:cubicBezTo>
                  <a:pt x="89297" y="141870"/>
                  <a:pt x="85316" y="145852"/>
                  <a:pt x="80367" y="145852"/>
                </a:cubicBezTo>
                <a:lnTo>
                  <a:pt x="68461" y="145852"/>
                </a:lnTo>
                <a:cubicBezTo>
                  <a:pt x="63512" y="145852"/>
                  <a:pt x="59531" y="141870"/>
                  <a:pt x="59531" y="136922"/>
                </a:cubicBezTo>
                <a:close/>
                <a:moveTo>
                  <a:pt x="104180" y="136922"/>
                </a:moveTo>
                <a:cubicBezTo>
                  <a:pt x="104180" y="131973"/>
                  <a:pt x="108161" y="127992"/>
                  <a:pt x="113109" y="127992"/>
                </a:cubicBezTo>
                <a:lnTo>
                  <a:pt x="125016" y="127992"/>
                </a:lnTo>
                <a:cubicBezTo>
                  <a:pt x="129964" y="127992"/>
                  <a:pt x="133945" y="131973"/>
                  <a:pt x="133945" y="136922"/>
                </a:cubicBezTo>
                <a:cubicBezTo>
                  <a:pt x="133945" y="141870"/>
                  <a:pt x="129964" y="145852"/>
                  <a:pt x="125016" y="145852"/>
                </a:cubicBezTo>
                <a:lnTo>
                  <a:pt x="113109" y="145852"/>
                </a:lnTo>
                <a:cubicBezTo>
                  <a:pt x="108161" y="145852"/>
                  <a:pt x="104180" y="141870"/>
                  <a:pt x="104180" y="136922"/>
                </a:cubicBezTo>
                <a:close/>
                <a:moveTo>
                  <a:pt x="148828" y="136922"/>
                </a:moveTo>
                <a:cubicBezTo>
                  <a:pt x="148828" y="131973"/>
                  <a:pt x="152809" y="127992"/>
                  <a:pt x="157758" y="127992"/>
                </a:cubicBezTo>
                <a:lnTo>
                  <a:pt x="169664" y="127992"/>
                </a:lnTo>
                <a:cubicBezTo>
                  <a:pt x="174613" y="127992"/>
                  <a:pt x="178594" y="131973"/>
                  <a:pt x="178594" y="136922"/>
                </a:cubicBezTo>
                <a:cubicBezTo>
                  <a:pt x="178594" y="141870"/>
                  <a:pt x="174613" y="145852"/>
                  <a:pt x="169664" y="145852"/>
                </a:cubicBezTo>
                <a:lnTo>
                  <a:pt x="157758" y="145852"/>
                </a:lnTo>
                <a:cubicBezTo>
                  <a:pt x="152809" y="145852"/>
                  <a:pt x="148828" y="141870"/>
                  <a:pt x="148828" y="136922"/>
                </a:cubicBezTo>
                <a:close/>
                <a:moveTo>
                  <a:pt x="83344" y="65484"/>
                </a:moveTo>
                <a:cubicBezTo>
                  <a:pt x="93201" y="65484"/>
                  <a:pt x="101203" y="73487"/>
                  <a:pt x="101203" y="83344"/>
                </a:cubicBezTo>
                <a:cubicBezTo>
                  <a:pt x="101203" y="93201"/>
                  <a:pt x="93201" y="101203"/>
                  <a:pt x="83344" y="101203"/>
                </a:cubicBezTo>
                <a:cubicBezTo>
                  <a:pt x="73487" y="101203"/>
                  <a:pt x="65484" y="93201"/>
                  <a:pt x="65484" y="83344"/>
                </a:cubicBezTo>
                <a:cubicBezTo>
                  <a:pt x="65484" y="73487"/>
                  <a:pt x="73487" y="65484"/>
                  <a:pt x="83344" y="65484"/>
                </a:cubicBezTo>
                <a:close/>
                <a:moveTo>
                  <a:pt x="136922" y="83344"/>
                </a:moveTo>
                <a:cubicBezTo>
                  <a:pt x="136922" y="73487"/>
                  <a:pt x="144924" y="65484"/>
                  <a:pt x="154781" y="65484"/>
                </a:cubicBezTo>
                <a:cubicBezTo>
                  <a:pt x="164638" y="65484"/>
                  <a:pt x="172641" y="73487"/>
                  <a:pt x="172641" y="83344"/>
                </a:cubicBezTo>
                <a:cubicBezTo>
                  <a:pt x="172641" y="93201"/>
                  <a:pt x="164638" y="101203"/>
                  <a:pt x="154781" y="101203"/>
                </a:cubicBezTo>
                <a:cubicBezTo>
                  <a:pt x="144924" y="101203"/>
                  <a:pt x="136922" y="93201"/>
                  <a:pt x="136922" y="83344"/>
                </a:cubicBezTo>
                <a:close/>
                <a:moveTo>
                  <a:pt x="23812" y="83344"/>
                </a:moveTo>
                <a:cubicBezTo>
                  <a:pt x="23812" y="76758"/>
                  <a:pt x="18492" y="71438"/>
                  <a:pt x="11906" y="71438"/>
                </a:cubicBezTo>
                <a:cubicBezTo>
                  <a:pt x="5321" y="71438"/>
                  <a:pt x="0" y="76758"/>
                  <a:pt x="0" y="83344"/>
                </a:cubicBezTo>
                <a:lnTo>
                  <a:pt x="0" y="119063"/>
                </a:lnTo>
                <a:cubicBezTo>
                  <a:pt x="0" y="125648"/>
                  <a:pt x="5321" y="130969"/>
                  <a:pt x="11906" y="130969"/>
                </a:cubicBezTo>
                <a:cubicBezTo>
                  <a:pt x="18492" y="130969"/>
                  <a:pt x="23812" y="125648"/>
                  <a:pt x="23812" y="119063"/>
                </a:cubicBezTo>
                <a:lnTo>
                  <a:pt x="23812" y="83344"/>
                </a:lnTo>
                <a:close/>
                <a:moveTo>
                  <a:pt x="226219" y="71438"/>
                </a:moveTo>
                <a:cubicBezTo>
                  <a:pt x="219633" y="71438"/>
                  <a:pt x="214313" y="76758"/>
                  <a:pt x="214313" y="83344"/>
                </a:cubicBezTo>
                <a:lnTo>
                  <a:pt x="214313" y="119063"/>
                </a:lnTo>
                <a:cubicBezTo>
                  <a:pt x="214313" y="125648"/>
                  <a:pt x="219633" y="130969"/>
                  <a:pt x="226219" y="130969"/>
                </a:cubicBezTo>
                <a:cubicBezTo>
                  <a:pt x="232804" y="130969"/>
                  <a:pt x="238125" y="125648"/>
                  <a:pt x="238125" y="119063"/>
                </a:cubicBezTo>
                <a:lnTo>
                  <a:pt x="238125" y="83344"/>
                </a:lnTo>
                <a:cubicBezTo>
                  <a:pt x="238125" y="76758"/>
                  <a:pt x="232804" y="71438"/>
                  <a:pt x="226219" y="71438"/>
                </a:cubicBezTo>
                <a:close/>
              </a:path>
            </a:pathLst>
          </a:custGeom>
          <a:solidFill>
            <a:srgbClr val="8B5CF6"/>
          </a:solidFill>
          <a:ln/>
        </p:spPr>
      </p:sp>
      <p:sp>
        <p:nvSpPr>
          <p:cNvPr id="15" name="Text 13"/>
          <p:cNvSpPr/>
          <p:nvPr/>
        </p:nvSpPr>
        <p:spPr>
          <a:xfrm>
            <a:off x="1047750" y="2714625"/>
            <a:ext cx="26003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Tự động hóa testing/documentation</a:t>
            </a:r>
            <a:endParaRPr lang="en-US" sz="1600" dirty="0"/>
          </a:p>
        </p:txBody>
      </p:sp>
      <p:sp>
        <p:nvSpPr>
          <p:cNvPr id="16" name="Text 14"/>
          <p:cNvSpPr/>
          <p:nvPr/>
        </p:nvSpPr>
        <p:spPr>
          <a:xfrm>
            <a:off x="695325" y="30194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Giảm tổng chi phí vòng đờ</a:t>
            </a:r>
            <a:endParaRPr lang="en-US" sz="1600" dirty="0"/>
          </a:p>
        </p:txBody>
      </p:sp>
      <p:sp>
        <p:nvSpPr>
          <p:cNvPr id="17" name="Shape 15"/>
          <p:cNvSpPr/>
          <p:nvPr/>
        </p:nvSpPr>
        <p:spPr>
          <a:xfrm>
            <a:off x="581025" y="34385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18" name="Shape 16"/>
          <p:cNvSpPr/>
          <p:nvPr/>
        </p:nvSpPr>
        <p:spPr>
          <a:xfrm>
            <a:off x="742950" y="3571875"/>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59E0B"/>
          </a:solidFill>
          <a:ln/>
        </p:spPr>
      </p:sp>
      <p:sp>
        <p:nvSpPr>
          <p:cNvPr id="19" name="Text 17"/>
          <p:cNvSpPr/>
          <p:nvPr/>
        </p:nvSpPr>
        <p:spPr>
          <a:xfrm>
            <a:off x="1047750" y="3552825"/>
            <a:ext cx="21050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Nhu cầu phần mềm mới tăng</a:t>
            </a:r>
            <a:endParaRPr lang="en-US" sz="1600" dirty="0"/>
          </a:p>
        </p:txBody>
      </p:sp>
      <p:sp>
        <p:nvSpPr>
          <p:cNvPr id="20" name="Text 18"/>
          <p:cNvSpPr/>
          <p:nvPr/>
        </p:nvSpPr>
        <p:spPr>
          <a:xfrm>
            <a:off x="695325" y="38576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Doanh nghiệp giải bài toán trước đây "không đủ ngân sách"</a:t>
            </a:r>
            <a:endParaRPr lang="en-US" sz="1600" dirty="0"/>
          </a:p>
        </p:txBody>
      </p:sp>
      <p:sp>
        <p:nvSpPr>
          <p:cNvPr id="21" name="Shape 19"/>
          <p:cNvSpPr/>
          <p:nvPr/>
        </p:nvSpPr>
        <p:spPr>
          <a:xfrm>
            <a:off x="385763" y="45196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solidFill>
            <a:srgbClr val="0F172A"/>
          </a:solidFill>
          <a:ln w="12700">
            <a:solidFill>
              <a:srgbClr val="3B82F6">
                <a:alpha val="30196"/>
              </a:srgbClr>
            </a:solidFill>
            <a:prstDash val="solid"/>
          </a:ln>
        </p:spPr>
      </p:sp>
      <p:sp>
        <p:nvSpPr>
          <p:cNvPr id="22" name="Shape 20"/>
          <p:cNvSpPr/>
          <p:nvPr/>
        </p:nvSpPr>
        <p:spPr>
          <a:xfrm>
            <a:off x="561975" y="47244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3B82F6"/>
          </a:solidFill>
          <a:ln/>
        </p:spPr>
      </p:sp>
      <p:sp>
        <p:nvSpPr>
          <p:cNvPr id="23" name="Text 21"/>
          <p:cNvSpPr/>
          <p:nvPr/>
        </p:nvSpPr>
        <p:spPr>
          <a:xfrm>
            <a:off x="790575" y="46767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Khi chi phí tạo mã giảm</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nguồn cung phần mềm tăng và nhu cầu phần mềm mới cũng tăng theo.</a:t>
            </a:r>
            <a:endParaRPr lang="en-US" sz="1600" dirty="0"/>
          </a:p>
        </p:txBody>
      </p:sp>
      <p:sp>
        <p:nvSpPr>
          <p:cNvPr id="24" name="Shape 22"/>
          <p:cNvSpPr/>
          <p:nvPr/>
        </p:nvSpPr>
        <p:spPr>
          <a:xfrm>
            <a:off x="6196013" y="1147763"/>
            <a:ext cx="5610225" cy="4162425"/>
          </a:xfrm>
          <a:custGeom>
            <a:avLst/>
            <a:gdLst/>
            <a:ahLst/>
            <a:cxnLst/>
            <a:rect l="l" t="t" r="r" b="b"/>
            <a:pathLst>
              <a:path w="5610225" h="4162425">
                <a:moveTo>
                  <a:pt x="114300" y="0"/>
                </a:moveTo>
                <a:lnTo>
                  <a:pt x="5495925" y="0"/>
                </a:lnTo>
                <a:cubicBezTo>
                  <a:pt x="5559051" y="0"/>
                  <a:pt x="5610225" y="51174"/>
                  <a:pt x="5610225" y="114300"/>
                </a:cubicBezTo>
                <a:lnTo>
                  <a:pt x="5610225" y="4048125"/>
                </a:lnTo>
                <a:cubicBezTo>
                  <a:pt x="5610225" y="4111251"/>
                  <a:pt x="5559051" y="4162425"/>
                  <a:pt x="5495925" y="4162425"/>
                </a:cubicBezTo>
                <a:lnTo>
                  <a:pt x="114300" y="4162425"/>
                </a:lnTo>
                <a:cubicBezTo>
                  <a:pt x="51174" y="4162425"/>
                  <a:pt x="0" y="4111251"/>
                  <a:pt x="0" y="4048125"/>
                </a:cubicBezTo>
                <a:lnTo>
                  <a:pt x="0" y="114300"/>
                </a:lnTo>
                <a:cubicBezTo>
                  <a:pt x="0" y="51216"/>
                  <a:pt x="51216" y="0"/>
                  <a:pt x="114300"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25" name="Shape 23"/>
          <p:cNvSpPr/>
          <p:nvPr/>
        </p:nvSpPr>
        <p:spPr>
          <a:xfrm>
            <a:off x="6391275" y="1381125"/>
            <a:ext cx="238125" cy="190500"/>
          </a:xfrm>
          <a:custGeom>
            <a:avLst/>
            <a:gdLst/>
            <a:ahLst/>
            <a:cxnLst/>
            <a:rect l="l" t="t" r="r" b="b"/>
            <a:pathLst>
              <a:path w="238125" h="190500">
                <a:moveTo>
                  <a:pt x="119063" y="5953"/>
                </a:moveTo>
                <a:cubicBezTo>
                  <a:pt x="140419" y="5953"/>
                  <a:pt x="157758" y="23292"/>
                  <a:pt x="157758" y="44648"/>
                </a:cubicBezTo>
                <a:cubicBezTo>
                  <a:pt x="157758" y="66005"/>
                  <a:pt x="140419" y="83344"/>
                  <a:pt x="119063" y="83344"/>
                </a:cubicBezTo>
                <a:cubicBezTo>
                  <a:pt x="97706" y="83344"/>
                  <a:pt x="80367" y="66005"/>
                  <a:pt x="80367" y="44648"/>
                </a:cubicBezTo>
                <a:cubicBezTo>
                  <a:pt x="80367" y="23292"/>
                  <a:pt x="97706" y="5953"/>
                  <a:pt x="119063" y="5953"/>
                </a:cubicBezTo>
                <a:close/>
                <a:moveTo>
                  <a:pt x="35719" y="32742"/>
                </a:moveTo>
                <a:cubicBezTo>
                  <a:pt x="50504" y="32742"/>
                  <a:pt x="62508" y="44746"/>
                  <a:pt x="62508" y="59531"/>
                </a:cubicBezTo>
                <a:cubicBezTo>
                  <a:pt x="62508" y="74317"/>
                  <a:pt x="50504" y="86320"/>
                  <a:pt x="35719" y="86320"/>
                </a:cubicBezTo>
                <a:cubicBezTo>
                  <a:pt x="20933" y="86320"/>
                  <a:pt x="8930" y="74317"/>
                  <a:pt x="8930" y="59531"/>
                </a:cubicBezTo>
                <a:cubicBezTo>
                  <a:pt x="8930" y="44746"/>
                  <a:pt x="20933" y="32742"/>
                  <a:pt x="35719" y="32742"/>
                </a:cubicBezTo>
                <a:close/>
                <a:moveTo>
                  <a:pt x="0" y="154781"/>
                </a:moveTo>
                <a:cubicBezTo>
                  <a:pt x="0" y="128476"/>
                  <a:pt x="21320" y="107156"/>
                  <a:pt x="47625" y="107156"/>
                </a:cubicBezTo>
                <a:cubicBezTo>
                  <a:pt x="52388" y="107156"/>
                  <a:pt x="57001" y="107863"/>
                  <a:pt x="61354" y="109165"/>
                </a:cubicBezTo>
                <a:cubicBezTo>
                  <a:pt x="49113" y="122858"/>
                  <a:pt x="41672" y="140940"/>
                  <a:pt x="41672" y="160734"/>
                </a:cubicBezTo>
                <a:lnTo>
                  <a:pt x="41672" y="166688"/>
                </a:lnTo>
                <a:cubicBezTo>
                  <a:pt x="41672" y="170929"/>
                  <a:pt x="42565" y="174947"/>
                  <a:pt x="44165" y="178594"/>
                </a:cubicBezTo>
                <a:lnTo>
                  <a:pt x="11906" y="178594"/>
                </a:lnTo>
                <a:cubicBezTo>
                  <a:pt x="5321" y="178594"/>
                  <a:pt x="0" y="173273"/>
                  <a:pt x="0" y="166688"/>
                </a:cubicBezTo>
                <a:lnTo>
                  <a:pt x="0" y="154781"/>
                </a:lnTo>
                <a:close/>
                <a:moveTo>
                  <a:pt x="193960" y="178594"/>
                </a:moveTo>
                <a:cubicBezTo>
                  <a:pt x="195560" y="174947"/>
                  <a:pt x="196453" y="170929"/>
                  <a:pt x="196453" y="166688"/>
                </a:cubicBezTo>
                <a:lnTo>
                  <a:pt x="196453" y="160734"/>
                </a:lnTo>
                <a:cubicBezTo>
                  <a:pt x="196453" y="140940"/>
                  <a:pt x="189012" y="122858"/>
                  <a:pt x="176771" y="109165"/>
                </a:cubicBezTo>
                <a:cubicBezTo>
                  <a:pt x="181124" y="107863"/>
                  <a:pt x="185738" y="107156"/>
                  <a:pt x="190500" y="107156"/>
                </a:cubicBezTo>
                <a:cubicBezTo>
                  <a:pt x="216805" y="107156"/>
                  <a:pt x="238125" y="128476"/>
                  <a:pt x="238125" y="154781"/>
                </a:cubicBezTo>
                <a:lnTo>
                  <a:pt x="238125" y="166688"/>
                </a:lnTo>
                <a:cubicBezTo>
                  <a:pt x="238125" y="173273"/>
                  <a:pt x="232804" y="178594"/>
                  <a:pt x="226219" y="178594"/>
                </a:cubicBezTo>
                <a:lnTo>
                  <a:pt x="193960" y="178594"/>
                </a:lnTo>
                <a:close/>
                <a:moveTo>
                  <a:pt x="175617" y="59531"/>
                </a:moveTo>
                <a:cubicBezTo>
                  <a:pt x="175617" y="44746"/>
                  <a:pt x="187621" y="32742"/>
                  <a:pt x="202406" y="32742"/>
                </a:cubicBezTo>
                <a:cubicBezTo>
                  <a:pt x="217192" y="32742"/>
                  <a:pt x="229195" y="44746"/>
                  <a:pt x="229195" y="59531"/>
                </a:cubicBezTo>
                <a:cubicBezTo>
                  <a:pt x="229195" y="74317"/>
                  <a:pt x="217192" y="86320"/>
                  <a:pt x="202406" y="86320"/>
                </a:cubicBezTo>
                <a:cubicBezTo>
                  <a:pt x="187621" y="86320"/>
                  <a:pt x="175617" y="74317"/>
                  <a:pt x="175617" y="59531"/>
                </a:cubicBezTo>
                <a:close/>
                <a:moveTo>
                  <a:pt x="59531" y="160734"/>
                </a:moveTo>
                <a:cubicBezTo>
                  <a:pt x="59531" y="127843"/>
                  <a:pt x="86171" y="101203"/>
                  <a:pt x="119063" y="101203"/>
                </a:cubicBezTo>
                <a:cubicBezTo>
                  <a:pt x="151954" y="101203"/>
                  <a:pt x="178594" y="127843"/>
                  <a:pt x="178594" y="160734"/>
                </a:cubicBezTo>
                <a:lnTo>
                  <a:pt x="178594" y="166688"/>
                </a:lnTo>
                <a:cubicBezTo>
                  <a:pt x="178594" y="173273"/>
                  <a:pt x="173273" y="178594"/>
                  <a:pt x="166688" y="178594"/>
                </a:cubicBezTo>
                <a:lnTo>
                  <a:pt x="71438" y="178594"/>
                </a:lnTo>
                <a:cubicBezTo>
                  <a:pt x="64852" y="178594"/>
                  <a:pt x="59531" y="173273"/>
                  <a:pt x="59531" y="166688"/>
                </a:cubicBezTo>
                <a:lnTo>
                  <a:pt x="59531" y="160734"/>
                </a:lnTo>
                <a:close/>
              </a:path>
            </a:pathLst>
          </a:custGeom>
          <a:solidFill>
            <a:srgbClr val="10B981"/>
          </a:solidFill>
          <a:ln/>
        </p:spPr>
      </p:sp>
      <p:sp>
        <p:nvSpPr>
          <p:cNvPr id="26" name="Text 24"/>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10B981"/>
                </a:solidFill>
                <a:latin typeface="MiSans" pitchFamily="34" charset="0"/>
                <a:ea typeface="MiSans" pitchFamily="34" charset="-122"/>
                <a:cs typeface="MiSans" pitchFamily="34" charset="-120"/>
              </a:rPr>
              <a:t>Dịch chuyển vai trò lập trình viên</a:t>
            </a:r>
            <a:endParaRPr lang="en-US" sz="1600" dirty="0"/>
          </a:p>
        </p:txBody>
      </p:sp>
      <p:sp>
        <p:nvSpPr>
          <p:cNvPr id="27" name="Shape 25"/>
          <p:cNvSpPr/>
          <p:nvPr/>
        </p:nvSpPr>
        <p:spPr>
          <a:xfrm>
            <a:off x="6391275" y="17621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28" name="Text 26"/>
          <p:cNvSpPr/>
          <p:nvPr/>
        </p:nvSpPr>
        <p:spPr>
          <a:xfrm>
            <a:off x="6505575" y="1876425"/>
            <a:ext cx="5067300"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GenAI hỗ trợ mạnh:</a:t>
            </a:r>
            <a:endParaRPr lang="en-US" sz="1600" dirty="0"/>
          </a:p>
        </p:txBody>
      </p:sp>
      <p:sp>
        <p:nvSpPr>
          <p:cNvPr id="29" name="Shape 27"/>
          <p:cNvSpPr/>
          <p:nvPr/>
        </p:nvSpPr>
        <p:spPr>
          <a:xfrm>
            <a:off x="6532959" y="22193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30" name="Text 28"/>
          <p:cNvSpPr/>
          <p:nvPr/>
        </p:nvSpPr>
        <p:spPr>
          <a:xfrm>
            <a:off x="6748463" y="2181225"/>
            <a:ext cx="34766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Coding task cấp hàm/lớp: code, test, docstring, refactor</a:t>
            </a:r>
            <a:endParaRPr lang="en-US" sz="1600" dirty="0"/>
          </a:p>
        </p:txBody>
      </p:sp>
      <p:sp>
        <p:nvSpPr>
          <p:cNvPr id="31" name="Shape 29"/>
          <p:cNvSpPr/>
          <p:nvPr/>
        </p:nvSpPr>
        <p:spPr>
          <a:xfrm>
            <a:off x="6391275" y="2600325"/>
            <a:ext cx="5219700" cy="1409700"/>
          </a:xfrm>
          <a:custGeom>
            <a:avLst/>
            <a:gdLst/>
            <a:ahLst/>
            <a:cxnLst/>
            <a:rect l="l" t="t" r="r" b="b"/>
            <a:pathLst>
              <a:path w="5219700" h="1409700">
                <a:moveTo>
                  <a:pt x="76194" y="0"/>
                </a:moveTo>
                <a:lnTo>
                  <a:pt x="5143506" y="0"/>
                </a:lnTo>
                <a:cubicBezTo>
                  <a:pt x="5185558" y="0"/>
                  <a:pt x="5219700" y="34142"/>
                  <a:pt x="5219700" y="76194"/>
                </a:cubicBezTo>
                <a:lnTo>
                  <a:pt x="5219700" y="1333506"/>
                </a:lnTo>
                <a:cubicBezTo>
                  <a:pt x="5219700" y="1375587"/>
                  <a:pt x="5185587" y="1409700"/>
                  <a:pt x="5143506" y="1409700"/>
                </a:cubicBezTo>
                <a:lnTo>
                  <a:pt x="76194" y="1409700"/>
                </a:lnTo>
                <a:cubicBezTo>
                  <a:pt x="34142" y="1409700"/>
                  <a:pt x="0" y="1375558"/>
                  <a:pt x="0" y="1333506"/>
                </a:cubicBezTo>
                <a:lnTo>
                  <a:pt x="0" y="76194"/>
                </a:lnTo>
                <a:cubicBezTo>
                  <a:pt x="0" y="34142"/>
                  <a:pt x="34142" y="0"/>
                  <a:pt x="76194" y="0"/>
                </a:cubicBezTo>
                <a:close/>
              </a:path>
            </a:pathLst>
          </a:custGeom>
          <a:solidFill>
            <a:srgbClr val="0F172A"/>
          </a:solidFill>
          <a:ln/>
        </p:spPr>
      </p:sp>
      <p:sp>
        <p:nvSpPr>
          <p:cNvPr id="32" name="Text 30"/>
          <p:cNvSpPr/>
          <p:nvPr/>
        </p:nvSpPr>
        <p:spPr>
          <a:xfrm>
            <a:off x="6505575" y="2714625"/>
            <a:ext cx="5067300"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Vai trò senior tăng giá trị:</a:t>
            </a:r>
            <a:endParaRPr lang="en-US" sz="1600" dirty="0"/>
          </a:p>
        </p:txBody>
      </p:sp>
      <p:sp>
        <p:nvSpPr>
          <p:cNvPr id="33" name="Shape 31"/>
          <p:cNvSpPr/>
          <p:nvPr/>
        </p:nvSpPr>
        <p:spPr>
          <a:xfrm>
            <a:off x="6541294" y="3057525"/>
            <a:ext cx="100013" cy="133350"/>
          </a:xfrm>
          <a:custGeom>
            <a:avLst/>
            <a:gdLst/>
            <a:ahLst/>
            <a:cxnLst/>
            <a:rect l="l" t="t" r="r" b="b"/>
            <a:pathLst>
              <a:path w="100013" h="133350">
                <a:moveTo>
                  <a:pt x="55892" y="4532"/>
                </a:moveTo>
                <a:cubicBezTo>
                  <a:pt x="52637" y="1276"/>
                  <a:pt x="47350" y="1276"/>
                  <a:pt x="44094" y="4532"/>
                </a:cubicBezTo>
                <a:lnTo>
                  <a:pt x="2422" y="46204"/>
                </a:lnTo>
                <a:cubicBezTo>
                  <a:pt x="-833" y="49459"/>
                  <a:pt x="-833" y="54746"/>
                  <a:pt x="2422" y="58002"/>
                </a:cubicBezTo>
                <a:cubicBezTo>
                  <a:pt x="5678" y="61258"/>
                  <a:pt x="10965" y="61258"/>
                  <a:pt x="14221" y="58002"/>
                </a:cubicBezTo>
                <a:lnTo>
                  <a:pt x="41672" y="30551"/>
                </a:lnTo>
                <a:lnTo>
                  <a:pt x="41672" y="127099"/>
                </a:lnTo>
                <a:cubicBezTo>
                  <a:pt x="41672" y="131709"/>
                  <a:pt x="45396" y="135434"/>
                  <a:pt x="50006" y="135434"/>
                </a:cubicBezTo>
                <a:cubicBezTo>
                  <a:pt x="54616" y="135434"/>
                  <a:pt x="58341" y="131709"/>
                  <a:pt x="58341" y="127099"/>
                </a:cubicBezTo>
                <a:lnTo>
                  <a:pt x="58341" y="30551"/>
                </a:lnTo>
                <a:lnTo>
                  <a:pt x="85792" y="58002"/>
                </a:lnTo>
                <a:cubicBezTo>
                  <a:pt x="89048" y="61258"/>
                  <a:pt x="94335" y="61258"/>
                  <a:pt x="97590" y="58002"/>
                </a:cubicBezTo>
                <a:cubicBezTo>
                  <a:pt x="100846" y="54746"/>
                  <a:pt x="100846" y="49459"/>
                  <a:pt x="97590" y="46204"/>
                </a:cubicBezTo>
                <a:lnTo>
                  <a:pt x="55918" y="4532"/>
                </a:lnTo>
                <a:close/>
              </a:path>
            </a:pathLst>
          </a:custGeom>
          <a:solidFill>
            <a:srgbClr val="8B5CF6"/>
          </a:solidFill>
          <a:ln/>
        </p:spPr>
      </p:sp>
      <p:sp>
        <p:nvSpPr>
          <p:cNvPr id="34" name="Text 32"/>
          <p:cNvSpPr/>
          <p:nvPr/>
        </p:nvSpPr>
        <p:spPr>
          <a:xfrm>
            <a:off x="6748463" y="3019425"/>
            <a:ext cx="12001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Kiến trúc hệ thống</a:t>
            </a:r>
            <a:endParaRPr lang="en-US" sz="1600" dirty="0"/>
          </a:p>
        </p:txBody>
      </p:sp>
      <p:sp>
        <p:nvSpPr>
          <p:cNvPr id="35" name="Shape 33"/>
          <p:cNvSpPr/>
          <p:nvPr/>
        </p:nvSpPr>
        <p:spPr>
          <a:xfrm>
            <a:off x="6541294" y="3286125"/>
            <a:ext cx="100013" cy="133350"/>
          </a:xfrm>
          <a:custGeom>
            <a:avLst/>
            <a:gdLst/>
            <a:ahLst/>
            <a:cxnLst/>
            <a:rect l="l" t="t" r="r" b="b"/>
            <a:pathLst>
              <a:path w="100013" h="133350">
                <a:moveTo>
                  <a:pt x="55892" y="4532"/>
                </a:moveTo>
                <a:cubicBezTo>
                  <a:pt x="52637" y="1276"/>
                  <a:pt x="47350" y="1276"/>
                  <a:pt x="44094" y="4532"/>
                </a:cubicBezTo>
                <a:lnTo>
                  <a:pt x="2422" y="46204"/>
                </a:lnTo>
                <a:cubicBezTo>
                  <a:pt x="-833" y="49459"/>
                  <a:pt x="-833" y="54746"/>
                  <a:pt x="2422" y="58002"/>
                </a:cubicBezTo>
                <a:cubicBezTo>
                  <a:pt x="5678" y="61258"/>
                  <a:pt x="10965" y="61258"/>
                  <a:pt x="14221" y="58002"/>
                </a:cubicBezTo>
                <a:lnTo>
                  <a:pt x="41672" y="30551"/>
                </a:lnTo>
                <a:lnTo>
                  <a:pt x="41672" y="127099"/>
                </a:lnTo>
                <a:cubicBezTo>
                  <a:pt x="41672" y="131709"/>
                  <a:pt x="45396" y="135434"/>
                  <a:pt x="50006" y="135434"/>
                </a:cubicBezTo>
                <a:cubicBezTo>
                  <a:pt x="54616" y="135434"/>
                  <a:pt x="58341" y="131709"/>
                  <a:pt x="58341" y="127099"/>
                </a:cubicBezTo>
                <a:lnTo>
                  <a:pt x="58341" y="30551"/>
                </a:lnTo>
                <a:lnTo>
                  <a:pt x="85792" y="58002"/>
                </a:lnTo>
                <a:cubicBezTo>
                  <a:pt x="89048" y="61258"/>
                  <a:pt x="94335" y="61258"/>
                  <a:pt x="97590" y="58002"/>
                </a:cubicBezTo>
                <a:cubicBezTo>
                  <a:pt x="100846" y="54746"/>
                  <a:pt x="100846" y="49459"/>
                  <a:pt x="97590" y="46204"/>
                </a:cubicBezTo>
                <a:lnTo>
                  <a:pt x="55918" y="4532"/>
                </a:lnTo>
                <a:close/>
              </a:path>
            </a:pathLst>
          </a:custGeom>
          <a:solidFill>
            <a:srgbClr val="8B5CF6"/>
          </a:solidFill>
          <a:ln/>
        </p:spPr>
      </p:sp>
      <p:sp>
        <p:nvSpPr>
          <p:cNvPr id="36" name="Text 34"/>
          <p:cNvSpPr/>
          <p:nvPr/>
        </p:nvSpPr>
        <p:spPr>
          <a:xfrm>
            <a:off x="6748463" y="3248025"/>
            <a:ext cx="15811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Tích hợp các thành phần</a:t>
            </a:r>
            <a:endParaRPr lang="en-US" sz="1600" dirty="0"/>
          </a:p>
        </p:txBody>
      </p:sp>
      <p:sp>
        <p:nvSpPr>
          <p:cNvPr id="37" name="Shape 35"/>
          <p:cNvSpPr/>
          <p:nvPr/>
        </p:nvSpPr>
        <p:spPr>
          <a:xfrm>
            <a:off x="6541294" y="3514725"/>
            <a:ext cx="100013" cy="133350"/>
          </a:xfrm>
          <a:custGeom>
            <a:avLst/>
            <a:gdLst/>
            <a:ahLst/>
            <a:cxnLst/>
            <a:rect l="l" t="t" r="r" b="b"/>
            <a:pathLst>
              <a:path w="100013" h="133350">
                <a:moveTo>
                  <a:pt x="55892" y="4532"/>
                </a:moveTo>
                <a:cubicBezTo>
                  <a:pt x="52637" y="1276"/>
                  <a:pt x="47350" y="1276"/>
                  <a:pt x="44094" y="4532"/>
                </a:cubicBezTo>
                <a:lnTo>
                  <a:pt x="2422" y="46204"/>
                </a:lnTo>
                <a:cubicBezTo>
                  <a:pt x="-833" y="49459"/>
                  <a:pt x="-833" y="54746"/>
                  <a:pt x="2422" y="58002"/>
                </a:cubicBezTo>
                <a:cubicBezTo>
                  <a:pt x="5678" y="61258"/>
                  <a:pt x="10965" y="61258"/>
                  <a:pt x="14221" y="58002"/>
                </a:cubicBezTo>
                <a:lnTo>
                  <a:pt x="41672" y="30551"/>
                </a:lnTo>
                <a:lnTo>
                  <a:pt x="41672" y="127099"/>
                </a:lnTo>
                <a:cubicBezTo>
                  <a:pt x="41672" y="131709"/>
                  <a:pt x="45396" y="135434"/>
                  <a:pt x="50006" y="135434"/>
                </a:cubicBezTo>
                <a:cubicBezTo>
                  <a:pt x="54616" y="135434"/>
                  <a:pt x="58341" y="131709"/>
                  <a:pt x="58341" y="127099"/>
                </a:cubicBezTo>
                <a:lnTo>
                  <a:pt x="58341" y="30551"/>
                </a:lnTo>
                <a:lnTo>
                  <a:pt x="85792" y="58002"/>
                </a:lnTo>
                <a:cubicBezTo>
                  <a:pt x="89048" y="61258"/>
                  <a:pt x="94335" y="61258"/>
                  <a:pt x="97590" y="58002"/>
                </a:cubicBezTo>
                <a:cubicBezTo>
                  <a:pt x="100846" y="54746"/>
                  <a:pt x="100846" y="49459"/>
                  <a:pt x="97590" y="46204"/>
                </a:cubicBezTo>
                <a:lnTo>
                  <a:pt x="55918" y="4532"/>
                </a:lnTo>
                <a:close/>
              </a:path>
            </a:pathLst>
          </a:custGeom>
          <a:solidFill>
            <a:srgbClr val="8B5CF6"/>
          </a:solidFill>
          <a:ln/>
        </p:spPr>
      </p:sp>
      <p:sp>
        <p:nvSpPr>
          <p:cNvPr id="38" name="Text 36"/>
          <p:cNvSpPr/>
          <p:nvPr/>
        </p:nvSpPr>
        <p:spPr>
          <a:xfrm>
            <a:off x="6748463" y="3476625"/>
            <a:ext cx="14287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Quality gate và review</a:t>
            </a:r>
            <a:endParaRPr lang="en-US" sz="1600" dirty="0"/>
          </a:p>
        </p:txBody>
      </p:sp>
      <p:sp>
        <p:nvSpPr>
          <p:cNvPr id="39" name="Shape 37"/>
          <p:cNvSpPr/>
          <p:nvPr/>
        </p:nvSpPr>
        <p:spPr>
          <a:xfrm>
            <a:off x="6541294" y="3743325"/>
            <a:ext cx="100013" cy="133350"/>
          </a:xfrm>
          <a:custGeom>
            <a:avLst/>
            <a:gdLst/>
            <a:ahLst/>
            <a:cxnLst/>
            <a:rect l="l" t="t" r="r" b="b"/>
            <a:pathLst>
              <a:path w="100013" h="133350">
                <a:moveTo>
                  <a:pt x="55892" y="4532"/>
                </a:moveTo>
                <a:cubicBezTo>
                  <a:pt x="52637" y="1276"/>
                  <a:pt x="47350" y="1276"/>
                  <a:pt x="44094" y="4532"/>
                </a:cubicBezTo>
                <a:lnTo>
                  <a:pt x="2422" y="46204"/>
                </a:lnTo>
                <a:cubicBezTo>
                  <a:pt x="-833" y="49459"/>
                  <a:pt x="-833" y="54746"/>
                  <a:pt x="2422" y="58002"/>
                </a:cubicBezTo>
                <a:cubicBezTo>
                  <a:pt x="5678" y="61258"/>
                  <a:pt x="10965" y="61258"/>
                  <a:pt x="14221" y="58002"/>
                </a:cubicBezTo>
                <a:lnTo>
                  <a:pt x="41672" y="30551"/>
                </a:lnTo>
                <a:lnTo>
                  <a:pt x="41672" y="127099"/>
                </a:lnTo>
                <a:cubicBezTo>
                  <a:pt x="41672" y="131709"/>
                  <a:pt x="45396" y="135434"/>
                  <a:pt x="50006" y="135434"/>
                </a:cubicBezTo>
                <a:cubicBezTo>
                  <a:pt x="54616" y="135434"/>
                  <a:pt x="58341" y="131709"/>
                  <a:pt x="58341" y="127099"/>
                </a:cubicBezTo>
                <a:lnTo>
                  <a:pt x="58341" y="30551"/>
                </a:lnTo>
                <a:lnTo>
                  <a:pt x="85792" y="58002"/>
                </a:lnTo>
                <a:cubicBezTo>
                  <a:pt x="89048" y="61258"/>
                  <a:pt x="94335" y="61258"/>
                  <a:pt x="97590" y="58002"/>
                </a:cubicBezTo>
                <a:cubicBezTo>
                  <a:pt x="100846" y="54746"/>
                  <a:pt x="100846" y="49459"/>
                  <a:pt x="97590" y="46204"/>
                </a:cubicBezTo>
                <a:lnTo>
                  <a:pt x="55918" y="4532"/>
                </a:lnTo>
                <a:close/>
              </a:path>
            </a:pathLst>
          </a:custGeom>
          <a:solidFill>
            <a:srgbClr val="8B5CF6"/>
          </a:solidFill>
          <a:ln/>
        </p:spPr>
      </p:sp>
      <p:sp>
        <p:nvSpPr>
          <p:cNvPr id="40" name="Text 38"/>
          <p:cNvSpPr/>
          <p:nvPr/>
        </p:nvSpPr>
        <p:spPr>
          <a:xfrm>
            <a:off x="6748463" y="3705225"/>
            <a:ext cx="17240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Governance và compliance</a:t>
            </a:r>
            <a:endParaRPr lang="en-US" sz="1600" dirty="0"/>
          </a:p>
        </p:txBody>
      </p:sp>
      <p:sp>
        <p:nvSpPr>
          <p:cNvPr id="41" name="Shape 39"/>
          <p:cNvSpPr/>
          <p:nvPr/>
        </p:nvSpPr>
        <p:spPr>
          <a:xfrm>
            <a:off x="6391275" y="4124325"/>
            <a:ext cx="5219700" cy="952500"/>
          </a:xfrm>
          <a:custGeom>
            <a:avLst/>
            <a:gdLst/>
            <a:ahLst/>
            <a:cxnLst/>
            <a:rect l="l" t="t" r="r" b="b"/>
            <a:pathLst>
              <a:path w="5219700" h="952500">
                <a:moveTo>
                  <a:pt x="76200" y="0"/>
                </a:moveTo>
                <a:lnTo>
                  <a:pt x="5143500" y="0"/>
                </a:lnTo>
                <a:cubicBezTo>
                  <a:pt x="5185556" y="0"/>
                  <a:pt x="5219700" y="34144"/>
                  <a:pt x="5219700" y="76200"/>
                </a:cubicBezTo>
                <a:lnTo>
                  <a:pt x="5219700" y="876300"/>
                </a:lnTo>
                <a:cubicBezTo>
                  <a:pt x="5219700" y="918356"/>
                  <a:pt x="5185556" y="952500"/>
                  <a:pt x="5143500" y="952500"/>
                </a:cubicBezTo>
                <a:lnTo>
                  <a:pt x="76200" y="952500"/>
                </a:lnTo>
                <a:cubicBezTo>
                  <a:pt x="34144" y="952500"/>
                  <a:pt x="0" y="918356"/>
                  <a:pt x="0" y="876300"/>
                </a:cubicBezTo>
                <a:lnTo>
                  <a:pt x="0" y="76200"/>
                </a:lnTo>
                <a:cubicBezTo>
                  <a:pt x="0" y="34144"/>
                  <a:pt x="34144" y="0"/>
                  <a:pt x="76200" y="0"/>
                </a:cubicBezTo>
                <a:close/>
              </a:path>
            </a:pathLst>
          </a:custGeom>
          <a:solidFill>
            <a:srgbClr val="0F172A"/>
          </a:solidFill>
          <a:ln/>
        </p:spPr>
      </p:sp>
      <p:sp>
        <p:nvSpPr>
          <p:cNvPr id="42" name="Text 40"/>
          <p:cNvSpPr/>
          <p:nvPr/>
        </p:nvSpPr>
        <p:spPr>
          <a:xfrm>
            <a:off x="6505575" y="4238625"/>
            <a:ext cx="506730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Junior được tăng tốc:</a:t>
            </a:r>
            <a:endParaRPr lang="en-US" sz="1600" dirty="0"/>
          </a:p>
        </p:txBody>
      </p:sp>
      <p:sp>
        <p:nvSpPr>
          <p:cNvPr id="43" name="Shape 41"/>
          <p:cNvSpPr/>
          <p:nvPr/>
        </p:nvSpPr>
        <p:spPr>
          <a:xfrm>
            <a:off x="6524625" y="4581525"/>
            <a:ext cx="133350" cy="133350"/>
          </a:xfrm>
          <a:custGeom>
            <a:avLst/>
            <a:gdLst/>
            <a:ahLst/>
            <a:cxnLst/>
            <a:rect l="l" t="t" r="r" b="b"/>
            <a:pathLst>
              <a:path w="133350" h="133350">
                <a:moveTo>
                  <a:pt x="33337" y="83344"/>
                </a:moveTo>
                <a:lnTo>
                  <a:pt x="6381" y="83344"/>
                </a:lnTo>
                <a:cubicBezTo>
                  <a:pt x="-104" y="83344"/>
                  <a:pt x="-4089" y="76286"/>
                  <a:pt x="-755" y="70712"/>
                </a:cubicBezTo>
                <a:lnTo>
                  <a:pt x="13022" y="47740"/>
                </a:lnTo>
                <a:cubicBezTo>
                  <a:pt x="15288" y="43964"/>
                  <a:pt x="19351" y="41672"/>
                  <a:pt x="23753" y="41672"/>
                </a:cubicBezTo>
                <a:lnTo>
                  <a:pt x="48496" y="41672"/>
                </a:lnTo>
                <a:cubicBezTo>
                  <a:pt x="68316" y="8100"/>
                  <a:pt x="97877" y="6407"/>
                  <a:pt x="117645" y="9298"/>
                </a:cubicBezTo>
                <a:cubicBezTo>
                  <a:pt x="120979" y="9793"/>
                  <a:pt x="123583" y="12397"/>
                  <a:pt x="124052" y="15705"/>
                </a:cubicBezTo>
                <a:cubicBezTo>
                  <a:pt x="126943" y="35473"/>
                  <a:pt x="125250" y="65034"/>
                  <a:pt x="91678" y="84854"/>
                </a:cubicBezTo>
                <a:lnTo>
                  <a:pt x="91678" y="109597"/>
                </a:lnTo>
                <a:cubicBezTo>
                  <a:pt x="91678" y="113999"/>
                  <a:pt x="89386" y="118062"/>
                  <a:pt x="85610" y="120328"/>
                </a:cubicBezTo>
                <a:lnTo>
                  <a:pt x="62638" y="134105"/>
                </a:lnTo>
                <a:cubicBezTo>
                  <a:pt x="57090" y="137439"/>
                  <a:pt x="50006" y="133428"/>
                  <a:pt x="50006" y="126969"/>
                </a:cubicBezTo>
                <a:lnTo>
                  <a:pt x="50006" y="100013"/>
                </a:lnTo>
                <a:cubicBezTo>
                  <a:pt x="50006" y="90819"/>
                  <a:pt x="42531" y="83344"/>
                  <a:pt x="33337" y="83344"/>
                </a:cubicBezTo>
                <a:lnTo>
                  <a:pt x="33311" y="83344"/>
                </a:lnTo>
                <a:close/>
                <a:moveTo>
                  <a:pt x="104180" y="41672"/>
                </a:moveTo>
                <a:cubicBezTo>
                  <a:pt x="104180" y="34772"/>
                  <a:pt x="98578" y="29170"/>
                  <a:pt x="91678" y="29170"/>
                </a:cubicBezTo>
                <a:cubicBezTo>
                  <a:pt x="84778" y="29170"/>
                  <a:pt x="79177" y="34772"/>
                  <a:pt x="79177" y="41672"/>
                </a:cubicBezTo>
                <a:cubicBezTo>
                  <a:pt x="79177" y="48572"/>
                  <a:pt x="84778" y="54173"/>
                  <a:pt x="91678" y="54173"/>
                </a:cubicBezTo>
                <a:cubicBezTo>
                  <a:pt x="98578" y="54173"/>
                  <a:pt x="104180" y="48572"/>
                  <a:pt x="104180" y="41672"/>
                </a:cubicBezTo>
                <a:close/>
              </a:path>
            </a:pathLst>
          </a:custGeom>
          <a:solidFill>
            <a:srgbClr val="10B981"/>
          </a:solidFill>
          <a:ln/>
        </p:spPr>
      </p:sp>
      <p:sp>
        <p:nvSpPr>
          <p:cNvPr id="44" name="Text 42"/>
          <p:cNvSpPr/>
          <p:nvPr/>
        </p:nvSpPr>
        <p:spPr>
          <a:xfrm>
            <a:off x="6748463" y="4543425"/>
            <a:ext cx="21717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Học tập nhanh hơn với AI assistant</a:t>
            </a:r>
            <a:endParaRPr lang="en-US" sz="1600" dirty="0"/>
          </a:p>
        </p:txBody>
      </p:sp>
      <p:sp>
        <p:nvSpPr>
          <p:cNvPr id="45" name="Shape 43"/>
          <p:cNvSpPr/>
          <p:nvPr/>
        </p:nvSpPr>
        <p:spPr>
          <a:xfrm>
            <a:off x="6524625" y="4810125"/>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F59E0B"/>
          </a:solidFill>
          <a:ln/>
        </p:spPr>
      </p:sp>
      <p:sp>
        <p:nvSpPr>
          <p:cNvPr id="46" name="Text 44"/>
          <p:cNvSpPr/>
          <p:nvPr/>
        </p:nvSpPr>
        <p:spPr>
          <a:xfrm>
            <a:off x="6748463" y="4772025"/>
            <a:ext cx="36576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Cần bổ sung năng lực tư duy hệ thống để tránh bị thay thế</a:t>
            </a:r>
            <a:endParaRPr lang="en-US" sz="1600" dirty="0"/>
          </a:p>
        </p:txBody>
      </p:sp>
      <p:sp>
        <p:nvSpPr>
          <p:cNvPr id="47" name="Shape 45"/>
          <p:cNvSpPr/>
          <p:nvPr/>
        </p:nvSpPr>
        <p:spPr>
          <a:xfrm>
            <a:off x="6196013" y="5472113"/>
            <a:ext cx="5610225" cy="1000125"/>
          </a:xfrm>
          <a:custGeom>
            <a:avLst/>
            <a:gdLst/>
            <a:ahLst/>
            <a:cxnLst/>
            <a:rect l="l" t="t" r="r" b="b"/>
            <a:pathLst>
              <a:path w="5610225" h="1000125">
                <a:moveTo>
                  <a:pt x="114304" y="0"/>
                </a:moveTo>
                <a:lnTo>
                  <a:pt x="5495921" y="0"/>
                </a:lnTo>
                <a:cubicBezTo>
                  <a:pt x="5559049" y="0"/>
                  <a:pt x="5610225" y="51176"/>
                  <a:pt x="5610225" y="114304"/>
                </a:cubicBezTo>
                <a:lnTo>
                  <a:pt x="5610225" y="885821"/>
                </a:lnTo>
                <a:cubicBezTo>
                  <a:pt x="5610225" y="948949"/>
                  <a:pt x="5559049" y="1000125"/>
                  <a:pt x="5495921" y="1000125"/>
                </a:cubicBezTo>
                <a:lnTo>
                  <a:pt x="114304" y="1000125"/>
                </a:lnTo>
                <a:cubicBezTo>
                  <a:pt x="51176" y="1000125"/>
                  <a:pt x="0" y="948949"/>
                  <a:pt x="0" y="885821"/>
                </a:cubicBezTo>
                <a:lnTo>
                  <a:pt x="0" y="114304"/>
                </a:lnTo>
                <a:cubicBezTo>
                  <a:pt x="0" y="51176"/>
                  <a:pt x="51176" y="0"/>
                  <a:pt x="114304" y="0"/>
                </a:cubicBezTo>
                <a:close/>
              </a:path>
            </a:pathLst>
          </a:custGeom>
          <a:gradFill rotWithShape="1" flip="none">
            <a:gsLst>
              <a:gs pos="0">
                <a:srgbClr val="8B5CF6">
                  <a:alpha val="10000"/>
                </a:srgbClr>
              </a:gs>
              <a:gs pos="100000">
                <a:srgbClr val="10B981">
                  <a:alpha val="10000"/>
                </a:srgbClr>
              </a:gs>
            </a:gsLst>
            <a:lin ang="0" scaled="1"/>
          </a:gradFill>
          <a:ln w="12700">
            <a:solidFill>
              <a:srgbClr val="8B5CF6">
                <a:alpha val="30196"/>
              </a:srgbClr>
            </a:solidFill>
            <a:prstDash val="solid"/>
          </a:ln>
        </p:spPr>
      </p:sp>
      <p:sp>
        <p:nvSpPr>
          <p:cNvPr id="48" name="Shape 46"/>
          <p:cNvSpPr/>
          <p:nvPr/>
        </p:nvSpPr>
        <p:spPr>
          <a:xfrm>
            <a:off x="6391275" y="56769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59E0B"/>
          </a:solidFill>
          <a:ln/>
        </p:spPr>
      </p:sp>
      <p:sp>
        <p:nvSpPr>
          <p:cNvPr id="49" name="Text 47"/>
          <p:cNvSpPr/>
          <p:nvPr/>
        </p:nvSpPr>
        <p:spPr>
          <a:xfrm>
            <a:off x="6600825" y="5629275"/>
            <a:ext cx="5124450" cy="6858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Thay đổi cơ bản: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GenAI hỗ trợ mạnh cho coding task cấp thấp, trong khi vai trò senior tăng giá trị ở các tầng kiến trúc, tích hợp, quality gate và governance.</a:t>
            </a:r>
            <a:endParaRPr lang="en-US" sz="1600" dirty="0"/>
          </a:p>
        </p:txBody>
      </p:sp>
    </p:spTree>
  </p:cSld>
  <p:clrMapOvr>
    <a:masterClrMapping/>
  </p:clrMapOvr>
  <p:transition>
    <p:fade/>
    <p:spd val="med"/>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98872" y="561975"/>
            <a:ext cx="150019" cy="171450"/>
          </a:xfrm>
          <a:custGeom>
            <a:avLst/>
            <a:gdLst/>
            <a:ahLst/>
            <a:cxnLst/>
            <a:rect l="l" t="t" r="r" b="b"/>
            <a:pathLst>
              <a:path w="150019" h="171450">
                <a:moveTo>
                  <a:pt x="128588" y="171450"/>
                </a:moveTo>
                <a:lnTo>
                  <a:pt x="32147" y="171450"/>
                </a:lnTo>
                <a:cubicBezTo>
                  <a:pt x="14399" y="171450"/>
                  <a:pt x="0" y="157051"/>
                  <a:pt x="0" y="139303"/>
                </a:cubicBezTo>
                <a:lnTo>
                  <a:pt x="0" y="32147"/>
                </a:lnTo>
                <a:cubicBezTo>
                  <a:pt x="0" y="14399"/>
                  <a:pt x="14399" y="0"/>
                  <a:pt x="32147" y="0"/>
                </a:cubicBezTo>
                <a:lnTo>
                  <a:pt x="133945" y="0"/>
                </a:lnTo>
                <a:cubicBezTo>
                  <a:pt x="142819" y="0"/>
                  <a:pt x="150019" y="7200"/>
                  <a:pt x="150019" y="16073"/>
                </a:cubicBezTo>
                <a:lnTo>
                  <a:pt x="150019" y="112514"/>
                </a:lnTo>
                <a:cubicBezTo>
                  <a:pt x="150019" y="119513"/>
                  <a:pt x="145532" y="125473"/>
                  <a:pt x="139303" y="127683"/>
                </a:cubicBezTo>
                <a:lnTo>
                  <a:pt x="139303" y="150019"/>
                </a:lnTo>
                <a:cubicBezTo>
                  <a:pt x="145230" y="150019"/>
                  <a:pt x="150019" y="154807"/>
                  <a:pt x="150019" y="160734"/>
                </a:cubicBezTo>
                <a:cubicBezTo>
                  <a:pt x="150019" y="166661"/>
                  <a:pt x="145230" y="171450"/>
                  <a:pt x="139303" y="171450"/>
                </a:cubicBezTo>
                <a:lnTo>
                  <a:pt x="128588" y="171450"/>
                </a:lnTo>
                <a:close/>
                <a:moveTo>
                  <a:pt x="32147" y="128588"/>
                </a:moveTo>
                <a:cubicBezTo>
                  <a:pt x="26220" y="128588"/>
                  <a:pt x="21431" y="133376"/>
                  <a:pt x="21431" y="139303"/>
                </a:cubicBezTo>
                <a:cubicBezTo>
                  <a:pt x="21431" y="145230"/>
                  <a:pt x="26220" y="150019"/>
                  <a:pt x="32147" y="150019"/>
                </a:cubicBezTo>
                <a:lnTo>
                  <a:pt x="117872" y="150019"/>
                </a:lnTo>
                <a:lnTo>
                  <a:pt x="117872" y="128588"/>
                </a:lnTo>
                <a:lnTo>
                  <a:pt x="32147" y="128588"/>
                </a:lnTo>
                <a:close/>
                <a:moveTo>
                  <a:pt x="42863" y="50899"/>
                </a:moveTo>
                <a:cubicBezTo>
                  <a:pt x="42863" y="55353"/>
                  <a:pt x="46446" y="58936"/>
                  <a:pt x="50899" y="58936"/>
                </a:cubicBezTo>
                <a:lnTo>
                  <a:pt x="109835" y="58936"/>
                </a:lnTo>
                <a:cubicBezTo>
                  <a:pt x="114289" y="58936"/>
                  <a:pt x="117872" y="55353"/>
                  <a:pt x="117872" y="50899"/>
                </a:cubicBezTo>
                <a:cubicBezTo>
                  <a:pt x="117872" y="46446"/>
                  <a:pt x="114289" y="42863"/>
                  <a:pt x="109835" y="42863"/>
                </a:cubicBezTo>
                <a:lnTo>
                  <a:pt x="50899" y="42863"/>
                </a:lnTo>
                <a:cubicBezTo>
                  <a:pt x="46446" y="42863"/>
                  <a:pt x="42863" y="46446"/>
                  <a:pt x="42863" y="50899"/>
                </a:cubicBezTo>
                <a:close/>
                <a:moveTo>
                  <a:pt x="50899" y="75009"/>
                </a:moveTo>
                <a:cubicBezTo>
                  <a:pt x="46446" y="75009"/>
                  <a:pt x="42863" y="78592"/>
                  <a:pt x="42863" y="83046"/>
                </a:cubicBezTo>
                <a:cubicBezTo>
                  <a:pt x="42863" y="87500"/>
                  <a:pt x="46446" y="91083"/>
                  <a:pt x="50899" y="91083"/>
                </a:cubicBezTo>
                <a:lnTo>
                  <a:pt x="109835" y="91083"/>
                </a:lnTo>
                <a:cubicBezTo>
                  <a:pt x="114289" y="91083"/>
                  <a:pt x="117872" y="87500"/>
                  <a:pt x="117872" y="83046"/>
                </a:cubicBezTo>
                <a:cubicBezTo>
                  <a:pt x="117872" y="78592"/>
                  <a:pt x="114289" y="75009"/>
                  <a:pt x="109835" y="75009"/>
                </a:cubicBezTo>
                <a:lnTo>
                  <a:pt x="50899" y="75009"/>
                </a:lnTo>
                <a:close/>
              </a:path>
            </a:pathLst>
          </a:custGeom>
          <a:solidFill>
            <a:srgbClr val="FFFFFF"/>
          </a:solidFill>
          <a:ln/>
        </p:spPr>
      </p:sp>
      <p:sp>
        <p:nvSpPr>
          <p:cNvPr id="4" name="Text 2"/>
          <p:cNvSpPr/>
          <p:nvPr/>
        </p:nvSpPr>
        <p:spPr>
          <a:xfrm>
            <a:off x="876300" y="381000"/>
            <a:ext cx="6419850"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16 | NỘI DUNG</a:t>
            </a:r>
            <a:endParaRPr lang="en-US" sz="1600" dirty="0"/>
          </a:p>
        </p:txBody>
      </p:sp>
      <p:sp>
        <p:nvSpPr>
          <p:cNvPr id="5" name="Text 3"/>
          <p:cNvSpPr/>
          <p:nvPr/>
        </p:nvSpPr>
        <p:spPr>
          <a:xfrm>
            <a:off x="876300" y="571500"/>
            <a:ext cx="64960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Liên hệ SWEBOK và tương lai ngôn ngữ lập trình</a:t>
            </a:r>
            <a:endParaRPr lang="en-US" sz="1600" dirty="0"/>
          </a:p>
        </p:txBody>
      </p:sp>
      <p:sp>
        <p:nvSpPr>
          <p:cNvPr id="6" name="Shape 4"/>
          <p:cNvSpPr/>
          <p:nvPr/>
        </p:nvSpPr>
        <p:spPr>
          <a:xfrm>
            <a:off x="385763" y="1147763"/>
            <a:ext cx="5610225" cy="3895725"/>
          </a:xfrm>
          <a:custGeom>
            <a:avLst/>
            <a:gdLst/>
            <a:ahLst/>
            <a:cxnLst/>
            <a:rect l="l" t="t" r="r" b="b"/>
            <a:pathLst>
              <a:path w="5610225" h="3895725">
                <a:moveTo>
                  <a:pt x="114301" y="0"/>
                </a:moveTo>
                <a:lnTo>
                  <a:pt x="5495924" y="0"/>
                </a:lnTo>
                <a:cubicBezTo>
                  <a:pt x="5559051" y="0"/>
                  <a:pt x="5610225" y="51174"/>
                  <a:pt x="5610225" y="114301"/>
                </a:cubicBezTo>
                <a:lnTo>
                  <a:pt x="5610225" y="3781424"/>
                </a:lnTo>
                <a:cubicBezTo>
                  <a:pt x="5610225" y="3844551"/>
                  <a:pt x="5559051" y="3895725"/>
                  <a:pt x="5495924" y="3895725"/>
                </a:cubicBezTo>
                <a:lnTo>
                  <a:pt x="114301" y="3895725"/>
                </a:lnTo>
                <a:cubicBezTo>
                  <a:pt x="51174" y="3895725"/>
                  <a:pt x="0" y="3844551"/>
                  <a:pt x="0" y="3781424"/>
                </a:cubicBezTo>
                <a:lnTo>
                  <a:pt x="0" y="114301"/>
                </a:lnTo>
                <a:cubicBezTo>
                  <a:pt x="0" y="51174"/>
                  <a:pt x="51174" y="0"/>
                  <a:pt x="114301"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95250" y="52574"/>
                </a:moveTo>
                <a:lnTo>
                  <a:pt x="95250" y="167655"/>
                </a:lnTo>
                <a:lnTo>
                  <a:pt x="95436" y="167580"/>
                </a:lnTo>
                <a:cubicBezTo>
                  <a:pt x="115751" y="159134"/>
                  <a:pt x="137554" y="154781"/>
                  <a:pt x="159544" y="154781"/>
                </a:cubicBezTo>
                <a:lnTo>
                  <a:pt x="166688" y="154781"/>
                </a:lnTo>
                <a:lnTo>
                  <a:pt x="166688" y="35719"/>
                </a:lnTo>
                <a:lnTo>
                  <a:pt x="159544" y="35719"/>
                </a:lnTo>
                <a:cubicBezTo>
                  <a:pt x="143842" y="35719"/>
                  <a:pt x="128253" y="38844"/>
                  <a:pt x="113742" y="44872"/>
                </a:cubicBezTo>
                <a:cubicBezTo>
                  <a:pt x="107491" y="47476"/>
                  <a:pt x="101315" y="50043"/>
                  <a:pt x="95250" y="52574"/>
                </a:cubicBezTo>
                <a:close/>
                <a:moveTo>
                  <a:pt x="85911" y="22882"/>
                </a:moveTo>
                <a:lnTo>
                  <a:pt x="95250" y="26789"/>
                </a:lnTo>
                <a:lnTo>
                  <a:pt x="104589" y="22882"/>
                </a:lnTo>
                <a:cubicBezTo>
                  <a:pt x="122002" y="15627"/>
                  <a:pt x="140680" y="11906"/>
                  <a:pt x="159544" y="11906"/>
                </a:cubicBezTo>
                <a:lnTo>
                  <a:pt x="172641" y="11906"/>
                </a:lnTo>
                <a:cubicBezTo>
                  <a:pt x="182500" y="11906"/>
                  <a:pt x="190500" y="19906"/>
                  <a:pt x="190500" y="29766"/>
                </a:cubicBezTo>
                <a:lnTo>
                  <a:pt x="190500" y="160734"/>
                </a:lnTo>
                <a:cubicBezTo>
                  <a:pt x="190500" y="170594"/>
                  <a:pt x="182500" y="178594"/>
                  <a:pt x="172641" y="178594"/>
                </a:cubicBezTo>
                <a:lnTo>
                  <a:pt x="159544" y="178594"/>
                </a:lnTo>
                <a:cubicBezTo>
                  <a:pt x="140680" y="178594"/>
                  <a:pt x="122002" y="182314"/>
                  <a:pt x="104589" y="189570"/>
                </a:cubicBezTo>
                <a:lnTo>
                  <a:pt x="99826" y="191542"/>
                </a:lnTo>
                <a:cubicBezTo>
                  <a:pt x="96887" y="192770"/>
                  <a:pt x="93613" y="192770"/>
                  <a:pt x="90674" y="191542"/>
                </a:cubicBezTo>
                <a:lnTo>
                  <a:pt x="85911" y="189570"/>
                </a:lnTo>
                <a:cubicBezTo>
                  <a:pt x="68498" y="182314"/>
                  <a:pt x="49820" y="178594"/>
                  <a:pt x="30956" y="178594"/>
                </a:cubicBezTo>
                <a:lnTo>
                  <a:pt x="17859" y="178594"/>
                </a:lnTo>
                <a:cubicBezTo>
                  <a:pt x="8000" y="178594"/>
                  <a:pt x="0" y="170594"/>
                  <a:pt x="0" y="160734"/>
                </a:cubicBezTo>
                <a:lnTo>
                  <a:pt x="0" y="29766"/>
                </a:lnTo>
                <a:cubicBezTo>
                  <a:pt x="0" y="19906"/>
                  <a:pt x="8000" y="11906"/>
                  <a:pt x="17859" y="11906"/>
                </a:cubicBezTo>
                <a:lnTo>
                  <a:pt x="30956" y="11906"/>
                </a:lnTo>
                <a:cubicBezTo>
                  <a:pt x="49820" y="11906"/>
                  <a:pt x="68498" y="15627"/>
                  <a:pt x="85911" y="22882"/>
                </a:cubicBez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Liên hệ SWEBOK</a:t>
            </a:r>
            <a:endParaRPr lang="en-US" sz="1600" dirty="0"/>
          </a:p>
        </p:txBody>
      </p:sp>
      <p:sp>
        <p:nvSpPr>
          <p:cNvPr id="9" name="Shape 7"/>
          <p:cNvSpPr/>
          <p:nvPr/>
        </p:nvSpPr>
        <p:spPr>
          <a:xfrm>
            <a:off x="600075" y="1762125"/>
            <a:ext cx="5200650" cy="952500"/>
          </a:xfrm>
          <a:custGeom>
            <a:avLst/>
            <a:gdLst/>
            <a:ahLst/>
            <a:cxnLst/>
            <a:rect l="l" t="t" r="r" b="b"/>
            <a:pathLst>
              <a:path w="5200650" h="952500">
                <a:moveTo>
                  <a:pt x="38100" y="0"/>
                </a:moveTo>
                <a:lnTo>
                  <a:pt x="5124450" y="0"/>
                </a:lnTo>
                <a:cubicBezTo>
                  <a:pt x="5166506" y="0"/>
                  <a:pt x="5200650" y="34144"/>
                  <a:pt x="5200650" y="76200"/>
                </a:cubicBezTo>
                <a:lnTo>
                  <a:pt x="5200650" y="876300"/>
                </a:lnTo>
                <a:cubicBezTo>
                  <a:pt x="5200650" y="918356"/>
                  <a:pt x="5166506" y="952500"/>
                  <a:pt x="5124450" y="952500"/>
                </a:cubicBezTo>
                <a:lnTo>
                  <a:pt x="38100" y="952500"/>
                </a:lnTo>
                <a:cubicBezTo>
                  <a:pt x="17072" y="952500"/>
                  <a:pt x="0" y="935428"/>
                  <a:pt x="0" y="914400"/>
                </a:cubicBezTo>
                <a:lnTo>
                  <a:pt x="0" y="38100"/>
                </a:lnTo>
                <a:cubicBezTo>
                  <a:pt x="0" y="17072"/>
                  <a:pt x="17072" y="0"/>
                  <a:pt x="38100" y="0"/>
                </a:cubicBezTo>
                <a:close/>
              </a:path>
            </a:pathLst>
          </a:custGeom>
          <a:solidFill>
            <a:srgbClr val="0F172A"/>
          </a:solidFill>
          <a:ln/>
        </p:spPr>
      </p:sp>
      <p:sp>
        <p:nvSpPr>
          <p:cNvPr id="10" name="Shape 8"/>
          <p:cNvSpPr/>
          <p:nvPr/>
        </p:nvSpPr>
        <p:spPr>
          <a:xfrm>
            <a:off x="600075" y="1762125"/>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10B981"/>
          </a:solidFill>
          <a:ln/>
        </p:spPr>
      </p:sp>
      <p:sp>
        <p:nvSpPr>
          <p:cNvPr id="11" name="Text 9"/>
          <p:cNvSpPr/>
          <p:nvPr/>
        </p:nvSpPr>
        <p:spPr>
          <a:xfrm>
            <a:off x="733425" y="1876425"/>
            <a:ext cx="502920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GenAI hiệu quả cao nhất:</a:t>
            </a:r>
            <a:endParaRPr lang="en-US" sz="1600" dirty="0"/>
          </a:p>
        </p:txBody>
      </p:sp>
      <p:sp>
        <p:nvSpPr>
          <p:cNvPr id="12" name="Shape 10"/>
          <p:cNvSpPr/>
          <p:nvPr/>
        </p:nvSpPr>
        <p:spPr>
          <a:xfrm>
            <a:off x="752475" y="22193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10B981"/>
          </a:solidFill>
          <a:ln/>
        </p:spPr>
      </p:sp>
      <p:sp>
        <p:nvSpPr>
          <p:cNvPr id="13" name="Text 11"/>
          <p:cNvSpPr/>
          <p:nvPr/>
        </p:nvSpPr>
        <p:spPr>
          <a:xfrm>
            <a:off x="976312" y="2181225"/>
            <a:ext cx="2847975"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Software Construction</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Xây dựng phần mềm</a:t>
            </a:r>
            <a:endParaRPr lang="en-US" sz="1600" dirty="0"/>
          </a:p>
        </p:txBody>
      </p:sp>
      <p:sp>
        <p:nvSpPr>
          <p:cNvPr id="14" name="Shape 12"/>
          <p:cNvSpPr/>
          <p:nvPr/>
        </p:nvSpPr>
        <p:spPr>
          <a:xfrm>
            <a:off x="752475" y="24479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10B981"/>
          </a:solidFill>
          <a:ln/>
        </p:spPr>
      </p:sp>
      <p:sp>
        <p:nvSpPr>
          <p:cNvPr id="15" name="Text 13"/>
          <p:cNvSpPr/>
          <p:nvPr/>
        </p:nvSpPr>
        <p:spPr>
          <a:xfrm>
            <a:off x="976312" y="2409825"/>
            <a:ext cx="2486025"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Software Testing</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Kiểm thử phần mềm</a:t>
            </a:r>
            <a:endParaRPr lang="en-US" sz="1600" dirty="0"/>
          </a:p>
        </p:txBody>
      </p:sp>
      <p:sp>
        <p:nvSpPr>
          <p:cNvPr id="16" name="Shape 14"/>
          <p:cNvSpPr/>
          <p:nvPr/>
        </p:nvSpPr>
        <p:spPr>
          <a:xfrm>
            <a:off x="600075" y="2828925"/>
            <a:ext cx="5200650" cy="952500"/>
          </a:xfrm>
          <a:custGeom>
            <a:avLst/>
            <a:gdLst/>
            <a:ahLst/>
            <a:cxnLst/>
            <a:rect l="l" t="t" r="r" b="b"/>
            <a:pathLst>
              <a:path w="5200650" h="952500">
                <a:moveTo>
                  <a:pt x="38100" y="0"/>
                </a:moveTo>
                <a:lnTo>
                  <a:pt x="5124450" y="0"/>
                </a:lnTo>
                <a:cubicBezTo>
                  <a:pt x="5166506" y="0"/>
                  <a:pt x="5200650" y="34144"/>
                  <a:pt x="5200650" y="76200"/>
                </a:cubicBezTo>
                <a:lnTo>
                  <a:pt x="5200650" y="876300"/>
                </a:lnTo>
                <a:cubicBezTo>
                  <a:pt x="5200650" y="918356"/>
                  <a:pt x="5166506" y="952500"/>
                  <a:pt x="5124450" y="952500"/>
                </a:cubicBezTo>
                <a:lnTo>
                  <a:pt x="38100" y="952500"/>
                </a:lnTo>
                <a:cubicBezTo>
                  <a:pt x="17072" y="952500"/>
                  <a:pt x="0" y="935428"/>
                  <a:pt x="0" y="914400"/>
                </a:cubicBezTo>
                <a:lnTo>
                  <a:pt x="0" y="38100"/>
                </a:lnTo>
                <a:cubicBezTo>
                  <a:pt x="0" y="17072"/>
                  <a:pt x="17072" y="0"/>
                  <a:pt x="38100" y="0"/>
                </a:cubicBezTo>
                <a:close/>
              </a:path>
            </a:pathLst>
          </a:custGeom>
          <a:solidFill>
            <a:srgbClr val="0F172A"/>
          </a:solidFill>
          <a:ln/>
        </p:spPr>
      </p:sp>
      <p:sp>
        <p:nvSpPr>
          <p:cNvPr id="17" name="Shape 15"/>
          <p:cNvSpPr/>
          <p:nvPr/>
        </p:nvSpPr>
        <p:spPr>
          <a:xfrm>
            <a:off x="600075" y="2828925"/>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3B82F6"/>
          </a:solidFill>
          <a:ln/>
        </p:spPr>
      </p:sp>
      <p:sp>
        <p:nvSpPr>
          <p:cNvPr id="18" name="Text 16"/>
          <p:cNvSpPr/>
          <p:nvPr/>
        </p:nvSpPr>
        <p:spPr>
          <a:xfrm>
            <a:off x="733425" y="2943225"/>
            <a:ext cx="5029200"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Hỗ trợ gián tiếp:</a:t>
            </a:r>
            <a:endParaRPr lang="en-US" sz="1600" dirty="0"/>
          </a:p>
        </p:txBody>
      </p:sp>
      <p:sp>
        <p:nvSpPr>
          <p:cNvPr id="19" name="Shape 17"/>
          <p:cNvSpPr/>
          <p:nvPr/>
        </p:nvSpPr>
        <p:spPr>
          <a:xfrm>
            <a:off x="760809" y="32861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0" name="Text 18"/>
          <p:cNvSpPr/>
          <p:nvPr/>
        </p:nvSpPr>
        <p:spPr>
          <a:xfrm>
            <a:off x="976312" y="3248025"/>
            <a:ext cx="2676525"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Software Maintenance</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Bảo trì phần mềm</a:t>
            </a:r>
            <a:endParaRPr lang="en-US" sz="1600" dirty="0"/>
          </a:p>
        </p:txBody>
      </p:sp>
      <p:sp>
        <p:nvSpPr>
          <p:cNvPr id="21" name="Shape 19"/>
          <p:cNvSpPr/>
          <p:nvPr/>
        </p:nvSpPr>
        <p:spPr>
          <a:xfrm>
            <a:off x="760809" y="3514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22" name="Text 20"/>
          <p:cNvSpPr/>
          <p:nvPr/>
        </p:nvSpPr>
        <p:spPr>
          <a:xfrm>
            <a:off x="976312" y="3476625"/>
            <a:ext cx="2590800" cy="1905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Software Quality</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 Chất lượng phần mềm</a:t>
            </a:r>
            <a:endParaRPr lang="en-US" sz="1600" dirty="0"/>
          </a:p>
        </p:txBody>
      </p:sp>
      <p:sp>
        <p:nvSpPr>
          <p:cNvPr id="23" name="Shape 21"/>
          <p:cNvSpPr/>
          <p:nvPr/>
        </p:nvSpPr>
        <p:spPr>
          <a:xfrm>
            <a:off x="600075" y="3895725"/>
            <a:ext cx="5200650" cy="952500"/>
          </a:xfrm>
          <a:custGeom>
            <a:avLst/>
            <a:gdLst/>
            <a:ahLst/>
            <a:cxnLst/>
            <a:rect l="l" t="t" r="r" b="b"/>
            <a:pathLst>
              <a:path w="5200650" h="952500">
                <a:moveTo>
                  <a:pt x="38100" y="0"/>
                </a:moveTo>
                <a:lnTo>
                  <a:pt x="5124450" y="0"/>
                </a:lnTo>
                <a:cubicBezTo>
                  <a:pt x="5166506" y="0"/>
                  <a:pt x="5200650" y="34144"/>
                  <a:pt x="5200650" y="76200"/>
                </a:cubicBezTo>
                <a:lnTo>
                  <a:pt x="5200650" y="876300"/>
                </a:lnTo>
                <a:cubicBezTo>
                  <a:pt x="5200650" y="918356"/>
                  <a:pt x="5166506" y="952500"/>
                  <a:pt x="5124450" y="952500"/>
                </a:cubicBezTo>
                <a:lnTo>
                  <a:pt x="38100" y="952500"/>
                </a:lnTo>
                <a:cubicBezTo>
                  <a:pt x="17072" y="952500"/>
                  <a:pt x="0" y="935428"/>
                  <a:pt x="0" y="914400"/>
                </a:cubicBezTo>
                <a:lnTo>
                  <a:pt x="0" y="38100"/>
                </a:lnTo>
                <a:cubicBezTo>
                  <a:pt x="0" y="17072"/>
                  <a:pt x="17072" y="0"/>
                  <a:pt x="38100" y="0"/>
                </a:cubicBezTo>
                <a:close/>
              </a:path>
            </a:pathLst>
          </a:custGeom>
          <a:solidFill>
            <a:srgbClr val="0F172A"/>
          </a:solidFill>
          <a:ln/>
        </p:spPr>
      </p:sp>
      <p:sp>
        <p:nvSpPr>
          <p:cNvPr id="24" name="Shape 22"/>
          <p:cNvSpPr/>
          <p:nvPr/>
        </p:nvSpPr>
        <p:spPr>
          <a:xfrm>
            <a:off x="600075" y="3895725"/>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8B5CF6"/>
          </a:solidFill>
          <a:ln/>
        </p:spPr>
      </p:sp>
      <p:sp>
        <p:nvSpPr>
          <p:cNvPr id="25" name="Text 23"/>
          <p:cNvSpPr/>
          <p:nvPr/>
        </p:nvSpPr>
        <p:spPr>
          <a:xfrm>
            <a:off x="733425" y="4010025"/>
            <a:ext cx="5029200"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Cần con ngườidẫn dắt mạnh:</a:t>
            </a:r>
            <a:endParaRPr lang="en-US" sz="1600" dirty="0"/>
          </a:p>
        </p:txBody>
      </p:sp>
      <p:sp>
        <p:nvSpPr>
          <p:cNvPr id="26" name="Shape 24"/>
          <p:cNvSpPr/>
          <p:nvPr/>
        </p:nvSpPr>
        <p:spPr>
          <a:xfrm>
            <a:off x="760809" y="4352925"/>
            <a:ext cx="116681" cy="133350"/>
          </a:xfrm>
          <a:custGeom>
            <a:avLst/>
            <a:gdLst/>
            <a:ahLst/>
            <a:cxnLst/>
            <a:rect l="l" t="t" r="r" b="b"/>
            <a:pathLst>
              <a:path w="116681" h="133350">
                <a:moveTo>
                  <a:pt x="58341" y="64591"/>
                </a:moveTo>
                <a:cubicBezTo>
                  <a:pt x="75590" y="64591"/>
                  <a:pt x="89595" y="50587"/>
                  <a:pt x="89595" y="33337"/>
                </a:cubicBezTo>
                <a:cubicBezTo>
                  <a:pt x="89595" y="16088"/>
                  <a:pt x="75590" y="2084"/>
                  <a:pt x="58341" y="2084"/>
                </a:cubicBezTo>
                <a:cubicBezTo>
                  <a:pt x="41091" y="2084"/>
                  <a:pt x="27087" y="16088"/>
                  <a:pt x="27087" y="33337"/>
                </a:cubicBezTo>
                <a:cubicBezTo>
                  <a:pt x="27087" y="50587"/>
                  <a:pt x="41091" y="64591"/>
                  <a:pt x="58341" y="64591"/>
                </a:cubicBezTo>
                <a:close/>
                <a:moveTo>
                  <a:pt x="50605" y="79177"/>
                </a:moveTo>
                <a:cubicBezTo>
                  <a:pt x="24951" y="79177"/>
                  <a:pt x="4167" y="99960"/>
                  <a:pt x="4167" y="125615"/>
                </a:cubicBezTo>
                <a:cubicBezTo>
                  <a:pt x="4167" y="129886"/>
                  <a:pt x="7631" y="133350"/>
                  <a:pt x="11903" y="133350"/>
                </a:cubicBezTo>
                <a:lnTo>
                  <a:pt x="104779" y="133350"/>
                </a:lnTo>
                <a:cubicBezTo>
                  <a:pt x="109050" y="133350"/>
                  <a:pt x="112514" y="129886"/>
                  <a:pt x="112514" y="125615"/>
                </a:cubicBezTo>
                <a:cubicBezTo>
                  <a:pt x="112514" y="99960"/>
                  <a:pt x="91730" y="79177"/>
                  <a:pt x="66076" y="79177"/>
                </a:cubicBezTo>
                <a:lnTo>
                  <a:pt x="50605" y="79177"/>
                </a:lnTo>
                <a:close/>
              </a:path>
            </a:pathLst>
          </a:custGeom>
          <a:solidFill>
            <a:srgbClr val="8B5CF6"/>
          </a:solidFill>
          <a:ln/>
        </p:spPr>
      </p:sp>
      <p:sp>
        <p:nvSpPr>
          <p:cNvPr id="27" name="Text 25"/>
          <p:cNvSpPr/>
          <p:nvPr/>
        </p:nvSpPr>
        <p:spPr>
          <a:xfrm>
            <a:off x="976312" y="4314825"/>
            <a:ext cx="22383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Requirements, Architecture, Design</a:t>
            </a:r>
            <a:endParaRPr lang="en-US" sz="1600" dirty="0"/>
          </a:p>
        </p:txBody>
      </p:sp>
      <p:sp>
        <p:nvSpPr>
          <p:cNvPr id="28" name="Shape 26"/>
          <p:cNvSpPr/>
          <p:nvPr/>
        </p:nvSpPr>
        <p:spPr>
          <a:xfrm>
            <a:off x="760809" y="4581525"/>
            <a:ext cx="116681" cy="133350"/>
          </a:xfrm>
          <a:custGeom>
            <a:avLst/>
            <a:gdLst/>
            <a:ahLst/>
            <a:cxnLst/>
            <a:rect l="l" t="t" r="r" b="b"/>
            <a:pathLst>
              <a:path w="116681" h="133350">
                <a:moveTo>
                  <a:pt x="58341" y="64591"/>
                </a:moveTo>
                <a:cubicBezTo>
                  <a:pt x="75590" y="64591"/>
                  <a:pt x="89595" y="50587"/>
                  <a:pt x="89595" y="33337"/>
                </a:cubicBezTo>
                <a:cubicBezTo>
                  <a:pt x="89595" y="16088"/>
                  <a:pt x="75590" y="2084"/>
                  <a:pt x="58341" y="2084"/>
                </a:cubicBezTo>
                <a:cubicBezTo>
                  <a:pt x="41091" y="2084"/>
                  <a:pt x="27087" y="16088"/>
                  <a:pt x="27087" y="33337"/>
                </a:cubicBezTo>
                <a:cubicBezTo>
                  <a:pt x="27087" y="50587"/>
                  <a:pt x="41091" y="64591"/>
                  <a:pt x="58341" y="64591"/>
                </a:cubicBezTo>
                <a:close/>
                <a:moveTo>
                  <a:pt x="50605" y="79177"/>
                </a:moveTo>
                <a:cubicBezTo>
                  <a:pt x="24951" y="79177"/>
                  <a:pt x="4167" y="99960"/>
                  <a:pt x="4167" y="125615"/>
                </a:cubicBezTo>
                <a:cubicBezTo>
                  <a:pt x="4167" y="129886"/>
                  <a:pt x="7631" y="133350"/>
                  <a:pt x="11903" y="133350"/>
                </a:cubicBezTo>
                <a:lnTo>
                  <a:pt x="104779" y="133350"/>
                </a:lnTo>
                <a:cubicBezTo>
                  <a:pt x="109050" y="133350"/>
                  <a:pt x="112514" y="129886"/>
                  <a:pt x="112514" y="125615"/>
                </a:cubicBezTo>
                <a:cubicBezTo>
                  <a:pt x="112514" y="99960"/>
                  <a:pt x="91730" y="79177"/>
                  <a:pt x="66076" y="79177"/>
                </a:cubicBezTo>
                <a:lnTo>
                  <a:pt x="50605" y="79177"/>
                </a:lnTo>
                <a:close/>
              </a:path>
            </a:pathLst>
          </a:custGeom>
          <a:solidFill>
            <a:srgbClr val="8B5CF6"/>
          </a:solidFill>
          <a:ln/>
        </p:spPr>
      </p:sp>
      <p:sp>
        <p:nvSpPr>
          <p:cNvPr id="29" name="Text 27"/>
          <p:cNvSpPr/>
          <p:nvPr/>
        </p:nvSpPr>
        <p:spPr>
          <a:xfrm>
            <a:off x="976312" y="4543425"/>
            <a:ext cx="29241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Operations, Security, Management, Economics</a:t>
            </a:r>
            <a:endParaRPr lang="en-US" sz="1600" dirty="0"/>
          </a:p>
        </p:txBody>
      </p:sp>
      <p:sp>
        <p:nvSpPr>
          <p:cNvPr id="30" name="Shape 28"/>
          <p:cNvSpPr/>
          <p:nvPr/>
        </p:nvSpPr>
        <p:spPr>
          <a:xfrm>
            <a:off x="6196013" y="1147763"/>
            <a:ext cx="5610225" cy="4391025"/>
          </a:xfrm>
          <a:custGeom>
            <a:avLst/>
            <a:gdLst/>
            <a:ahLst/>
            <a:cxnLst/>
            <a:rect l="l" t="t" r="r" b="b"/>
            <a:pathLst>
              <a:path w="5610225" h="4391025">
                <a:moveTo>
                  <a:pt x="114298" y="0"/>
                </a:moveTo>
                <a:lnTo>
                  <a:pt x="5495927" y="0"/>
                </a:lnTo>
                <a:cubicBezTo>
                  <a:pt x="5559052" y="0"/>
                  <a:pt x="5610225" y="51173"/>
                  <a:pt x="5610225" y="114298"/>
                </a:cubicBezTo>
                <a:lnTo>
                  <a:pt x="5610225" y="4276727"/>
                </a:lnTo>
                <a:cubicBezTo>
                  <a:pt x="5610225" y="4339852"/>
                  <a:pt x="5559052" y="4391025"/>
                  <a:pt x="5495927" y="4391025"/>
                </a:cubicBezTo>
                <a:lnTo>
                  <a:pt x="114298" y="4391025"/>
                </a:lnTo>
                <a:cubicBezTo>
                  <a:pt x="51173" y="4391025"/>
                  <a:pt x="0" y="4339852"/>
                  <a:pt x="0" y="4276727"/>
                </a:cubicBezTo>
                <a:lnTo>
                  <a:pt x="0" y="114298"/>
                </a:lnTo>
                <a:cubicBezTo>
                  <a:pt x="0" y="51215"/>
                  <a:pt x="51215" y="0"/>
                  <a:pt x="114298" y="0"/>
                </a:cubicBezTo>
                <a:close/>
              </a:path>
            </a:pathLst>
          </a:custGeom>
          <a:gradFill rotWithShape="1" flip="none">
            <a:gsLst>
              <a:gs pos="0">
                <a:srgbClr val="F59E0B">
                  <a:alpha val="10000"/>
                </a:srgbClr>
              </a:gs>
              <a:gs pos="100000">
                <a:srgbClr val="F59E0B">
                  <a:alpha val="5000"/>
                </a:srgbClr>
              </a:gs>
            </a:gsLst>
            <a:lin ang="2700000" scaled="1"/>
          </a:gradFill>
          <a:ln w="12700">
            <a:solidFill>
              <a:srgbClr val="F59E0B">
                <a:alpha val="30196"/>
              </a:srgbClr>
            </a:solidFill>
            <a:prstDash val="solid"/>
          </a:ln>
        </p:spPr>
      </p:sp>
      <p:sp>
        <p:nvSpPr>
          <p:cNvPr id="31" name="Shape 29"/>
          <p:cNvSpPr/>
          <p:nvPr/>
        </p:nvSpPr>
        <p:spPr>
          <a:xfrm>
            <a:off x="6403181" y="1381125"/>
            <a:ext cx="214313" cy="190500"/>
          </a:xfrm>
          <a:custGeom>
            <a:avLst/>
            <a:gdLst/>
            <a:ahLst/>
            <a:cxnLst/>
            <a:rect l="l" t="t" r="r" b="b"/>
            <a:pathLst>
              <a:path w="214313" h="190500">
                <a:moveTo>
                  <a:pt x="134243" y="446"/>
                </a:moveTo>
                <a:cubicBezTo>
                  <a:pt x="127918" y="-1377"/>
                  <a:pt x="121332" y="2307"/>
                  <a:pt x="119509" y="8632"/>
                </a:cubicBezTo>
                <a:lnTo>
                  <a:pt x="71884" y="175320"/>
                </a:lnTo>
                <a:cubicBezTo>
                  <a:pt x="70061" y="181645"/>
                  <a:pt x="73744" y="188230"/>
                  <a:pt x="80070" y="190054"/>
                </a:cubicBezTo>
                <a:cubicBezTo>
                  <a:pt x="86395" y="191877"/>
                  <a:pt x="92980" y="188193"/>
                  <a:pt x="94804" y="181868"/>
                </a:cubicBezTo>
                <a:lnTo>
                  <a:pt x="142429" y="15180"/>
                </a:lnTo>
                <a:cubicBezTo>
                  <a:pt x="144252" y="8855"/>
                  <a:pt x="140568" y="2270"/>
                  <a:pt x="134243" y="446"/>
                </a:cubicBezTo>
                <a:close/>
                <a:moveTo>
                  <a:pt x="158279" y="51085"/>
                </a:moveTo>
                <a:cubicBezTo>
                  <a:pt x="153628" y="55736"/>
                  <a:pt x="153628" y="63289"/>
                  <a:pt x="158279" y="67940"/>
                </a:cubicBezTo>
                <a:lnTo>
                  <a:pt x="185589" y="95250"/>
                </a:lnTo>
                <a:lnTo>
                  <a:pt x="158279" y="122560"/>
                </a:lnTo>
                <a:cubicBezTo>
                  <a:pt x="153628" y="127211"/>
                  <a:pt x="153628" y="134764"/>
                  <a:pt x="158279" y="139415"/>
                </a:cubicBezTo>
                <a:cubicBezTo>
                  <a:pt x="162930" y="144066"/>
                  <a:pt x="170483" y="144066"/>
                  <a:pt x="175133" y="139415"/>
                </a:cubicBezTo>
                <a:lnTo>
                  <a:pt x="210852" y="103696"/>
                </a:lnTo>
                <a:cubicBezTo>
                  <a:pt x="215503" y="99045"/>
                  <a:pt x="215503" y="91492"/>
                  <a:pt x="210852" y="86841"/>
                </a:cubicBezTo>
                <a:lnTo>
                  <a:pt x="175133" y="51122"/>
                </a:lnTo>
                <a:cubicBezTo>
                  <a:pt x="170483" y="46472"/>
                  <a:pt x="162930" y="46472"/>
                  <a:pt x="158279" y="51122"/>
                </a:cubicBezTo>
                <a:close/>
                <a:moveTo>
                  <a:pt x="56071" y="51085"/>
                </a:moveTo>
                <a:cubicBezTo>
                  <a:pt x="51420" y="46434"/>
                  <a:pt x="43867" y="46434"/>
                  <a:pt x="39216" y="51085"/>
                </a:cubicBezTo>
                <a:lnTo>
                  <a:pt x="3497" y="86804"/>
                </a:lnTo>
                <a:cubicBezTo>
                  <a:pt x="-1153" y="91455"/>
                  <a:pt x="-1153" y="99008"/>
                  <a:pt x="3497" y="103659"/>
                </a:cubicBezTo>
                <a:lnTo>
                  <a:pt x="39216" y="139378"/>
                </a:lnTo>
                <a:cubicBezTo>
                  <a:pt x="43867" y="144028"/>
                  <a:pt x="51420" y="144028"/>
                  <a:pt x="56071" y="139378"/>
                </a:cubicBezTo>
                <a:cubicBezTo>
                  <a:pt x="60722" y="134727"/>
                  <a:pt x="60722" y="127174"/>
                  <a:pt x="56071" y="122523"/>
                </a:cubicBezTo>
                <a:lnTo>
                  <a:pt x="28761" y="95250"/>
                </a:lnTo>
                <a:lnTo>
                  <a:pt x="56034" y="67940"/>
                </a:lnTo>
                <a:cubicBezTo>
                  <a:pt x="60685" y="63289"/>
                  <a:pt x="60685" y="55736"/>
                  <a:pt x="56034" y="51085"/>
                </a:cubicBezTo>
                <a:close/>
              </a:path>
            </a:pathLst>
          </a:custGeom>
          <a:solidFill>
            <a:srgbClr val="F59E0B"/>
          </a:solidFill>
          <a:ln/>
        </p:spPr>
      </p:sp>
      <p:sp>
        <p:nvSpPr>
          <p:cNvPr id="32" name="Text 30"/>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F59E0B"/>
                </a:solidFill>
                <a:latin typeface="MiSans" pitchFamily="34" charset="0"/>
                <a:ea typeface="MiSans" pitchFamily="34" charset="-122"/>
                <a:cs typeface="MiSans" pitchFamily="34" charset="-120"/>
              </a:rPr>
              <a:t>GenAI có thay đổi ngôn ngữ lập trình?</a:t>
            </a:r>
            <a:endParaRPr lang="en-US" sz="1600" dirty="0"/>
          </a:p>
        </p:txBody>
      </p:sp>
      <p:sp>
        <p:nvSpPr>
          <p:cNvPr id="33" name="Shape 31"/>
          <p:cNvSpPr/>
          <p:nvPr/>
        </p:nvSpPr>
        <p:spPr>
          <a:xfrm>
            <a:off x="6391275" y="17621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34" name="Text 32"/>
          <p:cNvSpPr/>
          <p:nvPr/>
        </p:nvSpPr>
        <p:spPr>
          <a:xfrm>
            <a:off x="6505575" y="1876425"/>
            <a:ext cx="50673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Trạng thái hiện tại:</a:t>
            </a:r>
            <a:endParaRPr lang="en-US" sz="1600" dirty="0"/>
          </a:p>
        </p:txBody>
      </p:sp>
      <p:sp>
        <p:nvSpPr>
          <p:cNvPr id="35" name="Text 33"/>
          <p:cNvSpPr/>
          <p:nvPr/>
        </p:nvSpPr>
        <p:spPr>
          <a:xfrm>
            <a:off x="6505575" y="21812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AI là </a:t>
            </a:r>
            <a:pPr>
              <a:lnSpc>
                <a:spcPct val="120000"/>
              </a:lnSpc>
            </a:pPr>
            <a:r>
              <a:rPr lang="en-US" sz="1050" b="1" dirty="0">
                <a:solidFill>
                  <a:srgbClr val="3B82F6"/>
                </a:solidFill>
                <a:latin typeface="MiSans" pitchFamily="34" charset="0"/>
                <a:ea typeface="MiSans" pitchFamily="34" charset="-122"/>
                <a:cs typeface="MiSans" pitchFamily="34" charset="-120"/>
              </a:rPr>
              <a:t>trợ lý viết code</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trong ngôn ngữ hiện hữu (Python, JavaScript, Java...)</a:t>
            </a:r>
            <a:endParaRPr lang="en-US" sz="1600" dirty="0"/>
          </a:p>
        </p:txBody>
      </p:sp>
      <p:sp>
        <p:nvSpPr>
          <p:cNvPr id="36" name="Shape 34"/>
          <p:cNvSpPr/>
          <p:nvPr/>
        </p:nvSpPr>
        <p:spPr>
          <a:xfrm>
            <a:off x="6391275" y="26003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37" name="Text 35"/>
          <p:cNvSpPr/>
          <p:nvPr/>
        </p:nvSpPr>
        <p:spPr>
          <a:xfrm>
            <a:off x="6505575" y="2714625"/>
            <a:ext cx="5067300"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Xu hướng tiếp theo:</a:t>
            </a:r>
            <a:endParaRPr lang="en-US" sz="1600" dirty="0"/>
          </a:p>
        </p:txBody>
      </p:sp>
      <p:sp>
        <p:nvSpPr>
          <p:cNvPr id="38" name="Text 36"/>
          <p:cNvSpPr/>
          <p:nvPr/>
        </p:nvSpPr>
        <p:spPr>
          <a:xfrm>
            <a:off x="6505575" y="30194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Tăng cường giao tiếp bằng </a:t>
            </a:r>
            <a:pPr>
              <a:lnSpc>
                <a:spcPct val="120000"/>
              </a:lnSpc>
            </a:pPr>
            <a:r>
              <a:rPr lang="en-US" sz="1050" b="1" dirty="0">
                <a:solidFill>
                  <a:srgbClr val="8B5CF6"/>
                </a:solidFill>
                <a:latin typeface="MiSans" pitchFamily="34" charset="0"/>
                <a:ea typeface="MiSans" pitchFamily="34" charset="-122"/>
                <a:cs typeface="MiSans" pitchFamily="34" charset="-120"/>
              </a:rPr>
              <a:t>ngôn ngữ tự nhiên/pseudocode</a:t>
            </a:r>
            <a:endParaRPr lang="en-US" sz="1600" dirty="0"/>
          </a:p>
        </p:txBody>
      </p:sp>
      <p:sp>
        <p:nvSpPr>
          <p:cNvPr id="39" name="Shape 37"/>
          <p:cNvSpPr/>
          <p:nvPr/>
        </p:nvSpPr>
        <p:spPr>
          <a:xfrm>
            <a:off x="6396038" y="3443288"/>
            <a:ext cx="5210175" cy="1190625"/>
          </a:xfrm>
          <a:custGeom>
            <a:avLst/>
            <a:gdLst/>
            <a:ahLst/>
            <a:cxnLst/>
            <a:rect l="l" t="t" r="r" b="b"/>
            <a:pathLst>
              <a:path w="5210175" h="1190625">
                <a:moveTo>
                  <a:pt x="76200" y="0"/>
                </a:moveTo>
                <a:lnTo>
                  <a:pt x="5133975" y="0"/>
                </a:lnTo>
                <a:cubicBezTo>
                  <a:pt x="5176031" y="0"/>
                  <a:pt x="5210175" y="34144"/>
                  <a:pt x="5210175" y="76200"/>
                </a:cubicBezTo>
                <a:lnTo>
                  <a:pt x="5210175" y="1114425"/>
                </a:lnTo>
                <a:cubicBezTo>
                  <a:pt x="5210175" y="1156481"/>
                  <a:pt x="5176031" y="1190625"/>
                  <a:pt x="5133975" y="1190625"/>
                </a:cubicBezTo>
                <a:lnTo>
                  <a:pt x="76200" y="1190625"/>
                </a:lnTo>
                <a:cubicBezTo>
                  <a:pt x="34144" y="1190625"/>
                  <a:pt x="0" y="1156481"/>
                  <a:pt x="0" y="1114425"/>
                </a:cubicBezTo>
                <a:lnTo>
                  <a:pt x="0" y="76200"/>
                </a:lnTo>
                <a:cubicBezTo>
                  <a:pt x="0" y="34144"/>
                  <a:pt x="34144" y="0"/>
                  <a:pt x="76200" y="0"/>
                </a:cubicBezTo>
                <a:close/>
              </a:path>
            </a:pathLst>
          </a:custGeom>
          <a:solidFill>
            <a:srgbClr val="0F172A"/>
          </a:solidFill>
          <a:ln w="12700">
            <a:solidFill>
              <a:srgbClr val="EF4444">
                <a:alpha val="30196"/>
              </a:srgbClr>
            </a:solidFill>
            <a:prstDash val="solid"/>
          </a:ln>
        </p:spPr>
      </p:sp>
      <p:sp>
        <p:nvSpPr>
          <p:cNvPr id="40" name="Text 38"/>
          <p:cNvSpPr/>
          <p:nvPr/>
        </p:nvSpPr>
        <p:spPr>
          <a:xfrm>
            <a:off x="6515100" y="3562350"/>
            <a:ext cx="5048250" cy="228600"/>
          </a:xfrm>
          <a:prstGeom prst="rect">
            <a:avLst/>
          </a:prstGeom>
          <a:noFill/>
          <a:ln/>
        </p:spPr>
        <p:txBody>
          <a:bodyPr wrap="square" lIns="0" tIns="0" rIns="0" bIns="0" rtlCol="0" anchor="ctr"/>
          <a:lstStyle/>
          <a:p>
            <a:pPr>
              <a:lnSpc>
                <a:spcPct val="130000"/>
              </a:lnSpc>
            </a:pPr>
            <a:r>
              <a:rPr lang="en-US" sz="1200" b="1" dirty="0">
                <a:solidFill>
                  <a:srgbClr val="EF4444"/>
                </a:solidFill>
                <a:latin typeface="MiSans" pitchFamily="34" charset="0"/>
                <a:ea typeface="MiSans" pitchFamily="34" charset="-122"/>
                <a:cs typeface="MiSans" pitchFamily="34" charset="-120"/>
              </a:rPr>
              <a:t>Hạn chế:</a:t>
            </a:r>
            <a:endParaRPr lang="en-US" sz="1600" dirty="0"/>
          </a:p>
        </p:txBody>
      </p:sp>
      <p:sp>
        <p:nvSpPr>
          <p:cNvPr id="41" name="Shape 39"/>
          <p:cNvSpPr/>
          <p:nvPr/>
        </p:nvSpPr>
        <p:spPr>
          <a:xfrm>
            <a:off x="6550819" y="3905250"/>
            <a:ext cx="100013" cy="133350"/>
          </a:xfrm>
          <a:custGeom>
            <a:avLst/>
            <a:gdLst/>
            <a:ahLst/>
            <a:cxnLst/>
            <a:rect l="l" t="t" r="r" b="b"/>
            <a:pathLst>
              <a:path w="100013" h="133350">
                <a:moveTo>
                  <a:pt x="14351" y="19117"/>
                </a:moveTo>
                <a:cubicBezTo>
                  <a:pt x="11095" y="15861"/>
                  <a:pt x="5808" y="15861"/>
                  <a:pt x="2552" y="19117"/>
                </a:cubicBezTo>
                <a:cubicBezTo>
                  <a:pt x="-703" y="22373"/>
                  <a:pt x="-703" y="27660"/>
                  <a:pt x="2552" y="30915"/>
                </a:cubicBezTo>
                <a:lnTo>
                  <a:pt x="38338" y="66675"/>
                </a:lnTo>
                <a:lnTo>
                  <a:pt x="2578" y="102461"/>
                </a:lnTo>
                <a:cubicBezTo>
                  <a:pt x="-677" y="105716"/>
                  <a:pt x="-677" y="111003"/>
                  <a:pt x="2578" y="114259"/>
                </a:cubicBezTo>
                <a:cubicBezTo>
                  <a:pt x="5834" y="117515"/>
                  <a:pt x="11121" y="117515"/>
                  <a:pt x="14377" y="114259"/>
                </a:cubicBezTo>
                <a:lnTo>
                  <a:pt x="50136" y="78473"/>
                </a:lnTo>
                <a:lnTo>
                  <a:pt x="85922" y="114233"/>
                </a:lnTo>
                <a:cubicBezTo>
                  <a:pt x="89178" y="117489"/>
                  <a:pt x="94465" y="117489"/>
                  <a:pt x="97721" y="114233"/>
                </a:cubicBezTo>
                <a:cubicBezTo>
                  <a:pt x="100976" y="110977"/>
                  <a:pt x="100976" y="105690"/>
                  <a:pt x="97721" y="102435"/>
                </a:cubicBezTo>
                <a:lnTo>
                  <a:pt x="61935" y="66675"/>
                </a:lnTo>
                <a:lnTo>
                  <a:pt x="97695" y="30889"/>
                </a:lnTo>
                <a:cubicBezTo>
                  <a:pt x="100950" y="27634"/>
                  <a:pt x="100950" y="22347"/>
                  <a:pt x="97695" y="19091"/>
                </a:cubicBezTo>
                <a:cubicBezTo>
                  <a:pt x="94439" y="15835"/>
                  <a:pt x="89152" y="15835"/>
                  <a:pt x="85896" y="19091"/>
                </a:cubicBezTo>
                <a:lnTo>
                  <a:pt x="50136" y="54877"/>
                </a:lnTo>
                <a:lnTo>
                  <a:pt x="14351" y="19117"/>
                </a:lnTo>
                <a:close/>
              </a:path>
            </a:pathLst>
          </a:custGeom>
          <a:solidFill>
            <a:srgbClr val="EF4444"/>
          </a:solidFill>
          <a:ln/>
        </p:spPr>
      </p:sp>
      <p:sp>
        <p:nvSpPr>
          <p:cNvPr id="42" name="Text 40"/>
          <p:cNvSpPr/>
          <p:nvPr/>
        </p:nvSpPr>
        <p:spPr>
          <a:xfrm>
            <a:off x="6757988" y="3867150"/>
            <a:ext cx="18764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Mơ hồ của ngôn ngữ tự nhiên</a:t>
            </a:r>
            <a:endParaRPr lang="en-US" sz="1600" dirty="0"/>
          </a:p>
        </p:txBody>
      </p:sp>
      <p:sp>
        <p:nvSpPr>
          <p:cNvPr id="43" name="Shape 41"/>
          <p:cNvSpPr/>
          <p:nvPr/>
        </p:nvSpPr>
        <p:spPr>
          <a:xfrm>
            <a:off x="6550819" y="4133850"/>
            <a:ext cx="100013" cy="133350"/>
          </a:xfrm>
          <a:custGeom>
            <a:avLst/>
            <a:gdLst/>
            <a:ahLst/>
            <a:cxnLst/>
            <a:rect l="l" t="t" r="r" b="b"/>
            <a:pathLst>
              <a:path w="100013" h="133350">
                <a:moveTo>
                  <a:pt x="14351" y="19117"/>
                </a:moveTo>
                <a:cubicBezTo>
                  <a:pt x="11095" y="15861"/>
                  <a:pt x="5808" y="15861"/>
                  <a:pt x="2552" y="19117"/>
                </a:cubicBezTo>
                <a:cubicBezTo>
                  <a:pt x="-703" y="22373"/>
                  <a:pt x="-703" y="27660"/>
                  <a:pt x="2552" y="30915"/>
                </a:cubicBezTo>
                <a:lnTo>
                  <a:pt x="38338" y="66675"/>
                </a:lnTo>
                <a:lnTo>
                  <a:pt x="2578" y="102461"/>
                </a:lnTo>
                <a:cubicBezTo>
                  <a:pt x="-677" y="105716"/>
                  <a:pt x="-677" y="111003"/>
                  <a:pt x="2578" y="114259"/>
                </a:cubicBezTo>
                <a:cubicBezTo>
                  <a:pt x="5834" y="117515"/>
                  <a:pt x="11121" y="117515"/>
                  <a:pt x="14377" y="114259"/>
                </a:cubicBezTo>
                <a:lnTo>
                  <a:pt x="50136" y="78473"/>
                </a:lnTo>
                <a:lnTo>
                  <a:pt x="85922" y="114233"/>
                </a:lnTo>
                <a:cubicBezTo>
                  <a:pt x="89178" y="117489"/>
                  <a:pt x="94465" y="117489"/>
                  <a:pt x="97721" y="114233"/>
                </a:cubicBezTo>
                <a:cubicBezTo>
                  <a:pt x="100976" y="110977"/>
                  <a:pt x="100976" y="105690"/>
                  <a:pt x="97721" y="102435"/>
                </a:cubicBezTo>
                <a:lnTo>
                  <a:pt x="61935" y="66675"/>
                </a:lnTo>
                <a:lnTo>
                  <a:pt x="97695" y="30889"/>
                </a:lnTo>
                <a:cubicBezTo>
                  <a:pt x="100950" y="27634"/>
                  <a:pt x="100950" y="22347"/>
                  <a:pt x="97695" y="19091"/>
                </a:cubicBezTo>
                <a:cubicBezTo>
                  <a:pt x="94439" y="15835"/>
                  <a:pt x="89152" y="15835"/>
                  <a:pt x="85896" y="19091"/>
                </a:cubicBezTo>
                <a:lnTo>
                  <a:pt x="50136" y="54877"/>
                </a:lnTo>
                <a:lnTo>
                  <a:pt x="14351" y="19117"/>
                </a:lnTo>
                <a:close/>
              </a:path>
            </a:pathLst>
          </a:custGeom>
          <a:solidFill>
            <a:srgbClr val="EF4444"/>
          </a:solidFill>
          <a:ln/>
        </p:spPr>
      </p:sp>
      <p:sp>
        <p:nvSpPr>
          <p:cNvPr id="44" name="Text 42"/>
          <p:cNvSpPr/>
          <p:nvPr/>
        </p:nvSpPr>
        <p:spPr>
          <a:xfrm>
            <a:off x="6757988" y="4095750"/>
            <a:ext cx="24574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Khó khăn trong biểu diễn lặp (iteration)</a:t>
            </a:r>
            <a:endParaRPr lang="en-US" sz="1600" dirty="0"/>
          </a:p>
        </p:txBody>
      </p:sp>
      <p:sp>
        <p:nvSpPr>
          <p:cNvPr id="45" name="Shape 43"/>
          <p:cNvSpPr/>
          <p:nvPr/>
        </p:nvSpPr>
        <p:spPr>
          <a:xfrm>
            <a:off x="6550819" y="4362450"/>
            <a:ext cx="100013" cy="133350"/>
          </a:xfrm>
          <a:custGeom>
            <a:avLst/>
            <a:gdLst/>
            <a:ahLst/>
            <a:cxnLst/>
            <a:rect l="l" t="t" r="r" b="b"/>
            <a:pathLst>
              <a:path w="100013" h="133350">
                <a:moveTo>
                  <a:pt x="14351" y="19117"/>
                </a:moveTo>
                <a:cubicBezTo>
                  <a:pt x="11095" y="15861"/>
                  <a:pt x="5808" y="15861"/>
                  <a:pt x="2552" y="19117"/>
                </a:cubicBezTo>
                <a:cubicBezTo>
                  <a:pt x="-703" y="22373"/>
                  <a:pt x="-703" y="27660"/>
                  <a:pt x="2552" y="30915"/>
                </a:cubicBezTo>
                <a:lnTo>
                  <a:pt x="38338" y="66675"/>
                </a:lnTo>
                <a:lnTo>
                  <a:pt x="2578" y="102461"/>
                </a:lnTo>
                <a:cubicBezTo>
                  <a:pt x="-677" y="105716"/>
                  <a:pt x="-677" y="111003"/>
                  <a:pt x="2578" y="114259"/>
                </a:cubicBezTo>
                <a:cubicBezTo>
                  <a:pt x="5834" y="117515"/>
                  <a:pt x="11121" y="117515"/>
                  <a:pt x="14377" y="114259"/>
                </a:cubicBezTo>
                <a:lnTo>
                  <a:pt x="50136" y="78473"/>
                </a:lnTo>
                <a:lnTo>
                  <a:pt x="85922" y="114233"/>
                </a:lnTo>
                <a:cubicBezTo>
                  <a:pt x="89178" y="117489"/>
                  <a:pt x="94465" y="117489"/>
                  <a:pt x="97721" y="114233"/>
                </a:cubicBezTo>
                <a:cubicBezTo>
                  <a:pt x="100976" y="110977"/>
                  <a:pt x="100976" y="105690"/>
                  <a:pt x="97721" y="102435"/>
                </a:cubicBezTo>
                <a:lnTo>
                  <a:pt x="61935" y="66675"/>
                </a:lnTo>
                <a:lnTo>
                  <a:pt x="97695" y="30889"/>
                </a:lnTo>
                <a:cubicBezTo>
                  <a:pt x="100950" y="27634"/>
                  <a:pt x="100950" y="22347"/>
                  <a:pt x="97695" y="19091"/>
                </a:cubicBezTo>
                <a:cubicBezTo>
                  <a:pt x="94439" y="15835"/>
                  <a:pt x="89152" y="15835"/>
                  <a:pt x="85896" y="19091"/>
                </a:cubicBezTo>
                <a:lnTo>
                  <a:pt x="50136" y="54877"/>
                </a:lnTo>
                <a:lnTo>
                  <a:pt x="14351" y="19117"/>
                </a:lnTo>
                <a:close/>
              </a:path>
            </a:pathLst>
          </a:custGeom>
          <a:solidFill>
            <a:srgbClr val="EF4444"/>
          </a:solidFill>
          <a:ln/>
        </p:spPr>
      </p:sp>
      <p:sp>
        <p:nvSpPr>
          <p:cNvPr id="46" name="Text 44"/>
          <p:cNvSpPr/>
          <p:nvPr/>
        </p:nvSpPr>
        <p:spPr>
          <a:xfrm>
            <a:off x="6757988" y="4324350"/>
            <a:ext cx="26955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Ràng buộc phi chức năng và điều kiện biên</a:t>
            </a:r>
            <a:endParaRPr lang="en-US" sz="1600" dirty="0"/>
          </a:p>
        </p:txBody>
      </p:sp>
      <p:sp>
        <p:nvSpPr>
          <p:cNvPr id="47" name="Shape 45"/>
          <p:cNvSpPr/>
          <p:nvPr/>
        </p:nvSpPr>
        <p:spPr>
          <a:xfrm>
            <a:off x="6196013" y="570071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3B82F6">
                  <a:alpha val="10000"/>
                </a:srgbClr>
              </a:gs>
              <a:gs pos="100000">
                <a:srgbClr val="8B5CF6">
                  <a:alpha val="10000"/>
                </a:srgbClr>
              </a:gs>
            </a:gsLst>
            <a:lin ang="0" scaled="1"/>
          </a:gradFill>
          <a:ln w="12700">
            <a:solidFill>
              <a:srgbClr val="3B82F6">
                <a:alpha val="30196"/>
              </a:srgbClr>
            </a:solidFill>
            <a:prstDash val="solid"/>
          </a:ln>
        </p:spPr>
      </p:sp>
      <p:sp>
        <p:nvSpPr>
          <p:cNvPr id="48" name="Shape 46"/>
          <p:cNvSpPr/>
          <p:nvPr/>
        </p:nvSpPr>
        <p:spPr>
          <a:xfrm>
            <a:off x="6372225" y="590550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3B82F6"/>
          </a:solidFill>
          <a:ln/>
        </p:spPr>
      </p:sp>
      <p:sp>
        <p:nvSpPr>
          <p:cNvPr id="49" name="Text 47"/>
          <p:cNvSpPr/>
          <p:nvPr/>
        </p:nvSpPr>
        <p:spPr>
          <a:xfrm>
            <a:off x="6600825" y="585787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Kết luận:</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AI hiệu quả nhất ở Construction và Testing. Các miền Requirements, Architecture, Design vẫn cần con ngườidẫn dắt mạnh.</a:t>
            </a:r>
            <a:endParaRPr lang="en-US" sz="1600" dirty="0"/>
          </a:p>
        </p:txBody>
      </p:sp>
    </p:spTree>
  </p:cSld>
  <p:clrMapOvr>
    <a:masterClrMapping/>
  </p:clrMapOvr>
  <p:transition>
    <p:fade/>
    <p:spd val="med"/>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59E0B"/>
          </a:solidFill>
          <a:ln/>
        </p:spPr>
      </p:sp>
      <p:sp>
        <p:nvSpPr>
          <p:cNvPr id="3" name="Shape 1"/>
          <p:cNvSpPr/>
          <p:nvPr/>
        </p:nvSpPr>
        <p:spPr>
          <a:xfrm>
            <a:off x="488156" y="561975"/>
            <a:ext cx="171450" cy="171450"/>
          </a:xfrm>
          <a:custGeom>
            <a:avLst/>
            <a:gdLst/>
            <a:ahLst/>
            <a:cxnLst/>
            <a:rect l="l" t="t" r="r" b="b"/>
            <a:pathLst>
              <a:path w="171450" h="171450">
                <a:moveTo>
                  <a:pt x="74976" y="10716"/>
                </a:moveTo>
                <a:lnTo>
                  <a:pt x="49459" y="10716"/>
                </a:lnTo>
                <a:cubicBezTo>
                  <a:pt x="39614" y="10716"/>
                  <a:pt x="31008" y="17446"/>
                  <a:pt x="28664" y="26990"/>
                </a:cubicBezTo>
                <a:lnTo>
                  <a:pt x="469" y="140810"/>
                </a:lnTo>
                <a:cubicBezTo>
                  <a:pt x="-2043" y="150923"/>
                  <a:pt x="5626" y="160734"/>
                  <a:pt x="16073" y="160734"/>
                </a:cubicBezTo>
                <a:lnTo>
                  <a:pt x="74976" y="160734"/>
                </a:lnTo>
                <a:lnTo>
                  <a:pt x="74976" y="139303"/>
                </a:lnTo>
                <a:cubicBezTo>
                  <a:pt x="74976" y="133376"/>
                  <a:pt x="79764" y="128588"/>
                  <a:pt x="85692" y="128588"/>
                </a:cubicBezTo>
                <a:cubicBezTo>
                  <a:pt x="91619" y="128588"/>
                  <a:pt x="96407" y="133376"/>
                  <a:pt x="96407" y="139303"/>
                </a:cubicBezTo>
                <a:lnTo>
                  <a:pt x="96407" y="160734"/>
                </a:lnTo>
                <a:lnTo>
                  <a:pt x="155377" y="160734"/>
                </a:lnTo>
                <a:cubicBezTo>
                  <a:pt x="165824" y="160734"/>
                  <a:pt x="173493" y="150923"/>
                  <a:pt x="170981" y="140810"/>
                </a:cubicBezTo>
                <a:lnTo>
                  <a:pt x="142819" y="26990"/>
                </a:lnTo>
                <a:cubicBezTo>
                  <a:pt x="140442" y="17446"/>
                  <a:pt x="131869" y="10716"/>
                  <a:pt x="121991" y="10716"/>
                </a:cubicBezTo>
                <a:lnTo>
                  <a:pt x="96407" y="10716"/>
                </a:lnTo>
                <a:lnTo>
                  <a:pt x="96407" y="32147"/>
                </a:lnTo>
                <a:cubicBezTo>
                  <a:pt x="96407" y="38074"/>
                  <a:pt x="91619" y="42863"/>
                  <a:pt x="85692" y="42863"/>
                </a:cubicBezTo>
                <a:cubicBezTo>
                  <a:pt x="79764" y="42863"/>
                  <a:pt x="74976" y="38074"/>
                  <a:pt x="74976" y="32147"/>
                </a:cubicBezTo>
                <a:lnTo>
                  <a:pt x="74976" y="10716"/>
                </a:lnTo>
                <a:close/>
                <a:moveTo>
                  <a:pt x="96407" y="75009"/>
                </a:moveTo>
                <a:lnTo>
                  <a:pt x="96407" y="96441"/>
                </a:lnTo>
                <a:cubicBezTo>
                  <a:pt x="96407" y="102368"/>
                  <a:pt x="91619" y="107156"/>
                  <a:pt x="85692" y="107156"/>
                </a:cubicBezTo>
                <a:cubicBezTo>
                  <a:pt x="79764" y="107156"/>
                  <a:pt x="74976" y="102368"/>
                  <a:pt x="74976" y="96441"/>
                </a:cubicBezTo>
                <a:lnTo>
                  <a:pt x="74976" y="75009"/>
                </a:lnTo>
                <a:cubicBezTo>
                  <a:pt x="74976" y="69082"/>
                  <a:pt x="79764" y="64294"/>
                  <a:pt x="85692" y="64294"/>
                </a:cubicBezTo>
                <a:cubicBezTo>
                  <a:pt x="91619" y="64294"/>
                  <a:pt x="96407" y="69082"/>
                  <a:pt x="96407" y="75009"/>
                </a:cubicBezTo>
                <a:close/>
              </a:path>
            </a:pathLst>
          </a:custGeom>
          <a:solidFill>
            <a:srgbClr val="FFFFFF"/>
          </a:solidFill>
          <a:ln/>
        </p:spPr>
      </p:sp>
      <p:sp>
        <p:nvSpPr>
          <p:cNvPr id="4" name="Text 2"/>
          <p:cNvSpPr/>
          <p:nvPr/>
        </p:nvSpPr>
        <p:spPr>
          <a:xfrm>
            <a:off x="876300" y="381000"/>
            <a:ext cx="5572125" cy="190500"/>
          </a:xfrm>
          <a:prstGeom prst="rect">
            <a:avLst/>
          </a:prstGeom>
          <a:noFill/>
          <a:ln/>
        </p:spPr>
        <p:txBody>
          <a:bodyPr wrap="square" lIns="0" tIns="0" rIns="0" bIns="0" rtlCol="0" anchor="ctr"/>
          <a:lstStyle/>
          <a:p>
            <a:pPr>
              <a:lnSpc>
                <a:spcPct val="120000"/>
              </a:lnSpc>
            </a:pPr>
            <a:r>
              <a:rPr lang="en-US" sz="1050" b="1" spc="53" kern="0" dirty="0">
                <a:solidFill>
                  <a:srgbClr val="F59E0B"/>
                </a:solidFill>
                <a:latin typeface="MiSans" pitchFamily="34" charset="0"/>
                <a:ea typeface="MiSans" pitchFamily="34" charset="-122"/>
                <a:cs typeface="MiSans" pitchFamily="34" charset="-120"/>
              </a:rPr>
              <a:t>CHƯƠNG 16 | NỘI DUNG</a:t>
            </a:r>
            <a:endParaRPr lang="en-US" sz="1600" dirty="0"/>
          </a:p>
        </p:txBody>
      </p:sp>
      <p:sp>
        <p:nvSpPr>
          <p:cNvPr id="5" name="Text 3"/>
          <p:cNvSpPr/>
          <p:nvPr/>
        </p:nvSpPr>
        <p:spPr>
          <a:xfrm>
            <a:off x="876300" y="571500"/>
            <a:ext cx="564832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Tương lai gần và xa, Rủi ro và Governance</a:t>
            </a:r>
            <a:endParaRPr lang="en-US" sz="1600" dirty="0"/>
          </a:p>
        </p:txBody>
      </p:sp>
      <p:sp>
        <p:nvSpPr>
          <p:cNvPr id="6" name="Shape 4"/>
          <p:cNvSpPr/>
          <p:nvPr/>
        </p:nvSpPr>
        <p:spPr>
          <a:xfrm>
            <a:off x="385763" y="1147763"/>
            <a:ext cx="5610225" cy="3552825"/>
          </a:xfrm>
          <a:custGeom>
            <a:avLst/>
            <a:gdLst/>
            <a:ahLst/>
            <a:cxnLst/>
            <a:rect l="l" t="t" r="r" b="b"/>
            <a:pathLst>
              <a:path w="5610225" h="3552825">
                <a:moveTo>
                  <a:pt x="114294" y="0"/>
                </a:moveTo>
                <a:lnTo>
                  <a:pt x="5495931" y="0"/>
                </a:lnTo>
                <a:cubicBezTo>
                  <a:pt x="5559054" y="0"/>
                  <a:pt x="5610225" y="51171"/>
                  <a:pt x="5610225" y="114294"/>
                </a:cubicBezTo>
                <a:lnTo>
                  <a:pt x="5610225" y="3438531"/>
                </a:lnTo>
                <a:cubicBezTo>
                  <a:pt x="5610225" y="3501654"/>
                  <a:pt x="5559054" y="3552825"/>
                  <a:pt x="5495931" y="3552825"/>
                </a:cubicBezTo>
                <a:lnTo>
                  <a:pt x="114294" y="3552825"/>
                </a:lnTo>
                <a:cubicBezTo>
                  <a:pt x="51171" y="3552825"/>
                  <a:pt x="0" y="3501654"/>
                  <a:pt x="0" y="3438531"/>
                </a:cubicBezTo>
                <a:lnTo>
                  <a:pt x="0" y="114294"/>
                </a:lnTo>
                <a:cubicBezTo>
                  <a:pt x="0" y="51214"/>
                  <a:pt x="51214" y="0"/>
                  <a:pt x="114294"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04838" y="1381125"/>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0" y="44648"/>
                </a:moveTo>
                <a:lnTo>
                  <a:pt x="86320" y="95250"/>
                </a:lnTo>
                <a:cubicBezTo>
                  <a:pt x="86320" y="98227"/>
                  <a:pt x="87809" y="101017"/>
                  <a:pt x="90301" y="102691"/>
                </a:cubicBezTo>
                <a:lnTo>
                  <a:pt x="126020" y="126504"/>
                </a:lnTo>
                <a:cubicBezTo>
                  <a:pt x="130113" y="129257"/>
                  <a:pt x="135657" y="128141"/>
                  <a:pt x="138410" y="124011"/>
                </a:cubicBezTo>
                <a:cubicBezTo>
                  <a:pt x="141163" y="119881"/>
                  <a:pt x="140047" y="114374"/>
                  <a:pt x="135917" y="111621"/>
                </a:cubicBezTo>
                <a:lnTo>
                  <a:pt x="104180" y="90488"/>
                </a:lnTo>
                <a:lnTo>
                  <a:pt x="104180" y="44648"/>
                </a:lnTo>
                <a:cubicBezTo>
                  <a:pt x="104180" y="39700"/>
                  <a:pt x="100199" y="35719"/>
                  <a:pt x="95250" y="35719"/>
                </a:cubicBezTo>
                <a:cubicBezTo>
                  <a:pt x="90301" y="35719"/>
                  <a:pt x="86320" y="39700"/>
                  <a:pt x="86320" y="44648"/>
                </a:cubicBezTo>
                <a:close/>
              </a:path>
            </a:pathLst>
          </a:custGeom>
          <a:solidFill>
            <a:srgbClr val="3B82F6"/>
          </a:solidFill>
          <a:ln/>
        </p:spPr>
      </p:sp>
      <p:sp>
        <p:nvSpPr>
          <p:cNvPr id="8" name="Text 6"/>
          <p:cNvSpPr/>
          <p:nvPr/>
        </p:nvSpPr>
        <p:spPr>
          <a:xfrm>
            <a:off x="819150" y="1343025"/>
            <a:ext cx="5076825" cy="266700"/>
          </a:xfrm>
          <a:prstGeom prst="rect">
            <a:avLst/>
          </a:prstGeom>
          <a:noFill/>
          <a:ln/>
        </p:spPr>
        <p:txBody>
          <a:bodyPr wrap="square" lIns="0" tIns="0" rIns="0" bIns="0" rtlCol="0" anchor="ctr"/>
          <a:lstStyle/>
          <a:p>
            <a:pPr>
              <a:lnSpc>
                <a:spcPct val="120000"/>
              </a:lnSpc>
            </a:pPr>
            <a:r>
              <a:rPr lang="en-US" sz="1500" b="1" dirty="0">
                <a:solidFill>
                  <a:srgbClr val="3B82F6"/>
                </a:solidFill>
                <a:latin typeface="MiSans" pitchFamily="34" charset="0"/>
                <a:ea typeface="MiSans" pitchFamily="34" charset="-122"/>
                <a:cs typeface="MiSans" pitchFamily="34" charset="-120"/>
              </a:rPr>
              <a:t>Tương lai gần và xa</a:t>
            </a:r>
            <a:endParaRPr lang="en-US" sz="1600" dirty="0"/>
          </a:p>
        </p:txBody>
      </p:sp>
      <p:sp>
        <p:nvSpPr>
          <p:cNvPr id="9" name="Shape 7"/>
          <p:cNvSpPr/>
          <p:nvPr/>
        </p:nvSpPr>
        <p:spPr>
          <a:xfrm>
            <a:off x="600075" y="1762125"/>
            <a:ext cx="5200650" cy="1333500"/>
          </a:xfrm>
          <a:custGeom>
            <a:avLst/>
            <a:gdLst/>
            <a:ahLst/>
            <a:cxnLst/>
            <a:rect l="l" t="t" r="r" b="b"/>
            <a:pathLst>
              <a:path w="5200650" h="1333500">
                <a:moveTo>
                  <a:pt x="38100" y="0"/>
                </a:moveTo>
                <a:lnTo>
                  <a:pt x="5124454" y="0"/>
                </a:lnTo>
                <a:cubicBezTo>
                  <a:pt x="5166536" y="0"/>
                  <a:pt x="5200650" y="34114"/>
                  <a:pt x="5200650" y="76196"/>
                </a:cubicBezTo>
                <a:lnTo>
                  <a:pt x="5200650" y="1257304"/>
                </a:lnTo>
                <a:cubicBezTo>
                  <a:pt x="5200650" y="1299386"/>
                  <a:pt x="5166536" y="1333500"/>
                  <a:pt x="5124454" y="1333500"/>
                </a:cubicBezTo>
                <a:lnTo>
                  <a:pt x="38100" y="1333500"/>
                </a:lnTo>
                <a:cubicBezTo>
                  <a:pt x="17072" y="1333500"/>
                  <a:pt x="0" y="1316428"/>
                  <a:pt x="0" y="1295400"/>
                </a:cubicBezTo>
                <a:lnTo>
                  <a:pt x="0" y="38100"/>
                </a:lnTo>
                <a:cubicBezTo>
                  <a:pt x="0" y="17072"/>
                  <a:pt x="17072" y="0"/>
                  <a:pt x="38100" y="0"/>
                </a:cubicBezTo>
                <a:close/>
              </a:path>
            </a:pathLst>
          </a:custGeom>
          <a:solidFill>
            <a:srgbClr val="0F172A"/>
          </a:solidFill>
          <a:ln/>
        </p:spPr>
      </p:sp>
      <p:sp>
        <p:nvSpPr>
          <p:cNvPr id="10" name="Shape 8"/>
          <p:cNvSpPr/>
          <p:nvPr/>
        </p:nvSpPr>
        <p:spPr>
          <a:xfrm>
            <a:off x="600075" y="1762125"/>
            <a:ext cx="38100" cy="1333500"/>
          </a:xfrm>
          <a:custGeom>
            <a:avLst/>
            <a:gdLst/>
            <a:ahLst/>
            <a:cxnLst/>
            <a:rect l="l" t="t" r="r" b="b"/>
            <a:pathLst>
              <a:path w="38100" h="1333500">
                <a:moveTo>
                  <a:pt x="38100" y="0"/>
                </a:moveTo>
                <a:lnTo>
                  <a:pt x="38100" y="0"/>
                </a:lnTo>
                <a:lnTo>
                  <a:pt x="38100" y="1333500"/>
                </a:lnTo>
                <a:lnTo>
                  <a:pt x="38100" y="1333500"/>
                </a:lnTo>
                <a:cubicBezTo>
                  <a:pt x="17072" y="1333500"/>
                  <a:pt x="0" y="1316428"/>
                  <a:pt x="0" y="1295400"/>
                </a:cubicBezTo>
                <a:lnTo>
                  <a:pt x="0" y="38100"/>
                </a:lnTo>
                <a:cubicBezTo>
                  <a:pt x="0" y="17072"/>
                  <a:pt x="17072" y="0"/>
                  <a:pt x="38100" y="0"/>
                </a:cubicBezTo>
                <a:close/>
              </a:path>
            </a:pathLst>
          </a:custGeom>
          <a:solidFill>
            <a:srgbClr val="3B82F6"/>
          </a:solidFill>
          <a:ln/>
        </p:spPr>
      </p:sp>
      <p:sp>
        <p:nvSpPr>
          <p:cNvPr id="11" name="Shape 9"/>
          <p:cNvSpPr/>
          <p:nvPr/>
        </p:nvSpPr>
        <p:spPr>
          <a:xfrm>
            <a:off x="733425" y="18764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solidFill>
          <a:ln/>
        </p:spPr>
      </p:sp>
      <p:sp>
        <p:nvSpPr>
          <p:cNvPr id="12" name="Shape 10"/>
          <p:cNvSpPr/>
          <p:nvPr/>
        </p:nvSpPr>
        <p:spPr>
          <a:xfrm>
            <a:off x="857250" y="1990725"/>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38100" y="76200"/>
                </a:moveTo>
                <a:cubicBezTo>
                  <a:pt x="32831" y="76200"/>
                  <a:pt x="28575" y="80456"/>
                  <a:pt x="28575" y="85725"/>
                </a:cubicBezTo>
                <a:lnTo>
                  <a:pt x="28575" y="104775"/>
                </a:lnTo>
                <a:cubicBezTo>
                  <a:pt x="28575" y="110044"/>
                  <a:pt x="32831" y="114300"/>
                  <a:pt x="38100" y="114300"/>
                </a:cubicBezTo>
                <a:lnTo>
                  <a:pt x="57150" y="114300"/>
                </a:lnTo>
                <a:cubicBezTo>
                  <a:pt x="62419" y="114300"/>
                  <a:pt x="66675" y="110044"/>
                  <a:pt x="66675" y="104775"/>
                </a:cubicBezTo>
                <a:lnTo>
                  <a:pt x="66675" y="85725"/>
                </a:lnTo>
                <a:cubicBezTo>
                  <a:pt x="66675" y="80456"/>
                  <a:pt x="62419" y="76200"/>
                  <a:pt x="57150" y="76200"/>
                </a:cubicBezTo>
                <a:lnTo>
                  <a:pt x="38100" y="76200"/>
                </a:lnTo>
                <a:close/>
              </a:path>
            </a:pathLst>
          </a:custGeom>
          <a:solidFill>
            <a:srgbClr val="FFFFFF"/>
          </a:solidFill>
          <a:ln/>
        </p:spPr>
      </p:sp>
      <p:sp>
        <p:nvSpPr>
          <p:cNvPr id="13" name="Text 11"/>
          <p:cNvSpPr/>
          <p:nvPr/>
        </p:nvSpPr>
        <p:spPr>
          <a:xfrm>
            <a:off x="1228725" y="1933575"/>
            <a:ext cx="1628775"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Ngắn hạn (1-3 năm)</a:t>
            </a:r>
            <a:endParaRPr lang="en-US" sz="1600" dirty="0"/>
          </a:p>
        </p:txBody>
      </p:sp>
      <p:sp>
        <p:nvSpPr>
          <p:cNvPr id="14" name="Shape 12"/>
          <p:cNvSpPr/>
          <p:nvPr/>
        </p:nvSpPr>
        <p:spPr>
          <a:xfrm>
            <a:off x="760809" y="23717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15" name="Text 13"/>
          <p:cNvSpPr/>
          <p:nvPr/>
        </p:nvSpPr>
        <p:spPr>
          <a:xfrm>
            <a:off x="976312" y="2333625"/>
            <a:ext cx="16002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Tăng độ chính xác của AI</a:t>
            </a:r>
            <a:endParaRPr lang="en-US" sz="1600" dirty="0"/>
          </a:p>
        </p:txBody>
      </p:sp>
      <p:sp>
        <p:nvSpPr>
          <p:cNvPr id="16" name="Shape 14"/>
          <p:cNvSpPr/>
          <p:nvPr/>
        </p:nvSpPr>
        <p:spPr>
          <a:xfrm>
            <a:off x="760809" y="26003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17" name="Text 15"/>
          <p:cNvSpPr/>
          <p:nvPr/>
        </p:nvSpPr>
        <p:spPr>
          <a:xfrm>
            <a:off x="976312" y="2562225"/>
            <a:ext cx="13620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Tích hợp IDE sâu hơn</a:t>
            </a:r>
            <a:endParaRPr lang="en-US" sz="1600" dirty="0"/>
          </a:p>
        </p:txBody>
      </p:sp>
      <p:sp>
        <p:nvSpPr>
          <p:cNvPr id="18" name="Shape 16"/>
          <p:cNvSpPr/>
          <p:nvPr/>
        </p:nvSpPr>
        <p:spPr>
          <a:xfrm>
            <a:off x="760809" y="2828925"/>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3B82F6"/>
          </a:solidFill>
          <a:ln/>
        </p:spPr>
      </p:sp>
      <p:sp>
        <p:nvSpPr>
          <p:cNvPr id="19" name="Text 17"/>
          <p:cNvSpPr/>
          <p:nvPr/>
        </p:nvSpPr>
        <p:spPr>
          <a:xfrm>
            <a:off x="976312" y="2790825"/>
            <a:ext cx="19335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Nâng cao năng suất developer</a:t>
            </a:r>
            <a:endParaRPr lang="en-US" sz="1600" dirty="0"/>
          </a:p>
        </p:txBody>
      </p:sp>
      <p:sp>
        <p:nvSpPr>
          <p:cNvPr id="20" name="Shape 18"/>
          <p:cNvSpPr/>
          <p:nvPr/>
        </p:nvSpPr>
        <p:spPr>
          <a:xfrm>
            <a:off x="600075" y="3209925"/>
            <a:ext cx="5200650" cy="1295400"/>
          </a:xfrm>
          <a:custGeom>
            <a:avLst/>
            <a:gdLst/>
            <a:ahLst/>
            <a:cxnLst/>
            <a:rect l="l" t="t" r="r" b="b"/>
            <a:pathLst>
              <a:path w="5200650" h="1295400">
                <a:moveTo>
                  <a:pt x="38100" y="0"/>
                </a:moveTo>
                <a:lnTo>
                  <a:pt x="5124455" y="0"/>
                </a:lnTo>
                <a:cubicBezTo>
                  <a:pt x="5166508" y="0"/>
                  <a:pt x="5200650" y="34142"/>
                  <a:pt x="5200650" y="76195"/>
                </a:cubicBezTo>
                <a:lnTo>
                  <a:pt x="5200650" y="1219205"/>
                </a:lnTo>
                <a:cubicBezTo>
                  <a:pt x="5200650" y="1261286"/>
                  <a:pt x="5166536" y="1295400"/>
                  <a:pt x="5124455" y="1295400"/>
                </a:cubicBezTo>
                <a:lnTo>
                  <a:pt x="38100" y="1295400"/>
                </a:lnTo>
                <a:cubicBezTo>
                  <a:pt x="17072" y="1295400"/>
                  <a:pt x="0" y="1278328"/>
                  <a:pt x="0" y="1257300"/>
                </a:cubicBezTo>
                <a:lnTo>
                  <a:pt x="0" y="38100"/>
                </a:lnTo>
                <a:cubicBezTo>
                  <a:pt x="0" y="17072"/>
                  <a:pt x="17072" y="0"/>
                  <a:pt x="38100" y="0"/>
                </a:cubicBezTo>
                <a:close/>
              </a:path>
            </a:pathLst>
          </a:custGeom>
          <a:solidFill>
            <a:srgbClr val="0F172A"/>
          </a:solidFill>
          <a:ln/>
        </p:spPr>
      </p:sp>
      <p:sp>
        <p:nvSpPr>
          <p:cNvPr id="21" name="Shape 19"/>
          <p:cNvSpPr/>
          <p:nvPr/>
        </p:nvSpPr>
        <p:spPr>
          <a:xfrm>
            <a:off x="600075" y="3209925"/>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8B5CF6"/>
          </a:solidFill>
          <a:ln/>
        </p:spPr>
      </p:sp>
      <p:sp>
        <p:nvSpPr>
          <p:cNvPr id="22" name="Shape 20"/>
          <p:cNvSpPr/>
          <p:nvPr/>
        </p:nvSpPr>
        <p:spPr>
          <a:xfrm>
            <a:off x="733425" y="33242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23" name="Shape 21"/>
          <p:cNvSpPr/>
          <p:nvPr/>
        </p:nvSpPr>
        <p:spPr>
          <a:xfrm>
            <a:off x="857250" y="3438525"/>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FFFFFF"/>
          </a:solidFill>
          <a:ln/>
        </p:spPr>
      </p:sp>
      <p:sp>
        <p:nvSpPr>
          <p:cNvPr id="24" name="Text 22"/>
          <p:cNvSpPr/>
          <p:nvPr/>
        </p:nvSpPr>
        <p:spPr>
          <a:xfrm>
            <a:off x="1228725" y="3381375"/>
            <a:ext cx="154305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Dài hạn (&gt;=5 năm)</a:t>
            </a:r>
            <a:endParaRPr lang="en-US" sz="1600" dirty="0"/>
          </a:p>
        </p:txBody>
      </p:sp>
      <p:sp>
        <p:nvSpPr>
          <p:cNvPr id="25" name="Shape 23"/>
          <p:cNvSpPr/>
          <p:nvPr/>
        </p:nvSpPr>
        <p:spPr>
          <a:xfrm>
            <a:off x="752475" y="381952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8B5CF6"/>
          </a:solidFill>
          <a:ln/>
        </p:spPr>
      </p:sp>
      <p:sp>
        <p:nvSpPr>
          <p:cNvPr id="26" name="Text 24"/>
          <p:cNvSpPr/>
          <p:nvPr/>
        </p:nvSpPr>
        <p:spPr>
          <a:xfrm>
            <a:off x="976312" y="3781425"/>
            <a:ext cx="41052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Dịch chuyển từ artifact mức cao (yêu cầu, UML, Figma) sang code</a:t>
            </a:r>
            <a:endParaRPr lang="en-US" sz="1600" dirty="0"/>
          </a:p>
        </p:txBody>
      </p:sp>
      <p:sp>
        <p:nvSpPr>
          <p:cNvPr id="27" name="Shape 25"/>
          <p:cNvSpPr/>
          <p:nvPr/>
        </p:nvSpPr>
        <p:spPr>
          <a:xfrm>
            <a:off x="747713" y="4048125"/>
            <a:ext cx="133350" cy="133350"/>
          </a:xfrm>
          <a:custGeom>
            <a:avLst/>
            <a:gdLst/>
            <a:ahLst/>
            <a:cxnLst/>
            <a:rect l="l" t="t" r="r" b="b"/>
            <a:pathLst>
              <a:path w="133350" h="133350">
                <a:moveTo>
                  <a:pt x="66675" y="0"/>
                </a:moveTo>
                <a:cubicBezTo>
                  <a:pt x="70504" y="0"/>
                  <a:pt x="74020" y="2110"/>
                  <a:pt x="75843" y="5469"/>
                </a:cubicBezTo>
                <a:lnTo>
                  <a:pt x="132100" y="109649"/>
                </a:lnTo>
                <a:cubicBezTo>
                  <a:pt x="133845" y="112879"/>
                  <a:pt x="133767" y="116785"/>
                  <a:pt x="131891" y="119937"/>
                </a:cubicBezTo>
                <a:cubicBezTo>
                  <a:pt x="130016" y="123088"/>
                  <a:pt x="126604" y="125016"/>
                  <a:pt x="122932" y="125016"/>
                </a:cubicBezTo>
                <a:lnTo>
                  <a:pt x="10418" y="125016"/>
                </a:lnTo>
                <a:cubicBezTo>
                  <a:pt x="6746" y="125016"/>
                  <a:pt x="3360" y="123088"/>
                  <a:pt x="1459" y="119937"/>
                </a:cubicBezTo>
                <a:cubicBezTo>
                  <a:pt x="-443" y="116785"/>
                  <a:pt x="-495" y="112879"/>
                  <a:pt x="1250" y="109649"/>
                </a:cubicBezTo>
                <a:lnTo>
                  <a:pt x="57507" y="5469"/>
                </a:lnTo>
                <a:cubicBezTo>
                  <a:pt x="59330" y="2110"/>
                  <a:pt x="62846" y="0"/>
                  <a:pt x="66675" y="0"/>
                </a:cubicBezTo>
                <a:close/>
                <a:moveTo>
                  <a:pt x="66675" y="43755"/>
                </a:moveTo>
                <a:cubicBezTo>
                  <a:pt x="63211" y="43755"/>
                  <a:pt x="60424" y="46542"/>
                  <a:pt x="60424" y="50006"/>
                </a:cubicBezTo>
                <a:lnTo>
                  <a:pt x="60424" y="79177"/>
                </a:lnTo>
                <a:cubicBezTo>
                  <a:pt x="60424" y="82641"/>
                  <a:pt x="63211" y="85427"/>
                  <a:pt x="66675" y="85427"/>
                </a:cubicBezTo>
                <a:cubicBezTo>
                  <a:pt x="70139" y="85427"/>
                  <a:pt x="72926" y="82641"/>
                  <a:pt x="72926" y="79177"/>
                </a:cubicBezTo>
                <a:lnTo>
                  <a:pt x="72926" y="50006"/>
                </a:lnTo>
                <a:cubicBezTo>
                  <a:pt x="72926" y="46542"/>
                  <a:pt x="70139" y="43755"/>
                  <a:pt x="66675" y="43755"/>
                </a:cubicBezTo>
                <a:close/>
                <a:moveTo>
                  <a:pt x="73629" y="100013"/>
                </a:moveTo>
                <a:cubicBezTo>
                  <a:pt x="73787" y="97431"/>
                  <a:pt x="72500" y="94975"/>
                  <a:pt x="70287" y="93637"/>
                </a:cubicBezTo>
                <a:cubicBezTo>
                  <a:pt x="68074" y="92299"/>
                  <a:pt x="65302" y="92299"/>
                  <a:pt x="63089" y="93637"/>
                </a:cubicBezTo>
                <a:cubicBezTo>
                  <a:pt x="60876" y="94975"/>
                  <a:pt x="59589" y="97431"/>
                  <a:pt x="59747" y="100012"/>
                </a:cubicBezTo>
                <a:cubicBezTo>
                  <a:pt x="59589" y="102594"/>
                  <a:pt x="60876" y="105050"/>
                  <a:pt x="63089" y="106388"/>
                </a:cubicBezTo>
                <a:cubicBezTo>
                  <a:pt x="65302" y="107726"/>
                  <a:pt x="68074" y="107726"/>
                  <a:pt x="70287" y="106388"/>
                </a:cubicBezTo>
                <a:cubicBezTo>
                  <a:pt x="72500" y="105050"/>
                  <a:pt x="73787" y="102594"/>
                  <a:pt x="73629" y="100013"/>
                </a:cubicBezTo>
                <a:close/>
              </a:path>
            </a:pathLst>
          </a:custGeom>
          <a:solidFill>
            <a:srgbClr val="F59E0B"/>
          </a:solidFill>
          <a:ln/>
        </p:spPr>
      </p:sp>
      <p:sp>
        <p:nvSpPr>
          <p:cNvPr id="28" name="Text 26"/>
          <p:cNvSpPr/>
          <p:nvPr/>
        </p:nvSpPr>
        <p:spPr>
          <a:xfrm>
            <a:off x="971104" y="4010025"/>
            <a:ext cx="47815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Vẫn cần con ngườicho architecture, validation, compliance, trách nhiệm pháp lý</a:t>
            </a:r>
            <a:endParaRPr lang="en-US" sz="1600" dirty="0"/>
          </a:p>
        </p:txBody>
      </p:sp>
      <p:sp>
        <p:nvSpPr>
          <p:cNvPr id="29" name="Shape 27"/>
          <p:cNvSpPr/>
          <p:nvPr/>
        </p:nvSpPr>
        <p:spPr>
          <a:xfrm>
            <a:off x="6196013" y="1147763"/>
            <a:ext cx="5610225" cy="4524375"/>
          </a:xfrm>
          <a:custGeom>
            <a:avLst/>
            <a:gdLst/>
            <a:ahLst/>
            <a:cxnLst/>
            <a:rect l="l" t="t" r="r" b="b"/>
            <a:pathLst>
              <a:path w="5610225" h="4524375">
                <a:moveTo>
                  <a:pt x="114286" y="0"/>
                </a:moveTo>
                <a:lnTo>
                  <a:pt x="5495939" y="0"/>
                </a:lnTo>
                <a:cubicBezTo>
                  <a:pt x="5559015" y="0"/>
                  <a:pt x="5610225" y="51210"/>
                  <a:pt x="5610225" y="114286"/>
                </a:cubicBezTo>
                <a:lnTo>
                  <a:pt x="5610225" y="4410089"/>
                </a:lnTo>
                <a:cubicBezTo>
                  <a:pt x="5610225" y="4473208"/>
                  <a:pt x="5559058" y="4524375"/>
                  <a:pt x="5495939" y="4524375"/>
                </a:cubicBezTo>
                <a:lnTo>
                  <a:pt x="114286" y="4524375"/>
                </a:lnTo>
                <a:cubicBezTo>
                  <a:pt x="51167" y="4524375"/>
                  <a:pt x="0" y="4473208"/>
                  <a:pt x="0" y="4410089"/>
                </a:cubicBezTo>
                <a:lnTo>
                  <a:pt x="0" y="114286"/>
                </a:lnTo>
                <a:cubicBezTo>
                  <a:pt x="0" y="51167"/>
                  <a:pt x="51167" y="0"/>
                  <a:pt x="114286" y="0"/>
                </a:cubicBezTo>
                <a:close/>
              </a:path>
            </a:pathLst>
          </a:custGeom>
          <a:gradFill rotWithShape="1" flip="none">
            <a:gsLst>
              <a:gs pos="0">
                <a:srgbClr val="EF4444">
                  <a:alpha val="10000"/>
                </a:srgbClr>
              </a:gs>
              <a:gs pos="100000">
                <a:srgbClr val="EF4444">
                  <a:alpha val="5000"/>
                </a:srgbClr>
              </a:gs>
            </a:gsLst>
            <a:lin ang="2700000" scaled="1"/>
          </a:gradFill>
          <a:ln w="12700">
            <a:solidFill>
              <a:srgbClr val="EF4444">
                <a:alpha val="30196"/>
              </a:srgbClr>
            </a:solidFill>
            <a:prstDash val="solid"/>
          </a:ln>
        </p:spPr>
      </p:sp>
      <p:sp>
        <p:nvSpPr>
          <p:cNvPr id="30" name="Shape 28"/>
          <p:cNvSpPr/>
          <p:nvPr/>
        </p:nvSpPr>
        <p:spPr>
          <a:xfrm>
            <a:off x="6415088" y="1381125"/>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F4444"/>
          </a:solidFill>
          <a:ln/>
        </p:spPr>
      </p:sp>
      <p:sp>
        <p:nvSpPr>
          <p:cNvPr id="31" name="Text 29"/>
          <p:cNvSpPr/>
          <p:nvPr/>
        </p:nvSpPr>
        <p:spPr>
          <a:xfrm>
            <a:off x="6629400" y="1343025"/>
            <a:ext cx="5076825" cy="266700"/>
          </a:xfrm>
          <a:prstGeom prst="rect">
            <a:avLst/>
          </a:prstGeom>
          <a:noFill/>
          <a:ln/>
        </p:spPr>
        <p:txBody>
          <a:bodyPr wrap="square" lIns="0" tIns="0" rIns="0" bIns="0" rtlCol="0" anchor="ctr"/>
          <a:lstStyle/>
          <a:p>
            <a:pPr>
              <a:lnSpc>
                <a:spcPct val="120000"/>
              </a:lnSpc>
            </a:pPr>
            <a:r>
              <a:rPr lang="en-US" sz="1500" b="1" dirty="0">
                <a:solidFill>
                  <a:srgbClr val="EF4444"/>
                </a:solidFill>
                <a:latin typeface="MiSans" pitchFamily="34" charset="0"/>
                <a:ea typeface="MiSans" pitchFamily="34" charset="-122"/>
                <a:cs typeface="MiSans" pitchFamily="34" charset="-120"/>
              </a:rPr>
              <a:t>Rủi ro và Governance</a:t>
            </a:r>
            <a:endParaRPr lang="en-US" sz="1600" dirty="0"/>
          </a:p>
        </p:txBody>
      </p:sp>
      <p:sp>
        <p:nvSpPr>
          <p:cNvPr id="32" name="Shape 30"/>
          <p:cNvSpPr/>
          <p:nvPr/>
        </p:nvSpPr>
        <p:spPr>
          <a:xfrm>
            <a:off x="6391275" y="17621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33" name="Shape 31"/>
          <p:cNvSpPr/>
          <p:nvPr/>
        </p:nvSpPr>
        <p:spPr>
          <a:xfrm>
            <a:off x="6529388" y="18954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76312" y="114188"/>
                </a:moveTo>
                <a:cubicBezTo>
                  <a:pt x="86767" y="124644"/>
                  <a:pt x="103733" y="124644"/>
                  <a:pt x="114188" y="114188"/>
                </a:cubicBezTo>
                <a:cubicBezTo>
                  <a:pt x="117686" y="110691"/>
                  <a:pt x="123341" y="110691"/>
                  <a:pt x="126802" y="114188"/>
                </a:cubicBezTo>
                <a:cubicBezTo>
                  <a:pt x="130262" y="117686"/>
                  <a:pt x="130299" y="123341"/>
                  <a:pt x="126802" y="126802"/>
                </a:cubicBezTo>
                <a:cubicBezTo>
                  <a:pt x="109351" y="144252"/>
                  <a:pt x="81111" y="144252"/>
                  <a:pt x="63661" y="126802"/>
                </a:cubicBezTo>
                <a:cubicBezTo>
                  <a:pt x="46211" y="109351"/>
                  <a:pt x="46211" y="81111"/>
                  <a:pt x="63661" y="63661"/>
                </a:cubicBezTo>
                <a:cubicBezTo>
                  <a:pt x="81111" y="46211"/>
                  <a:pt x="109351" y="46211"/>
                  <a:pt x="126802" y="63661"/>
                </a:cubicBezTo>
                <a:cubicBezTo>
                  <a:pt x="130299" y="67159"/>
                  <a:pt x="130299" y="72814"/>
                  <a:pt x="126802" y="76274"/>
                </a:cubicBezTo>
                <a:cubicBezTo>
                  <a:pt x="123304" y="79735"/>
                  <a:pt x="117649" y="79772"/>
                  <a:pt x="114188" y="76274"/>
                </a:cubicBezTo>
                <a:cubicBezTo>
                  <a:pt x="103733" y="65819"/>
                  <a:pt x="86767" y="65819"/>
                  <a:pt x="76312" y="76274"/>
                </a:cubicBezTo>
                <a:cubicBezTo>
                  <a:pt x="65856" y="86730"/>
                  <a:pt x="65856" y="103696"/>
                  <a:pt x="76312" y="114151"/>
                </a:cubicBezTo>
                <a:close/>
              </a:path>
            </a:pathLst>
          </a:custGeom>
          <a:solidFill>
            <a:srgbClr val="EF4444"/>
          </a:solidFill>
          <a:ln/>
        </p:spPr>
      </p:sp>
      <p:sp>
        <p:nvSpPr>
          <p:cNvPr id="34" name="Text 32"/>
          <p:cNvSpPr/>
          <p:nvPr/>
        </p:nvSpPr>
        <p:spPr>
          <a:xfrm>
            <a:off x="6858000" y="1876425"/>
            <a:ext cx="12668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Rủi ro bản quyền</a:t>
            </a:r>
            <a:endParaRPr lang="en-US" sz="1600" dirty="0"/>
          </a:p>
        </p:txBody>
      </p:sp>
      <p:sp>
        <p:nvSpPr>
          <p:cNvPr id="35" name="Text 33"/>
          <p:cNvSpPr/>
          <p:nvPr/>
        </p:nvSpPr>
        <p:spPr>
          <a:xfrm>
            <a:off x="6505575" y="21812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Dữ liệu huấn luyện có thể chứa code có bản quyền</a:t>
            </a:r>
            <a:endParaRPr lang="en-US" sz="1600" dirty="0"/>
          </a:p>
        </p:txBody>
      </p:sp>
      <p:sp>
        <p:nvSpPr>
          <p:cNvPr id="36" name="Shape 34"/>
          <p:cNvSpPr/>
          <p:nvPr/>
        </p:nvSpPr>
        <p:spPr>
          <a:xfrm>
            <a:off x="6391275" y="26003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37" name="Shape 35"/>
          <p:cNvSpPr/>
          <p:nvPr/>
        </p:nvSpPr>
        <p:spPr>
          <a:xfrm>
            <a:off x="6529388" y="273367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3" y="86320"/>
                  <a:pt x="74414" y="86320"/>
                </a:cubicBezTo>
                <a:cubicBezTo>
                  <a:pt x="69466" y="86320"/>
                  <a:pt x="65484" y="82339"/>
                  <a:pt x="65484" y="77391"/>
                </a:cubicBezTo>
                <a:cubicBezTo>
                  <a:pt x="65484" y="60945"/>
                  <a:pt x="78804" y="47625"/>
                  <a:pt x="95250" y="47625"/>
                </a:cubicBezTo>
                <a:cubicBezTo>
                  <a:pt x="111696" y="47625"/>
                  <a:pt x="125016" y="60945"/>
                  <a:pt x="125016" y="77391"/>
                </a:cubicBezTo>
                <a:cubicBezTo>
                  <a:pt x="125016" y="94952"/>
                  <a:pt x="111621" y="102394"/>
                  <a:pt x="104180" y="105110"/>
                </a:cubicBezTo>
                <a:lnTo>
                  <a:pt x="104180" y="106524"/>
                </a:lnTo>
                <a:cubicBezTo>
                  <a:pt x="104180" y="111472"/>
                  <a:pt x="100199" y="115453"/>
                  <a:pt x="95250" y="115453"/>
                </a:cubicBezTo>
                <a:cubicBezTo>
                  <a:pt x="90301" y="115453"/>
                  <a:pt x="86320" y="111472"/>
                  <a:pt x="86320" y="106524"/>
                </a:cubicBezTo>
                <a:lnTo>
                  <a:pt x="86320" y="103510"/>
                </a:lnTo>
                <a:cubicBezTo>
                  <a:pt x="86320" y="95883"/>
                  <a:pt x="91827" y="90413"/>
                  <a:pt x="97520" y="88553"/>
                </a:cubicBezTo>
                <a:cubicBezTo>
                  <a:pt x="99901" y="87771"/>
                  <a:pt x="102431" y="86506"/>
                  <a:pt x="104291" y="84720"/>
                </a:cubicBezTo>
                <a:cubicBezTo>
                  <a:pt x="105891" y="83158"/>
                  <a:pt x="107156" y="81000"/>
                  <a:pt x="107156" y="77428"/>
                </a:cubicBezTo>
                <a:cubicBezTo>
                  <a:pt x="107156" y="70842"/>
                  <a:pt x="101836" y="65522"/>
                  <a:pt x="95250" y="65522"/>
                </a:cubicBezTo>
                <a:close/>
                <a:moveTo>
                  <a:pt x="83344" y="136922"/>
                </a:moveTo>
                <a:cubicBezTo>
                  <a:pt x="83344" y="130351"/>
                  <a:pt x="88679" y="125016"/>
                  <a:pt x="95250" y="125016"/>
                </a:cubicBezTo>
                <a:cubicBezTo>
                  <a:pt x="101821" y="125016"/>
                  <a:pt x="107156" y="130351"/>
                  <a:pt x="107156" y="136922"/>
                </a:cubicBezTo>
                <a:cubicBezTo>
                  <a:pt x="107156" y="143493"/>
                  <a:pt x="101821" y="148828"/>
                  <a:pt x="95250" y="148828"/>
                </a:cubicBezTo>
                <a:cubicBezTo>
                  <a:pt x="88679" y="148828"/>
                  <a:pt x="83344" y="143493"/>
                  <a:pt x="83344" y="136922"/>
                </a:cubicBezTo>
                <a:close/>
              </a:path>
            </a:pathLst>
          </a:custGeom>
          <a:solidFill>
            <a:srgbClr val="F59E0B"/>
          </a:solidFill>
          <a:ln/>
        </p:spPr>
      </p:sp>
      <p:sp>
        <p:nvSpPr>
          <p:cNvPr id="38" name="Text 36"/>
          <p:cNvSpPr/>
          <p:nvPr/>
        </p:nvSpPr>
        <p:spPr>
          <a:xfrm>
            <a:off x="6858000" y="2714625"/>
            <a:ext cx="14382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Rủi ro explainability</a:t>
            </a:r>
            <a:endParaRPr lang="en-US" sz="1600" dirty="0"/>
          </a:p>
        </p:txBody>
      </p:sp>
      <p:sp>
        <p:nvSpPr>
          <p:cNvPr id="39" name="Text 37"/>
          <p:cNvSpPr/>
          <p:nvPr/>
        </p:nvSpPr>
        <p:spPr>
          <a:xfrm>
            <a:off x="6505575" y="30194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Không rõ ai/agent nào tạo đoạn mã lỗi</a:t>
            </a:r>
            <a:endParaRPr lang="en-US" sz="1600" dirty="0"/>
          </a:p>
        </p:txBody>
      </p:sp>
      <p:sp>
        <p:nvSpPr>
          <p:cNvPr id="40" name="Shape 38"/>
          <p:cNvSpPr/>
          <p:nvPr/>
        </p:nvSpPr>
        <p:spPr>
          <a:xfrm>
            <a:off x="6391275" y="3438525"/>
            <a:ext cx="5219700" cy="723900"/>
          </a:xfrm>
          <a:custGeom>
            <a:avLst/>
            <a:gdLst/>
            <a:ahLst/>
            <a:cxnLst/>
            <a:rect l="l" t="t" r="r" b="b"/>
            <a:pathLst>
              <a:path w="5219700" h="723900">
                <a:moveTo>
                  <a:pt x="76198" y="0"/>
                </a:moveTo>
                <a:lnTo>
                  <a:pt x="5143502" y="0"/>
                </a:lnTo>
                <a:cubicBezTo>
                  <a:pt x="5185557" y="0"/>
                  <a:pt x="5219700" y="34143"/>
                  <a:pt x="5219700" y="76198"/>
                </a:cubicBezTo>
                <a:lnTo>
                  <a:pt x="5219700" y="647702"/>
                </a:lnTo>
                <a:cubicBezTo>
                  <a:pt x="5219700" y="689757"/>
                  <a:pt x="5185557" y="723900"/>
                  <a:pt x="5143502" y="723900"/>
                </a:cubicBezTo>
                <a:lnTo>
                  <a:pt x="76198" y="723900"/>
                </a:lnTo>
                <a:cubicBezTo>
                  <a:pt x="34143" y="723900"/>
                  <a:pt x="0" y="689757"/>
                  <a:pt x="0" y="647702"/>
                </a:cubicBezTo>
                <a:lnTo>
                  <a:pt x="0" y="76198"/>
                </a:lnTo>
                <a:cubicBezTo>
                  <a:pt x="0" y="34143"/>
                  <a:pt x="34143" y="0"/>
                  <a:pt x="76198" y="0"/>
                </a:cubicBezTo>
                <a:close/>
              </a:path>
            </a:pathLst>
          </a:custGeom>
          <a:solidFill>
            <a:srgbClr val="0F172A"/>
          </a:solidFill>
          <a:ln/>
        </p:spPr>
      </p:sp>
      <p:sp>
        <p:nvSpPr>
          <p:cNvPr id="41" name="Shape 39"/>
          <p:cNvSpPr/>
          <p:nvPr/>
        </p:nvSpPr>
        <p:spPr>
          <a:xfrm>
            <a:off x="6517481" y="3571875"/>
            <a:ext cx="214313" cy="190500"/>
          </a:xfrm>
          <a:custGeom>
            <a:avLst/>
            <a:gdLst/>
            <a:ahLst/>
            <a:cxnLst/>
            <a:rect l="l" t="t" r="r" b="b"/>
            <a:pathLst>
              <a:path w="214313" h="190500">
                <a:moveTo>
                  <a:pt x="63103" y="57076"/>
                </a:moveTo>
                <a:lnTo>
                  <a:pt x="56145" y="50118"/>
                </a:lnTo>
                <a:cubicBezTo>
                  <a:pt x="51495" y="45467"/>
                  <a:pt x="51495" y="37914"/>
                  <a:pt x="56145" y="33263"/>
                </a:cubicBezTo>
                <a:lnTo>
                  <a:pt x="98822" y="-9451"/>
                </a:lnTo>
                <a:cubicBezTo>
                  <a:pt x="103473" y="-14101"/>
                  <a:pt x="111026" y="-14101"/>
                  <a:pt x="115677" y="-9451"/>
                </a:cubicBezTo>
                <a:lnTo>
                  <a:pt x="122634" y="-2456"/>
                </a:lnTo>
                <a:cubicBezTo>
                  <a:pt x="127285" y="2195"/>
                  <a:pt x="127285" y="9748"/>
                  <a:pt x="122634" y="14399"/>
                </a:cubicBezTo>
                <a:lnTo>
                  <a:pt x="79958" y="57076"/>
                </a:lnTo>
                <a:cubicBezTo>
                  <a:pt x="75307" y="61726"/>
                  <a:pt x="67754" y="61726"/>
                  <a:pt x="63103" y="57076"/>
                </a:cubicBezTo>
                <a:close/>
                <a:moveTo>
                  <a:pt x="102691" y="78767"/>
                </a:moveTo>
                <a:lnTo>
                  <a:pt x="91008" y="67084"/>
                </a:lnTo>
                <a:lnTo>
                  <a:pt x="132680" y="25412"/>
                </a:lnTo>
                <a:lnTo>
                  <a:pt x="177105" y="69838"/>
                </a:lnTo>
                <a:lnTo>
                  <a:pt x="135434" y="111509"/>
                </a:lnTo>
                <a:lnTo>
                  <a:pt x="123751" y="99826"/>
                </a:lnTo>
                <a:lnTo>
                  <a:pt x="37430" y="186147"/>
                </a:lnTo>
                <a:cubicBezTo>
                  <a:pt x="31626" y="191951"/>
                  <a:pt x="22213" y="191951"/>
                  <a:pt x="16371" y="186147"/>
                </a:cubicBezTo>
                <a:cubicBezTo>
                  <a:pt x="10530" y="180342"/>
                  <a:pt x="10567" y="170929"/>
                  <a:pt x="16371" y="165088"/>
                </a:cubicBezTo>
                <a:lnTo>
                  <a:pt x="102691" y="78767"/>
                </a:lnTo>
                <a:close/>
                <a:moveTo>
                  <a:pt x="145442" y="139378"/>
                </a:moveTo>
                <a:cubicBezTo>
                  <a:pt x="140791" y="134727"/>
                  <a:pt x="140791" y="127174"/>
                  <a:pt x="145442" y="122523"/>
                </a:cubicBezTo>
                <a:lnTo>
                  <a:pt x="188119" y="79846"/>
                </a:lnTo>
                <a:cubicBezTo>
                  <a:pt x="192770" y="75195"/>
                  <a:pt x="200323" y="75195"/>
                  <a:pt x="204974" y="79846"/>
                </a:cubicBezTo>
                <a:lnTo>
                  <a:pt x="211931" y="86804"/>
                </a:lnTo>
                <a:cubicBezTo>
                  <a:pt x="216582" y="91455"/>
                  <a:pt x="216582" y="99008"/>
                  <a:pt x="211931" y="103659"/>
                </a:cubicBezTo>
                <a:lnTo>
                  <a:pt x="169255" y="146372"/>
                </a:lnTo>
                <a:cubicBezTo>
                  <a:pt x="164604" y="151023"/>
                  <a:pt x="157051" y="151023"/>
                  <a:pt x="152400" y="146372"/>
                </a:cubicBezTo>
                <a:lnTo>
                  <a:pt x="145442" y="139415"/>
                </a:lnTo>
                <a:close/>
              </a:path>
            </a:pathLst>
          </a:custGeom>
          <a:solidFill>
            <a:srgbClr val="8B5CF6"/>
          </a:solidFill>
          <a:ln/>
        </p:spPr>
      </p:sp>
      <p:sp>
        <p:nvSpPr>
          <p:cNvPr id="42" name="Text 40"/>
          <p:cNvSpPr/>
          <p:nvPr/>
        </p:nvSpPr>
        <p:spPr>
          <a:xfrm>
            <a:off x="6858000" y="3552825"/>
            <a:ext cx="13335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Rủi ro compliance</a:t>
            </a:r>
            <a:endParaRPr lang="en-US" sz="1600" dirty="0"/>
          </a:p>
        </p:txBody>
      </p:sp>
      <p:sp>
        <p:nvSpPr>
          <p:cNvPr id="43" name="Text 41"/>
          <p:cNvSpPr/>
          <p:nvPr/>
        </p:nvSpPr>
        <p:spPr>
          <a:xfrm>
            <a:off x="6505575" y="3857625"/>
            <a:ext cx="50577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Trong lĩnh vực regulated (y tế, ngân hàng, giao thông)</a:t>
            </a:r>
            <a:endParaRPr lang="en-US" sz="1600" dirty="0"/>
          </a:p>
        </p:txBody>
      </p:sp>
      <p:sp>
        <p:nvSpPr>
          <p:cNvPr id="44" name="Shape 42"/>
          <p:cNvSpPr/>
          <p:nvPr/>
        </p:nvSpPr>
        <p:spPr>
          <a:xfrm>
            <a:off x="6396038" y="4281488"/>
            <a:ext cx="5210175" cy="1190625"/>
          </a:xfrm>
          <a:custGeom>
            <a:avLst/>
            <a:gdLst/>
            <a:ahLst/>
            <a:cxnLst/>
            <a:rect l="l" t="t" r="r" b="b"/>
            <a:pathLst>
              <a:path w="5210175" h="1190625">
                <a:moveTo>
                  <a:pt x="76200" y="0"/>
                </a:moveTo>
                <a:lnTo>
                  <a:pt x="5133975" y="0"/>
                </a:lnTo>
                <a:cubicBezTo>
                  <a:pt x="5176031" y="0"/>
                  <a:pt x="5210175" y="34144"/>
                  <a:pt x="5210175" y="76200"/>
                </a:cubicBezTo>
                <a:lnTo>
                  <a:pt x="5210175" y="1114425"/>
                </a:lnTo>
                <a:cubicBezTo>
                  <a:pt x="5210175" y="1156481"/>
                  <a:pt x="5176031" y="1190625"/>
                  <a:pt x="5133975" y="1190625"/>
                </a:cubicBezTo>
                <a:lnTo>
                  <a:pt x="76200" y="1190625"/>
                </a:lnTo>
                <a:cubicBezTo>
                  <a:pt x="34144" y="1190625"/>
                  <a:pt x="0" y="1156481"/>
                  <a:pt x="0" y="1114425"/>
                </a:cubicBezTo>
                <a:lnTo>
                  <a:pt x="0" y="76200"/>
                </a:lnTo>
                <a:cubicBezTo>
                  <a:pt x="0" y="34144"/>
                  <a:pt x="34144" y="0"/>
                  <a:pt x="76200" y="0"/>
                </a:cubicBezTo>
                <a:close/>
              </a:path>
            </a:pathLst>
          </a:custGeom>
          <a:solidFill>
            <a:srgbClr val="0F172A"/>
          </a:solidFill>
          <a:ln w="12700">
            <a:solidFill>
              <a:srgbClr val="10B981">
                <a:alpha val="30196"/>
              </a:srgbClr>
            </a:solidFill>
            <a:prstDash val="solid"/>
          </a:ln>
        </p:spPr>
      </p:sp>
      <p:sp>
        <p:nvSpPr>
          <p:cNvPr id="45" name="Text 43"/>
          <p:cNvSpPr/>
          <p:nvPr/>
        </p:nvSpPr>
        <p:spPr>
          <a:xfrm>
            <a:off x="6515100" y="4400550"/>
            <a:ext cx="5048250"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Yêu cầu mới:</a:t>
            </a:r>
            <a:endParaRPr lang="en-US" sz="1600" dirty="0"/>
          </a:p>
        </p:txBody>
      </p:sp>
      <p:sp>
        <p:nvSpPr>
          <p:cNvPr id="46" name="Shape 44"/>
          <p:cNvSpPr/>
          <p:nvPr/>
        </p:nvSpPr>
        <p:spPr>
          <a:xfrm>
            <a:off x="6542484" y="474345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47" name="Text 45"/>
          <p:cNvSpPr/>
          <p:nvPr/>
        </p:nvSpPr>
        <p:spPr>
          <a:xfrm>
            <a:off x="6757988" y="4705350"/>
            <a:ext cx="189547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Audit trail - Lưu vết kiểm toán</a:t>
            </a:r>
            <a:endParaRPr lang="en-US" sz="1600" dirty="0"/>
          </a:p>
        </p:txBody>
      </p:sp>
      <p:sp>
        <p:nvSpPr>
          <p:cNvPr id="48" name="Shape 46"/>
          <p:cNvSpPr/>
          <p:nvPr/>
        </p:nvSpPr>
        <p:spPr>
          <a:xfrm>
            <a:off x="6542484" y="497205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49" name="Text 47"/>
          <p:cNvSpPr/>
          <p:nvPr/>
        </p:nvSpPr>
        <p:spPr>
          <a:xfrm>
            <a:off x="6757988" y="4933950"/>
            <a:ext cx="22479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Model card - Thẻ thông tin mô hình</a:t>
            </a:r>
            <a:endParaRPr lang="en-US" sz="1600" dirty="0"/>
          </a:p>
        </p:txBody>
      </p:sp>
      <p:sp>
        <p:nvSpPr>
          <p:cNvPr id="50" name="Shape 48"/>
          <p:cNvSpPr/>
          <p:nvPr/>
        </p:nvSpPr>
        <p:spPr>
          <a:xfrm>
            <a:off x="6542484" y="5200650"/>
            <a:ext cx="116681" cy="133350"/>
          </a:xfrm>
          <a:custGeom>
            <a:avLst/>
            <a:gdLst/>
            <a:ahLst/>
            <a:cxnLst/>
            <a:rect l="l" t="t" r="r" b="b"/>
            <a:pathLst>
              <a:path w="116681" h="133350">
                <a:moveTo>
                  <a:pt x="113243" y="18257"/>
                </a:moveTo>
                <a:cubicBezTo>
                  <a:pt x="116968" y="20966"/>
                  <a:pt x="117801" y="26175"/>
                  <a:pt x="115093" y="29900"/>
                </a:cubicBezTo>
                <a:lnTo>
                  <a:pt x="48418" y="121578"/>
                </a:lnTo>
                <a:cubicBezTo>
                  <a:pt x="46985" y="123557"/>
                  <a:pt x="44771" y="124781"/>
                  <a:pt x="42323" y="124990"/>
                </a:cubicBezTo>
                <a:cubicBezTo>
                  <a:pt x="39875" y="125198"/>
                  <a:pt x="37505" y="124286"/>
                  <a:pt x="35786" y="122567"/>
                </a:cubicBezTo>
                <a:lnTo>
                  <a:pt x="2448" y="89230"/>
                </a:lnTo>
                <a:cubicBezTo>
                  <a:pt x="-807" y="85974"/>
                  <a:pt x="-807" y="80687"/>
                  <a:pt x="2448" y="77432"/>
                </a:cubicBezTo>
                <a:cubicBezTo>
                  <a:pt x="5704" y="74176"/>
                  <a:pt x="10991" y="74176"/>
                  <a:pt x="14247" y="77432"/>
                </a:cubicBezTo>
                <a:lnTo>
                  <a:pt x="40682" y="103867"/>
                </a:lnTo>
                <a:lnTo>
                  <a:pt x="101627" y="20081"/>
                </a:lnTo>
                <a:cubicBezTo>
                  <a:pt x="104336" y="16356"/>
                  <a:pt x="109545" y="15523"/>
                  <a:pt x="113269" y="18231"/>
                </a:cubicBezTo>
                <a:close/>
              </a:path>
            </a:pathLst>
          </a:custGeom>
          <a:solidFill>
            <a:srgbClr val="10B981"/>
          </a:solidFill>
          <a:ln/>
        </p:spPr>
      </p:sp>
      <p:sp>
        <p:nvSpPr>
          <p:cNvPr id="51" name="Text 49"/>
          <p:cNvSpPr/>
          <p:nvPr/>
        </p:nvSpPr>
        <p:spPr>
          <a:xfrm>
            <a:off x="6757988" y="5162550"/>
            <a:ext cx="19907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Policy về dữ liệu và review gate</a:t>
            </a:r>
            <a:endParaRPr lang="en-US" sz="1600" dirty="0"/>
          </a:p>
        </p:txBody>
      </p:sp>
      <p:sp>
        <p:nvSpPr>
          <p:cNvPr id="52" name="Shape 50"/>
          <p:cNvSpPr/>
          <p:nvPr/>
        </p:nvSpPr>
        <p:spPr>
          <a:xfrm>
            <a:off x="6196013" y="5834063"/>
            <a:ext cx="5610225" cy="771525"/>
          </a:xfrm>
          <a:custGeom>
            <a:avLst/>
            <a:gdLst/>
            <a:ahLst/>
            <a:cxnLst/>
            <a:rect l="l" t="t" r="r" b="b"/>
            <a:pathLst>
              <a:path w="5610225" h="771525">
                <a:moveTo>
                  <a:pt x="114301" y="0"/>
                </a:moveTo>
                <a:lnTo>
                  <a:pt x="5495924" y="0"/>
                </a:lnTo>
                <a:cubicBezTo>
                  <a:pt x="5559051" y="0"/>
                  <a:pt x="5610225" y="51174"/>
                  <a:pt x="5610225" y="114301"/>
                </a:cubicBezTo>
                <a:lnTo>
                  <a:pt x="5610225" y="657224"/>
                </a:lnTo>
                <a:cubicBezTo>
                  <a:pt x="5610225" y="720351"/>
                  <a:pt x="5559051" y="771525"/>
                  <a:pt x="549592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EF4444">
                  <a:alpha val="10000"/>
                </a:srgbClr>
              </a:gs>
              <a:gs pos="100000">
                <a:srgbClr val="F59E0B">
                  <a:alpha val="10000"/>
                </a:srgbClr>
              </a:gs>
            </a:gsLst>
            <a:lin ang="0" scaled="1"/>
          </a:gradFill>
          <a:ln w="12700">
            <a:solidFill>
              <a:srgbClr val="EF4444">
                <a:alpha val="30196"/>
              </a:srgbClr>
            </a:solidFill>
            <a:prstDash val="solid"/>
          </a:ln>
        </p:spPr>
      </p:sp>
      <p:sp>
        <p:nvSpPr>
          <p:cNvPr id="53" name="Shape 51"/>
          <p:cNvSpPr/>
          <p:nvPr/>
        </p:nvSpPr>
        <p:spPr>
          <a:xfrm>
            <a:off x="6372225" y="6038850"/>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40481"/>
                </a:moveTo>
                <a:cubicBezTo>
                  <a:pt x="80159" y="40481"/>
                  <a:pt x="83344" y="43666"/>
                  <a:pt x="83344" y="47625"/>
                </a:cubicBezTo>
                <a:lnTo>
                  <a:pt x="83344" y="80962"/>
                </a:lnTo>
                <a:cubicBezTo>
                  <a:pt x="83344" y="84921"/>
                  <a:pt x="80159" y="88106"/>
                  <a:pt x="76200" y="88106"/>
                </a:cubicBezTo>
                <a:cubicBezTo>
                  <a:pt x="72241" y="88106"/>
                  <a:pt x="69056" y="84921"/>
                  <a:pt x="69056" y="80962"/>
                </a:cubicBezTo>
                <a:lnTo>
                  <a:pt x="69056" y="47625"/>
                </a:lnTo>
                <a:cubicBezTo>
                  <a:pt x="69056" y="43666"/>
                  <a:pt x="72241" y="40481"/>
                  <a:pt x="76200" y="40481"/>
                </a:cubicBezTo>
                <a:close/>
                <a:moveTo>
                  <a:pt x="68253" y="104775"/>
                </a:moveTo>
                <a:cubicBezTo>
                  <a:pt x="68072" y="101825"/>
                  <a:pt x="69543" y="99018"/>
                  <a:pt x="72072" y="97489"/>
                </a:cubicBezTo>
                <a:cubicBezTo>
                  <a:pt x="74601" y="95959"/>
                  <a:pt x="77770" y="95959"/>
                  <a:pt x="80298" y="97489"/>
                </a:cubicBezTo>
                <a:cubicBezTo>
                  <a:pt x="82827" y="99018"/>
                  <a:pt x="84298" y="101825"/>
                  <a:pt x="84118" y="104775"/>
                </a:cubicBezTo>
                <a:cubicBezTo>
                  <a:pt x="84298" y="107725"/>
                  <a:pt x="82827" y="110532"/>
                  <a:pt x="80298" y="112061"/>
                </a:cubicBezTo>
                <a:cubicBezTo>
                  <a:pt x="77770" y="113591"/>
                  <a:pt x="74601" y="113591"/>
                  <a:pt x="72072" y="112061"/>
                </a:cubicBezTo>
                <a:cubicBezTo>
                  <a:pt x="69543" y="110532"/>
                  <a:pt x="68072" y="107725"/>
                  <a:pt x="68253" y="104775"/>
                </a:cubicBezTo>
                <a:close/>
              </a:path>
            </a:pathLst>
          </a:custGeom>
          <a:solidFill>
            <a:srgbClr val="EF4444"/>
          </a:solidFill>
          <a:ln/>
        </p:spPr>
      </p:sp>
      <p:sp>
        <p:nvSpPr>
          <p:cNvPr id="54" name="Text 52"/>
          <p:cNvSpPr/>
          <p:nvPr/>
        </p:nvSpPr>
        <p:spPr>
          <a:xfrm>
            <a:off x="6600825" y="5991225"/>
            <a:ext cx="5124450" cy="457200"/>
          </a:xfrm>
          <a:prstGeom prst="rect">
            <a:avLst/>
          </a:prstGeom>
          <a:noFill/>
          <a:ln/>
        </p:spPr>
        <p:txBody>
          <a:bodyPr wrap="square" lIns="0" tIns="0" rIns="0" bIns="0" rtlCol="0" anchor="ctr"/>
          <a:lstStyle/>
          <a:p>
            <a:pPr>
              <a:lnSpc>
                <a:spcPct val="130000"/>
              </a:lnSpc>
            </a:pPr>
            <a:r>
              <a:rPr lang="en-US" sz="1200" b="1" dirty="0">
                <a:solidFill>
                  <a:srgbClr val="F1F5F9">
                    <a:alpha val="90000"/>
                  </a:srgbClr>
                </a:solidFill>
                <a:latin typeface="MiSans" pitchFamily="34" charset="0"/>
                <a:ea typeface="MiSans" pitchFamily="34" charset="-122"/>
                <a:cs typeface="MiSans" pitchFamily="34" charset="-120"/>
              </a:rPr>
              <a:t>Cảnh báo:</a:t>
            </a:r>
            <a:pPr>
              <a:lnSpc>
                <a:spcPct val="130000"/>
              </a:lnSpc>
            </a:pPr>
            <a:r>
              <a:rPr lang="en-US" sz="1200" dirty="0">
                <a:solidFill>
                  <a:srgbClr val="F1F5F9">
                    <a:alpha val="90000"/>
                  </a:srgbClr>
                </a:solidFill>
                <a:latin typeface="MiSans" pitchFamily="34" charset="0"/>
                <a:ea typeface="MiSans" pitchFamily="34" charset="-122"/>
                <a:cs typeface="MiSans" pitchFamily="34" charset="-120"/>
              </a:rPr>
              <a:t> Việc tích hợp GenAI mang lại rủi ro về bản quyền, explainability và compliance. Cần có governance rõ ràng để kiểm soát.</a:t>
            </a:r>
            <a:endParaRPr lang="en-US" sz="1600" dirty="0"/>
          </a:p>
        </p:txBody>
      </p:sp>
    </p:spTree>
  </p:cSld>
  <p:clrMapOvr>
    <a:masterClrMapping/>
  </p:clrMapOvr>
  <p:transition>
    <p:fade/>
    <p:spd val="med"/>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solidFill>
          <a:ln/>
        </p:spPr>
      </p:sp>
      <p:sp>
        <p:nvSpPr>
          <p:cNvPr id="3" name="Shape 1"/>
          <p:cNvSpPr/>
          <p:nvPr/>
        </p:nvSpPr>
        <p:spPr>
          <a:xfrm>
            <a:off x="488156" y="561975"/>
            <a:ext cx="171450" cy="171450"/>
          </a:xfrm>
          <a:custGeom>
            <a:avLst/>
            <a:gdLst/>
            <a:ahLst/>
            <a:cxnLst/>
            <a:rect l="l" t="t" r="r" b="b"/>
            <a:pathLst>
              <a:path w="171450" h="171450">
                <a:moveTo>
                  <a:pt x="64294" y="21431"/>
                </a:moveTo>
                <a:cubicBezTo>
                  <a:pt x="64294" y="15504"/>
                  <a:pt x="69082" y="10716"/>
                  <a:pt x="75009" y="10716"/>
                </a:cubicBezTo>
                <a:lnTo>
                  <a:pt x="96441" y="10716"/>
                </a:lnTo>
                <a:cubicBezTo>
                  <a:pt x="102368" y="10716"/>
                  <a:pt x="107156" y="15504"/>
                  <a:pt x="107156" y="21431"/>
                </a:cubicBezTo>
                <a:lnTo>
                  <a:pt x="107156" y="42863"/>
                </a:lnTo>
                <a:cubicBezTo>
                  <a:pt x="107156" y="48790"/>
                  <a:pt x="102368" y="53578"/>
                  <a:pt x="96441" y="53578"/>
                </a:cubicBezTo>
                <a:lnTo>
                  <a:pt x="93762" y="53578"/>
                </a:lnTo>
                <a:lnTo>
                  <a:pt x="93762" y="75009"/>
                </a:lnTo>
                <a:lnTo>
                  <a:pt x="133945" y="75009"/>
                </a:lnTo>
                <a:cubicBezTo>
                  <a:pt x="147273" y="75009"/>
                  <a:pt x="158055" y="85792"/>
                  <a:pt x="158055" y="99120"/>
                </a:cubicBezTo>
                <a:lnTo>
                  <a:pt x="158055" y="117872"/>
                </a:lnTo>
                <a:lnTo>
                  <a:pt x="160734" y="117872"/>
                </a:lnTo>
                <a:cubicBezTo>
                  <a:pt x="166661" y="117872"/>
                  <a:pt x="171450" y="122660"/>
                  <a:pt x="171450" y="128588"/>
                </a:cubicBezTo>
                <a:lnTo>
                  <a:pt x="171450" y="150019"/>
                </a:lnTo>
                <a:cubicBezTo>
                  <a:pt x="171450" y="155946"/>
                  <a:pt x="166661" y="160734"/>
                  <a:pt x="160734" y="160734"/>
                </a:cubicBezTo>
                <a:lnTo>
                  <a:pt x="139303" y="160734"/>
                </a:lnTo>
                <a:cubicBezTo>
                  <a:pt x="133376" y="160734"/>
                  <a:pt x="128588" y="155946"/>
                  <a:pt x="128588" y="150019"/>
                </a:cubicBezTo>
                <a:lnTo>
                  <a:pt x="128588" y="128588"/>
                </a:lnTo>
                <a:cubicBezTo>
                  <a:pt x="128588" y="122660"/>
                  <a:pt x="133376" y="117872"/>
                  <a:pt x="139303" y="117872"/>
                </a:cubicBezTo>
                <a:lnTo>
                  <a:pt x="141982" y="117872"/>
                </a:lnTo>
                <a:lnTo>
                  <a:pt x="141982" y="99120"/>
                </a:lnTo>
                <a:cubicBezTo>
                  <a:pt x="141982" y="94666"/>
                  <a:pt x="138399" y="91083"/>
                  <a:pt x="133945" y="91083"/>
                </a:cubicBezTo>
                <a:lnTo>
                  <a:pt x="93762" y="91083"/>
                </a:lnTo>
                <a:lnTo>
                  <a:pt x="93762" y="117872"/>
                </a:lnTo>
                <a:lnTo>
                  <a:pt x="96441" y="117872"/>
                </a:lnTo>
                <a:cubicBezTo>
                  <a:pt x="102368" y="117872"/>
                  <a:pt x="107156" y="122660"/>
                  <a:pt x="107156" y="128588"/>
                </a:cubicBezTo>
                <a:lnTo>
                  <a:pt x="107156" y="150019"/>
                </a:lnTo>
                <a:cubicBezTo>
                  <a:pt x="107156" y="155946"/>
                  <a:pt x="102368" y="160734"/>
                  <a:pt x="96441" y="160734"/>
                </a:cubicBezTo>
                <a:lnTo>
                  <a:pt x="75009" y="160734"/>
                </a:lnTo>
                <a:cubicBezTo>
                  <a:pt x="69082" y="160734"/>
                  <a:pt x="64294" y="155946"/>
                  <a:pt x="64294" y="150019"/>
                </a:cubicBezTo>
                <a:lnTo>
                  <a:pt x="64294" y="128588"/>
                </a:lnTo>
                <a:cubicBezTo>
                  <a:pt x="64294" y="122660"/>
                  <a:pt x="69082" y="117872"/>
                  <a:pt x="75009" y="117872"/>
                </a:cubicBezTo>
                <a:lnTo>
                  <a:pt x="77688" y="117872"/>
                </a:lnTo>
                <a:lnTo>
                  <a:pt x="77688" y="91083"/>
                </a:lnTo>
                <a:lnTo>
                  <a:pt x="37505" y="91083"/>
                </a:lnTo>
                <a:cubicBezTo>
                  <a:pt x="33051" y="91083"/>
                  <a:pt x="29468" y="94666"/>
                  <a:pt x="29468" y="99120"/>
                </a:cubicBezTo>
                <a:lnTo>
                  <a:pt x="29468" y="117872"/>
                </a:lnTo>
                <a:lnTo>
                  <a:pt x="32147" y="117872"/>
                </a:lnTo>
                <a:cubicBezTo>
                  <a:pt x="38074" y="117872"/>
                  <a:pt x="42863" y="122660"/>
                  <a:pt x="42863" y="128588"/>
                </a:cubicBezTo>
                <a:lnTo>
                  <a:pt x="42863" y="150019"/>
                </a:lnTo>
                <a:cubicBezTo>
                  <a:pt x="42863" y="155946"/>
                  <a:pt x="38074" y="160734"/>
                  <a:pt x="32147" y="160734"/>
                </a:cubicBezTo>
                <a:lnTo>
                  <a:pt x="10716" y="160734"/>
                </a:lnTo>
                <a:cubicBezTo>
                  <a:pt x="4789" y="160734"/>
                  <a:pt x="0" y="155946"/>
                  <a:pt x="0" y="150019"/>
                </a:cubicBezTo>
                <a:lnTo>
                  <a:pt x="0" y="128588"/>
                </a:lnTo>
                <a:cubicBezTo>
                  <a:pt x="0" y="122660"/>
                  <a:pt x="4789" y="117872"/>
                  <a:pt x="10716" y="117872"/>
                </a:cubicBezTo>
                <a:lnTo>
                  <a:pt x="13395" y="117872"/>
                </a:lnTo>
                <a:lnTo>
                  <a:pt x="13395" y="99120"/>
                </a:lnTo>
                <a:cubicBezTo>
                  <a:pt x="13395" y="85792"/>
                  <a:pt x="24177" y="75009"/>
                  <a:pt x="37505" y="75009"/>
                </a:cubicBezTo>
                <a:lnTo>
                  <a:pt x="77688" y="75009"/>
                </a:lnTo>
                <a:lnTo>
                  <a:pt x="77688" y="53578"/>
                </a:lnTo>
                <a:lnTo>
                  <a:pt x="75009" y="53578"/>
                </a:lnTo>
                <a:cubicBezTo>
                  <a:pt x="69082" y="53578"/>
                  <a:pt x="64294" y="48790"/>
                  <a:pt x="64294" y="42863"/>
                </a:cubicBezTo>
                <a:lnTo>
                  <a:pt x="64294" y="21431"/>
                </a:lnTo>
                <a:close/>
              </a:path>
            </a:pathLst>
          </a:custGeom>
          <a:solidFill>
            <a:srgbClr val="FFFFFF"/>
          </a:solidFill>
          <a:ln/>
        </p:spPr>
      </p:sp>
      <p:sp>
        <p:nvSpPr>
          <p:cNvPr id="4" name="Text 2"/>
          <p:cNvSpPr/>
          <p:nvPr/>
        </p:nvSpPr>
        <p:spPr>
          <a:xfrm>
            <a:off x="876300" y="381000"/>
            <a:ext cx="6038850" cy="190500"/>
          </a:xfrm>
          <a:prstGeom prst="rect">
            <a:avLst/>
          </a:prstGeom>
          <a:noFill/>
          <a:ln/>
        </p:spPr>
        <p:txBody>
          <a:bodyPr wrap="square" lIns="0" tIns="0" rIns="0" bIns="0" rtlCol="0" anchor="ctr"/>
          <a:lstStyle/>
          <a:p>
            <a:pPr>
              <a:lnSpc>
                <a:spcPct val="120000"/>
              </a:lnSpc>
            </a:pPr>
            <a:r>
              <a:rPr lang="en-US" sz="1050" b="1" spc="53" kern="0" dirty="0">
                <a:solidFill>
                  <a:srgbClr val="8B5CF6"/>
                </a:solidFill>
                <a:latin typeface="MiSans" pitchFamily="34" charset="0"/>
                <a:ea typeface="MiSans" pitchFamily="34" charset="-122"/>
                <a:cs typeface="MiSans" pitchFamily="34" charset="-120"/>
              </a:rPr>
              <a:t>CHƯƠNG 16 | PHÂN TÍCH</a:t>
            </a:r>
            <a:endParaRPr lang="en-US" sz="1600" dirty="0"/>
          </a:p>
        </p:txBody>
      </p:sp>
      <p:sp>
        <p:nvSpPr>
          <p:cNvPr id="5" name="Text 3"/>
          <p:cNvSpPr/>
          <p:nvPr/>
        </p:nvSpPr>
        <p:spPr>
          <a:xfrm>
            <a:off x="876300" y="571500"/>
            <a:ext cx="6115050"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Phân tích theo 3 mức: Ý tưởng, Luận lý, Vật lý</a:t>
            </a:r>
            <a:endParaRPr lang="en-US" sz="1600" dirty="0"/>
          </a:p>
        </p:txBody>
      </p:sp>
      <p:sp>
        <p:nvSpPr>
          <p:cNvPr id="6" name="Shape 4"/>
          <p:cNvSpPr/>
          <p:nvPr/>
        </p:nvSpPr>
        <p:spPr>
          <a:xfrm>
            <a:off x="385763" y="1147763"/>
            <a:ext cx="3695700" cy="5324475"/>
          </a:xfrm>
          <a:custGeom>
            <a:avLst/>
            <a:gdLst/>
            <a:ahLst/>
            <a:cxnLst/>
            <a:rect l="l" t="t" r="r" b="b"/>
            <a:pathLst>
              <a:path w="3695700" h="5324475">
                <a:moveTo>
                  <a:pt x="114308" y="0"/>
                </a:moveTo>
                <a:lnTo>
                  <a:pt x="3581392" y="0"/>
                </a:lnTo>
                <a:cubicBezTo>
                  <a:pt x="3644523" y="0"/>
                  <a:pt x="3695700" y="51177"/>
                  <a:pt x="3695700" y="114308"/>
                </a:cubicBezTo>
                <a:lnTo>
                  <a:pt x="3695700" y="5210167"/>
                </a:lnTo>
                <a:cubicBezTo>
                  <a:pt x="3695700" y="5273298"/>
                  <a:pt x="3644523" y="5324475"/>
                  <a:pt x="3581392" y="5324475"/>
                </a:cubicBezTo>
                <a:lnTo>
                  <a:pt x="114308" y="5324475"/>
                </a:lnTo>
                <a:cubicBezTo>
                  <a:pt x="51177" y="5324475"/>
                  <a:pt x="0" y="5273298"/>
                  <a:pt x="0" y="5210167"/>
                </a:cubicBezTo>
                <a:lnTo>
                  <a:pt x="0" y="114308"/>
                </a:lnTo>
                <a:cubicBezTo>
                  <a:pt x="0" y="51220"/>
                  <a:pt x="51220" y="0"/>
                  <a:pt x="114308"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102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8" name="Shape 6"/>
          <p:cNvSpPr/>
          <p:nvPr/>
        </p:nvSpPr>
        <p:spPr>
          <a:xfrm>
            <a:off x="738188" y="1476375"/>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FFFFFF"/>
          </a:solidFill>
          <a:ln/>
        </p:spPr>
      </p:sp>
      <p:sp>
        <p:nvSpPr>
          <p:cNvPr id="9" name="Text 7"/>
          <p:cNvSpPr/>
          <p:nvPr/>
        </p:nvSpPr>
        <p:spPr>
          <a:xfrm>
            <a:off x="1152525" y="1438275"/>
            <a:ext cx="12192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Mức Ý tưởng</a:t>
            </a:r>
            <a:endParaRPr lang="en-US" sz="1600" dirty="0"/>
          </a:p>
        </p:txBody>
      </p:sp>
      <p:sp>
        <p:nvSpPr>
          <p:cNvPr id="10" name="Shape 8"/>
          <p:cNvSpPr/>
          <p:nvPr/>
        </p:nvSpPr>
        <p:spPr>
          <a:xfrm>
            <a:off x="581025" y="1952625"/>
            <a:ext cx="3305175" cy="1638300"/>
          </a:xfrm>
          <a:custGeom>
            <a:avLst/>
            <a:gdLst/>
            <a:ahLst/>
            <a:cxnLst/>
            <a:rect l="l" t="t" r="r" b="b"/>
            <a:pathLst>
              <a:path w="3305175" h="1638300">
                <a:moveTo>
                  <a:pt x="76197" y="0"/>
                </a:moveTo>
                <a:lnTo>
                  <a:pt x="3228978" y="0"/>
                </a:lnTo>
                <a:cubicBezTo>
                  <a:pt x="3271060" y="0"/>
                  <a:pt x="3305175" y="34115"/>
                  <a:pt x="3305175" y="76197"/>
                </a:cubicBezTo>
                <a:lnTo>
                  <a:pt x="3305175" y="1562103"/>
                </a:lnTo>
                <a:cubicBezTo>
                  <a:pt x="3305175" y="1604185"/>
                  <a:pt x="3271060" y="1638300"/>
                  <a:pt x="3228978" y="1638300"/>
                </a:cubicBezTo>
                <a:lnTo>
                  <a:pt x="76197" y="1638300"/>
                </a:lnTo>
                <a:cubicBezTo>
                  <a:pt x="34115" y="1638300"/>
                  <a:pt x="0" y="1604185"/>
                  <a:pt x="0" y="1562103"/>
                </a:cubicBezTo>
                <a:lnTo>
                  <a:pt x="0" y="76197"/>
                </a:lnTo>
                <a:cubicBezTo>
                  <a:pt x="0" y="34143"/>
                  <a:pt x="34143" y="0"/>
                  <a:pt x="76197" y="0"/>
                </a:cubicBezTo>
                <a:close/>
              </a:path>
            </a:pathLst>
          </a:custGeom>
          <a:solidFill>
            <a:srgbClr val="0F172A"/>
          </a:solidFill>
          <a:ln/>
        </p:spPr>
      </p:sp>
      <p:sp>
        <p:nvSpPr>
          <p:cNvPr id="11" name="Text 9"/>
          <p:cNvSpPr/>
          <p:nvPr/>
        </p:nvSpPr>
        <p:spPr>
          <a:xfrm>
            <a:off x="695325" y="2066925"/>
            <a:ext cx="3152775" cy="228600"/>
          </a:xfrm>
          <a:prstGeom prst="rect">
            <a:avLst/>
          </a:prstGeom>
          <a:noFill/>
          <a:ln/>
        </p:spPr>
        <p:txBody>
          <a:bodyPr wrap="square" lIns="0" tIns="0" rIns="0" bIns="0" rtlCol="0" anchor="ctr"/>
          <a:lstStyle/>
          <a:p>
            <a:pPr>
              <a:lnSpc>
                <a:spcPct val="130000"/>
              </a:lnSpc>
            </a:pPr>
            <a:r>
              <a:rPr lang="en-US" sz="1200" b="1" dirty="0">
                <a:solidFill>
                  <a:srgbClr val="3B82F6"/>
                </a:solidFill>
                <a:latin typeface="MiSans" pitchFamily="34" charset="0"/>
                <a:ea typeface="MiSans" pitchFamily="34" charset="-122"/>
                <a:cs typeface="MiSans" pitchFamily="34" charset="-120"/>
              </a:rPr>
              <a:t>Câu hỏi trung tâm:</a:t>
            </a:r>
            <a:endParaRPr lang="en-US" sz="1600" dirty="0"/>
          </a:p>
        </p:txBody>
      </p:sp>
      <p:sp>
        <p:nvSpPr>
          <p:cNvPr id="12" name="Shape 10"/>
          <p:cNvSpPr/>
          <p:nvPr/>
        </p:nvSpPr>
        <p:spPr>
          <a:xfrm>
            <a:off x="709613" y="24098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45839"/>
                </a:moveTo>
                <a:cubicBezTo>
                  <a:pt x="62065" y="45839"/>
                  <a:pt x="58341" y="49563"/>
                  <a:pt x="58341" y="54173"/>
                </a:cubicBezTo>
                <a:cubicBezTo>
                  <a:pt x="58341" y="57637"/>
                  <a:pt x="55554" y="60424"/>
                  <a:pt x="52090" y="60424"/>
                </a:cubicBezTo>
                <a:cubicBezTo>
                  <a:pt x="48626" y="60424"/>
                  <a:pt x="45839" y="57637"/>
                  <a:pt x="45839" y="54173"/>
                </a:cubicBezTo>
                <a:cubicBezTo>
                  <a:pt x="45839" y="42662"/>
                  <a:pt x="55163" y="33337"/>
                  <a:pt x="66675" y="33337"/>
                </a:cubicBezTo>
                <a:cubicBezTo>
                  <a:pt x="78187" y="33337"/>
                  <a:pt x="87511" y="42662"/>
                  <a:pt x="87511" y="54173"/>
                </a:cubicBezTo>
                <a:cubicBezTo>
                  <a:pt x="87511" y="66467"/>
                  <a:pt x="78135" y="71676"/>
                  <a:pt x="72926" y="73577"/>
                </a:cubicBezTo>
                <a:lnTo>
                  <a:pt x="72926" y="74567"/>
                </a:lnTo>
                <a:cubicBezTo>
                  <a:pt x="72926" y="78031"/>
                  <a:pt x="70139" y="80817"/>
                  <a:pt x="66675" y="80817"/>
                </a:cubicBezTo>
                <a:cubicBezTo>
                  <a:pt x="63211" y="80817"/>
                  <a:pt x="60424" y="78031"/>
                  <a:pt x="60424" y="74567"/>
                </a:cubicBezTo>
                <a:lnTo>
                  <a:pt x="60424" y="72457"/>
                </a:lnTo>
                <a:cubicBezTo>
                  <a:pt x="60424" y="67118"/>
                  <a:pt x="64279" y="63289"/>
                  <a:pt x="68264" y="61987"/>
                </a:cubicBezTo>
                <a:cubicBezTo>
                  <a:pt x="69931" y="61440"/>
                  <a:pt x="71702" y="60554"/>
                  <a:pt x="73004" y="59304"/>
                </a:cubicBezTo>
                <a:cubicBezTo>
                  <a:pt x="74124" y="58210"/>
                  <a:pt x="75009" y="56700"/>
                  <a:pt x="75009" y="54199"/>
                </a:cubicBezTo>
                <a:cubicBezTo>
                  <a:pt x="75009" y="49590"/>
                  <a:pt x="71285" y="45865"/>
                  <a:pt x="66675" y="45865"/>
                </a:cubicBezTo>
                <a:close/>
                <a:moveTo>
                  <a:pt x="58341" y="95845"/>
                </a:moveTo>
                <a:cubicBezTo>
                  <a:pt x="58341" y="91245"/>
                  <a:pt x="62075" y="87511"/>
                  <a:pt x="66675" y="87511"/>
                </a:cubicBezTo>
                <a:cubicBezTo>
                  <a:pt x="71275" y="87511"/>
                  <a:pt x="75009" y="91245"/>
                  <a:pt x="75009" y="95845"/>
                </a:cubicBezTo>
                <a:cubicBezTo>
                  <a:pt x="75009" y="100445"/>
                  <a:pt x="71275" y="104180"/>
                  <a:pt x="66675" y="104180"/>
                </a:cubicBezTo>
                <a:cubicBezTo>
                  <a:pt x="62075" y="104180"/>
                  <a:pt x="58341" y="100445"/>
                  <a:pt x="58341" y="95845"/>
                </a:cubicBezTo>
                <a:close/>
              </a:path>
            </a:pathLst>
          </a:custGeom>
          <a:solidFill>
            <a:srgbClr val="3B82F6"/>
          </a:solidFill>
          <a:ln/>
        </p:spPr>
      </p:sp>
      <p:sp>
        <p:nvSpPr>
          <p:cNvPr id="13" name="Text 11"/>
          <p:cNvSpPr/>
          <p:nvPr/>
        </p:nvSpPr>
        <p:spPr>
          <a:xfrm>
            <a:off x="929432" y="2371725"/>
            <a:ext cx="29146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Tổ chức dùng GenAI để tạo lợi thế cạnh tranh gì?</a:t>
            </a:r>
            <a:endParaRPr lang="en-US" sz="1600" dirty="0"/>
          </a:p>
        </p:txBody>
      </p:sp>
      <p:sp>
        <p:nvSpPr>
          <p:cNvPr id="14" name="Shape 12"/>
          <p:cNvSpPr/>
          <p:nvPr/>
        </p:nvSpPr>
        <p:spPr>
          <a:xfrm>
            <a:off x="700088" y="28670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45839"/>
                </a:moveTo>
                <a:cubicBezTo>
                  <a:pt x="62065" y="45839"/>
                  <a:pt x="58341" y="49563"/>
                  <a:pt x="58341" y="54173"/>
                </a:cubicBezTo>
                <a:cubicBezTo>
                  <a:pt x="58341" y="57637"/>
                  <a:pt x="55554" y="60424"/>
                  <a:pt x="52090" y="60424"/>
                </a:cubicBezTo>
                <a:cubicBezTo>
                  <a:pt x="48626" y="60424"/>
                  <a:pt x="45839" y="57637"/>
                  <a:pt x="45839" y="54173"/>
                </a:cubicBezTo>
                <a:cubicBezTo>
                  <a:pt x="45839" y="42662"/>
                  <a:pt x="55163" y="33337"/>
                  <a:pt x="66675" y="33337"/>
                </a:cubicBezTo>
                <a:cubicBezTo>
                  <a:pt x="78187" y="33337"/>
                  <a:pt x="87511" y="42662"/>
                  <a:pt x="87511" y="54173"/>
                </a:cubicBezTo>
                <a:cubicBezTo>
                  <a:pt x="87511" y="66467"/>
                  <a:pt x="78135" y="71676"/>
                  <a:pt x="72926" y="73577"/>
                </a:cubicBezTo>
                <a:lnTo>
                  <a:pt x="72926" y="74567"/>
                </a:lnTo>
                <a:cubicBezTo>
                  <a:pt x="72926" y="78031"/>
                  <a:pt x="70139" y="80817"/>
                  <a:pt x="66675" y="80817"/>
                </a:cubicBezTo>
                <a:cubicBezTo>
                  <a:pt x="63211" y="80817"/>
                  <a:pt x="60424" y="78031"/>
                  <a:pt x="60424" y="74567"/>
                </a:cubicBezTo>
                <a:lnTo>
                  <a:pt x="60424" y="72457"/>
                </a:lnTo>
                <a:cubicBezTo>
                  <a:pt x="60424" y="67118"/>
                  <a:pt x="64279" y="63289"/>
                  <a:pt x="68264" y="61987"/>
                </a:cubicBezTo>
                <a:cubicBezTo>
                  <a:pt x="69931" y="61440"/>
                  <a:pt x="71702" y="60554"/>
                  <a:pt x="73004" y="59304"/>
                </a:cubicBezTo>
                <a:cubicBezTo>
                  <a:pt x="74124" y="58210"/>
                  <a:pt x="75009" y="56700"/>
                  <a:pt x="75009" y="54199"/>
                </a:cubicBezTo>
                <a:cubicBezTo>
                  <a:pt x="75009" y="49590"/>
                  <a:pt x="71285" y="45865"/>
                  <a:pt x="66675" y="45865"/>
                </a:cubicBezTo>
                <a:close/>
                <a:moveTo>
                  <a:pt x="58341" y="95845"/>
                </a:moveTo>
                <a:cubicBezTo>
                  <a:pt x="58341" y="91245"/>
                  <a:pt x="62075" y="87511"/>
                  <a:pt x="66675" y="87511"/>
                </a:cubicBezTo>
                <a:cubicBezTo>
                  <a:pt x="71275" y="87511"/>
                  <a:pt x="75009" y="91245"/>
                  <a:pt x="75009" y="95845"/>
                </a:cubicBezTo>
                <a:cubicBezTo>
                  <a:pt x="75009" y="100445"/>
                  <a:pt x="71275" y="104180"/>
                  <a:pt x="66675" y="104180"/>
                </a:cubicBezTo>
                <a:cubicBezTo>
                  <a:pt x="62075" y="104180"/>
                  <a:pt x="58341" y="100445"/>
                  <a:pt x="58341" y="95845"/>
                </a:cubicBezTo>
                <a:close/>
              </a:path>
            </a:pathLst>
          </a:custGeom>
          <a:solidFill>
            <a:srgbClr val="3B82F6"/>
          </a:solidFill>
          <a:ln/>
        </p:spPr>
      </p:sp>
      <p:sp>
        <p:nvSpPr>
          <p:cNvPr id="15" name="Text 13"/>
          <p:cNvSpPr/>
          <p:nvPr/>
        </p:nvSpPr>
        <p:spPr>
          <a:xfrm>
            <a:off x="912168" y="2828925"/>
            <a:ext cx="293370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Mục tiêu là tăng tốc, tăng chất lượng, hay giảm chi phí?</a:t>
            </a:r>
            <a:endParaRPr lang="en-US" sz="1600" dirty="0"/>
          </a:p>
        </p:txBody>
      </p:sp>
      <p:sp>
        <p:nvSpPr>
          <p:cNvPr id="16" name="Shape 14"/>
          <p:cNvSpPr/>
          <p:nvPr/>
        </p:nvSpPr>
        <p:spPr>
          <a:xfrm>
            <a:off x="714375" y="332422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66675" y="45839"/>
                </a:moveTo>
                <a:cubicBezTo>
                  <a:pt x="62065" y="45839"/>
                  <a:pt x="58341" y="49563"/>
                  <a:pt x="58341" y="54173"/>
                </a:cubicBezTo>
                <a:cubicBezTo>
                  <a:pt x="58341" y="57637"/>
                  <a:pt x="55554" y="60424"/>
                  <a:pt x="52090" y="60424"/>
                </a:cubicBezTo>
                <a:cubicBezTo>
                  <a:pt x="48626" y="60424"/>
                  <a:pt x="45839" y="57637"/>
                  <a:pt x="45839" y="54173"/>
                </a:cubicBezTo>
                <a:cubicBezTo>
                  <a:pt x="45839" y="42662"/>
                  <a:pt x="55163" y="33337"/>
                  <a:pt x="66675" y="33337"/>
                </a:cubicBezTo>
                <a:cubicBezTo>
                  <a:pt x="78187" y="33337"/>
                  <a:pt x="87511" y="42662"/>
                  <a:pt x="87511" y="54173"/>
                </a:cubicBezTo>
                <a:cubicBezTo>
                  <a:pt x="87511" y="66467"/>
                  <a:pt x="78135" y="71676"/>
                  <a:pt x="72926" y="73577"/>
                </a:cubicBezTo>
                <a:lnTo>
                  <a:pt x="72926" y="74567"/>
                </a:lnTo>
                <a:cubicBezTo>
                  <a:pt x="72926" y="78031"/>
                  <a:pt x="70139" y="80817"/>
                  <a:pt x="66675" y="80817"/>
                </a:cubicBezTo>
                <a:cubicBezTo>
                  <a:pt x="63211" y="80817"/>
                  <a:pt x="60424" y="78031"/>
                  <a:pt x="60424" y="74567"/>
                </a:cubicBezTo>
                <a:lnTo>
                  <a:pt x="60424" y="72457"/>
                </a:lnTo>
                <a:cubicBezTo>
                  <a:pt x="60424" y="67118"/>
                  <a:pt x="64279" y="63289"/>
                  <a:pt x="68264" y="61987"/>
                </a:cubicBezTo>
                <a:cubicBezTo>
                  <a:pt x="69931" y="61440"/>
                  <a:pt x="71702" y="60554"/>
                  <a:pt x="73004" y="59304"/>
                </a:cubicBezTo>
                <a:cubicBezTo>
                  <a:pt x="74124" y="58210"/>
                  <a:pt x="75009" y="56700"/>
                  <a:pt x="75009" y="54199"/>
                </a:cubicBezTo>
                <a:cubicBezTo>
                  <a:pt x="75009" y="49590"/>
                  <a:pt x="71285" y="45865"/>
                  <a:pt x="66675" y="45865"/>
                </a:cubicBezTo>
                <a:close/>
                <a:moveTo>
                  <a:pt x="58341" y="95845"/>
                </a:moveTo>
                <a:cubicBezTo>
                  <a:pt x="58341" y="91245"/>
                  <a:pt x="62075" y="87511"/>
                  <a:pt x="66675" y="87511"/>
                </a:cubicBezTo>
                <a:cubicBezTo>
                  <a:pt x="71275" y="87511"/>
                  <a:pt x="75009" y="91245"/>
                  <a:pt x="75009" y="95845"/>
                </a:cubicBezTo>
                <a:cubicBezTo>
                  <a:pt x="75009" y="100445"/>
                  <a:pt x="71275" y="104180"/>
                  <a:pt x="66675" y="104180"/>
                </a:cubicBezTo>
                <a:cubicBezTo>
                  <a:pt x="62075" y="104180"/>
                  <a:pt x="58341" y="100445"/>
                  <a:pt x="58341" y="95845"/>
                </a:cubicBezTo>
                <a:close/>
              </a:path>
            </a:pathLst>
          </a:custGeom>
          <a:solidFill>
            <a:srgbClr val="3B82F6"/>
          </a:solidFill>
          <a:ln/>
        </p:spPr>
      </p:sp>
      <p:sp>
        <p:nvSpPr>
          <p:cNvPr id="17" name="Text 15"/>
          <p:cNvSpPr/>
          <p:nvPr/>
        </p:nvSpPr>
        <p:spPr>
          <a:xfrm>
            <a:off x="938213" y="3286125"/>
            <a:ext cx="21717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Mức độ chấp nhận rủi ro đến đâu?</a:t>
            </a:r>
            <a:endParaRPr lang="en-US" sz="1600" dirty="0"/>
          </a:p>
        </p:txBody>
      </p:sp>
      <p:sp>
        <p:nvSpPr>
          <p:cNvPr id="18" name="Shape 16"/>
          <p:cNvSpPr/>
          <p:nvPr/>
        </p:nvSpPr>
        <p:spPr>
          <a:xfrm>
            <a:off x="585788" y="3709988"/>
            <a:ext cx="3295650" cy="1571625"/>
          </a:xfrm>
          <a:custGeom>
            <a:avLst/>
            <a:gdLst/>
            <a:ahLst/>
            <a:cxnLst/>
            <a:rect l="l" t="t" r="r" b="b"/>
            <a:pathLst>
              <a:path w="3295650" h="1571625">
                <a:moveTo>
                  <a:pt x="76192" y="0"/>
                </a:moveTo>
                <a:lnTo>
                  <a:pt x="3219458" y="0"/>
                </a:lnTo>
                <a:cubicBezTo>
                  <a:pt x="3261538" y="0"/>
                  <a:pt x="3295650" y="34112"/>
                  <a:pt x="3295650" y="76192"/>
                </a:cubicBezTo>
                <a:lnTo>
                  <a:pt x="3295650" y="1495433"/>
                </a:lnTo>
                <a:cubicBezTo>
                  <a:pt x="3295650" y="1537513"/>
                  <a:pt x="3261538" y="1571625"/>
                  <a:pt x="3219458" y="1571625"/>
                </a:cubicBezTo>
                <a:lnTo>
                  <a:pt x="76192" y="1571625"/>
                </a:lnTo>
                <a:cubicBezTo>
                  <a:pt x="34112" y="1571625"/>
                  <a:pt x="0" y="1537513"/>
                  <a:pt x="0" y="1495433"/>
                </a:cubicBezTo>
                <a:lnTo>
                  <a:pt x="0" y="76192"/>
                </a:lnTo>
                <a:cubicBezTo>
                  <a:pt x="0" y="34141"/>
                  <a:pt x="34141" y="0"/>
                  <a:pt x="76192" y="0"/>
                </a:cubicBezTo>
                <a:close/>
              </a:path>
            </a:pathLst>
          </a:custGeom>
          <a:solidFill>
            <a:srgbClr val="0F172A"/>
          </a:solidFill>
          <a:ln w="12700">
            <a:solidFill>
              <a:srgbClr val="10B981">
                <a:alpha val="30196"/>
              </a:srgbClr>
            </a:solidFill>
            <a:prstDash val="solid"/>
          </a:ln>
        </p:spPr>
      </p:sp>
      <p:sp>
        <p:nvSpPr>
          <p:cNvPr id="19" name="Text 17"/>
          <p:cNvSpPr/>
          <p:nvPr/>
        </p:nvSpPr>
        <p:spPr>
          <a:xfrm>
            <a:off x="704850" y="3829050"/>
            <a:ext cx="313372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Thông điệp ý tưởng:</a:t>
            </a:r>
            <a:endParaRPr lang="en-US" sz="1600" dirty="0"/>
          </a:p>
        </p:txBody>
      </p:sp>
      <p:sp>
        <p:nvSpPr>
          <p:cNvPr id="20" name="Shape 18"/>
          <p:cNvSpPr/>
          <p:nvPr/>
        </p:nvSpPr>
        <p:spPr>
          <a:xfrm>
            <a:off x="698897" y="4171950"/>
            <a:ext cx="116681" cy="133350"/>
          </a:xfrm>
          <a:custGeom>
            <a:avLst/>
            <a:gdLst/>
            <a:ahLst/>
            <a:cxnLst/>
            <a:rect l="l" t="t" r="r" b="b"/>
            <a:pathLst>
              <a:path w="116681" h="133350">
                <a:moveTo>
                  <a:pt x="0" y="56257"/>
                </a:moveTo>
                <a:cubicBezTo>
                  <a:pt x="0" y="38989"/>
                  <a:pt x="13986" y="25003"/>
                  <a:pt x="31254" y="25003"/>
                </a:cubicBezTo>
                <a:lnTo>
                  <a:pt x="33337" y="25003"/>
                </a:lnTo>
                <a:cubicBezTo>
                  <a:pt x="37947" y="25003"/>
                  <a:pt x="41672" y="28728"/>
                  <a:pt x="41672" y="33337"/>
                </a:cubicBezTo>
                <a:cubicBezTo>
                  <a:pt x="41672" y="37947"/>
                  <a:pt x="37947" y="41672"/>
                  <a:pt x="33337" y="41672"/>
                </a:cubicBezTo>
                <a:lnTo>
                  <a:pt x="31254" y="41672"/>
                </a:lnTo>
                <a:cubicBezTo>
                  <a:pt x="23206" y="41672"/>
                  <a:pt x="16669" y="48209"/>
                  <a:pt x="16669" y="56257"/>
                </a:cubicBezTo>
                <a:lnTo>
                  <a:pt x="16669" y="58341"/>
                </a:lnTo>
                <a:lnTo>
                  <a:pt x="33337" y="58341"/>
                </a:lnTo>
                <a:cubicBezTo>
                  <a:pt x="42531" y="58341"/>
                  <a:pt x="50006" y="65816"/>
                  <a:pt x="50006" y="75009"/>
                </a:cubicBezTo>
                <a:lnTo>
                  <a:pt x="50006" y="91678"/>
                </a:lnTo>
                <a:cubicBezTo>
                  <a:pt x="50006" y="100872"/>
                  <a:pt x="42531" y="108347"/>
                  <a:pt x="33337" y="108347"/>
                </a:cubicBezTo>
                <a:lnTo>
                  <a:pt x="16669" y="108347"/>
                </a:lnTo>
                <a:cubicBezTo>
                  <a:pt x="7475" y="108347"/>
                  <a:pt x="0" y="100872"/>
                  <a:pt x="0" y="91678"/>
                </a:cubicBezTo>
                <a:lnTo>
                  <a:pt x="0" y="56257"/>
                </a:lnTo>
                <a:close/>
                <a:moveTo>
                  <a:pt x="66675" y="56257"/>
                </a:moveTo>
                <a:cubicBezTo>
                  <a:pt x="66675" y="38989"/>
                  <a:pt x="80661" y="25003"/>
                  <a:pt x="97929" y="25003"/>
                </a:cubicBezTo>
                <a:lnTo>
                  <a:pt x="100013" y="25003"/>
                </a:lnTo>
                <a:cubicBezTo>
                  <a:pt x="104622" y="25003"/>
                  <a:pt x="108347" y="28728"/>
                  <a:pt x="108347" y="33337"/>
                </a:cubicBezTo>
                <a:cubicBezTo>
                  <a:pt x="108347" y="37947"/>
                  <a:pt x="104622" y="41672"/>
                  <a:pt x="100013" y="41672"/>
                </a:cubicBezTo>
                <a:lnTo>
                  <a:pt x="97929" y="41672"/>
                </a:lnTo>
                <a:cubicBezTo>
                  <a:pt x="89881" y="41672"/>
                  <a:pt x="83344" y="48209"/>
                  <a:pt x="83344" y="56257"/>
                </a:cubicBezTo>
                <a:lnTo>
                  <a:pt x="83344" y="58341"/>
                </a:lnTo>
                <a:lnTo>
                  <a:pt x="100013" y="58341"/>
                </a:lnTo>
                <a:cubicBezTo>
                  <a:pt x="109206" y="58341"/>
                  <a:pt x="116681" y="65816"/>
                  <a:pt x="116681" y="75009"/>
                </a:cubicBezTo>
                <a:lnTo>
                  <a:pt x="116681" y="91678"/>
                </a:lnTo>
                <a:cubicBezTo>
                  <a:pt x="116681" y="100872"/>
                  <a:pt x="109206" y="108347"/>
                  <a:pt x="100013" y="108347"/>
                </a:cubicBezTo>
                <a:lnTo>
                  <a:pt x="83344" y="108347"/>
                </a:lnTo>
                <a:cubicBezTo>
                  <a:pt x="74150" y="108347"/>
                  <a:pt x="66675" y="100872"/>
                  <a:pt x="66675" y="91678"/>
                </a:cubicBezTo>
                <a:lnTo>
                  <a:pt x="66675" y="56257"/>
                </a:lnTo>
                <a:close/>
              </a:path>
            </a:pathLst>
          </a:custGeom>
          <a:solidFill>
            <a:srgbClr val="10B981"/>
          </a:solidFill>
          <a:ln/>
        </p:spPr>
      </p:sp>
      <p:sp>
        <p:nvSpPr>
          <p:cNvPr id="21" name="Text 19"/>
          <p:cNvSpPr/>
          <p:nvPr/>
        </p:nvSpPr>
        <p:spPr>
          <a:xfrm>
            <a:off x="884783" y="4133850"/>
            <a:ext cx="2943225" cy="571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"GenAI không thay thế toàn bộ software engineering; nó tái phân bổ lại giá trị công việc."</a:t>
            </a:r>
            <a:endParaRPr lang="en-US" sz="1600" dirty="0"/>
          </a:p>
        </p:txBody>
      </p:sp>
      <p:sp>
        <p:nvSpPr>
          <p:cNvPr id="22" name="Shape 20"/>
          <p:cNvSpPr/>
          <p:nvPr/>
        </p:nvSpPr>
        <p:spPr>
          <a:xfrm>
            <a:off x="703659" y="4819650"/>
            <a:ext cx="116681" cy="133350"/>
          </a:xfrm>
          <a:custGeom>
            <a:avLst/>
            <a:gdLst/>
            <a:ahLst/>
            <a:cxnLst/>
            <a:rect l="l" t="t" r="r" b="b"/>
            <a:pathLst>
              <a:path w="116681" h="133350">
                <a:moveTo>
                  <a:pt x="0" y="56257"/>
                </a:moveTo>
                <a:cubicBezTo>
                  <a:pt x="0" y="38989"/>
                  <a:pt x="13986" y="25003"/>
                  <a:pt x="31254" y="25003"/>
                </a:cubicBezTo>
                <a:lnTo>
                  <a:pt x="33337" y="25003"/>
                </a:lnTo>
                <a:cubicBezTo>
                  <a:pt x="37947" y="25003"/>
                  <a:pt x="41672" y="28728"/>
                  <a:pt x="41672" y="33337"/>
                </a:cubicBezTo>
                <a:cubicBezTo>
                  <a:pt x="41672" y="37947"/>
                  <a:pt x="37947" y="41672"/>
                  <a:pt x="33337" y="41672"/>
                </a:cubicBezTo>
                <a:lnTo>
                  <a:pt x="31254" y="41672"/>
                </a:lnTo>
                <a:cubicBezTo>
                  <a:pt x="23206" y="41672"/>
                  <a:pt x="16669" y="48209"/>
                  <a:pt x="16669" y="56257"/>
                </a:cubicBezTo>
                <a:lnTo>
                  <a:pt x="16669" y="58341"/>
                </a:lnTo>
                <a:lnTo>
                  <a:pt x="33337" y="58341"/>
                </a:lnTo>
                <a:cubicBezTo>
                  <a:pt x="42531" y="58341"/>
                  <a:pt x="50006" y="65816"/>
                  <a:pt x="50006" y="75009"/>
                </a:cubicBezTo>
                <a:lnTo>
                  <a:pt x="50006" y="91678"/>
                </a:lnTo>
                <a:cubicBezTo>
                  <a:pt x="50006" y="100872"/>
                  <a:pt x="42531" y="108347"/>
                  <a:pt x="33337" y="108347"/>
                </a:cubicBezTo>
                <a:lnTo>
                  <a:pt x="16669" y="108347"/>
                </a:lnTo>
                <a:cubicBezTo>
                  <a:pt x="7475" y="108347"/>
                  <a:pt x="0" y="100872"/>
                  <a:pt x="0" y="91678"/>
                </a:cubicBezTo>
                <a:lnTo>
                  <a:pt x="0" y="56257"/>
                </a:lnTo>
                <a:close/>
                <a:moveTo>
                  <a:pt x="66675" y="56257"/>
                </a:moveTo>
                <a:cubicBezTo>
                  <a:pt x="66675" y="38989"/>
                  <a:pt x="80661" y="25003"/>
                  <a:pt x="97929" y="25003"/>
                </a:cubicBezTo>
                <a:lnTo>
                  <a:pt x="100013" y="25003"/>
                </a:lnTo>
                <a:cubicBezTo>
                  <a:pt x="104622" y="25003"/>
                  <a:pt x="108347" y="28728"/>
                  <a:pt x="108347" y="33337"/>
                </a:cubicBezTo>
                <a:cubicBezTo>
                  <a:pt x="108347" y="37947"/>
                  <a:pt x="104622" y="41672"/>
                  <a:pt x="100013" y="41672"/>
                </a:cubicBezTo>
                <a:lnTo>
                  <a:pt x="97929" y="41672"/>
                </a:lnTo>
                <a:cubicBezTo>
                  <a:pt x="89881" y="41672"/>
                  <a:pt x="83344" y="48209"/>
                  <a:pt x="83344" y="56257"/>
                </a:cubicBezTo>
                <a:lnTo>
                  <a:pt x="83344" y="58341"/>
                </a:lnTo>
                <a:lnTo>
                  <a:pt x="100013" y="58341"/>
                </a:lnTo>
                <a:cubicBezTo>
                  <a:pt x="109206" y="58341"/>
                  <a:pt x="116681" y="65816"/>
                  <a:pt x="116681" y="75009"/>
                </a:cubicBezTo>
                <a:lnTo>
                  <a:pt x="116681" y="91678"/>
                </a:lnTo>
                <a:cubicBezTo>
                  <a:pt x="116681" y="100872"/>
                  <a:pt x="109206" y="108347"/>
                  <a:pt x="100013" y="108347"/>
                </a:cubicBezTo>
                <a:lnTo>
                  <a:pt x="83344" y="108347"/>
                </a:lnTo>
                <a:cubicBezTo>
                  <a:pt x="74150" y="108347"/>
                  <a:pt x="66675" y="100872"/>
                  <a:pt x="66675" y="91678"/>
                </a:cubicBezTo>
                <a:lnTo>
                  <a:pt x="66675" y="56257"/>
                </a:lnTo>
                <a:close/>
              </a:path>
            </a:pathLst>
          </a:custGeom>
          <a:solidFill>
            <a:srgbClr val="10B981"/>
          </a:solidFill>
          <a:ln/>
        </p:spPr>
      </p:sp>
      <p:sp>
        <p:nvSpPr>
          <p:cNvPr id="23" name="Text 21"/>
          <p:cNvSpPr/>
          <p:nvPr/>
        </p:nvSpPr>
        <p:spPr>
          <a:xfrm>
            <a:off x="895648" y="4781550"/>
            <a:ext cx="293370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"Con ngườidịch chuyển lên tầng thiết kế, tích hợp, và quản trị rủi ro."</a:t>
            </a:r>
            <a:endParaRPr lang="en-US" sz="1600" dirty="0"/>
          </a:p>
        </p:txBody>
      </p:sp>
      <p:sp>
        <p:nvSpPr>
          <p:cNvPr id="24" name="Shape 22"/>
          <p:cNvSpPr/>
          <p:nvPr/>
        </p:nvSpPr>
        <p:spPr>
          <a:xfrm>
            <a:off x="4246513" y="1147763"/>
            <a:ext cx="3695700" cy="5324475"/>
          </a:xfrm>
          <a:custGeom>
            <a:avLst/>
            <a:gdLst/>
            <a:ahLst/>
            <a:cxnLst/>
            <a:rect l="l" t="t" r="r" b="b"/>
            <a:pathLst>
              <a:path w="3695700" h="5324475">
                <a:moveTo>
                  <a:pt x="114308" y="0"/>
                </a:moveTo>
                <a:lnTo>
                  <a:pt x="3581392" y="0"/>
                </a:lnTo>
                <a:cubicBezTo>
                  <a:pt x="3644523" y="0"/>
                  <a:pt x="3695700" y="51177"/>
                  <a:pt x="3695700" y="114308"/>
                </a:cubicBezTo>
                <a:lnTo>
                  <a:pt x="3695700" y="5210167"/>
                </a:lnTo>
                <a:cubicBezTo>
                  <a:pt x="3695700" y="5273298"/>
                  <a:pt x="3644523" y="5324475"/>
                  <a:pt x="3581392" y="5324475"/>
                </a:cubicBezTo>
                <a:lnTo>
                  <a:pt x="114308" y="5324475"/>
                </a:lnTo>
                <a:cubicBezTo>
                  <a:pt x="51177" y="5324475"/>
                  <a:pt x="0" y="5273298"/>
                  <a:pt x="0" y="5210167"/>
                </a:cubicBezTo>
                <a:lnTo>
                  <a:pt x="0" y="114308"/>
                </a:lnTo>
                <a:cubicBezTo>
                  <a:pt x="0" y="51220"/>
                  <a:pt x="51220" y="0"/>
                  <a:pt x="11430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5" name="Shape 23"/>
          <p:cNvSpPr/>
          <p:nvPr/>
        </p:nvSpPr>
        <p:spPr>
          <a:xfrm>
            <a:off x="444177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26" name="Shape 24"/>
          <p:cNvSpPr/>
          <p:nvPr/>
        </p:nvSpPr>
        <p:spPr>
          <a:xfrm>
            <a:off x="4575125" y="1476375"/>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FFFFFF"/>
          </a:solidFill>
          <a:ln/>
        </p:spPr>
      </p:sp>
      <p:sp>
        <p:nvSpPr>
          <p:cNvPr id="27" name="Text 25"/>
          <p:cNvSpPr/>
          <p:nvPr/>
        </p:nvSpPr>
        <p:spPr>
          <a:xfrm>
            <a:off x="5013275" y="1438275"/>
            <a:ext cx="116205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Mức Luận lý</a:t>
            </a:r>
            <a:endParaRPr lang="en-US" sz="1600" dirty="0"/>
          </a:p>
        </p:txBody>
      </p:sp>
      <p:sp>
        <p:nvSpPr>
          <p:cNvPr id="28" name="Shape 26"/>
          <p:cNvSpPr/>
          <p:nvPr/>
        </p:nvSpPr>
        <p:spPr>
          <a:xfrm>
            <a:off x="4441775" y="1952625"/>
            <a:ext cx="3305175" cy="1028700"/>
          </a:xfrm>
          <a:custGeom>
            <a:avLst/>
            <a:gdLst/>
            <a:ahLst/>
            <a:cxnLst/>
            <a:rect l="l" t="t" r="r" b="b"/>
            <a:pathLst>
              <a:path w="3305175" h="1028700">
                <a:moveTo>
                  <a:pt x="76196" y="0"/>
                </a:moveTo>
                <a:lnTo>
                  <a:pt x="3228979" y="0"/>
                </a:lnTo>
                <a:cubicBezTo>
                  <a:pt x="3271061" y="0"/>
                  <a:pt x="3305175" y="34114"/>
                  <a:pt x="3305175" y="76196"/>
                </a:cubicBezTo>
                <a:lnTo>
                  <a:pt x="3305175" y="952504"/>
                </a:lnTo>
                <a:cubicBezTo>
                  <a:pt x="3305175" y="994586"/>
                  <a:pt x="3271061" y="1028700"/>
                  <a:pt x="3228979" y="1028700"/>
                </a:cubicBezTo>
                <a:lnTo>
                  <a:pt x="76196" y="1028700"/>
                </a:lnTo>
                <a:cubicBezTo>
                  <a:pt x="34114" y="1028700"/>
                  <a:pt x="0" y="994586"/>
                  <a:pt x="0" y="952504"/>
                </a:cubicBezTo>
                <a:lnTo>
                  <a:pt x="0" y="76196"/>
                </a:lnTo>
                <a:cubicBezTo>
                  <a:pt x="0" y="34142"/>
                  <a:pt x="34142" y="0"/>
                  <a:pt x="76196" y="0"/>
                </a:cubicBezTo>
                <a:close/>
              </a:path>
            </a:pathLst>
          </a:custGeom>
          <a:solidFill>
            <a:srgbClr val="0F172A"/>
          </a:solidFill>
          <a:ln/>
        </p:spPr>
      </p:sp>
      <p:sp>
        <p:nvSpPr>
          <p:cNvPr id="29" name="Text 27"/>
          <p:cNvSpPr/>
          <p:nvPr/>
        </p:nvSpPr>
        <p:spPr>
          <a:xfrm>
            <a:off x="4556075" y="2066925"/>
            <a:ext cx="3152775" cy="228600"/>
          </a:xfrm>
          <a:prstGeom prst="rect">
            <a:avLst/>
          </a:prstGeom>
          <a:noFill/>
          <a:ln/>
        </p:spPr>
        <p:txBody>
          <a:bodyPr wrap="square" lIns="0" tIns="0" rIns="0" bIns="0" rtlCol="0" anchor="ctr"/>
          <a:lstStyle/>
          <a:p>
            <a:pPr>
              <a:lnSpc>
                <a:spcPct val="130000"/>
              </a:lnSpc>
            </a:pPr>
            <a:r>
              <a:rPr lang="en-US" sz="1200" b="1" dirty="0">
                <a:solidFill>
                  <a:srgbClr val="8B5CF6"/>
                </a:solidFill>
                <a:latin typeface="MiSans" pitchFamily="34" charset="0"/>
                <a:ea typeface="MiSans" pitchFamily="34" charset="-122"/>
                <a:cs typeface="MiSans" pitchFamily="34" charset="-120"/>
              </a:rPr>
              <a:t>Thiết kế quy trình logic:</a:t>
            </a:r>
            <a:endParaRPr lang="en-US" sz="1600" dirty="0"/>
          </a:p>
        </p:txBody>
      </p:sp>
      <p:sp>
        <p:nvSpPr>
          <p:cNvPr id="30" name="Text 28"/>
          <p:cNvSpPr/>
          <p:nvPr/>
        </p:nvSpPr>
        <p:spPr>
          <a:xfrm>
            <a:off x="4556075" y="2371725"/>
            <a:ext cx="31432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Khi đưa GenAI vào SDLC (Software Development Life Cycle)</a:t>
            </a:r>
            <a:endParaRPr lang="en-US" sz="1600" dirty="0"/>
          </a:p>
        </p:txBody>
      </p:sp>
      <p:sp>
        <p:nvSpPr>
          <p:cNvPr id="31" name="Shape 29"/>
          <p:cNvSpPr/>
          <p:nvPr/>
        </p:nvSpPr>
        <p:spPr>
          <a:xfrm>
            <a:off x="4441775" y="3095625"/>
            <a:ext cx="3305175" cy="1828800"/>
          </a:xfrm>
          <a:custGeom>
            <a:avLst/>
            <a:gdLst/>
            <a:ahLst/>
            <a:cxnLst/>
            <a:rect l="l" t="t" r="r" b="b"/>
            <a:pathLst>
              <a:path w="3305175" h="1828800">
                <a:moveTo>
                  <a:pt x="76206" y="0"/>
                </a:moveTo>
                <a:lnTo>
                  <a:pt x="3228969" y="0"/>
                </a:lnTo>
                <a:cubicBezTo>
                  <a:pt x="3271056" y="0"/>
                  <a:pt x="3305175" y="34119"/>
                  <a:pt x="3305175" y="76206"/>
                </a:cubicBezTo>
                <a:lnTo>
                  <a:pt x="3305175" y="1752594"/>
                </a:lnTo>
                <a:cubicBezTo>
                  <a:pt x="3305175" y="1794681"/>
                  <a:pt x="3271056" y="1828800"/>
                  <a:pt x="3228969" y="1828800"/>
                </a:cubicBezTo>
                <a:lnTo>
                  <a:pt x="76206" y="1828800"/>
                </a:lnTo>
                <a:cubicBezTo>
                  <a:pt x="34119" y="1828800"/>
                  <a:pt x="0" y="1794681"/>
                  <a:pt x="0" y="1752594"/>
                </a:cubicBezTo>
                <a:lnTo>
                  <a:pt x="0" y="76206"/>
                </a:lnTo>
                <a:cubicBezTo>
                  <a:pt x="0" y="34147"/>
                  <a:pt x="34147" y="0"/>
                  <a:pt x="76206" y="0"/>
                </a:cubicBezTo>
                <a:close/>
              </a:path>
            </a:pathLst>
          </a:custGeom>
          <a:solidFill>
            <a:srgbClr val="0F172A"/>
          </a:solidFill>
          <a:ln/>
        </p:spPr>
      </p:sp>
      <p:sp>
        <p:nvSpPr>
          <p:cNvPr id="32" name="Text 30"/>
          <p:cNvSpPr/>
          <p:nvPr/>
        </p:nvSpPr>
        <p:spPr>
          <a:xfrm>
            <a:off x="4556075" y="3209925"/>
            <a:ext cx="31527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Nguyên tắc luận lý:</a:t>
            </a:r>
            <a:endParaRPr lang="en-US" sz="1600" dirty="0"/>
          </a:p>
        </p:txBody>
      </p:sp>
      <p:sp>
        <p:nvSpPr>
          <p:cNvPr id="33" name="Shape 31"/>
          <p:cNvSpPr/>
          <p:nvPr/>
        </p:nvSpPr>
        <p:spPr>
          <a:xfrm>
            <a:off x="4544169" y="3552825"/>
            <a:ext cx="166688" cy="133350"/>
          </a:xfrm>
          <a:custGeom>
            <a:avLst/>
            <a:gdLst/>
            <a:ahLst/>
            <a:cxnLst/>
            <a:rect l="l" t="t" r="r" b="b"/>
            <a:pathLst>
              <a:path w="166688" h="133350">
                <a:moveTo>
                  <a:pt x="35421" y="33337"/>
                </a:moveTo>
                <a:cubicBezTo>
                  <a:pt x="35421" y="16088"/>
                  <a:pt x="49425" y="2084"/>
                  <a:pt x="66675" y="2084"/>
                </a:cubicBezTo>
                <a:cubicBezTo>
                  <a:pt x="83925" y="2084"/>
                  <a:pt x="97929" y="16088"/>
                  <a:pt x="97929" y="33337"/>
                </a:cubicBezTo>
                <a:cubicBezTo>
                  <a:pt x="97929" y="50587"/>
                  <a:pt x="83925" y="64591"/>
                  <a:pt x="66675" y="64591"/>
                </a:cubicBezTo>
                <a:cubicBezTo>
                  <a:pt x="49425" y="64591"/>
                  <a:pt x="35421" y="50587"/>
                  <a:pt x="35421" y="33337"/>
                </a:cubicBezTo>
                <a:close/>
                <a:moveTo>
                  <a:pt x="12502" y="125615"/>
                </a:moveTo>
                <a:cubicBezTo>
                  <a:pt x="12502" y="99960"/>
                  <a:pt x="33285" y="79177"/>
                  <a:pt x="58940" y="79177"/>
                </a:cubicBezTo>
                <a:lnTo>
                  <a:pt x="74410" y="79177"/>
                </a:lnTo>
                <a:cubicBezTo>
                  <a:pt x="100065" y="79177"/>
                  <a:pt x="120848" y="99960"/>
                  <a:pt x="120848" y="125615"/>
                </a:cubicBezTo>
                <a:cubicBezTo>
                  <a:pt x="120848" y="129886"/>
                  <a:pt x="117384" y="133350"/>
                  <a:pt x="113113" y="133350"/>
                </a:cubicBezTo>
                <a:lnTo>
                  <a:pt x="20237" y="133350"/>
                </a:lnTo>
                <a:cubicBezTo>
                  <a:pt x="15966" y="133350"/>
                  <a:pt x="12502" y="129886"/>
                  <a:pt x="12502" y="125615"/>
                </a:cubicBezTo>
                <a:close/>
                <a:moveTo>
                  <a:pt x="159499" y="34562"/>
                </a:moveTo>
                <a:lnTo>
                  <a:pt x="138663" y="67899"/>
                </a:lnTo>
                <a:cubicBezTo>
                  <a:pt x="137569" y="69644"/>
                  <a:pt x="135694" y="70738"/>
                  <a:pt x="133636" y="70842"/>
                </a:cubicBezTo>
                <a:cubicBezTo>
                  <a:pt x="131579" y="70946"/>
                  <a:pt x="129600" y="70009"/>
                  <a:pt x="128375" y="68342"/>
                </a:cubicBezTo>
                <a:lnTo>
                  <a:pt x="115874" y="51673"/>
                </a:lnTo>
                <a:cubicBezTo>
                  <a:pt x="113790" y="48912"/>
                  <a:pt x="114363" y="45006"/>
                  <a:pt x="117124" y="42922"/>
                </a:cubicBezTo>
                <a:cubicBezTo>
                  <a:pt x="119885" y="40838"/>
                  <a:pt x="123792" y="41411"/>
                  <a:pt x="125875" y="44172"/>
                </a:cubicBezTo>
                <a:lnTo>
                  <a:pt x="132907" y="53548"/>
                </a:lnTo>
                <a:lnTo>
                  <a:pt x="148899" y="27946"/>
                </a:lnTo>
                <a:cubicBezTo>
                  <a:pt x="150722" y="25029"/>
                  <a:pt x="154577" y="24118"/>
                  <a:pt x="157520" y="25967"/>
                </a:cubicBezTo>
                <a:cubicBezTo>
                  <a:pt x="160463" y="27816"/>
                  <a:pt x="161348" y="31645"/>
                  <a:pt x="159499" y="34588"/>
                </a:cubicBezTo>
                <a:close/>
              </a:path>
            </a:pathLst>
          </a:custGeom>
          <a:solidFill>
            <a:srgbClr val="10B981"/>
          </a:solidFill>
          <a:ln/>
        </p:spPr>
      </p:sp>
      <p:sp>
        <p:nvSpPr>
          <p:cNvPr id="34" name="Text 32"/>
          <p:cNvSpPr/>
          <p:nvPr/>
        </p:nvSpPr>
        <p:spPr>
          <a:xfrm>
            <a:off x="4773662" y="3514725"/>
            <a:ext cx="2924175" cy="3810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Human-in-the-loop</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tại các điểm quyết định quan trọng</a:t>
            </a:r>
            <a:endParaRPr lang="en-US" sz="1600" dirty="0"/>
          </a:p>
        </p:txBody>
      </p:sp>
      <p:sp>
        <p:nvSpPr>
          <p:cNvPr id="35" name="Shape 33"/>
          <p:cNvSpPr/>
          <p:nvPr/>
        </p:nvSpPr>
        <p:spPr>
          <a:xfrm>
            <a:off x="4560838" y="4010025"/>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3B82F6"/>
          </a:solidFill>
          <a:ln/>
        </p:spPr>
      </p:sp>
      <p:sp>
        <p:nvSpPr>
          <p:cNvPr id="36" name="Text 34"/>
          <p:cNvSpPr/>
          <p:nvPr/>
        </p:nvSpPr>
        <p:spPr>
          <a:xfrm>
            <a:off x="4779764" y="3971925"/>
            <a:ext cx="2924175" cy="3810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AI output</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phải đi qua quality gate như code thủ công</a:t>
            </a:r>
            <a:endParaRPr lang="en-US" sz="1600" dirty="0"/>
          </a:p>
        </p:txBody>
      </p:sp>
      <p:sp>
        <p:nvSpPr>
          <p:cNvPr id="37" name="Shape 35"/>
          <p:cNvSpPr/>
          <p:nvPr/>
        </p:nvSpPr>
        <p:spPr>
          <a:xfrm>
            <a:off x="4554885" y="4467225"/>
            <a:ext cx="116681" cy="133350"/>
          </a:xfrm>
          <a:custGeom>
            <a:avLst/>
            <a:gdLst/>
            <a:ahLst/>
            <a:cxnLst/>
            <a:rect l="l" t="t" r="r" b="b"/>
            <a:pathLst>
              <a:path w="116681" h="133350">
                <a:moveTo>
                  <a:pt x="20836" y="27087"/>
                </a:moveTo>
                <a:cubicBezTo>
                  <a:pt x="24286" y="27087"/>
                  <a:pt x="27087" y="24286"/>
                  <a:pt x="27087" y="20836"/>
                </a:cubicBezTo>
                <a:cubicBezTo>
                  <a:pt x="27087" y="17386"/>
                  <a:pt x="24286" y="14585"/>
                  <a:pt x="20836" y="14585"/>
                </a:cubicBezTo>
                <a:cubicBezTo>
                  <a:pt x="17386" y="14585"/>
                  <a:pt x="14585" y="17386"/>
                  <a:pt x="14585" y="20836"/>
                </a:cubicBezTo>
                <a:cubicBezTo>
                  <a:pt x="14585" y="24286"/>
                  <a:pt x="17386" y="27087"/>
                  <a:pt x="20836" y="27087"/>
                </a:cubicBezTo>
                <a:close/>
                <a:moveTo>
                  <a:pt x="41672" y="20836"/>
                </a:moveTo>
                <a:cubicBezTo>
                  <a:pt x="41672" y="29379"/>
                  <a:pt x="36541" y="36723"/>
                  <a:pt x="29170" y="39927"/>
                </a:cubicBezTo>
                <a:lnTo>
                  <a:pt x="29170" y="58341"/>
                </a:lnTo>
                <a:lnTo>
                  <a:pt x="75009" y="58341"/>
                </a:lnTo>
                <a:cubicBezTo>
                  <a:pt x="81911" y="58341"/>
                  <a:pt x="87511" y="52741"/>
                  <a:pt x="87511" y="45839"/>
                </a:cubicBezTo>
                <a:lnTo>
                  <a:pt x="87511" y="39927"/>
                </a:lnTo>
                <a:cubicBezTo>
                  <a:pt x="80140" y="36723"/>
                  <a:pt x="75009" y="29379"/>
                  <a:pt x="75009" y="20836"/>
                </a:cubicBezTo>
                <a:cubicBezTo>
                  <a:pt x="75009" y="9324"/>
                  <a:pt x="84333" y="0"/>
                  <a:pt x="95845" y="0"/>
                </a:cubicBezTo>
                <a:cubicBezTo>
                  <a:pt x="107357" y="0"/>
                  <a:pt x="116681" y="9324"/>
                  <a:pt x="116681" y="20836"/>
                </a:cubicBezTo>
                <a:cubicBezTo>
                  <a:pt x="116681" y="29379"/>
                  <a:pt x="111550" y="36723"/>
                  <a:pt x="104180" y="39927"/>
                </a:cubicBezTo>
                <a:lnTo>
                  <a:pt x="104180" y="45839"/>
                </a:lnTo>
                <a:cubicBezTo>
                  <a:pt x="104180" y="61961"/>
                  <a:pt x="91131" y="75009"/>
                  <a:pt x="75009" y="75009"/>
                </a:cubicBezTo>
                <a:lnTo>
                  <a:pt x="29170" y="75009"/>
                </a:lnTo>
                <a:lnTo>
                  <a:pt x="29170" y="93423"/>
                </a:lnTo>
                <a:cubicBezTo>
                  <a:pt x="36541" y="96627"/>
                  <a:pt x="41672" y="103971"/>
                  <a:pt x="41672" y="112514"/>
                </a:cubicBezTo>
                <a:cubicBezTo>
                  <a:pt x="41672" y="124026"/>
                  <a:pt x="32348" y="133350"/>
                  <a:pt x="20836" y="133350"/>
                </a:cubicBezTo>
                <a:cubicBezTo>
                  <a:pt x="9324" y="133350"/>
                  <a:pt x="0" y="124026"/>
                  <a:pt x="0" y="112514"/>
                </a:cubicBezTo>
                <a:cubicBezTo>
                  <a:pt x="0" y="103971"/>
                  <a:pt x="5131" y="96627"/>
                  <a:pt x="12502" y="93423"/>
                </a:cubicBezTo>
                <a:lnTo>
                  <a:pt x="12502" y="39953"/>
                </a:lnTo>
                <a:cubicBezTo>
                  <a:pt x="5131" y="36723"/>
                  <a:pt x="0" y="29379"/>
                  <a:pt x="0" y="20836"/>
                </a:cubicBezTo>
                <a:cubicBezTo>
                  <a:pt x="0" y="9324"/>
                  <a:pt x="9324" y="0"/>
                  <a:pt x="20836" y="0"/>
                </a:cubicBezTo>
                <a:cubicBezTo>
                  <a:pt x="32348" y="0"/>
                  <a:pt x="41672" y="9324"/>
                  <a:pt x="41672" y="20836"/>
                </a:cubicBezTo>
                <a:close/>
                <a:moveTo>
                  <a:pt x="102096" y="20836"/>
                </a:moveTo>
                <a:cubicBezTo>
                  <a:pt x="102096" y="17386"/>
                  <a:pt x="99295" y="14585"/>
                  <a:pt x="95845" y="14585"/>
                </a:cubicBezTo>
                <a:cubicBezTo>
                  <a:pt x="92395" y="14585"/>
                  <a:pt x="89595" y="17386"/>
                  <a:pt x="89595" y="20836"/>
                </a:cubicBezTo>
                <a:cubicBezTo>
                  <a:pt x="89595" y="24286"/>
                  <a:pt x="92395" y="27087"/>
                  <a:pt x="95845" y="27087"/>
                </a:cubicBezTo>
                <a:cubicBezTo>
                  <a:pt x="99295" y="27087"/>
                  <a:pt x="102096" y="24286"/>
                  <a:pt x="102096" y="20836"/>
                </a:cubicBezTo>
                <a:close/>
                <a:moveTo>
                  <a:pt x="20836" y="118765"/>
                </a:moveTo>
                <a:cubicBezTo>
                  <a:pt x="24286" y="118765"/>
                  <a:pt x="27087" y="115964"/>
                  <a:pt x="27087" y="112514"/>
                </a:cubicBezTo>
                <a:cubicBezTo>
                  <a:pt x="27087" y="109064"/>
                  <a:pt x="24286" y="106263"/>
                  <a:pt x="20836" y="106263"/>
                </a:cubicBezTo>
                <a:cubicBezTo>
                  <a:pt x="17386" y="106263"/>
                  <a:pt x="14585" y="109064"/>
                  <a:pt x="14585" y="112514"/>
                </a:cubicBezTo>
                <a:cubicBezTo>
                  <a:pt x="14585" y="115964"/>
                  <a:pt x="17386" y="118765"/>
                  <a:pt x="20836" y="118765"/>
                </a:cubicBezTo>
                <a:close/>
              </a:path>
            </a:pathLst>
          </a:custGeom>
          <a:solidFill>
            <a:srgbClr val="8B5CF6"/>
          </a:solidFill>
          <a:ln/>
        </p:spPr>
      </p:sp>
      <p:sp>
        <p:nvSpPr>
          <p:cNvPr id="38" name="Text 36"/>
          <p:cNvSpPr/>
          <p:nvPr/>
        </p:nvSpPr>
        <p:spPr>
          <a:xfrm>
            <a:off x="4750296" y="4429125"/>
            <a:ext cx="2952750" cy="381000"/>
          </a:xfrm>
          <a:prstGeom prst="rect">
            <a:avLst/>
          </a:prstGeom>
          <a:noFill/>
          <a:ln/>
        </p:spPr>
        <p:txBody>
          <a:bodyPr wrap="square" lIns="0" tIns="0" rIns="0" bIns="0" rtlCol="0" anchor="ctr"/>
          <a:lstStyle/>
          <a:p>
            <a:pPr>
              <a:lnSpc>
                <a:spcPct val="120000"/>
              </a:lnSpc>
            </a:pPr>
            <a:r>
              <a:rPr lang="en-US" sz="1050" b="1" dirty="0">
                <a:solidFill>
                  <a:srgbClr val="F1F5F9">
                    <a:alpha val="80000"/>
                  </a:srgbClr>
                </a:solidFill>
                <a:latin typeface="MiSans" pitchFamily="34" charset="0"/>
                <a:ea typeface="MiSans" pitchFamily="34" charset="-122"/>
                <a:cs typeface="MiSans" pitchFamily="34" charset="-120"/>
              </a:rPr>
              <a:t>Tách biệt</a:t>
            </a:r>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 rõ artifact do AI tạo và artifact đã được human-approved</a:t>
            </a:r>
            <a:endParaRPr lang="en-US" sz="1600" dirty="0"/>
          </a:p>
        </p:txBody>
      </p:sp>
      <p:sp>
        <p:nvSpPr>
          <p:cNvPr id="39" name="Shape 37"/>
          <p:cNvSpPr/>
          <p:nvPr/>
        </p:nvSpPr>
        <p:spPr>
          <a:xfrm>
            <a:off x="4441775" y="503872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40" name="Shape 38"/>
          <p:cNvSpPr/>
          <p:nvPr/>
        </p:nvSpPr>
        <p:spPr>
          <a:xfrm>
            <a:off x="4575125" y="5191125"/>
            <a:ext cx="133350" cy="133350"/>
          </a:xfrm>
          <a:custGeom>
            <a:avLst/>
            <a:gdLst/>
            <a:ahLst/>
            <a:cxnLst/>
            <a:rect l="l" t="t" r="r" b="b"/>
            <a:pathLst>
              <a:path w="133350" h="133350">
                <a:moveTo>
                  <a:pt x="50006" y="16669"/>
                </a:moveTo>
                <a:cubicBezTo>
                  <a:pt x="50006" y="12059"/>
                  <a:pt x="53731" y="8334"/>
                  <a:pt x="58341" y="8334"/>
                </a:cubicBezTo>
                <a:lnTo>
                  <a:pt x="75009" y="8334"/>
                </a:lnTo>
                <a:cubicBezTo>
                  <a:pt x="79619" y="8334"/>
                  <a:pt x="83344" y="12059"/>
                  <a:pt x="83344" y="16669"/>
                </a:cubicBezTo>
                <a:lnTo>
                  <a:pt x="83344" y="33337"/>
                </a:lnTo>
                <a:cubicBezTo>
                  <a:pt x="83344" y="37947"/>
                  <a:pt x="79619" y="41672"/>
                  <a:pt x="75009" y="41672"/>
                </a:cubicBezTo>
                <a:lnTo>
                  <a:pt x="72926" y="41672"/>
                </a:lnTo>
                <a:lnTo>
                  <a:pt x="72926" y="58341"/>
                </a:lnTo>
                <a:lnTo>
                  <a:pt x="104180" y="58341"/>
                </a:lnTo>
                <a:cubicBezTo>
                  <a:pt x="114546" y="58341"/>
                  <a:pt x="122932" y="66727"/>
                  <a:pt x="122932" y="77093"/>
                </a:cubicBezTo>
                <a:lnTo>
                  <a:pt x="122932" y="91678"/>
                </a:lnTo>
                <a:lnTo>
                  <a:pt x="125016" y="91678"/>
                </a:lnTo>
                <a:cubicBezTo>
                  <a:pt x="129626" y="91678"/>
                  <a:pt x="133350" y="95403"/>
                  <a:pt x="133350" y="100013"/>
                </a:cubicBezTo>
                <a:lnTo>
                  <a:pt x="133350" y="116681"/>
                </a:lnTo>
                <a:cubicBezTo>
                  <a:pt x="133350" y="121291"/>
                  <a:pt x="129626" y="125016"/>
                  <a:pt x="125016" y="125016"/>
                </a:cubicBezTo>
                <a:lnTo>
                  <a:pt x="108347" y="125016"/>
                </a:lnTo>
                <a:cubicBezTo>
                  <a:pt x="103737" y="125016"/>
                  <a:pt x="100013" y="121291"/>
                  <a:pt x="100013" y="116681"/>
                </a:cubicBezTo>
                <a:lnTo>
                  <a:pt x="100013" y="100013"/>
                </a:lnTo>
                <a:cubicBezTo>
                  <a:pt x="100013" y="95403"/>
                  <a:pt x="103737" y="91678"/>
                  <a:pt x="108347" y="91678"/>
                </a:cubicBezTo>
                <a:lnTo>
                  <a:pt x="110430" y="91678"/>
                </a:lnTo>
                <a:lnTo>
                  <a:pt x="110430" y="77093"/>
                </a:lnTo>
                <a:cubicBezTo>
                  <a:pt x="110430" y="73629"/>
                  <a:pt x="107644" y="70842"/>
                  <a:pt x="104180" y="70842"/>
                </a:cubicBezTo>
                <a:lnTo>
                  <a:pt x="72926" y="70842"/>
                </a:lnTo>
                <a:lnTo>
                  <a:pt x="72926" y="91678"/>
                </a:lnTo>
                <a:lnTo>
                  <a:pt x="75009" y="91678"/>
                </a:lnTo>
                <a:cubicBezTo>
                  <a:pt x="79619" y="91678"/>
                  <a:pt x="83344" y="95403"/>
                  <a:pt x="83344" y="100013"/>
                </a:cubicBezTo>
                <a:lnTo>
                  <a:pt x="83344" y="116681"/>
                </a:lnTo>
                <a:cubicBezTo>
                  <a:pt x="83344" y="121291"/>
                  <a:pt x="79619" y="125016"/>
                  <a:pt x="75009" y="125016"/>
                </a:cubicBezTo>
                <a:lnTo>
                  <a:pt x="58341" y="125016"/>
                </a:lnTo>
                <a:cubicBezTo>
                  <a:pt x="53731" y="125016"/>
                  <a:pt x="50006" y="121291"/>
                  <a:pt x="50006" y="116681"/>
                </a:cubicBezTo>
                <a:lnTo>
                  <a:pt x="50006" y="100013"/>
                </a:lnTo>
                <a:cubicBezTo>
                  <a:pt x="50006" y="95403"/>
                  <a:pt x="53731" y="91678"/>
                  <a:pt x="58341" y="91678"/>
                </a:cubicBezTo>
                <a:lnTo>
                  <a:pt x="60424" y="91678"/>
                </a:lnTo>
                <a:lnTo>
                  <a:pt x="60424" y="70842"/>
                </a:lnTo>
                <a:lnTo>
                  <a:pt x="29170" y="70842"/>
                </a:lnTo>
                <a:cubicBezTo>
                  <a:pt x="25706" y="70842"/>
                  <a:pt x="22920" y="73629"/>
                  <a:pt x="22920" y="77093"/>
                </a:cubicBezTo>
                <a:lnTo>
                  <a:pt x="22920" y="91678"/>
                </a:lnTo>
                <a:lnTo>
                  <a:pt x="25003" y="91678"/>
                </a:lnTo>
                <a:cubicBezTo>
                  <a:pt x="29613" y="91678"/>
                  <a:pt x="33337" y="95403"/>
                  <a:pt x="33337" y="100013"/>
                </a:cubicBezTo>
                <a:lnTo>
                  <a:pt x="33337" y="116681"/>
                </a:lnTo>
                <a:cubicBezTo>
                  <a:pt x="33337" y="121291"/>
                  <a:pt x="29613" y="125016"/>
                  <a:pt x="25003" y="125016"/>
                </a:cubicBezTo>
                <a:lnTo>
                  <a:pt x="8334" y="125016"/>
                </a:lnTo>
                <a:cubicBezTo>
                  <a:pt x="3724" y="125016"/>
                  <a:pt x="0" y="121291"/>
                  <a:pt x="0" y="116681"/>
                </a:cubicBezTo>
                <a:lnTo>
                  <a:pt x="0" y="100013"/>
                </a:lnTo>
                <a:cubicBezTo>
                  <a:pt x="0" y="95403"/>
                  <a:pt x="3724" y="91678"/>
                  <a:pt x="8334" y="91678"/>
                </a:cubicBezTo>
                <a:lnTo>
                  <a:pt x="10418" y="91678"/>
                </a:lnTo>
                <a:lnTo>
                  <a:pt x="10418" y="77093"/>
                </a:lnTo>
                <a:cubicBezTo>
                  <a:pt x="10418" y="66727"/>
                  <a:pt x="18804" y="58341"/>
                  <a:pt x="29170" y="58341"/>
                </a:cubicBezTo>
                <a:lnTo>
                  <a:pt x="60424" y="58341"/>
                </a:lnTo>
                <a:lnTo>
                  <a:pt x="60424" y="41672"/>
                </a:lnTo>
                <a:lnTo>
                  <a:pt x="58341" y="41672"/>
                </a:lnTo>
                <a:cubicBezTo>
                  <a:pt x="53731" y="41672"/>
                  <a:pt x="50006" y="37947"/>
                  <a:pt x="50006" y="33337"/>
                </a:cubicBezTo>
                <a:lnTo>
                  <a:pt x="50006" y="16669"/>
                </a:lnTo>
                <a:close/>
              </a:path>
            </a:pathLst>
          </a:custGeom>
          <a:solidFill>
            <a:srgbClr val="8B5CF6"/>
          </a:solidFill>
          <a:ln/>
        </p:spPr>
      </p:sp>
      <p:sp>
        <p:nvSpPr>
          <p:cNvPr id="41" name="Text 39"/>
          <p:cNvSpPr/>
          <p:nvPr/>
        </p:nvSpPr>
        <p:spPr>
          <a:xfrm>
            <a:off x="4784675" y="5153025"/>
            <a:ext cx="2914650" cy="381000"/>
          </a:xfrm>
          <a:prstGeom prst="rect">
            <a:avLst/>
          </a:prstGeom>
          <a:noFill/>
          <a:ln/>
        </p:spPr>
        <p:txBody>
          <a:bodyPr wrap="square" lIns="0" tIns="0" rIns="0" bIns="0" rtlCol="0" anchor="ctr"/>
          <a:lstStyle/>
          <a:p>
            <a:pPr>
              <a:lnSpc>
                <a:spcPct val="120000"/>
              </a:lnSpc>
            </a:pPr>
            <a:r>
              <a:rPr lang="en-US" sz="1050" dirty="0">
                <a:solidFill>
                  <a:srgbClr val="F1F5F9">
                    <a:alpha val="70000"/>
                  </a:srgbClr>
                </a:solidFill>
                <a:latin typeface="MiSans" pitchFamily="34" charset="0"/>
                <a:ea typeface="MiSans" pitchFamily="34" charset="-122"/>
                <a:cs typeface="MiSans" pitchFamily="34" charset="-120"/>
              </a:rPr>
              <a:t>Workflow: AI Generate → Human Review → Quality Gate → Merge</a:t>
            </a:r>
            <a:endParaRPr lang="en-US" sz="1600" dirty="0"/>
          </a:p>
        </p:txBody>
      </p:sp>
      <p:sp>
        <p:nvSpPr>
          <p:cNvPr id="42" name="Shape 40"/>
          <p:cNvSpPr/>
          <p:nvPr/>
        </p:nvSpPr>
        <p:spPr>
          <a:xfrm>
            <a:off x="8107263" y="1147763"/>
            <a:ext cx="3695700" cy="5324475"/>
          </a:xfrm>
          <a:custGeom>
            <a:avLst/>
            <a:gdLst/>
            <a:ahLst/>
            <a:cxnLst/>
            <a:rect l="l" t="t" r="r" b="b"/>
            <a:pathLst>
              <a:path w="3695700" h="5324475">
                <a:moveTo>
                  <a:pt x="114308" y="0"/>
                </a:moveTo>
                <a:lnTo>
                  <a:pt x="3581392" y="0"/>
                </a:lnTo>
                <a:cubicBezTo>
                  <a:pt x="3644523" y="0"/>
                  <a:pt x="3695700" y="51177"/>
                  <a:pt x="3695700" y="114308"/>
                </a:cubicBezTo>
                <a:lnTo>
                  <a:pt x="3695700" y="5210167"/>
                </a:lnTo>
                <a:cubicBezTo>
                  <a:pt x="3695700" y="5273298"/>
                  <a:pt x="3644523" y="5324475"/>
                  <a:pt x="3581392" y="5324475"/>
                </a:cubicBezTo>
                <a:lnTo>
                  <a:pt x="114308" y="5324475"/>
                </a:lnTo>
                <a:cubicBezTo>
                  <a:pt x="51177" y="5324475"/>
                  <a:pt x="0" y="5273298"/>
                  <a:pt x="0" y="5210167"/>
                </a:cubicBezTo>
                <a:lnTo>
                  <a:pt x="0" y="114308"/>
                </a:lnTo>
                <a:cubicBezTo>
                  <a:pt x="0" y="51220"/>
                  <a:pt x="51220" y="0"/>
                  <a:pt x="11430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43" name="Shape 41"/>
          <p:cNvSpPr/>
          <p:nvPr/>
        </p:nvSpPr>
        <p:spPr>
          <a:xfrm>
            <a:off x="8302526"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44" name="Shape 42"/>
          <p:cNvSpPr/>
          <p:nvPr/>
        </p:nvSpPr>
        <p:spPr>
          <a:xfrm>
            <a:off x="8447782" y="1476375"/>
            <a:ext cx="166688" cy="190500"/>
          </a:xfrm>
          <a:custGeom>
            <a:avLst/>
            <a:gdLst/>
            <a:ahLst/>
            <a:cxnLst/>
            <a:rect l="l" t="t" r="r" b="b"/>
            <a:pathLst>
              <a:path w="166688" h="190500">
                <a:moveTo>
                  <a:pt x="23812" y="11906"/>
                </a:moveTo>
                <a:cubicBezTo>
                  <a:pt x="10678" y="11906"/>
                  <a:pt x="0" y="22585"/>
                  <a:pt x="0" y="35719"/>
                </a:cubicBezTo>
                <a:lnTo>
                  <a:pt x="0" y="59531"/>
                </a:lnTo>
                <a:cubicBezTo>
                  <a:pt x="0" y="72665"/>
                  <a:pt x="10678" y="83344"/>
                  <a:pt x="23812" y="83344"/>
                </a:cubicBezTo>
                <a:lnTo>
                  <a:pt x="142875" y="83344"/>
                </a:lnTo>
                <a:cubicBezTo>
                  <a:pt x="156009" y="83344"/>
                  <a:pt x="166688" y="72665"/>
                  <a:pt x="166688" y="59531"/>
                </a:cubicBezTo>
                <a:lnTo>
                  <a:pt x="166688" y="35719"/>
                </a:lnTo>
                <a:cubicBezTo>
                  <a:pt x="166688" y="22585"/>
                  <a:pt x="156009" y="11906"/>
                  <a:pt x="142875" y="11906"/>
                </a:cubicBezTo>
                <a:lnTo>
                  <a:pt x="23812" y="11906"/>
                </a:lnTo>
                <a:close/>
                <a:moveTo>
                  <a:pt x="104180" y="38695"/>
                </a:moveTo>
                <a:cubicBezTo>
                  <a:pt x="109108" y="38695"/>
                  <a:pt x="113109" y="42697"/>
                  <a:pt x="113109" y="47625"/>
                </a:cubicBezTo>
                <a:cubicBezTo>
                  <a:pt x="113109" y="52553"/>
                  <a:pt x="109108" y="56555"/>
                  <a:pt x="104180" y="56555"/>
                </a:cubicBezTo>
                <a:cubicBezTo>
                  <a:pt x="99251" y="56555"/>
                  <a:pt x="95250" y="52553"/>
                  <a:pt x="95250" y="47625"/>
                </a:cubicBezTo>
                <a:cubicBezTo>
                  <a:pt x="95250" y="42697"/>
                  <a:pt x="99251" y="38695"/>
                  <a:pt x="104180" y="38695"/>
                </a:cubicBezTo>
                <a:close/>
                <a:moveTo>
                  <a:pt x="125016" y="47625"/>
                </a:moveTo>
                <a:cubicBezTo>
                  <a:pt x="125016" y="42697"/>
                  <a:pt x="129017" y="38695"/>
                  <a:pt x="133945" y="38695"/>
                </a:cubicBezTo>
                <a:cubicBezTo>
                  <a:pt x="138874" y="38695"/>
                  <a:pt x="142875" y="42697"/>
                  <a:pt x="142875" y="47625"/>
                </a:cubicBezTo>
                <a:cubicBezTo>
                  <a:pt x="142875" y="52553"/>
                  <a:pt x="138874" y="56555"/>
                  <a:pt x="133945" y="56555"/>
                </a:cubicBezTo>
                <a:cubicBezTo>
                  <a:pt x="129017" y="56555"/>
                  <a:pt x="125016" y="52553"/>
                  <a:pt x="125016" y="47625"/>
                </a:cubicBezTo>
                <a:close/>
                <a:moveTo>
                  <a:pt x="23812" y="107156"/>
                </a:moveTo>
                <a:cubicBezTo>
                  <a:pt x="10678" y="107156"/>
                  <a:pt x="0" y="117835"/>
                  <a:pt x="0" y="130969"/>
                </a:cubicBezTo>
                <a:lnTo>
                  <a:pt x="0" y="154781"/>
                </a:lnTo>
                <a:cubicBezTo>
                  <a:pt x="0" y="167915"/>
                  <a:pt x="10678" y="178594"/>
                  <a:pt x="23812" y="178594"/>
                </a:cubicBezTo>
                <a:lnTo>
                  <a:pt x="142875" y="178594"/>
                </a:lnTo>
                <a:cubicBezTo>
                  <a:pt x="156009" y="178594"/>
                  <a:pt x="166688" y="167915"/>
                  <a:pt x="166688" y="154781"/>
                </a:cubicBezTo>
                <a:lnTo>
                  <a:pt x="166688" y="130969"/>
                </a:lnTo>
                <a:cubicBezTo>
                  <a:pt x="166688" y="117835"/>
                  <a:pt x="156009" y="107156"/>
                  <a:pt x="142875" y="107156"/>
                </a:cubicBezTo>
                <a:lnTo>
                  <a:pt x="23812" y="107156"/>
                </a:lnTo>
                <a:close/>
                <a:moveTo>
                  <a:pt x="104180" y="133945"/>
                </a:moveTo>
                <a:cubicBezTo>
                  <a:pt x="109108" y="133945"/>
                  <a:pt x="113109" y="137947"/>
                  <a:pt x="113109" y="142875"/>
                </a:cubicBezTo>
                <a:cubicBezTo>
                  <a:pt x="113109" y="147803"/>
                  <a:pt x="109108" y="151805"/>
                  <a:pt x="104180" y="151805"/>
                </a:cubicBezTo>
                <a:cubicBezTo>
                  <a:pt x="99251" y="151805"/>
                  <a:pt x="95250" y="147803"/>
                  <a:pt x="95250" y="142875"/>
                </a:cubicBezTo>
                <a:cubicBezTo>
                  <a:pt x="95250" y="137947"/>
                  <a:pt x="99251" y="133945"/>
                  <a:pt x="104180" y="133945"/>
                </a:cubicBezTo>
                <a:close/>
                <a:moveTo>
                  <a:pt x="125016" y="142875"/>
                </a:moveTo>
                <a:cubicBezTo>
                  <a:pt x="125016" y="137947"/>
                  <a:pt x="129017" y="133945"/>
                  <a:pt x="133945" y="133945"/>
                </a:cubicBezTo>
                <a:cubicBezTo>
                  <a:pt x="138874" y="133945"/>
                  <a:pt x="142875" y="137947"/>
                  <a:pt x="142875" y="142875"/>
                </a:cubicBezTo>
                <a:cubicBezTo>
                  <a:pt x="142875" y="147803"/>
                  <a:pt x="138874" y="151805"/>
                  <a:pt x="133945" y="151805"/>
                </a:cubicBezTo>
                <a:cubicBezTo>
                  <a:pt x="129017" y="151805"/>
                  <a:pt x="125016" y="147803"/>
                  <a:pt x="125016" y="142875"/>
                </a:cubicBezTo>
                <a:close/>
              </a:path>
            </a:pathLst>
          </a:custGeom>
          <a:solidFill>
            <a:srgbClr val="FFFFFF"/>
          </a:solidFill>
          <a:ln/>
        </p:spPr>
      </p:sp>
      <p:sp>
        <p:nvSpPr>
          <p:cNvPr id="45" name="Text 43"/>
          <p:cNvSpPr/>
          <p:nvPr/>
        </p:nvSpPr>
        <p:spPr>
          <a:xfrm>
            <a:off x="8874026" y="1438275"/>
            <a:ext cx="1028700" cy="266700"/>
          </a:xfrm>
          <a:prstGeom prst="rect">
            <a:avLst/>
          </a:prstGeom>
          <a:noFill/>
          <a:ln/>
        </p:spPr>
        <p:txBody>
          <a:bodyPr wrap="square" lIns="0" tIns="0" rIns="0" bIns="0" rtlCol="0" anchor="ctr"/>
          <a:lstStyle/>
          <a:p>
            <a:pPr>
              <a:lnSpc>
                <a:spcPct val="120000"/>
              </a:lnSpc>
            </a:pPr>
            <a:r>
              <a:rPr lang="en-US" sz="1500" b="1" dirty="0">
                <a:solidFill>
                  <a:srgbClr val="F1F5F9"/>
                </a:solidFill>
                <a:latin typeface="MiSans" pitchFamily="34" charset="0"/>
                <a:ea typeface="MiSans" pitchFamily="34" charset="-122"/>
                <a:cs typeface="MiSans" pitchFamily="34" charset="-120"/>
              </a:rPr>
              <a:t>Mức Vật lý</a:t>
            </a:r>
            <a:endParaRPr lang="en-US" sz="1600" dirty="0"/>
          </a:p>
        </p:txBody>
      </p:sp>
      <p:sp>
        <p:nvSpPr>
          <p:cNvPr id="46" name="Shape 44"/>
          <p:cNvSpPr/>
          <p:nvPr/>
        </p:nvSpPr>
        <p:spPr>
          <a:xfrm>
            <a:off x="8302526" y="1952625"/>
            <a:ext cx="3305175" cy="2895600"/>
          </a:xfrm>
          <a:custGeom>
            <a:avLst/>
            <a:gdLst/>
            <a:ahLst/>
            <a:cxnLst/>
            <a:rect l="l" t="t" r="r" b="b"/>
            <a:pathLst>
              <a:path w="3305175" h="2895600">
                <a:moveTo>
                  <a:pt x="76212" y="0"/>
                </a:moveTo>
                <a:lnTo>
                  <a:pt x="3228963" y="0"/>
                </a:lnTo>
                <a:cubicBezTo>
                  <a:pt x="3271054" y="0"/>
                  <a:pt x="3305175" y="34121"/>
                  <a:pt x="3305175" y="76212"/>
                </a:cubicBezTo>
                <a:lnTo>
                  <a:pt x="3305175" y="2819388"/>
                </a:lnTo>
                <a:cubicBezTo>
                  <a:pt x="3305175" y="2861479"/>
                  <a:pt x="3271054" y="2895600"/>
                  <a:pt x="3228963" y="2895600"/>
                </a:cubicBezTo>
                <a:lnTo>
                  <a:pt x="76212" y="2895600"/>
                </a:lnTo>
                <a:cubicBezTo>
                  <a:pt x="34121" y="2895600"/>
                  <a:pt x="0" y="2861479"/>
                  <a:pt x="0" y="2819388"/>
                </a:cubicBezTo>
                <a:lnTo>
                  <a:pt x="0" y="76212"/>
                </a:lnTo>
                <a:cubicBezTo>
                  <a:pt x="0" y="34150"/>
                  <a:pt x="34150" y="0"/>
                  <a:pt x="76212" y="0"/>
                </a:cubicBezTo>
                <a:close/>
              </a:path>
            </a:pathLst>
          </a:custGeom>
          <a:solidFill>
            <a:srgbClr val="0F172A"/>
          </a:solidFill>
          <a:ln/>
        </p:spPr>
      </p:sp>
      <p:sp>
        <p:nvSpPr>
          <p:cNvPr id="47" name="Text 45"/>
          <p:cNvSpPr/>
          <p:nvPr/>
        </p:nvSpPr>
        <p:spPr>
          <a:xfrm>
            <a:off x="8416826" y="2066925"/>
            <a:ext cx="315277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Ánh xạ vào stack công cụ:</a:t>
            </a:r>
            <a:endParaRPr lang="en-US" sz="1600" dirty="0"/>
          </a:p>
        </p:txBody>
      </p:sp>
      <p:sp>
        <p:nvSpPr>
          <p:cNvPr id="48" name="Shape 46"/>
          <p:cNvSpPr/>
          <p:nvPr/>
        </p:nvSpPr>
        <p:spPr>
          <a:xfrm>
            <a:off x="8416826" y="2371725"/>
            <a:ext cx="3076575" cy="533400"/>
          </a:xfrm>
          <a:custGeom>
            <a:avLst/>
            <a:gdLst/>
            <a:ahLst/>
            <a:cxnLst/>
            <a:rect l="l" t="t" r="r" b="b"/>
            <a:pathLst>
              <a:path w="3076575" h="533400">
                <a:moveTo>
                  <a:pt x="76202" y="0"/>
                </a:moveTo>
                <a:lnTo>
                  <a:pt x="3000373" y="0"/>
                </a:lnTo>
                <a:cubicBezTo>
                  <a:pt x="3042458" y="0"/>
                  <a:pt x="3076575" y="34117"/>
                  <a:pt x="3076575" y="76202"/>
                </a:cubicBezTo>
                <a:lnTo>
                  <a:pt x="3076575" y="457198"/>
                </a:lnTo>
                <a:cubicBezTo>
                  <a:pt x="3076575" y="499283"/>
                  <a:pt x="3042458" y="533400"/>
                  <a:pt x="3000373" y="533400"/>
                </a:cubicBezTo>
                <a:lnTo>
                  <a:pt x="76202" y="533400"/>
                </a:lnTo>
                <a:cubicBezTo>
                  <a:pt x="34117" y="533400"/>
                  <a:pt x="0" y="499283"/>
                  <a:pt x="0" y="457198"/>
                </a:cubicBezTo>
                <a:lnTo>
                  <a:pt x="0" y="76202"/>
                </a:lnTo>
                <a:cubicBezTo>
                  <a:pt x="0" y="34145"/>
                  <a:pt x="34145" y="0"/>
                  <a:pt x="76202" y="0"/>
                </a:cubicBezTo>
                <a:close/>
              </a:path>
            </a:pathLst>
          </a:custGeom>
          <a:solidFill>
            <a:srgbClr val="1E293B"/>
          </a:solidFill>
          <a:ln/>
        </p:spPr>
      </p:sp>
      <p:sp>
        <p:nvSpPr>
          <p:cNvPr id="49" name="Text 47"/>
          <p:cNvSpPr/>
          <p:nvPr/>
        </p:nvSpPr>
        <p:spPr>
          <a:xfrm>
            <a:off x="8493026" y="2447925"/>
            <a:ext cx="2990850" cy="190500"/>
          </a:xfrm>
          <a:prstGeom prst="rect">
            <a:avLst/>
          </a:prstGeom>
          <a:noFill/>
          <a:ln/>
        </p:spPr>
        <p:txBody>
          <a:bodyPr wrap="square" lIns="0" tIns="0" rIns="0" bIns="0" rtlCol="0" anchor="ctr"/>
          <a:lstStyle/>
          <a:p>
            <a:pPr>
              <a:lnSpc>
                <a:spcPct val="120000"/>
              </a:lnSpc>
            </a:pPr>
            <a:r>
              <a:rPr lang="en-US" sz="1050" b="1" dirty="0">
                <a:solidFill>
                  <a:srgbClr val="3B82F6"/>
                </a:solidFill>
                <a:latin typeface="MiSans" pitchFamily="34" charset="0"/>
                <a:ea typeface="MiSans" pitchFamily="34" charset="-122"/>
                <a:cs typeface="MiSans" pitchFamily="34" charset="-120"/>
              </a:rPr>
              <a:t>IDE</a:t>
            </a:r>
            <a:endParaRPr lang="en-US" sz="1600" dirty="0"/>
          </a:p>
        </p:txBody>
      </p:sp>
      <p:sp>
        <p:nvSpPr>
          <p:cNvPr id="50" name="Text 48"/>
          <p:cNvSpPr/>
          <p:nvPr/>
        </p:nvSpPr>
        <p:spPr>
          <a:xfrm>
            <a:off x="8493026" y="2676525"/>
            <a:ext cx="29813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VS Code + GitHub Copilot/ChatGPT</a:t>
            </a:r>
            <a:endParaRPr lang="en-US" sz="1600" dirty="0"/>
          </a:p>
        </p:txBody>
      </p:sp>
      <p:sp>
        <p:nvSpPr>
          <p:cNvPr id="51" name="Shape 49"/>
          <p:cNvSpPr/>
          <p:nvPr/>
        </p:nvSpPr>
        <p:spPr>
          <a:xfrm>
            <a:off x="8416826" y="2981325"/>
            <a:ext cx="3076575" cy="533400"/>
          </a:xfrm>
          <a:custGeom>
            <a:avLst/>
            <a:gdLst/>
            <a:ahLst/>
            <a:cxnLst/>
            <a:rect l="l" t="t" r="r" b="b"/>
            <a:pathLst>
              <a:path w="3076575" h="533400">
                <a:moveTo>
                  <a:pt x="76202" y="0"/>
                </a:moveTo>
                <a:lnTo>
                  <a:pt x="3000373" y="0"/>
                </a:lnTo>
                <a:cubicBezTo>
                  <a:pt x="3042458" y="0"/>
                  <a:pt x="3076575" y="34117"/>
                  <a:pt x="3076575" y="76202"/>
                </a:cubicBezTo>
                <a:lnTo>
                  <a:pt x="3076575" y="457198"/>
                </a:lnTo>
                <a:cubicBezTo>
                  <a:pt x="3076575" y="499283"/>
                  <a:pt x="3042458" y="533400"/>
                  <a:pt x="3000373" y="533400"/>
                </a:cubicBezTo>
                <a:lnTo>
                  <a:pt x="76202" y="533400"/>
                </a:lnTo>
                <a:cubicBezTo>
                  <a:pt x="34117" y="533400"/>
                  <a:pt x="0" y="499283"/>
                  <a:pt x="0" y="457198"/>
                </a:cubicBezTo>
                <a:lnTo>
                  <a:pt x="0" y="76202"/>
                </a:lnTo>
                <a:cubicBezTo>
                  <a:pt x="0" y="34145"/>
                  <a:pt x="34145" y="0"/>
                  <a:pt x="76202" y="0"/>
                </a:cubicBezTo>
                <a:close/>
              </a:path>
            </a:pathLst>
          </a:custGeom>
          <a:solidFill>
            <a:srgbClr val="1E293B"/>
          </a:solidFill>
          <a:ln/>
        </p:spPr>
      </p:sp>
      <p:sp>
        <p:nvSpPr>
          <p:cNvPr id="52" name="Text 50"/>
          <p:cNvSpPr/>
          <p:nvPr/>
        </p:nvSpPr>
        <p:spPr>
          <a:xfrm>
            <a:off x="8493026" y="3057525"/>
            <a:ext cx="2990850" cy="190500"/>
          </a:xfrm>
          <a:prstGeom prst="rect">
            <a:avLst/>
          </a:prstGeom>
          <a:noFill/>
          <a:ln/>
        </p:spPr>
        <p:txBody>
          <a:bodyPr wrap="square" lIns="0" tIns="0" rIns="0" bIns="0" rtlCol="0" anchor="ctr"/>
          <a:lstStyle/>
          <a:p>
            <a:pPr>
              <a:lnSpc>
                <a:spcPct val="120000"/>
              </a:lnSpc>
            </a:pPr>
            <a:r>
              <a:rPr lang="en-US" sz="1050" b="1" dirty="0">
                <a:solidFill>
                  <a:srgbClr val="8B5CF6"/>
                </a:solidFill>
                <a:latin typeface="MiSans" pitchFamily="34" charset="0"/>
                <a:ea typeface="MiSans" pitchFamily="34" charset="-122"/>
                <a:cs typeface="MiSans" pitchFamily="34" charset="-120"/>
              </a:rPr>
              <a:t>SCM</a:t>
            </a:r>
            <a:endParaRPr lang="en-US" sz="1600" dirty="0"/>
          </a:p>
        </p:txBody>
      </p:sp>
      <p:sp>
        <p:nvSpPr>
          <p:cNvPr id="53" name="Text 51"/>
          <p:cNvSpPr/>
          <p:nvPr/>
        </p:nvSpPr>
        <p:spPr>
          <a:xfrm>
            <a:off x="8493026" y="3286125"/>
            <a:ext cx="29813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GitHub/GitLab với branch protection</a:t>
            </a:r>
            <a:endParaRPr lang="en-US" sz="1600" dirty="0"/>
          </a:p>
        </p:txBody>
      </p:sp>
      <p:sp>
        <p:nvSpPr>
          <p:cNvPr id="54" name="Shape 52"/>
          <p:cNvSpPr/>
          <p:nvPr/>
        </p:nvSpPr>
        <p:spPr>
          <a:xfrm>
            <a:off x="8416826" y="3590925"/>
            <a:ext cx="3076575" cy="533400"/>
          </a:xfrm>
          <a:custGeom>
            <a:avLst/>
            <a:gdLst/>
            <a:ahLst/>
            <a:cxnLst/>
            <a:rect l="l" t="t" r="r" b="b"/>
            <a:pathLst>
              <a:path w="3076575" h="533400">
                <a:moveTo>
                  <a:pt x="76202" y="0"/>
                </a:moveTo>
                <a:lnTo>
                  <a:pt x="3000373" y="0"/>
                </a:lnTo>
                <a:cubicBezTo>
                  <a:pt x="3042458" y="0"/>
                  <a:pt x="3076575" y="34117"/>
                  <a:pt x="3076575" y="76202"/>
                </a:cubicBezTo>
                <a:lnTo>
                  <a:pt x="3076575" y="457198"/>
                </a:lnTo>
                <a:cubicBezTo>
                  <a:pt x="3076575" y="499283"/>
                  <a:pt x="3042458" y="533400"/>
                  <a:pt x="3000373" y="533400"/>
                </a:cubicBezTo>
                <a:lnTo>
                  <a:pt x="76202" y="533400"/>
                </a:lnTo>
                <a:cubicBezTo>
                  <a:pt x="34117" y="533400"/>
                  <a:pt x="0" y="499283"/>
                  <a:pt x="0" y="457198"/>
                </a:cubicBezTo>
                <a:lnTo>
                  <a:pt x="0" y="76202"/>
                </a:lnTo>
                <a:cubicBezTo>
                  <a:pt x="0" y="34145"/>
                  <a:pt x="34145" y="0"/>
                  <a:pt x="76202" y="0"/>
                </a:cubicBezTo>
                <a:close/>
              </a:path>
            </a:pathLst>
          </a:custGeom>
          <a:solidFill>
            <a:srgbClr val="1E293B"/>
          </a:solidFill>
          <a:ln/>
        </p:spPr>
      </p:sp>
      <p:sp>
        <p:nvSpPr>
          <p:cNvPr id="55" name="Text 53"/>
          <p:cNvSpPr/>
          <p:nvPr/>
        </p:nvSpPr>
        <p:spPr>
          <a:xfrm>
            <a:off x="8493026" y="3667125"/>
            <a:ext cx="2990850" cy="190500"/>
          </a:xfrm>
          <a:prstGeom prst="rect">
            <a:avLst/>
          </a:prstGeom>
          <a:noFill/>
          <a:ln/>
        </p:spPr>
        <p:txBody>
          <a:bodyPr wrap="square" lIns="0" tIns="0" rIns="0" bIns="0" rtlCol="0" anchor="ctr"/>
          <a:lstStyle/>
          <a:p>
            <a:pPr>
              <a:lnSpc>
                <a:spcPct val="120000"/>
              </a:lnSpc>
            </a:pPr>
            <a:r>
              <a:rPr lang="en-US" sz="1050" b="1" dirty="0">
                <a:solidFill>
                  <a:srgbClr val="10B981"/>
                </a:solidFill>
                <a:latin typeface="MiSans" pitchFamily="34" charset="0"/>
                <a:ea typeface="MiSans" pitchFamily="34" charset="-122"/>
                <a:cs typeface="MiSans" pitchFamily="34" charset="-120"/>
              </a:rPr>
              <a:t>CI</a:t>
            </a:r>
            <a:endParaRPr lang="en-US" sz="1600" dirty="0"/>
          </a:p>
        </p:txBody>
      </p:sp>
      <p:sp>
        <p:nvSpPr>
          <p:cNvPr id="56" name="Text 54"/>
          <p:cNvSpPr/>
          <p:nvPr/>
        </p:nvSpPr>
        <p:spPr>
          <a:xfrm>
            <a:off x="8493026" y="3895725"/>
            <a:ext cx="29813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GitHub Actions/Jenkins</a:t>
            </a:r>
            <a:endParaRPr lang="en-US" sz="1600" dirty="0"/>
          </a:p>
        </p:txBody>
      </p:sp>
      <p:sp>
        <p:nvSpPr>
          <p:cNvPr id="57" name="Shape 55"/>
          <p:cNvSpPr/>
          <p:nvPr/>
        </p:nvSpPr>
        <p:spPr>
          <a:xfrm>
            <a:off x="8416826" y="4200525"/>
            <a:ext cx="3076575" cy="533400"/>
          </a:xfrm>
          <a:custGeom>
            <a:avLst/>
            <a:gdLst/>
            <a:ahLst/>
            <a:cxnLst/>
            <a:rect l="l" t="t" r="r" b="b"/>
            <a:pathLst>
              <a:path w="3076575" h="533400">
                <a:moveTo>
                  <a:pt x="76202" y="0"/>
                </a:moveTo>
                <a:lnTo>
                  <a:pt x="3000373" y="0"/>
                </a:lnTo>
                <a:cubicBezTo>
                  <a:pt x="3042458" y="0"/>
                  <a:pt x="3076575" y="34117"/>
                  <a:pt x="3076575" y="76202"/>
                </a:cubicBezTo>
                <a:lnTo>
                  <a:pt x="3076575" y="457198"/>
                </a:lnTo>
                <a:cubicBezTo>
                  <a:pt x="3076575" y="499283"/>
                  <a:pt x="3042458" y="533400"/>
                  <a:pt x="3000373" y="533400"/>
                </a:cubicBezTo>
                <a:lnTo>
                  <a:pt x="76202" y="533400"/>
                </a:lnTo>
                <a:cubicBezTo>
                  <a:pt x="34117" y="533400"/>
                  <a:pt x="0" y="499283"/>
                  <a:pt x="0" y="457198"/>
                </a:cubicBezTo>
                <a:lnTo>
                  <a:pt x="0" y="76202"/>
                </a:lnTo>
                <a:cubicBezTo>
                  <a:pt x="0" y="34145"/>
                  <a:pt x="34145" y="0"/>
                  <a:pt x="76202" y="0"/>
                </a:cubicBezTo>
                <a:close/>
              </a:path>
            </a:pathLst>
          </a:custGeom>
          <a:solidFill>
            <a:srgbClr val="1E293B"/>
          </a:solidFill>
          <a:ln/>
        </p:spPr>
      </p:sp>
      <p:sp>
        <p:nvSpPr>
          <p:cNvPr id="58" name="Text 56"/>
          <p:cNvSpPr/>
          <p:nvPr/>
        </p:nvSpPr>
        <p:spPr>
          <a:xfrm>
            <a:off x="8493026" y="4276725"/>
            <a:ext cx="2990850" cy="190500"/>
          </a:xfrm>
          <a:prstGeom prst="rect">
            <a:avLst/>
          </a:prstGeom>
          <a:noFill/>
          <a:ln/>
        </p:spPr>
        <p:txBody>
          <a:bodyPr wrap="square" lIns="0" tIns="0" rIns="0" bIns="0" rtlCol="0" anchor="ctr"/>
          <a:lstStyle/>
          <a:p>
            <a:pPr>
              <a:lnSpc>
                <a:spcPct val="120000"/>
              </a:lnSpc>
            </a:pPr>
            <a:r>
              <a:rPr lang="en-US" sz="1050" b="1" dirty="0">
                <a:solidFill>
                  <a:srgbClr val="F59E0B"/>
                </a:solidFill>
                <a:latin typeface="MiSans" pitchFamily="34" charset="0"/>
                <a:ea typeface="MiSans" pitchFamily="34" charset="-122"/>
                <a:cs typeface="MiSans" pitchFamily="34" charset="-120"/>
              </a:rPr>
              <a:t>Quality</a:t>
            </a:r>
            <a:endParaRPr lang="en-US" sz="1600" dirty="0"/>
          </a:p>
        </p:txBody>
      </p:sp>
      <p:sp>
        <p:nvSpPr>
          <p:cNvPr id="59" name="Text 57"/>
          <p:cNvSpPr/>
          <p:nvPr/>
        </p:nvSpPr>
        <p:spPr>
          <a:xfrm>
            <a:off x="8493026" y="4505325"/>
            <a:ext cx="2981325" cy="152400"/>
          </a:xfrm>
          <a:prstGeom prst="rect">
            <a:avLst/>
          </a:prstGeom>
          <a:noFill/>
          <a:ln/>
        </p:spPr>
        <p:txBody>
          <a:bodyPr wrap="square" lIns="0" tIns="0" rIns="0" bIns="0" rtlCol="0" anchor="ctr"/>
          <a:lstStyle/>
          <a:p>
            <a:pPr>
              <a:lnSpc>
                <a:spcPct val="110000"/>
              </a:lnSpc>
            </a:pPr>
            <a:r>
              <a:rPr lang="en-US" sz="900" dirty="0">
                <a:solidFill>
                  <a:srgbClr val="F1F5F9">
                    <a:alpha val="70000"/>
                  </a:srgbClr>
                </a:solidFill>
                <a:latin typeface="MiSans" pitchFamily="34" charset="0"/>
                <a:ea typeface="MiSans" pitchFamily="34" charset="-122"/>
                <a:cs typeface="MiSans" pitchFamily="34" charset="-120"/>
              </a:rPr>
              <a:t>pytest, coverage, ruff/flake8, bandit, SAST</a:t>
            </a:r>
            <a:endParaRPr lang="en-US" sz="1600" dirty="0"/>
          </a:p>
        </p:txBody>
      </p:sp>
      <p:sp>
        <p:nvSpPr>
          <p:cNvPr id="60" name="Shape 58"/>
          <p:cNvSpPr/>
          <p:nvPr/>
        </p:nvSpPr>
        <p:spPr>
          <a:xfrm>
            <a:off x="8307288" y="4967288"/>
            <a:ext cx="3295650" cy="1266825"/>
          </a:xfrm>
          <a:custGeom>
            <a:avLst/>
            <a:gdLst/>
            <a:ahLst/>
            <a:cxnLst/>
            <a:rect l="l" t="t" r="r" b="b"/>
            <a:pathLst>
              <a:path w="3295650" h="1266825">
                <a:moveTo>
                  <a:pt x="76200" y="0"/>
                </a:moveTo>
                <a:lnTo>
                  <a:pt x="3219450" y="0"/>
                </a:lnTo>
                <a:cubicBezTo>
                  <a:pt x="3261534" y="0"/>
                  <a:pt x="3295650" y="34116"/>
                  <a:pt x="3295650" y="76200"/>
                </a:cubicBezTo>
                <a:lnTo>
                  <a:pt x="3295650" y="1190625"/>
                </a:lnTo>
                <a:cubicBezTo>
                  <a:pt x="3295650" y="1232709"/>
                  <a:pt x="3261534" y="1266825"/>
                  <a:pt x="3219450" y="1266825"/>
                </a:cubicBezTo>
                <a:lnTo>
                  <a:pt x="76200" y="1266825"/>
                </a:lnTo>
                <a:cubicBezTo>
                  <a:pt x="34116" y="1266825"/>
                  <a:pt x="0" y="1232709"/>
                  <a:pt x="0" y="1190625"/>
                </a:cubicBezTo>
                <a:lnTo>
                  <a:pt x="0" y="76200"/>
                </a:lnTo>
                <a:cubicBezTo>
                  <a:pt x="0" y="34144"/>
                  <a:pt x="34144" y="0"/>
                  <a:pt x="76200" y="0"/>
                </a:cubicBezTo>
                <a:close/>
              </a:path>
            </a:pathLst>
          </a:custGeom>
          <a:solidFill>
            <a:srgbClr val="0F172A"/>
          </a:solidFill>
          <a:ln w="12700">
            <a:solidFill>
              <a:srgbClr val="10B981">
                <a:alpha val="30196"/>
              </a:srgbClr>
            </a:solidFill>
            <a:prstDash val="solid"/>
          </a:ln>
        </p:spPr>
      </p:sp>
      <p:sp>
        <p:nvSpPr>
          <p:cNvPr id="61" name="Text 59"/>
          <p:cNvSpPr/>
          <p:nvPr/>
        </p:nvSpPr>
        <p:spPr>
          <a:xfrm>
            <a:off x="8426351" y="5086350"/>
            <a:ext cx="3133725" cy="228600"/>
          </a:xfrm>
          <a:prstGeom prst="rect">
            <a:avLst/>
          </a:prstGeom>
          <a:noFill/>
          <a:ln/>
        </p:spPr>
        <p:txBody>
          <a:bodyPr wrap="square" lIns="0" tIns="0" rIns="0" bIns="0" rtlCol="0" anchor="ctr"/>
          <a:lstStyle/>
          <a:p>
            <a:pPr>
              <a:lnSpc>
                <a:spcPct val="130000"/>
              </a:lnSpc>
            </a:pPr>
            <a:r>
              <a:rPr lang="en-US" sz="1200" b="1" dirty="0">
                <a:solidFill>
                  <a:srgbClr val="10B981"/>
                </a:solidFill>
                <a:latin typeface="MiSans" pitchFamily="34" charset="0"/>
                <a:ea typeface="MiSans" pitchFamily="34" charset="-122"/>
                <a:cs typeface="MiSans" pitchFamily="34" charset="-120"/>
              </a:rPr>
              <a:t>Gate tối thiểu trước merge:</a:t>
            </a:r>
            <a:endParaRPr lang="en-US" sz="1600" dirty="0"/>
          </a:p>
        </p:txBody>
      </p:sp>
      <p:sp>
        <p:nvSpPr>
          <p:cNvPr id="62" name="Shape 60"/>
          <p:cNvSpPr/>
          <p:nvPr/>
        </p:nvSpPr>
        <p:spPr>
          <a:xfrm>
            <a:off x="8447782" y="5429250"/>
            <a:ext cx="100013" cy="114300"/>
          </a:xfrm>
          <a:custGeom>
            <a:avLst/>
            <a:gdLst/>
            <a:ahLst/>
            <a:cxnLst/>
            <a:rect l="l" t="t" r="r" b="b"/>
            <a:pathLst>
              <a:path w="100013" h="114300">
                <a:moveTo>
                  <a:pt x="97066" y="15649"/>
                </a:moveTo>
                <a:cubicBezTo>
                  <a:pt x="100258" y="17971"/>
                  <a:pt x="100972" y="22436"/>
                  <a:pt x="98651" y="25628"/>
                </a:cubicBezTo>
                <a:lnTo>
                  <a:pt x="41501" y="104209"/>
                </a:lnTo>
                <a:cubicBezTo>
                  <a:pt x="40273" y="105906"/>
                  <a:pt x="38375" y="106955"/>
                  <a:pt x="36277" y="107134"/>
                </a:cubicBezTo>
                <a:cubicBezTo>
                  <a:pt x="34178" y="107313"/>
                  <a:pt x="32147" y="106531"/>
                  <a:pt x="30673" y="105058"/>
                </a:cubicBezTo>
                <a:lnTo>
                  <a:pt x="2098" y="76483"/>
                </a:lnTo>
                <a:cubicBezTo>
                  <a:pt x="-692" y="73692"/>
                  <a:pt x="-692" y="69160"/>
                  <a:pt x="2098" y="66370"/>
                </a:cubicBezTo>
                <a:cubicBezTo>
                  <a:pt x="4889" y="63579"/>
                  <a:pt x="9421" y="63579"/>
                  <a:pt x="12211" y="66370"/>
                </a:cubicBezTo>
                <a:lnTo>
                  <a:pt x="34870" y="89029"/>
                </a:lnTo>
                <a:lnTo>
                  <a:pt x="87109" y="17212"/>
                </a:lnTo>
                <a:cubicBezTo>
                  <a:pt x="89431" y="14020"/>
                  <a:pt x="93896" y="13305"/>
                  <a:pt x="97088" y="15627"/>
                </a:cubicBezTo>
                <a:close/>
              </a:path>
            </a:pathLst>
          </a:custGeom>
          <a:solidFill>
            <a:srgbClr val="10B981"/>
          </a:solidFill>
          <a:ln/>
        </p:spPr>
      </p:sp>
      <p:sp>
        <p:nvSpPr>
          <p:cNvPr id="63" name="Text 61"/>
          <p:cNvSpPr/>
          <p:nvPr/>
        </p:nvSpPr>
        <p:spPr>
          <a:xfrm>
            <a:off x="8645426" y="5391150"/>
            <a:ext cx="1200150" cy="152400"/>
          </a:xfrm>
          <a:prstGeom prst="rect">
            <a:avLst/>
          </a:prstGeom>
          <a:noFill/>
          <a:ln/>
        </p:spPr>
        <p:txBody>
          <a:bodyPr wrap="square" lIns="0" tIns="0" rIns="0" bIns="0" rtlCol="0" anchor="ctr"/>
          <a:lstStyle/>
          <a:p>
            <a:pPr>
              <a:lnSpc>
                <a:spcPct val="110000"/>
              </a:lnSpc>
            </a:pPr>
            <a:r>
              <a:rPr lang="en-US" sz="900" dirty="0">
                <a:solidFill>
                  <a:srgbClr val="F1F5F9">
                    <a:alpha val="80000"/>
                  </a:srgbClr>
                </a:solidFill>
                <a:latin typeface="MiSans" pitchFamily="34" charset="0"/>
                <a:ea typeface="MiSans" pitchFamily="34" charset="-122"/>
                <a:cs typeface="MiSans" pitchFamily="34" charset="-120"/>
              </a:rPr>
              <a:t>Unit test pass &gt;= 95%</a:t>
            </a:r>
            <a:endParaRPr lang="en-US" sz="1600" dirty="0"/>
          </a:p>
        </p:txBody>
      </p:sp>
      <p:sp>
        <p:nvSpPr>
          <p:cNvPr id="64" name="Shape 62"/>
          <p:cNvSpPr/>
          <p:nvPr/>
        </p:nvSpPr>
        <p:spPr>
          <a:xfrm>
            <a:off x="8447782" y="5619750"/>
            <a:ext cx="100013" cy="114300"/>
          </a:xfrm>
          <a:custGeom>
            <a:avLst/>
            <a:gdLst/>
            <a:ahLst/>
            <a:cxnLst/>
            <a:rect l="l" t="t" r="r" b="b"/>
            <a:pathLst>
              <a:path w="100013" h="114300">
                <a:moveTo>
                  <a:pt x="97066" y="15649"/>
                </a:moveTo>
                <a:cubicBezTo>
                  <a:pt x="100258" y="17971"/>
                  <a:pt x="100972" y="22436"/>
                  <a:pt x="98651" y="25628"/>
                </a:cubicBezTo>
                <a:lnTo>
                  <a:pt x="41501" y="104209"/>
                </a:lnTo>
                <a:cubicBezTo>
                  <a:pt x="40273" y="105906"/>
                  <a:pt x="38375" y="106955"/>
                  <a:pt x="36277" y="107134"/>
                </a:cubicBezTo>
                <a:cubicBezTo>
                  <a:pt x="34178" y="107313"/>
                  <a:pt x="32147" y="106531"/>
                  <a:pt x="30673" y="105058"/>
                </a:cubicBezTo>
                <a:lnTo>
                  <a:pt x="2098" y="76483"/>
                </a:lnTo>
                <a:cubicBezTo>
                  <a:pt x="-692" y="73692"/>
                  <a:pt x="-692" y="69160"/>
                  <a:pt x="2098" y="66370"/>
                </a:cubicBezTo>
                <a:cubicBezTo>
                  <a:pt x="4889" y="63579"/>
                  <a:pt x="9421" y="63579"/>
                  <a:pt x="12211" y="66370"/>
                </a:cubicBezTo>
                <a:lnTo>
                  <a:pt x="34870" y="89029"/>
                </a:lnTo>
                <a:lnTo>
                  <a:pt x="87109" y="17212"/>
                </a:lnTo>
                <a:cubicBezTo>
                  <a:pt x="89431" y="14020"/>
                  <a:pt x="93896" y="13305"/>
                  <a:pt x="97088" y="15627"/>
                </a:cubicBezTo>
                <a:close/>
              </a:path>
            </a:pathLst>
          </a:custGeom>
          <a:solidFill>
            <a:srgbClr val="10B981"/>
          </a:solidFill>
          <a:ln/>
        </p:spPr>
      </p:sp>
      <p:sp>
        <p:nvSpPr>
          <p:cNvPr id="65" name="Text 63"/>
          <p:cNvSpPr/>
          <p:nvPr/>
        </p:nvSpPr>
        <p:spPr>
          <a:xfrm>
            <a:off x="8645426" y="5581650"/>
            <a:ext cx="1647825" cy="152400"/>
          </a:xfrm>
          <a:prstGeom prst="rect">
            <a:avLst/>
          </a:prstGeom>
          <a:noFill/>
          <a:ln/>
        </p:spPr>
        <p:txBody>
          <a:bodyPr wrap="square" lIns="0" tIns="0" rIns="0" bIns="0" rtlCol="0" anchor="ctr"/>
          <a:lstStyle/>
          <a:p>
            <a:pPr>
              <a:lnSpc>
                <a:spcPct val="110000"/>
              </a:lnSpc>
            </a:pPr>
            <a:r>
              <a:rPr lang="en-US" sz="900" dirty="0">
                <a:solidFill>
                  <a:srgbClr val="F1F5F9">
                    <a:alpha val="80000"/>
                  </a:srgbClr>
                </a:solidFill>
                <a:latin typeface="MiSans" pitchFamily="34" charset="0"/>
                <a:ea typeface="MiSans" pitchFamily="34" charset="-122"/>
                <a:cs typeface="MiSans" pitchFamily="34" charset="-120"/>
              </a:rPr>
              <a:t>Coverage module mới &gt;= 80%</a:t>
            </a:r>
            <a:endParaRPr lang="en-US" sz="1600" dirty="0"/>
          </a:p>
        </p:txBody>
      </p:sp>
      <p:sp>
        <p:nvSpPr>
          <p:cNvPr id="66" name="Shape 64"/>
          <p:cNvSpPr/>
          <p:nvPr/>
        </p:nvSpPr>
        <p:spPr>
          <a:xfrm>
            <a:off x="8447782" y="5810250"/>
            <a:ext cx="100013" cy="114300"/>
          </a:xfrm>
          <a:custGeom>
            <a:avLst/>
            <a:gdLst/>
            <a:ahLst/>
            <a:cxnLst/>
            <a:rect l="l" t="t" r="r" b="b"/>
            <a:pathLst>
              <a:path w="100013" h="114300">
                <a:moveTo>
                  <a:pt x="97066" y="15649"/>
                </a:moveTo>
                <a:cubicBezTo>
                  <a:pt x="100258" y="17971"/>
                  <a:pt x="100972" y="22436"/>
                  <a:pt x="98651" y="25628"/>
                </a:cubicBezTo>
                <a:lnTo>
                  <a:pt x="41501" y="104209"/>
                </a:lnTo>
                <a:cubicBezTo>
                  <a:pt x="40273" y="105906"/>
                  <a:pt x="38375" y="106955"/>
                  <a:pt x="36277" y="107134"/>
                </a:cubicBezTo>
                <a:cubicBezTo>
                  <a:pt x="34178" y="107313"/>
                  <a:pt x="32147" y="106531"/>
                  <a:pt x="30673" y="105058"/>
                </a:cubicBezTo>
                <a:lnTo>
                  <a:pt x="2098" y="76483"/>
                </a:lnTo>
                <a:cubicBezTo>
                  <a:pt x="-692" y="73692"/>
                  <a:pt x="-692" y="69160"/>
                  <a:pt x="2098" y="66370"/>
                </a:cubicBezTo>
                <a:cubicBezTo>
                  <a:pt x="4889" y="63579"/>
                  <a:pt x="9421" y="63579"/>
                  <a:pt x="12211" y="66370"/>
                </a:cubicBezTo>
                <a:lnTo>
                  <a:pt x="34870" y="89029"/>
                </a:lnTo>
                <a:lnTo>
                  <a:pt x="87109" y="17212"/>
                </a:lnTo>
                <a:cubicBezTo>
                  <a:pt x="89431" y="14020"/>
                  <a:pt x="93896" y="13305"/>
                  <a:pt x="97088" y="15627"/>
                </a:cubicBezTo>
                <a:close/>
              </a:path>
            </a:pathLst>
          </a:custGeom>
          <a:solidFill>
            <a:srgbClr val="10B981"/>
          </a:solidFill>
          <a:ln/>
        </p:spPr>
      </p:sp>
      <p:sp>
        <p:nvSpPr>
          <p:cNvPr id="67" name="Text 65"/>
          <p:cNvSpPr/>
          <p:nvPr/>
        </p:nvSpPr>
        <p:spPr>
          <a:xfrm>
            <a:off x="8645426" y="5772150"/>
            <a:ext cx="2114550" cy="152400"/>
          </a:xfrm>
          <a:prstGeom prst="rect">
            <a:avLst/>
          </a:prstGeom>
          <a:noFill/>
          <a:ln/>
        </p:spPr>
        <p:txBody>
          <a:bodyPr wrap="square" lIns="0" tIns="0" rIns="0" bIns="0" rtlCol="0" anchor="ctr"/>
          <a:lstStyle/>
          <a:p>
            <a:pPr>
              <a:lnSpc>
                <a:spcPct val="110000"/>
              </a:lnSpc>
            </a:pPr>
            <a:r>
              <a:rPr lang="en-US" sz="900" dirty="0">
                <a:solidFill>
                  <a:srgbClr val="F1F5F9">
                    <a:alpha val="80000"/>
                  </a:srgbClr>
                </a:solidFill>
                <a:latin typeface="MiSans" pitchFamily="34" charset="0"/>
                <a:ea typeface="MiSans" pitchFamily="34" charset="-122"/>
                <a:cs typeface="MiSans" pitchFamily="34" charset="-120"/>
              </a:rPr>
              <a:t>Không có high-severity security finding</a:t>
            </a:r>
            <a:endParaRPr lang="en-US" sz="1600" dirty="0"/>
          </a:p>
        </p:txBody>
      </p:sp>
      <p:sp>
        <p:nvSpPr>
          <p:cNvPr id="68" name="Shape 66"/>
          <p:cNvSpPr/>
          <p:nvPr/>
        </p:nvSpPr>
        <p:spPr>
          <a:xfrm>
            <a:off x="8447782" y="6000750"/>
            <a:ext cx="100013" cy="114300"/>
          </a:xfrm>
          <a:custGeom>
            <a:avLst/>
            <a:gdLst/>
            <a:ahLst/>
            <a:cxnLst/>
            <a:rect l="l" t="t" r="r" b="b"/>
            <a:pathLst>
              <a:path w="100013" h="114300">
                <a:moveTo>
                  <a:pt x="97066" y="15649"/>
                </a:moveTo>
                <a:cubicBezTo>
                  <a:pt x="100258" y="17971"/>
                  <a:pt x="100972" y="22436"/>
                  <a:pt x="98651" y="25628"/>
                </a:cubicBezTo>
                <a:lnTo>
                  <a:pt x="41501" y="104209"/>
                </a:lnTo>
                <a:cubicBezTo>
                  <a:pt x="40273" y="105906"/>
                  <a:pt x="38375" y="106955"/>
                  <a:pt x="36277" y="107134"/>
                </a:cubicBezTo>
                <a:cubicBezTo>
                  <a:pt x="34178" y="107313"/>
                  <a:pt x="32147" y="106531"/>
                  <a:pt x="30673" y="105058"/>
                </a:cubicBezTo>
                <a:lnTo>
                  <a:pt x="2098" y="76483"/>
                </a:lnTo>
                <a:cubicBezTo>
                  <a:pt x="-692" y="73692"/>
                  <a:pt x="-692" y="69160"/>
                  <a:pt x="2098" y="66370"/>
                </a:cubicBezTo>
                <a:cubicBezTo>
                  <a:pt x="4889" y="63579"/>
                  <a:pt x="9421" y="63579"/>
                  <a:pt x="12211" y="66370"/>
                </a:cubicBezTo>
                <a:lnTo>
                  <a:pt x="34870" y="89029"/>
                </a:lnTo>
                <a:lnTo>
                  <a:pt x="87109" y="17212"/>
                </a:lnTo>
                <a:cubicBezTo>
                  <a:pt x="89431" y="14020"/>
                  <a:pt x="93896" y="13305"/>
                  <a:pt x="97088" y="15627"/>
                </a:cubicBezTo>
                <a:close/>
              </a:path>
            </a:pathLst>
          </a:custGeom>
          <a:solidFill>
            <a:srgbClr val="10B981"/>
          </a:solidFill>
          <a:ln/>
        </p:spPr>
      </p:sp>
      <p:sp>
        <p:nvSpPr>
          <p:cNvPr id="69" name="Text 67"/>
          <p:cNvSpPr/>
          <p:nvPr/>
        </p:nvSpPr>
        <p:spPr>
          <a:xfrm>
            <a:off x="8645426" y="5962650"/>
            <a:ext cx="2552700" cy="152400"/>
          </a:xfrm>
          <a:prstGeom prst="rect">
            <a:avLst/>
          </a:prstGeom>
          <a:noFill/>
          <a:ln/>
        </p:spPr>
        <p:txBody>
          <a:bodyPr wrap="square" lIns="0" tIns="0" rIns="0" bIns="0" rtlCol="0" anchor="ctr"/>
          <a:lstStyle/>
          <a:p>
            <a:pPr>
              <a:lnSpc>
                <a:spcPct val="110000"/>
              </a:lnSpc>
            </a:pPr>
            <a:r>
              <a:rPr lang="en-US" sz="900" dirty="0">
                <a:solidFill>
                  <a:srgbClr val="F1F5F9">
                    <a:alpha val="80000"/>
                  </a:srgbClr>
                </a:solidFill>
                <a:latin typeface="MiSans" pitchFamily="34" charset="0"/>
                <a:ea typeface="MiSans" pitchFamily="34" charset="-122"/>
                <a:cs typeface="MiSans" pitchFamily="34" charset="-120"/>
              </a:rPr>
              <a:t>Có issue link và mô tả nguồn gốc prompt/agent</a:t>
            </a:r>
            <a:endParaRPr lang="en-US" sz="1600" dirty="0"/>
          </a:p>
        </p:txBody>
      </p:sp>
    </p:spTree>
  </p:cSld>
  <p:clrMapOvr>
    <a:masterClrMapping/>
  </p:clrMapOvr>
  <p:transition>
    <p:fade/>
    <p:spd val="med"/>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1000" y="45720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solidFill>
          <a:ln/>
        </p:spPr>
      </p:sp>
      <p:sp>
        <p:nvSpPr>
          <p:cNvPr id="3" name="Shape 1"/>
          <p:cNvSpPr/>
          <p:nvPr/>
        </p:nvSpPr>
        <p:spPr>
          <a:xfrm>
            <a:off x="488156" y="561975"/>
            <a:ext cx="171450" cy="171450"/>
          </a:xfrm>
          <a:custGeom>
            <a:avLst/>
            <a:gdLst/>
            <a:ahLst/>
            <a:cxnLst/>
            <a:rect l="l" t="t" r="r" b="b"/>
            <a:pathLst>
              <a:path w="171450" h="171450">
                <a:moveTo>
                  <a:pt x="74976" y="10716"/>
                </a:moveTo>
                <a:lnTo>
                  <a:pt x="49459" y="10716"/>
                </a:lnTo>
                <a:cubicBezTo>
                  <a:pt x="39614" y="10716"/>
                  <a:pt x="31008" y="17446"/>
                  <a:pt x="28664" y="26990"/>
                </a:cubicBezTo>
                <a:lnTo>
                  <a:pt x="469" y="140810"/>
                </a:lnTo>
                <a:cubicBezTo>
                  <a:pt x="-2043" y="150923"/>
                  <a:pt x="5626" y="160734"/>
                  <a:pt x="16073" y="160734"/>
                </a:cubicBezTo>
                <a:lnTo>
                  <a:pt x="74976" y="160734"/>
                </a:lnTo>
                <a:lnTo>
                  <a:pt x="74976" y="139303"/>
                </a:lnTo>
                <a:cubicBezTo>
                  <a:pt x="74976" y="133376"/>
                  <a:pt x="79764" y="128588"/>
                  <a:pt x="85692" y="128588"/>
                </a:cubicBezTo>
                <a:cubicBezTo>
                  <a:pt x="91619" y="128588"/>
                  <a:pt x="96407" y="133376"/>
                  <a:pt x="96407" y="139303"/>
                </a:cubicBezTo>
                <a:lnTo>
                  <a:pt x="96407" y="160734"/>
                </a:lnTo>
                <a:lnTo>
                  <a:pt x="155377" y="160734"/>
                </a:lnTo>
                <a:cubicBezTo>
                  <a:pt x="165824" y="160734"/>
                  <a:pt x="173493" y="150923"/>
                  <a:pt x="170981" y="140810"/>
                </a:cubicBezTo>
                <a:lnTo>
                  <a:pt x="142819" y="26990"/>
                </a:lnTo>
                <a:cubicBezTo>
                  <a:pt x="140442" y="17446"/>
                  <a:pt x="131869" y="10716"/>
                  <a:pt x="121991" y="10716"/>
                </a:cubicBezTo>
                <a:lnTo>
                  <a:pt x="96407" y="10716"/>
                </a:lnTo>
                <a:lnTo>
                  <a:pt x="96407" y="32147"/>
                </a:lnTo>
                <a:cubicBezTo>
                  <a:pt x="96407" y="38074"/>
                  <a:pt x="91619" y="42863"/>
                  <a:pt x="85692" y="42863"/>
                </a:cubicBezTo>
                <a:cubicBezTo>
                  <a:pt x="79764" y="42863"/>
                  <a:pt x="74976" y="38074"/>
                  <a:pt x="74976" y="32147"/>
                </a:cubicBezTo>
                <a:lnTo>
                  <a:pt x="74976" y="10716"/>
                </a:lnTo>
                <a:close/>
                <a:moveTo>
                  <a:pt x="96407" y="75009"/>
                </a:moveTo>
                <a:lnTo>
                  <a:pt x="96407" y="96441"/>
                </a:lnTo>
                <a:cubicBezTo>
                  <a:pt x="96407" y="102368"/>
                  <a:pt x="91619" y="107156"/>
                  <a:pt x="85692" y="107156"/>
                </a:cubicBezTo>
                <a:cubicBezTo>
                  <a:pt x="79764" y="107156"/>
                  <a:pt x="74976" y="102368"/>
                  <a:pt x="74976" y="96441"/>
                </a:cubicBezTo>
                <a:lnTo>
                  <a:pt x="74976" y="75009"/>
                </a:lnTo>
                <a:cubicBezTo>
                  <a:pt x="74976" y="69082"/>
                  <a:pt x="79764" y="64294"/>
                  <a:pt x="85692" y="64294"/>
                </a:cubicBezTo>
                <a:cubicBezTo>
                  <a:pt x="91619" y="64294"/>
                  <a:pt x="96407" y="69082"/>
                  <a:pt x="96407" y="75009"/>
                </a:cubicBezTo>
                <a:close/>
              </a:path>
            </a:pathLst>
          </a:custGeom>
          <a:solidFill>
            <a:srgbClr val="FFFFFF"/>
          </a:solidFill>
          <a:ln/>
        </p:spPr>
      </p:sp>
      <p:sp>
        <p:nvSpPr>
          <p:cNvPr id="4" name="Text 2"/>
          <p:cNvSpPr/>
          <p:nvPr/>
        </p:nvSpPr>
        <p:spPr>
          <a:xfrm>
            <a:off x="876300" y="381000"/>
            <a:ext cx="6353175" cy="190500"/>
          </a:xfrm>
          <a:prstGeom prst="rect">
            <a:avLst/>
          </a:prstGeom>
          <a:noFill/>
          <a:ln/>
        </p:spPr>
        <p:txBody>
          <a:bodyPr wrap="square" lIns="0" tIns="0" rIns="0" bIns="0" rtlCol="0" anchor="ctr"/>
          <a:lstStyle/>
          <a:p>
            <a:pPr>
              <a:lnSpc>
                <a:spcPct val="120000"/>
              </a:lnSpc>
            </a:pPr>
            <a:r>
              <a:rPr lang="en-US" sz="1050" b="1" spc="53" kern="0" dirty="0">
                <a:solidFill>
                  <a:srgbClr val="10B981"/>
                </a:solidFill>
                <a:latin typeface="MiSans" pitchFamily="34" charset="0"/>
                <a:ea typeface="MiSans" pitchFamily="34" charset="-122"/>
                <a:cs typeface="MiSans" pitchFamily="34" charset="-120"/>
              </a:rPr>
              <a:t>CHƯƠNG 16 | ĐỀ XUẤT</a:t>
            </a:r>
            <a:endParaRPr lang="en-US" sz="1600" dirty="0"/>
          </a:p>
        </p:txBody>
      </p:sp>
      <p:sp>
        <p:nvSpPr>
          <p:cNvPr id="5" name="Text 3"/>
          <p:cNvSpPr/>
          <p:nvPr/>
        </p:nvSpPr>
        <p:spPr>
          <a:xfrm>
            <a:off x="876300" y="571500"/>
            <a:ext cx="6429375" cy="342900"/>
          </a:xfrm>
          <a:prstGeom prst="rect">
            <a:avLst/>
          </a:prstGeom>
          <a:noFill/>
          <a:ln/>
        </p:spPr>
        <p:txBody>
          <a:bodyPr wrap="square" lIns="0" tIns="0" rIns="0" bIns="0" rtlCol="0" anchor="ctr"/>
          <a:lstStyle/>
          <a:p>
            <a:pPr>
              <a:lnSpc>
                <a:spcPct val="100000"/>
              </a:lnSpc>
            </a:pPr>
            <a:r>
              <a:rPr lang="en-US" sz="2250" b="1" dirty="0">
                <a:solidFill>
                  <a:srgbClr val="F1F5F9"/>
                </a:solidFill>
                <a:latin typeface="MiSans" pitchFamily="34" charset="0"/>
                <a:ea typeface="MiSans" pitchFamily="34" charset="-122"/>
                <a:cs typeface="MiSans" pitchFamily="34" charset="-120"/>
              </a:rPr>
              <a:t>Đề xuất triển khai 3 giai đoạn cho doanh nghiệp</a:t>
            </a:r>
            <a:endParaRPr lang="en-US" sz="1600" dirty="0"/>
          </a:p>
        </p:txBody>
      </p:sp>
      <p:sp>
        <p:nvSpPr>
          <p:cNvPr id="6" name="Shape 4"/>
          <p:cNvSpPr/>
          <p:nvPr/>
        </p:nvSpPr>
        <p:spPr>
          <a:xfrm>
            <a:off x="385763" y="1147763"/>
            <a:ext cx="3695700" cy="4391025"/>
          </a:xfrm>
          <a:custGeom>
            <a:avLst/>
            <a:gdLst/>
            <a:ahLst/>
            <a:cxnLst/>
            <a:rect l="l" t="t" r="r" b="b"/>
            <a:pathLst>
              <a:path w="3695700" h="4391025">
                <a:moveTo>
                  <a:pt x="114308" y="0"/>
                </a:moveTo>
                <a:lnTo>
                  <a:pt x="3581392" y="0"/>
                </a:lnTo>
                <a:cubicBezTo>
                  <a:pt x="3644523" y="0"/>
                  <a:pt x="3695700" y="51177"/>
                  <a:pt x="3695700" y="114308"/>
                </a:cubicBezTo>
                <a:lnTo>
                  <a:pt x="3695700" y="4276717"/>
                </a:lnTo>
                <a:cubicBezTo>
                  <a:pt x="3695700" y="4339848"/>
                  <a:pt x="3644523" y="4391025"/>
                  <a:pt x="3581392" y="4391025"/>
                </a:cubicBezTo>
                <a:lnTo>
                  <a:pt x="114308" y="4391025"/>
                </a:lnTo>
                <a:cubicBezTo>
                  <a:pt x="51177" y="4391025"/>
                  <a:pt x="0" y="4339848"/>
                  <a:pt x="0" y="4276717"/>
                </a:cubicBezTo>
                <a:lnTo>
                  <a:pt x="0" y="114308"/>
                </a:lnTo>
                <a:cubicBezTo>
                  <a:pt x="0" y="51220"/>
                  <a:pt x="51220" y="0"/>
                  <a:pt x="114308"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58102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3B82F6"/>
          </a:solidFill>
          <a:ln/>
        </p:spPr>
      </p:sp>
      <p:sp>
        <p:nvSpPr>
          <p:cNvPr id="8" name="Text 6"/>
          <p:cNvSpPr/>
          <p:nvPr/>
        </p:nvSpPr>
        <p:spPr>
          <a:xfrm>
            <a:off x="772120" y="1438275"/>
            <a:ext cx="1714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1152525" y="1343025"/>
            <a:ext cx="177165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Giai đoạn 1</a:t>
            </a:r>
            <a:endParaRPr lang="en-US" sz="1600" dirty="0"/>
          </a:p>
        </p:txBody>
      </p:sp>
      <p:sp>
        <p:nvSpPr>
          <p:cNvPr id="10" name="Text 8"/>
          <p:cNvSpPr/>
          <p:nvPr/>
        </p:nvSpPr>
        <p:spPr>
          <a:xfrm>
            <a:off x="1152525" y="1609725"/>
            <a:ext cx="1752600" cy="190500"/>
          </a:xfrm>
          <a:prstGeom prst="rect">
            <a:avLst/>
          </a:prstGeom>
          <a:noFill/>
          <a:ln/>
        </p:spPr>
        <p:txBody>
          <a:bodyPr wrap="square" lIns="0" tIns="0" rIns="0" bIns="0" rtlCol="0" anchor="ctr"/>
          <a:lstStyle/>
          <a:p>
            <a:pPr>
              <a:lnSpc>
                <a:spcPct val="120000"/>
              </a:lnSpc>
            </a:pPr>
            <a:r>
              <a:rPr lang="en-US" sz="1050" dirty="0">
                <a:solidFill>
                  <a:srgbClr val="3B82F6"/>
                </a:solidFill>
                <a:latin typeface="MiSans" pitchFamily="34" charset="0"/>
                <a:ea typeface="MiSans" pitchFamily="34" charset="-122"/>
                <a:cs typeface="MiSans" pitchFamily="34" charset="-120"/>
              </a:rPr>
              <a:t>Tuần 1-4: Pilot có kiểm soát</a:t>
            </a:r>
            <a:endParaRPr lang="en-US" sz="1600" dirty="0"/>
          </a:p>
        </p:txBody>
      </p:sp>
      <p:sp>
        <p:nvSpPr>
          <p:cNvPr id="11" name="Shape 9"/>
          <p:cNvSpPr/>
          <p:nvPr/>
        </p:nvSpPr>
        <p:spPr>
          <a:xfrm>
            <a:off x="581025" y="19526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12" name="Shape 10"/>
          <p:cNvSpPr/>
          <p:nvPr/>
        </p:nvSpPr>
        <p:spPr>
          <a:xfrm>
            <a:off x="714375" y="21050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3B82F6"/>
          </a:solidFill>
          <a:ln/>
        </p:spPr>
      </p:sp>
      <p:sp>
        <p:nvSpPr>
          <p:cNvPr id="13" name="Text 11"/>
          <p:cNvSpPr/>
          <p:nvPr/>
        </p:nvSpPr>
        <p:spPr>
          <a:xfrm>
            <a:off x="962025" y="2066925"/>
            <a:ext cx="20383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Chọn 1 dự án nội bộ quy mô vừa</a:t>
            </a:r>
            <a:endParaRPr lang="en-US" sz="1600" dirty="0"/>
          </a:p>
        </p:txBody>
      </p:sp>
      <p:sp>
        <p:nvSpPr>
          <p:cNvPr id="14" name="Shape 12"/>
          <p:cNvSpPr/>
          <p:nvPr/>
        </p:nvSpPr>
        <p:spPr>
          <a:xfrm>
            <a:off x="581025" y="24860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15" name="Shape 13"/>
          <p:cNvSpPr/>
          <p:nvPr/>
        </p:nvSpPr>
        <p:spPr>
          <a:xfrm>
            <a:off x="714375" y="26384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3B82F6"/>
          </a:solidFill>
          <a:ln/>
        </p:spPr>
      </p:sp>
      <p:sp>
        <p:nvSpPr>
          <p:cNvPr id="16" name="Text 14"/>
          <p:cNvSpPr/>
          <p:nvPr/>
        </p:nvSpPr>
        <p:spPr>
          <a:xfrm>
            <a:off x="962025" y="2600325"/>
            <a:ext cx="262890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Áp dụng GenAI cho construction + testing</a:t>
            </a:r>
            <a:endParaRPr lang="en-US" sz="1600" dirty="0"/>
          </a:p>
        </p:txBody>
      </p:sp>
      <p:sp>
        <p:nvSpPr>
          <p:cNvPr id="17" name="Shape 15"/>
          <p:cNvSpPr/>
          <p:nvPr/>
        </p:nvSpPr>
        <p:spPr>
          <a:xfrm>
            <a:off x="581025" y="301942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18" name="Shape 16"/>
          <p:cNvSpPr/>
          <p:nvPr/>
        </p:nvSpPr>
        <p:spPr>
          <a:xfrm>
            <a:off x="695325" y="31718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3B82F6"/>
          </a:solidFill>
          <a:ln/>
        </p:spPr>
      </p:sp>
      <p:sp>
        <p:nvSpPr>
          <p:cNvPr id="19" name="Text 17"/>
          <p:cNvSpPr/>
          <p:nvPr/>
        </p:nvSpPr>
        <p:spPr>
          <a:xfrm>
            <a:off x="924223" y="3133725"/>
            <a:ext cx="291465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Đặt baseline metric: lead time, defect density, review time</a:t>
            </a:r>
            <a:endParaRPr lang="en-US" sz="1600" dirty="0"/>
          </a:p>
        </p:txBody>
      </p:sp>
      <p:sp>
        <p:nvSpPr>
          <p:cNvPr id="20" name="Shape 18"/>
          <p:cNvSpPr/>
          <p:nvPr/>
        </p:nvSpPr>
        <p:spPr>
          <a:xfrm>
            <a:off x="581025" y="4962525"/>
            <a:ext cx="3305175" cy="381000"/>
          </a:xfrm>
          <a:custGeom>
            <a:avLst/>
            <a:gdLst/>
            <a:ahLst/>
            <a:cxnLst/>
            <a:rect l="l" t="t" r="r" b="b"/>
            <a:pathLst>
              <a:path w="3305175" h="381000">
                <a:moveTo>
                  <a:pt x="76200" y="0"/>
                </a:moveTo>
                <a:lnTo>
                  <a:pt x="3228975" y="0"/>
                </a:lnTo>
                <a:cubicBezTo>
                  <a:pt x="3271031" y="0"/>
                  <a:pt x="3305175" y="34144"/>
                  <a:pt x="3305175" y="76200"/>
                </a:cubicBezTo>
                <a:lnTo>
                  <a:pt x="3305175" y="304800"/>
                </a:lnTo>
                <a:cubicBezTo>
                  <a:pt x="3305175" y="346856"/>
                  <a:pt x="3271031" y="381000"/>
                  <a:pt x="3228975" y="381000"/>
                </a:cubicBezTo>
                <a:lnTo>
                  <a:pt x="76200" y="381000"/>
                </a:lnTo>
                <a:cubicBezTo>
                  <a:pt x="34144" y="381000"/>
                  <a:pt x="0" y="346856"/>
                  <a:pt x="0" y="304800"/>
                </a:cubicBezTo>
                <a:lnTo>
                  <a:pt x="0" y="76200"/>
                </a:lnTo>
                <a:cubicBezTo>
                  <a:pt x="0" y="34144"/>
                  <a:pt x="34144" y="0"/>
                  <a:pt x="76200" y="0"/>
                </a:cubicBezTo>
                <a:close/>
              </a:path>
            </a:pathLst>
          </a:custGeom>
          <a:solidFill>
            <a:srgbClr val="0F172A"/>
          </a:solidFill>
          <a:ln/>
        </p:spPr>
      </p:sp>
      <p:sp>
        <p:nvSpPr>
          <p:cNvPr id="21" name="Shape 19"/>
          <p:cNvSpPr/>
          <p:nvPr/>
        </p:nvSpPr>
        <p:spPr>
          <a:xfrm>
            <a:off x="709613" y="5105400"/>
            <a:ext cx="114300" cy="114300"/>
          </a:xfrm>
          <a:custGeom>
            <a:avLst/>
            <a:gdLst/>
            <a:ahLst/>
            <a:cxnLst/>
            <a:rect l="l" t="t" r="r" b="b"/>
            <a:pathLst>
              <a:path w="114300" h="114300">
                <a:moveTo>
                  <a:pt x="57150" y="114300"/>
                </a:moveTo>
                <a:cubicBezTo>
                  <a:pt x="88692" y="114300"/>
                  <a:pt x="114300" y="88692"/>
                  <a:pt x="114300" y="57150"/>
                </a:cubicBezTo>
                <a:cubicBezTo>
                  <a:pt x="114300" y="25608"/>
                  <a:pt x="88692" y="0"/>
                  <a:pt x="57150" y="0"/>
                </a:cubicBezTo>
                <a:cubicBezTo>
                  <a:pt x="25608" y="0"/>
                  <a:pt x="0" y="25608"/>
                  <a:pt x="0" y="57150"/>
                </a:cubicBezTo>
                <a:cubicBezTo>
                  <a:pt x="0" y="88692"/>
                  <a:pt x="25608" y="114300"/>
                  <a:pt x="57150" y="114300"/>
                </a:cubicBezTo>
                <a:close/>
                <a:moveTo>
                  <a:pt x="50006" y="35719"/>
                </a:moveTo>
                <a:cubicBezTo>
                  <a:pt x="50006" y="31776"/>
                  <a:pt x="53207" y="28575"/>
                  <a:pt x="57150" y="28575"/>
                </a:cubicBezTo>
                <a:cubicBezTo>
                  <a:pt x="61093" y="28575"/>
                  <a:pt x="64294" y="31776"/>
                  <a:pt x="64294" y="35719"/>
                </a:cubicBezTo>
                <a:cubicBezTo>
                  <a:pt x="64294" y="39661"/>
                  <a:pt x="61093" y="42863"/>
                  <a:pt x="57150" y="42863"/>
                </a:cubicBezTo>
                <a:cubicBezTo>
                  <a:pt x="53207" y="42863"/>
                  <a:pt x="50006" y="39661"/>
                  <a:pt x="50006" y="35719"/>
                </a:cubicBezTo>
                <a:close/>
                <a:moveTo>
                  <a:pt x="48220" y="50006"/>
                </a:moveTo>
                <a:lnTo>
                  <a:pt x="58936" y="50006"/>
                </a:lnTo>
                <a:cubicBezTo>
                  <a:pt x="61905" y="50006"/>
                  <a:pt x="64294" y="52395"/>
                  <a:pt x="64294" y="55364"/>
                </a:cubicBezTo>
                <a:lnTo>
                  <a:pt x="64294" y="75009"/>
                </a:lnTo>
                <a:lnTo>
                  <a:pt x="66080" y="75009"/>
                </a:lnTo>
                <a:cubicBezTo>
                  <a:pt x="69049" y="75009"/>
                  <a:pt x="71438" y="77398"/>
                  <a:pt x="71438" y="80367"/>
                </a:cubicBezTo>
                <a:cubicBezTo>
                  <a:pt x="71438" y="83336"/>
                  <a:pt x="69049" y="85725"/>
                  <a:pt x="66080" y="85725"/>
                </a:cubicBezTo>
                <a:lnTo>
                  <a:pt x="48220" y="85725"/>
                </a:lnTo>
                <a:cubicBezTo>
                  <a:pt x="45251" y="85725"/>
                  <a:pt x="42863" y="83336"/>
                  <a:pt x="42863" y="80367"/>
                </a:cubicBezTo>
                <a:cubicBezTo>
                  <a:pt x="42863" y="77398"/>
                  <a:pt x="45251" y="75009"/>
                  <a:pt x="48220" y="75009"/>
                </a:cubicBezTo>
                <a:lnTo>
                  <a:pt x="53578" y="75009"/>
                </a:lnTo>
                <a:lnTo>
                  <a:pt x="53578" y="60722"/>
                </a:lnTo>
                <a:lnTo>
                  <a:pt x="48220" y="60722"/>
                </a:lnTo>
                <a:cubicBezTo>
                  <a:pt x="45251" y="60722"/>
                  <a:pt x="42863" y="58333"/>
                  <a:pt x="42863" y="55364"/>
                </a:cubicBezTo>
                <a:cubicBezTo>
                  <a:pt x="42863" y="52395"/>
                  <a:pt x="45251" y="50006"/>
                  <a:pt x="48220" y="50006"/>
                </a:cubicBezTo>
                <a:close/>
              </a:path>
            </a:pathLst>
          </a:custGeom>
          <a:solidFill>
            <a:srgbClr val="3B82F6"/>
          </a:solidFill>
          <a:ln/>
        </p:spPr>
      </p:sp>
      <p:sp>
        <p:nvSpPr>
          <p:cNvPr id="22" name="Text 20"/>
          <p:cNvSpPr/>
          <p:nvPr/>
        </p:nvSpPr>
        <p:spPr>
          <a:xfrm>
            <a:off x="895350" y="5076825"/>
            <a:ext cx="29337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Mục tiêu: Đánh giá hiệu quả thực tế</a:t>
            </a:r>
            <a:endParaRPr lang="en-US" sz="1600" dirty="0"/>
          </a:p>
        </p:txBody>
      </p:sp>
      <p:sp>
        <p:nvSpPr>
          <p:cNvPr id="23" name="Shape 21"/>
          <p:cNvSpPr/>
          <p:nvPr/>
        </p:nvSpPr>
        <p:spPr>
          <a:xfrm>
            <a:off x="4246513" y="1147763"/>
            <a:ext cx="3695700" cy="4391025"/>
          </a:xfrm>
          <a:custGeom>
            <a:avLst/>
            <a:gdLst/>
            <a:ahLst/>
            <a:cxnLst/>
            <a:rect l="l" t="t" r="r" b="b"/>
            <a:pathLst>
              <a:path w="3695700" h="4391025">
                <a:moveTo>
                  <a:pt x="114308" y="0"/>
                </a:moveTo>
                <a:lnTo>
                  <a:pt x="3581392" y="0"/>
                </a:lnTo>
                <a:cubicBezTo>
                  <a:pt x="3644523" y="0"/>
                  <a:pt x="3695700" y="51177"/>
                  <a:pt x="3695700" y="114308"/>
                </a:cubicBezTo>
                <a:lnTo>
                  <a:pt x="3695700" y="4276717"/>
                </a:lnTo>
                <a:cubicBezTo>
                  <a:pt x="3695700" y="4339848"/>
                  <a:pt x="3644523" y="4391025"/>
                  <a:pt x="3581392" y="4391025"/>
                </a:cubicBezTo>
                <a:lnTo>
                  <a:pt x="114308" y="4391025"/>
                </a:lnTo>
                <a:cubicBezTo>
                  <a:pt x="51177" y="4391025"/>
                  <a:pt x="0" y="4339848"/>
                  <a:pt x="0" y="4276717"/>
                </a:cubicBezTo>
                <a:lnTo>
                  <a:pt x="0" y="114308"/>
                </a:lnTo>
                <a:cubicBezTo>
                  <a:pt x="0" y="51220"/>
                  <a:pt x="51220" y="0"/>
                  <a:pt x="114308" y="0"/>
                </a:cubicBezTo>
                <a:close/>
              </a:path>
            </a:pathLst>
          </a:custGeom>
          <a:gradFill rotWithShape="1" flip="none">
            <a:gsLst>
              <a:gs pos="0">
                <a:srgbClr val="8B5CF6">
                  <a:alpha val="10000"/>
                </a:srgbClr>
              </a:gs>
              <a:gs pos="100000">
                <a:srgbClr val="8B5CF6">
                  <a:alpha val="5000"/>
                </a:srgbClr>
              </a:gs>
            </a:gsLst>
            <a:lin ang="2700000" scaled="1"/>
          </a:gradFill>
          <a:ln w="12700">
            <a:solidFill>
              <a:srgbClr val="8B5CF6">
                <a:alpha val="30196"/>
              </a:srgbClr>
            </a:solidFill>
            <a:prstDash val="solid"/>
          </a:ln>
        </p:spPr>
      </p:sp>
      <p:sp>
        <p:nvSpPr>
          <p:cNvPr id="24" name="Shape 22"/>
          <p:cNvSpPr/>
          <p:nvPr/>
        </p:nvSpPr>
        <p:spPr>
          <a:xfrm>
            <a:off x="4441775"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8B5CF6"/>
          </a:solidFill>
          <a:ln/>
        </p:spPr>
      </p:sp>
      <p:sp>
        <p:nvSpPr>
          <p:cNvPr id="25" name="Text 23"/>
          <p:cNvSpPr/>
          <p:nvPr/>
        </p:nvSpPr>
        <p:spPr>
          <a:xfrm>
            <a:off x="4616797" y="1438275"/>
            <a:ext cx="200025"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2</a:t>
            </a:r>
            <a:endParaRPr lang="en-US" sz="1600" dirty="0"/>
          </a:p>
        </p:txBody>
      </p:sp>
      <p:sp>
        <p:nvSpPr>
          <p:cNvPr id="26" name="Text 24"/>
          <p:cNvSpPr/>
          <p:nvPr/>
        </p:nvSpPr>
        <p:spPr>
          <a:xfrm>
            <a:off x="5013275" y="1343025"/>
            <a:ext cx="196215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Giai đoạn 2</a:t>
            </a:r>
            <a:endParaRPr lang="en-US" sz="1600" dirty="0"/>
          </a:p>
        </p:txBody>
      </p:sp>
      <p:sp>
        <p:nvSpPr>
          <p:cNvPr id="27" name="Text 25"/>
          <p:cNvSpPr/>
          <p:nvPr/>
        </p:nvSpPr>
        <p:spPr>
          <a:xfrm>
            <a:off x="5013275" y="1609725"/>
            <a:ext cx="1943100" cy="190500"/>
          </a:xfrm>
          <a:prstGeom prst="rect">
            <a:avLst/>
          </a:prstGeom>
          <a:noFill/>
          <a:ln/>
        </p:spPr>
        <p:txBody>
          <a:bodyPr wrap="square" lIns="0" tIns="0" rIns="0" bIns="0" rtlCol="0" anchor="ctr"/>
          <a:lstStyle/>
          <a:p>
            <a:pPr>
              <a:lnSpc>
                <a:spcPct val="120000"/>
              </a:lnSpc>
            </a:pPr>
            <a:r>
              <a:rPr lang="en-US" sz="1050" dirty="0">
                <a:solidFill>
                  <a:srgbClr val="8B5CF6"/>
                </a:solidFill>
                <a:latin typeface="MiSans" pitchFamily="34" charset="0"/>
                <a:ea typeface="MiSans" pitchFamily="34" charset="-122"/>
                <a:cs typeface="MiSans" pitchFamily="34" charset="-120"/>
              </a:rPr>
              <a:t>Tuần 5-8: Chuẩn hóa quy trình</a:t>
            </a:r>
            <a:endParaRPr lang="en-US" sz="1600" dirty="0"/>
          </a:p>
        </p:txBody>
      </p:sp>
      <p:sp>
        <p:nvSpPr>
          <p:cNvPr id="28" name="Shape 26"/>
          <p:cNvSpPr/>
          <p:nvPr/>
        </p:nvSpPr>
        <p:spPr>
          <a:xfrm>
            <a:off x="4441775" y="195262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29" name="Shape 27"/>
          <p:cNvSpPr/>
          <p:nvPr/>
        </p:nvSpPr>
        <p:spPr>
          <a:xfrm>
            <a:off x="4546550" y="21050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8B5CF6"/>
          </a:solidFill>
          <a:ln/>
        </p:spPr>
      </p:sp>
      <p:sp>
        <p:nvSpPr>
          <p:cNvPr id="30" name="Text 28"/>
          <p:cNvSpPr/>
          <p:nvPr/>
        </p:nvSpPr>
        <p:spPr>
          <a:xfrm>
            <a:off x="4763095" y="2066925"/>
            <a:ext cx="29432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Ban hành prompt guideline và coding standard cho AI-assisted code</a:t>
            </a:r>
            <a:endParaRPr lang="en-US" sz="1600" dirty="0"/>
          </a:p>
        </p:txBody>
      </p:sp>
      <p:sp>
        <p:nvSpPr>
          <p:cNvPr id="31" name="Shape 29"/>
          <p:cNvSpPr/>
          <p:nvPr/>
        </p:nvSpPr>
        <p:spPr>
          <a:xfrm>
            <a:off x="4441775" y="26765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32" name="Shape 30"/>
          <p:cNvSpPr/>
          <p:nvPr/>
        </p:nvSpPr>
        <p:spPr>
          <a:xfrm>
            <a:off x="4575125" y="28289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8B5CF6"/>
          </a:solidFill>
          <a:ln/>
        </p:spPr>
      </p:sp>
      <p:sp>
        <p:nvSpPr>
          <p:cNvPr id="33" name="Text 31"/>
          <p:cNvSpPr/>
          <p:nvPr/>
        </p:nvSpPr>
        <p:spPr>
          <a:xfrm>
            <a:off x="4822775" y="2790825"/>
            <a:ext cx="2076450"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Thêm audit trail vào PR template</a:t>
            </a:r>
            <a:endParaRPr lang="en-US" sz="1600" dirty="0"/>
          </a:p>
        </p:txBody>
      </p:sp>
      <p:sp>
        <p:nvSpPr>
          <p:cNvPr id="34" name="Shape 32"/>
          <p:cNvSpPr/>
          <p:nvPr/>
        </p:nvSpPr>
        <p:spPr>
          <a:xfrm>
            <a:off x="4441775" y="320992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35" name="Shape 33"/>
          <p:cNvSpPr/>
          <p:nvPr/>
        </p:nvSpPr>
        <p:spPr>
          <a:xfrm>
            <a:off x="4546550" y="33623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8B5CF6"/>
          </a:solidFill>
          <a:ln/>
        </p:spPr>
      </p:sp>
      <p:sp>
        <p:nvSpPr>
          <p:cNvPr id="36" name="Text 34"/>
          <p:cNvSpPr/>
          <p:nvPr/>
        </p:nvSpPr>
        <p:spPr>
          <a:xfrm>
            <a:off x="4762202" y="3324225"/>
            <a:ext cx="2943225"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Đào tạo senior dev về architecture review cho AI-generated changes</a:t>
            </a:r>
            <a:endParaRPr lang="en-US" sz="1600" dirty="0"/>
          </a:p>
        </p:txBody>
      </p:sp>
      <p:sp>
        <p:nvSpPr>
          <p:cNvPr id="37" name="Shape 35"/>
          <p:cNvSpPr/>
          <p:nvPr/>
        </p:nvSpPr>
        <p:spPr>
          <a:xfrm>
            <a:off x="4441775" y="4962525"/>
            <a:ext cx="3305175" cy="381000"/>
          </a:xfrm>
          <a:custGeom>
            <a:avLst/>
            <a:gdLst/>
            <a:ahLst/>
            <a:cxnLst/>
            <a:rect l="l" t="t" r="r" b="b"/>
            <a:pathLst>
              <a:path w="3305175" h="381000">
                <a:moveTo>
                  <a:pt x="76200" y="0"/>
                </a:moveTo>
                <a:lnTo>
                  <a:pt x="3228975" y="0"/>
                </a:lnTo>
                <a:cubicBezTo>
                  <a:pt x="3271031" y="0"/>
                  <a:pt x="3305175" y="34144"/>
                  <a:pt x="3305175" y="76200"/>
                </a:cubicBezTo>
                <a:lnTo>
                  <a:pt x="3305175" y="304800"/>
                </a:lnTo>
                <a:cubicBezTo>
                  <a:pt x="3305175" y="346856"/>
                  <a:pt x="3271031" y="381000"/>
                  <a:pt x="3228975" y="381000"/>
                </a:cubicBezTo>
                <a:lnTo>
                  <a:pt x="76200" y="381000"/>
                </a:lnTo>
                <a:cubicBezTo>
                  <a:pt x="34144" y="381000"/>
                  <a:pt x="0" y="346856"/>
                  <a:pt x="0" y="304800"/>
                </a:cubicBezTo>
                <a:lnTo>
                  <a:pt x="0" y="76200"/>
                </a:lnTo>
                <a:cubicBezTo>
                  <a:pt x="0" y="34144"/>
                  <a:pt x="34144" y="0"/>
                  <a:pt x="76200" y="0"/>
                </a:cubicBezTo>
                <a:close/>
              </a:path>
            </a:pathLst>
          </a:custGeom>
          <a:solidFill>
            <a:srgbClr val="0F172A"/>
          </a:solidFill>
          <a:ln/>
        </p:spPr>
      </p:sp>
      <p:sp>
        <p:nvSpPr>
          <p:cNvPr id="38" name="Shape 36"/>
          <p:cNvSpPr/>
          <p:nvPr/>
        </p:nvSpPr>
        <p:spPr>
          <a:xfrm>
            <a:off x="4570363" y="5105400"/>
            <a:ext cx="114300" cy="114300"/>
          </a:xfrm>
          <a:custGeom>
            <a:avLst/>
            <a:gdLst/>
            <a:ahLst/>
            <a:cxnLst/>
            <a:rect l="l" t="t" r="r" b="b"/>
            <a:pathLst>
              <a:path w="114300" h="114300">
                <a:moveTo>
                  <a:pt x="57150" y="114300"/>
                </a:moveTo>
                <a:cubicBezTo>
                  <a:pt x="88692" y="114300"/>
                  <a:pt x="114300" y="88692"/>
                  <a:pt x="114300" y="57150"/>
                </a:cubicBezTo>
                <a:cubicBezTo>
                  <a:pt x="114300" y="25608"/>
                  <a:pt x="88692" y="0"/>
                  <a:pt x="57150" y="0"/>
                </a:cubicBezTo>
                <a:cubicBezTo>
                  <a:pt x="25608" y="0"/>
                  <a:pt x="0" y="25608"/>
                  <a:pt x="0" y="57150"/>
                </a:cubicBezTo>
                <a:cubicBezTo>
                  <a:pt x="0" y="88692"/>
                  <a:pt x="25608" y="114300"/>
                  <a:pt x="57150" y="114300"/>
                </a:cubicBezTo>
                <a:close/>
                <a:moveTo>
                  <a:pt x="50006" y="35719"/>
                </a:moveTo>
                <a:cubicBezTo>
                  <a:pt x="50006" y="31776"/>
                  <a:pt x="53207" y="28575"/>
                  <a:pt x="57150" y="28575"/>
                </a:cubicBezTo>
                <a:cubicBezTo>
                  <a:pt x="61093" y="28575"/>
                  <a:pt x="64294" y="31776"/>
                  <a:pt x="64294" y="35719"/>
                </a:cubicBezTo>
                <a:cubicBezTo>
                  <a:pt x="64294" y="39661"/>
                  <a:pt x="61093" y="42863"/>
                  <a:pt x="57150" y="42863"/>
                </a:cubicBezTo>
                <a:cubicBezTo>
                  <a:pt x="53207" y="42863"/>
                  <a:pt x="50006" y="39661"/>
                  <a:pt x="50006" y="35719"/>
                </a:cubicBezTo>
                <a:close/>
                <a:moveTo>
                  <a:pt x="48220" y="50006"/>
                </a:moveTo>
                <a:lnTo>
                  <a:pt x="58936" y="50006"/>
                </a:lnTo>
                <a:cubicBezTo>
                  <a:pt x="61905" y="50006"/>
                  <a:pt x="64294" y="52395"/>
                  <a:pt x="64294" y="55364"/>
                </a:cubicBezTo>
                <a:lnTo>
                  <a:pt x="64294" y="75009"/>
                </a:lnTo>
                <a:lnTo>
                  <a:pt x="66080" y="75009"/>
                </a:lnTo>
                <a:cubicBezTo>
                  <a:pt x="69049" y="75009"/>
                  <a:pt x="71438" y="77398"/>
                  <a:pt x="71438" y="80367"/>
                </a:cubicBezTo>
                <a:cubicBezTo>
                  <a:pt x="71438" y="83336"/>
                  <a:pt x="69049" y="85725"/>
                  <a:pt x="66080" y="85725"/>
                </a:cubicBezTo>
                <a:lnTo>
                  <a:pt x="48220" y="85725"/>
                </a:lnTo>
                <a:cubicBezTo>
                  <a:pt x="45251" y="85725"/>
                  <a:pt x="42863" y="83336"/>
                  <a:pt x="42863" y="80367"/>
                </a:cubicBezTo>
                <a:cubicBezTo>
                  <a:pt x="42863" y="77398"/>
                  <a:pt x="45251" y="75009"/>
                  <a:pt x="48220" y="75009"/>
                </a:cubicBezTo>
                <a:lnTo>
                  <a:pt x="53578" y="75009"/>
                </a:lnTo>
                <a:lnTo>
                  <a:pt x="53578" y="60722"/>
                </a:lnTo>
                <a:lnTo>
                  <a:pt x="48220" y="60722"/>
                </a:lnTo>
                <a:cubicBezTo>
                  <a:pt x="45251" y="60722"/>
                  <a:pt x="42863" y="58333"/>
                  <a:pt x="42863" y="55364"/>
                </a:cubicBezTo>
                <a:cubicBezTo>
                  <a:pt x="42863" y="52395"/>
                  <a:pt x="45251" y="50006"/>
                  <a:pt x="48220" y="50006"/>
                </a:cubicBezTo>
                <a:close/>
              </a:path>
            </a:pathLst>
          </a:custGeom>
          <a:solidFill>
            <a:srgbClr val="8B5CF6"/>
          </a:solidFill>
          <a:ln/>
        </p:spPr>
      </p:sp>
      <p:sp>
        <p:nvSpPr>
          <p:cNvPr id="39" name="Text 37"/>
          <p:cNvSpPr/>
          <p:nvPr/>
        </p:nvSpPr>
        <p:spPr>
          <a:xfrm>
            <a:off x="4756100" y="5076825"/>
            <a:ext cx="29337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Mục tiêu: Xây dựng quy trình bền vững</a:t>
            </a:r>
            <a:endParaRPr lang="en-US" sz="1600" dirty="0"/>
          </a:p>
        </p:txBody>
      </p:sp>
      <p:sp>
        <p:nvSpPr>
          <p:cNvPr id="40" name="Shape 38"/>
          <p:cNvSpPr/>
          <p:nvPr/>
        </p:nvSpPr>
        <p:spPr>
          <a:xfrm>
            <a:off x="8107263" y="1147763"/>
            <a:ext cx="3695700" cy="4391025"/>
          </a:xfrm>
          <a:custGeom>
            <a:avLst/>
            <a:gdLst/>
            <a:ahLst/>
            <a:cxnLst/>
            <a:rect l="l" t="t" r="r" b="b"/>
            <a:pathLst>
              <a:path w="3695700" h="4391025">
                <a:moveTo>
                  <a:pt x="114308" y="0"/>
                </a:moveTo>
                <a:lnTo>
                  <a:pt x="3581392" y="0"/>
                </a:lnTo>
                <a:cubicBezTo>
                  <a:pt x="3644523" y="0"/>
                  <a:pt x="3695700" y="51177"/>
                  <a:pt x="3695700" y="114308"/>
                </a:cubicBezTo>
                <a:lnTo>
                  <a:pt x="3695700" y="4276717"/>
                </a:lnTo>
                <a:cubicBezTo>
                  <a:pt x="3695700" y="4339848"/>
                  <a:pt x="3644523" y="4391025"/>
                  <a:pt x="3581392" y="4391025"/>
                </a:cubicBezTo>
                <a:lnTo>
                  <a:pt x="114308" y="4391025"/>
                </a:lnTo>
                <a:cubicBezTo>
                  <a:pt x="51177" y="4391025"/>
                  <a:pt x="0" y="4339848"/>
                  <a:pt x="0" y="4276717"/>
                </a:cubicBezTo>
                <a:lnTo>
                  <a:pt x="0" y="114308"/>
                </a:lnTo>
                <a:cubicBezTo>
                  <a:pt x="0" y="51220"/>
                  <a:pt x="51220" y="0"/>
                  <a:pt x="114308"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41" name="Shape 39"/>
          <p:cNvSpPr/>
          <p:nvPr/>
        </p:nvSpPr>
        <p:spPr>
          <a:xfrm>
            <a:off x="8302526" y="1343025"/>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10B981"/>
          </a:solidFill>
          <a:ln/>
        </p:spPr>
      </p:sp>
      <p:sp>
        <p:nvSpPr>
          <p:cNvPr id="42" name="Text 40"/>
          <p:cNvSpPr/>
          <p:nvPr/>
        </p:nvSpPr>
        <p:spPr>
          <a:xfrm>
            <a:off x="8475018" y="1438275"/>
            <a:ext cx="209550" cy="266700"/>
          </a:xfrm>
          <a:prstGeom prst="rect">
            <a:avLst/>
          </a:prstGeom>
          <a:noFill/>
          <a:ln/>
        </p:spPr>
        <p:txBody>
          <a:bodyPr wrap="square" lIns="0" tIns="0" rIns="0" bIns="0" rtlCol="0" anchor="ctr"/>
          <a:lstStyle/>
          <a:p>
            <a:pPr>
              <a:lnSpc>
                <a:spcPct val="120000"/>
              </a:lnSpc>
            </a:pPr>
            <a:r>
              <a:rPr lang="en-US" sz="1500" b="1" dirty="0">
                <a:solidFill>
                  <a:srgbClr val="FFFFFF"/>
                </a:solidFill>
                <a:latin typeface="MiSans" pitchFamily="34" charset="0"/>
                <a:ea typeface="MiSans" pitchFamily="34" charset="-122"/>
                <a:cs typeface="MiSans" pitchFamily="34" charset="-120"/>
              </a:rPr>
              <a:t>3</a:t>
            </a:r>
            <a:endParaRPr lang="en-US" sz="1600" dirty="0"/>
          </a:p>
        </p:txBody>
      </p:sp>
      <p:sp>
        <p:nvSpPr>
          <p:cNvPr id="43" name="Text 41"/>
          <p:cNvSpPr/>
          <p:nvPr/>
        </p:nvSpPr>
        <p:spPr>
          <a:xfrm>
            <a:off x="8874026" y="1343025"/>
            <a:ext cx="2057400" cy="266700"/>
          </a:xfrm>
          <a:prstGeom prst="rect">
            <a:avLst/>
          </a:prstGeom>
          <a:noFill/>
          <a:ln/>
        </p:spPr>
        <p:txBody>
          <a:bodyPr wrap="square" lIns="0" tIns="0" rIns="0" bIns="0" rtlCol="0" anchor="ctr"/>
          <a:lstStyle/>
          <a:p>
            <a:pPr>
              <a:lnSpc>
                <a:spcPct val="130000"/>
              </a:lnSpc>
            </a:pPr>
            <a:r>
              <a:rPr lang="en-US" sz="1350" b="1" dirty="0">
                <a:solidFill>
                  <a:srgbClr val="F1F5F9"/>
                </a:solidFill>
                <a:latin typeface="MiSans" pitchFamily="34" charset="0"/>
                <a:ea typeface="MiSans" pitchFamily="34" charset="-122"/>
                <a:cs typeface="MiSans" pitchFamily="34" charset="-120"/>
              </a:rPr>
              <a:t>Giai đoạn 3</a:t>
            </a:r>
            <a:endParaRPr lang="en-US" sz="1600" dirty="0"/>
          </a:p>
        </p:txBody>
      </p:sp>
      <p:sp>
        <p:nvSpPr>
          <p:cNvPr id="44" name="Text 42"/>
          <p:cNvSpPr/>
          <p:nvPr/>
        </p:nvSpPr>
        <p:spPr>
          <a:xfrm>
            <a:off x="8874026" y="1609725"/>
            <a:ext cx="2038350" cy="190500"/>
          </a:xfrm>
          <a:prstGeom prst="rect">
            <a:avLst/>
          </a:prstGeom>
          <a:noFill/>
          <a:ln/>
        </p:spPr>
        <p:txBody>
          <a:bodyPr wrap="square" lIns="0" tIns="0" rIns="0" bIns="0" rtlCol="0" anchor="ctr"/>
          <a:lstStyle/>
          <a:p>
            <a:pPr>
              <a:lnSpc>
                <a:spcPct val="120000"/>
              </a:lnSpc>
            </a:pPr>
            <a:r>
              <a:rPr lang="en-US" sz="1050" dirty="0">
                <a:solidFill>
                  <a:srgbClr val="10B981"/>
                </a:solidFill>
                <a:latin typeface="MiSans" pitchFamily="34" charset="0"/>
                <a:ea typeface="MiSans" pitchFamily="34" charset="-122"/>
                <a:cs typeface="MiSans" pitchFamily="34" charset="-120"/>
              </a:rPr>
              <a:t>Tuần 9-12: Mở rộng có điều kiện</a:t>
            </a:r>
            <a:endParaRPr lang="en-US" sz="1600" dirty="0"/>
          </a:p>
        </p:txBody>
      </p:sp>
      <p:sp>
        <p:nvSpPr>
          <p:cNvPr id="45" name="Shape 43"/>
          <p:cNvSpPr/>
          <p:nvPr/>
        </p:nvSpPr>
        <p:spPr>
          <a:xfrm>
            <a:off x="8302526" y="19526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46" name="Shape 44"/>
          <p:cNvSpPr/>
          <p:nvPr/>
        </p:nvSpPr>
        <p:spPr>
          <a:xfrm>
            <a:off x="8435876" y="21050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47" name="Text 45"/>
          <p:cNvSpPr/>
          <p:nvPr/>
        </p:nvSpPr>
        <p:spPr>
          <a:xfrm>
            <a:off x="8683526" y="2066925"/>
            <a:ext cx="18383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Mở rộng sang 2-3 team khác</a:t>
            </a:r>
            <a:endParaRPr lang="en-US" sz="1600" dirty="0"/>
          </a:p>
        </p:txBody>
      </p:sp>
      <p:sp>
        <p:nvSpPr>
          <p:cNvPr id="48" name="Shape 46"/>
          <p:cNvSpPr/>
          <p:nvPr/>
        </p:nvSpPr>
        <p:spPr>
          <a:xfrm>
            <a:off x="8302526" y="2486025"/>
            <a:ext cx="3305175" cy="419100"/>
          </a:xfrm>
          <a:custGeom>
            <a:avLst/>
            <a:gdLst/>
            <a:ahLst/>
            <a:cxnLst/>
            <a:rect l="l" t="t" r="r" b="b"/>
            <a:pathLst>
              <a:path w="3305175" h="419100">
                <a:moveTo>
                  <a:pt x="76201" y="0"/>
                </a:moveTo>
                <a:lnTo>
                  <a:pt x="3228974" y="0"/>
                </a:lnTo>
                <a:cubicBezTo>
                  <a:pt x="3271059" y="0"/>
                  <a:pt x="3305175" y="34116"/>
                  <a:pt x="3305175" y="76201"/>
                </a:cubicBezTo>
                <a:lnTo>
                  <a:pt x="3305175" y="342899"/>
                </a:lnTo>
                <a:cubicBezTo>
                  <a:pt x="3305175" y="384984"/>
                  <a:pt x="3271059" y="419100"/>
                  <a:pt x="3228974" y="419100"/>
                </a:cubicBezTo>
                <a:lnTo>
                  <a:pt x="76201" y="419100"/>
                </a:lnTo>
                <a:cubicBezTo>
                  <a:pt x="34116" y="419100"/>
                  <a:pt x="0" y="384984"/>
                  <a:pt x="0" y="342899"/>
                </a:cubicBezTo>
                <a:lnTo>
                  <a:pt x="0" y="76201"/>
                </a:lnTo>
                <a:cubicBezTo>
                  <a:pt x="0" y="34144"/>
                  <a:pt x="34144" y="0"/>
                  <a:pt x="76201" y="0"/>
                </a:cubicBezTo>
                <a:close/>
              </a:path>
            </a:pathLst>
          </a:custGeom>
          <a:solidFill>
            <a:srgbClr val="0F172A"/>
          </a:solidFill>
          <a:ln/>
        </p:spPr>
      </p:sp>
      <p:sp>
        <p:nvSpPr>
          <p:cNvPr id="49" name="Shape 47"/>
          <p:cNvSpPr/>
          <p:nvPr/>
        </p:nvSpPr>
        <p:spPr>
          <a:xfrm>
            <a:off x="8435876" y="26384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0" name="Text 48"/>
          <p:cNvSpPr/>
          <p:nvPr/>
        </p:nvSpPr>
        <p:spPr>
          <a:xfrm>
            <a:off x="8683526" y="2600325"/>
            <a:ext cx="2143125" cy="1905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Theo dõi ROI và rủi ro compliance</a:t>
            </a:r>
            <a:endParaRPr lang="en-US" sz="1600" dirty="0"/>
          </a:p>
        </p:txBody>
      </p:sp>
      <p:sp>
        <p:nvSpPr>
          <p:cNvPr id="51" name="Shape 49"/>
          <p:cNvSpPr/>
          <p:nvPr/>
        </p:nvSpPr>
        <p:spPr>
          <a:xfrm>
            <a:off x="8302526" y="3019425"/>
            <a:ext cx="3305175" cy="609600"/>
          </a:xfrm>
          <a:custGeom>
            <a:avLst/>
            <a:gdLst/>
            <a:ahLst/>
            <a:cxnLst/>
            <a:rect l="l" t="t" r="r" b="b"/>
            <a:pathLst>
              <a:path w="3305175" h="609600">
                <a:moveTo>
                  <a:pt x="76200" y="0"/>
                </a:moveTo>
                <a:lnTo>
                  <a:pt x="3228975" y="0"/>
                </a:lnTo>
                <a:cubicBezTo>
                  <a:pt x="3271031" y="0"/>
                  <a:pt x="3305175" y="34144"/>
                  <a:pt x="3305175" y="76200"/>
                </a:cubicBezTo>
                <a:lnTo>
                  <a:pt x="3305175" y="533400"/>
                </a:lnTo>
                <a:cubicBezTo>
                  <a:pt x="3305175" y="575456"/>
                  <a:pt x="3271031" y="609600"/>
                  <a:pt x="3228975" y="609600"/>
                </a:cubicBezTo>
                <a:lnTo>
                  <a:pt x="76200" y="609600"/>
                </a:lnTo>
                <a:cubicBezTo>
                  <a:pt x="34144" y="609600"/>
                  <a:pt x="0" y="575456"/>
                  <a:pt x="0" y="533400"/>
                </a:cubicBezTo>
                <a:lnTo>
                  <a:pt x="0" y="76200"/>
                </a:lnTo>
                <a:cubicBezTo>
                  <a:pt x="0" y="34144"/>
                  <a:pt x="34144" y="0"/>
                  <a:pt x="76200" y="0"/>
                </a:cubicBezTo>
                <a:close/>
              </a:path>
            </a:pathLst>
          </a:custGeom>
          <a:solidFill>
            <a:srgbClr val="0F172A"/>
          </a:solidFill>
          <a:ln/>
        </p:spPr>
      </p:sp>
      <p:sp>
        <p:nvSpPr>
          <p:cNvPr id="52" name="Shape 50"/>
          <p:cNvSpPr/>
          <p:nvPr/>
        </p:nvSpPr>
        <p:spPr>
          <a:xfrm>
            <a:off x="8426351" y="317182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53" name="Text 51"/>
          <p:cNvSpPr/>
          <p:nvPr/>
        </p:nvSpPr>
        <p:spPr>
          <a:xfrm>
            <a:off x="8667304" y="3133725"/>
            <a:ext cx="2895600" cy="381000"/>
          </a:xfrm>
          <a:prstGeom prst="rect">
            <a:avLst/>
          </a:prstGeom>
          <a:noFill/>
          <a:ln/>
        </p:spPr>
        <p:txBody>
          <a:bodyPr wrap="square" lIns="0" tIns="0" rIns="0" bIns="0" rtlCol="0" anchor="ctr"/>
          <a:lstStyle/>
          <a:p>
            <a:pPr>
              <a:lnSpc>
                <a:spcPct val="120000"/>
              </a:lnSpc>
            </a:pPr>
            <a:r>
              <a:rPr lang="en-US" sz="1050" dirty="0">
                <a:solidFill>
                  <a:srgbClr val="F1F5F9">
                    <a:alpha val="80000"/>
                  </a:srgbClr>
                </a:solidFill>
                <a:latin typeface="MiSans" pitchFamily="34" charset="0"/>
                <a:ea typeface="MiSans" pitchFamily="34" charset="-122"/>
                <a:cs typeface="MiSans" pitchFamily="34" charset="-120"/>
              </a:rPr>
              <a:t>Điều chỉnh ma trận quyết định theo dữ liệu thực tế</a:t>
            </a:r>
            <a:endParaRPr lang="en-US" sz="1600" dirty="0"/>
          </a:p>
        </p:txBody>
      </p:sp>
      <p:sp>
        <p:nvSpPr>
          <p:cNvPr id="54" name="Shape 52"/>
          <p:cNvSpPr/>
          <p:nvPr/>
        </p:nvSpPr>
        <p:spPr>
          <a:xfrm>
            <a:off x="8302526" y="4962525"/>
            <a:ext cx="3305175" cy="381000"/>
          </a:xfrm>
          <a:custGeom>
            <a:avLst/>
            <a:gdLst/>
            <a:ahLst/>
            <a:cxnLst/>
            <a:rect l="l" t="t" r="r" b="b"/>
            <a:pathLst>
              <a:path w="3305175" h="381000">
                <a:moveTo>
                  <a:pt x="76200" y="0"/>
                </a:moveTo>
                <a:lnTo>
                  <a:pt x="3228975" y="0"/>
                </a:lnTo>
                <a:cubicBezTo>
                  <a:pt x="3271031" y="0"/>
                  <a:pt x="3305175" y="34144"/>
                  <a:pt x="3305175" y="76200"/>
                </a:cubicBezTo>
                <a:lnTo>
                  <a:pt x="3305175" y="304800"/>
                </a:lnTo>
                <a:cubicBezTo>
                  <a:pt x="3305175" y="346856"/>
                  <a:pt x="3271031" y="381000"/>
                  <a:pt x="3228975" y="381000"/>
                </a:cubicBezTo>
                <a:lnTo>
                  <a:pt x="76200" y="381000"/>
                </a:lnTo>
                <a:cubicBezTo>
                  <a:pt x="34144" y="381000"/>
                  <a:pt x="0" y="346856"/>
                  <a:pt x="0" y="304800"/>
                </a:cubicBezTo>
                <a:lnTo>
                  <a:pt x="0" y="76200"/>
                </a:lnTo>
                <a:cubicBezTo>
                  <a:pt x="0" y="34144"/>
                  <a:pt x="34144" y="0"/>
                  <a:pt x="76200" y="0"/>
                </a:cubicBezTo>
                <a:close/>
              </a:path>
            </a:pathLst>
          </a:custGeom>
          <a:solidFill>
            <a:srgbClr val="0F172A"/>
          </a:solidFill>
          <a:ln/>
        </p:spPr>
      </p:sp>
      <p:sp>
        <p:nvSpPr>
          <p:cNvPr id="55" name="Shape 53"/>
          <p:cNvSpPr/>
          <p:nvPr/>
        </p:nvSpPr>
        <p:spPr>
          <a:xfrm>
            <a:off x="8431113" y="5105400"/>
            <a:ext cx="114300" cy="114300"/>
          </a:xfrm>
          <a:custGeom>
            <a:avLst/>
            <a:gdLst/>
            <a:ahLst/>
            <a:cxnLst/>
            <a:rect l="l" t="t" r="r" b="b"/>
            <a:pathLst>
              <a:path w="114300" h="114300">
                <a:moveTo>
                  <a:pt x="57150" y="114300"/>
                </a:moveTo>
                <a:cubicBezTo>
                  <a:pt x="88692" y="114300"/>
                  <a:pt x="114300" y="88692"/>
                  <a:pt x="114300" y="57150"/>
                </a:cubicBezTo>
                <a:cubicBezTo>
                  <a:pt x="114300" y="25608"/>
                  <a:pt x="88692" y="0"/>
                  <a:pt x="57150" y="0"/>
                </a:cubicBezTo>
                <a:cubicBezTo>
                  <a:pt x="25608" y="0"/>
                  <a:pt x="0" y="25608"/>
                  <a:pt x="0" y="57150"/>
                </a:cubicBezTo>
                <a:cubicBezTo>
                  <a:pt x="0" y="88692"/>
                  <a:pt x="25608" y="114300"/>
                  <a:pt x="57150" y="114300"/>
                </a:cubicBezTo>
                <a:close/>
                <a:moveTo>
                  <a:pt x="50006" y="35719"/>
                </a:moveTo>
                <a:cubicBezTo>
                  <a:pt x="50006" y="31776"/>
                  <a:pt x="53207" y="28575"/>
                  <a:pt x="57150" y="28575"/>
                </a:cubicBezTo>
                <a:cubicBezTo>
                  <a:pt x="61093" y="28575"/>
                  <a:pt x="64294" y="31776"/>
                  <a:pt x="64294" y="35719"/>
                </a:cubicBezTo>
                <a:cubicBezTo>
                  <a:pt x="64294" y="39661"/>
                  <a:pt x="61093" y="42863"/>
                  <a:pt x="57150" y="42863"/>
                </a:cubicBezTo>
                <a:cubicBezTo>
                  <a:pt x="53207" y="42863"/>
                  <a:pt x="50006" y="39661"/>
                  <a:pt x="50006" y="35719"/>
                </a:cubicBezTo>
                <a:close/>
                <a:moveTo>
                  <a:pt x="48220" y="50006"/>
                </a:moveTo>
                <a:lnTo>
                  <a:pt x="58936" y="50006"/>
                </a:lnTo>
                <a:cubicBezTo>
                  <a:pt x="61905" y="50006"/>
                  <a:pt x="64294" y="52395"/>
                  <a:pt x="64294" y="55364"/>
                </a:cubicBezTo>
                <a:lnTo>
                  <a:pt x="64294" y="75009"/>
                </a:lnTo>
                <a:lnTo>
                  <a:pt x="66080" y="75009"/>
                </a:lnTo>
                <a:cubicBezTo>
                  <a:pt x="69049" y="75009"/>
                  <a:pt x="71438" y="77398"/>
                  <a:pt x="71438" y="80367"/>
                </a:cubicBezTo>
                <a:cubicBezTo>
                  <a:pt x="71438" y="83336"/>
                  <a:pt x="69049" y="85725"/>
                  <a:pt x="66080" y="85725"/>
                </a:cubicBezTo>
                <a:lnTo>
                  <a:pt x="48220" y="85725"/>
                </a:lnTo>
                <a:cubicBezTo>
                  <a:pt x="45251" y="85725"/>
                  <a:pt x="42863" y="83336"/>
                  <a:pt x="42863" y="80367"/>
                </a:cubicBezTo>
                <a:cubicBezTo>
                  <a:pt x="42863" y="77398"/>
                  <a:pt x="45251" y="75009"/>
                  <a:pt x="48220" y="75009"/>
                </a:cubicBezTo>
                <a:lnTo>
                  <a:pt x="53578" y="75009"/>
                </a:lnTo>
                <a:lnTo>
                  <a:pt x="53578" y="60722"/>
                </a:lnTo>
                <a:lnTo>
                  <a:pt x="48220" y="60722"/>
                </a:lnTo>
                <a:cubicBezTo>
                  <a:pt x="45251" y="60722"/>
                  <a:pt x="42863" y="58333"/>
                  <a:pt x="42863" y="55364"/>
                </a:cubicBezTo>
                <a:cubicBezTo>
                  <a:pt x="42863" y="52395"/>
                  <a:pt x="45251" y="50006"/>
                  <a:pt x="48220" y="50006"/>
                </a:cubicBezTo>
                <a:close/>
              </a:path>
            </a:pathLst>
          </a:custGeom>
          <a:solidFill>
            <a:srgbClr val="10B981"/>
          </a:solidFill>
          <a:ln/>
        </p:spPr>
      </p:sp>
      <p:sp>
        <p:nvSpPr>
          <p:cNvPr id="56" name="Text 54"/>
          <p:cNvSpPr/>
          <p:nvPr/>
        </p:nvSpPr>
        <p:spPr>
          <a:xfrm>
            <a:off x="8616851" y="5076825"/>
            <a:ext cx="2933700" cy="152400"/>
          </a:xfrm>
          <a:prstGeom prst="rect">
            <a:avLst/>
          </a:prstGeom>
          <a:noFill/>
          <a:ln/>
        </p:spPr>
        <p:txBody>
          <a:bodyPr wrap="square" lIns="0" tIns="0" rIns="0" bIns="0" rtlCol="0" anchor="ctr"/>
          <a:lstStyle/>
          <a:p>
            <a:pPr>
              <a:lnSpc>
                <a:spcPct val="110000"/>
              </a:lnSpc>
            </a:pPr>
            <a:r>
              <a:rPr lang="en-US" sz="900" dirty="0">
                <a:solidFill>
                  <a:srgbClr val="F1F5F9">
                    <a:alpha val="60000"/>
                  </a:srgbClr>
                </a:solidFill>
                <a:latin typeface="MiSans" pitchFamily="34" charset="0"/>
                <a:ea typeface="MiSans" pitchFamily="34" charset="-122"/>
                <a:cs typeface="MiSans" pitchFamily="34" charset="-120"/>
              </a:rPr>
              <a:t>Mục tiêu: Mở rộng quy mô có kiểm soát</a:t>
            </a:r>
            <a:endParaRPr lang="en-US" sz="1600" dirty="0"/>
          </a:p>
        </p:txBody>
      </p:sp>
      <p:sp>
        <p:nvSpPr>
          <p:cNvPr id="57" name="Shape 55"/>
          <p:cNvSpPr/>
          <p:nvPr/>
        </p:nvSpPr>
        <p:spPr>
          <a:xfrm>
            <a:off x="385763" y="5700713"/>
            <a:ext cx="11420475" cy="771525"/>
          </a:xfrm>
          <a:custGeom>
            <a:avLst/>
            <a:gdLst/>
            <a:ahLst/>
            <a:cxnLst/>
            <a:rect l="l" t="t" r="r" b="b"/>
            <a:pathLst>
              <a:path w="11420475" h="771525">
                <a:moveTo>
                  <a:pt x="114301" y="0"/>
                </a:moveTo>
                <a:lnTo>
                  <a:pt x="11306174" y="0"/>
                </a:lnTo>
                <a:cubicBezTo>
                  <a:pt x="11369301" y="0"/>
                  <a:pt x="11420475" y="51174"/>
                  <a:pt x="11420475" y="114301"/>
                </a:cubicBezTo>
                <a:lnTo>
                  <a:pt x="11420475" y="657224"/>
                </a:lnTo>
                <a:cubicBezTo>
                  <a:pt x="11420475" y="720351"/>
                  <a:pt x="11369301" y="771525"/>
                  <a:pt x="11306174" y="771525"/>
                </a:cubicBezTo>
                <a:lnTo>
                  <a:pt x="114301" y="771525"/>
                </a:lnTo>
                <a:cubicBezTo>
                  <a:pt x="51174" y="771525"/>
                  <a:pt x="0" y="720351"/>
                  <a:pt x="0" y="657224"/>
                </a:cubicBezTo>
                <a:lnTo>
                  <a:pt x="0" y="114301"/>
                </a:lnTo>
                <a:cubicBezTo>
                  <a:pt x="0" y="51174"/>
                  <a:pt x="51174" y="0"/>
                  <a:pt x="114301"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58" name="Shape 56"/>
          <p:cNvSpPr/>
          <p:nvPr/>
        </p:nvSpPr>
        <p:spPr>
          <a:xfrm>
            <a:off x="699343" y="590550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F59E0B"/>
          </a:solidFill>
          <a:ln/>
        </p:spPr>
      </p:sp>
      <p:sp>
        <p:nvSpPr>
          <p:cNvPr id="59" name="Text 57"/>
          <p:cNvSpPr/>
          <p:nvPr/>
        </p:nvSpPr>
        <p:spPr>
          <a:xfrm>
            <a:off x="752475" y="5857875"/>
            <a:ext cx="10934700" cy="457200"/>
          </a:xfrm>
          <a:prstGeom prst="rect">
            <a:avLst/>
          </a:prstGeom>
          <a:noFill/>
          <a:ln/>
        </p:spPr>
        <p:txBody>
          <a:bodyPr wrap="square" lIns="0" tIns="0" rIns="0" bIns="0" rtlCol="0" anchor="ctr"/>
          <a:lstStyle/>
          <a:p>
            <a:pPr algn="ctr">
              <a:lnSpc>
                <a:spcPct val="130000"/>
              </a:lnSpc>
            </a:pPr>
            <a:r>
              <a:rPr lang="en-US" sz="1200" b="1" dirty="0">
                <a:solidFill>
                  <a:srgbClr val="F1F5F9">
                    <a:alpha val="90000"/>
                  </a:srgbClr>
                </a:solidFill>
                <a:latin typeface="MiSans" pitchFamily="34" charset="0"/>
                <a:ea typeface="MiSans" pitchFamily="34" charset="-122"/>
                <a:cs typeface="MiSans" pitchFamily="34" charset="-120"/>
              </a:rPr>
              <a:t>Lộ trình 12 tuần:</a:t>
            </a:r>
            <a:pPr algn="ctr">
              <a:lnSpc>
                <a:spcPct val="130000"/>
              </a:lnSpc>
            </a:pPr>
            <a:r>
              <a:rPr lang="en-US" sz="1200" dirty="0">
                <a:solidFill>
                  <a:srgbClr val="F1F5F9">
                    <a:alpha val="90000"/>
                  </a:srgbClr>
                </a:solidFill>
                <a:latin typeface="MiSans" pitchFamily="34" charset="0"/>
                <a:ea typeface="MiSans" pitchFamily="34" charset="-122"/>
                <a:cs typeface="MiSans" pitchFamily="34" charset="-120"/>
              </a:rPr>
              <a:t> Pilot có kiểm soát → Chuẩn hóa quy trình → Mở rộng có điều kiện. Mỗi giai đoạn đều có mục tiêu và metrics rõ ràng để đảm bảo thành công.</a:t>
            </a:r>
            <a:endParaRPr lang="en-US" sz="1600" dirty="0"/>
          </a:p>
        </p:txBody>
      </p:sp>
    </p:spTree>
  </p:cSld>
  <p:clrMapOvr>
    <a:masterClrMapping/>
  </p:clrMapOvr>
  <p:transition>
    <p:fade/>
    <p:spd val="med"/>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380406" y="456487"/>
            <a:ext cx="380406" cy="380406"/>
          </a:xfrm>
          <a:custGeom>
            <a:avLst/>
            <a:gdLst/>
            <a:ahLst/>
            <a:cxnLst/>
            <a:rect l="l" t="t" r="r" b="b"/>
            <a:pathLst>
              <a:path w="380406" h="380406">
                <a:moveTo>
                  <a:pt x="76081" y="0"/>
                </a:moveTo>
                <a:lnTo>
                  <a:pt x="304324" y="0"/>
                </a:lnTo>
                <a:cubicBezTo>
                  <a:pt x="346343" y="0"/>
                  <a:pt x="380406" y="34063"/>
                  <a:pt x="380406" y="76081"/>
                </a:cubicBezTo>
                <a:lnTo>
                  <a:pt x="380406" y="304324"/>
                </a:lnTo>
                <a:cubicBezTo>
                  <a:pt x="380406" y="346343"/>
                  <a:pt x="346343" y="380406"/>
                  <a:pt x="304324" y="380406"/>
                </a:cubicBezTo>
                <a:lnTo>
                  <a:pt x="76081" y="380406"/>
                </a:lnTo>
                <a:cubicBezTo>
                  <a:pt x="34063" y="380406"/>
                  <a:pt x="0" y="346343"/>
                  <a:pt x="0" y="304324"/>
                </a:cubicBezTo>
                <a:lnTo>
                  <a:pt x="0" y="76081"/>
                </a:lnTo>
                <a:cubicBezTo>
                  <a:pt x="0" y="34091"/>
                  <a:pt x="34091" y="0"/>
                  <a:pt x="76081" y="0"/>
                </a:cubicBezTo>
                <a:close/>
              </a:path>
            </a:pathLst>
          </a:custGeom>
          <a:solidFill>
            <a:srgbClr val="10B981"/>
          </a:solidFill>
          <a:ln/>
        </p:spPr>
      </p:sp>
      <p:sp>
        <p:nvSpPr>
          <p:cNvPr id="3" name="Shape 1"/>
          <p:cNvSpPr/>
          <p:nvPr/>
        </p:nvSpPr>
        <p:spPr>
          <a:xfrm>
            <a:off x="498094" y="561098"/>
            <a:ext cx="149785" cy="171183"/>
          </a:xfrm>
          <a:custGeom>
            <a:avLst/>
            <a:gdLst/>
            <a:ahLst/>
            <a:cxnLst/>
            <a:rect l="l" t="t" r="r" b="b"/>
            <a:pathLst>
              <a:path w="149785" h="171183">
                <a:moveTo>
                  <a:pt x="10699" y="0"/>
                </a:moveTo>
                <a:cubicBezTo>
                  <a:pt x="16617" y="0"/>
                  <a:pt x="21398" y="4781"/>
                  <a:pt x="21398" y="10699"/>
                </a:cubicBezTo>
                <a:lnTo>
                  <a:pt x="21398" y="16048"/>
                </a:lnTo>
                <a:lnTo>
                  <a:pt x="44467" y="10298"/>
                </a:lnTo>
                <a:cubicBezTo>
                  <a:pt x="57206" y="7121"/>
                  <a:pt x="70646" y="8593"/>
                  <a:pt x="82415" y="14477"/>
                </a:cubicBezTo>
                <a:cubicBezTo>
                  <a:pt x="97895" y="22234"/>
                  <a:pt x="116117" y="22234"/>
                  <a:pt x="131597" y="14477"/>
                </a:cubicBezTo>
                <a:lnTo>
                  <a:pt x="134806" y="12872"/>
                </a:lnTo>
                <a:cubicBezTo>
                  <a:pt x="141694" y="9395"/>
                  <a:pt x="149785" y="14410"/>
                  <a:pt x="149785" y="22100"/>
                </a:cubicBezTo>
                <a:lnTo>
                  <a:pt x="149785" y="115615"/>
                </a:lnTo>
                <a:cubicBezTo>
                  <a:pt x="149785" y="120062"/>
                  <a:pt x="147010" y="124074"/>
                  <a:pt x="142830" y="125645"/>
                </a:cubicBezTo>
                <a:lnTo>
                  <a:pt x="131229" y="129992"/>
                </a:lnTo>
                <a:cubicBezTo>
                  <a:pt x="115782" y="135776"/>
                  <a:pt x="98597" y="134873"/>
                  <a:pt x="83853" y="127518"/>
                </a:cubicBezTo>
                <a:cubicBezTo>
                  <a:pt x="71181" y="121165"/>
                  <a:pt x="56637" y="119594"/>
                  <a:pt x="42896" y="123037"/>
                </a:cubicBezTo>
                <a:lnTo>
                  <a:pt x="21398" y="128387"/>
                </a:lnTo>
                <a:lnTo>
                  <a:pt x="21398" y="160484"/>
                </a:lnTo>
                <a:cubicBezTo>
                  <a:pt x="21398" y="166401"/>
                  <a:pt x="16617" y="171183"/>
                  <a:pt x="10699" y="171183"/>
                </a:cubicBezTo>
                <a:cubicBezTo>
                  <a:pt x="4781" y="171183"/>
                  <a:pt x="0" y="166401"/>
                  <a:pt x="0" y="160484"/>
                </a:cubicBezTo>
                <a:lnTo>
                  <a:pt x="0" y="10699"/>
                </a:lnTo>
                <a:cubicBezTo>
                  <a:pt x="0" y="4781"/>
                  <a:pt x="4781" y="0"/>
                  <a:pt x="10699" y="0"/>
                </a:cubicBezTo>
                <a:close/>
                <a:moveTo>
                  <a:pt x="21398" y="62555"/>
                </a:moveTo>
                <a:lnTo>
                  <a:pt x="42796" y="57908"/>
                </a:lnTo>
                <a:lnTo>
                  <a:pt x="42796" y="79807"/>
                </a:lnTo>
                <a:lnTo>
                  <a:pt x="21398" y="84455"/>
                </a:lnTo>
                <a:lnTo>
                  <a:pt x="21398" y="106354"/>
                </a:lnTo>
                <a:lnTo>
                  <a:pt x="37714" y="102275"/>
                </a:lnTo>
                <a:cubicBezTo>
                  <a:pt x="39419" y="101840"/>
                  <a:pt x="41090" y="101472"/>
                  <a:pt x="42796" y="101172"/>
                </a:cubicBezTo>
                <a:lnTo>
                  <a:pt x="42796" y="79807"/>
                </a:lnTo>
                <a:lnTo>
                  <a:pt x="55801" y="76999"/>
                </a:lnTo>
                <a:cubicBezTo>
                  <a:pt x="58577" y="76397"/>
                  <a:pt x="61385" y="76163"/>
                  <a:pt x="64193" y="76297"/>
                </a:cubicBezTo>
                <a:lnTo>
                  <a:pt x="64193" y="54899"/>
                </a:lnTo>
                <a:cubicBezTo>
                  <a:pt x="68740" y="55033"/>
                  <a:pt x="73288" y="55768"/>
                  <a:pt x="77701" y="57039"/>
                </a:cubicBezTo>
                <a:lnTo>
                  <a:pt x="85591" y="59346"/>
                </a:lnTo>
                <a:lnTo>
                  <a:pt x="85591" y="81646"/>
                </a:lnTo>
                <a:lnTo>
                  <a:pt x="71649" y="77534"/>
                </a:lnTo>
                <a:cubicBezTo>
                  <a:pt x="69209" y="76832"/>
                  <a:pt x="66701" y="76397"/>
                  <a:pt x="64193" y="76263"/>
                </a:cubicBezTo>
                <a:lnTo>
                  <a:pt x="64193" y="100135"/>
                </a:lnTo>
                <a:cubicBezTo>
                  <a:pt x="71482" y="100770"/>
                  <a:pt x="78670" y="102375"/>
                  <a:pt x="85591" y="104950"/>
                </a:cubicBezTo>
                <a:lnTo>
                  <a:pt x="85591" y="81613"/>
                </a:lnTo>
                <a:lnTo>
                  <a:pt x="93181" y="83853"/>
                </a:lnTo>
                <a:cubicBezTo>
                  <a:pt x="97694" y="85190"/>
                  <a:pt x="102308" y="85992"/>
                  <a:pt x="106989" y="86327"/>
                </a:cubicBezTo>
                <a:lnTo>
                  <a:pt x="106989" y="64862"/>
                </a:lnTo>
                <a:cubicBezTo>
                  <a:pt x="104381" y="64595"/>
                  <a:pt x="101773" y="64093"/>
                  <a:pt x="99232" y="63358"/>
                </a:cubicBezTo>
                <a:lnTo>
                  <a:pt x="85591" y="59346"/>
                </a:lnTo>
                <a:lnTo>
                  <a:pt x="85591" y="38616"/>
                </a:lnTo>
                <a:cubicBezTo>
                  <a:pt x="81245" y="37346"/>
                  <a:pt x="76965" y="35674"/>
                  <a:pt x="72819" y="33601"/>
                </a:cubicBezTo>
                <a:cubicBezTo>
                  <a:pt x="70078" y="32230"/>
                  <a:pt x="67169" y="31261"/>
                  <a:pt x="64193" y="30659"/>
                </a:cubicBezTo>
                <a:lnTo>
                  <a:pt x="64193" y="54865"/>
                </a:lnTo>
                <a:cubicBezTo>
                  <a:pt x="59847" y="54732"/>
                  <a:pt x="55501" y="55133"/>
                  <a:pt x="51254" y="56069"/>
                </a:cubicBezTo>
                <a:lnTo>
                  <a:pt x="42796" y="57908"/>
                </a:lnTo>
                <a:lnTo>
                  <a:pt x="42796" y="32765"/>
                </a:lnTo>
                <a:lnTo>
                  <a:pt x="21398" y="38115"/>
                </a:lnTo>
                <a:lnTo>
                  <a:pt x="21398" y="62555"/>
                </a:lnTo>
                <a:close/>
                <a:moveTo>
                  <a:pt x="106989" y="112238"/>
                </a:moveTo>
                <a:cubicBezTo>
                  <a:pt x="112606" y="112740"/>
                  <a:pt x="118323" y="112004"/>
                  <a:pt x="123706" y="109965"/>
                </a:cubicBezTo>
                <a:lnTo>
                  <a:pt x="128387" y="108226"/>
                </a:lnTo>
                <a:lnTo>
                  <a:pt x="128387" y="84254"/>
                </a:lnTo>
                <a:lnTo>
                  <a:pt x="125746" y="84856"/>
                </a:lnTo>
                <a:cubicBezTo>
                  <a:pt x="119594" y="86293"/>
                  <a:pt x="113275" y="86761"/>
                  <a:pt x="106989" y="86360"/>
                </a:cubicBezTo>
                <a:lnTo>
                  <a:pt x="106989" y="112238"/>
                </a:lnTo>
                <a:close/>
                <a:moveTo>
                  <a:pt x="128387" y="62288"/>
                </a:moveTo>
                <a:lnTo>
                  <a:pt x="128387" y="38616"/>
                </a:lnTo>
                <a:cubicBezTo>
                  <a:pt x="121399" y="40656"/>
                  <a:pt x="114211" y="41659"/>
                  <a:pt x="106989" y="41659"/>
                </a:cubicBezTo>
                <a:lnTo>
                  <a:pt x="106989" y="64862"/>
                </a:lnTo>
                <a:cubicBezTo>
                  <a:pt x="111636" y="65330"/>
                  <a:pt x="116351" y="65029"/>
                  <a:pt x="120931" y="63993"/>
                </a:cubicBezTo>
                <a:lnTo>
                  <a:pt x="128387" y="62254"/>
                </a:lnTo>
                <a:close/>
              </a:path>
            </a:pathLst>
          </a:custGeom>
          <a:solidFill>
            <a:srgbClr val="FFFFFF"/>
          </a:solidFill>
          <a:ln/>
        </p:spPr>
      </p:sp>
      <p:sp>
        <p:nvSpPr>
          <p:cNvPr id="4" name="Text 2"/>
          <p:cNvSpPr/>
          <p:nvPr/>
        </p:nvSpPr>
        <p:spPr>
          <a:xfrm>
            <a:off x="874933" y="380406"/>
            <a:ext cx="5420780" cy="190203"/>
          </a:xfrm>
          <a:prstGeom prst="rect">
            <a:avLst/>
          </a:prstGeom>
          <a:noFill/>
          <a:ln/>
        </p:spPr>
        <p:txBody>
          <a:bodyPr wrap="square" lIns="0" tIns="0" rIns="0" bIns="0" rtlCol="0" anchor="ctr"/>
          <a:lstStyle/>
          <a:p>
            <a:pPr>
              <a:lnSpc>
                <a:spcPct val="120000"/>
              </a:lnSpc>
            </a:pPr>
            <a:r>
              <a:rPr lang="en-US" sz="1048" b="1" spc="52" kern="0" dirty="0">
                <a:solidFill>
                  <a:srgbClr val="10B981"/>
                </a:solidFill>
                <a:latin typeface="MiSans" pitchFamily="34" charset="0"/>
                <a:ea typeface="MiSans" pitchFamily="34" charset="-122"/>
                <a:cs typeface="MiSans" pitchFamily="34" charset="-120"/>
              </a:rPr>
              <a:t>CHƯƠNG 16 | KẾT LUẬN</a:t>
            </a:r>
            <a:endParaRPr lang="en-US" sz="1600" dirty="0"/>
          </a:p>
        </p:txBody>
      </p:sp>
      <p:sp>
        <p:nvSpPr>
          <p:cNvPr id="5" name="Text 3"/>
          <p:cNvSpPr/>
          <p:nvPr/>
        </p:nvSpPr>
        <p:spPr>
          <a:xfrm>
            <a:off x="874933" y="570608"/>
            <a:ext cx="5496861" cy="342365"/>
          </a:xfrm>
          <a:prstGeom prst="rect">
            <a:avLst/>
          </a:prstGeom>
          <a:noFill/>
          <a:ln/>
        </p:spPr>
        <p:txBody>
          <a:bodyPr wrap="square" lIns="0" tIns="0" rIns="0" bIns="0" rtlCol="0" anchor="ctr"/>
          <a:lstStyle/>
          <a:p>
            <a:pPr>
              <a:lnSpc>
                <a:spcPct val="100000"/>
              </a:lnSpc>
            </a:pPr>
            <a:r>
              <a:rPr lang="en-US" sz="2246" b="1" dirty="0">
                <a:solidFill>
                  <a:srgbClr val="F1F5F9"/>
                </a:solidFill>
                <a:latin typeface="MiSans" pitchFamily="34" charset="0"/>
                <a:ea typeface="MiSans" pitchFamily="34" charset="-122"/>
                <a:cs typeface="MiSans" pitchFamily="34" charset="-120"/>
              </a:rPr>
              <a:t>Kết luận: Tương lai Software Engineering</a:t>
            </a:r>
            <a:endParaRPr lang="en-US" sz="1600" dirty="0"/>
          </a:p>
        </p:txBody>
      </p:sp>
      <p:sp>
        <p:nvSpPr>
          <p:cNvPr id="6" name="Shape 4"/>
          <p:cNvSpPr/>
          <p:nvPr/>
        </p:nvSpPr>
        <p:spPr>
          <a:xfrm>
            <a:off x="385161" y="1145972"/>
            <a:ext cx="5630003" cy="3670914"/>
          </a:xfrm>
          <a:custGeom>
            <a:avLst/>
            <a:gdLst/>
            <a:ahLst/>
            <a:cxnLst/>
            <a:rect l="l" t="t" r="r" b="b"/>
            <a:pathLst>
              <a:path w="5630003" h="3670914">
                <a:moveTo>
                  <a:pt x="114129" y="0"/>
                </a:moveTo>
                <a:lnTo>
                  <a:pt x="5515874" y="0"/>
                </a:lnTo>
                <a:cubicBezTo>
                  <a:pt x="5578906" y="0"/>
                  <a:pt x="5630003" y="51097"/>
                  <a:pt x="5630003" y="114129"/>
                </a:cubicBezTo>
                <a:lnTo>
                  <a:pt x="5630003" y="3556785"/>
                </a:lnTo>
                <a:cubicBezTo>
                  <a:pt x="5630003" y="3619817"/>
                  <a:pt x="5578906" y="3670914"/>
                  <a:pt x="5515874" y="3670914"/>
                </a:cubicBezTo>
                <a:lnTo>
                  <a:pt x="114129" y="3670914"/>
                </a:lnTo>
                <a:cubicBezTo>
                  <a:pt x="51097" y="3670914"/>
                  <a:pt x="0" y="3619817"/>
                  <a:pt x="0" y="3556785"/>
                </a:cubicBezTo>
                <a:lnTo>
                  <a:pt x="0" y="114129"/>
                </a:lnTo>
                <a:cubicBezTo>
                  <a:pt x="0" y="51097"/>
                  <a:pt x="51097" y="0"/>
                  <a:pt x="114129" y="0"/>
                </a:cubicBezTo>
                <a:close/>
              </a:path>
            </a:pathLst>
          </a:custGeom>
          <a:gradFill rotWithShape="1" flip="none">
            <a:gsLst>
              <a:gs pos="0">
                <a:srgbClr val="3B82F6">
                  <a:alpha val="10000"/>
                </a:srgbClr>
              </a:gs>
              <a:gs pos="100000">
                <a:srgbClr val="3B82F6">
                  <a:alpha val="5000"/>
                </a:srgbClr>
              </a:gs>
            </a:gsLst>
            <a:lin ang="2700000" scaled="1"/>
          </a:gradFill>
          <a:ln w="12700">
            <a:solidFill>
              <a:srgbClr val="3B82F6">
                <a:alpha val="30196"/>
              </a:srgbClr>
            </a:solidFill>
            <a:prstDash val="solid"/>
          </a:ln>
        </p:spPr>
      </p:sp>
      <p:sp>
        <p:nvSpPr>
          <p:cNvPr id="7" name="Shape 5"/>
          <p:cNvSpPr/>
          <p:nvPr/>
        </p:nvSpPr>
        <p:spPr>
          <a:xfrm>
            <a:off x="603894" y="1378970"/>
            <a:ext cx="190203" cy="190203"/>
          </a:xfrm>
          <a:custGeom>
            <a:avLst/>
            <a:gdLst/>
            <a:ahLst/>
            <a:cxnLst/>
            <a:rect l="l" t="t" r="r" b="b"/>
            <a:pathLst>
              <a:path w="190203" h="190203">
                <a:moveTo>
                  <a:pt x="23775" y="23775"/>
                </a:moveTo>
                <a:cubicBezTo>
                  <a:pt x="23775" y="17200"/>
                  <a:pt x="18463" y="11888"/>
                  <a:pt x="11888" y="11888"/>
                </a:cubicBezTo>
                <a:cubicBezTo>
                  <a:pt x="5312" y="11888"/>
                  <a:pt x="0" y="17200"/>
                  <a:pt x="0" y="23775"/>
                </a:cubicBezTo>
                <a:lnTo>
                  <a:pt x="0" y="148596"/>
                </a:lnTo>
                <a:cubicBezTo>
                  <a:pt x="0" y="165016"/>
                  <a:pt x="13299" y="178315"/>
                  <a:pt x="29719" y="178315"/>
                </a:cubicBezTo>
                <a:lnTo>
                  <a:pt x="178315" y="178315"/>
                </a:lnTo>
                <a:cubicBezTo>
                  <a:pt x="184891" y="178315"/>
                  <a:pt x="190203" y="173003"/>
                  <a:pt x="190203" y="166427"/>
                </a:cubicBezTo>
                <a:cubicBezTo>
                  <a:pt x="190203" y="159852"/>
                  <a:pt x="184891" y="154540"/>
                  <a:pt x="178315" y="154540"/>
                </a:cubicBezTo>
                <a:lnTo>
                  <a:pt x="29719" y="154540"/>
                </a:lnTo>
                <a:cubicBezTo>
                  <a:pt x="26450" y="154540"/>
                  <a:pt x="23775" y="151865"/>
                  <a:pt x="23775" y="148596"/>
                </a:cubicBezTo>
                <a:lnTo>
                  <a:pt x="23775" y="23775"/>
                </a:lnTo>
                <a:close/>
                <a:moveTo>
                  <a:pt x="174823" y="55946"/>
                </a:moveTo>
                <a:cubicBezTo>
                  <a:pt x="179467" y="51303"/>
                  <a:pt x="179467" y="43762"/>
                  <a:pt x="174823" y="39118"/>
                </a:cubicBezTo>
                <a:cubicBezTo>
                  <a:pt x="170180" y="34474"/>
                  <a:pt x="162638" y="34474"/>
                  <a:pt x="157995" y="39118"/>
                </a:cubicBezTo>
                <a:lnTo>
                  <a:pt x="118877" y="78273"/>
                </a:lnTo>
                <a:lnTo>
                  <a:pt x="97553" y="56987"/>
                </a:lnTo>
                <a:cubicBezTo>
                  <a:pt x="92910" y="52343"/>
                  <a:pt x="85368" y="52343"/>
                  <a:pt x="80725" y="56987"/>
                </a:cubicBezTo>
                <a:lnTo>
                  <a:pt x="45062" y="92650"/>
                </a:lnTo>
                <a:cubicBezTo>
                  <a:pt x="40418" y="97293"/>
                  <a:pt x="40418" y="104834"/>
                  <a:pt x="45062" y="109478"/>
                </a:cubicBezTo>
                <a:cubicBezTo>
                  <a:pt x="49705" y="114122"/>
                  <a:pt x="57247" y="114122"/>
                  <a:pt x="61890" y="109478"/>
                </a:cubicBezTo>
                <a:lnTo>
                  <a:pt x="89158" y="82211"/>
                </a:lnTo>
                <a:lnTo>
                  <a:pt x="110481" y="103534"/>
                </a:lnTo>
                <a:cubicBezTo>
                  <a:pt x="115125" y="108178"/>
                  <a:pt x="122666" y="108178"/>
                  <a:pt x="127310" y="103534"/>
                </a:cubicBezTo>
                <a:lnTo>
                  <a:pt x="174860" y="55984"/>
                </a:lnTo>
                <a:close/>
              </a:path>
            </a:pathLst>
          </a:custGeom>
          <a:solidFill>
            <a:srgbClr val="3B82F6"/>
          </a:solidFill>
          <a:ln/>
        </p:spPr>
      </p:sp>
      <p:sp>
        <p:nvSpPr>
          <p:cNvPr id="8" name="Text 6"/>
          <p:cNvSpPr/>
          <p:nvPr/>
        </p:nvSpPr>
        <p:spPr>
          <a:xfrm>
            <a:off x="817872" y="1340930"/>
            <a:ext cx="5097435" cy="266284"/>
          </a:xfrm>
          <a:prstGeom prst="rect">
            <a:avLst/>
          </a:prstGeom>
          <a:noFill/>
          <a:ln/>
        </p:spPr>
        <p:txBody>
          <a:bodyPr wrap="square" lIns="0" tIns="0" rIns="0" bIns="0" rtlCol="0" anchor="ctr"/>
          <a:lstStyle/>
          <a:p>
            <a:pPr>
              <a:lnSpc>
                <a:spcPct val="120000"/>
              </a:lnSpc>
            </a:pPr>
            <a:r>
              <a:rPr lang="en-US" sz="1498" b="1" dirty="0">
                <a:solidFill>
                  <a:srgbClr val="3B82F6"/>
                </a:solidFill>
                <a:latin typeface="MiSans" pitchFamily="34" charset="0"/>
                <a:ea typeface="MiSans" pitchFamily="34" charset="-122"/>
                <a:cs typeface="MiSans" pitchFamily="34" charset="-120"/>
              </a:rPr>
              <a:t>Đánh giá cá nhân</a:t>
            </a:r>
            <a:endParaRPr lang="en-US" sz="1600" dirty="0"/>
          </a:p>
        </p:txBody>
      </p:sp>
      <p:sp>
        <p:nvSpPr>
          <p:cNvPr id="9" name="Shape 7"/>
          <p:cNvSpPr/>
          <p:nvPr/>
        </p:nvSpPr>
        <p:spPr>
          <a:xfrm>
            <a:off x="580119" y="1759376"/>
            <a:ext cx="5240087" cy="608649"/>
          </a:xfrm>
          <a:custGeom>
            <a:avLst/>
            <a:gdLst/>
            <a:ahLst/>
            <a:cxnLst/>
            <a:rect l="l" t="t" r="r" b="b"/>
            <a:pathLst>
              <a:path w="5240087" h="608649">
                <a:moveTo>
                  <a:pt x="76081" y="0"/>
                </a:moveTo>
                <a:lnTo>
                  <a:pt x="5164006" y="0"/>
                </a:lnTo>
                <a:cubicBezTo>
                  <a:pt x="5206025" y="0"/>
                  <a:pt x="5240087" y="34063"/>
                  <a:pt x="5240087" y="76081"/>
                </a:cubicBezTo>
                <a:lnTo>
                  <a:pt x="5240087" y="532568"/>
                </a:lnTo>
                <a:cubicBezTo>
                  <a:pt x="5240087" y="574586"/>
                  <a:pt x="5206025" y="608649"/>
                  <a:pt x="5164006" y="608649"/>
                </a:cubicBezTo>
                <a:lnTo>
                  <a:pt x="76081" y="608649"/>
                </a:lnTo>
                <a:cubicBezTo>
                  <a:pt x="34063" y="608649"/>
                  <a:pt x="0" y="574586"/>
                  <a:pt x="0" y="532568"/>
                </a:cubicBezTo>
                <a:lnTo>
                  <a:pt x="0" y="76081"/>
                </a:lnTo>
                <a:cubicBezTo>
                  <a:pt x="0" y="34091"/>
                  <a:pt x="34091" y="0"/>
                  <a:pt x="76081" y="0"/>
                </a:cubicBezTo>
                <a:close/>
              </a:path>
            </a:pathLst>
          </a:custGeom>
          <a:solidFill>
            <a:srgbClr val="0F172A"/>
          </a:solidFill>
          <a:ln/>
        </p:spPr>
      </p:sp>
      <p:sp>
        <p:nvSpPr>
          <p:cNvPr id="10" name="Shape 8"/>
          <p:cNvSpPr/>
          <p:nvPr/>
        </p:nvSpPr>
        <p:spPr>
          <a:xfrm>
            <a:off x="708505" y="1911538"/>
            <a:ext cx="152162" cy="152162"/>
          </a:xfrm>
          <a:custGeom>
            <a:avLst/>
            <a:gdLst/>
            <a:ahLst/>
            <a:cxnLst/>
            <a:rect l="l" t="t" r="r" b="b"/>
            <a:pathLst>
              <a:path w="152162" h="152162">
                <a:moveTo>
                  <a:pt x="76081" y="152162"/>
                </a:moveTo>
                <a:cubicBezTo>
                  <a:pt x="118071" y="152162"/>
                  <a:pt x="152162" y="118071"/>
                  <a:pt x="152162" y="76081"/>
                </a:cubicBezTo>
                <a:cubicBezTo>
                  <a:pt x="152162" y="34091"/>
                  <a:pt x="118071" y="0"/>
                  <a:pt x="76081" y="0"/>
                </a:cubicBezTo>
                <a:cubicBezTo>
                  <a:pt x="34091" y="0"/>
                  <a:pt x="0" y="34091"/>
                  <a:pt x="0" y="76081"/>
                </a:cubicBezTo>
                <a:cubicBezTo>
                  <a:pt x="0" y="118071"/>
                  <a:pt x="34091" y="152162"/>
                  <a:pt x="76081" y="152162"/>
                </a:cubicBezTo>
                <a:close/>
                <a:moveTo>
                  <a:pt x="101164" y="63213"/>
                </a:moveTo>
                <a:lnTo>
                  <a:pt x="77389" y="101253"/>
                </a:lnTo>
                <a:cubicBezTo>
                  <a:pt x="76141" y="103244"/>
                  <a:pt x="74001" y="104493"/>
                  <a:pt x="71653" y="104612"/>
                </a:cubicBezTo>
                <a:cubicBezTo>
                  <a:pt x="69305" y="104730"/>
                  <a:pt x="67046" y="103661"/>
                  <a:pt x="65650" y="101759"/>
                </a:cubicBezTo>
                <a:lnTo>
                  <a:pt x="51384" y="82738"/>
                </a:lnTo>
                <a:cubicBezTo>
                  <a:pt x="49007" y="79588"/>
                  <a:pt x="49661" y="75130"/>
                  <a:pt x="52811" y="72753"/>
                </a:cubicBezTo>
                <a:cubicBezTo>
                  <a:pt x="55961" y="70375"/>
                  <a:pt x="60419" y="71029"/>
                  <a:pt x="62797" y="74179"/>
                </a:cubicBezTo>
                <a:lnTo>
                  <a:pt x="70821" y="84878"/>
                </a:lnTo>
                <a:lnTo>
                  <a:pt x="89068" y="55664"/>
                </a:lnTo>
                <a:cubicBezTo>
                  <a:pt x="91149" y="52335"/>
                  <a:pt x="95547" y="51295"/>
                  <a:pt x="98905" y="53405"/>
                </a:cubicBezTo>
                <a:cubicBezTo>
                  <a:pt x="102264" y="55515"/>
                  <a:pt x="103274" y="59884"/>
                  <a:pt x="101164" y="63242"/>
                </a:cubicBezTo>
                <a:close/>
              </a:path>
            </a:pathLst>
          </a:custGeom>
          <a:solidFill>
            <a:srgbClr val="10B981"/>
          </a:solidFill>
          <a:ln/>
        </p:spPr>
      </p:sp>
      <p:sp>
        <p:nvSpPr>
          <p:cNvPr id="11" name="Text 9"/>
          <p:cNvSpPr/>
          <p:nvPr/>
        </p:nvSpPr>
        <p:spPr>
          <a:xfrm>
            <a:off x="954878" y="1873498"/>
            <a:ext cx="4812131" cy="380406"/>
          </a:xfrm>
          <a:prstGeom prst="rect">
            <a:avLst/>
          </a:prstGeom>
          <a:noFill/>
          <a:ln/>
        </p:spPr>
        <p:txBody>
          <a:bodyPr wrap="square" lIns="0" tIns="0" rIns="0" bIns="0" rtlCol="0" anchor="ctr"/>
          <a:lstStyle/>
          <a:p>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GenAI tạo ra </a:t>
            </a:r>
            <a:pPr>
              <a:lnSpc>
                <a:spcPct val="120000"/>
              </a:lnSpc>
            </a:pPr>
            <a:r>
              <a:rPr lang="en-US" sz="1048" b="1" dirty="0">
                <a:solidFill>
                  <a:srgbClr val="10B981"/>
                </a:solidFill>
                <a:latin typeface="MiSans" pitchFamily="34" charset="0"/>
                <a:ea typeface="MiSans" pitchFamily="34" charset="-122"/>
                <a:cs typeface="MiSans" pitchFamily="34" charset="-120"/>
              </a:rPr>
              <a:t>bước nhảy năng suất thật sự</a:t>
            </a:r>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 trong coding task cấp thấp-đến-trung</a:t>
            </a:r>
            <a:endParaRPr lang="en-US" sz="1600" dirty="0"/>
          </a:p>
        </p:txBody>
      </p:sp>
      <p:sp>
        <p:nvSpPr>
          <p:cNvPr id="12" name="Shape 10"/>
          <p:cNvSpPr/>
          <p:nvPr/>
        </p:nvSpPr>
        <p:spPr>
          <a:xfrm>
            <a:off x="580119" y="2482147"/>
            <a:ext cx="5240087" cy="608649"/>
          </a:xfrm>
          <a:custGeom>
            <a:avLst/>
            <a:gdLst/>
            <a:ahLst/>
            <a:cxnLst/>
            <a:rect l="l" t="t" r="r" b="b"/>
            <a:pathLst>
              <a:path w="5240087" h="608649">
                <a:moveTo>
                  <a:pt x="76081" y="0"/>
                </a:moveTo>
                <a:lnTo>
                  <a:pt x="5164006" y="0"/>
                </a:lnTo>
                <a:cubicBezTo>
                  <a:pt x="5206025" y="0"/>
                  <a:pt x="5240087" y="34063"/>
                  <a:pt x="5240087" y="76081"/>
                </a:cubicBezTo>
                <a:lnTo>
                  <a:pt x="5240087" y="532568"/>
                </a:lnTo>
                <a:cubicBezTo>
                  <a:pt x="5240087" y="574586"/>
                  <a:pt x="5206025" y="608649"/>
                  <a:pt x="5164006" y="608649"/>
                </a:cubicBezTo>
                <a:lnTo>
                  <a:pt x="76081" y="608649"/>
                </a:lnTo>
                <a:cubicBezTo>
                  <a:pt x="34063" y="608649"/>
                  <a:pt x="0" y="574586"/>
                  <a:pt x="0" y="532568"/>
                </a:cubicBezTo>
                <a:lnTo>
                  <a:pt x="0" y="76081"/>
                </a:lnTo>
                <a:cubicBezTo>
                  <a:pt x="0" y="34091"/>
                  <a:pt x="34091" y="0"/>
                  <a:pt x="76081" y="0"/>
                </a:cubicBezTo>
                <a:close/>
              </a:path>
            </a:pathLst>
          </a:custGeom>
          <a:solidFill>
            <a:srgbClr val="0F172A"/>
          </a:solidFill>
          <a:ln/>
        </p:spPr>
      </p:sp>
      <p:sp>
        <p:nvSpPr>
          <p:cNvPr id="13" name="Shape 11"/>
          <p:cNvSpPr/>
          <p:nvPr/>
        </p:nvSpPr>
        <p:spPr>
          <a:xfrm>
            <a:off x="708505" y="2634309"/>
            <a:ext cx="114122" cy="152162"/>
          </a:xfrm>
          <a:custGeom>
            <a:avLst/>
            <a:gdLst/>
            <a:ahLst/>
            <a:cxnLst/>
            <a:rect l="l" t="t" r="r" b="b"/>
            <a:pathLst>
              <a:path w="114122" h="152162">
                <a:moveTo>
                  <a:pt x="63777" y="5171"/>
                </a:moveTo>
                <a:cubicBezTo>
                  <a:pt x="60062" y="1456"/>
                  <a:pt x="54029" y="1456"/>
                  <a:pt x="50315" y="5171"/>
                </a:cubicBezTo>
                <a:lnTo>
                  <a:pt x="2764" y="52722"/>
                </a:lnTo>
                <a:cubicBezTo>
                  <a:pt x="-951" y="56437"/>
                  <a:pt x="-951" y="62470"/>
                  <a:pt x="2764" y="66185"/>
                </a:cubicBezTo>
                <a:cubicBezTo>
                  <a:pt x="6479" y="69900"/>
                  <a:pt x="12512" y="69900"/>
                  <a:pt x="16227" y="66185"/>
                </a:cubicBezTo>
                <a:lnTo>
                  <a:pt x="47551" y="34861"/>
                </a:lnTo>
                <a:lnTo>
                  <a:pt x="47551" y="145030"/>
                </a:lnTo>
                <a:cubicBezTo>
                  <a:pt x="47551" y="150290"/>
                  <a:pt x="51801" y="154540"/>
                  <a:pt x="57061" y="154540"/>
                </a:cubicBezTo>
                <a:cubicBezTo>
                  <a:pt x="62321" y="154540"/>
                  <a:pt x="66571" y="150290"/>
                  <a:pt x="66571" y="145030"/>
                </a:cubicBezTo>
                <a:lnTo>
                  <a:pt x="66571" y="34861"/>
                </a:lnTo>
                <a:lnTo>
                  <a:pt x="97895" y="66185"/>
                </a:lnTo>
                <a:cubicBezTo>
                  <a:pt x="101610" y="69900"/>
                  <a:pt x="107643" y="69900"/>
                  <a:pt x="111358" y="66185"/>
                </a:cubicBezTo>
                <a:cubicBezTo>
                  <a:pt x="115073" y="62470"/>
                  <a:pt x="115073" y="56437"/>
                  <a:pt x="111358" y="52722"/>
                </a:cubicBezTo>
                <a:lnTo>
                  <a:pt x="63807" y="5171"/>
                </a:lnTo>
                <a:close/>
              </a:path>
            </a:pathLst>
          </a:custGeom>
          <a:solidFill>
            <a:srgbClr val="8B5CF6"/>
          </a:solidFill>
          <a:ln/>
        </p:spPr>
      </p:sp>
      <p:sp>
        <p:nvSpPr>
          <p:cNvPr id="14" name="Text 12"/>
          <p:cNvSpPr/>
          <p:nvPr/>
        </p:nvSpPr>
        <p:spPr>
          <a:xfrm>
            <a:off x="912825" y="2596268"/>
            <a:ext cx="4859682" cy="380406"/>
          </a:xfrm>
          <a:prstGeom prst="rect">
            <a:avLst/>
          </a:prstGeom>
          <a:noFill/>
          <a:ln/>
        </p:spPr>
        <p:txBody>
          <a:bodyPr wrap="square" lIns="0" tIns="0" rIns="0" bIns="0" rtlCol="0" anchor="ctr"/>
          <a:lstStyle/>
          <a:p>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Giá trị chiến lược của software engineer sẽ </a:t>
            </a:r>
            <a:pPr>
              <a:lnSpc>
                <a:spcPct val="120000"/>
              </a:lnSpc>
            </a:pPr>
            <a:r>
              <a:rPr lang="en-US" sz="1048" b="1" dirty="0">
                <a:solidFill>
                  <a:srgbClr val="8B5CF6"/>
                </a:solidFill>
                <a:latin typeface="MiSans" pitchFamily="34" charset="0"/>
                <a:ea typeface="MiSans" pitchFamily="34" charset="-122"/>
                <a:cs typeface="MiSans" pitchFamily="34" charset="-120"/>
              </a:rPr>
              <a:t>dịch chuyển lên</a:t>
            </a:r>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 architecture, design, integration, governance</a:t>
            </a:r>
            <a:endParaRPr lang="en-US" sz="1600" dirty="0"/>
          </a:p>
        </p:txBody>
      </p:sp>
      <p:sp>
        <p:nvSpPr>
          <p:cNvPr id="15" name="Shape 13"/>
          <p:cNvSpPr/>
          <p:nvPr/>
        </p:nvSpPr>
        <p:spPr>
          <a:xfrm>
            <a:off x="580119" y="3204917"/>
            <a:ext cx="5240087" cy="608649"/>
          </a:xfrm>
          <a:custGeom>
            <a:avLst/>
            <a:gdLst/>
            <a:ahLst/>
            <a:cxnLst/>
            <a:rect l="l" t="t" r="r" b="b"/>
            <a:pathLst>
              <a:path w="5240087" h="608649">
                <a:moveTo>
                  <a:pt x="76081" y="0"/>
                </a:moveTo>
                <a:lnTo>
                  <a:pt x="5164006" y="0"/>
                </a:lnTo>
                <a:cubicBezTo>
                  <a:pt x="5206025" y="0"/>
                  <a:pt x="5240087" y="34063"/>
                  <a:pt x="5240087" y="76081"/>
                </a:cubicBezTo>
                <a:lnTo>
                  <a:pt x="5240087" y="532568"/>
                </a:lnTo>
                <a:cubicBezTo>
                  <a:pt x="5240087" y="574586"/>
                  <a:pt x="5206025" y="608649"/>
                  <a:pt x="5164006" y="608649"/>
                </a:cubicBezTo>
                <a:lnTo>
                  <a:pt x="76081" y="608649"/>
                </a:lnTo>
                <a:cubicBezTo>
                  <a:pt x="34063" y="608649"/>
                  <a:pt x="0" y="574586"/>
                  <a:pt x="0" y="532568"/>
                </a:cubicBezTo>
                <a:lnTo>
                  <a:pt x="0" y="76081"/>
                </a:lnTo>
                <a:cubicBezTo>
                  <a:pt x="0" y="34091"/>
                  <a:pt x="34091" y="0"/>
                  <a:pt x="76081" y="0"/>
                </a:cubicBezTo>
                <a:close/>
              </a:path>
            </a:pathLst>
          </a:custGeom>
          <a:solidFill>
            <a:srgbClr val="0F172A"/>
          </a:solidFill>
          <a:ln/>
        </p:spPr>
      </p:sp>
      <p:sp>
        <p:nvSpPr>
          <p:cNvPr id="16" name="Shape 14"/>
          <p:cNvSpPr/>
          <p:nvPr/>
        </p:nvSpPr>
        <p:spPr>
          <a:xfrm>
            <a:off x="694240" y="3357080"/>
            <a:ext cx="114122" cy="152162"/>
          </a:xfrm>
          <a:custGeom>
            <a:avLst/>
            <a:gdLst/>
            <a:ahLst/>
            <a:cxnLst/>
            <a:rect l="l" t="t" r="r" b="b"/>
            <a:pathLst>
              <a:path w="114122" h="152162">
                <a:moveTo>
                  <a:pt x="19020" y="0"/>
                </a:moveTo>
                <a:cubicBezTo>
                  <a:pt x="8529" y="0"/>
                  <a:pt x="0" y="8529"/>
                  <a:pt x="0" y="19020"/>
                </a:cubicBezTo>
                <a:lnTo>
                  <a:pt x="0" y="133142"/>
                </a:lnTo>
                <a:cubicBezTo>
                  <a:pt x="0" y="143633"/>
                  <a:pt x="8529" y="152162"/>
                  <a:pt x="19020" y="152162"/>
                </a:cubicBezTo>
                <a:lnTo>
                  <a:pt x="95101" y="152162"/>
                </a:lnTo>
                <a:cubicBezTo>
                  <a:pt x="105592" y="152162"/>
                  <a:pt x="114122" y="143633"/>
                  <a:pt x="114122" y="133142"/>
                </a:cubicBezTo>
                <a:lnTo>
                  <a:pt x="114122" y="19020"/>
                </a:lnTo>
                <a:cubicBezTo>
                  <a:pt x="114122" y="8529"/>
                  <a:pt x="105592" y="0"/>
                  <a:pt x="95101" y="0"/>
                </a:cubicBezTo>
                <a:lnTo>
                  <a:pt x="19020" y="0"/>
                </a:lnTo>
                <a:close/>
                <a:moveTo>
                  <a:pt x="52306" y="104612"/>
                </a:moveTo>
                <a:lnTo>
                  <a:pt x="61816" y="104612"/>
                </a:lnTo>
                <a:cubicBezTo>
                  <a:pt x="67076" y="104612"/>
                  <a:pt x="71326" y="108861"/>
                  <a:pt x="71326" y="114122"/>
                </a:cubicBezTo>
                <a:lnTo>
                  <a:pt x="71326" y="137897"/>
                </a:lnTo>
                <a:lnTo>
                  <a:pt x="42796" y="137897"/>
                </a:lnTo>
                <a:lnTo>
                  <a:pt x="42796" y="114122"/>
                </a:lnTo>
                <a:cubicBezTo>
                  <a:pt x="42796" y="108861"/>
                  <a:pt x="47045" y="104612"/>
                  <a:pt x="52306" y="104612"/>
                </a:cubicBezTo>
                <a:close/>
                <a:moveTo>
                  <a:pt x="28530" y="33285"/>
                </a:moveTo>
                <a:cubicBezTo>
                  <a:pt x="28530" y="30670"/>
                  <a:pt x="30670" y="28530"/>
                  <a:pt x="33285" y="28530"/>
                </a:cubicBezTo>
                <a:lnTo>
                  <a:pt x="42796" y="28530"/>
                </a:lnTo>
                <a:cubicBezTo>
                  <a:pt x="45411" y="28530"/>
                  <a:pt x="47551" y="30670"/>
                  <a:pt x="47551" y="33285"/>
                </a:cubicBezTo>
                <a:lnTo>
                  <a:pt x="47551" y="42796"/>
                </a:lnTo>
                <a:cubicBezTo>
                  <a:pt x="47551" y="45411"/>
                  <a:pt x="45411" y="47551"/>
                  <a:pt x="42796" y="47551"/>
                </a:cubicBezTo>
                <a:lnTo>
                  <a:pt x="33285" y="47551"/>
                </a:lnTo>
                <a:cubicBezTo>
                  <a:pt x="30670" y="47551"/>
                  <a:pt x="28530" y="45411"/>
                  <a:pt x="28530" y="42796"/>
                </a:cubicBezTo>
                <a:lnTo>
                  <a:pt x="28530" y="33285"/>
                </a:lnTo>
                <a:close/>
                <a:moveTo>
                  <a:pt x="71326" y="28530"/>
                </a:moveTo>
                <a:lnTo>
                  <a:pt x="80836" y="28530"/>
                </a:lnTo>
                <a:cubicBezTo>
                  <a:pt x="83451" y="28530"/>
                  <a:pt x="85591" y="30670"/>
                  <a:pt x="85591" y="33285"/>
                </a:cubicBezTo>
                <a:lnTo>
                  <a:pt x="85591" y="42796"/>
                </a:lnTo>
                <a:cubicBezTo>
                  <a:pt x="85591" y="45411"/>
                  <a:pt x="83451" y="47551"/>
                  <a:pt x="80836" y="47551"/>
                </a:cubicBezTo>
                <a:lnTo>
                  <a:pt x="71326" y="47551"/>
                </a:lnTo>
                <a:cubicBezTo>
                  <a:pt x="68711" y="47551"/>
                  <a:pt x="66571" y="45411"/>
                  <a:pt x="66571" y="42796"/>
                </a:cubicBezTo>
                <a:lnTo>
                  <a:pt x="66571" y="33285"/>
                </a:lnTo>
                <a:cubicBezTo>
                  <a:pt x="66571" y="30670"/>
                  <a:pt x="68711" y="28530"/>
                  <a:pt x="71326" y="28530"/>
                </a:cubicBezTo>
                <a:close/>
                <a:moveTo>
                  <a:pt x="28530" y="71326"/>
                </a:moveTo>
                <a:cubicBezTo>
                  <a:pt x="28530" y="68711"/>
                  <a:pt x="30670" y="66571"/>
                  <a:pt x="33285" y="66571"/>
                </a:cubicBezTo>
                <a:lnTo>
                  <a:pt x="42796" y="66571"/>
                </a:lnTo>
                <a:cubicBezTo>
                  <a:pt x="45411" y="66571"/>
                  <a:pt x="47551" y="68711"/>
                  <a:pt x="47551" y="71326"/>
                </a:cubicBezTo>
                <a:lnTo>
                  <a:pt x="47551" y="80836"/>
                </a:lnTo>
                <a:cubicBezTo>
                  <a:pt x="47551" y="83451"/>
                  <a:pt x="45411" y="85591"/>
                  <a:pt x="42796" y="85591"/>
                </a:cubicBezTo>
                <a:lnTo>
                  <a:pt x="33285" y="85591"/>
                </a:lnTo>
                <a:cubicBezTo>
                  <a:pt x="30670" y="85591"/>
                  <a:pt x="28530" y="83451"/>
                  <a:pt x="28530" y="80836"/>
                </a:cubicBezTo>
                <a:lnTo>
                  <a:pt x="28530" y="71326"/>
                </a:lnTo>
                <a:close/>
                <a:moveTo>
                  <a:pt x="71326" y="66571"/>
                </a:moveTo>
                <a:lnTo>
                  <a:pt x="80836" y="66571"/>
                </a:lnTo>
                <a:cubicBezTo>
                  <a:pt x="83451" y="66571"/>
                  <a:pt x="85591" y="68711"/>
                  <a:pt x="85591" y="71326"/>
                </a:cubicBezTo>
                <a:lnTo>
                  <a:pt x="85591" y="80836"/>
                </a:lnTo>
                <a:cubicBezTo>
                  <a:pt x="85591" y="83451"/>
                  <a:pt x="83451" y="85591"/>
                  <a:pt x="80836" y="85591"/>
                </a:cubicBezTo>
                <a:lnTo>
                  <a:pt x="71326" y="85591"/>
                </a:lnTo>
                <a:cubicBezTo>
                  <a:pt x="68711" y="85591"/>
                  <a:pt x="66571" y="83451"/>
                  <a:pt x="66571" y="80836"/>
                </a:cubicBezTo>
                <a:lnTo>
                  <a:pt x="66571" y="71326"/>
                </a:lnTo>
                <a:cubicBezTo>
                  <a:pt x="66571" y="68711"/>
                  <a:pt x="68711" y="66571"/>
                  <a:pt x="71326" y="66571"/>
                </a:cubicBezTo>
                <a:close/>
              </a:path>
            </a:pathLst>
          </a:custGeom>
          <a:solidFill>
            <a:srgbClr val="3B82F6"/>
          </a:solidFill>
          <a:ln/>
        </p:spPr>
      </p:sp>
      <p:sp>
        <p:nvSpPr>
          <p:cNvPr id="17" name="Text 15"/>
          <p:cNvSpPr/>
          <p:nvPr/>
        </p:nvSpPr>
        <p:spPr>
          <a:xfrm>
            <a:off x="888752" y="3319039"/>
            <a:ext cx="4878702" cy="380406"/>
          </a:xfrm>
          <a:prstGeom prst="rect">
            <a:avLst/>
          </a:prstGeom>
          <a:noFill/>
          <a:ln/>
        </p:spPr>
        <p:txBody>
          <a:bodyPr wrap="square" lIns="0" tIns="0" rIns="0" bIns="0" rtlCol="0" anchor="ctr"/>
          <a:lstStyle/>
          <a:p>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Tổ chức thành công sẽ là tổ chức biến GenAI thành một </a:t>
            </a:r>
            <a:pPr>
              <a:lnSpc>
                <a:spcPct val="120000"/>
              </a:lnSpc>
            </a:pPr>
            <a:r>
              <a:rPr lang="en-US" sz="1048" b="1" dirty="0">
                <a:solidFill>
                  <a:srgbClr val="3B82F6"/>
                </a:solidFill>
                <a:latin typeface="MiSans" pitchFamily="34" charset="0"/>
                <a:ea typeface="MiSans" pitchFamily="34" charset="-122"/>
                <a:cs typeface="MiSans" pitchFamily="34" charset="-120"/>
              </a:rPr>
              <a:t>năng lực hệ thống</a:t>
            </a:r>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 (process + tooling + governance), không chỉ là một plugin IDE</a:t>
            </a:r>
            <a:endParaRPr lang="en-US" sz="1600" dirty="0"/>
          </a:p>
        </p:txBody>
      </p:sp>
      <p:sp>
        <p:nvSpPr>
          <p:cNvPr id="18" name="Shape 16"/>
          <p:cNvSpPr/>
          <p:nvPr/>
        </p:nvSpPr>
        <p:spPr>
          <a:xfrm>
            <a:off x="6175647" y="1145972"/>
            <a:ext cx="5630003" cy="3670914"/>
          </a:xfrm>
          <a:custGeom>
            <a:avLst/>
            <a:gdLst/>
            <a:ahLst/>
            <a:cxnLst/>
            <a:rect l="l" t="t" r="r" b="b"/>
            <a:pathLst>
              <a:path w="5630003" h="3670914">
                <a:moveTo>
                  <a:pt x="114129" y="0"/>
                </a:moveTo>
                <a:lnTo>
                  <a:pt x="5515874" y="0"/>
                </a:lnTo>
                <a:cubicBezTo>
                  <a:pt x="5578906" y="0"/>
                  <a:pt x="5630003" y="51097"/>
                  <a:pt x="5630003" y="114129"/>
                </a:cubicBezTo>
                <a:lnTo>
                  <a:pt x="5630003" y="3556785"/>
                </a:lnTo>
                <a:cubicBezTo>
                  <a:pt x="5630003" y="3619817"/>
                  <a:pt x="5578906" y="3670914"/>
                  <a:pt x="5515874" y="3670914"/>
                </a:cubicBezTo>
                <a:lnTo>
                  <a:pt x="114129" y="3670914"/>
                </a:lnTo>
                <a:cubicBezTo>
                  <a:pt x="51097" y="3670914"/>
                  <a:pt x="0" y="3619817"/>
                  <a:pt x="0" y="3556785"/>
                </a:cubicBezTo>
                <a:lnTo>
                  <a:pt x="0" y="114129"/>
                </a:lnTo>
                <a:cubicBezTo>
                  <a:pt x="0" y="51097"/>
                  <a:pt x="51097" y="0"/>
                  <a:pt x="114129" y="0"/>
                </a:cubicBezTo>
                <a:close/>
              </a:path>
            </a:pathLst>
          </a:custGeom>
          <a:gradFill rotWithShape="1" flip="none">
            <a:gsLst>
              <a:gs pos="0">
                <a:srgbClr val="10B981">
                  <a:alpha val="10000"/>
                </a:srgbClr>
              </a:gs>
              <a:gs pos="100000">
                <a:srgbClr val="10B981">
                  <a:alpha val="5000"/>
                </a:srgbClr>
              </a:gs>
            </a:gsLst>
            <a:lin ang="2700000" scaled="1"/>
          </a:gradFill>
          <a:ln w="12700">
            <a:solidFill>
              <a:srgbClr val="10B981">
                <a:alpha val="30196"/>
              </a:srgbClr>
            </a:solidFill>
            <a:prstDash val="solid"/>
          </a:ln>
        </p:spPr>
      </p:sp>
      <p:sp>
        <p:nvSpPr>
          <p:cNvPr id="19" name="Shape 17"/>
          <p:cNvSpPr/>
          <p:nvPr/>
        </p:nvSpPr>
        <p:spPr>
          <a:xfrm>
            <a:off x="6394381" y="1378970"/>
            <a:ext cx="190203" cy="190203"/>
          </a:xfrm>
          <a:custGeom>
            <a:avLst/>
            <a:gdLst/>
            <a:ahLst/>
            <a:cxnLst/>
            <a:rect l="l" t="t" r="r" b="b"/>
            <a:pathLst>
              <a:path w="190203" h="190203">
                <a:moveTo>
                  <a:pt x="53606" y="0"/>
                </a:moveTo>
                <a:lnTo>
                  <a:pt x="136820" y="0"/>
                </a:lnTo>
                <a:cubicBezTo>
                  <a:pt x="146664" y="0"/>
                  <a:pt x="154688" y="8098"/>
                  <a:pt x="154317" y="17906"/>
                </a:cubicBezTo>
                <a:cubicBezTo>
                  <a:pt x="154243" y="19875"/>
                  <a:pt x="154168" y="21844"/>
                  <a:pt x="154057" y="23775"/>
                </a:cubicBezTo>
                <a:lnTo>
                  <a:pt x="172483" y="23775"/>
                </a:lnTo>
                <a:cubicBezTo>
                  <a:pt x="182179" y="23775"/>
                  <a:pt x="190723" y="31800"/>
                  <a:pt x="189980" y="42276"/>
                </a:cubicBezTo>
                <a:cubicBezTo>
                  <a:pt x="187194" y="80799"/>
                  <a:pt x="167505" y="101974"/>
                  <a:pt x="146144" y="113044"/>
                </a:cubicBezTo>
                <a:cubicBezTo>
                  <a:pt x="140275" y="116091"/>
                  <a:pt x="134294" y="118357"/>
                  <a:pt x="128610" y="120028"/>
                </a:cubicBezTo>
                <a:cubicBezTo>
                  <a:pt x="121106" y="130653"/>
                  <a:pt x="113304" y="136262"/>
                  <a:pt x="107101" y="139272"/>
                </a:cubicBezTo>
                <a:lnTo>
                  <a:pt x="107101" y="166427"/>
                </a:lnTo>
                <a:lnTo>
                  <a:pt x="130876" y="166427"/>
                </a:lnTo>
                <a:cubicBezTo>
                  <a:pt x="137451" y="166427"/>
                  <a:pt x="142764" y="171740"/>
                  <a:pt x="142764" y="178315"/>
                </a:cubicBezTo>
                <a:cubicBezTo>
                  <a:pt x="142764" y="184891"/>
                  <a:pt x="137451" y="190203"/>
                  <a:pt x="130876" y="190203"/>
                </a:cubicBezTo>
                <a:lnTo>
                  <a:pt x="59550" y="190203"/>
                </a:lnTo>
                <a:cubicBezTo>
                  <a:pt x="52974" y="190203"/>
                  <a:pt x="47662" y="184891"/>
                  <a:pt x="47662" y="178315"/>
                </a:cubicBezTo>
                <a:cubicBezTo>
                  <a:pt x="47662" y="171740"/>
                  <a:pt x="52974" y="166427"/>
                  <a:pt x="59550" y="166427"/>
                </a:cubicBezTo>
                <a:lnTo>
                  <a:pt x="83325" y="166427"/>
                </a:lnTo>
                <a:lnTo>
                  <a:pt x="83325" y="139272"/>
                </a:lnTo>
                <a:cubicBezTo>
                  <a:pt x="77381" y="136411"/>
                  <a:pt x="69989" y="131099"/>
                  <a:pt x="62782" y="121329"/>
                </a:cubicBezTo>
                <a:cubicBezTo>
                  <a:pt x="55946" y="119545"/>
                  <a:pt x="48517" y="116834"/>
                  <a:pt x="41273" y="112747"/>
                </a:cubicBezTo>
                <a:cubicBezTo>
                  <a:pt x="21175" y="101491"/>
                  <a:pt x="3046" y="80279"/>
                  <a:pt x="446" y="42201"/>
                </a:cubicBezTo>
                <a:cubicBezTo>
                  <a:pt x="-260" y="31762"/>
                  <a:pt x="8247" y="23738"/>
                  <a:pt x="17943" y="23738"/>
                </a:cubicBezTo>
                <a:lnTo>
                  <a:pt x="36369" y="23738"/>
                </a:lnTo>
                <a:cubicBezTo>
                  <a:pt x="36257" y="21806"/>
                  <a:pt x="36183" y="19875"/>
                  <a:pt x="36109" y="17869"/>
                </a:cubicBezTo>
                <a:cubicBezTo>
                  <a:pt x="35737" y="8024"/>
                  <a:pt x="43762" y="-37"/>
                  <a:pt x="53606" y="-37"/>
                </a:cubicBezTo>
                <a:close/>
                <a:moveTo>
                  <a:pt x="37706" y="41607"/>
                </a:moveTo>
                <a:lnTo>
                  <a:pt x="18240" y="41607"/>
                </a:lnTo>
                <a:cubicBezTo>
                  <a:pt x="20543" y="73072"/>
                  <a:pt x="34994" y="88823"/>
                  <a:pt x="49891" y="97182"/>
                </a:cubicBezTo>
                <a:cubicBezTo>
                  <a:pt x="44542" y="83325"/>
                  <a:pt x="40121" y="65234"/>
                  <a:pt x="37706" y="41607"/>
                </a:cubicBezTo>
                <a:close/>
                <a:moveTo>
                  <a:pt x="141166" y="95399"/>
                </a:moveTo>
                <a:cubicBezTo>
                  <a:pt x="156211" y="86557"/>
                  <a:pt x="169808" y="70843"/>
                  <a:pt x="172111" y="41607"/>
                </a:cubicBezTo>
                <a:lnTo>
                  <a:pt x="152682" y="41607"/>
                </a:lnTo>
                <a:cubicBezTo>
                  <a:pt x="150379" y="64231"/>
                  <a:pt x="146218" y="81802"/>
                  <a:pt x="141166" y="95399"/>
                </a:cubicBezTo>
                <a:close/>
              </a:path>
            </a:pathLst>
          </a:custGeom>
          <a:solidFill>
            <a:srgbClr val="10B981"/>
          </a:solidFill>
          <a:ln/>
        </p:spPr>
      </p:sp>
      <p:sp>
        <p:nvSpPr>
          <p:cNvPr id="20" name="Text 18"/>
          <p:cNvSpPr/>
          <p:nvPr/>
        </p:nvSpPr>
        <p:spPr>
          <a:xfrm>
            <a:off x="6608359" y="1340930"/>
            <a:ext cx="5097435" cy="266284"/>
          </a:xfrm>
          <a:prstGeom prst="rect">
            <a:avLst/>
          </a:prstGeom>
          <a:noFill/>
          <a:ln/>
        </p:spPr>
        <p:txBody>
          <a:bodyPr wrap="square" lIns="0" tIns="0" rIns="0" bIns="0" rtlCol="0" anchor="ctr"/>
          <a:lstStyle/>
          <a:p>
            <a:pPr>
              <a:lnSpc>
                <a:spcPct val="120000"/>
              </a:lnSpc>
            </a:pPr>
            <a:r>
              <a:rPr lang="en-US" sz="1498" b="1" dirty="0">
                <a:solidFill>
                  <a:srgbClr val="10B981"/>
                </a:solidFill>
                <a:latin typeface="MiSans" pitchFamily="34" charset="0"/>
                <a:ea typeface="MiSans" pitchFamily="34" charset="-122"/>
                <a:cs typeface="MiSans" pitchFamily="34" charset="-120"/>
              </a:rPr>
              <a:t>Thông điệp chiến thắng</a:t>
            </a:r>
            <a:endParaRPr lang="en-US" sz="1600" dirty="0"/>
          </a:p>
        </p:txBody>
      </p:sp>
      <p:sp>
        <p:nvSpPr>
          <p:cNvPr id="21" name="Shape 19"/>
          <p:cNvSpPr/>
          <p:nvPr/>
        </p:nvSpPr>
        <p:spPr>
          <a:xfrm>
            <a:off x="6375360" y="1764131"/>
            <a:ext cx="5230577" cy="874933"/>
          </a:xfrm>
          <a:custGeom>
            <a:avLst/>
            <a:gdLst/>
            <a:ahLst/>
            <a:cxnLst/>
            <a:rect l="l" t="t" r="r" b="b"/>
            <a:pathLst>
              <a:path w="5230577" h="874933">
                <a:moveTo>
                  <a:pt x="76084" y="0"/>
                </a:moveTo>
                <a:lnTo>
                  <a:pt x="5154493" y="0"/>
                </a:lnTo>
                <a:cubicBezTo>
                  <a:pt x="5196513" y="0"/>
                  <a:pt x="5230577" y="34064"/>
                  <a:pt x="5230577" y="76084"/>
                </a:cubicBezTo>
                <a:lnTo>
                  <a:pt x="5230577" y="798849"/>
                </a:lnTo>
                <a:cubicBezTo>
                  <a:pt x="5230577" y="840869"/>
                  <a:pt x="5196513" y="874933"/>
                  <a:pt x="5154493" y="874933"/>
                </a:cubicBezTo>
                <a:lnTo>
                  <a:pt x="76084" y="874933"/>
                </a:lnTo>
                <a:cubicBezTo>
                  <a:pt x="34064" y="874933"/>
                  <a:pt x="0" y="840869"/>
                  <a:pt x="0" y="798849"/>
                </a:cubicBezTo>
                <a:lnTo>
                  <a:pt x="0" y="76084"/>
                </a:lnTo>
                <a:cubicBezTo>
                  <a:pt x="0" y="34092"/>
                  <a:pt x="34092" y="0"/>
                  <a:pt x="76084" y="0"/>
                </a:cubicBezTo>
                <a:close/>
              </a:path>
            </a:pathLst>
          </a:custGeom>
          <a:solidFill>
            <a:srgbClr val="0F172A"/>
          </a:solidFill>
          <a:ln w="12700">
            <a:solidFill>
              <a:srgbClr val="10B981">
                <a:alpha val="30196"/>
              </a:srgbClr>
            </a:solidFill>
            <a:prstDash val="solid"/>
          </a:ln>
        </p:spPr>
      </p:sp>
      <p:sp>
        <p:nvSpPr>
          <p:cNvPr id="22" name="Text 20"/>
          <p:cNvSpPr/>
          <p:nvPr/>
        </p:nvSpPr>
        <p:spPr>
          <a:xfrm>
            <a:off x="6489482" y="1921048"/>
            <a:ext cx="5002334" cy="561098"/>
          </a:xfrm>
          <a:prstGeom prst="rect">
            <a:avLst/>
          </a:prstGeom>
          <a:noFill/>
          <a:ln/>
        </p:spPr>
        <p:txBody>
          <a:bodyPr wrap="square" lIns="0" tIns="0" rIns="0" bIns="0" rtlCol="0" anchor="ctr"/>
          <a:lstStyle/>
          <a:p>
            <a:pPr algn="ctr">
              <a:lnSpc>
                <a:spcPct val="140000"/>
              </a:lnSpc>
            </a:pPr>
            <a:r>
              <a:rPr lang="en-US" sz="1348" dirty="0">
                <a:solidFill>
                  <a:srgbClr val="F1F5F9">
                    <a:alpha val="90000"/>
                  </a:srgbClr>
                </a:solidFill>
                <a:latin typeface="MiSans" pitchFamily="34" charset="0"/>
                <a:ea typeface="MiSans" pitchFamily="34" charset="-122"/>
                <a:cs typeface="MiSans" pitchFamily="34" charset="-120"/>
              </a:rPr>
              <a:t>Tương lai software engineering là sự </a:t>
            </a:r>
            <a:pPr algn="ctr">
              <a:lnSpc>
                <a:spcPct val="140000"/>
              </a:lnSpc>
            </a:pPr>
            <a:r>
              <a:rPr lang="en-US" sz="1348" b="1" dirty="0">
                <a:solidFill>
                  <a:srgbClr val="10B981"/>
                </a:solidFill>
                <a:latin typeface="MiSans" pitchFamily="34" charset="0"/>
                <a:ea typeface="MiSans" pitchFamily="34" charset="-122"/>
                <a:cs typeface="MiSans" pitchFamily="34" charset="-120"/>
              </a:rPr>
              <a:t>kết hợp</a:t>
            </a:r>
            <a:pPr algn="ctr">
              <a:lnSpc>
                <a:spcPct val="140000"/>
              </a:lnSpc>
            </a:pPr>
            <a:r>
              <a:rPr lang="en-US" sz="1348" dirty="0">
                <a:solidFill>
                  <a:srgbClr val="F1F5F9">
                    <a:alpha val="90000"/>
                  </a:srgbClr>
                </a:solidFill>
                <a:latin typeface="MiSans" pitchFamily="34" charset="0"/>
                <a:ea typeface="MiSans" pitchFamily="34" charset="-122"/>
                <a:cs typeface="MiSans" pitchFamily="34" charset="-120"/>
              </a:rPr>
              <a:t> giữa </a:t>
            </a:r>
            <a:pPr algn="ctr">
              <a:lnSpc>
                <a:spcPct val="140000"/>
              </a:lnSpc>
            </a:pPr>
            <a:r>
              <a:rPr lang="en-US" sz="1348" b="1" dirty="0">
                <a:solidFill>
                  <a:srgbClr val="3B82F6"/>
                </a:solidFill>
                <a:latin typeface="MiSans" pitchFamily="34" charset="0"/>
                <a:ea typeface="MiSans" pitchFamily="34" charset="-122"/>
                <a:cs typeface="MiSans" pitchFamily="34" charset="-120"/>
              </a:rPr>
              <a:t>trí tuệ con ngườ</a:t>
            </a:r>
            <a:pPr algn="ctr">
              <a:lnSpc>
                <a:spcPct val="140000"/>
              </a:lnSpc>
            </a:pPr>
            <a:r>
              <a:rPr lang="en-US" sz="1348" dirty="0">
                <a:solidFill>
                  <a:srgbClr val="F1F5F9">
                    <a:alpha val="90000"/>
                  </a:srgbClr>
                </a:solidFill>
                <a:latin typeface="MiSans" pitchFamily="34" charset="0"/>
                <a:ea typeface="MiSans" pitchFamily="34" charset="-122"/>
                <a:cs typeface="MiSans" pitchFamily="34" charset="-120"/>
              </a:rPr>
              <a:t> ở tầng thiết kế và </a:t>
            </a:r>
            <a:pPr algn="ctr">
              <a:lnSpc>
                <a:spcPct val="140000"/>
              </a:lnSpc>
            </a:pPr>
            <a:r>
              <a:rPr lang="en-US" sz="1348" b="1" dirty="0">
                <a:solidFill>
                  <a:srgbClr val="8B5CF6"/>
                </a:solidFill>
                <a:latin typeface="MiSans" pitchFamily="34" charset="0"/>
                <a:ea typeface="MiSans" pitchFamily="34" charset="-122"/>
                <a:cs typeface="MiSans" pitchFamily="34" charset="-120"/>
              </a:rPr>
              <a:t>sức mạnh GenAI</a:t>
            </a:r>
            <a:pPr algn="ctr">
              <a:lnSpc>
                <a:spcPct val="140000"/>
              </a:lnSpc>
            </a:pPr>
            <a:r>
              <a:rPr lang="en-US" sz="1348" dirty="0">
                <a:solidFill>
                  <a:srgbClr val="F1F5F9">
                    <a:alpha val="90000"/>
                  </a:srgbClr>
                </a:solidFill>
                <a:latin typeface="MiSans" pitchFamily="34" charset="0"/>
                <a:ea typeface="MiSans" pitchFamily="34" charset="-122"/>
                <a:cs typeface="MiSans" pitchFamily="34" charset="-120"/>
              </a:rPr>
              <a:t> ở tầng thi hành.</a:t>
            </a:r>
            <a:endParaRPr lang="en-US" sz="1600" dirty="0"/>
          </a:p>
        </p:txBody>
      </p:sp>
      <p:sp>
        <p:nvSpPr>
          <p:cNvPr id="23" name="Shape 21"/>
          <p:cNvSpPr/>
          <p:nvPr/>
        </p:nvSpPr>
        <p:spPr>
          <a:xfrm>
            <a:off x="6370605" y="2753186"/>
            <a:ext cx="5240087" cy="1863988"/>
          </a:xfrm>
          <a:custGeom>
            <a:avLst/>
            <a:gdLst/>
            <a:ahLst/>
            <a:cxnLst/>
            <a:rect l="l" t="t" r="r" b="b"/>
            <a:pathLst>
              <a:path w="5240087" h="1863988">
                <a:moveTo>
                  <a:pt x="76088" y="0"/>
                </a:moveTo>
                <a:lnTo>
                  <a:pt x="5163999" y="0"/>
                </a:lnTo>
                <a:cubicBezTo>
                  <a:pt x="5205993" y="0"/>
                  <a:pt x="5240087" y="34094"/>
                  <a:pt x="5240087" y="76088"/>
                </a:cubicBezTo>
                <a:lnTo>
                  <a:pt x="5240087" y="1787900"/>
                </a:lnTo>
                <a:cubicBezTo>
                  <a:pt x="5240087" y="1829894"/>
                  <a:pt x="5205993" y="1863988"/>
                  <a:pt x="5163999" y="1863988"/>
                </a:cubicBezTo>
                <a:lnTo>
                  <a:pt x="76088" y="1863988"/>
                </a:lnTo>
                <a:cubicBezTo>
                  <a:pt x="34094" y="1863988"/>
                  <a:pt x="0" y="1829894"/>
                  <a:pt x="0" y="1787900"/>
                </a:cubicBezTo>
                <a:lnTo>
                  <a:pt x="0" y="76088"/>
                </a:lnTo>
                <a:cubicBezTo>
                  <a:pt x="0" y="34094"/>
                  <a:pt x="34094" y="0"/>
                  <a:pt x="76088" y="0"/>
                </a:cubicBezTo>
                <a:close/>
              </a:path>
            </a:pathLst>
          </a:custGeom>
          <a:solidFill>
            <a:srgbClr val="0F172A"/>
          </a:solidFill>
          <a:ln/>
        </p:spPr>
      </p:sp>
      <p:sp>
        <p:nvSpPr>
          <p:cNvPr id="24" name="Text 22"/>
          <p:cNvSpPr/>
          <p:nvPr/>
        </p:nvSpPr>
        <p:spPr>
          <a:xfrm>
            <a:off x="6522768" y="2905348"/>
            <a:ext cx="5011844" cy="228243"/>
          </a:xfrm>
          <a:prstGeom prst="rect">
            <a:avLst/>
          </a:prstGeom>
          <a:noFill/>
          <a:ln/>
        </p:spPr>
        <p:txBody>
          <a:bodyPr wrap="square" lIns="0" tIns="0" rIns="0" bIns="0" rtlCol="0" anchor="ctr"/>
          <a:lstStyle/>
          <a:p>
            <a:pPr>
              <a:lnSpc>
                <a:spcPct val="120000"/>
              </a:lnSpc>
            </a:pPr>
            <a:r>
              <a:rPr lang="en-US" sz="1198" b="1" dirty="0">
                <a:solidFill>
                  <a:srgbClr val="F59E0B"/>
                </a:solidFill>
                <a:latin typeface="MiSans" pitchFamily="34" charset="0"/>
                <a:ea typeface="MiSans" pitchFamily="34" charset="-122"/>
                <a:cs typeface="MiSans" pitchFamily="34" charset="-120"/>
              </a:rPr>
              <a:t>Ngườichiến thắng không phải là:</a:t>
            </a:r>
            <a:endParaRPr lang="en-US" sz="1600" dirty="0"/>
          </a:p>
        </p:txBody>
      </p:sp>
      <p:sp>
        <p:nvSpPr>
          <p:cNvPr id="25" name="Text 23"/>
          <p:cNvSpPr/>
          <p:nvPr/>
        </p:nvSpPr>
        <p:spPr>
          <a:xfrm>
            <a:off x="6522768" y="3209672"/>
            <a:ext cx="5002334" cy="190203"/>
          </a:xfrm>
          <a:prstGeom prst="rect">
            <a:avLst/>
          </a:prstGeom>
          <a:noFill/>
          <a:ln/>
        </p:spPr>
        <p:txBody>
          <a:bodyPr wrap="square" lIns="0" tIns="0" rIns="0" bIns="0" rtlCol="0" anchor="ctr"/>
          <a:lstStyle/>
          <a:p>
            <a:pPr>
              <a:lnSpc>
                <a:spcPct val="120000"/>
              </a:lnSpc>
            </a:pPr>
            <a:r>
              <a:rPr lang="en-US" sz="1048" dirty="0">
                <a:solidFill>
                  <a:srgbClr val="F1F5F9">
                    <a:alpha val="80000"/>
                  </a:srgbClr>
                </a:solidFill>
                <a:latin typeface="MiSans" pitchFamily="34" charset="0"/>
                <a:ea typeface="MiSans" pitchFamily="34" charset="-122"/>
                <a:cs typeface="MiSans" pitchFamily="34" charset="-120"/>
              </a:rPr>
              <a:t>Bên có </a:t>
            </a:r>
            <a:pPr>
              <a:lnSpc>
                <a:spcPct val="120000"/>
              </a:lnSpc>
            </a:pPr>
            <a:r>
              <a:rPr lang="en-US" sz="1048" b="1" dirty="0">
                <a:solidFill>
                  <a:srgbClr val="EF4444"/>
                </a:solidFill>
                <a:latin typeface="MiSans" pitchFamily="34" charset="0"/>
                <a:ea typeface="MiSans" pitchFamily="34" charset="-122"/>
                <a:cs typeface="MiSans" pitchFamily="34" charset="-120"/>
              </a:rPr>
              <a:t>model lớn nhất</a:t>
            </a:r>
            <a:endParaRPr lang="en-US" sz="1600" dirty="0"/>
          </a:p>
        </p:txBody>
      </p:sp>
      <p:sp>
        <p:nvSpPr>
          <p:cNvPr id="26" name="Text 24"/>
          <p:cNvSpPr/>
          <p:nvPr/>
        </p:nvSpPr>
        <p:spPr>
          <a:xfrm>
            <a:off x="6522768" y="3513997"/>
            <a:ext cx="5011844" cy="228243"/>
          </a:xfrm>
          <a:prstGeom prst="rect">
            <a:avLst/>
          </a:prstGeom>
          <a:noFill/>
          <a:ln/>
        </p:spPr>
        <p:txBody>
          <a:bodyPr wrap="square" lIns="0" tIns="0" rIns="0" bIns="0" rtlCol="0" anchor="ctr"/>
          <a:lstStyle/>
          <a:p>
            <a:pPr>
              <a:lnSpc>
                <a:spcPct val="120000"/>
              </a:lnSpc>
            </a:pPr>
            <a:r>
              <a:rPr lang="en-US" sz="1198" b="1" dirty="0">
                <a:solidFill>
                  <a:srgbClr val="10B981"/>
                </a:solidFill>
                <a:latin typeface="MiSans" pitchFamily="34" charset="0"/>
                <a:ea typeface="MiSans" pitchFamily="34" charset="-122"/>
                <a:cs typeface="MiSans" pitchFamily="34" charset="-120"/>
              </a:rPr>
              <a:t>Mà là bên có:</a:t>
            </a:r>
            <a:endParaRPr lang="en-US" sz="1600" dirty="0"/>
          </a:p>
        </p:txBody>
      </p:sp>
      <p:sp>
        <p:nvSpPr>
          <p:cNvPr id="27" name="Shape 25"/>
          <p:cNvSpPr/>
          <p:nvPr/>
        </p:nvSpPr>
        <p:spPr>
          <a:xfrm>
            <a:off x="6550109" y="3856362"/>
            <a:ext cx="116499" cy="133142"/>
          </a:xfrm>
          <a:custGeom>
            <a:avLst/>
            <a:gdLst/>
            <a:ahLst/>
            <a:cxnLst/>
            <a:rect l="l" t="t" r="r" b="b"/>
            <a:pathLst>
              <a:path w="116499" h="133142">
                <a:moveTo>
                  <a:pt x="113067" y="18229"/>
                </a:moveTo>
                <a:cubicBezTo>
                  <a:pt x="116785" y="20933"/>
                  <a:pt x="117617" y="26134"/>
                  <a:pt x="114913" y="29853"/>
                </a:cubicBezTo>
                <a:lnTo>
                  <a:pt x="48342" y="121388"/>
                </a:lnTo>
                <a:cubicBezTo>
                  <a:pt x="46912" y="123364"/>
                  <a:pt x="44701" y="124587"/>
                  <a:pt x="42257" y="124795"/>
                </a:cubicBezTo>
                <a:cubicBezTo>
                  <a:pt x="39813" y="125003"/>
                  <a:pt x="37446" y="124092"/>
                  <a:pt x="35730" y="122376"/>
                </a:cubicBezTo>
                <a:lnTo>
                  <a:pt x="2444" y="89091"/>
                </a:lnTo>
                <a:cubicBezTo>
                  <a:pt x="-806" y="85840"/>
                  <a:pt x="-806" y="80561"/>
                  <a:pt x="2444" y="77311"/>
                </a:cubicBezTo>
                <a:cubicBezTo>
                  <a:pt x="5695" y="74060"/>
                  <a:pt x="10974" y="74060"/>
                  <a:pt x="14224" y="77311"/>
                </a:cubicBezTo>
                <a:lnTo>
                  <a:pt x="40619" y="103705"/>
                </a:lnTo>
                <a:lnTo>
                  <a:pt x="101469" y="20049"/>
                </a:lnTo>
                <a:cubicBezTo>
                  <a:pt x="104173" y="16331"/>
                  <a:pt x="109374" y="15499"/>
                  <a:pt x="113093" y="18203"/>
                </a:cubicBezTo>
                <a:close/>
              </a:path>
            </a:pathLst>
          </a:custGeom>
          <a:solidFill>
            <a:srgbClr val="10B981"/>
          </a:solidFill>
          <a:ln/>
        </p:spPr>
      </p:sp>
      <p:sp>
        <p:nvSpPr>
          <p:cNvPr id="28" name="Text 26"/>
          <p:cNvSpPr/>
          <p:nvPr/>
        </p:nvSpPr>
        <p:spPr>
          <a:xfrm>
            <a:off x="6765276" y="3818321"/>
            <a:ext cx="1074497" cy="180693"/>
          </a:xfrm>
          <a:prstGeom prst="rect">
            <a:avLst/>
          </a:prstGeom>
          <a:noFill/>
          <a:ln/>
        </p:spPr>
        <p:txBody>
          <a:bodyPr wrap="square" lIns="0" tIns="0" rIns="0" bIns="0" rtlCol="0" anchor="ctr"/>
          <a:lstStyle/>
          <a:p>
            <a:pPr>
              <a:lnSpc>
                <a:spcPct val="120000"/>
              </a:lnSpc>
            </a:pPr>
            <a:r>
              <a:rPr lang="en-US" sz="1048" b="1" dirty="0">
                <a:solidFill>
                  <a:srgbClr val="10B981"/>
                </a:solidFill>
                <a:latin typeface="MiSans" pitchFamily="34" charset="0"/>
                <a:ea typeface="MiSans" pitchFamily="34" charset="-122"/>
                <a:cs typeface="MiSans" pitchFamily="34" charset="-120"/>
              </a:rPr>
              <a:t>Quy trình tin cậy</a:t>
            </a:r>
            <a:endParaRPr lang="en-US" sz="1600" dirty="0"/>
          </a:p>
        </p:txBody>
      </p:sp>
      <p:sp>
        <p:nvSpPr>
          <p:cNvPr id="29" name="Shape 27"/>
          <p:cNvSpPr/>
          <p:nvPr/>
        </p:nvSpPr>
        <p:spPr>
          <a:xfrm>
            <a:off x="6550109" y="4084605"/>
            <a:ext cx="116499" cy="133142"/>
          </a:xfrm>
          <a:custGeom>
            <a:avLst/>
            <a:gdLst/>
            <a:ahLst/>
            <a:cxnLst/>
            <a:rect l="l" t="t" r="r" b="b"/>
            <a:pathLst>
              <a:path w="116499" h="133142">
                <a:moveTo>
                  <a:pt x="113067" y="18229"/>
                </a:moveTo>
                <a:cubicBezTo>
                  <a:pt x="116785" y="20933"/>
                  <a:pt x="117617" y="26134"/>
                  <a:pt x="114913" y="29853"/>
                </a:cubicBezTo>
                <a:lnTo>
                  <a:pt x="48342" y="121388"/>
                </a:lnTo>
                <a:cubicBezTo>
                  <a:pt x="46912" y="123364"/>
                  <a:pt x="44701" y="124587"/>
                  <a:pt x="42257" y="124795"/>
                </a:cubicBezTo>
                <a:cubicBezTo>
                  <a:pt x="39813" y="125003"/>
                  <a:pt x="37446" y="124092"/>
                  <a:pt x="35730" y="122376"/>
                </a:cubicBezTo>
                <a:lnTo>
                  <a:pt x="2444" y="89091"/>
                </a:lnTo>
                <a:cubicBezTo>
                  <a:pt x="-806" y="85840"/>
                  <a:pt x="-806" y="80561"/>
                  <a:pt x="2444" y="77311"/>
                </a:cubicBezTo>
                <a:cubicBezTo>
                  <a:pt x="5695" y="74060"/>
                  <a:pt x="10974" y="74060"/>
                  <a:pt x="14224" y="77311"/>
                </a:cubicBezTo>
                <a:lnTo>
                  <a:pt x="40619" y="103705"/>
                </a:lnTo>
                <a:lnTo>
                  <a:pt x="101469" y="20049"/>
                </a:lnTo>
                <a:cubicBezTo>
                  <a:pt x="104173" y="16331"/>
                  <a:pt x="109374" y="15499"/>
                  <a:pt x="113093" y="18203"/>
                </a:cubicBezTo>
                <a:close/>
              </a:path>
            </a:pathLst>
          </a:custGeom>
          <a:solidFill>
            <a:srgbClr val="10B981"/>
          </a:solidFill>
          <a:ln/>
        </p:spPr>
      </p:sp>
      <p:sp>
        <p:nvSpPr>
          <p:cNvPr id="30" name="Text 28"/>
          <p:cNvSpPr/>
          <p:nvPr/>
        </p:nvSpPr>
        <p:spPr>
          <a:xfrm>
            <a:off x="6765276" y="4046565"/>
            <a:ext cx="1033039" cy="180693"/>
          </a:xfrm>
          <a:prstGeom prst="rect">
            <a:avLst/>
          </a:prstGeom>
          <a:noFill/>
          <a:ln/>
        </p:spPr>
        <p:txBody>
          <a:bodyPr wrap="square" lIns="0" tIns="0" rIns="0" bIns="0" rtlCol="0" anchor="ctr"/>
          <a:lstStyle/>
          <a:p>
            <a:pPr>
              <a:lnSpc>
                <a:spcPct val="120000"/>
              </a:lnSpc>
            </a:pPr>
            <a:r>
              <a:rPr lang="en-US" sz="1048" b="1" dirty="0">
                <a:solidFill>
                  <a:srgbClr val="10B981"/>
                </a:solidFill>
                <a:latin typeface="MiSans" pitchFamily="34" charset="0"/>
                <a:ea typeface="MiSans" pitchFamily="34" charset="-122"/>
                <a:cs typeface="MiSans" pitchFamily="34" charset="-120"/>
              </a:rPr>
              <a:t>Kiểm soát rủi ro</a:t>
            </a:r>
            <a:endParaRPr lang="en-US" sz="1600" dirty="0"/>
          </a:p>
        </p:txBody>
      </p:sp>
      <p:sp>
        <p:nvSpPr>
          <p:cNvPr id="31" name="Shape 29"/>
          <p:cNvSpPr/>
          <p:nvPr/>
        </p:nvSpPr>
        <p:spPr>
          <a:xfrm>
            <a:off x="6550109" y="4312849"/>
            <a:ext cx="116499" cy="133142"/>
          </a:xfrm>
          <a:custGeom>
            <a:avLst/>
            <a:gdLst/>
            <a:ahLst/>
            <a:cxnLst/>
            <a:rect l="l" t="t" r="r" b="b"/>
            <a:pathLst>
              <a:path w="116499" h="133142">
                <a:moveTo>
                  <a:pt x="113067" y="18229"/>
                </a:moveTo>
                <a:cubicBezTo>
                  <a:pt x="116785" y="20933"/>
                  <a:pt x="117617" y="26134"/>
                  <a:pt x="114913" y="29853"/>
                </a:cubicBezTo>
                <a:lnTo>
                  <a:pt x="48342" y="121388"/>
                </a:lnTo>
                <a:cubicBezTo>
                  <a:pt x="46912" y="123364"/>
                  <a:pt x="44701" y="124587"/>
                  <a:pt x="42257" y="124795"/>
                </a:cubicBezTo>
                <a:cubicBezTo>
                  <a:pt x="39813" y="125003"/>
                  <a:pt x="37446" y="124092"/>
                  <a:pt x="35730" y="122376"/>
                </a:cubicBezTo>
                <a:lnTo>
                  <a:pt x="2444" y="89091"/>
                </a:lnTo>
                <a:cubicBezTo>
                  <a:pt x="-806" y="85840"/>
                  <a:pt x="-806" y="80561"/>
                  <a:pt x="2444" y="77311"/>
                </a:cubicBezTo>
                <a:cubicBezTo>
                  <a:pt x="5695" y="74060"/>
                  <a:pt x="10974" y="74060"/>
                  <a:pt x="14224" y="77311"/>
                </a:cubicBezTo>
                <a:lnTo>
                  <a:pt x="40619" y="103705"/>
                </a:lnTo>
                <a:lnTo>
                  <a:pt x="101469" y="20049"/>
                </a:lnTo>
                <a:cubicBezTo>
                  <a:pt x="104173" y="16331"/>
                  <a:pt x="109374" y="15499"/>
                  <a:pt x="113093" y="18203"/>
                </a:cubicBezTo>
                <a:close/>
              </a:path>
            </a:pathLst>
          </a:custGeom>
          <a:solidFill>
            <a:srgbClr val="10B981"/>
          </a:solidFill>
          <a:ln/>
        </p:spPr>
      </p:sp>
      <p:sp>
        <p:nvSpPr>
          <p:cNvPr id="32" name="Text 30"/>
          <p:cNvSpPr/>
          <p:nvPr/>
        </p:nvSpPr>
        <p:spPr>
          <a:xfrm>
            <a:off x="6765276" y="4274808"/>
            <a:ext cx="994255" cy="180693"/>
          </a:xfrm>
          <a:prstGeom prst="rect">
            <a:avLst/>
          </a:prstGeom>
          <a:noFill/>
          <a:ln/>
        </p:spPr>
        <p:txBody>
          <a:bodyPr wrap="square" lIns="0" tIns="0" rIns="0" bIns="0" rtlCol="0" anchor="ctr"/>
          <a:lstStyle/>
          <a:p>
            <a:pPr>
              <a:lnSpc>
                <a:spcPct val="120000"/>
              </a:lnSpc>
            </a:pPr>
            <a:r>
              <a:rPr lang="en-US" sz="1048" b="1" dirty="0">
                <a:solidFill>
                  <a:srgbClr val="10B981"/>
                </a:solidFill>
                <a:latin typeface="MiSans" pitchFamily="34" charset="0"/>
                <a:ea typeface="MiSans" pitchFamily="34" charset="-122"/>
                <a:cs typeface="MiSans" pitchFamily="34" charset="-120"/>
              </a:rPr>
              <a:t>Học nhanh hơn</a:t>
            </a:r>
            <a:endParaRPr lang="en-US" sz="1600" dirty="0"/>
          </a:p>
        </p:txBody>
      </p:sp>
      <p:sp>
        <p:nvSpPr>
          <p:cNvPr id="33" name="Shape 31"/>
          <p:cNvSpPr/>
          <p:nvPr/>
        </p:nvSpPr>
        <p:spPr>
          <a:xfrm>
            <a:off x="385161" y="4973803"/>
            <a:ext cx="11421679" cy="1873498"/>
          </a:xfrm>
          <a:custGeom>
            <a:avLst/>
            <a:gdLst/>
            <a:ahLst/>
            <a:cxnLst/>
            <a:rect l="l" t="t" r="r" b="b"/>
            <a:pathLst>
              <a:path w="11421679" h="1873498">
                <a:moveTo>
                  <a:pt x="114115" y="0"/>
                </a:moveTo>
                <a:lnTo>
                  <a:pt x="11307564" y="0"/>
                </a:lnTo>
                <a:cubicBezTo>
                  <a:pt x="11370588" y="0"/>
                  <a:pt x="11421679" y="51091"/>
                  <a:pt x="11421679" y="114115"/>
                </a:cubicBezTo>
                <a:lnTo>
                  <a:pt x="11421679" y="1759383"/>
                </a:lnTo>
                <a:cubicBezTo>
                  <a:pt x="11421679" y="1822407"/>
                  <a:pt x="11370588" y="1873498"/>
                  <a:pt x="11307564" y="1873498"/>
                </a:cubicBezTo>
                <a:lnTo>
                  <a:pt x="114115" y="1873498"/>
                </a:lnTo>
                <a:cubicBezTo>
                  <a:pt x="51091" y="1873498"/>
                  <a:pt x="0" y="1822407"/>
                  <a:pt x="0" y="1759383"/>
                </a:cubicBezTo>
                <a:lnTo>
                  <a:pt x="0" y="114115"/>
                </a:lnTo>
                <a:cubicBezTo>
                  <a:pt x="0" y="51133"/>
                  <a:pt x="51133" y="0"/>
                  <a:pt x="114115" y="0"/>
                </a:cubicBezTo>
                <a:close/>
              </a:path>
            </a:pathLst>
          </a:custGeom>
          <a:gradFill rotWithShape="1" flip="none">
            <a:gsLst>
              <a:gs pos="0">
                <a:srgbClr val="3B82F6">
                  <a:alpha val="10000"/>
                </a:srgbClr>
              </a:gs>
              <a:gs pos="50000">
                <a:srgbClr val="8B5CF6">
                  <a:alpha val="10000"/>
                </a:srgbClr>
              </a:gs>
              <a:gs pos="100000">
                <a:srgbClr val="10B981">
                  <a:alpha val="10000"/>
                </a:srgbClr>
              </a:gs>
            </a:gsLst>
            <a:lin ang="0" scaled="1"/>
          </a:gradFill>
          <a:ln w="12700">
            <a:solidFill>
              <a:srgbClr val="3B82F6">
                <a:alpha val="30196"/>
              </a:srgbClr>
            </a:solidFill>
            <a:prstDash val="solid"/>
          </a:ln>
        </p:spPr>
      </p:sp>
      <p:sp>
        <p:nvSpPr>
          <p:cNvPr id="34" name="Shape 32"/>
          <p:cNvSpPr/>
          <p:nvPr/>
        </p:nvSpPr>
        <p:spPr>
          <a:xfrm>
            <a:off x="603894" y="5206802"/>
            <a:ext cx="190203" cy="190203"/>
          </a:xfrm>
          <a:custGeom>
            <a:avLst/>
            <a:gdLst/>
            <a:ahLst/>
            <a:cxnLst/>
            <a:rect l="l" t="t" r="r" b="b"/>
            <a:pathLst>
              <a:path w="190203" h="190203">
                <a:moveTo>
                  <a:pt x="49705" y="13485"/>
                </a:moveTo>
                <a:cubicBezTo>
                  <a:pt x="53755" y="16308"/>
                  <a:pt x="54720" y="21881"/>
                  <a:pt x="51897" y="25893"/>
                </a:cubicBezTo>
                <a:lnTo>
                  <a:pt x="31094" y="55612"/>
                </a:lnTo>
                <a:cubicBezTo>
                  <a:pt x="29571" y="57767"/>
                  <a:pt x="27193" y="59141"/>
                  <a:pt x="24555" y="59364"/>
                </a:cubicBezTo>
                <a:cubicBezTo>
                  <a:pt x="21918" y="59587"/>
                  <a:pt x="19317" y="58695"/>
                  <a:pt x="17460" y="56838"/>
                </a:cubicBezTo>
                <a:lnTo>
                  <a:pt x="2600" y="41978"/>
                </a:lnTo>
                <a:cubicBezTo>
                  <a:pt x="-854" y="38486"/>
                  <a:pt x="-854" y="32840"/>
                  <a:pt x="2600" y="29348"/>
                </a:cubicBezTo>
                <a:cubicBezTo>
                  <a:pt x="6055" y="25856"/>
                  <a:pt x="11739" y="25893"/>
                  <a:pt x="15231" y="29348"/>
                </a:cubicBezTo>
                <a:lnTo>
                  <a:pt x="22587" y="36703"/>
                </a:lnTo>
                <a:lnTo>
                  <a:pt x="37298" y="15677"/>
                </a:lnTo>
                <a:cubicBezTo>
                  <a:pt x="40121" y="11628"/>
                  <a:pt x="45693" y="10662"/>
                  <a:pt x="49705" y="13485"/>
                </a:cubicBezTo>
                <a:close/>
                <a:moveTo>
                  <a:pt x="49705" y="72923"/>
                </a:moveTo>
                <a:cubicBezTo>
                  <a:pt x="53755" y="75747"/>
                  <a:pt x="54720" y="81319"/>
                  <a:pt x="51897" y="85331"/>
                </a:cubicBezTo>
                <a:lnTo>
                  <a:pt x="31094" y="115050"/>
                </a:lnTo>
                <a:cubicBezTo>
                  <a:pt x="29571" y="117205"/>
                  <a:pt x="27193" y="118580"/>
                  <a:pt x="24555" y="118802"/>
                </a:cubicBezTo>
                <a:cubicBezTo>
                  <a:pt x="21918" y="119025"/>
                  <a:pt x="19317" y="118134"/>
                  <a:pt x="17460" y="116276"/>
                </a:cubicBezTo>
                <a:lnTo>
                  <a:pt x="2600" y="101417"/>
                </a:lnTo>
                <a:cubicBezTo>
                  <a:pt x="-892" y="97925"/>
                  <a:pt x="-892" y="92278"/>
                  <a:pt x="2600" y="88823"/>
                </a:cubicBezTo>
                <a:cubicBezTo>
                  <a:pt x="6092" y="85368"/>
                  <a:pt x="11739" y="85331"/>
                  <a:pt x="15194" y="88823"/>
                </a:cubicBezTo>
                <a:lnTo>
                  <a:pt x="22549" y="96179"/>
                </a:lnTo>
                <a:lnTo>
                  <a:pt x="37260" y="75152"/>
                </a:lnTo>
                <a:cubicBezTo>
                  <a:pt x="40084" y="71103"/>
                  <a:pt x="45656" y="70137"/>
                  <a:pt x="49668" y="72961"/>
                </a:cubicBezTo>
                <a:close/>
                <a:moveTo>
                  <a:pt x="83214" y="35663"/>
                </a:moveTo>
                <a:cubicBezTo>
                  <a:pt x="83214" y="29088"/>
                  <a:pt x="88526" y="23775"/>
                  <a:pt x="95101" y="23775"/>
                </a:cubicBezTo>
                <a:lnTo>
                  <a:pt x="178315" y="23775"/>
                </a:lnTo>
                <a:cubicBezTo>
                  <a:pt x="184891" y="23775"/>
                  <a:pt x="190203" y="29088"/>
                  <a:pt x="190203" y="35663"/>
                </a:cubicBezTo>
                <a:cubicBezTo>
                  <a:pt x="190203" y="42238"/>
                  <a:pt x="184891" y="47551"/>
                  <a:pt x="178315" y="47551"/>
                </a:cubicBezTo>
                <a:lnTo>
                  <a:pt x="95101" y="47551"/>
                </a:lnTo>
                <a:cubicBezTo>
                  <a:pt x="88526" y="47551"/>
                  <a:pt x="83214" y="42238"/>
                  <a:pt x="83214" y="35663"/>
                </a:cubicBezTo>
                <a:close/>
                <a:moveTo>
                  <a:pt x="83214" y="95101"/>
                </a:moveTo>
                <a:cubicBezTo>
                  <a:pt x="83214" y="88526"/>
                  <a:pt x="88526" y="83214"/>
                  <a:pt x="95101" y="83214"/>
                </a:cubicBezTo>
                <a:lnTo>
                  <a:pt x="178315" y="83214"/>
                </a:lnTo>
                <a:cubicBezTo>
                  <a:pt x="184891" y="83214"/>
                  <a:pt x="190203" y="88526"/>
                  <a:pt x="190203" y="95101"/>
                </a:cubicBezTo>
                <a:cubicBezTo>
                  <a:pt x="190203" y="101677"/>
                  <a:pt x="184891" y="106989"/>
                  <a:pt x="178315" y="106989"/>
                </a:cubicBezTo>
                <a:lnTo>
                  <a:pt x="95101" y="106989"/>
                </a:lnTo>
                <a:cubicBezTo>
                  <a:pt x="88526" y="106989"/>
                  <a:pt x="83214" y="101677"/>
                  <a:pt x="83214" y="95101"/>
                </a:cubicBezTo>
                <a:close/>
                <a:moveTo>
                  <a:pt x="59438" y="154540"/>
                </a:moveTo>
                <a:cubicBezTo>
                  <a:pt x="59438" y="147964"/>
                  <a:pt x="64751" y="142652"/>
                  <a:pt x="71326" y="142652"/>
                </a:cubicBezTo>
                <a:lnTo>
                  <a:pt x="178315" y="142652"/>
                </a:lnTo>
                <a:cubicBezTo>
                  <a:pt x="184891" y="142652"/>
                  <a:pt x="190203" y="147964"/>
                  <a:pt x="190203" y="154540"/>
                </a:cubicBezTo>
                <a:cubicBezTo>
                  <a:pt x="190203" y="161115"/>
                  <a:pt x="184891" y="166427"/>
                  <a:pt x="178315" y="166427"/>
                </a:cubicBezTo>
                <a:lnTo>
                  <a:pt x="71326" y="166427"/>
                </a:lnTo>
                <a:cubicBezTo>
                  <a:pt x="64751" y="166427"/>
                  <a:pt x="59438" y="161115"/>
                  <a:pt x="59438" y="154540"/>
                </a:cubicBezTo>
                <a:close/>
                <a:moveTo>
                  <a:pt x="23775" y="139680"/>
                </a:moveTo>
                <a:cubicBezTo>
                  <a:pt x="31977" y="139680"/>
                  <a:pt x="38635" y="146339"/>
                  <a:pt x="38635" y="154540"/>
                </a:cubicBezTo>
                <a:cubicBezTo>
                  <a:pt x="38635" y="162741"/>
                  <a:pt x="31977" y="169399"/>
                  <a:pt x="23775" y="169399"/>
                </a:cubicBezTo>
                <a:cubicBezTo>
                  <a:pt x="15574" y="169399"/>
                  <a:pt x="8916" y="162741"/>
                  <a:pt x="8916" y="154540"/>
                </a:cubicBezTo>
                <a:cubicBezTo>
                  <a:pt x="8916" y="146339"/>
                  <a:pt x="15574" y="139680"/>
                  <a:pt x="23775" y="139680"/>
                </a:cubicBezTo>
                <a:close/>
              </a:path>
            </a:pathLst>
          </a:custGeom>
          <a:solidFill>
            <a:srgbClr val="3B82F6"/>
          </a:solidFill>
          <a:ln/>
        </p:spPr>
      </p:sp>
      <p:sp>
        <p:nvSpPr>
          <p:cNvPr id="35" name="Text 33"/>
          <p:cNvSpPr/>
          <p:nvPr/>
        </p:nvSpPr>
        <p:spPr>
          <a:xfrm>
            <a:off x="817872" y="5168761"/>
            <a:ext cx="10889111" cy="266284"/>
          </a:xfrm>
          <a:prstGeom prst="rect">
            <a:avLst/>
          </a:prstGeom>
          <a:noFill/>
          <a:ln/>
        </p:spPr>
        <p:txBody>
          <a:bodyPr wrap="square" lIns="0" tIns="0" rIns="0" bIns="0" rtlCol="0" anchor="ctr"/>
          <a:lstStyle/>
          <a:p>
            <a:pPr>
              <a:lnSpc>
                <a:spcPct val="120000"/>
              </a:lnSpc>
            </a:pPr>
            <a:r>
              <a:rPr lang="en-US" sz="1498" b="1" dirty="0">
                <a:solidFill>
                  <a:srgbClr val="F1F5F9"/>
                </a:solidFill>
                <a:latin typeface="MiSans" pitchFamily="34" charset="0"/>
                <a:ea typeface="MiSans" pitchFamily="34" charset="-122"/>
                <a:cs typeface="MiSans" pitchFamily="34" charset="-120"/>
              </a:rPr>
              <a:t>Tóm tắt toàn bộ bài thuyết trình</a:t>
            </a:r>
            <a:endParaRPr lang="en-US" sz="1600" dirty="0"/>
          </a:p>
        </p:txBody>
      </p:sp>
      <p:sp>
        <p:nvSpPr>
          <p:cNvPr id="36" name="Shape 34"/>
          <p:cNvSpPr/>
          <p:nvPr/>
        </p:nvSpPr>
        <p:spPr>
          <a:xfrm>
            <a:off x="580119" y="5587207"/>
            <a:ext cx="2111251" cy="1065136"/>
          </a:xfrm>
          <a:custGeom>
            <a:avLst/>
            <a:gdLst/>
            <a:ahLst/>
            <a:cxnLst/>
            <a:rect l="l" t="t" r="r" b="b"/>
            <a:pathLst>
              <a:path w="2111251" h="1065136">
                <a:moveTo>
                  <a:pt x="76083" y="0"/>
                </a:moveTo>
                <a:lnTo>
                  <a:pt x="2035169" y="0"/>
                </a:lnTo>
                <a:cubicBezTo>
                  <a:pt x="2077188" y="0"/>
                  <a:pt x="2111251" y="34063"/>
                  <a:pt x="2111251" y="76083"/>
                </a:cubicBezTo>
                <a:lnTo>
                  <a:pt x="2111251" y="989053"/>
                </a:lnTo>
                <a:cubicBezTo>
                  <a:pt x="2111251" y="1031072"/>
                  <a:pt x="2077188" y="1065136"/>
                  <a:pt x="2035169" y="1065136"/>
                </a:cubicBezTo>
                <a:lnTo>
                  <a:pt x="76083" y="1065136"/>
                </a:lnTo>
                <a:cubicBezTo>
                  <a:pt x="34063" y="1065136"/>
                  <a:pt x="0" y="1031072"/>
                  <a:pt x="0" y="989053"/>
                </a:cubicBezTo>
                <a:lnTo>
                  <a:pt x="0" y="76083"/>
                </a:lnTo>
                <a:cubicBezTo>
                  <a:pt x="0" y="34091"/>
                  <a:pt x="34091" y="0"/>
                  <a:pt x="76083" y="0"/>
                </a:cubicBezTo>
                <a:close/>
              </a:path>
            </a:pathLst>
          </a:custGeom>
          <a:solidFill>
            <a:srgbClr val="0F172A"/>
          </a:solidFill>
          <a:ln/>
        </p:spPr>
      </p:sp>
      <p:sp>
        <p:nvSpPr>
          <p:cNvPr id="37" name="Shape 35"/>
          <p:cNvSpPr/>
          <p:nvPr/>
        </p:nvSpPr>
        <p:spPr>
          <a:xfrm>
            <a:off x="1447176" y="5701329"/>
            <a:ext cx="380406" cy="380406"/>
          </a:xfrm>
          <a:custGeom>
            <a:avLst/>
            <a:gdLst/>
            <a:ahLst/>
            <a:cxnLst/>
            <a:rect l="l" t="t" r="r" b="b"/>
            <a:pathLst>
              <a:path w="380406" h="380406">
                <a:moveTo>
                  <a:pt x="76081" y="0"/>
                </a:moveTo>
                <a:lnTo>
                  <a:pt x="304324" y="0"/>
                </a:lnTo>
                <a:cubicBezTo>
                  <a:pt x="346343" y="0"/>
                  <a:pt x="380406" y="34063"/>
                  <a:pt x="380406" y="76081"/>
                </a:cubicBezTo>
                <a:lnTo>
                  <a:pt x="380406" y="304324"/>
                </a:lnTo>
                <a:cubicBezTo>
                  <a:pt x="380406" y="346343"/>
                  <a:pt x="346343" y="380406"/>
                  <a:pt x="304324" y="380406"/>
                </a:cubicBezTo>
                <a:lnTo>
                  <a:pt x="76081" y="380406"/>
                </a:lnTo>
                <a:cubicBezTo>
                  <a:pt x="34063" y="380406"/>
                  <a:pt x="0" y="346343"/>
                  <a:pt x="0" y="304324"/>
                </a:cubicBezTo>
                <a:lnTo>
                  <a:pt x="0" y="76081"/>
                </a:lnTo>
                <a:cubicBezTo>
                  <a:pt x="0" y="34091"/>
                  <a:pt x="34091" y="0"/>
                  <a:pt x="76081" y="0"/>
                </a:cubicBezTo>
                <a:close/>
              </a:path>
            </a:pathLst>
          </a:custGeom>
          <a:solidFill>
            <a:srgbClr val="3B82F6"/>
          </a:solidFill>
          <a:ln/>
        </p:spPr>
      </p:sp>
      <p:sp>
        <p:nvSpPr>
          <p:cNvPr id="38" name="Shape 36"/>
          <p:cNvSpPr/>
          <p:nvPr/>
        </p:nvSpPr>
        <p:spPr>
          <a:xfrm>
            <a:off x="1580318" y="5815451"/>
            <a:ext cx="114122" cy="152162"/>
          </a:xfrm>
          <a:custGeom>
            <a:avLst/>
            <a:gdLst/>
            <a:ahLst/>
            <a:cxnLst/>
            <a:rect l="l" t="t" r="r" b="b"/>
            <a:pathLst>
              <a:path w="114122" h="152162">
                <a:moveTo>
                  <a:pt x="0" y="19020"/>
                </a:moveTo>
                <a:cubicBezTo>
                  <a:pt x="0" y="8529"/>
                  <a:pt x="8529" y="0"/>
                  <a:pt x="19020" y="0"/>
                </a:cubicBezTo>
                <a:lnTo>
                  <a:pt x="63450" y="0"/>
                </a:lnTo>
                <a:cubicBezTo>
                  <a:pt x="68503" y="0"/>
                  <a:pt x="73347" y="1991"/>
                  <a:pt x="76913" y="5557"/>
                </a:cubicBezTo>
                <a:lnTo>
                  <a:pt x="108564" y="37238"/>
                </a:lnTo>
                <a:cubicBezTo>
                  <a:pt x="112130" y="40804"/>
                  <a:pt x="114122" y="45649"/>
                  <a:pt x="114122" y="50701"/>
                </a:cubicBezTo>
                <a:lnTo>
                  <a:pt x="114122" y="133142"/>
                </a:lnTo>
                <a:cubicBezTo>
                  <a:pt x="114122" y="143633"/>
                  <a:pt x="105592" y="152162"/>
                  <a:pt x="95101" y="152162"/>
                </a:cubicBezTo>
                <a:lnTo>
                  <a:pt x="19020" y="152162"/>
                </a:lnTo>
                <a:cubicBezTo>
                  <a:pt x="8529" y="152162"/>
                  <a:pt x="0" y="143633"/>
                  <a:pt x="0" y="133142"/>
                </a:cubicBezTo>
                <a:lnTo>
                  <a:pt x="0" y="19020"/>
                </a:lnTo>
                <a:close/>
                <a:moveTo>
                  <a:pt x="61816" y="17386"/>
                </a:moveTo>
                <a:lnTo>
                  <a:pt x="61816" y="45173"/>
                </a:lnTo>
                <a:cubicBezTo>
                  <a:pt x="61816" y="49126"/>
                  <a:pt x="64996" y="52306"/>
                  <a:pt x="68949" y="52306"/>
                </a:cubicBezTo>
                <a:lnTo>
                  <a:pt x="96736" y="52306"/>
                </a:lnTo>
                <a:lnTo>
                  <a:pt x="61816" y="17386"/>
                </a:lnTo>
                <a:close/>
                <a:moveTo>
                  <a:pt x="45827" y="87850"/>
                </a:moveTo>
                <a:cubicBezTo>
                  <a:pt x="48383" y="84848"/>
                  <a:pt x="48056" y="80361"/>
                  <a:pt x="45054" y="77805"/>
                </a:cubicBezTo>
                <a:cubicBezTo>
                  <a:pt x="42053" y="75249"/>
                  <a:pt x="37565" y="75576"/>
                  <a:pt x="35009" y="78578"/>
                </a:cubicBezTo>
                <a:lnTo>
                  <a:pt x="20744" y="95220"/>
                </a:lnTo>
                <a:cubicBezTo>
                  <a:pt x="18456" y="97895"/>
                  <a:pt x="18456" y="101818"/>
                  <a:pt x="20744" y="104493"/>
                </a:cubicBezTo>
                <a:lnTo>
                  <a:pt x="35009" y="121135"/>
                </a:lnTo>
                <a:cubicBezTo>
                  <a:pt x="37565" y="124137"/>
                  <a:pt x="42082" y="124464"/>
                  <a:pt x="45054" y="121908"/>
                </a:cubicBezTo>
                <a:cubicBezTo>
                  <a:pt x="48026" y="119352"/>
                  <a:pt x="48383" y="114835"/>
                  <a:pt x="45827" y="111863"/>
                </a:cubicBezTo>
                <a:lnTo>
                  <a:pt x="35544" y="99856"/>
                </a:lnTo>
                <a:lnTo>
                  <a:pt x="45827" y="87850"/>
                </a:lnTo>
                <a:close/>
                <a:moveTo>
                  <a:pt x="79112" y="78578"/>
                </a:moveTo>
                <a:cubicBezTo>
                  <a:pt x="76557" y="75576"/>
                  <a:pt x="72039" y="75249"/>
                  <a:pt x="69067" y="77805"/>
                </a:cubicBezTo>
                <a:cubicBezTo>
                  <a:pt x="66095" y="80361"/>
                  <a:pt x="65739" y="84878"/>
                  <a:pt x="68295" y="87850"/>
                </a:cubicBezTo>
                <a:lnTo>
                  <a:pt x="78578" y="99856"/>
                </a:lnTo>
                <a:lnTo>
                  <a:pt x="68295" y="111863"/>
                </a:lnTo>
                <a:cubicBezTo>
                  <a:pt x="65739" y="114865"/>
                  <a:pt x="66066" y="119352"/>
                  <a:pt x="69067" y="121908"/>
                </a:cubicBezTo>
                <a:cubicBezTo>
                  <a:pt x="72069" y="124464"/>
                  <a:pt x="76557" y="124137"/>
                  <a:pt x="79112" y="121135"/>
                </a:cubicBezTo>
                <a:lnTo>
                  <a:pt x="93378" y="104493"/>
                </a:lnTo>
                <a:cubicBezTo>
                  <a:pt x="95666" y="101818"/>
                  <a:pt x="95666" y="97895"/>
                  <a:pt x="93378" y="95220"/>
                </a:cubicBezTo>
                <a:lnTo>
                  <a:pt x="79112" y="78578"/>
                </a:lnTo>
                <a:close/>
              </a:path>
            </a:pathLst>
          </a:custGeom>
          <a:solidFill>
            <a:srgbClr val="FFFFFF"/>
          </a:solidFill>
          <a:ln/>
        </p:spPr>
      </p:sp>
      <p:sp>
        <p:nvSpPr>
          <p:cNvPr id="39" name="Text 37"/>
          <p:cNvSpPr/>
          <p:nvPr/>
        </p:nvSpPr>
        <p:spPr>
          <a:xfrm>
            <a:off x="660955" y="6157816"/>
            <a:ext cx="1949579" cy="190203"/>
          </a:xfrm>
          <a:prstGeom prst="rect">
            <a:avLst/>
          </a:prstGeom>
          <a:noFill/>
          <a:ln/>
        </p:spPr>
        <p:txBody>
          <a:bodyPr wrap="square" lIns="0" tIns="0" rIns="0" bIns="0" rtlCol="0" anchor="ctr"/>
          <a:lstStyle/>
          <a:p>
            <a:pPr algn="ctr">
              <a:lnSpc>
                <a:spcPct val="120000"/>
              </a:lnSpc>
            </a:pPr>
            <a:r>
              <a:rPr lang="en-US" sz="1048" b="1" dirty="0">
                <a:solidFill>
                  <a:srgbClr val="F1F5F9"/>
                </a:solidFill>
                <a:latin typeface="MiSans" pitchFamily="34" charset="0"/>
                <a:ea typeface="MiSans" pitchFamily="34" charset="-122"/>
                <a:cs typeface="MiSans" pitchFamily="34" charset="-120"/>
              </a:rPr>
              <a:t>Chương 12</a:t>
            </a:r>
            <a:endParaRPr lang="en-US" sz="1600" dirty="0"/>
          </a:p>
        </p:txBody>
      </p:sp>
      <p:sp>
        <p:nvSpPr>
          <p:cNvPr id="40" name="Text 38"/>
          <p:cNvSpPr/>
          <p:nvPr/>
        </p:nvSpPr>
        <p:spPr>
          <a:xfrm>
            <a:off x="665710" y="6386059"/>
            <a:ext cx="1940069" cy="152162"/>
          </a:xfrm>
          <a:prstGeom prst="rect">
            <a:avLst/>
          </a:prstGeom>
          <a:noFill/>
          <a:ln/>
        </p:spPr>
        <p:txBody>
          <a:bodyPr wrap="square" lIns="0" tIns="0" rIns="0" bIns="0" rtlCol="0" anchor="ctr"/>
          <a:lstStyle/>
          <a:p>
            <a:pPr algn="ctr">
              <a:lnSpc>
                <a:spcPct val="110000"/>
              </a:lnSpc>
            </a:pPr>
            <a:r>
              <a:rPr lang="en-US" sz="899" dirty="0">
                <a:solidFill>
                  <a:srgbClr val="F1F5F9">
                    <a:alpha val="60000"/>
                  </a:srgbClr>
                </a:solidFill>
                <a:latin typeface="MiSans" pitchFamily="34" charset="0"/>
                <a:ea typeface="MiSans" pitchFamily="34" charset="-122"/>
                <a:cs typeface="MiSans" pitchFamily="34" charset="-120"/>
              </a:rPr>
              <a:t>Tài liệu hóa với GenAI</a:t>
            </a:r>
            <a:endParaRPr lang="en-US" sz="1600" dirty="0"/>
          </a:p>
        </p:txBody>
      </p:sp>
      <p:sp>
        <p:nvSpPr>
          <p:cNvPr id="41" name="Shape 39"/>
          <p:cNvSpPr/>
          <p:nvPr/>
        </p:nvSpPr>
        <p:spPr>
          <a:xfrm>
            <a:off x="2808761" y="5587207"/>
            <a:ext cx="2111251" cy="1065136"/>
          </a:xfrm>
          <a:custGeom>
            <a:avLst/>
            <a:gdLst/>
            <a:ahLst/>
            <a:cxnLst/>
            <a:rect l="l" t="t" r="r" b="b"/>
            <a:pathLst>
              <a:path w="2111251" h="1065136">
                <a:moveTo>
                  <a:pt x="76083" y="0"/>
                </a:moveTo>
                <a:lnTo>
                  <a:pt x="2035169" y="0"/>
                </a:lnTo>
                <a:cubicBezTo>
                  <a:pt x="2077188" y="0"/>
                  <a:pt x="2111251" y="34063"/>
                  <a:pt x="2111251" y="76083"/>
                </a:cubicBezTo>
                <a:lnTo>
                  <a:pt x="2111251" y="989053"/>
                </a:lnTo>
                <a:cubicBezTo>
                  <a:pt x="2111251" y="1031072"/>
                  <a:pt x="2077188" y="1065136"/>
                  <a:pt x="2035169" y="1065136"/>
                </a:cubicBezTo>
                <a:lnTo>
                  <a:pt x="76083" y="1065136"/>
                </a:lnTo>
                <a:cubicBezTo>
                  <a:pt x="34063" y="1065136"/>
                  <a:pt x="0" y="1031072"/>
                  <a:pt x="0" y="989053"/>
                </a:cubicBezTo>
                <a:lnTo>
                  <a:pt x="0" y="76083"/>
                </a:lnTo>
                <a:cubicBezTo>
                  <a:pt x="0" y="34091"/>
                  <a:pt x="34091" y="0"/>
                  <a:pt x="76083" y="0"/>
                </a:cubicBezTo>
                <a:close/>
              </a:path>
            </a:pathLst>
          </a:custGeom>
          <a:solidFill>
            <a:srgbClr val="0F172A"/>
          </a:solidFill>
          <a:ln/>
        </p:spPr>
      </p:sp>
      <p:sp>
        <p:nvSpPr>
          <p:cNvPr id="42" name="Shape 40"/>
          <p:cNvSpPr/>
          <p:nvPr/>
        </p:nvSpPr>
        <p:spPr>
          <a:xfrm>
            <a:off x="3675818" y="5701329"/>
            <a:ext cx="380406" cy="380406"/>
          </a:xfrm>
          <a:custGeom>
            <a:avLst/>
            <a:gdLst/>
            <a:ahLst/>
            <a:cxnLst/>
            <a:rect l="l" t="t" r="r" b="b"/>
            <a:pathLst>
              <a:path w="380406" h="380406">
                <a:moveTo>
                  <a:pt x="76081" y="0"/>
                </a:moveTo>
                <a:lnTo>
                  <a:pt x="304324" y="0"/>
                </a:lnTo>
                <a:cubicBezTo>
                  <a:pt x="346343" y="0"/>
                  <a:pt x="380406" y="34063"/>
                  <a:pt x="380406" y="76081"/>
                </a:cubicBezTo>
                <a:lnTo>
                  <a:pt x="380406" y="304324"/>
                </a:lnTo>
                <a:cubicBezTo>
                  <a:pt x="380406" y="346343"/>
                  <a:pt x="346343" y="380406"/>
                  <a:pt x="304324" y="380406"/>
                </a:cubicBezTo>
                <a:lnTo>
                  <a:pt x="76081" y="380406"/>
                </a:lnTo>
                <a:cubicBezTo>
                  <a:pt x="34063" y="380406"/>
                  <a:pt x="0" y="346343"/>
                  <a:pt x="0" y="304324"/>
                </a:cubicBezTo>
                <a:lnTo>
                  <a:pt x="0" y="76081"/>
                </a:lnTo>
                <a:cubicBezTo>
                  <a:pt x="0" y="34091"/>
                  <a:pt x="34091" y="0"/>
                  <a:pt x="76081" y="0"/>
                </a:cubicBezTo>
                <a:close/>
              </a:path>
            </a:pathLst>
          </a:custGeom>
          <a:solidFill>
            <a:srgbClr val="8B5CF6"/>
          </a:solidFill>
          <a:ln/>
        </p:spPr>
      </p:sp>
      <p:sp>
        <p:nvSpPr>
          <p:cNvPr id="43" name="Shape 41"/>
          <p:cNvSpPr/>
          <p:nvPr/>
        </p:nvSpPr>
        <p:spPr>
          <a:xfrm>
            <a:off x="3789940" y="5815451"/>
            <a:ext cx="152162" cy="152162"/>
          </a:xfrm>
          <a:custGeom>
            <a:avLst/>
            <a:gdLst/>
            <a:ahLst/>
            <a:cxnLst/>
            <a:rect l="l" t="t" r="r" b="b"/>
            <a:pathLst>
              <a:path w="152162" h="152162">
                <a:moveTo>
                  <a:pt x="101818" y="2794"/>
                </a:moveTo>
                <a:cubicBezTo>
                  <a:pt x="98103" y="-921"/>
                  <a:pt x="92070" y="-921"/>
                  <a:pt x="88355" y="2794"/>
                </a:cubicBezTo>
                <a:cubicBezTo>
                  <a:pt x="84640" y="6509"/>
                  <a:pt x="84640" y="12541"/>
                  <a:pt x="88355" y="16256"/>
                </a:cubicBezTo>
                <a:lnTo>
                  <a:pt x="91149" y="19020"/>
                </a:lnTo>
                <a:lnTo>
                  <a:pt x="8351" y="101818"/>
                </a:lnTo>
                <a:cubicBezTo>
                  <a:pt x="3002" y="107167"/>
                  <a:pt x="0" y="114419"/>
                  <a:pt x="0" y="121997"/>
                </a:cubicBezTo>
                <a:lnTo>
                  <a:pt x="0" y="123632"/>
                </a:lnTo>
                <a:cubicBezTo>
                  <a:pt x="0" y="139383"/>
                  <a:pt x="12779" y="152162"/>
                  <a:pt x="28530" y="152162"/>
                </a:cubicBezTo>
                <a:lnTo>
                  <a:pt x="30165" y="152162"/>
                </a:lnTo>
                <a:cubicBezTo>
                  <a:pt x="37743" y="152162"/>
                  <a:pt x="44995" y="149161"/>
                  <a:pt x="50344" y="143811"/>
                </a:cubicBezTo>
                <a:lnTo>
                  <a:pt x="133142" y="61013"/>
                </a:lnTo>
                <a:lnTo>
                  <a:pt x="135936" y="63807"/>
                </a:lnTo>
                <a:cubicBezTo>
                  <a:pt x="139650" y="67522"/>
                  <a:pt x="145683" y="67522"/>
                  <a:pt x="149398" y="63807"/>
                </a:cubicBezTo>
                <a:cubicBezTo>
                  <a:pt x="153113" y="60092"/>
                  <a:pt x="153113" y="54059"/>
                  <a:pt x="149398" y="50344"/>
                </a:cubicBezTo>
                <a:lnTo>
                  <a:pt x="101848" y="2794"/>
                </a:lnTo>
                <a:close/>
                <a:moveTo>
                  <a:pt x="61013" y="76081"/>
                </a:moveTo>
                <a:lnTo>
                  <a:pt x="104612" y="32483"/>
                </a:lnTo>
                <a:lnTo>
                  <a:pt x="119679" y="47551"/>
                </a:lnTo>
                <a:lnTo>
                  <a:pt x="91149" y="76081"/>
                </a:lnTo>
                <a:lnTo>
                  <a:pt x="60984" y="76081"/>
                </a:lnTo>
                <a:close/>
              </a:path>
            </a:pathLst>
          </a:custGeom>
          <a:solidFill>
            <a:srgbClr val="FFFFFF"/>
          </a:solidFill>
          <a:ln/>
        </p:spPr>
      </p:sp>
      <p:sp>
        <p:nvSpPr>
          <p:cNvPr id="44" name="Text 42"/>
          <p:cNvSpPr/>
          <p:nvPr/>
        </p:nvSpPr>
        <p:spPr>
          <a:xfrm>
            <a:off x="2889597" y="6157816"/>
            <a:ext cx="1949579" cy="190203"/>
          </a:xfrm>
          <a:prstGeom prst="rect">
            <a:avLst/>
          </a:prstGeom>
          <a:noFill/>
          <a:ln/>
        </p:spPr>
        <p:txBody>
          <a:bodyPr wrap="square" lIns="0" tIns="0" rIns="0" bIns="0" rtlCol="0" anchor="ctr"/>
          <a:lstStyle/>
          <a:p>
            <a:pPr algn="ctr">
              <a:lnSpc>
                <a:spcPct val="120000"/>
              </a:lnSpc>
            </a:pPr>
            <a:r>
              <a:rPr lang="en-US" sz="1048" b="1" dirty="0">
                <a:solidFill>
                  <a:srgbClr val="F1F5F9"/>
                </a:solidFill>
                <a:latin typeface="MiSans" pitchFamily="34" charset="0"/>
                <a:ea typeface="MiSans" pitchFamily="34" charset="-122"/>
                <a:cs typeface="MiSans" pitchFamily="34" charset="-120"/>
              </a:rPr>
              <a:t>Chương 13</a:t>
            </a:r>
            <a:endParaRPr lang="en-US" sz="1600" dirty="0"/>
          </a:p>
        </p:txBody>
      </p:sp>
      <p:sp>
        <p:nvSpPr>
          <p:cNvPr id="45" name="Text 43"/>
          <p:cNvSpPr/>
          <p:nvPr/>
        </p:nvSpPr>
        <p:spPr>
          <a:xfrm>
            <a:off x="2894352" y="6386059"/>
            <a:ext cx="1940069" cy="152162"/>
          </a:xfrm>
          <a:prstGeom prst="rect">
            <a:avLst/>
          </a:prstGeom>
          <a:noFill/>
          <a:ln/>
        </p:spPr>
        <p:txBody>
          <a:bodyPr wrap="square" lIns="0" tIns="0" rIns="0" bIns="0" rtlCol="0" anchor="ctr"/>
          <a:lstStyle/>
          <a:p>
            <a:pPr algn="ctr">
              <a:lnSpc>
                <a:spcPct val="110000"/>
              </a:lnSpc>
            </a:pPr>
            <a:r>
              <a:rPr lang="en-US" sz="899" dirty="0">
                <a:solidFill>
                  <a:srgbClr val="F1F5F9">
                    <a:alpha val="60000"/>
                  </a:srgbClr>
                </a:solidFill>
                <a:latin typeface="MiSans" pitchFamily="34" charset="0"/>
                <a:ea typeface="MiSans" pitchFamily="34" charset="-122"/>
                <a:cs typeface="MiSans" pitchFamily="34" charset="-120"/>
              </a:rPr>
              <a:t>Kiểm thử đơn vị</a:t>
            </a:r>
            <a:endParaRPr lang="en-US" sz="1600" dirty="0"/>
          </a:p>
        </p:txBody>
      </p:sp>
      <p:sp>
        <p:nvSpPr>
          <p:cNvPr id="46" name="Shape 44"/>
          <p:cNvSpPr/>
          <p:nvPr/>
        </p:nvSpPr>
        <p:spPr>
          <a:xfrm>
            <a:off x="5037551" y="5587207"/>
            <a:ext cx="2111251" cy="1065136"/>
          </a:xfrm>
          <a:custGeom>
            <a:avLst/>
            <a:gdLst/>
            <a:ahLst/>
            <a:cxnLst/>
            <a:rect l="l" t="t" r="r" b="b"/>
            <a:pathLst>
              <a:path w="2111251" h="1065136">
                <a:moveTo>
                  <a:pt x="76083" y="0"/>
                </a:moveTo>
                <a:lnTo>
                  <a:pt x="2035169" y="0"/>
                </a:lnTo>
                <a:cubicBezTo>
                  <a:pt x="2077188" y="0"/>
                  <a:pt x="2111251" y="34063"/>
                  <a:pt x="2111251" y="76083"/>
                </a:cubicBezTo>
                <a:lnTo>
                  <a:pt x="2111251" y="989053"/>
                </a:lnTo>
                <a:cubicBezTo>
                  <a:pt x="2111251" y="1031072"/>
                  <a:pt x="2077188" y="1065136"/>
                  <a:pt x="2035169" y="1065136"/>
                </a:cubicBezTo>
                <a:lnTo>
                  <a:pt x="76083" y="1065136"/>
                </a:lnTo>
                <a:cubicBezTo>
                  <a:pt x="34063" y="1065136"/>
                  <a:pt x="0" y="1031072"/>
                  <a:pt x="0" y="989053"/>
                </a:cubicBezTo>
                <a:lnTo>
                  <a:pt x="0" y="76083"/>
                </a:lnTo>
                <a:cubicBezTo>
                  <a:pt x="0" y="34091"/>
                  <a:pt x="34091" y="0"/>
                  <a:pt x="76083" y="0"/>
                </a:cubicBezTo>
                <a:close/>
              </a:path>
            </a:pathLst>
          </a:custGeom>
          <a:solidFill>
            <a:srgbClr val="0F172A"/>
          </a:solidFill>
          <a:ln/>
        </p:spPr>
      </p:sp>
      <p:sp>
        <p:nvSpPr>
          <p:cNvPr id="47" name="Shape 45"/>
          <p:cNvSpPr/>
          <p:nvPr/>
        </p:nvSpPr>
        <p:spPr>
          <a:xfrm>
            <a:off x="5904608" y="5701329"/>
            <a:ext cx="380406" cy="380406"/>
          </a:xfrm>
          <a:custGeom>
            <a:avLst/>
            <a:gdLst/>
            <a:ahLst/>
            <a:cxnLst/>
            <a:rect l="l" t="t" r="r" b="b"/>
            <a:pathLst>
              <a:path w="380406" h="380406">
                <a:moveTo>
                  <a:pt x="76081" y="0"/>
                </a:moveTo>
                <a:lnTo>
                  <a:pt x="304324" y="0"/>
                </a:lnTo>
                <a:cubicBezTo>
                  <a:pt x="346343" y="0"/>
                  <a:pt x="380406" y="34063"/>
                  <a:pt x="380406" y="76081"/>
                </a:cubicBezTo>
                <a:lnTo>
                  <a:pt x="380406" y="304324"/>
                </a:lnTo>
                <a:cubicBezTo>
                  <a:pt x="380406" y="346343"/>
                  <a:pt x="346343" y="380406"/>
                  <a:pt x="304324" y="380406"/>
                </a:cubicBezTo>
                <a:lnTo>
                  <a:pt x="76081" y="380406"/>
                </a:lnTo>
                <a:cubicBezTo>
                  <a:pt x="34063" y="380406"/>
                  <a:pt x="0" y="346343"/>
                  <a:pt x="0" y="304324"/>
                </a:cubicBezTo>
                <a:lnTo>
                  <a:pt x="0" y="76081"/>
                </a:lnTo>
                <a:cubicBezTo>
                  <a:pt x="0" y="34091"/>
                  <a:pt x="34091" y="0"/>
                  <a:pt x="76081" y="0"/>
                </a:cubicBezTo>
                <a:close/>
              </a:path>
            </a:pathLst>
          </a:custGeom>
          <a:solidFill>
            <a:srgbClr val="10B981"/>
          </a:solidFill>
          <a:ln/>
        </p:spPr>
      </p:sp>
      <p:sp>
        <p:nvSpPr>
          <p:cNvPr id="48" name="Shape 46"/>
          <p:cNvSpPr/>
          <p:nvPr/>
        </p:nvSpPr>
        <p:spPr>
          <a:xfrm>
            <a:off x="6018730" y="5815451"/>
            <a:ext cx="152162" cy="152162"/>
          </a:xfrm>
          <a:custGeom>
            <a:avLst/>
            <a:gdLst/>
            <a:ahLst/>
            <a:cxnLst/>
            <a:rect l="l" t="t" r="r" b="b"/>
            <a:pathLst>
              <a:path w="152162" h="152162">
                <a:moveTo>
                  <a:pt x="0" y="76081"/>
                </a:moveTo>
                <a:cubicBezTo>
                  <a:pt x="0" y="34091"/>
                  <a:pt x="34091" y="0"/>
                  <a:pt x="76081" y="0"/>
                </a:cubicBezTo>
                <a:cubicBezTo>
                  <a:pt x="118071" y="0"/>
                  <a:pt x="152162" y="34091"/>
                  <a:pt x="152162" y="76081"/>
                </a:cubicBezTo>
                <a:cubicBezTo>
                  <a:pt x="152162" y="118071"/>
                  <a:pt x="118071" y="152162"/>
                  <a:pt x="76081" y="152162"/>
                </a:cubicBezTo>
                <a:cubicBezTo>
                  <a:pt x="34091" y="152162"/>
                  <a:pt x="0" y="118071"/>
                  <a:pt x="0" y="76081"/>
                </a:cubicBezTo>
                <a:close/>
                <a:moveTo>
                  <a:pt x="85591" y="28530"/>
                </a:moveTo>
                <a:cubicBezTo>
                  <a:pt x="85591" y="23282"/>
                  <a:pt x="81330" y="19020"/>
                  <a:pt x="76081" y="19020"/>
                </a:cubicBezTo>
                <a:cubicBezTo>
                  <a:pt x="70832" y="19020"/>
                  <a:pt x="66571" y="23282"/>
                  <a:pt x="66571" y="28530"/>
                </a:cubicBezTo>
                <a:cubicBezTo>
                  <a:pt x="66571" y="33779"/>
                  <a:pt x="70832" y="38041"/>
                  <a:pt x="76081" y="38041"/>
                </a:cubicBezTo>
                <a:cubicBezTo>
                  <a:pt x="81330" y="38041"/>
                  <a:pt x="85591" y="33779"/>
                  <a:pt x="85591" y="28530"/>
                </a:cubicBezTo>
                <a:close/>
                <a:moveTo>
                  <a:pt x="76081" y="123632"/>
                </a:moveTo>
                <a:cubicBezTo>
                  <a:pt x="86572" y="123632"/>
                  <a:pt x="95101" y="115102"/>
                  <a:pt x="95101" y="104612"/>
                </a:cubicBezTo>
                <a:cubicBezTo>
                  <a:pt x="95101" y="99797"/>
                  <a:pt x="93318" y="95369"/>
                  <a:pt x="90346" y="92040"/>
                </a:cubicBezTo>
                <a:lnTo>
                  <a:pt x="111001" y="50760"/>
                </a:lnTo>
                <a:cubicBezTo>
                  <a:pt x="112755" y="47224"/>
                  <a:pt x="111328" y="42944"/>
                  <a:pt x="107821" y="41191"/>
                </a:cubicBezTo>
                <a:cubicBezTo>
                  <a:pt x="104314" y="39437"/>
                  <a:pt x="100005" y="40864"/>
                  <a:pt x="98252" y="44371"/>
                </a:cubicBezTo>
                <a:lnTo>
                  <a:pt x="77597" y="85651"/>
                </a:lnTo>
                <a:cubicBezTo>
                  <a:pt x="77092" y="85621"/>
                  <a:pt x="76586" y="85591"/>
                  <a:pt x="76081" y="85591"/>
                </a:cubicBezTo>
                <a:cubicBezTo>
                  <a:pt x="65590" y="85591"/>
                  <a:pt x="57061" y="94121"/>
                  <a:pt x="57061" y="104612"/>
                </a:cubicBezTo>
                <a:cubicBezTo>
                  <a:pt x="57061" y="115102"/>
                  <a:pt x="65590" y="123632"/>
                  <a:pt x="76081" y="123632"/>
                </a:cubicBezTo>
                <a:close/>
                <a:moveTo>
                  <a:pt x="52306" y="42796"/>
                </a:moveTo>
                <a:cubicBezTo>
                  <a:pt x="52306" y="37547"/>
                  <a:pt x="48044" y="33285"/>
                  <a:pt x="42796" y="33285"/>
                </a:cubicBezTo>
                <a:cubicBezTo>
                  <a:pt x="37547" y="33285"/>
                  <a:pt x="33285" y="37547"/>
                  <a:pt x="33285" y="42796"/>
                </a:cubicBezTo>
                <a:cubicBezTo>
                  <a:pt x="33285" y="48044"/>
                  <a:pt x="37547" y="52306"/>
                  <a:pt x="42796" y="52306"/>
                </a:cubicBezTo>
                <a:cubicBezTo>
                  <a:pt x="48044" y="52306"/>
                  <a:pt x="52306" y="48044"/>
                  <a:pt x="52306" y="42796"/>
                </a:cubicBezTo>
                <a:close/>
                <a:moveTo>
                  <a:pt x="28530" y="85591"/>
                </a:moveTo>
                <a:cubicBezTo>
                  <a:pt x="33779" y="85591"/>
                  <a:pt x="38041" y="81330"/>
                  <a:pt x="38041" y="76081"/>
                </a:cubicBezTo>
                <a:cubicBezTo>
                  <a:pt x="38041" y="70832"/>
                  <a:pt x="33779" y="66571"/>
                  <a:pt x="28530" y="66571"/>
                </a:cubicBezTo>
                <a:cubicBezTo>
                  <a:pt x="23282" y="66571"/>
                  <a:pt x="19020" y="70832"/>
                  <a:pt x="19020" y="76081"/>
                </a:cubicBezTo>
                <a:cubicBezTo>
                  <a:pt x="19020" y="81330"/>
                  <a:pt x="23282" y="85591"/>
                  <a:pt x="28530" y="85591"/>
                </a:cubicBezTo>
                <a:close/>
                <a:moveTo>
                  <a:pt x="133142" y="76081"/>
                </a:moveTo>
                <a:cubicBezTo>
                  <a:pt x="133142" y="70832"/>
                  <a:pt x="128881" y="66571"/>
                  <a:pt x="123632" y="66571"/>
                </a:cubicBezTo>
                <a:cubicBezTo>
                  <a:pt x="118383" y="66571"/>
                  <a:pt x="114122" y="70832"/>
                  <a:pt x="114122" y="76081"/>
                </a:cubicBezTo>
                <a:cubicBezTo>
                  <a:pt x="114122" y="81330"/>
                  <a:pt x="118383" y="85591"/>
                  <a:pt x="123632" y="85591"/>
                </a:cubicBezTo>
                <a:cubicBezTo>
                  <a:pt x="128881" y="85591"/>
                  <a:pt x="133142" y="81330"/>
                  <a:pt x="133142" y="76081"/>
                </a:cubicBezTo>
                <a:close/>
              </a:path>
            </a:pathLst>
          </a:custGeom>
          <a:solidFill>
            <a:srgbClr val="FFFFFF"/>
          </a:solidFill>
          <a:ln/>
        </p:spPr>
      </p:sp>
      <p:sp>
        <p:nvSpPr>
          <p:cNvPr id="49" name="Text 47"/>
          <p:cNvSpPr/>
          <p:nvPr/>
        </p:nvSpPr>
        <p:spPr>
          <a:xfrm>
            <a:off x="5118387" y="6157816"/>
            <a:ext cx="1949579" cy="190203"/>
          </a:xfrm>
          <a:prstGeom prst="rect">
            <a:avLst/>
          </a:prstGeom>
          <a:noFill/>
          <a:ln/>
        </p:spPr>
        <p:txBody>
          <a:bodyPr wrap="square" lIns="0" tIns="0" rIns="0" bIns="0" rtlCol="0" anchor="ctr"/>
          <a:lstStyle/>
          <a:p>
            <a:pPr algn="ctr">
              <a:lnSpc>
                <a:spcPct val="120000"/>
              </a:lnSpc>
            </a:pPr>
            <a:r>
              <a:rPr lang="en-US" sz="1048" b="1" dirty="0">
                <a:solidFill>
                  <a:srgbClr val="F1F5F9"/>
                </a:solidFill>
                <a:latin typeface="MiSans" pitchFamily="34" charset="0"/>
                <a:ea typeface="MiSans" pitchFamily="34" charset="-122"/>
                <a:cs typeface="MiSans" pitchFamily="34" charset="-120"/>
              </a:rPr>
              <a:t>Chương 14</a:t>
            </a:r>
            <a:endParaRPr lang="en-US" sz="1600" dirty="0"/>
          </a:p>
        </p:txBody>
      </p:sp>
      <p:sp>
        <p:nvSpPr>
          <p:cNvPr id="50" name="Text 48"/>
          <p:cNvSpPr/>
          <p:nvPr/>
        </p:nvSpPr>
        <p:spPr>
          <a:xfrm>
            <a:off x="5123142" y="6386059"/>
            <a:ext cx="1940069" cy="152162"/>
          </a:xfrm>
          <a:prstGeom prst="rect">
            <a:avLst/>
          </a:prstGeom>
          <a:noFill/>
          <a:ln/>
        </p:spPr>
        <p:txBody>
          <a:bodyPr wrap="square" lIns="0" tIns="0" rIns="0" bIns="0" rtlCol="0" anchor="ctr"/>
          <a:lstStyle/>
          <a:p>
            <a:pPr algn="ctr">
              <a:lnSpc>
                <a:spcPct val="110000"/>
              </a:lnSpc>
            </a:pPr>
            <a:r>
              <a:rPr lang="en-US" sz="899" dirty="0">
                <a:solidFill>
                  <a:srgbClr val="F1F5F9">
                    <a:alpha val="60000"/>
                  </a:srgbClr>
                </a:solidFill>
                <a:latin typeface="MiSans" pitchFamily="34" charset="0"/>
                <a:ea typeface="MiSans" pitchFamily="34" charset="-122"/>
                <a:cs typeface="MiSans" pitchFamily="34" charset="-120"/>
              </a:rPr>
              <a:t>Runtime &amp; Memory</a:t>
            </a:r>
            <a:endParaRPr lang="en-US" sz="1600" dirty="0"/>
          </a:p>
        </p:txBody>
      </p:sp>
      <p:sp>
        <p:nvSpPr>
          <p:cNvPr id="51" name="Shape 49"/>
          <p:cNvSpPr/>
          <p:nvPr/>
        </p:nvSpPr>
        <p:spPr>
          <a:xfrm>
            <a:off x="7266193" y="5587207"/>
            <a:ext cx="2111251" cy="1065136"/>
          </a:xfrm>
          <a:custGeom>
            <a:avLst/>
            <a:gdLst/>
            <a:ahLst/>
            <a:cxnLst/>
            <a:rect l="l" t="t" r="r" b="b"/>
            <a:pathLst>
              <a:path w="2111251" h="1065136">
                <a:moveTo>
                  <a:pt x="76083" y="0"/>
                </a:moveTo>
                <a:lnTo>
                  <a:pt x="2035169" y="0"/>
                </a:lnTo>
                <a:cubicBezTo>
                  <a:pt x="2077188" y="0"/>
                  <a:pt x="2111251" y="34063"/>
                  <a:pt x="2111251" y="76083"/>
                </a:cubicBezTo>
                <a:lnTo>
                  <a:pt x="2111251" y="989053"/>
                </a:lnTo>
                <a:cubicBezTo>
                  <a:pt x="2111251" y="1031072"/>
                  <a:pt x="2077188" y="1065136"/>
                  <a:pt x="2035169" y="1065136"/>
                </a:cubicBezTo>
                <a:lnTo>
                  <a:pt x="76083" y="1065136"/>
                </a:lnTo>
                <a:cubicBezTo>
                  <a:pt x="34063" y="1065136"/>
                  <a:pt x="0" y="1031072"/>
                  <a:pt x="0" y="989053"/>
                </a:cubicBezTo>
                <a:lnTo>
                  <a:pt x="0" y="76083"/>
                </a:lnTo>
                <a:cubicBezTo>
                  <a:pt x="0" y="34091"/>
                  <a:pt x="34091" y="0"/>
                  <a:pt x="76083" y="0"/>
                </a:cubicBezTo>
                <a:close/>
              </a:path>
            </a:pathLst>
          </a:custGeom>
          <a:solidFill>
            <a:srgbClr val="0F172A"/>
          </a:solidFill>
          <a:ln/>
        </p:spPr>
      </p:sp>
      <p:sp>
        <p:nvSpPr>
          <p:cNvPr id="52" name="Shape 50"/>
          <p:cNvSpPr/>
          <p:nvPr/>
        </p:nvSpPr>
        <p:spPr>
          <a:xfrm>
            <a:off x="8133250" y="5701329"/>
            <a:ext cx="380406" cy="380406"/>
          </a:xfrm>
          <a:custGeom>
            <a:avLst/>
            <a:gdLst/>
            <a:ahLst/>
            <a:cxnLst/>
            <a:rect l="l" t="t" r="r" b="b"/>
            <a:pathLst>
              <a:path w="380406" h="380406">
                <a:moveTo>
                  <a:pt x="76081" y="0"/>
                </a:moveTo>
                <a:lnTo>
                  <a:pt x="304324" y="0"/>
                </a:lnTo>
                <a:cubicBezTo>
                  <a:pt x="346343" y="0"/>
                  <a:pt x="380406" y="34063"/>
                  <a:pt x="380406" y="76081"/>
                </a:cubicBezTo>
                <a:lnTo>
                  <a:pt x="380406" y="304324"/>
                </a:lnTo>
                <a:cubicBezTo>
                  <a:pt x="380406" y="346343"/>
                  <a:pt x="346343" y="380406"/>
                  <a:pt x="304324" y="380406"/>
                </a:cubicBezTo>
                <a:lnTo>
                  <a:pt x="76081" y="380406"/>
                </a:lnTo>
                <a:cubicBezTo>
                  <a:pt x="34063" y="380406"/>
                  <a:pt x="0" y="346343"/>
                  <a:pt x="0" y="304324"/>
                </a:cubicBezTo>
                <a:lnTo>
                  <a:pt x="0" y="76081"/>
                </a:lnTo>
                <a:cubicBezTo>
                  <a:pt x="0" y="34091"/>
                  <a:pt x="34091" y="0"/>
                  <a:pt x="76081" y="0"/>
                </a:cubicBezTo>
                <a:close/>
              </a:path>
            </a:pathLst>
          </a:custGeom>
          <a:solidFill>
            <a:srgbClr val="F59E0B"/>
          </a:solidFill>
          <a:ln/>
        </p:spPr>
      </p:sp>
      <p:sp>
        <p:nvSpPr>
          <p:cNvPr id="53" name="Shape 51"/>
          <p:cNvSpPr/>
          <p:nvPr/>
        </p:nvSpPr>
        <p:spPr>
          <a:xfrm>
            <a:off x="8247372" y="5815451"/>
            <a:ext cx="152162" cy="152162"/>
          </a:xfrm>
          <a:custGeom>
            <a:avLst/>
            <a:gdLst/>
            <a:ahLst/>
            <a:cxnLst/>
            <a:rect l="l" t="t" r="r" b="b"/>
            <a:pathLst>
              <a:path w="152162" h="152162">
                <a:moveTo>
                  <a:pt x="118431" y="3626"/>
                </a:moveTo>
                <a:lnTo>
                  <a:pt x="92219" y="29838"/>
                </a:lnTo>
                <a:lnTo>
                  <a:pt x="122324" y="59944"/>
                </a:lnTo>
                <a:lnTo>
                  <a:pt x="148537" y="33731"/>
                </a:lnTo>
                <a:cubicBezTo>
                  <a:pt x="150855" y="31383"/>
                  <a:pt x="152162" y="28233"/>
                  <a:pt x="152162" y="24964"/>
                </a:cubicBezTo>
                <a:cubicBezTo>
                  <a:pt x="152162" y="21695"/>
                  <a:pt x="150855" y="18545"/>
                  <a:pt x="148537" y="16197"/>
                </a:cubicBezTo>
                <a:lnTo>
                  <a:pt x="135965" y="3626"/>
                </a:lnTo>
                <a:cubicBezTo>
                  <a:pt x="133617" y="1308"/>
                  <a:pt x="130467" y="0"/>
                  <a:pt x="127198" y="0"/>
                </a:cubicBezTo>
                <a:cubicBezTo>
                  <a:pt x="123929" y="0"/>
                  <a:pt x="120779" y="1308"/>
                  <a:pt x="118431" y="3626"/>
                </a:cubicBezTo>
                <a:close/>
                <a:moveTo>
                  <a:pt x="82144" y="39913"/>
                </a:moveTo>
                <a:lnTo>
                  <a:pt x="3626" y="118431"/>
                </a:lnTo>
                <a:cubicBezTo>
                  <a:pt x="1308" y="120779"/>
                  <a:pt x="0" y="123929"/>
                  <a:pt x="0" y="127198"/>
                </a:cubicBezTo>
                <a:cubicBezTo>
                  <a:pt x="0" y="130467"/>
                  <a:pt x="1308" y="133617"/>
                  <a:pt x="3626" y="135965"/>
                </a:cubicBezTo>
                <a:lnTo>
                  <a:pt x="16197" y="148537"/>
                </a:lnTo>
                <a:cubicBezTo>
                  <a:pt x="18545" y="150855"/>
                  <a:pt x="21695" y="152162"/>
                  <a:pt x="24964" y="152162"/>
                </a:cubicBezTo>
                <a:cubicBezTo>
                  <a:pt x="28233" y="152162"/>
                  <a:pt x="31383" y="150855"/>
                  <a:pt x="33731" y="148537"/>
                </a:cubicBezTo>
                <a:lnTo>
                  <a:pt x="112249" y="70018"/>
                </a:lnTo>
                <a:lnTo>
                  <a:pt x="82144" y="39913"/>
                </a:lnTo>
                <a:close/>
              </a:path>
            </a:pathLst>
          </a:custGeom>
          <a:solidFill>
            <a:srgbClr val="FFFFFF"/>
          </a:solidFill>
          <a:ln/>
        </p:spPr>
      </p:sp>
      <p:sp>
        <p:nvSpPr>
          <p:cNvPr id="54" name="Text 52"/>
          <p:cNvSpPr/>
          <p:nvPr/>
        </p:nvSpPr>
        <p:spPr>
          <a:xfrm>
            <a:off x="7347029" y="6157816"/>
            <a:ext cx="1949579" cy="190203"/>
          </a:xfrm>
          <a:prstGeom prst="rect">
            <a:avLst/>
          </a:prstGeom>
          <a:noFill/>
          <a:ln/>
        </p:spPr>
        <p:txBody>
          <a:bodyPr wrap="square" lIns="0" tIns="0" rIns="0" bIns="0" rtlCol="0" anchor="ctr"/>
          <a:lstStyle/>
          <a:p>
            <a:pPr algn="ctr">
              <a:lnSpc>
                <a:spcPct val="120000"/>
              </a:lnSpc>
            </a:pPr>
            <a:r>
              <a:rPr lang="en-US" sz="1048" b="1" dirty="0">
                <a:solidFill>
                  <a:srgbClr val="F1F5F9"/>
                </a:solidFill>
                <a:latin typeface="MiSans" pitchFamily="34" charset="0"/>
                <a:ea typeface="MiSans" pitchFamily="34" charset="-122"/>
                <a:cs typeface="MiSans" pitchFamily="34" charset="-120"/>
              </a:rPr>
              <a:t>Chương 15</a:t>
            </a:r>
            <a:endParaRPr lang="en-US" sz="1600" dirty="0"/>
          </a:p>
        </p:txBody>
      </p:sp>
      <p:sp>
        <p:nvSpPr>
          <p:cNvPr id="55" name="Text 53"/>
          <p:cNvSpPr/>
          <p:nvPr/>
        </p:nvSpPr>
        <p:spPr>
          <a:xfrm>
            <a:off x="7351784" y="6386059"/>
            <a:ext cx="1940069" cy="152162"/>
          </a:xfrm>
          <a:prstGeom prst="rect">
            <a:avLst/>
          </a:prstGeom>
          <a:noFill/>
          <a:ln/>
        </p:spPr>
        <p:txBody>
          <a:bodyPr wrap="square" lIns="0" tIns="0" rIns="0" bIns="0" rtlCol="0" anchor="ctr"/>
          <a:lstStyle/>
          <a:p>
            <a:pPr algn="ctr">
              <a:lnSpc>
                <a:spcPct val="110000"/>
              </a:lnSpc>
            </a:pPr>
            <a:r>
              <a:rPr lang="en-US" sz="899" dirty="0">
                <a:solidFill>
                  <a:srgbClr val="F1F5F9">
                    <a:alpha val="60000"/>
                  </a:srgbClr>
                </a:solidFill>
                <a:latin typeface="MiSans" pitchFamily="34" charset="0"/>
                <a:ea typeface="MiSans" pitchFamily="34" charset="-122"/>
                <a:cs typeface="MiSans" pitchFamily="34" charset="-120"/>
              </a:rPr>
              <a:t>Code Generation</a:t>
            </a:r>
            <a:endParaRPr lang="en-US" sz="1600" dirty="0"/>
          </a:p>
        </p:txBody>
      </p:sp>
      <p:sp>
        <p:nvSpPr>
          <p:cNvPr id="56" name="Shape 54"/>
          <p:cNvSpPr/>
          <p:nvPr/>
        </p:nvSpPr>
        <p:spPr>
          <a:xfrm>
            <a:off x="9494984" y="5587207"/>
            <a:ext cx="2111251" cy="1065136"/>
          </a:xfrm>
          <a:custGeom>
            <a:avLst/>
            <a:gdLst/>
            <a:ahLst/>
            <a:cxnLst/>
            <a:rect l="l" t="t" r="r" b="b"/>
            <a:pathLst>
              <a:path w="2111251" h="1065136">
                <a:moveTo>
                  <a:pt x="76083" y="0"/>
                </a:moveTo>
                <a:lnTo>
                  <a:pt x="2035169" y="0"/>
                </a:lnTo>
                <a:cubicBezTo>
                  <a:pt x="2077188" y="0"/>
                  <a:pt x="2111251" y="34063"/>
                  <a:pt x="2111251" y="76083"/>
                </a:cubicBezTo>
                <a:lnTo>
                  <a:pt x="2111251" y="989053"/>
                </a:lnTo>
                <a:cubicBezTo>
                  <a:pt x="2111251" y="1031072"/>
                  <a:pt x="2077188" y="1065136"/>
                  <a:pt x="2035169" y="1065136"/>
                </a:cubicBezTo>
                <a:lnTo>
                  <a:pt x="76083" y="1065136"/>
                </a:lnTo>
                <a:cubicBezTo>
                  <a:pt x="34063" y="1065136"/>
                  <a:pt x="0" y="1031072"/>
                  <a:pt x="0" y="989053"/>
                </a:cubicBezTo>
                <a:lnTo>
                  <a:pt x="0" y="76083"/>
                </a:lnTo>
                <a:cubicBezTo>
                  <a:pt x="0" y="34091"/>
                  <a:pt x="34091" y="0"/>
                  <a:pt x="76083" y="0"/>
                </a:cubicBezTo>
                <a:close/>
              </a:path>
            </a:pathLst>
          </a:custGeom>
          <a:solidFill>
            <a:srgbClr val="0F172A"/>
          </a:solidFill>
          <a:ln/>
        </p:spPr>
      </p:sp>
      <p:sp>
        <p:nvSpPr>
          <p:cNvPr id="57" name="Shape 55"/>
          <p:cNvSpPr/>
          <p:nvPr/>
        </p:nvSpPr>
        <p:spPr>
          <a:xfrm>
            <a:off x="10362041" y="5701329"/>
            <a:ext cx="380406" cy="380406"/>
          </a:xfrm>
          <a:custGeom>
            <a:avLst/>
            <a:gdLst/>
            <a:ahLst/>
            <a:cxnLst/>
            <a:rect l="l" t="t" r="r" b="b"/>
            <a:pathLst>
              <a:path w="380406" h="380406">
                <a:moveTo>
                  <a:pt x="76081" y="0"/>
                </a:moveTo>
                <a:lnTo>
                  <a:pt x="304324" y="0"/>
                </a:lnTo>
                <a:cubicBezTo>
                  <a:pt x="346343" y="0"/>
                  <a:pt x="380406" y="34063"/>
                  <a:pt x="380406" y="76081"/>
                </a:cubicBezTo>
                <a:lnTo>
                  <a:pt x="380406" y="304324"/>
                </a:lnTo>
                <a:cubicBezTo>
                  <a:pt x="380406" y="346343"/>
                  <a:pt x="346343" y="380406"/>
                  <a:pt x="304324" y="380406"/>
                </a:cubicBezTo>
                <a:lnTo>
                  <a:pt x="76081" y="380406"/>
                </a:lnTo>
                <a:cubicBezTo>
                  <a:pt x="34063" y="380406"/>
                  <a:pt x="0" y="346343"/>
                  <a:pt x="0" y="304324"/>
                </a:cubicBezTo>
                <a:lnTo>
                  <a:pt x="0" y="76081"/>
                </a:lnTo>
                <a:cubicBezTo>
                  <a:pt x="0" y="34091"/>
                  <a:pt x="34091" y="0"/>
                  <a:pt x="76081" y="0"/>
                </a:cubicBezTo>
                <a:close/>
              </a:path>
            </a:pathLst>
          </a:custGeom>
          <a:gradFill rotWithShape="1" flip="none">
            <a:gsLst>
              <a:gs pos="0">
                <a:srgbClr val="3B82F6"/>
              </a:gs>
              <a:gs pos="100000">
                <a:srgbClr val="10B981"/>
              </a:gs>
            </a:gsLst>
            <a:lin ang="2700000" scaled="1"/>
          </a:gradFill>
          <a:ln/>
        </p:spPr>
      </p:sp>
      <p:sp>
        <p:nvSpPr>
          <p:cNvPr id="58" name="Shape 56"/>
          <p:cNvSpPr/>
          <p:nvPr/>
        </p:nvSpPr>
        <p:spPr>
          <a:xfrm>
            <a:off x="10476163" y="5815451"/>
            <a:ext cx="152162" cy="152162"/>
          </a:xfrm>
          <a:custGeom>
            <a:avLst/>
            <a:gdLst/>
            <a:ahLst/>
            <a:cxnLst/>
            <a:rect l="l" t="t" r="r" b="b"/>
            <a:pathLst>
              <a:path w="152162" h="152162">
                <a:moveTo>
                  <a:pt x="38041" y="95101"/>
                </a:moveTo>
                <a:lnTo>
                  <a:pt x="7281" y="95101"/>
                </a:lnTo>
                <a:cubicBezTo>
                  <a:pt x="-119" y="95101"/>
                  <a:pt x="-4666" y="87048"/>
                  <a:pt x="-862" y="80688"/>
                </a:cubicBezTo>
                <a:lnTo>
                  <a:pt x="14860" y="54475"/>
                </a:lnTo>
                <a:cubicBezTo>
                  <a:pt x="17445" y="50166"/>
                  <a:pt x="22081" y="47551"/>
                  <a:pt x="27104" y="47551"/>
                </a:cubicBezTo>
                <a:lnTo>
                  <a:pt x="55337" y="47551"/>
                </a:lnTo>
                <a:cubicBezTo>
                  <a:pt x="77953" y="9243"/>
                  <a:pt x="111685" y="7311"/>
                  <a:pt x="134242" y="10610"/>
                </a:cubicBezTo>
                <a:cubicBezTo>
                  <a:pt x="138046" y="11174"/>
                  <a:pt x="141018" y="14146"/>
                  <a:pt x="141552" y="17921"/>
                </a:cubicBezTo>
                <a:cubicBezTo>
                  <a:pt x="144851" y="40478"/>
                  <a:pt x="142920" y="74209"/>
                  <a:pt x="104612" y="96825"/>
                </a:cubicBezTo>
                <a:lnTo>
                  <a:pt x="104612" y="125058"/>
                </a:lnTo>
                <a:cubicBezTo>
                  <a:pt x="104612" y="130081"/>
                  <a:pt x="101996" y="134717"/>
                  <a:pt x="97687" y="137303"/>
                </a:cubicBezTo>
                <a:lnTo>
                  <a:pt x="71475" y="153024"/>
                </a:lnTo>
                <a:cubicBezTo>
                  <a:pt x="65144" y="156828"/>
                  <a:pt x="57061" y="152251"/>
                  <a:pt x="57061" y="144881"/>
                </a:cubicBezTo>
                <a:lnTo>
                  <a:pt x="57061" y="114122"/>
                </a:lnTo>
                <a:cubicBezTo>
                  <a:pt x="57061" y="103631"/>
                  <a:pt x="48531" y="95101"/>
                  <a:pt x="38041" y="95101"/>
                </a:cubicBezTo>
                <a:lnTo>
                  <a:pt x="38011" y="95101"/>
                </a:lnTo>
                <a:close/>
                <a:moveTo>
                  <a:pt x="118877" y="47551"/>
                </a:moveTo>
                <a:cubicBezTo>
                  <a:pt x="118877" y="39678"/>
                  <a:pt x="112485" y="33285"/>
                  <a:pt x="104612" y="33285"/>
                </a:cubicBezTo>
                <a:cubicBezTo>
                  <a:pt x="96738" y="33285"/>
                  <a:pt x="90346" y="39678"/>
                  <a:pt x="90346" y="47551"/>
                </a:cubicBezTo>
                <a:cubicBezTo>
                  <a:pt x="90346" y="55424"/>
                  <a:pt x="96738" y="61816"/>
                  <a:pt x="104612" y="61816"/>
                </a:cubicBezTo>
                <a:cubicBezTo>
                  <a:pt x="112485" y="61816"/>
                  <a:pt x="118877" y="55424"/>
                  <a:pt x="118877" y="47551"/>
                </a:cubicBezTo>
                <a:close/>
              </a:path>
            </a:pathLst>
          </a:custGeom>
          <a:solidFill>
            <a:srgbClr val="FFFFFF"/>
          </a:solidFill>
          <a:ln/>
        </p:spPr>
      </p:sp>
      <p:sp>
        <p:nvSpPr>
          <p:cNvPr id="59" name="Text 57"/>
          <p:cNvSpPr/>
          <p:nvPr/>
        </p:nvSpPr>
        <p:spPr>
          <a:xfrm>
            <a:off x="9575820" y="6157816"/>
            <a:ext cx="1949579" cy="190203"/>
          </a:xfrm>
          <a:prstGeom prst="rect">
            <a:avLst/>
          </a:prstGeom>
          <a:noFill/>
          <a:ln/>
        </p:spPr>
        <p:txBody>
          <a:bodyPr wrap="square" lIns="0" tIns="0" rIns="0" bIns="0" rtlCol="0" anchor="ctr"/>
          <a:lstStyle/>
          <a:p>
            <a:pPr algn="ctr">
              <a:lnSpc>
                <a:spcPct val="120000"/>
              </a:lnSpc>
            </a:pPr>
            <a:r>
              <a:rPr lang="en-US" sz="1048" b="1" dirty="0">
                <a:solidFill>
                  <a:srgbClr val="F1F5F9"/>
                </a:solidFill>
                <a:latin typeface="MiSans" pitchFamily="34" charset="0"/>
                <a:ea typeface="MiSans" pitchFamily="34" charset="-122"/>
                <a:cs typeface="MiSans" pitchFamily="34" charset="-120"/>
              </a:rPr>
              <a:t>Chương 16</a:t>
            </a:r>
            <a:endParaRPr lang="en-US" sz="1600" dirty="0"/>
          </a:p>
        </p:txBody>
      </p:sp>
      <p:sp>
        <p:nvSpPr>
          <p:cNvPr id="60" name="Text 58"/>
          <p:cNvSpPr/>
          <p:nvPr/>
        </p:nvSpPr>
        <p:spPr>
          <a:xfrm>
            <a:off x="9580575" y="6386059"/>
            <a:ext cx="1940069" cy="152162"/>
          </a:xfrm>
          <a:prstGeom prst="rect">
            <a:avLst/>
          </a:prstGeom>
          <a:noFill/>
          <a:ln/>
        </p:spPr>
        <p:txBody>
          <a:bodyPr wrap="square" lIns="0" tIns="0" rIns="0" bIns="0" rtlCol="0" anchor="ctr"/>
          <a:lstStyle/>
          <a:p>
            <a:pPr algn="ctr">
              <a:lnSpc>
                <a:spcPct val="110000"/>
              </a:lnSpc>
            </a:pPr>
            <a:r>
              <a:rPr lang="en-US" sz="899" dirty="0">
                <a:solidFill>
                  <a:srgbClr val="F1F5F9">
                    <a:alpha val="60000"/>
                  </a:srgbClr>
                </a:solidFill>
                <a:latin typeface="MiSans" pitchFamily="34" charset="0"/>
                <a:ea typeface="MiSans" pitchFamily="34" charset="-122"/>
                <a:cs typeface="MiSans" pitchFamily="34" charset="-120"/>
              </a:rPr>
              <a:t>Tổng quan &amp; Triển vọng</a:t>
            </a:r>
            <a:endParaRPr lang="en-US" sz="1600" dirty="0"/>
          </a:p>
        </p:txBody>
      </p:sp>
    </p:spTree>
  </p:cSld>
  <p:clrMapOvr>
    <a:masterClrMapping/>
  </p:clrMapOvr>
  <p:transition>
    <p:fade/>
    <p:spd val="med"/>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F172A"/>
        </a:solidFill>
      </p:bgPr>
    </p:bg>
    <p:spTree>
      <p:nvGrpSpPr>
        <p:cNvPr id="1" name=""/>
        <p:cNvGrpSpPr/>
        <p:nvPr/>
      </p:nvGrpSpPr>
      <p:grpSpPr>
        <a:xfrm>
          <a:off x="0" y="0"/>
          <a:ext cx="0" cy="0"/>
          <a:chOff x="0" y="0"/>
          <a:chExt cx="0" cy="0"/>
        </a:xfrm>
      </p:grpSpPr>
      <p:pic>
        <p:nvPicPr>
          <p:cNvPr id="2" name="Image 0" descr="https://kimi-web-img.moonshot.cn/img/png.pngtree.com/084a8f521d62bea1b907d579f54af3dee1d961af.webp">    </p:cNvPr>
          <p:cNvPicPr>
            <a:picLocks noChangeAspect="1"/>
          </p:cNvPicPr>
          <p:nvPr/>
        </p:nvPicPr>
        <p:blipFill>
          <a:blip r:embed="rId1">
            <a:alphaModFix amt="30000"/>
          </a:blip>
          <a:srcRect l="0" r="0" t="7278" b="727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F172A">
                  <a:alpha val="95000"/>
                </a:srgbClr>
              </a:gs>
              <a:gs pos="50000">
                <a:srgbClr val="0F172A">
                  <a:alpha val="90000"/>
                </a:srgbClr>
              </a:gs>
              <a:gs pos="100000">
                <a:srgbClr val="8B5CF6">
                  <a:alpha val="30000"/>
                </a:srgbClr>
              </a:gs>
            </a:gsLst>
            <a:lin ang="2700000" scaled="1"/>
          </a:gradFill>
          <a:ln/>
        </p:spPr>
      </p:sp>
      <p:sp>
        <p:nvSpPr>
          <p:cNvPr id="4" name="Shape 1"/>
          <p:cNvSpPr/>
          <p:nvPr/>
        </p:nvSpPr>
        <p:spPr>
          <a:xfrm>
            <a:off x="5492055" y="576263"/>
            <a:ext cx="1209675" cy="504825"/>
          </a:xfrm>
          <a:custGeom>
            <a:avLst/>
            <a:gdLst/>
            <a:ahLst/>
            <a:cxnLst/>
            <a:rect l="l" t="t" r="r" b="b"/>
            <a:pathLst>
              <a:path w="1209675" h="504825">
                <a:moveTo>
                  <a:pt x="252413" y="0"/>
                </a:moveTo>
                <a:lnTo>
                  <a:pt x="957263" y="0"/>
                </a:lnTo>
                <a:cubicBezTo>
                  <a:pt x="1096573" y="0"/>
                  <a:pt x="1209675" y="113102"/>
                  <a:pt x="1209675" y="252413"/>
                </a:cubicBezTo>
                <a:lnTo>
                  <a:pt x="1209675" y="252413"/>
                </a:lnTo>
                <a:cubicBezTo>
                  <a:pt x="1209675" y="391723"/>
                  <a:pt x="1096573" y="504825"/>
                  <a:pt x="957263" y="504825"/>
                </a:cubicBezTo>
                <a:lnTo>
                  <a:pt x="252413" y="504825"/>
                </a:lnTo>
                <a:cubicBezTo>
                  <a:pt x="113102" y="504825"/>
                  <a:pt x="0" y="391723"/>
                  <a:pt x="0" y="252413"/>
                </a:cubicBezTo>
                <a:lnTo>
                  <a:pt x="0" y="252413"/>
                </a:lnTo>
                <a:cubicBezTo>
                  <a:pt x="0" y="113102"/>
                  <a:pt x="113102" y="0"/>
                  <a:pt x="252412" y="0"/>
                </a:cubicBezTo>
                <a:close/>
              </a:path>
            </a:pathLst>
          </a:custGeom>
          <a:solidFill>
            <a:srgbClr val="10B981">
              <a:alpha val="20000"/>
            </a:srgbClr>
          </a:solidFill>
          <a:ln w="12700">
            <a:solidFill>
              <a:srgbClr val="10B981">
                <a:alpha val="50196"/>
              </a:srgbClr>
            </a:solidFill>
            <a:prstDash val="solid"/>
          </a:ln>
        </p:spPr>
      </p:sp>
      <p:sp>
        <p:nvSpPr>
          <p:cNvPr id="5" name="Text 2"/>
          <p:cNvSpPr/>
          <p:nvPr/>
        </p:nvSpPr>
        <p:spPr>
          <a:xfrm>
            <a:off x="5682555" y="714375"/>
            <a:ext cx="826740" cy="228600"/>
          </a:xfrm>
          <a:prstGeom prst="rect">
            <a:avLst/>
          </a:prstGeom>
          <a:noFill/>
          <a:ln/>
        </p:spPr>
        <p:txBody>
          <a:bodyPr wrap="square" lIns="0" tIns="0" rIns="0" bIns="0" rtlCol="0" anchor="ctr"/>
          <a:lstStyle/>
          <a:p>
            <a:pPr algn="ctr">
              <a:lnSpc>
                <a:spcPct val="130000"/>
              </a:lnSpc>
            </a:pPr>
            <a:r>
              <a:rPr lang="en-US" sz="1350" b="1" spc="68" kern="0" dirty="0">
                <a:solidFill>
                  <a:srgbClr val="10B981"/>
                </a:solidFill>
                <a:latin typeface="MiSans" pitchFamily="34" charset="0"/>
                <a:ea typeface="MiSans" pitchFamily="34" charset="-122"/>
                <a:cs typeface="MiSans" pitchFamily="34" charset="-120"/>
              </a:rPr>
              <a:t>CẢM ƠN</a:t>
            </a:r>
            <a:endParaRPr lang="en-US" sz="1600" dirty="0"/>
          </a:p>
        </p:txBody>
      </p:sp>
      <p:sp>
        <p:nvSpPr>
          <p:cNvPr id="6" name="Text 3"/>
          <p:cNvSpPr/>
          <p:nvPr/>
        </p:nvSpPr>
        <p:spPr>
          <a:xfrm>
            <a:off x="3232993" y="1219200"/>
            <a:ext cx="5725864" cy="762000"/>
          </a:xfrm>
          <a:prstGeom prst="rect">
            <a:avLst/>
          </a:prstGeom>
          <a:noFill/>
          <a:ln/>
        </p:spPr>
        <p:txBody>
          <a:bodyPr wrap="square" lIns="0" tIns="0" rIns="0" bIns="0" rtlCol="0" anchor="ctr"/>
          <a:lstStyle/>
          <a:p>
            <a:pPr algn="ctr">
              <a:lnSpc>
                <a:spcPct val="80000"/>
              </a:lnSpc>
            </a:pPr>
            <a:r>
              <a:rPr lang="en-US" sz="4500" b="1" dirty="0">
                <a:gradFill rotWithShape="1" flip="none">
                  <a:gsLst>
                    <a:gs pos="0">
                      <a:srgbClr val="3B82F6"/>
                    </a:gs>
                    <a:gs pos="50000">
                      <a:srgbClr val="8B5CF6"/>
                    </a:gs>
                    <a:gs pos="100000">
                      <a:srgbClr val="10B981"/>
                    </a:gs>
                  </a:gsLst>
                  <a:lin ang="0" scaled="1"/>
                </a:gradFill>
                <a:latin typeface="MiSans" pitchFamily="34" charset="0"/>
                <a:ea typeface="MiSans" pitchFamily="34" charset="-122"/>
                <a:cs typeface="MiSans" pitchFamily="34" charset="-120"/>
              </a:rPr>
              <a:t>Xây dựng phần mềm</a:t>
            </a:r>
            <a:endParaRPr lang="en-US" sz="1600" dirty="0"/>
          </a:p>
        </p:txBody>
      </p:sp>
      <p:sp>
        <p:nvSpPr>
          <p:cNvPr id="7" name="Text 4"/>
          <p:cNvSpPr/>
          <p:nvPr/>
        </p:nvSpPr>
        <p:spPr>
          <a:xfrm>
            <a:off x="4409629" y="1790700"/>
            <a:ext cx="3372445" cy="762000"/>
          </a:xfrm>
          <a:prstGeom prst="rect">
            <a:avLst/>
          </a:prstGeom>
          <a:noFill/>
          <a:ln/>
        </p:spPr>
        <p:txBody>
          <a:bodyPr wrap="square" lIns="0" tIns="0" rIns="0" bIns="0" rtlCol="0" anchor="ctr"/>
          <a:lstStyle/>
          <a:p>
            <a:pPr algn="ctr">
              <a:lnSpc>
                <a:spcPct val="80000"/>
              </a:lnSpc>
            </a:pPr>
            <a:r>
              <a:rPr lang="en-US" sz="4500" b="1" dirty="0">
                <a:solidFill>
                  <a:srgbClr val="F1F5F9"/>
                </a:solidFill>
                <a:latin typeface="MiSans" pitchFamily="34" charset="0"/>
                <a:ea typeface="MiSans" pitchFamily="34" charset="-122"/>
                <a:cs typeface="MiSans" pitchFamily="34" charset="-120"/>
              </a:rPr>
              <a:t>dùng GenAI</a:t>
            </a:r>
            <a:endParaRPr lang="en-US" sz="1600" dirty="0"/>
          </a:p>
        </p:txBody>
      </p:sp>
      <p:sp>
        <p:nvSpPr>
          <p:cNvPr id="8" name="Text 5"/>
          <p:cNvSpPr/>
          <p:nvPr/>
        </p:nvSpPr>
        <p:spPr>
          <a:xfrm>
            <a:off x="3318718" y="2686050"/>
            <a:ext cx="5553075" cy="304800"/>
          </a:xfrm>
          <a:prstGeom prst="rect">
            <a:avLst/>
          </a:prstGeom>
          <a:noFill/>
          <a:ln/>
        </p:spPr>
        <p:txBody>
          <a:bodyPr wrap="square" lIns="0" tIns="0" rIns="0" bIns="0" rtlCol="0" anchor="ctr"/>
          <a:lstStyle/>
          <a:p>
            <a:pPr algn="ctr">
              <a:lnSpc>
                <a:spcPct val="110000"/>
              </a:lnSpc>
            </a:pPr>
            <a:r>
              <a:rPr lang="en-US" sz="1800" dirty="0">
                <a:solidFill>
                  <a:srgbClr val="F1F5F9">
                    <a:alpha val="80000"/>
                  </a:srgbClr>
                </a:solidFill>
                <a:latin typeface="MiSans" pitchFamily="34" charset="0"/>
                <a:ea typeface="MiSans" pitchFamily="34" charset="-122"/>
                <a:cs typeface="MiSans" pitchFamily="34" charset="-120"/>
              </a:rPr>
              <a:t>Nâng cao lập trình với Generative AI</a:t>
            </a:r>
            <a:endParaRPr lang="en-US" sz="1600" dirty="0"/>
          </a:p>
        </p:txBody>
      </p:sp>
      <p:sp>
        <p:nvSpPr>
          <p:cNvPr id="9" name="Shape 6"/>
          <p:cNvSpPr/>
          <p:nvPr/>
        </p:nvSpPr>
        <p:spPr>
          <a:xfrm>
            <a:off x="3658791" y="3605213"/>
            <a:ext cx="4876800" cy="1876425"/>
          </a:xfrm>
          <a:custGeom>
            <a:avLst/>
            <a:gdLst/>
            <a:ahLst/>
            <a:cxnLst/>
            <a:rect l="l" t="t" r="r" b="b"/>
            <a:pathLst>
              <a:path w="4876800" h="1876425">
                <a:moveTo>
                  <a:pt x="114293" y="0"/>
                </a:moveTo>
                <a:lnTo>
                  <a:pt x="4762507" y="0"/>
                </a:lnTo>
                <a:cubicBezTo>
                  <a:pt x="4825629" y="0"/>
                  <a:pt x="4876800" y="51171"/>
                  <a:pt x="4876800" y="114293"/>
                </a:cubicBezTo>
                <a:lnTo>
                  <a:pt x="4876800" y="1762132"/>
                </a:lnTo>
                <a:cubicBezTo>
                  <a:pt x="4876800" y="1825254"/>
                  <a:pt x="4825629" y="1876425"/>
                  <a:pt x="4762507" y="1876425"/>
                </a:cubicBezTo>
                <a:lnTo>
                  <a:pt x="114293" y="1876425"/>
                </a:lnTo>
                <a:cubicBezTo>
                  <a:pt x="51171" y="1876425"/>
                  <a:pt x="0" y="1825254"/>
                  <a:pt x="0" y="1762132"/>
                </a:cubicBezTo>
                <a:lnTo>
                  <a:pt x="0" y="114293"/>
                </a:lnTo>
                <a:cubicBezTo>
                  <a:pt x="0" y="51213"/>
                  <a:pt x="51213" y="0"/>
                  <a:pt x="114293" y="0"/>
                </a:cubicBezTo>
                <a:close/>
              </a:path>
            </a:pathLst>
          </a:custGeom>
          <a:solidFill>
            <a:srgbClr val="0F172A">
              <a:alpha val="80000"/>
            </a:srgbClr>
          </a:solidFill>
          <a:ln w="12700">
            <a:solidFill>
              <a:srgbClr val="F1F5F9">
                <a:alpha val="20000"/>
              </a:srgbClr>
            </a:solidFill>
            <a:prstDash val="solid"/>
          </a:ln>
        </p:spPr>
      </p:sp>
      <p:sp>
        <p:nvSpPr>
          <p:cNvPr id="10" name="Text 7"/>
          <p:cNvSpPr/>
          <p:nvPr/>
        </p:nvSpPr>
        <p:spPr>
          <a:xfrm>
            <a:off x="3849291" y="3838575"/>
            <a:ext cx="4495800" cy="266700"/>
          </a:xfrm>
          <a:prstGeom prst="rect">
            <a:avLst/>
          </a:prstGeom>
          <a:noFill/>
          <a:ln/>
        </p:spPr>
        <p:txBody>
          <a:bodyPr wrap="square" lIns="0" tIns="0" rIns="0" bIns="0" rtlCol="0" anchor="ctr"/>
          <a:lstStyle/>
          <a:p>
            <a:pPr algn="ctr">
              <a:lnSpc>
                <a:spcPct val="130000"/>
              </a:lnSpc>
            </a:pPr>
            <a:r>
              <a:rPr lang="en-US" sz="1350" dirty="0">
                <a:solidFill>
                  <a:srgbClr val="F1F5F9">
                    <a:alpha val="90000"/>
                  </a:srgbClr>
                </a:solidFill>
                <a:latin typeface="MiSans" pitchFamily="34" charset="0"/>
                <a:ea typeface="MiSans" pitchFamily="34" charset="-122"/>
                <a:cs typeface="MiSans" pitchFamily="34" charset="-120"/>
              </a:rPr>
              <a:t>Nhóm sinh viên thực hiện:</a:t>
            </a:r>
            <a:endParaRPr lang="en-US" sz="1600" dirty="0"/>
          </a:p>
        </p:txBody>
      </p:sp>
      <p:sp>
        <p:nvSpPr>
          <p:cNvPr id="11" name="Shape 8"/>
          <p:cNvSpPr/>
          <p:nvPr/>
        </p:nvSpPr>
        <p:spPr>
          <a:xfrm>
            <a:off x="3892153" y="42767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3B82F6">
              <a:alpha val="20000"/>
            </a:srgbClr>
          </a:solidFill>
          <a:ln/>
        </p:spPr>
      </p:sp>
      <p:sp>
        <p:nvSpPr>
          <p:cNvPr id="12" name="Shape 9"/>
          <p:cNvSpPr/>
          <p:nvPr/>
        </p:nvSpPr>
        <p:spPr>
          <a:xfrm>
            <a:off x="4015978" y="4391025"/>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3B82F6"/>
          </a:solidFill>
          <a:ln/>
        </p:spPr>
      </p:sp>
      <p:sp>
        <p:nvSpPr>
          <p:cNvPr id="13" name="Text 10"/>
          <p:cNvSpPr/>
          <p:nvPr/>
        </p:nvSpPr>
        <p:spPr>
          <a:xfrm>
            <a:off x="4387453" y="4257675"/>
            <a:ext cx="17049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Nguyễn Minh Kiên</a:t>
            </a:r>
            <a:endParaRPr lang="en-US" sz="1600" dirty="0"/>
          </a:p>
        </p:txBody>
      </p:sp>
      <p:sp>
        <p:nvSpPr>
          <p:cNvPr id="14" name="Text 11"/>
          <p:cNvSpPr/>
          <p:nvPr/>
        </p:nvSpPr>
        <p:spPr>
          <a:xfrm>
            <a:off x="4387453" y="4486275"/>
            <a:ext cx="169545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MiSans" pitchFamily="34" charset="0"/>
                <a:ea typeface="MiSans" pitchFamily="34" charset="-122"/>
                <a:cs typeface="MiSans" pitchFamily="34" charset="-120"/>
              </a:rPr>
              <a:t>3122411103 - Nhóm trưởng</a:t>
            </a:r>
            <a:endParaRPr lang="en-US" sz="1600" dirty="0"/>
          </a:p>
        </p:txBody>
      </p:sp>
      <p:sp>
        <p:nvSpPr>
          <p:cNvPr id="15" name="Shape 12"/>
          <p:cNvSpPr/>
          <p:nvPr/>
        </p:nvSpPr>
        <p:spPr>
          <a:xfrm>
            <a:off x="6172200" y="42767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5CF6">
              <a:alpha val="20000"/>
            </a:srgbClr>
          </a:solidFill>
          <a:ln/>
        </p:spPr>
      </p:sp>
      <p:sp>
        <p:nvSpPr>
          <p:cNvPr id="16" name="Shape 13"/>
          <p:cNvSpPr/>
          <p:nvPr/>
        </p:nvSpPr>
        <p:spPr>
          <a:xfrm>
            <a:off x="6296025" y="4391025"/>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8B5CF6"/>
          </a:solidFill>
          <a:ln/>
        </p:spPr>
      </p:sp>
      <p:sp>
        <p:nvSpPr>
          <p:cNvPr id="17" name="Text 14"/>
          <p:cNvSpPr/>
          <p:nvPr/>
        </p:nvSpPr>
        <p:spPr>
          <a:xfrm>
            <a:off x="6667500" y="4257675"/>
            <a:ext cx="143827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Phạm Nhật Phương</a:t>
            </a:r>
            <a:endParaRPr lang="en-US" sz="1600" dirty="0"/>
          </a:p>
        </p:txBody>
      </p:sp>
      <p:sp>
        <p:nvSpPr>
          <p:cNvPr id="18" name="Text 15"/>
          <p:cNvSpPr/>
          <p:nvPr/>
        </p:nvSpPr>
        <p:spPr>
          <a:xfrm>
            <a:off x="6667500" y="4486275"/>
            <a:ext cx="142875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MiSans" pitchFamily="34" charset="0"/>
                <a:ea typeface="MiSans" pitchFamily="34" charset="-122"/>
                <a:cs typeface="MiSans" pitchFamily="34" charset="-120"/>
              </a:rPr>
              <a:t>3122411162</a:t>
            </a:r>
            <a:endParaRPr lang="en-US" sz="1600" dirty="0"/>
          </a:p>
        </p:txBody>
      </p:sp>
      <p:sp>
        <p:nvSpPr>
          <p:cNvPr id="19" name="Shape 16"/>
          <p:cNvSpPr/>
          <p:nvPr/>
        </p:nvSpPr>
        <p:spPr>
          <a:xfrm>
            <a:off x="3892153" y="48482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10B981">
              <a:alpha val="20000"/>
            </a:srgbClr>
          </a:solidFill>
          <a:ln/>
        </p:spPr>
      </p:sp>
      <p:sp>
        <p:nvSpPr>
          <p:cNvPr id="20" name="Shape 17"/>
          <p:cNvSpPr/>
          <p:nvPr/>
        </p:nvSpPr>
        <p:spPr>
          <a:xfrm>
            <a:off x="4015978" y="4962525"/>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10B981"/>
          </a:solidFill>
          <a:ln/>
        </p:spPr>
      </p:sp>
      <p:sp>
        <p:nvSpPr>
          <p:cNvPr id="21" name="Text 18"/>
          <p:cNvSpPr/>
          <p:nvPr/>
        </p:nvSpPr>
        <p:spPr>
          <a:xfrm>
            <a:off x="4387453" y="4829175"/>
            <a:ext cx="952500"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Lê Nhựt Huy</a:t>
            </a:r>
            <a:endParaRPr lang="en-US" sz="1600" dirty="0"/>
          </a:p>
        </p:txBody>
      </p:sp>
      <p:sp>
        <p:nvSpPr>
          <p:cNvPr id="22" name="Text 19"/>
          <p:cNvSpPr/>
          <p:nvPr/>
        </p:nvSpPr>
        <p:spPr>
          <a:xfrm>
            <a:off x="4387453" y="5057775"/>
            <a:ext cx="942975"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MiSans" pitchFamily="34" charset="0"/>
                <a:ea typeface="MiSans" pitchFamily="34" charset="-122"/>
                <a:cs typeface="MiSans" pitchFamily="34" charset="-120"/>
              </a:rPr>
              <a:t>3122411063</a:t>
            </a:r>
            <a:endParaRPr lang="en-US" sz="1600" dirty="0"/>
          </a:p>
        </p:txBody>
      </p:sp>
      <p:sp>
        <p:nvSpPr>
          <p:cNvPr id="23" name="Shape 20"/>
          <p:cNvSpPr/>
          <p:nvPr/>
        </p:nvSpPr>
        <p:spPr>
          <a:xfrm>
            <a:off x="6172200" y="484822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F59E0B">
              <a:alpha val="20000"/>
            </a:srgbClr>
          </a:solidFill>
          <a:ln/>
        </p:spPr>
      </p:sp>
      <p:sp>
        <p:nvSpPr>
          <p:cNvPr id="24" name="Shape 21"/>
          <p:cNvSpPr/>
          <p:nvPr/>
        </p:nvSpPr>
        <p:spPr>
          <a:xfrm>
            <a:off x="6296025" y="4962525"/>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F59E0B"/>
          </a:solidFill>
          <a:ln/>
        </p:spPr>
      </p:sp>
      <p:sp>
        <p:nvSpPr>
          <p:cNvPr id="25" name="Text 22"/>
          <p:cNvSpPr/>
          <p:nvPr/>
        </p:nvSpPr>
        <p:spPr>
          <a:xfrm>
            <a:off x="6667500" y="4829175"/>
            <a:ext cx="1685925" cy="228600"/>
          </a:xfrm>
          <a:prstGeom prst="rect">
            <a:avLst/>
          </a:prstGeom>
          <a:noFill/>
          <a:ln/>
        </p:spPr>
        <p:txBody>
          <a:bodyPr wrap="square" lIns="0" tIns="0" rIns="0" bIns="0" rtlCol="0" anchor="ctr"/>
          <a:lstStyle/>
          <a:p>
            <a:pPr>
              <a:lnSpc>
                <a:spcPct val="130000"/>
              </a:lnSpc>
            </a:pPr>
            <a:r>
              <a:rPr lang="en-US" sz="1200" b="1" dirty="0">
                <a:solidFill>
                  <a:srgbClr val="F1F5F9"/>
                </a:solidFill>
                <a:latin typeface="MiSans" pitchFamily="34" charset="0"/>
                <a:ea typeface="MiSans" pitchFamily="34" charset="-122"/>
                <a:cs typeface="MiSans" pitchFamily="34" charset="-120"/>
              </a:rPr>
              <a:t>Phạm Nguyễn Thế Hào</a:t>
            </a:r>
            <a:endParaRPr lang="en-US" sz="1600" dirty="0"/>
          </a:p>
        </p:txBody>
      </p:sp>
      <p:sp>
        <p:nvSpPr>
          <p:cNvPr id="26" name="Text 23"/>
          <p:cNvSpPr/>
          <p:nvPr/>
        </p:nvSpPr>
        <p:spPr>
          <a:xfrm>
            <a:off x="6667500" y="5057775"/>
            <a:ext cx="1676400" cy="190500"/>
          </a:xfrm>
          <a:prstGeom prst="rect">
            <a:avLst/>
          </a:prstGeom>
          <a:noFill/>
          <a:ln/>
        </p:spPr>
        <p:txBody>
          <a:bodyPr wrap="square" lIns="0" tIns="0" rIns="0" bIns="0" rtlCol="0" anchor="ctr"/>
          <a:lstStyle/>
          <a:p>
            <a:pPr>
              <a:lnSpc>
                <a:spcPct val="120000"/>
              </a:lnSpc>
            </a:pPr>
            <a:r>
              <a:rPr lang="en-US" sz="1050" dirty="0">
                <a:solidFill>
                  <a:srgbClr val="F1F5F9">
                    <a:alpha val="60000"/>
                  </a:srgbClr>
                </a:solidFill>
                <a:latin typeface="MiSans" pitchFamily="34" charset="0"/>
                <a:ea typeface="MiSans" pitchFamily="34" charset="-122"/>
                <a:cs typeface="MiSans" pitchFamily="34" charset="-120"/>
              </a:rPr>
              <a:t>3122411048</a:t>
            </a:r>
            <a:endParaRPr lang="en-US" sz="1600" dirty="0"/>
          </a:p>
        </p:txBody>
      </p:sp>
      <p:sp>
        <p:nvSpPr>
          <p:cNvPr id="27" name="Text 24"/>
          <p:cNvSpPr/>
          <p:nvPr/>
        </p:nvSpPr>
        <p:spPr>
          <a:xfrm>
            <a:off x="3611166" y="5715000"/>
            <a:ext cx="4972050" cy="266700"/>
          </a:xfrm>
          <a:prstGeom prst="rect">
            <a:avLst/>
          </a:prstGeom>
          <a:noFill/>
          <a:ln/>
        </p:spPr>
        <p:txBody>
          <a:bodyPr wrap="square" lIns="0" tIns="0" rIns="0" bIns="0" rtlCol="0" anchor="ctr"/>
          <a:lstStyle/>
          <a:p>
            <a:pPr algn="ctr">
              <a:lnSpc>
                <a:spcPct val="130000"/>
              </a:lnSpc>
            </a:pPr>
            <a:r>
              <a:rPr lang="en-US" sz="1350" dirty="0">
                <a:solidFill>
                  <a:srgbClr val="F1F5F9">
                    <a:alpha val="70000"/>
                  </a:srgbClr>
                </a:solidFill>
                <a:latin typeface="MiSans" pitchFamily="34" charset="0"/>
                <a:ea typeface="MiSans" pitchFamily="34" charset="-122"/>
                <a:cs typeface="MiSans" pitchFamily="34" charset="-120"/>
              </a:rPr>
              <a:t>Lớp: </a:t>
            </a:r>
            <a:pPr algn="ctr">
              <a:lnSpc>
                <a:spcPct val="130000"/>
              </a:lnSpc>
            </a:pPr>
            <a:r>
              <a:rPr lang="en-US" sz="1350" b="1" dirty="0">
                <a:solidFill>
                  <a:srgbClr val="F1F5F9"/>
                </a:solidFill>
                <a:latin typeface="MiSans" pitchFamily="34" charset="0"/>
                <a:ea typeface="MiSans" pitchFamily="34" charset="-122"/>
                <a:cs typeface="MiSans" pitchFamily="34" charset="-120"/>
              </a:rPr>
              <a:t>DCT122C3</a:t>
            </a:r>
            <a:endParaRPr lang="en-US" sz="1600" dirty="0"/>
          </a:p>
        </p:txBody>
      </p:sp>
      <p:sp>
        <p:nvSpPr>
          <p:cNvPr id="28" name="Text 25"/>
          <p:cNvSpPr/>
          <p:nvPr/>
        </p:nvSpPr>
        <p:spPr>
          <a:xfrm>
            <a:off x="3615928" y="6057900"/>
            <a:ext cx="4962525" cy="228600"/>
          </a:xfrm>
          <a:prstGeom prst="rect">
            <a:avLst/>
          </a:prstGeom>
          <a:noFill/>
          <a:ln/>
        </p:spPr>
        <p:txBody>
          <a:bodyPr wrap="square" lIns="0" tIns="0" rIns="0" bIns="0" rtlCol="0" anchor="ctr"/>
          <a:lstStyle/>
          <a:p>
            <a:pPr algn="ctr">
              <a:lnSpc>
                <a:spcPct val="130000"/>
              </a:lnSpc>
            </a:pPr>
            <a:r>
              <a:rPr lang="en-US" sz="1200" dirty="0">
                <a:solidFill>
                  <a:srgbClr val="F1F5F9">
                    <a:alpha val="70000"/>
                  </a:srgbClr>
                </a:solidFill>
                <a:latin typeface="MiSans" pitchFamily="34" charset="0"/>
                <a:ea typeface="MiSans" pitchFamily="34" charset="-122"/>
                <a:cs typeface="MiSans" pitchFamily="34" charset="-120"/>
              </a:rPr>
              <a:t>TP. Hồ Chí Minh, tháng 3 năm 2026</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phần mềm dùng GenAI</dc:title>
  <dc:subject>Xây dựng phần mềm dùng GenAI</dc:subject>
  <dc:creator>Kimi</dc:creator>
  <cp:lastModifiedBy>Kimi</cp:lastModifiedBy>
  <cp:revision>1</cp:revision>
  <dcterms:created xsi:type="dcterms:W3CDTF">2026-03-30T13:49:43Z</dcterms:created>
  <dcterms:modified xsi:type="dcterms:W3CDTF">2026-03-30T13:49:43Z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{"Label":"Xây dựng phần mềm dùng GenAI","ContentProducer":"001191110108MACG2KBH8F10000","ProduceID":"19d3eba9-46c2-803f-8000-00000bb75782","ReservedCode1":"","ContentPropagator":"001191110108MACG2KBH8F20000","PropagateID":"19d3eba9-46c2-803f-8000-00000bb75782","ReservedCode2":""}</vt:lpwstr>
  </property>
</Properties>
</file>